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7.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8.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heme/theme9.xml" ContentType="application/vnd.openxmlformats-officedocument.theme+xml"/>
  <Override PartName="/ppt/tags/tag36.xml" ContentType="application/vnd.openxmlformats-officedocument.presentationml.tags+xml"/>
  <Override PartName="/ppt/notesSlides/notesSlide1.xml" ContentType="application/vnd.openxmlformats-officedocument.presentationml.notesSlide+xml"/>
  <Override PartName="/ppt/tags/tag3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8.xml" ContentType="application/vnd.openxmlformats-officedocument.presentationml.tags+xml"/>
  <Override PartName="/ppt/notesSlides/notesSlide5.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6.xml" ContentType="application/vnd.openxmlformats-officedocument.presentationml.notesSlide+xml"/>
  <Override PartName="/ppt/comments/modernComment_7F8D537E_46AFC306.xml" ContentType="application/vnd.ms-powerpoint.comments+xml"/>
  <Override PartName="/ppt/notesSlides/notesSlide7.xml" ContentType="application/vnd.openxmlformats-officedocument.presentationml.notesSlide+xml"/>
  <Override PartName="/ppt/comments/modernComment_7F8D5341_907FA552.xml" ContentType="application/vnd.ms-powerpoint.comments+xml"/>
  <Override PartName="/ppt/notesSlides/notesSlide8.xml" ContentType="application/vnd.openxmlformats-officedocument.presentationml.notesSlide+xml"/>
  <Override PartName="/ppt/comments/modernComment_7F8D534C_709F5751.xml" ContentType="application/vnd.ms-powerpoint.comments+xml"/>
  <Override PartName="/ppt/notesSlides/notesSlide9.xml" ContentType="application/vnd.openxmlformats-officedocument.presentationml.notesSlide+xml"/>
  <Override PartName="/ppt/comments/modernComment_7F8D536E_FE921D59.xml" ContentType="application/vnd.ms-powerpoint.comments+xml"/>
  <Override PartName="/ppt/tags/tag42.xml" ContentType="application/vnd.openxmlformats-officedocument.presentationml.tags+xml"/>
  <Override PartName="/ppt/notesSlides/notesSlide10.xml" ContentType="application/vnd.openxmlformats-officedocument.presentationml.notesSlide+xml"/>
  <Override PartName="/ppt/comments/modernComment_7F8D536D_79C74298.xml" ContentType="application/vnd.ms-powerpoint.comments+xml"/>
  <Override PartName="/ppt/notesSlides/notesSlide11.xml" ContentType="application/vnd.openxmlformats-officedocument.presentationml.notesSlide+xml"/>
  <Override PartName="/ppt/comments/modernComment_7F8D5382_17D77D5F.xml" ContentType="application/vnd.ms-powerpoint.comments+xml"/>
  <Override PartName="/ppt/notesSlides/notesSlide12.xml" ContentType="application/vnd.openxmlformats-officedocument.presentationml.notesSlide+xml"/>
  <Override PartName="/ppt/comments/modernComment_7FFFF88D_9929DD08.xml" ContentType="application/vnd.ms-powerpoint.comments+xml"/>
  <Override PartName="/ppt/notesSlides/notesSlide13.xml" ContentType="application/vnd.openxmlformats-officedocument.presentationml.notesSlide+xml"/>
  <Override PartName="/ppt/comments/modernComment_7FFFF88E_40397490.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7FFFF8C6_C32DE083.xml" ContentType="application/vnd.ms-powerpoint.comments+xml"/>
  <Override PartName="/ppt/notesSlides/notesSlide16.xml" ContentType="application/vnd.openxmlformats-officedocument.presentationml.notesSlide+xml"/>
  <Override PartName="/ppt/comments/modernComment_7FFFF8F6_E19D10CE.xml" ContentType="application/vnd.ms-powerpoint.comments+xml"/>
  <Override PartName="/ppt/notesSlides/notesSlide17.xml" ContentType="application/vnd.openxmlformats-officedocument.presentationml.notesSlide+xml"/>
  <Override PartName="/ppt/comments/modernComment_1BF_70CB78A0.xml" ContentType="application/vnd.ms-powerpoint.comments+xml"/>
  <Override PartName="/ppt/notesSlides/notesSlide18.xml" ContentType="application/vnd.openxmlformats-officedocument.presentationml.notesSlide+xml"/>
  <Override PartName="/ppt/comments/modernComment_7F8D5380_CEF34C75.xml" ContentType="application/vnd.ms-powerpoint.comments+xml"/>
  <Override PartName="/ppt/tags/tag4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7F8D536A_431C6254.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44.xml" ContentType="application/vnd.openxmlformats-officedocument.presentationml.tags+xml"/>
  <Override PartName="/ppt/notesSlides/notesSlide27.xml" ContentType="application/vnd.openxmlformats-officedocument.presentationml.notesSlide+xml"/>
  <Override PartName="/ppt/tags/tag45.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46.xml" ContentType="application/vnd.openxmlformats-officedocument.presentationml.tags+xml"/>
  <Override PartName="/ppt/notesSlides/notesSlide30.xml" ContentType="application/vnd.openxmlformats-officedocument.presentationml.notesSlide+xml"/>
  <Override PartName="/ppt/comments/modernComment_7FFFF8C4_5EDB26BC.xml" ContentType="application/vnd.ms-powerpoint.comments+xml"/>
  <Override PartName="/ppt/tags/tag47.xml" ContentType="application/vnd.openxmlformats-officedocument.presentationml.tags+xml"/>
  <Override PartName="/ppt/tags/tag48.xml" ContentType="application/vnd.openxmlformats-officedocument.presentationml.tags+xml"/>
  <Override PartName="/ppt/comments/modernComment_7FFFF8FF_EFD363AC.xml" ContentType="application/vnd.ms-powerpoint.comments+xml"/>
  <Override PartName="/ppt/tags/tag49.xml" ContentType="application/vnd.openxmlformats-officedocument.presentationml.tags+xml"/>
  <Override PartName="/ppt/tags/tag50.xml" ContentType="application/vnd.openxmlformats-officedocument.presentationml.tags+xml"/>
  <Override PartName="/ppt/comments/modernComment_7FFFF8FB_93AF6EC8.xml" ContentType="application/vnd.ms-powerpoint.comment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31.xml" ContentType="application/vnd.openxmlformats-officedocument.presentationml.notesSlide+xml"/>
  <Override PartName="/ppt/tags/tag62.xml" ContentType="application/vnd.openxmlformats-officedocument.presentationml.tags+xml"/>
  <Override PartName="/ppt/notesSlides/notesSlide32.xml" ContentType="application/vnd.openxmlformats-officedocument.presentationml.notesSlide+xml"/>
  <Override PartName="/ppt/comments/modernComment_7FFFF8B9_26E8BFE5.xml" ContentType="application/vnd.ms-powerpoint.comments+xml"/>
  <Override PartName="/ppt/tags/tag63.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7FFFF882_A73244DA.xml" ContentType="application/vnd.ms-powerpoint.comments+xml"/>
  <Override PartName="/ppt/tags/tag64.xml" ContentType="application/vnd.openxmlformats-officedocument.presentationml.tags+xml"/>
  <Override PartName="/ppt/tags/tag65.xml" ContentType="application/vnd.openxmlformats-officedocument.presentationml.tags+xml"/>
  <Override PartName="/ppt/comments/modernComment_7FFFF855_4D28D68F.xml" ContentType="application/vnd.ms-powerpoint.comments+xml"/>
  <Override PartName="/ppt/notesSlides/notesSlide36.xml" ContentType="application/vnd.openxmlformats-officedocument.presentationml.notesSlide+xml"/>
  <Override PartName="/ppt/tags/tag66.xml" ContentType="application/vnd.openxmlformats-officedocument.presentationml.tags+xml"/>
  <Override PartName="/ppt/notesSlides/notesSlide37.xml" ContentType="application/vnd.openxmlformats-officedocument.presentationml.notesSlide+xml"/>
  <Override PartName="/ppt/comments/modernComment_7FFFF8EA_C89A3C97.xml" ContentType="application/vnd.ms-powerpoint.comment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38.xml" ContentType="application/vnd.openxmlformats-officedocument.presentationml.notesSlide+xml"/>
  <Override PartName="/ppt/tags/tag82.xml" ContentType="application/vnd.openxmlformats-officedocument.presentationml.tags+xml"/>
  <Override PartName="/ppt/notesSlides/notesSlide39.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40.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41.xml" ContentType="application/vnd.openxmlformats-officedocument.presentationml.notesSlide+xml"/>
  <Override PartName="/ppt/tags/tag93.xml" ContentType="application/vnd.openxmlformats-officedocument.presentationml.tags+xml"/>
  <Override PartName="/ppt/notesSlides/notesSlide42.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43.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44.xml" ContentType="application/vnd.openxmlformats-officedocument.presentationml.notesSlide+xml"/>
  <Override PartName="/ppt/tags/tag109.xml" ContentType="application/vnd.openxmlformats-officedocument.presentationml.tags+xml"/>
  <Override PartName="/ppt/notesSlides/notesSlide45.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48.xml" ContentType="application/vnd.openxmlformats-officedocument.presentationml.notesSlide+xml"/>
  <Override PartName="/ppt/comments/modernComment_7FFFF8F5_4F5D2CB2.xml" ContentType="application/vnd.ms-powerpoint.comment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52.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53.xml" ContentType="application/vnd.openxmlformats-officedocument.presentationml.notesSlide+xml"/>
  <Override PartName="/ppt/comments/modernComment_7FFFF8EC_6CE573E5.xml" ContentType="application/vnd.ms-powerpoint.comments+xml"/>
  <Override PartName="/ppt/tags/tag130.xml" ContentType="application/vnd.openxmlformats-officedocument.presentationml.tags+xml"/>
  <Override PartName="/ppt/notesSlides/notesSlide54.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55.xml" ContentType="application/vnd.openxmlformats-officedocument.presentationml.notesSlide+xml"/>
  <Override PartName="/ppt/comments/modernComment_7FFFF8CB_9BF9DA12.xml" ContentType="application/vnd.ms-powerpoint.comment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56.xml" ContentType="application/vnd.openxmlformats-officedocument.presentationml.notesSlide+xml"/>
  <Override PartName="/ppt/comments/modernComment_7FFFF8EF_D969FD9C.xml" ContentType="application/vnd.ms-powerpoint.comment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57.xml" ContentType="application/vnd.openxmlformats-officedocument.presentationml.notesSlide+xml"/>
  <Override PartName="/ppt/tags/tag152.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omments/modernComment_7FFFF8F3_811656F3.xml" ContentType="application/vnd.ms-powerpoint.comments+xml"/>
  <Override PartName="/ppt/notesSlides/notesSlide60.xml" ContentType="application/vnd.openxmlformats-officedocument.presentationml.notesSlide+xml"/>
  <Override PartName="/ppt/comments/modernComment_7FFFF89E_A4EB26B4.xml" ContentType="application/vnd.ms-powerpoint.comment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61.xml" ContentType="application/vnd.openxmlformats-officedocument.presentationml.notesSlide+xml"/>
  <Override PartName="/ppt/comments/modernComment_7FFFF8A2_606C7A22.xml" ContentType="application/vnd.ms-powerpoint.comment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62.xml" ContentType="application/vnd.openxmlformats-officedocument.presentationml.notesSlide+xml"/>
  <Override PartName="/ppt/comments/modernComment_7FFFF884_2785D4FB.xml" ContentType="application/vnd.ms-powerpoint.comments+xml"/>
  <Override PartName="/ppt/tags/tag164.xml" ContentType="application/vnd.openxmlformats-officedocument.presentationml.tags+xml"/>
  <Override PartName="/ppt/notesSlides/notesSlide63.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comments/modernComment_7FFFF8DB_5B069B52.xml" ContentType="application/vnd.ms-powerpoint.comment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87.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omments/modernComment_7FFFF8A1_DB66FF20.xml" ContentType="application/vnd.ms-powerpoint.comments+xml"/>
  <Override PartName="/ppt/notesSlides/notesSlide66.xml" ContentType="application/vnd.openxmlformats-officedocument.presentationml.notesSlide+xml"/>
  <Override PartName="/ppt/tags/tag188.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189.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omments/modernComment_1F4_460093B3.xml" ContentType="application/vnd.ms-powerpoint.comments+xml"/>
  <Override PartName="/ppt/tags/tag190.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tags/tag191.xml" ContentType="application/vnd.openxmlformats-officedocument.presentationml.tags+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tags/tag192.xml" ContentType="application/vnd.openxmlformats-officedocument.presentationml.tags+xml"/>
  <Override PartName="/ppt/notesSlides/notesSlide8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4"/>
    <p:sldMasterId id="2147483803" r:id="rId5"/>
    <p:sldMasterId id="2147483806" r:id="rId6"/>
    <p:sldMasterId id="2147483813" r:id="rId7"/>
    <p:sldMasterId id="2147483817" r:id="rId8"/>
    <p:sldMasterId id="2147483823" r:id="rId9"/>
    <p:sldMasterId id="2147483844" r:id="rId10"/>
    <p:sldMasterId id="2147483852" r:id="rId11"/>
  </p:sldMasterIdLst>
  <p:notesMasterIdLst>
    <p:notesMasterId r:id="rId119"/>
  </p:notesMasterIdLst>
  <p:sldIdLst>
    <p:sldId id="257" r:id="rId12"/>
    <p:sldId id="2139968356" r:id="rId13"/>
    <p:sldId id="2139968379" r:id="rId14"/>
    <p:sldId id="2147481830" r:id="rId15"/>
    <p:sldId id="2139968320" r:id="rId16"/>
    <p:sldId id="2139968382" r:id="rId17"/>
    <p:sldId id="2139968321" r:id="rId18"/>
    <p:sldId id="2139968332" r:id="rId19"/>
    <p:sldId id="2139968366" r:id="rId20"/>
    <p:sldId id="2139968365" r:id="rId21"/>
    <p:sldId id="2147481764" r:id="rId22"/>
    <p:sldId id="2139968386" r:id="rId23"/>
    <p:sldId id="2147481741" r:id="rId24"/>
    <p:sldId id="2147481742" r:id="rId25"/>
    <p:sldId id="2147481825" r:id="rId26"/>
    <p:sldId id="2147481798" r:id="rId27"/>
    <p:sldId id="2147481846" r:id="rId28"/>
    <p:sldId id="447" r:id="rId29"/>
    <p:sldId id="2139968384" r:id="rId30"/>
    <p:sldId id="2139968380" r:id="rId31"/>
    <p:sldId id="2139968351" r:id="rId32"/>
    <p:sldId id="2139968362" r:id="rId33"/>
    <p:sldId id="2147481831" r:id="rId34"/>
    <p:sldId id="2139968381" r:id="rId35"/>
    <p:sldId id="2147481832" r:id="rId36"/>
    <p:sldId id="2147481833" r:id="rId37"/>
    <p:sldId id="2147481642" r:id="rId38"/>
    <p:sldId id="2139968367" r:id="rId39"/>
    <p:sldId id="2139968309" r:id="rId40"/>
    <p:sldId id="2147481847" r:id="rId41"/>
    <p:sldId id="2147481796" r:id="rId42"/>
    <p:sldId id="2147481713" r:id="rId43"/>
    <p:sldId id="2147481855" r:id="rId44"/>
    <p:sldId id="2147481851" r:id="rId45"/>
    <p:sldId id="2147481804" r:id="rId46"/>
    <p:sldId id="2147481856" r:id="rId47"/>
    <p:sldId id="2147481785" r:id="rId48"/>
    <p:sldId id="2139968357" r:id="rId49"/>
    <p:sldId id="2147481848" r:id="rId50"/>
    <p:sldId id="2147481797" r:id="rId51"/>
    <p:sldId id="2147481730" r:id="rId52"/>
    <p:sldId id="2147481685" r:id="rId53"/>
    <p:sldId id="2147481772" r:id="rId54"/>
    <p:sldId id="2147481834" r:id="rId55"/>
    <p:sldId id="2147481714" r:id="rId56"/>
    <p:sldId id="2147481755" r:id="rId57"/>
    <p:sldId id="2147481782" r:id="rId58"/>
    <p:sldId id="2147481783" r:id="rId59"/>
    <p:sldId id="2147481712" r:id="rId60"/>
    <p:sldId id="2147481728" r:id="rId61"/>
    <p:sldId id="2147481739" r:id="rId62"/>
    <p:sldId id="2147481754" r:id="rId63"/>
    <p:sldId id="2147481719" r:id="rId64"/>
    <p:sldId id="2147481857" r:id="rId65"/>
    <p:sldId id="2147481858" r:id="rId66"/>
    <p:sldId id="2147481881" r:id="rId67"/>
    <p:sldId id="2147481720" r:id="rId68"/>
    <p:sldId id="2147481821" r:id="rId69"/>
    <p:sldId id="2147481884" r:id="rId70"/>
    <p:sldId id="2147481845" r:id="rId71"/>
    <p:sldId id="2147481883" r:id="rId72"/>
    <p:sldId id="2147481723" r:id="rId73"/>
    <p:sldId id="2147481727" r:id="rId74"/>
    <p:sldId id="2147481740" r:id="rId75"/>
    <p:sldId id="2147481836" r:id="rId76"/>
    <p:sldId id="2139968342" r:id="rId77"/>
    <p:sldId id="2147481803" r:id="rId78"/>
    <p:sldId id="2147481839" r:id="rId79"/>
    <p:sldId id="2147481882" r:id="rId80"/>
    <p:sldId id="2147481722" r:id="rId81"/>
    <p:sldId id="2147481731" r:id="rId82"/>
    <p:sldId id="2147481843" r:id="rId83"/>
    <p:sldId id="2147481758" r:id="rId84"/>
    <p:sldId id="2147481844" r:id="rId85"/>
    <p:sldId id="2147481762" r:id="rId86"/>
    <p:sldId id="2147481838" r:id="rId87"/>
    <p:sldId id="2147481732" r:id="rId88"/>
    <p:sldId id="2139968370" r:id="rId89"/>
    <p:sldId id="2147481799" r:id="rId90"/>
    <p:sldId id="2147481801" r:id="rId91"/>
    <p:sldId id="2147481802" r:id="rId92"/>
    <p:sldId id="2147481818" r:id="rId93"/>
    <p:sldId id="2147481819" r:id="rId94"/>
    <p:sldId id="2147481820" r:id="rId95"/>
    <p:sldId id="2147481822" r:id="rId96"/>
    <p:sldId id="2147481823" r:id="rId97"/>
    <p:sldId id="2139968346" r:id="rId98"/>
    <p:sldId id="2147481761" r:id="rId99"/>
    <p:sldId id="2139968377" r:id="rId100"/>
    <p:sldId id="2139968322" r:id="rId101"/>
    <p:sldId id="2139968307" r:id="rId102"/>
    <p:sldId id="499" r:id="rId103"/>
    <p:sldId id="2139968308" r:id="rId104"/>
    <p:sldId id="505" r:id="rId105"/>
    <p:sldId id="2147481748" r:id="rId106"/>
    <p:sldId id="2147481794" r:id="rId107"/>
    <p:sldId id="2147481852" r:id="rId108"/>
    <p:sldId id="2147481853" r:id="rId109"/>
    <p:sldId id="2147481795" r:id="rId110"/>
    <p:sldId id="500" r:id="rId111"/>
    <p:sldId id="2139968372" r:id="rId112"/>
    <p:sldId id="2139968378" r:id="rId113"/>
    <p:sldId id="2147481842" r:id="rId114"/>
    <p:sldId id="2139968334" r:id="rId115"/>
    <p:sldId id="2147481800" r:id="rId116"/>
    <p:sldId id="2147481119" r:id="rId117"/>
    <p:sldId id="2147481860" r:id="rId118"/>
  </p:sldIdLst>
  <p:sldSz cx="12192000" cy="6858000"/>
  <p:notesSz cx="6810375" cy="994251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9AB2406-D2E3-6D90-6E6D-C7C3F09CBFAB}" name="Hannah van Dijk | RSOTrijn" initials="" userId="S::h.dijk@RSOTrijn.nl::e2c0dddf-bd52-4c9f-a071-03bdad134abd" providerId="AD"/>
  <p188:author id="{DF484407-D847-CE85-9D36-1756EA191C72}" name="Engel-3-van Kooten, A. (Amy)" initials="Av" userId="S::a.vankooten-3@umcutrecht.nl::a7dcb737-77ce-4a8d-85f8-0341b2a8b7a5" providerId="AD"/>
  <p188:author id="{5854C509-B6E5-67C0-0BF7-FB7E6D7C2144}" name="Valérie Pourquié" initials="VP" userId="S::valerie.pourquie_igh.com#ext#@trijn.onmicrosoft.com::5cff69f6-b022-4b6c-9826-a8055831836c" providerId="AD"/>
  <p188:author id="{B872170B-069C-9C4A-1082-16ADA1CB261E}" name="Annette van der Ven" initials="AV" userId="S::avdven_diakhuis.nl#ext#@trijn.onmicrosoft.com::a07b4da9-d5fa-4e5e-9ce6-19b65198b169" providerId="AD"/>
  <p188:author id="{B1E7C80D-48D8-7E8B-D119-529BE8416E3C}" name="Danielle van der Meer" initials="DM" userId="S::danielle.vandermeer_igh.com#ext#@trijn.onmicrosoft.com::6770d587-5e9f-4900-b836-9c05f600b087" providerId="AD"/>
  <p188:author id="{B7F8332A-CA9A-B152-A119-8108C36870CB}" name="Duin, N.J.C.B. (Naut)" initials="D(" userId="S::njcb.duin_meandermc.nl#ext#@trijn.onmicrosoft.com::ff62ccf7-a011-440c-bda6-5a62e2d5d7b8" providerId="AD"/>
  <p188:author id="{F7DEC62B-376A-D764-AA43-DFB67F1A953F}" name="Nadia van Beerschoten | RSOTrijn" initials="Nv" userId="S::n.beerschoten@RSOTrijn.nl::8a1c2f36-c8e7-4837-89e9-17f6ed3ccbdf" providerId="AD"/>
  <p188:author id="{42CB782E-D7A8-133A-9A41-5CCFBE383ED1}" name="Valérie Pourquié" initials="VP" userId="S::valerie.pourquie@igh.com::bbc5a7d3-10be-4d3d-a1e3-50205fe58d74" providerId="AD"/>
  <p188:author id="{58F35F34-5CCE-C4C2-08B2-129C56493E50}" name="Liesbeth van den Heuvel | RSO Trijn" initials="LT" userId="S::l.heuvel_rsotrijn.nl#ext#@huisartsenutrechtstad.onmicrosoft.com::d1938e85-ee77-4428-a4ef-15835b93612d" providerId="AD"/>
  <p188:author id="{83536735-C339-1E1B-A9CD-7544ACDC069D}" name="Sie, Aisha (I&amp;I Informatiemanagement)" initials="SI" userId="S::a.sie_antoniusziekenhuis.nl#ext#@trijn.onmicrosoft.com::a1a08cba-9c18-4101-a615-899c12f64e81" providerId="AD"/>
  <p188:author id="{731CB73C-D20D-0DE5-FA68-1B57BE72B64C}" name="Eva Marquarita | RSOTrijn" initials="ER" userId="S::e.marquarita@rsotrijn.nl::6082befa-c040-4688-a2e1-169a77a9f80b" providerId="AD"/>
  <p188:author id="{F034463E-C2D9-397A-DB62-A5FA7FAAA5A7}" name="Mira Dalessi" initials="MD" userId="S::m.dalessi@regiozorgnu.nl::850dea7c-9c3d-4a35-93f3-7e2c97699a3a" providerId="AD"/>
  <p188:author id="{9F93403F-8862-726E-76D1-A5C7A3729E44}" name="Mi Sun van der Mannen | HUS" initials="MH" userId="S::vandermannen_huisartsenutrechtstad.nl#ext#@trijn.onmicrosoft.com::d07c56f9-9246-4fc1-b54c-b5993b2bb1be" providerId="AD"/>
  <p188:author id="{322FAE41-8B2B-0AB1-0C1A-81AC2D639BCD}" name="Erik Teichert" initials="ET" userId="S::erik.teichert@igh.com::1ddbab59-abc6-4d39-968e-b8329e861308" providerId="AD"/>
  <p188:author id="{5FCCB745-B51B-02FD-C67F-FAFDCB6756BE}" name="Jill Pape (JC)" initials="" userId="S::jill.pape@zilverenkruis.nl::aaab3565-b4a6-4c82-b78f-1d8ebf7598b7" providerId="AD"/>
  <p188:author id="{12FB8049-7B07-5F1E-B08E-724F1F569084}" name="Chris Slijkhuis | RSOTrijn" initials="CS" userId="S::c.slijkhuis@RSOTrijn.nl::3292ba4a-e41a-4328-8bb0-aecd6cdd9306" providerId="AD"/>
  <p188:author id="{9D45B04A-97DA-5974-EA6A-7225F45E339F}" name="Chris Slijkhuis" initials="CS" userId="S::chris.slijkhuis@cinx.nl::c2134f86-abb9-4f0c-ae83-8d10998cdd16" providerId="AD"/>
  <p188:author id="{DBCFCE4A-9479-B2C6-A6D9-C14AA4C4F210}" name="Merwe, Kees van de" initials="Kv" userId="S::k.vandemerwe@careyn.nl::87a687ce-4b98-4cfe-b911-2947ee8ebf70" providerId="AD"/>
  <p188:author id="{B1BC6354-5B7A-4FBB-59CD-B4BB28620524}" name="Johan Kruizenga" initials="JK" userId="S::j.kruizenga@santepartners.nl::8daaffc0-32cf-4ff7-8e81-c8cc25c012e6" providerId="AD"/>
  <p188:author id="{9CF81957-F984-F359-0B19-80044CA2ADE4}" name="Johan Kruizenga" initials="JK" userId="S::j.kruizenga_santepartners.nl#ext#@trijn.onmicrosoft.com::7c0fe051-171f-462b-8a1b-57d1b61c60bd" providerId="AD"/>
  <p188:author id="{D8E85A57-53B2-561C-6F2F-29B6FD720C98}" name="Smilde, Annelies (Spoedeisende Hulp)" initials="SH" userId="S::a.smilde_antoniusziekenhuis.nl#ext#@trijn.onmicrosoft.com::ae768fb0-dd3c-4881-b3e8-56e47bb5c71c" providerId="AD"/>
  <p188:author id="{4AAD7960-EFFF-F89F-796A-FE27CA01C5F3}" name="Pannekoek, M. (Madeleine)" initials="P(" userId="S::m.pannekoek_meandermc.nl#ext#@trijn.onmicrosoft.com::ac8cf138-e7de-4a28-8cdd-d7765504009d" providerId="AD"/>
  <p188:author id="{097BD461-5D49-51A2-EEAA-38736C48C5DC}" name="Liesbeth van den Heuvel | RSO Trijn" initials="LvdH|RT" userId="S::l.heuvel@RSOTrijn.nl::e4660cb5-19e4-4505-9694-39b14ac87d84" providerId="AD"/>
  <p188:author id="{605E5367-C209-7534-2E87-32CBDA72733E}" name="Mi Sun van der Mannen | RSOTrijn" initials="Mv" userId="S::m.mannen@RSOTrijn.nl::21b28852-14f7-44a1-b827-45e285cc45a3" providerId="AD"/>
  <p188:author id="{FA839E6B-9AF2-47BE-68EA-C7690FA46415}" name="Mirjam van Aspert - Peters" initials="Mv" userId="S::mirjam.peters@igh.com::5c3a525c-f45e-4ed4-8880-57bbe8aa40b6" providerId="AD"/>
  <p188:author id="{01437C73-4D6C-628A-2C32-E09B45D853CA}" name="Harrewijn, Wendy (I&amp;I Informatiemanagement)" initials="HI" userId="S::w.harrewijn_antoniusziekenhuis.nl#ext#@trijn.onmicrosoft.com::4f0dba42-4956-4f4f-9725-33097e5aa7f9" providerId="AD"/>
  <p188:author id="{895BFD83-5732-0DD1-069F-C1CE15402901}" name="eva marquarita" initials="em" userId="2df5681084a0bea7" providerId="Windows Live"/>
  <p188:author id="{9DE4E688-9A0F-D986-1F69-9F3B217A012B}" name="Lint, Carla van (EPD Beheer en Ontwikkeling)" initials="LO" userId="S::c.van.lint_antoniusziekenhuis.nl#ext#@trijn.onmicrosoft.com::47c34ac0-3995-458d-a7c8-6739731b2151" providerId="AD"/>
  <p188:author id="{EF42158F-17C3-B779-3C83-03781E1921EA}" name="Mi Sun van der Mannen | HUS" initials="MSvdM|H" userId="S::vandermannen@huisartsenutrechtstad.nl::4de71913-d7c1-4673-8634-f08ad84f6849" providerId="AD"/>
  <p188:author id="{5AC7799B-9EC9-1BB5-15A8-C3424975A24A}" name="Jill Pape (JC)" initials="J(" userId="S::jill.pape_zilverenkruis.nl#ext#@trijn.onmicrosoft.com::b5b747db-c65d-4c14-ab83-472eeaac3f65" providerId="AD"/>
  <p188:author id="{982F2BA0-3A11-B9B8-380B-EE6D6495029A}" name="Marieke van Gilsdonk" initials="MG" userId="S::m.vangilsdonk_zorgspectrum.nl#ext#@trijn.onmicrosoft.com::1994f21d-026f-4402-babd-aeead5771e64" providerId="AD"/>
  <p188:author id="{A313F8A1-4CB7-A830-25D0-4A147FDA22A3}" name="Feenstra, Joris" initials="FJ" userId="S::j.feenstra_altrecht.nl#ext#@trijn.onmicrosoft.com::272dc65f-6198-4acd-a5e2-99291b04bde6" providerId="AD"/>
  <p188:author id="{14EC7EAB-D421-E034-9164-2807C09F0549}" name="Eva Marquarita | RSOTrijn" initials="EM|R" userId="Eva Marquarita | RSOTrijn" providerId="None"/>
  <p188:author id="{602049B3-E2C5-597B-738E-C1F3F036CAFD}" name="Liesbeth van den Heuvel | RSO Trijn" initials="LT" userId="S::l.heuvel@rsotrijn.nl::e4660cb5-19e4-4505-9694-39b14ac87d84" providerId="AD"/>
  <p188:author id="{F2341DB6-C01C-8B29-32EA-F21AA0A22524}" name="Elske van der Pol | RSOTrijn" initials="Ev" userId="S::e.pol@RSOTrijn.nl::9df95c00-e106-477b-a1d1-51a0f44aee3c" providerId="AD"/>
  <p188:author id="{92416EC8-F06A-7550-7E4F-469EDEE6A847}" name="Erik Ooms" initials="EO" userId="S::erik.ooms@igh.com::729ac5ab-7fbf-42ff-aec5-3491c5cc0b2b" providerId="AD"/>
  <p188:author id="{A43C9FC9-9ACC-71FC-34C5-FCF06CA2F811}" name="Meer, Simone van der (Spoedeisende Hulp)" initials="MH" userId="S::sj.van.der.meer_antoniusziekenhuis.nl#ext#@trijn.onmicrosoft.com::95e27709-5472-44bb-87c0-41c1555d43c1" providerId="AD"/>
  <p188:author id="{1C5E8DD4-DC97-A63E-8A55-1D4774ADA5C7}" name="Danielle van der Meer" initials="Dv" userId="S::danielle.vandermeer@igh.com::876fc061-f345-49f6-ba68-40ea90170fdf" providerId="AD"/>
  <p188:author id="{93747FD5-C3CE-7318-4666-CB21595F5B17}" name="Elske van der Pol | RSOTrijn" initials="ER" userId="S::e.pol@rsotrijn.nl::9df95c00-e106-477b-a1d1-51a0f44aee3c" providerId="AD"/>
  <p188:author id="{0124B1D8-0AED-DDB4-0DA0-A2659A3A31A8}" name="Chris Slijkhuis | RSOTrijn" initials="CR" userId="S::c.slijkhuis@rsotrijn.nl::3292ba4a-e41a-4328-8bb0-aecd6cdd9306" providerId="AD"/>
  <p188:author id="{D20579DF-9C79-B21F-33CB-89621B907284}" name="Hannah van Dijk | RSOTrijn" initials="HR" userId="S::h.dijk@rsotrijn.nl::e2c0dddf-bd52-4c9f-a071-03bdad134abd" providerId="AD"/>
  <p188:author id="{3F31B6DF-C71D-AEE6-4328-1C8CE7CDB534}" name="Prummel-2, W.W. (Wouter)" initials="P(" userId="S::w.w.prummel-2_umcutrecht.nl#ext#@trijn.onmicrosoft.com::f7bfe132-be7d-4821-a030-099912e0a2f8" providerId="AD"/>
  <p188:author id="{120561F0-F4CB-2650-3C2D-9AFA8657B437}" name="Merwe, Kees van de" initials="Md" userId="S::k.vandemerwe_careyn.nl#ext#@trijn.onmicrosoft.com::928fb991-e4a9-41e0-90bc-feff592c1a20" providerId="AD"/>
  <p188:author id="{C81837FF-E5E8-89DC-A52C-182105579753}" name="Anne-Marie Huijskes" initials="AMH" userId="S::Huijskes@huisartsenutrechtstad.nl::60161a8a-7188-4785-a402-39f03461a6c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lorian Visser" initials="FV" lastIdx="1" clrIdx="0">
    <p:extLst>
      <p:ext uri="{19B8F6BF-5375-455C-9EA6-DF929625EA0E}">
        <p15:presenceInfo xmlns:p15="http://schemas.microsoft.com/office/powerpoint/2012/main" userId="Florian Vis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B9EDFF"/>
    <a:srgbClr val="47CFFF"/>
    <a:srgbClr val="A2C877"/>
    <a:srgbClr val="0E9D90"/>
    <a:srgbClr val="8C95CD"/>
    <a:srgbClr val="F1F2F9"/>
    <a:srgbClr val="BCC1E2"/>
    <a:srgbClr val="FF9797"/>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EE7512-77F0-B73B-CEC0-13A748744117}" v="6" dt="2024-11-29T18:53:55.476"/>
    <p1510:client id="{3E07E5F7-384F-4DBD-BF8F-616781F09FB6}" v="16" dt="2024-11-29T19:45:56.679"/>
    <p1510:client id="{617ED9FA-5EB6-24C5-1F63-0E111C3F661E}" v="38" dt="2024-11-29T19:48:40.385"/>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Stijl, thema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A488322-F2BA-4B5B-9748-0D474271808F}" styleName="Stijl, gemiddeld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Stijl, gemiddeld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2833802-FEF1-4C79-8D5D-14CF1EAF98D9}" styleName="Stijl, licht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A111915-BE36-4E01-A7E5-04B1672EAD32}" styleName="Stijl, licht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p:scale>
          <a:sx n="50" d="100"/>
          <a:sy n="50" d="100"/>
        </p:scale>
        <p:origin x="304" y="256"/>
      </p:cViewPr>
      <p:guideLst/>
    </p:cSldViewPr>
  </p:slideViewPr>
  <p:notesTextViewPr>
    <p:cViewPr>
      <p:scale>
        <a:sx n="1" d="1"/>
        <a:sy n="1" d="1"/>
      </p:scale>
      <p:origin x="0" y="0"/>
    </p:cViewPr>
  </p:notesTextViewPr>
  <p:sorterViewPr>
    <p:cViewPr>
      <p:scale>
        <a:sx n="100" d="100"/>
        <a:sy n="100" d="100"/>
      </p:scale>
      <p:origin x="0" y="-2226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117" Type="http://schemas.openxmlformats.org/officeDocument/2006/relationships/slide" Target="slides/slide106.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12" Type="http://schemas.openxmlformats.org/officeDocument/2006/relationships/slide" Target="slides/slide101.xml"/><Relationship Id="rId16" Type="http://schemas.openxmlformats.org/officeDocument/2006/relationships/slide" Target="slides/slide5.xml"/><Relationship Id="rId107" Type="http://schemas.openxmlformats.org/officeDocument/2006/relationships/slide" Target="slides/slide96.xml"/><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slide" Target="slides/slide91.xml"/><Relationship Id="rId123" Type="http://schemas.openxmlformats.org/officeDocument/2006/relationships/theme" Target="theme/theme1.xml"/><Relationship Id="rId5" Type="http://schemas.openxmlformats.org/officeDocument/2006/relationships/slideMaster" Target="slideMasters/slideMaster2.xml"/><Relationship Id="rId90" Type="http://schemas.openxmlformats.org/officeDocument/2006/relationships/slide" Target="slides/slide79.xml"/><Relationship Id="rId95" Type="http://schemas.openxmlformats.org/officeDocument/2006/relationships/slide" Target="slides/slide84.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113" Type="http://schemas.openxmlformats.org/officeDocument/2006/relationships/slide" Target="slides/slide102.xml"/><Relationship Id="rId118" Type="http://schemas.openxmlformats.org/officeDocument/2006/relationships/slide" Target="slides/slide107.xml"/><Relationship Id="rId80" Type="http://schemas.openxmlformats.org/officeDocument/2006/relationships/slide" Target="slides/slide69.xml"/><Relationship Id="rId85" Type="http://schemas.openxmlformats.org/officeDocument/2006/relationships/slide" Target="slides/slide74.xml"/><Relationship Id="rId12" Type="http://schemas.openxmlformats.org/officeDocument/2006/relationships/slide" Target="slides/slide1.xml"/><Relationship Id="rId17" Type="http://schemas.openxmlformats.org/officeDocument/2006/relationships/slide" Target="slides/slide6.xml"/><Relationship Id="rId33" Type="http://schemas.openxmlformats.org/officeDocument/2006/relationships/slide" Target="slides/slide22.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slide" Target="slides/slide92.xml"/><Relationship Id="rId108" Type="http://schemas.openxmlformats.org/officeDocument/2006/relationships/slide" Target="slides/slide97.xml"/><Relationship Id="rId124" Type="http://schemas.openxmlformats.org/officeDocument/2006/relationships/tableStyles" Target="tableStyles.xml"/><Relationship Id="rId54" Type="http://schemas.openxmlformats.org/officeDocument/2006/relationships/slide" Target="slides/slide43.xml"/><Relationship Id="rId70" Type="http://schemas.openxmlformats.org/officeDocument/2006/relationships/slide" Target="slides/slide59.xml"/><Relationship Id="rId75" Type="http://schemas.openxmlformats.org/officeDocument/2006/relationships/slide" Target="slides/slide64.xml"/><Relationship Id="rId91" Type="http://schemas.openxmlformats.org/officeDocument/2006/relationships/slide" Target="slides/slide80.xml"/><Relationship Id="rId96" Type="http://schemas.openxmlformats.org/officeDocument/2006/relationships/slide" Target="slides/slide85.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2.xml"/><Relationship Id="rId28" Type="http://schemas.openxmlformats.org/officeDocument/2006/relationships/slide" Target="slides/slide17.xml"/><Relationship Id="rId49" Type="http://schemas.openxmlformats.org/officeDocument/2006/relationships/slide" Target="slides/slide38.xml"/><Relationship Id="rId114" Type="http://schemas.openxmlformats.org/officeDocument/2006/relationships/slide" Target="slides/slide103.xml"/><Relationship Id="rId119" Type="http://schemas.openxmlformats.org/officeDocument/2006/relationships/notesMaster" Target="notesMasters/notesMaster1.xml"/><Relationship Id="rId44" Type="http://schemas.openxmlformats.org/officeDocument/2006/relationships/slide" Target="slides/slide33.xml"/><Relationship Id="rId60" Type="http://schemas.openxmlformats.org/officeDocument/2006/relationships/slide" Target="slides/slide49.xml"/><Relationship Id="rId65" Type="http://schemas.openxmlformats.org/officeDocument/2006/relationships/slide" Target="slides/slide54.xml"/><Relationship Id="rId81" Type="http://schemas.openxmlformats.org/officeDocument/2006/relationships/slide" Target="slides/slide70.xml"/><Relationship Id="rId86" Type="http://schemas.openxmlformats.org/officeDocument/2006/relationships/slide" Target="slides/slide75.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slide" Target="slides/slide9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slide" Target="slides/slide93.xml"/><Relationship Id="rId120" Type="http://schemas.openxmlformats.org/officeDocument/2006/relationships/commentAuthors" Target="commentAuthors.xml"/><Relationship Id="rId125" Type="http://schemas.microsoft.com/office/2015/10/relationships/revisionInfo" Target="revisionInfo.xml"/><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slide" Target="slides/slide99.xml"/><Relationship Id="rId115" Type="http://schemas.openxmlformats.org/officeDocument/2006/relationships/slide" Target="slides/slide104.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slide" Target="slides/slide89.xml"/><Relationship Id="rId105" Type="http://schemas.openxmlformats.org/officeDocument/2006/relationships/slide" Target="slides/slide94.xml"/><Relationship Id="rId12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slide" Target="slides/slide87.xml"/><Relationship Id="rId121"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 Id="rId116" Type="http://schemas.openxmlformats.org/officeDocument/2006/relationships/slide" Target="slides/slide105.xml"/><Relationship Id="rId20" Type="http://schemas.openxmlformats.org/officeDocument/2006/relationships/slide" Target="slides/slide9.xml"/><Relationship Id="rId41" Type="http://schemas.openxmlformats.org/officeDocument/2006/relationships/slide" Target="slides/slide30.xml"/><Relationship Id="rId62" Type="http://schemas.openxmlformats.org/officeDocument/2006/relationships/slide" Target="slides/slide51.xml"/><Relationship Id="rId83" Type="http://schemas.openxmlformats.org/officeDocument/2006/relationships/slide" Target="slides/slide72.xml"/><Relationship Id="rId88" Type="http://schemas.openxmlformats.org/officeDocument/2006/relationships/slide" Target="slides/slide77.xml"/><Relationship Id="rId111" Type="http://schemas.openxmlformats.org/officeDocument/2006/relationships/slide" Target="slides/slide100.xml"/><Relationship Id="rId15" Type="http://schemas.openxmlformats.org/officeDocument/2006/relationships/slide" Target="slides/slide4.xml"/><Relationship Id="rId36" Type="http://schemas.openxmlformats.org/officeDocument/2006/relationships/slide" Target="slides/slide25.xml"/><Relationship Id="rId57" Type="http://schemas.openxmlformats.org/officeDocument/2006/relationships/slide" Target="slides/slide46.xml"/><Relationship Id="rId106" Type="http://schemas.openxmlformats.org/officeDocument/2006/relationships/slide" Target="slides/slide95.xml"/><Relationship Id="rId10" Type="http://schemas.openxmlformats.org/officeDocument/2006/relationships/slideMaster" Target="slideMasters/slideMaster7.xml"/><Relationship Id="rId31" Type="http://schemas.openxmlformats.org/officeDocument/2006/relationships/slide" Target="slides/slide20.xml"/><Relationship Id="rId52" Type="http://schemas.openxmlformats.org/officeDocument/2006/relationships/slide" Target="slides/slide41.xml"/><Relationship Id="rId73" Type="http://schemas.openxmlformats.org/officeDocument/2006/relationships/slide" Target="slides/slide62.xml"/><Relationship Id="rId78" Type="http://schemas.openxmlformats.org/officeDocument/2006/relationships/slide" Target="slides/slide67.xml"/><Relationship Id="rId94" Type="http://schemas.openxmlformats.org/officeDocument/2006/relationships/slide" Target="slides/slide83.xml"/><Relationship Id="rId99" Type="http://schemas.openxmlformats.org/officeDocument/2006/relationships/slide" Target="slides/slide88.xml"/><Relationship Id="rId101" Type="http://schemas.openxmlformats.org/officeDocument/2006/relationships/slide" Target="slides/slide90.xml"/><Relationship Id="rId12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3114353495175071E-2"/>
          <c:y val="5.7926999632156202E-2"/>
          <c:w val="0.93122127803789123"/>
          <c:h val="0.89285357999779913"/>
        </c:manualLayout>
      </c:layout>
      <c:barChart>
        <c:barDir val="col"/>
        <c:grouping val="stacked"/>
        <c:varyColors val="0"/>
        <c:ser>
          <c:idx val="0"/>
          <c:order val="0"/>
          <c:tx>
            <c:strRef>
              <c:f>Sheet1!$B$1</c:f>
              <c:strCache>
                <c:ptCount val="1"/>
                <c:pt idx="0">
                  <c:v>Bottom-up</c:v>
                </c:pt>
              </c:strCache>
            </c:strRef>
          </c:tx>
          <c:spPr>
            <a:solidFill>
              <a:schemeClr val="accent6">
                <a:lumMod val="75000"/>
              </a:schemeClr>
            </a:solidFill>
            <a:ln>
              <a:noFill/>
            </a:ln>
            <a:effectLst/>
          </c:spPr>
          <c:invertIfNegative val="0"/>
          <c:dLbls>
            <c:dLbl>
              <c:idx val="0"/>
              <c:layout>
                <c:manualLayout>
                  <c:x val="-5.4599709331528605E-4"/>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116-4B13-8868-CDDD4C8D8D6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numCache>
            </c:numRef>
          </c:cat>
          <c:val>
            <c:numRef>
              <c:f>Sheet1!$B$2:$B$10</c:f>
              <c:numCache>
                <c:formatCode>General</c:formatCode>
                <c:ptCount val="9"/>
                <c:pt idx="0">
                  <c:v>100</c:v>
                </c:pt>
                <c:pt idx="1">
                  <c:v>200</c:v>
                </c:pt>
                <c:pt idx="2">
                  <c:v>400</c:v>
                </c:pt>
                <c:pt idx="3">
                  <c:v>500</c:v>
                </c:pt>
                <c:pt idx="4">
                  <c:v>600</c:v>
                </c:pt>
                <c:pt idx="5">
                  <c:v>650</c:v>
                </c:pt>
                <c:pt idx="6">
                  <c:v>700</c:v>
                </c:pt>
                <c:pt idx="7">
                  <c:v>750</c:v>
                </c:pt>
                <c:pt idx="8">
                  <c:v>800</c:v>
                </c:pt>
              </c:numCache>
            </c:numRef>
          </c:val>
          <c:extLst>
            <c:ext xmlns:c16="http://schemas.microsoft.com/office/drawing/2014/chart" uri="{C3380CC4-5D6E-409C-BE32-E72D297353CC}">
              <c16:uniqueId val="{00000001-1020-45FB-A8E4-D2D043FB0839}"/>
            </c:ext>
          </c:extLst>
        </c:ser>
        <c:ser>
          <c:idx val="1"/>
          <c:order val="1"/>
          <c:tx>
            <c:strRef>
              <c:f>Sheet1!$C$1</c:f>
              <c:strCache>
                <c:ptCount val="1"/>
                <c:pt idx="0">
                  <c:v>Top-down huidig</c:v>
                </c:pt>
              </c:strCache>
            </c:strRef>
          </c:tx>
          <c:spPr>
            <a:solidFill>
              <a:schemeClr val="accent6">
                <a:lumMod val="60000"/>
                <a:lumOff val="40000"/>
              </a:schemeClr>
            </a:solidFill>
            <a:ln>
              <a:noFill/>
            </a:ln>
            <a:effectLst/>
          </c:spPr>
          <c:invertIfNegative val="0"/>
          <c:dLbls>
            <c:dLbl>
              <c:idx val="0"/>
              <c:layout>
                <c:manualLayout>
                  <c:x val="-2.3914501642796456E-2"/>
                  <c:y val="-3.918410667950185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020-45FB-A8E4-D2D043FB0839}"/>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numCache>
            </c:numRef>
          </c:cat>
          <c:val>
            <c:numRef>
              <c:f>Sheet1!$C$2:$C$10</c:f>
              <c:numCache>
                <c:formatCode>General</c:formatCode>
                <c:ptCount val="9"/>
                <c:pt idx="0">
                  <c:v>10</c:v>
                </c:pt>
                <c:pt idx="1">
                  <c:v>40</c:v>
                </c:pt>
                <c:pt idx="2">
                  <c:v>80</c:v>
                </c:pt>
                <c:pt idx="3">
                  <c:v>25</c:v>
                </c:pt>
                <c:pt idx="4">
                  <c:v>30</c:v>
                </c:pt>
                <c:pt idx="5">
                  <c:v>32.5</c:v>
                </c:pt>
                <c:pt idx="6">
                  <c:v>35</c:v>
                </c:pt>
                <c:pt idx="7">
                  <c:v>37.5</c:v>
                </c:pt>
                <c:pt idx="8">
                  <c:v>40</c:v>
                </c:pt>
              </c:numCache>
            </c:numRef>
          </c:val>
          <c:extLst>
            <c:ext xmlns:c16="http://schemas.microsoft.com/office/drawing/2014/chart" uri="{C3380CC4-5D6E-409C-BE32-E72D297353CC}">
              <c16:uniqueId val="{00000004-1020-45FB-A8E4-D2D043FB0839}"/>
            </c:ext>
          </c:extLst>
        </c:ser>
        <c:ser>
          <c:idx val="2"/>
          <c:order val="2"/>
          <c:tx>
            <c:strRef>
              <c:f>Sheet1!$D$1</c:f>
              <c:strCache>
                <c:ptCount val="1"/>
                <c:pt idx="0">
                  <c:v>Top-down nieuw</c:v>
                </c:pt>
              </c:strCache>
            </c:strRef>
          </c:tx>
          <c:spPr>
            <a:solidFill>
              <a:schemeClr val="accent6">
                <a:lumMod val="20000"/>
                <a:lumOff val="80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1020-45FB-A8E4-D2D043FB0839}"/>
                </c:ext>
              </c:extLst>
            </c:dLbl>
            <c:dLbl>
              <c:idx val="1"/>
              <c:delete val="1"/>
              <c:extLst>
                <c:ext xmlns:c15="http://schemas.microsoft.com/office/drawing/2012/chart" uri="{CE6537A1-D6FC-4f65-9D91-7224C49458BB}"/>
                <c:ext xmlns:c16="http://schemas.microsoft.com/office/drawing/2014/chart" uri="{C3380CC4-5D6E-409C-BE32-E72D297353CC}">
                  <c16:uniqueId val="{00000006-1020-45FB-A8E4-D2D043FB0839}"/>
                </c:ext>
              </c:extLst>
            </c:dLbl>
            <c:dLbl>
              <c:idx val="2"/>
              <c:delete val="1"/>
              <c:extLst>
                <c:ext xmlns:c15="http://schemas.microsoft.com/office/drawing/2012/chart" uri="{CE6537A1-D6FC-4f65-9D91-7224C49458BB}"/>
                <c:ext xmlns:c16="http://schemas.microsoft.com/office/drawing/2014/chart" uri="{C3380CC4-5D6E-409C-BE32-E72D297353CC}">
                  <c16:uniqueId val="{00000007-1020-45FB-A8E4-D2D043FB0839}"/>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numCache>
            </c:numRef>
          </c:cat>
          <c:val>
            <c:numRef>
              <c:f>Sheet1!$D$2:$D$10</c:f>
              <c:numCache>
                <c:formatCode>General</c:formatCode>
                <c:ptCount val="9"/>
                <c:pt idx="0">
                  <c:v>0</c:v>
                </c:pt>
                <c:pt idx="1">
                  <c:v>0</c:v>
                </c:pt>
                <c:pt idx="2">
                  <c:v>0</c:v>
                </c:pt>
                <c:pt idx="3">
                  <c:v>100</c:v>
                </c:pt>
                <c:pt idx="4">
                  <c:v>100</c:v>
                </c:pt>
                <c:pt idx="5">
                  <c:v>50</c:v>
                </c:pt>
                <c:pt idx="6">
                  <c:v>50</c:v>
                </c:pt>
                <c:pt idx="7">
                  <c:v>50</c:v>
                </c:pt>
                <c:pt idx="8">
                  <c:v>50</c:v>
                </c:pt>
              </c:numCache>
            </c:numRef>
          </c:val>
          <c:extLst>
            <c:ext xmlns:c16="http://schemas.microsoft.com/office/drawing/2014/chart" uri="{C3380CC4-5D6E-409C-BE32-E72D297353CC}">
              <c16:uniqueId val="{0000000B-1020-45FB-A8E4-D2D043FB0839}"/>
            </c:ext>
          </c:extLst>
        </c:ser>
        <c:ser>
          <c:idx val="3"/>
          <c:order val="3"/>
          <c:tx>
            <c:strRef>
              <c:f>Sheet1!$E$1</c:f>
              <c:strCache>
                <c:ptCount val="1"/>
                <c:pt idx="0">
                  <c:v>Frictiekosten</c:v>
                </c:pt>
              </c:strCache>
            </c:strRef>
          </c:tx>
          <c:spPr>
            <a:solidFill>
              <a:srgbClr val="FF0000"/>
            </a:solidFill>
            <a:ln>
              <a:noFill/>
            </a:ln>
            <a:effectLst/>
          </c:spPr>
          <c:invertIfNegative val="0"/>
          <c:dLbls>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NL"/>
                </a:p>
              </c:txPr>
              <c:dLblPos val="ctr"/>
              <c:showLegendKey val="0"/>
              <c:showVal val="1"/>
              <c:showCatName val="0"/>
              <c:showSerName val="0"/>
              <c:showPercent val="0"/>
              <c:showBubbleSize val="0"/>
              <c:extLst>
                <c:ext xmlns:c16="http://schemas.microsoft.com/office/drawing/2014/chart" uri="{C3380CC4-5D6E-409C-BE32-E72D297353CC}">
                  <c16:uniqueId val="{0000000C-1020-45FB-A8E4-D2D043FB0839}"/>
                </c:ext>
              </c:extLst>
            </c:dLbl>
            <c:dLbl>
              <c:idx val="1"/>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NL"/>
                </a:p>
              </c:txPr>
              <c:dLblPos val="ctr"/>
              <c:showLegendKey val="0"/>
              <c:showVal val="1"/>
              <c:showCatName val="0"/>
              <c:showSerName val="0"/>
              <c:showPercent val="0"/>
              <c:showBubbleSize val="0"/>
              <c:extLst>
                <c:ext xmlns:c16="http://schemas.microsoft.com/office/drawing/2014/chart" uri="{C3380CC4-5D6E-409C-BE32-E72D297353CC}">
                  <c16:uniqueId val="{0000000D-1020-45FB-A8E4-D2D043FB0839}"/>
                </c:ext>
              </c:extLst>
            </c:dLbl>
            <c:dLbl>
              <c:idx val="2"/>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NL"/>
                </a:p>
              </c:txPr>
              <c:dLblPos val="ctr"/>
              <c:showLegendKey val="0"/>
              <c:showVal val="1"/>
              <c:showCatName val="0"/>
              <c:showSerName val="0"/>
              <c:showPercent val="0"/>
              <c:showBubbleSize val="0"/>
              <c:extLst>
                <c:ext xmlns:c16="http://schemas.microsoft.com/office/drawing/2014/chart" uri="{C3380CC4-5D6E-409C-BE32-E72D297353CC}">
                  <c16:uniqueId val="{0000000E-1020-45FB-A8E4-D2D043FB0839}"/>
                </c:ext>
              </c:extLst>
            </c:dLbl>
            <c:dLbl>
              <c:idx val="3"/>
              <c:delete val="1"/>
              <c:extLst>
                <c:ext xmlns:c15="http://schemas.microsoft.com/office/drawing/2012/chart" uri="{CE6537A1-D6FC-4f65-9D91-7224C49458BB}"/>
                <c:ext xmlns:c16="http://schemas.microsoft.com/office/drawing/2014/chart" uri="{C3380CC4-5D6E-409C-BE32-E72D297353CC}">
                  <c16:uniqueId val="{0000000F-1020-45FB-A8E4-D2D043FB0839}"/>
                </c:ext>
              </c:extLst>
            </c:dLbl>
            <c:dLbl>
              <c:idx val="4"/>
              <c:delete val="1"/>
              <c:extLst>
                <c:ext xmlns:c15="http://schemas.microsoft.com/office/drawing/2012/chart" uri="{CE6537A1-D6FC-4f65-9D91-7224C49458BB}"/>
                <c:ext xmlns:c16="http://schemas.microsoft.com/office/drawing/2014/chart" uri="{C3380CC4-5D6E-409C-BE32-E72D297353CC}">
                  <c16:uniqueId val="{00000010-1020-45FB-A8E4-D2D043FB0839}"/>
                </c:ext>
              </c:extLst>
            </c:dLbl>
            <c:dLbl>
              <c:idx val="5"/>
              <c:delete val="1"/>
              <c:extLst>
                <c:ext xmlns:c15="http://schemas.microsoft.com/office/drawing/2012/chart" uri="{CE6537A1-D6FC-4f65-9D91-7224C49458BB}"/>
                <c:ext xmlns:c16="http://schemas.microsoft.com/office/drawing/2014/chart" uri="{C3380CC4-5D6E-409C-BE32-E72D297353CC}">
                  <c16:uniqueId val="{00000011-1020-45FB-A8E4-D2D043FB0839}"/>
                </c:ext>
              </c:extLst>
            </c:dLbl>
            <c:dLbl>
              <c:idx val="6"/>
              <c:delete val="1"/>
              <c:extLst>
                <c:ext xmlns:c15="http://schemas.microsoft.com/office/drawing/2012/chart" uri="{CE6537A1-D6FC-4f65-9D91-7224C49458BB}"/>
                <c:ext xmlns:c16="http://schemas.microsoft.com/office/drawing/2014/chart" uri="{C3380CC4-5D6E-409C-BE32-E72D297353CC}">
                  <c16:uniqueId val="{00000012-1020-45FB-A8E4-D2D043FB0839}"/>
                </c:ext>
              </c:extLst>
            </c:dLbl>
            <c:dLbl>
              <c:idx val="7"/>
              <c:delete val="1"/>
              <c:extLst>
                <c:ext xmlns:c15="http://schemas.microsoft.com/office/drawing/2012/chart" uri="{CE6537A1-D6FC-4f65-9D91-7224C49458BB}"/>
                <c:ext xmlns:c16="http://schemas.microsoft.com/office/drawing/2014/chart" uri="{C3380CC4-5D6E-409C-BE32-E72D297353CC}">
                  <c16:uniqueId val="{00000013-1020-45FB-A8E4-D2D043FB0839}"/>
                </c:ext>
              </c:extLst>
            </c:dLbl>
            <c:dLbl>
              <c:idx val="8"/>
              <c:delete val="1"/>
              <c:extLst>
                <c:ext xmlns:c15="http://schemas.microsoft.com/office/drawing/2012/chart" uri="{CE6537A1-D6FC-4f65-9D91-7224C49458BB}"/>
                <c:ext xmlns:c16="http://schemas.microsoft.com/office/drawing/2014/chart" uri="{C3380CC4-5D6E-409C-BE32-E72D297353CC}">
                  <c16:uniqueId val="{00000014-1020-45FB-A8E4-D2D043FB0839}"/>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numCache>
            </c:numRef>
          </c:cat>
          <c:val>
            <c:numRef>
              <c:f>Sheet1!$E$2:$E$10</c:f>
              <c:numCache>
                <c:formatCode>General</c:formatCode>
                <c:ptCount val="9"/>
                <c:pt idx="0">
                  <c:v>-150</c:v>
                </c:pt>
                <c:pt idx="1">
                  <c:v>-500</c:v>
                </c:pt>
                <c:pt idx="2">
                  <c:v>-350</c:v>
                </c:pt>
                <c:pt idx="3">
                  <c:v>0</c:v>
                </c:pt>
                <c:pt idx="4">
                  <c:v>0</c:v>
                </c:pt>
                <c:pt idx="5">
                  <c:v>0</c:v>
                </c:pt>
                <c:pt idx="6">
                  <c:v>0</c:v>
                </c:pt>
                <c:pt idx="7">
                  <c:v>0</c:v>
                </c:pt>
                <c:pt idx="8">
                  <c:v>0</c:v>
                </c:pt>
              </c:numCache>
            </c:numRef>
          </c:val>
          <c:extLst>
            <c:ext xmlns:c16="http://schemas.microsoft.com/office/drawing/2014/chart" uri="{C3380CC4-5D6E-409C-BE32-E72D297353CC}">
              <c16:uniqueId val="{00000016-1020-45FB-A8E4-D2D043FB0839}"/>
            </c:ext>
          </c:extLst>
        </c:ser>
        <c:ser>
          <c:idx val="4"/>
          <c:order val="4"/>
          <c:tx>
            <c:strRef>
              <c:f>Sheet1!$F$1</c:f>
              <c:strCache>
                <c:ptCount val="1"/>
                <c:pt idx="0">
                  <c:v>Directe structurele kosten</c:v>
                </c:pt>
              </c:strCache>
            </c:strRef>
          </c:tx>
          <c:spPr>
            <a:solidFill>
              <a:srgbClr val="FF9797"/>
            </a:solidFill>
            <a:ln>
              <a:noFill/>
            </a:ln>
            <a:effectLst/>
          </c:spPr>
          <c:invertIfNegative val="0"/>
          <c:dLbls>
            <c:dLbl>
              <c:idx val="0"/>
              <c:layout>
                <c:manualLayout>
                  <c:x val="0"/>
                  <c:y val="-4.353789631055753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116-4B13-8868-CDDD4C8D8D6C}"/>
                </c:ext>
              </c:extLst>
            </c:dLbl>
            <c:dLbl>
              <c:idx val="3"/>
              <c:numFmt formatCode="#,##0" sourceLinked="0"/>
              <c:spPr>
                <a:noFill/>
                <a:ln>
                  <a:noFill/>
                </a:ln>
                <a:effectLst/>
              </c:spPr>
              <c:txPr>
                <a:bodyPr rot="0" spcFirstLastPara="1" vertOverflow="ellipsis" vert="horz" wrap="square" lIns="38100" tIns="19050" rIns="38100" bIns="19050" anchor="ctr" anchorCtr="1">
                  <a:spAutoFit/>
                </a:bodyPr>
                <a:lstStyle/>
                <a:p>
                  <a:pPr rtl="0">
                    <a:defRPr sz="900" b="0" i="0" u="none" strike="noStrike" kern="1200" baseline="0">
                      <a:solidFill>
                        <a:schemeClr val="tx1">
                          <a:lumMod val="75000"/>
                          <a:lumOff val="25000"/>
                        </a:schemeClr>
                      </a:solidFill>
                      <a:latin typeface="+mn-lt"/>
                      <a:ea typeface="+mn-ea"/>
                      <a:cs typeface="+mn-cs"/>
                    </a:defRPr>
                  </a:pPr>
                  <a:endParaRPr lang="en-NL"/>
                </a:p>
              </c:txPr>
              <c:dLblPos val="ctr"/>
              <c:showLegendKey val="0"/>
              <c:showVal val="1"/>
              <c:showCatName val="0"/>
              <c:showSerName val="0"/>
              <c:showPercent val="0"/>
              <c:showBubbleSize val="0"/>
              <c:extLst>
                <c:ext xmlns:c16="http://schemas.microsoft.com/office/drawing/2014/chart" uri="{C3380CC4-5D6E-409C-BE32-E72D297353CC}">
                  <c16:uniqueId val="{00000002-F116-4B13-8868-CDDD4C8D8D6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numCache>
            </c:numRef>
          </c:cat>
          <c:val>
            <c:numRef>
              <c:f>Sheet1!$F$2:$F$10</c:f>
              <c:numCache>
                <c:formatCode>General</c:formatCode>
                <c:ptCount val="9"/>
                <c:pt idx="0">
                  <c:v>-25</c:v>
                </c:pt>
                <c:pt idx="1">
                  <c:v>-100</c:v>
                </c:pt>
                <c:pt idx="2">
                  <c:v>-125</c:v>
                </c:pt>
                <c:pt idx="3">
                  <c:v>-150</c:v>
                </c:pt>
                <c:pt idx="4">
                  <c:v>-157.5</c:v>
                </c:pt>
                <c:pt idx="5">
                  <c:v>-165.375</c:v>
                </c:pt>
                <c:pt idx="6">
                  <c:v>-173.64375000000001</c:v>
                </c:pt>
                <c:pt idx="7">
                  <c:v>-182.32593750000001</c:v>
                </c:pt>
                <c:pt idx="8">
                  <c:v>-191.44223437500003</c:v>
                </c:pt>
              </c:numCache>
            </c:numRef>
          </c:val>
          <c:extLst>
            <c:ext xmlns:c16="http://schemas.microsoft.com/office/drawing/2014/chart" uri="{C3380CC4-5D6E-409C-BE32-E72D297353CC}">
              <c16:uniqueId val="{00000019-1020-45FB-A8E4-D2D043FB0839}"/>
            </c:ext>
          </c:extLst>
        </c:ser>
        <c:dLbls>
          <c:dLblPos val="ctr"/>
          <c:showLegendKey val="0"/>
          <c:showVal val="1"/>
          <c:showCatName val="0"/>
          <c:showSerName val="0"/>
          <c:showPercent val="0"/>
          <c:showBubbleSize val="0"/>
        </c:dLbls>
        <c:gapWidth val="150"/>
        <c:overlap val="100"/>
        <c:axId val="88468224"/>
        <c:axId val="88452864"/>
      </c:barChart>
      <c:catAx>
        <c:axId val="88468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L"/>
          </a:p>
        </c:txPr>
        <c:crossAx val="88452864"/>
        <c:crosses val="autoZero"/>
        <c:auto val="1"/>
        <c:lblAlgn val="ctr"/>
        <c:lblOffset val="100"/>
        <c:noMultiLvlLbl val="0"/>
      </c:catAx>
      <c:valAx>
        <c:axId val="88452864"/>
        <c:scaling>
          <c:orientation val="minMax"/>
          <c:max val="900"/>
          <c:min val="-600"/>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L"/>
          </a:p>
        </c:txPr>
        <c:crossAx val="884682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BF_70CB78A0.xml><?xml version="1.0" encoding="utf-8"?>
<p188:cmLst xmlns:a="http://schemas.openxmlformats.org/drawingml/2006/main" xmlns:r="http://schemas.openxmlformats.org/officeDocument/2006/relationships" xmlns:p188="http://schemas.microsoft.com/office/powerpoint/2018/8/main">
  <p188:cm id="{2BAD5584-57E0-4557-B045-E7967894E6B1}" authorId="{93747FD5-C3CE-7318-4666-CB21595F5B17}" created="2024-10-31T14:20:27.930">
    <pc:sldMkLst xmlns:pc="http://schemas.microsoft.com/office/powerpoint/2013/main/command">
      <pc:docMk/>
      <pc:sldMk cId="1892382880" sldId="447"/>
    </pc:sldMkLst>
    <p188:txBody>
      <a:bodyPr/>
      <a:lstStyle/>
      <a:p>
        <a:r>
          <a:rPr lang="nl-NL"/>
          <a:t>zou dit nog bijlage kunnen zijn? is niet perse ONS verhaal. Meer iets waar we rekening mee moeten houden in de regio</a:t>
        </a:r>
      </a:p>
    </p188:txBody>
  </p188:cm>
</p188:cmLst>
</file>

<file path=ppt/comments/modernComment_1F4_460093B3.xml><?xml version="1.0" encoding="utf-8"?>
<p188:cmLst xmlns:a="http://schemas.openxmlformats.org/drawingml/2006/main" xmlns:r="http://schemas.openxmlformats.org/officeDocument/2006/relationships" xmlns:p188="http://schemas.microsoft.com/office/powerpoint/2018/8/main">
  <p188:cm id="{9877BCA4-64B3-45F1-92BE-E3D65EFB6C9E}" authorId="{602049B3-E2C5-597B-738E-C1F3F036CAFD}" status="resolved" created="2024-10-02T11:03:56.212" complete="100000">
    <ac:deMkLst xmlns:ac="http://schemas.microsoft.com/office/drawing/2013/main/command">
      <pc:docMk xmlns:pc="http://schemas.microsoft.com/office/powerpoint/2013/main/command"/>
      <pc:sldMk xmlns:pc="http://schemas.microsoft.com/office/powerpoint/2013/main/command" cId="1174442931" sldId="500"/>
      <ac:spMk id="54" creationId="{84BF3995-BB5F-500A-0CB2-46591DA22060}"/>
    </ac:deMkLst>
    <p188:txBody>
      <a:bodyPr/>
      <a:lstStyle/>
      <a:p>
        <a:r>
          <a:rPr lang="nl-NL"/>
          <a:t>Met mogelijkheid tot uitloop in 2027 toch?</a:t>
        </a:r>
      </a:p>
    </p188:txBody>
  </p188:cm>
  <p188:cm id="{D221D690-166E-497E-93D3-3F2588DD50C8}" authorId="{93747FD5-C3CE-7318-4666-CB21595F5B17}" status="resolved" created="2024-10-31T14:46:23.995" complete="100000">
    <pc:sldMkLst xmlns:pc="http://schemas.microsoft.com/office/powerpoint/2013/main/command">
      <pc:docMk/>
      <pc:sldMk cId="1174442931" sldId="500"/>
    </pc:sldMkLst>
    <p188:replyLst>
      <p188:reply id="{316B7B39-E5CC-4B2C-9731-FBC22BBD3422}" authorId="{1C5E8DD4-DC97-A63E-8A55-1D4774ADA5C7}" created="2024-11-04T06:07:01.647">
        <p188:txBody>
          <a:bodyPr/>
          <a:lstStyle/>
          <a:p>
            <a:r>
              <a:rPr lang="en-NL"/>
              <a:t>Deze slide heeft ook wel echt betrekking op de scope van deze aanvraag en de bedoeling is om de verwachtingen juist te managen; we gaan veel doen vanuit deze onderliggende aanvraag, maar het houd niet op bij deze transformaties  en/of na 2026. Wellicht opnemen bij vervolgstappen (einde document)?</a:t>
            </a:r>
          </a:p>
        </p188:txBody>
      </p188:reply>
      <p188:reply id="{F8BC0F36-E7D9-45F5-9290-B809DB4F6B9F}" authorId="{93747FD5-C3CE-7318-4666-CB21595F5B17}" created="2024-11-14T16:00:43.484">
        <p188:txBody>
          <a:bodyPr/>
          <a:lstStyle/>
          <a:p>
            <a:r>
              <a:rPr lang="nl-NL"/>
              <a:t>eens, zou m.i. naar einde doc kunnen</a:t>
            </a:r>
          </a:p>
        </p188:txBody>
      </p188:reply>
      <p188:reply id="{70B19AB1-B3F4-4BF0-B9DF-1758C5E84A5B}" authorId="{1C5E8DD4-DC97-A63E-8A55-1D4774ADA5C7}" created="2024-11-15T06:00:57.206">
        <p188:txBody>
          <a:bodyPr/>
          <a:lstStyle/>
          <a:p>
            <a:r>
              <a:rPr lang="en-NL"/>
              <a:t>Nu even als placeholder in sectie Implementatie planning en aanpak geplaatst mogelijk als introductie slide in deze sectie. </a:t>
            </a:r>
          </a:p>
        </p188:txBody>
      </p188:reply>
    </p188:replyLst>
    <p188:txBody>
      <a:bodyPr/>
      <a:lstStyle/>
      <a:p>
        <a:r>
          <a:rPr lang="nl-NL"/>
          <a:t>zou deze ook later kunnen. Is meer aanpak wellicht? </a:t>
        </a:r>
      </a:p>
    </p188:txBody>
  </p188:cm>
  <p188:cm id="{C2B67750-ECBE-4BCA-AA71-F0F8D638B3CA}" authorId="{1C5E8DD4-DC97-A63E-8A55-1D4774ADA5C7}" created="2024-11-15T09:02:11.879">
    <ac:txMkLst xmlns:ac="http://schemas.microsoft.com/office/drawing/2013/main/command">
      <pc:docMk xmlns:pc="http://schemas.microsoft.com/office/powerpoint/2013/main/command"/>
      <pc:sldMk xmlns:pc="http://schemas.microsoft.com/office/powerpoint/2013/main/command" cId="1174442931" sldId="500"/>
      <ac:spMk id="4" creationId="{B153F750-61E0-49A9-AC1F-E4921A60D06C}"/>
      <ac:txMk cp="0" len="15">
        <ac:context len="33" hash="2469664025"/>
      </ac:txMk>
    </ac:txMkLst>
    <p188:pos x="3376677" y="265522"/>
    <p188:txBody>
      <a:bodyPr/>
      <a:lstStyle/>
      <a:p>
        <a:r>
          <a:rPr lang="en-NL"/>
          <a:t>Visualisatie herzien en anders illustreren.</a:t>
        </a:r>
      </a:p>
    </p188:txBody>
  </p188:cm>
</p188:cmLst>
</file>

<file path=ppt/comments/modernComment_7F8D534C_709F5751.xml><?xml version="1.0" encoding="utf-8"?>
<p188:cmLst xmlns:a="http://schemas.openxmlformats.org/drawingml/2006/main" xmlns:r="http://schemas.openxmlformats.org/officeDocument/2006/relationships" xmlns:p188="http://schemas.microsoft.com/office/powerpoint/2018/8/main">
  <p188:cm id="{B5CC4B90-D5CA-4A57-AD61-A5EF08F77ABF}" authorId="{93747FD5-C3CE-7318-4666-CB21595F5B17}" status="resolved" created="2024-10-31T14:39:15.622" complete="100000">
    <pc:sldMkLst xmlns:pc="http://schemas.microsoft.com/office/powerpoint/2013/main/command">
      <pc:docMk/>
      <pc:sldMk cId="1889490769" sldId="2139968332"/>
    </pc:sldMkLst>
    <p188:replyLst>
      <p188:reply id="{6461C4B9-83FC-442B-A4B9-0F72DD888D3B}" authorId="{1C5E8DD4-DC97-A63E-8A55-1D4774ADA5C7}" created="2024-11-04T05:46:27.749">
        <p188:txBody>
          <a:bodyPr/>
          <a:lstStyle/>
          <a:p>
            <a:r>
              <a:rPr lang="en-NL"/>
              <a:t>Deze was inderdaad per abuis dubbel opgenomen, Heb de tekst samengevoegd en onderdeel gemaakt van achtergrond. . </a:t>
            </a:r>
          </a:p>
        </p188:txBody>
      </p188:reply>
    </p188:replyLst>
    <p188:txBody>
      <a:bodyPr/>
      <a:lstStyle/>
      <a:p>
        <a:r>
          <a:rPr lang="nl-NL"/>
          <a:t>deze slide is deels overlappend met slide 16. kunnen we samenvoegen of echt onderscheidend allebei?</a:t>
        </a:r>
      </a:p>
    </p188:txBody>
  </p188:cm>
</p188:cmLst>
</file>

<file path=ppt/comments/modernComment_7F8D536A_431C6254.xml><?xml version="1.0" encoding="utf-8"?>
<p188:cmLst xmlns:a="http://schemas.openxmlformats.org/drawingml/2006/main" xmlns:r="http://schemas.openxmlformats.org/officeDocument/2006/relationships" xmlns:p188="http://schemas.microsoft.com/office/powerpoint/2018/8/main">
  <p188:cm id="{7F91B6F7-0506-4AFD-A7F0-C06B22565CD9}" authorId="{93747FD5-C3CE-7318-4666-CB21595F5B17}" created="2024-10-10T13:00:39.542">
    <ac:deMkLst xmlns:ac="http://schemas.microsoft.com/office/drawing/2013/main/command">
      <pc:docMk xmlns:pc="http://schemas.microsoft.com/office/powerpoint/2013/main/command"/>
      <pc:sldMk xmlns:pc="http://schemas.microsoft.com/office/powerpoint/2013/main/command" cId="1125933652" sldId="2139968362"/>
      <ac:spMk id="6" creationId="{17027AE1-BFA9-7ABC-E687-7F5348C4613B}"/>
    </ac:deMkLst>
    <p188:replyLst>
      <p188:reply id="{4E028BFB-6ABB-4395-9949-272A93A2238D}" authorId="{93747FD5-C3CE-7318-4666-CB21595F5B17}" created="2024-10-10T13:03:59.142">
        <p188:txBody>
          <a:bodyPr/>
          <a:lstStyle/>
          <a:p>
            <a:r>
              <a:rPr lang="nl-NL"/>
              <a:t>we faciliteren dat zorgprofessionals (e.a.) tijdens het samenwerken kunnen communiceren en afstemmen. </a:t>
            </a:r>
          </a:p>
        </p188:txBody>
      </p188:reply>
    </p188:replyLst>
    <p188:txBody>
      <a:bodyPr/>
      <a:lstStyle/>
      <a:p>
        <a:r>
          <a:rPr lang="nl-NL"/>
          <a:t>hier staat eigenlijk: 
voor samenwerking in het netwerk aan betere zorg hebben we een opgave,. Opgave bestaat uit 2 thema's. Elk thema bevat usescases.
Kortom: simpeler opschrijven</a:t>
        </a:r>
      </a:p>
    </p188:txBody>
  </p188:cm>
  <p188:cm id="{140A8EA9-5E29-44C4-9AD2-4DB743A675FB}" authorId="{93747FD5-C3CE-7318-4666-CB21595F5B17}" status="resolved" created="2024-10-10T13:20:56.129" complete="100000">
    <pc:sldMkLst xmlns:pc="http://schemas.microsoft.com/office/powerpoint/2013/main/command">
      <pc:docMk/>
      <pc:sldMk cId="1125933652" sldId="2139968362"/>
    </pc:sldMkLst>
    <p188:txBody>
      <a:bodyPr/>
      <a:lstStyle/>
      <a:p>
        <a:r>
          <a:rPr lang="nl-NL"/>
          <a:t>digitale en (zorg) communicatie: moet zijn: digitale (zorg) communicatie. Woord EN weg? </a:t>
        </a:r>
      </a:p>
    </p188:txBody>
  </p188:cm>
  <p188:cm id="{B168F4BA-85E9-4E04-BD50-8774657E1680}" authorId="{602049B3-E2C5-597B-738E-C1F3F036CAFD}" created="2024-10-23T08:43:38.594">
    <pc:sldMkLst xmlns:pc="http://schemas.microsoft.com/office/powerpoint/2013/main/command">
      <pc:docMk/>
      <pc:sldMk cId="1125933652" sldId="2139968362"/>
    </pc:sldMkLst>
    <p188:replyLst>
      <p188:reply id="{D28BCA0C-8C31-44BF-B7D9-41BBC0AC0C71}" authorId="{1C5E8DD4-DC97-A63E-8A55-1D4774ADA5C7}" created="2024-11-28T15:16:07.427">
        <p188:txBody>
          <a:bodyPr/>
          <a:lstStyle/>
          <a:p>
            <a:r>
              <a:rPr lang="en-NL"/>
              <a:t>Dit wordt wel uitgebreid uitgelegd in de uitwerking van UC 2.5 Netwerkzorg viewer. </a:t>
            </a:r>
          </a:p>
        </p188:txBody>
      </p188:reply>
    </p188:replyLst>
    <p188:txBody>
      <a:bodyPr/>
      <a:lstStyle/>
      <a:p>
        <a:r>
          <a:rPr lang="nl-NL"/>
          <a:t>We moeten meer uitleg geven over hoe de use cases het fundament laden en misschien hier toch dat 360 graden beeld hier al beschrijven en toelichten.</a:t>
        </a:r>
      </a:p>
    </p188:txBody>
  </p188:cm>
</p188:cmLst>
</file>

<file path=ppt/comments/modernComment_7F8D536D_79C74298.xml><?xml version="1.0" encoding="utf-8"?>
<p188:cmLst xmlns:a="http://schemas.openxmlformats.org/drawingml/2006/main" xmlns:r="http://schemas.openxmlformats.org/officeDocument/2006/relationships" xmlns:p188="http://schemas.microsoft.com/office/powerpoint/2018/8/main">
  <p188:cm id="{03D27011-910C-4420-8201-E68A8F049997}" authorId="{602049B3-E2C5-597B-738E-C1F3F036CAFD}" created="2024-10-23T08:32:21.772">
    <pc:sldMkLst xmlns:pc="http://schemas.microsoft.com/office/powerpoint/2013/main/command">
      <pc:docMk/>
      <pc:sldMk cId="2043101848" sldId="2139968365"/>
    </pc:sldMkLst>
    <p188:txBody>
      <a:bodyPr/>
      <a:lstStyle/>
      <a:p>
        <a:r>
          <a:rPr lang="nl-NL"/>
          <a:t>Ik zou verwachten dat we bij de achtergrond de regionale visie en ambitie beschrijven en hier dieper ingaan op de visie van digitalisering. DAn horen de slides van het 5 lagenmodel ook hier denk ik en het stakeholdermanagement pas daarna. </a:t>
        </a:r>
      </a:p>
    </p188:txBody>
  </p188:cm>
</p188:cmLst>
</file>

<file path=ppt/comments/modernComment_7F8D536E_FE921D59.xml><?xml version="1.0" encoding="utf-8"?>
<p188:cmLst xmlns:a="http://schemas.openxmlformats.org/drawingml/2006/main" xmlns:r="http://schemas.openxmlformats.org/officeDocument/2006/relationships" xmlns:p188="http://schemas.microsoft.com/office/powerpoint/2018/8/main">
  <p188:cm id="{75FDB66E-5298-4D84-B8F2-CABA6C122FE4}" authorId="{93747FD5-C3CE-7318-4666-CB21595F5B17}" created="2024-10-03T10:15:07.716">
    <ac:deMkLst xmlns:ac="http://schemas.microsoft.com/office/drawing/2013/main/command">
      <pc:docMk xmlns:pc="http://schemas.microsoft.com/office/powerpoint/2013/main/command"/>
      <pc:sldMk xmlns:pc="http://schemas.microsoft.com/office/powerpoint/2013/main/command" cId="4270988633" sldId="2139968366"/>
      <ac:picMk id="10" creationId="{4E7D7260-ADEE-C369-5FD3-B041C29B8F38}"/>
    </ac:deMkLst>
    <p188:txBody>
      <a:bodyPr/>
      <a:lstStyle/>
      <a:p>
        <a:r>
          <a:rPr lang="nl-NL"/>
          <a:t>zou mooi zijn als we hier met plaatjes werken. Bijvoorbeeld: plaatje Trijn aan elkaar koppelen. 
In volgende dia, plaat met verbinding ons plan, andere plannen laten zien?</a:t>
        </a:r>
      </a:p>
    </p188:txBody>
  </p188:cm>
  <p188:cm id="{F0E0CC64-4ED6-41D7-B9FE-ED2BB3489B92}" authorId="{602049B3-E2C5-597B-738E-C1F3F036CAFD}" created="2024-10-23T08:21:01.981">
    <pc:sldMkLst xmlns:pc="http://schemas.microsoft.com/office/powerpoint/2013/main/command">
      <pc:docMk/>
      <pc:sldMk cId="4270988633" sldId="2139968366"/>
    </pc:sldMkLst>
    <p188:txBody>
      <a:bodyPr/>
      <a:lstStyle/>
      <a:p>
        <a:r>
          <a:rPr lang="nl-NL"/>
          <a:t>In deze slide al de verbinding maken met de samenwerking in het netwerk.</a:t>
        </a:r>
      </a:p>
    </p188:txBody>
  </p188:cm>
</p188:cmLst>
</file>

<file path=ppt/comments/modernComment_7F8D537E_46AFC306.xml><?xml version="1.0" encoding="utf-8"?>
<p188:cmLst xmlns:a="http://schemas.openxmlformats.org/drawingml/2006/main" xmlns:r="http://schemas.openxmlformats.org/officeDocument/2006/relationships" xmlns:p188="http://schemas.microsoft.com/office/powerpoint/2018/8/main">
  <p188:cm id="{B43FE8D8-9A62-4CE2-B1D8-91F17C5E0540}" authorId="{602049B3-E2C5-597B-738E-C1F3F036CAFD}" status="resolved" created="2024-10-23T08:16:49.410" complete="100000">
    <ac:deMkLst xmlns:ac="http://schemas.microsoft.com/office/drawing/2013/main/command">
      <pc:docMk xmlns:pc="http://schemas.microsoft.com/office/powerpoint/2013/main/command"/>
      <pc:sldMk xmlns:pc="http://schemas.microsoft.com/office/powerpoint/2013/main/command" cId="1185923846" sldId="2139968382"/>
      <ac:spMk id="6" creationId="{087BFD19-C1C8-1A9D-C438-5C59FE2F49F9}"/>
    </ac:deMkLst>
    <p188:replyLst>
      <p188:reply id="{04429867-145D-448E-8E48-408FAE217A67}" authorId="{1C5E8DD4-DC97-A63E-8A55-1D4774ADA5C7}" created="2024-11-04T03:58:58.622">
        <p188:txBody>
          <a:bodyPr/>
          <a:lstStyle/>
          <a:p>
            <a:r>
              <a:rPr lang="en-NL"/>
              <a:t>Aangescherpt.</a:t>
            </a:r>
          </a:p>
        </p188:txBody>
      </p188:reply>
    </p188:replyLst>
    <p188:txBody>
      <a:bodyPr/>
      <a:lstStyle/>
      <a:p>
        <a:r>
          <a:rPr lang="nl-NL"/>
          <a:t>Nu ligt focus op vergrijzing en problematiek bij ouderen. Dit breder maken met aandacht voor andere doelgroepen.</a:t>
        </a:r>
      </a:p>
    </p188:txBody>
  </p188:cm>
</p188:cmLst>
</file>

<file path=ppt/comments/modernComment_7F8D5341_907FA552.xml><?xml version="1.0" encoding="utf-8"?>
<p188:cmLst xmlns:a="http://schemas.openxmlformats.org/drawingml/2006/main" xmlns:r="http://schemas.openxmlformats.org/officeDocument/2006/relationships" xmlns:p188="http://schemas.microsoft.com/office/powerpoint/2018/8/main">
  <p188:cm id="{FC14B6C5-21B2-4F42-8DBD-3640556DBE2D}" authorId="{602049B3-E2C5-597B-738E-C1F3F036CAFD}" status="resolved" created="2024-10-23T08:20:04.917" complete="100000">
    <pc:sldMkLst xmlns:pc="http://schemas.microsoft.com/office/powerpoint/2013/main/command">
      <pc:docMk/>
      <pc:sldMk cId="2424284498" sldId="2139968321"/>
    </pc:sldMkLst>
    <p188:replyLst>
      <p188:reply id="{985115F4-BCC1-4C30-B200-0DC0ED7E92F4}" authorId="{1C5E8DD4-DC97-A63E-8A55-1D4774ADA5C7}" created="2024-11-04T04:00:58.642">
        <p188:txBody>
          <a:bodyPr/>
          <a:lstStyle/>
          <a:p>
            <a:r>
              <a:rPr lang="en-NL"/>
              <a:t>Is verplaatst</a:t>
            </a:r>
          </a:p>
        </p188:txBody>
      </p188:reply>
    </p188:replyLst>
    <p188:txBody>
      <a:bodyPr/>
      <a:lstStyle/>
      <a:p>
        <a:r>
          <a:rPr lang="nl-NL"/>
          <a:t>In de volgorde logischer om deze slide na 7 te doen. </a:t>
        </a:r>
      </a:p>
    </p188:txBody>
  </p188:cm>
  <p188:cm id="{1621B5D3-C5B9-484B-B5E2-2D58E92DD107}" authorId="{602049B3-E2C5-597B-738E-C1F3F036CAFD}" status="resolved" created="2024-10-23T08:21:47.593" complete="100000">
    <pc:sldMkLst xmlns:pc="http://schemas.microsoft.com/office/powerpoint/2013/main/command">
      <pc:docMk/>
      <pc:sldMk cId="2424284498" sldId="2139968321"/>
    </pc:sldMkLst>
    <p188:replyLst>
      <p188:reply id="{C6048489-DD1E-4710-A2E9-F2FA55D184B3}" authorId="{1C5E8DD4-DC97-A63E-8A55-1D4774ADA5C7}" created="2024-11-04T04:58:29.551">
        <p188:txBody>
          <a:bodyPr/>
          <a:lstStyle/>
          <a:p>
            <a:r>
              <a:rPr lang="en-NL"/>
              <a:t>aangepast</a:t>
            </a:r>
          </a:p>
        </p188:txBody>
      </p188:reply>
    </p188:replyLst>
    <p188:txBody>
      <a:bodyPr/>
      <a:lstStyle/>
      <a:p>
        <a:r>
          <a:rPr lang="nl-NL"/>
          <a:t>En dan hier beschrijven dat databeschikbaarheid nodig is voor netwerksamenwerking</a:t>
        </a:r>
      </a:p>
    </p188:txBody>
  </p188:cm>
  <p188:cm id="{A0F9B29E-423A-47B8-8629-BCE86557B10F}" authorId="{93747FD5-C3CE-7318-4666-CB21595F5B17}" status="resolved" created="2024-11-14T15:57:50.476" complete="100000">
    <ac:txMkLst xmlns:ac="http://schemas.microsoft.com/office/drawing/2013/main/command">
      <pc:docMk xmlns:pc="http://schemas.microsoft.com/office/powerpoint/2013/main/command"/>
      <pc:sldMk xmlns:pc="http://schemas.microsoft.com/office/powerpoint/2013/main/command" cId="2424284498" sldId="2139968321"/>
      <ac:spMk id="4" creationId="{B153F750-61E0-49A9-AC1F-E4921A60D06C}"/>
      <ac:txMk cp="3">
        <ac:context len="62" hash="3862465794"/>
      </ac:txMk>
    </ac:txMkLst>
    <p188:pos x="2893540" y="247135"/>
    <p188:txBody>
      <a:bodyPr/>
      <a:lstStyle/>
      <a:p>
        <a:r>
          <a:rPr lang="nl-NL"/>
          <a:t>kan dit woord ook weg? voeg m.i. niet veel toe</a:t>
        </a:r>
      </a:p>
    </p188:txBody>
    <p188:extLst>
      <p:ext xmlns:p="http://schemas.openxmlformats.org/presentationml/2006/main" uri="{57CB4572-C831-44C2-8A1C-0ADB6CCDFE69}">
        <p223:reactions xmlns:p223="http://schemas.microsoft.com/office/powerpoint/2022/03/main">
          <p223:rxn type="👍">
            <p223:instance time="2024-11-27T21:06:43.762" authorId="{B1E7C80D-48D8-7E8B-D119-529BE8416E3C}"/>
          </p223:rxn>
        </p223:reactions>
      </p:ext>
    </p188:extLst>
  </p188:cm>
</p188:cmLst>
</file>

<file path=ppt/comments/modernComment_7F8D5380_CEF34C75.xml><?xml version="1.0" encoding="utf-8"?>
<p188:cmLst xmlns:a="http://schemas.openxmlformats.org/drawingml/2006/main" xmlns:r="http://schemas.openxmlformats.org/officeDocument/2006/relationships" xmlns:p188="http://schemas.microsoft.com/office/powerpoint/2018/8/main">
  <p188:cm id="{D2F28827-E663-4F60-897A-AAE820DE4381}" authorId="{602049B3-E2C5-597B-738E-C1F3F036CAFD}" created="2024-10-02T09:48:23.983">
    <ac:deMkLst xmlns:ac="http://schemas.microsoft.com/office/drawing/2013/main/command">
      <pc:docMk xmlns:pc="http://schemas.microsoft.com/office/powerpoint/2013/main/command"/>
      <pc:sldMk xmlns:pc="http://schemas.microsoft.com/office/powerpoint/2013/main/command" cId="3472051317" sldId="2139968384"/>
      <ac:spMk id="12" creationId="{80F734FB-CB45-806C-EBC5-535F55973ACA}"/>
    </ac:deMkLst>
    <p188:replyLst>
      <p188:reply id="{8A29A6AB-D267-45A7-A301-6F5541C226FB}" authorId="{93747FD5-C3CE-7318-4666-CB21595F5B17}" created="2024-10-03T12:22:28.117">
        <p188:txBody>
          <a:bodyPr/>
          <a:lstStyle/>
          <a:p>
            <a:r>
              <a:rPr lang="nl-NL"/>
              <a:t>suggestie: 
Na zijn revalidatie en verblijf in een verpleeghuis, gaat Theo weer thuis wonen. Hij wordt hierbij ondersteund door een wijkverpleegkundige. NIEUW:  Ook houdt het Buurtteam een oogje in het zeil omdat is opgevallen dat hij weinig meer buitenkomt.</a:t>
            </a:r>
          </a:p>
        </p188:txBody>
      </p188:reply>
    </p188:replyLst>
    <p188:txBody>
      <a:bodyPr/>
      <a:lstStyle/>
      <a:p>
        <a:r>
          <a:rPr lang="nl-NL"/>
          <a:t>Het zou mooi zijn als we aan de casus van theo ook een element toe kunnen voegen wat het sociaal domein raakt.</a:t>
        </a:r>
      </a:p>
    </p188:txBody>
  </p188:cm>
  <p188:cm id="{FA298B56-A641-4006-A341-08098E9D3790}" authorId="{93747FD5-C3CE-7318-4666-CB21595F5B17}" created="2024-10-03T12:40:10.984">
    <pc:sldMkLst xmlns:pc="http://schemas.microsoft.com/office/powerpoint/2013/main/command">
      <pc:docMk/>
      <pc:sldMk cId="3472051317" sldId="2139968384"/>
    </pc:sldMkLst>
    <p188:replyLst>
      <p188:reply id="{3E818B97-1DDF-40E0-AAC3-0EF46A23A052}" authorId="{602049B3-E2C5-597B-738E-C1F3F036CAFD}" created="2024-10-23T08:35:08.325">
        <p188:txBody>
          <a:bodyPr/>
          <a:lstStyle/>
          <a:p>
            <a:r>
              <a:rPr lang="nl-NL"/>
              <a:t>ja helemaal mee eens. daar ook de kop passend bij maken en vooral uitleggen hoe we de casus gebruiken in dit plan. je raakt in de war van de inleidende tekst.</a:t>
            </a:r>
          </a:p>
        </p188:txBody>
      </p188:reply>
    </p188:replyLst>
    <p188:txBody>
      <a:bodyPr/>
      <a:lstStyle/>
      <a:p>
        <a:r>
          <a:rPr lang="nl-NL"/>
          <a:t>Theo mag m.i. ook eerder in de slides al gepresenteerd worden. Toch het verhaal waar we omheen bouwen.</a:t>
        </a:r>
      </a:p>
    </p188:txBody>
  </p188:cm>
  <p188:cm id="{902A29E2-5525-4682-B99E-65E0F35F4D04}" authorId="{93747FD5-C3CE-7318-4666-CB21595F5B17}" created="2024-10-31T14:27:43.944">
    <pc:sldMkLst xmlns:pc="http://schemas.microsoft.com/office/powerpoint/2013/main/command">
      <pc:docMk/>
      <pc:sldMk cId="3472051317" sldId="2139968384"/>
    </pc:sldMkLst>
    <p188:txBody>
      <a:bodyPr/>
      <a:lstStyle/>
      <a:p>
        <a:r>
          <a:rPr lang="nl-NL"/>
          <a:t>anders formuleren. We maken eigenlijk alleen maar gebruik van casus theo om onze ambitie aanpak en impact te linken aan de praktijk. Om het hiermee minder theoretisch te maken. </a:t>
        </a:r>
      </a:p>
    </p188:txBody>
  </p188:cm>
  <p188:cm id="{9C5BC3AA-FE61-4FE9-8F21-4A42059CB303}" authorId="{93747FD5-C3CE-7318-4666-CB21595F5B17}" created="2024-11-28T14:12:29.596">
    <pc:sldMkLst xmlns:pc="http://schemas.microsoft.com/office/powerpoint/2013/main/command">
      <pc:docMk/>
      <pc:sldMk cId="3472051317" sldId="2139968384"/>
    </pc:sldMkLst>
    <p188:txBody>
      <a:bodyPr/>
      <a:lstStyle/>
      <a:p>
        <a:r>
          <a:rPr lang="nl-NL"/>
          <a:t>en stom punt  maar zeg het toch maar; theo kijkt zo boos;-) hebben we niet iets lievers;-)</a:t>
        </a:r>
      </a:p>
    </p188:txBody>
  </p188:cm>
</p188:cmLst>
</file>

<file path=ppt/comments/modernComment_7F8D5382_17D77D5F.xml><?xml version="1.0" encoding="utf-8"?>
<p188:cmLst xmlns:a="http://schemas.openxmlformats.org/drawingml/2006/main" xmlns:r="http://schemas.openxmlformats.org/officeDocument/2006/relationships" xmlns:p188="http://schemas.microsoft.com/office/powerpoint/2018/8/main">
  <p188:cm id="{FC0A8809-ECD9-4AC9-91C8-155732D16DD4}" authorId="{602049B3-E2C5-597B-738E-C1F3F036CAFD}" created="2024-10-02T09:49:06.392">
    <pc:sldMkLst xmlns:pc="http://schemas.microsoft.com/office/powerpoint/2013/main/command">
      <pc:docMk/>
      <pc:sldMk cId="399998303" sldId="2139968386"/>
    </pc:sldMkLst>
    <p188:txBody>
      <a:bodyPr/>
      <a:lstStyle/>
      <a:p>
        <a:r>
          <a:rPr lang="nl-NL"/>
          <a:t>Graag meer aandacht in de tekst voor de sociale kant</a:t>
        </a:r>
      </a:p>
    </p188:txBody>
  </p188:cm>
  <p188:cm id="{A35D54B8-0F43-4F06-8DEE-CBAFA26A5431}" authorId="{602049B3-E2C5-597B-738E-C1F3F036CAFD}" created="2024-10-23T08:36:11.531">
    <pc:sldMkLst xmlns:pc="http://schemas.microsoft.com/office/powerpoint/2013/main/command">
      <pc:docMk/>
      <pc:sldMk cId="399998303" sldId="2139968386"/>
    </pc:sldMkLst>
    <p188:replyLst>
      <p188:reply id="{D81111EB-F54D-48A9-9187-C742D7C8CE39}" authorId="{93747FD5-C3CE-7318-4666-CB21595F5B17}" created="2024-10-31T14:35:00.989">
        <p188:txBody>
          <a:bodyPr/>
          <a:lstStyle/>
          <a:p>
            <a:r>
              <a:rPr lang="nl-NL"/>
              <a:t>jansen en theo nu door elkaar. </a:t>
            </a:r>
          </a:p>
        </p188:txBody>
      </p188:reply>
    </p188:replyLst>
    <p188:txBody>
      <a:bodyPr/>
      <a:lstStyle/>
      <a:p>
        <a:r>
          <a:rPr lang="nl-NL"/>
          <a:t>Use cases moeten eerst samen met theo goed geïntroduceerd worden voordat we die hier noemen. </a:t>
        </a:r>
      </a:p>
    </p188:txBody>
  </p188:cm>
  <p188:cm id="{09CCE540-AD3C-43D7-A717-B6031084C96C}" authorId="{93747FD5-C3CE-7318-4666-CB21595F5B17}" created="2024-10-31T14:29:49.213">
    <ac:txMkLst xmlns:ac="http://schemas.microsoft.com/office/drawing/2013/main/command">
      <pc:docMk xmlns:pc="http://schemas.microsoft.com/office/powerpoint/2013/main/command"/>
      <pc:sldMk xmlns:pc="http://schemas.microsoft.com/office/powerpoint/2013/main/command" cId="399998303" sldId="2139968386"/>
      <ac:spMk id="5" creationId="{A9731930-A1C8-4D5A-8C3E-0A460FCF2A74}"/>
      <ac:txMk cp="18" len="23">
        <ac:context len="409" hash="345772077"/>
      </ac:txMk>
    </ac:txMkLst>
    <p188:pos x="4491789" y="240631"/>
    <p188:txBody>
      <a:bodyPr/>
      <a:lstStyle/>
      <a:p>
        <a:r>
          <a:rPr lang="nl-NL"/>
          <a:t>kiezen voor databeschikbaarheid en consequent doorvoeren (we gebruiken nu data en gegevens door elkaar)</a:t>
        </a:r>
      </a:p>
    </p188:txBody>
  </p188:cm>
</p188:cmLst>
</file>

<file path=ppt/comments/modernComment_7FFFF8A1_DB66FF20.xml><?xml version="1.0" encoding="utf-8"?>
<p188:cmLst xmlns:a="http://schemas.openxmlformats.org/drawingml/2006/main" xmlns:r="http://schemas.openxmlformats.org/officeDocument/2006/relationships" xmlns:p188="http://schemas.microsoft.com/office/powerpoint/2018/8/main">
  <p188:cm id="{0D121AAA-6C58-4304-8F0C-89D2CFDFC2D0}" authorId="{5AC7799B-9EC9-1BB5-15A8-C3424975A24A}" created="2024-11-27T08:39:37.532">
    <ac:deMkLst xmlns:ac="http://schemas.microsoft.com/office/drawing/2013/main/command">
      <pc:docMk xmlns:pc="http://schemas.microsoft.com/office/powerpoint/2013/main/command"/>
      <pc:sldMk xmlns:pc="http://schemas.microsoft.com/office/powerpoint/2013/main/command" cId="3680960288" sldId="2147481761"/>
      <ac:spMk id="4" creationId="{B153F750-61E0-49A9-AC1F-E4921A60D06C}"/>
    </ac:deMkLst>
    <p188:txBody>
      <a:bodyPr/>
      <a:lstStyle/>
      <a:p>
        <a:r>
          <a:rPr lang="nl-NL"/>
          <a:t>Het is belangrijk dat je ook duidelijk maakt hoe je de KPI's gaat meten. Worden fouten in communicatie nu bijgehouden? Zo ja, dan kan je ook een reductie meten. Zo nee, dan is het een lastige kpi. Denk zo na bij alle kpi's</a:t>
        </a:r>
      </a:p>
    </p188:txBody>
  </p188:cm>
  <p188:cm id="{D3D20EA7-E1CE-4A7B-8D2B-ACE2BBAF6EA4}" authorId="{1C5E8DD4-DC97-A63E-8A55-1D4774ADA5C7}" created="2024-11-27T21:30:40.444">
    <ac:txMkLst xmlns:ac="http://schemas.microsoft.com/office/drawing/2013/main/command">
      <pc:docMk xmlns:pc="http://schemas.microsoft.com/office/powerpoint/2013/main/command"/>
      <pc:sldMk xmlns:pc="http://schemas.microsoft.com/office/powerpoint/2013/main/command" cId="3680960288" sldId="2147481761"/>
      <ac:spMk id="4" creationId="{B153F750-61E0-49A9-AC1F-E4921A60D06C}"/>
      <ac:txMk cp="0" len="83">
        <ac:context len="84" hash="3873491509"/>
      </ac:txMk>
    </ac:txMkLst>
    <p188:pos x="8901578" y="322672"/>
    <p188:txBody>
      <a:bodyPr/>
      <a:lstStyle/>
      <a:p>
        <a:r>
          <a:rPr lang="en-NL"/>
          <a:t>@Erik T. Refereer hiervoor aan het voorbeeld dat we hebben toegestuurd gekregen door ZK en laten we deze KPIs zoveel mogelijk beperken tot een minimale set. </a:t>
        </a:r>
      </a:p>
    </p188:txBody>
  </p188:cm>
</p188:cmLst>
</file>

<file path=ppt/comments/modernComment_7FFFF8A2_606C7A22.xml><?xml version="1.0" encoding="utf-8"?>
<p188:cmLst xmlns:a="http://schemas.openxmlformats.org/drawingml/2006/main" xmlns:r="http://schemas.openxmlformats.org/officeDocument/2006/relationships" xmlns:p188="http://schemas.microsoft.com/office/powerpoint/2018/8/main">
  <p188:cm id="{FE29F091-C62C-4DAF-BBC3-2737FC4EFD38}" authorId="{B1BC6354-5B7A-4FBB-59CD-B4BB28620524}" status="resolved" created="2024-11-27T15:17:18.638" complete="100000">
    <ac:txMkLst xmlns:ac="http://schemas.microsoft.com/office/drawing/2013/main/command">
      <pc:docMk xmlns:pc="http://schemas.microsoft.com/office/powerpoint/2013/main/command"/>
      <pc:sldMk xmlns:pc="http://schemas.microsoft.com/office/powerpoint/2013/main/command" cId="1617721890" sldId="2147481762"/>
      <ac:spMk id="4" creationId="{BE7D7DA4-6821-66DC-50B2-6A9C5F74E507}"/>
      <ac:txMk cp="921" len="6">
        <ac:context len="1769" hash="1047876204"/>
      </ac:txMk>
    </ac:txMkLst>
    <p188:pos x="3432192" y="2382385"/>
    <p188:txBody>
      <a:bodyPr/>
      <a:lstStyle/>
      <a:p>
        <a:r>
          <a:rPr lang="nl-NL"/>
          <a:t>Gremium en gremia. Niet gremia's</a:t>
        </a:r>
      </a:p>
    </p188:txBody>
    <p188:extLst>
      <p:ext xmlns:p="http://schemas.openxmlformats.org/presentationml/2006/main" uri="{57CB4572-C831-44C2-8A1C-0ADB6CCDFE69}">
        <p223:reactions xmlns:p223="http://schemas.microsoft.com/office/powerpoint/2022/03/main">
          <p223:rxn type="👍">
            <p223:instance time="2024-11-27T21:54:06.923" authorId="{1C5E8DD4-DC97-A63E-8A55-1D4774ADA5C7}"/>
          </p223:rxn>
        </p223:reactions>
      </p:ext>
    </p188:extLst>
  </p188:cm>
  <p188:cm id="{B9543102-ADB5-4082-A594-01FA0C417570}" authorId="{B1BC6354-5B7A-4FBB-59CD-B4BB28620524}" status="resolved" created="2024-11-27T15:22:02.905" complete="100000">
    <ac:txMkLst xmlns:ac="http://schemas.microsoft.com/office/drawing/2013/main/command">
      <pc:docMk xmlns:pc="http://schemas.microsoft.com/office/powerpoint/2013/main/command"/>
      <pc:sldMk xmlns:pc="http://schemas.microsoft.com/office/powerpoint/2013/main/command" cId="1617721890" sldId="2147481762"/>
      <ac:spMk id="4" creationId="{BE7D7DA4-6821-66DC-50B2-6A9C5F74E507}"/>
      <ac:txMk cp="878" len="768">
        <ac:context len="1769" hash="1047876204"/>
      </ac:txMk>
    </ac:txMkLst>
    <p188:pos x="8272549" y="2382385"/>
    <p188:replyLst>
      <p188:reply id="{00007559-5570-4550-9706-1884BEB9A021}" authorId="{12FB8049-7B07-5F1E-B08E-724F1F569084}" created="2024-11-28T15:54:26.495">
        <p188:txBody>
          <a:bodyPr/>
          <a:lstStyle/>
          <a:p>
            <a:r>
              <a:rPr lang="LID4096"/>
              <a:t>Voor nu lijkt dit niveau voldoende. In de routekaart is een van de eerste stappen om dit met elkaar verder uit te werken en uit te diepen. </a:t>
            </a:r>
          </a:p>
        </p188:txBody>
      </p188:reply>
    </p188:replyLst>
    <p188:txBody>
      <a:bodyPr/>
      <a:lstStyle/>
      <a:p>
        <a:r>
          <a:rPr lang="nl-NL"/>
          <a:t>Moet hier nog iets dieper op ingegaan worden in dit transformatieplan? Of is dat iets voor een apart overleg vanuit RSOTrijn wat we buiten deze aanvraag op gaan zetten? 
M.a.w. we worden door de verzekeraars niet gevraagd naar structuren of inrichting of bedrijfsvoering van deze nieuwe organisaties? 
Aanname: 
aangezien de verzekeraars geen financiële bijdrage leveren aan deze organisaties volstaat het om alleen de omschrijving, zoals we die hier in dit plan hebben, te noteren?  </a:t>
        </a:r>
      </a:p>
    </p188:txBody>
    <p188:extLst>
      <p:ext xmlns:p="http://schemas.openxmlformats.org/presentationml/2006/main" uri="{57CB4572-C831-44C2-8A1C-0ADB6CCDFE69}">
        <p223:reactions xmlns:p223="http://schemas.microsoft.com/office/powerpoint/2022/03/main">
          <p223:rxn type="👍">
            <p223:instance time="2024-11-28T15:54:29.073" authorId="{12FB8049-7B07-5F1E-B08E-724F1F569084}"/>
          </p223:rxn>
        </p223:reactions>
      </p:ext>
    </p188:extLst>
  </p188:cm>
</p188:cmLst>
</file>

<file path=ppt/comments/modernComment_7FFFF8B9_26E8BFE5.xml><?xml version="1.0" encoding="utf-8"?>
<p188:cmLst xmlns:a="http://schemas.openxmlformats.org/drawingml/2006/main" xmlns:r="http://schemas.openxmlformats.org/officeDocument/2006/relationships" xmlns:p188="http://schemas.microsoft.com/office/powerpoint/2018/8/main">
  <p188:cm id="{BFF15CD8-182F-4DCF-AD56-01934EF5273D}" authorId="{1C5E8DD4-DC97-A63E-8A55-1D4774ADA5C7}" created="2024-11-29T16:02:24.558">
    <ac:txMkLst xmlns:ac="http://schemas.microsoft.com/office/drawing/2013/main/command">
      <pc:docMk xmlns:pc="http://schemas.microsoft.com/office/powerpoint/2013/main/command"/>
      <pc:sldMk xmlns:pc="http://schemas.microsoft.com/office/powerpoint/2013/main/command" cId="652787685" sldId="2147481785"/>
      <ac:spMk id="3" creationId="{41DA62B0-4BF5-BCDF-4DA8-DD7B1FEC8A13}"/>
      <ac:txMk cp="0" len="44">
        <ac:context len="45" hash="2004356492"/>
      </ac:txMk>
    </ac:txMkLst>
    <p188:pos x="8672978" y="322672"/>
    <p188:txBody>
      <a:bodyPr/>
      <a:lstStyle/>
      <a:p>
        <a:r>
          <a:rPr lang="en-NL"/>
          <a:t>@erik - graag deze slide als basis gebruiken voor verdere updates in Thema 1 impact slides</a:t>
        </a:r>
      </a:p>
    </p188:txBody>
  </p188:cm>
</p188:cmLst>
</file>

<file path=ppt/comments/modernComment_7FFFF8C4_5EDB26BC.xml><?xml version="1.0" encoding="utf-8"?>
<p188:cmLst xmlns:a="http://schemas.openxmlformats.org/drawingml/2006/main" xmlns:r="http://schemas.openxmlformats.org/officeDocument/2006/relationships" xmlns:p188="http://schemas.microsoft.com/office/powerpoint/2018/8/main">
  <p188:cm id="{E7C8E68E-AF04-458B-AF4E-4F03345C17AB}" authorId="{93747FD5-C3CE-7318-4666-CB21595F5B17}" status="resolved" created="2024-11-14T16:06:58.892" complete="100000">
    <ac:txMkLst xmlns:ac="http://schemas.microsoft.com/office/drawing/2013/main/command">
      <pc:docMk xmlns:pc="http://schemas.microsoft.com/office/powerpoint/2013/main/command"/>
      <pc:sldMk xmlns:pc="http://schemas.microsoft.com/office/powerpoint/2013/main/command" cId="1591420604" sldId="2147481796"/>
      <ac:spMk id="58" creationId="{2A2B624B-47FA-30B9-AB73-22968D1BE555}"/>
      <ac:txMk cp="162" len="1">
        <ac:context len="332" hash="698752326"/>
      </ac:txMk>
    </ac:txMkLst>
    <p188:pos x="772297" y="2512540"/>
    <p188:txBody>
      <a:bodyPr/>
      <a:lstStyle/>
      <a:p>
        <a:r>
          <a:rPr lang="nl-NL"/>
          <a:t>we kregen de suggestie niet al in applicaties te praten maar meer in welke wens we hebben (daarna/in later stadium te kijken naar welke functionaliteiten dan passen bij onze wens) in de toekomst. We weten nog niet of Digizorg voldoet</a:t>
        </a:r>
      </a:p>
    </p188:txBody>
  </p188:cm>
</p188:cmLst>
</file>

<file path=ppt/comments/modernComment_7FFFF8C6_C32DE083.xml><?xml version="1.0" encoding="utf-8"?>
<p188:cmLst xmlns:a="http://schemas.openxmlformats.org/drawingml/2006/main" xmlns:r="http://schemas.openxmlformats.org/officeDocument/2006/relationships" xmlns:p188="http://schemas.microsoft.com/office/powerpoint/2018/8/main">
  <p188:cm id="{CB9A6E5F-166B-444D-AD97-E1913F33DB04}" authorId="{5AC7799B-9EC9-1BB5-15A8-C3424975A24A}" created="2024-11-27T08:12:24.859">
    <ac:deMkLst xmlns:ac="http://schemas.microsoft.com/office/drawing/2013/main/command">
      <pc:docMk xmlns:pc="http://schemas.microsoft.com/office/powerpoint/2013/main/command"/>
      <pc:sldMk xmlns:pc="http://schemas.microsoft.com/office/powerpoint/2013/main/command" cId="3274563715" sldId="2147481798"/>
      <ac:spMk id="11" creationId="{2A2E5BE5-21EC-209F-0CD5-37F1C7AE10B0}"/>
    </ac:deMkLst>
    <p188:txBody>
      <a:bodyPr/>
      <a:lstStyle/>
      <a:p>
        <a:r>
          <a:rPr lang="nl-NL"/>
          <a:t>Het is mij niet helemaal duidelijk of alles onder deze kolom onderdeel is van dit transformatieplan, of dat je het per rij moet lezen?</a:t>
        </a:r>
      </a:p>
    </p188:txBody>
  </p188:cm>
  <p188:cm id="{DFC30033-F5C0-47C9-93F7-23F1FB786BD1}" authorId="{602049B3-E2C5-597B-738E-C1F3F036CAFD}" created="2024-11-27T08:43:39.398">
    <ac:deMkLst xmlns:ac="http://schemas.microsoft.com/office/drawing/2013/main/command">
      <pc:docMk xmlns:pc="http://schemas.microsoft.com/office/powerpoint/2013/main/command"/>
      <pc:sldMk xmlns:pc="http://schemas.microsoft.com/office/powerpoint/2013/main/command" cId="3274563715" sldId="2147481798"/>
      <ac:spMk id="17" creationId="{C3893B41-885E-A0B9-1FFC-94294E8E286B}"/>
    </ac:deMkLst>
    <p188:txBody>
      <a:bodyPr/>
      <a:lstStyle/>
      <a:p>
        <a:r>
          <a:rPr lang="nl-NL"/>
          <a:t>palliatieve zorg</a:t>
        </a:r>
      </a:p>
    </p188:txBody>
  </p188:cm>
</p188:cmLst>
</file>

<file path=ppt/comments/modernComment_7FFFF8CB_9BF9DA12.xml><?xml version="1.0" encoding="utf-8"?>
<p188:cmLst xmlns:a="http://schemas.openxmlformats.org/drawingml/2006/main" xmlns:r="http://schemas.openxmlformats.org/officeDocument/2006/relationships" xmlns:p188="http://schemas.microsoft.com/office/powerpoint/2018/8/main">
  <p188:cm id="{9367122F-6C9E-4474-9EFC-F5FEE0ADC4E5}" authorId="{12FB8049-7B07-5F1E-B08E-724F1F569084}" status="resolved" created="2024-10-16T14:19:21.515">
    <ac:deMkLst xmlns:ac="http://schemas.microsoft.com/office/drawing/2013/main/command">
      <pc:docMk xmlns:pc="http://schemas.microsoft.com/office/powerpoint/2013/main/command"/>
      <pc:sldMk xmlns:pc="http://schemas.microsoft.com/office/powerpoint/2013/main/command" cId="2616842770" sldId="2147481803"/>
      <ac:picMk id="10" creationId="{0350C354-DAB0-F5CF-2390-F907A8E41C3F}"/>
    </ac:deMkLst>
    <p188:txBody>
      <a:bodyPr/>
      <a:lstStyle/>
      <a:p>
        <a:r>
          <a:rPr lang="LID4096"/>
          <a:t>Ik wil voorstellen datum niet op elke pagina te herhalen. </a:t>
        </a:r>
      </a:p>
    </p188:txBody>
    <p188:extLst>
      <p:ext xmlns:p="http://schemas.openxmlformats.org/presentationml/2006/main" uri="{57CB4572-C831-44C2-8A1C-0ADB6CCDFE69}">
        <p223:reactions xmlns:p223="http://schemas.microsoft.com/office/powerpoint/2022/03/main">
          <p223:rxn type="👍">
            <p223:instance time="2024-10-18T05:24:31.686" authorId="{5854C509-B6E5-67C0-0BF7-FB7E6D7C2144}"/>
          </p223:rxn>
        </p223:reactions>
      </p:ext>
    </p188:extLst>
  </p188:cm>
</p188:cmLst>
</file>

<file path=ppt/comments/modernComment_7FFFF8DB_5B069B52.xml><?xml version="1.0" encoding="utf-8"?>
<p188:cmLst xmlns:a="http://schemas.openxmlformats.org/drawingml/2006/main" xmlns:r="http://schemas.openxmlformats.org/officeDocument/2006/relationships" xmlns:p188="http://schemas.microsoft.com/office/powerpoint/2018/8/main">
  <p188:cm id="{FA89199C-7666-4A63-85F5-42A249ED3D12}" authorId="{1C5E8DD4-DC97-A63E-8A55-1D4774ADA5C7}" created="2024-11-22T16:35:06.046">
    <ac:txMkLst xmlns:ac="http://schemas.microsoft.com/office/drawing/2013/main/command">
      <pc:docMk xmlns:pc="http://schemas.microsoft.com/office/powerpoint/2013/main/command"/>
      <pc:sldMk xmlns:pc="http://schemas.microsoft.com/office/powerpoint/2013/main/command" cId="1527159634" sldId="2147481819"/>
      <ac:spMk id="3" creationId="{25F3716E-03D5-196E-DD59-AB5570EF39B5}"/>
      <ac:txMk cp="0" len="33">
        <ac:context len="34" hash="3926929410"/>
      </ac:txMk>
    </ac:txMkLst>
    <p188:pos x="7453424" y="299546"/>
    <p188:txBody>
      <a:bodyPr/>
      <a:lstStyle/>
      <a:p>
        <a:r>
          <a:rPr lang="en-NL"/>
          <a:t>Bij de veranderopgave in sectie aan het begin, gaan we dit ook toelichten. Inhoud van deze slide zal aligned moeten worden (of vv). </a:t>
        </a:r>
      </a:p>
    </p188:txBody>
  </p188:cm>
</p188:cmLst>
</file>

<file path=ppt/comments/modernComment_7FFFF8EA_C89A3C97.xml><?xml version="1.0" encoding="utf-8"?>
<p188:cmLst xmlns:a="http://schemas.openxmlformats.org/drawingml/2006/main" xmlns:r="http://schemas.openxmlformats.org/officeDocument/2006/relationships" xmlns:p188="http://schemas.microsoft.com/office/powerpoint/2018/8/main">
  <p188:cm id="{5572A748-4B91-425E-8096-EE8F8E67769D}" authorId="{5AC7799B-9EC9-1BB5-15A8-C3424975A24A}" created="2024-11-27T08:32:37.703">
    <ac:deMkLst xmlns:ac="http://schemas.microsoft.com/office/drawing/2013/main/command">
      <pc:docMk xmlns:pc="http://schemas.microsoft.com/office/powerpoint/2013/main/command"/>
      <pc:sldMk xmlns:pc="http://schemas.microsoft.com/office/powerpoint/2013/main/command" cId="3365551255" sldId="2147481834"/>
      <ac:spMk id="11" creationId="{F8E06BA5-7549-3D14-3493-16BD9A110633}"/>
    </ac:deMkLst>
    <p188:txBody>
      <a:bodyPr/>
      <a:lstStyle/>
      <a:p>
        <a:r>
          <a:rPr lang="nl-NL"/>
          <a:t>Hoe ga je valideren?</a:t>
        </a:r>
      </a:p>
    </p188:txBody>
  </p188:cm>
</p188:cmLst>
</file>

<file path=ppt/comments/modernComment_7FFFF8EC_6CE573E5.xml><?xml version="1.0" encoding="utf-8"?>
<p188:cmLst xmlns:a="http://schemas.openxmlformats.org/drawingml/2006/main" xmlns:r="http://schemas.openxmlformats.org/officeDocument/2006/relationships" xmlns:p188="http://schemas.microsoft.com/office/powerpoint/2018/8/main">
  <p188:cm id="{3C41597C-E7EB-4855-82F2-FBD9A7C64940}" authorId="{602049B3-E2C5-597B-738E-C1F3F036CAFD}" status="resolved" created="2024-11-01T09:43:41.258">
    <ac:deMkLst xmlns:ac="http://schemas.microsoft.com/office/drawing/2013/main/command">
      <pc:docMk xmlns:pc="http://schemas.microsoft.com/office/powerpoint/2013/main/command"/>
      <pc:sldMk xmlns:pc="http://schemas.microsoft.com/office/powerpoint/2013/main/command" cId="1052317531" sldId="2147481739"/>
      <ac:spMk id="13" creationId="{3D4DF387-3A89-2EF2-B148-7A2E8A09036A}"/>
    </ac:deMkLst>
    <p188:txBody>
      <a:bodyPr/>
      <a:lstStyle/>
      <a:p>
        <a:r>
          <a:rPr lang="nl-NL"/>
          <a:t>Niet spreken van instellingen maar zorgorganisaties.</a:t>
        </a:r>
      </a:p>
    </p188:txBody>
  </p188:cm>
  <p188:cm id="{4690F951-2F7C-4258-A30A-3948120AFEAD}" authorId="{602049B3-E2C5-597B-738E-C1F3F036CAFD}" status="resolved" created="2024-11-01T09:44:23.385">
    <ac:deMkLst xmlns:ac="http://schemas.microsoft.com/office/drawing/2013/main/command">
      <pc:docMk xmlns:pc="http://schemas.microsoft.com/office/powerpoint/2013/main/command"/>
      <pc:sldMk xmlns:pc="http://schemas.microsoft.com/office/powerpoint/2013/main/command" cId="1052317531" sldId="2147481739"/>
      <ac:spMk id="5" creationId="{A80BF51B-D461-D406-E930-B0E22C5CB12D}"/>
    </ac:deMkLst>
    <p188:txBody>
      <a:bodyPr/>
      <a:lstStyle/>
      <a:p>
        <a:r>
          <a:rPr lang="nl-NL"/>
          <a:t>ik zou Q4 2024 weglaten en starten bij Q1 2025</a:t>
        </a:r>
      </a:p>
    </p188:txBody>
  </p188:cm>
</p188:cmLst>
</file>

<file path=ppt/comments/modernComment_7FFFF8EF_D969FD9C.xml><?xml version="1.0" encoding="utf-8"?>
<p188:cmLst xmlns:a="http://schemas.openxmlformats.org/drawingml/2006/main" xmlns:r="http://schemas.openxmlformats.org/officeDocument/2006/relationships" xmlns:p188="http://schemas.microsoft.com/office/powerpoint/2018/8/main">
  <p188:cm id="{176CAEE4-4F34-4378-B70B-F20882744AF4}" authorId="{12FB8049-7B07-5F1E-B08E-724F1F569084}" status="resolved" created="2024-10-23T12:36:56.914">
    <ac:txMkLst xmlns:ac="http://schemas.microsoft.com/office/drawing/2013/main/command">
      <pc:docMk xmlns:pc="http://schemas.microsoft.com/office/powerpoint/2013/main/command"/>
      <pc:sldMk xmlns:pc="http://schemas.microsoft.com/office/powerpoint/2013/main/command" cId="3647602076" sldId="2147481839"/>
      <ac:spMk id="12" creationId="{951A17B4-6A3E-71F1-1333-E7C5C84D5B1D}"/>
      <ac:txMk cp="0">
        <ac:context len="497" hash="2904095014"/>
      </ac:txMk>
    </ac:txMkLst>
    <p188:txBody>
      <a:bodyPr/>
      <a:lstStyle/>
      <a:p>
        <a:r>
          <a:rPr lang="LID4096"/>
          <a:t>Komende twee jaar vooral Mitz. ZORG-AB zal ook doorlopen, maar niet als voorziening randvoorwaardelijk voor allerlei ontwikkelingen. Rond de functie identificatie en authenticatie vind ik hem lastig. Iets als ZORG-ID Smart loopt, maar ook DEZI. Hoe zich dat verhoud, wat de route is, en waar het randvoorwaardelijk is, is onduidelijk. </a:t>
        </a:r>
      </a:p>
    </p188:txBody>
  </p188:cm>
</p188:cmLst>
</file>

<file path=ppt/comments/modernComment_7FFFF8F3_811656F3.xml><?xml version="1.0" encoding="utf-8"?>
<p188:cmLst xmlns:a="http://schemas.openxmlformats.org/drawingml/2006/main" xmlns:r="http://schemas.openxmlformats.org/officeDocument/2006/relationships" xmlns:p188="http://schemas.microsoft.com/office/powerpoint/2018/8/main">
  <p188:cm id="{02399EB5-4302-4996-B73E-5D52B10CC2A5}" authorId="{DBCFCE4A-9479-B2C6-A6D9-C14AA4C4F210}" status="resolved" created="2024-11-18T17:50:52.482">
    <ac:txMkLst xmlns:ac="http://schemas.microsoft.com/office/drawing/2013/main/command">
      <pc:docMk xmlns:pc="http://schemas.microsoft.com/office/powerpoint/2013/main/command"/>
      <pc:sldMk xmlns:pc="http://schemas.microsoft.com/office/powerpoint/2013/main/command" cId="2165724915" sldId="2147481843"/>
      <ac:spMk id="3" creationId="{9AEC36BD-2A11-90B1-170F-9A2663C8B944}"/>
      <ac:txMk cp="1077" len="14">
        <ac:context len="2157" hash="1616931512"/>
      </ac:txMk>
    </ac:txMkLst>
    <p188:pos x="7851775" y="4005263"/>
    <p188:replyLst>
      <p188:reply id="{438667C9-4736-4BD2-826A-0F04576C2D12}" authorId="{12FB8049-7B07-5F1E-B08E-724F1F569084}" created="2024-11-20T13:13:10.553">
        <p188:txBody>
          <a:bodyPr/>
          <a:lstStyle/>
          <a:p>
            <a:r>
              <a:rPr lang="LID4096"/>
              <a:t>Ik vind hem ook niet zo lekker, maar is wel de term die we eerder van Jeroen/Wouter meekregen. Laten we er ‘hub’ van maken. Klinkt beter. </a:t>
            </a:r>
          </a:p>
        </p188:txBody>
      </p188:reply>
    </p188:replyLst>
    <p188:txBody>
      <a:bodyPr/>
      <a:lstStyle/>
      <a:p>
        <a:r>
          <a:rPr lang="nl-NL"/>
          <a:t>Is knooppunt wel de goede term?  Een CumuluZ-knooppunt is namelijk geen platform maar een connector naar een zorgorganisatie.
(ik weet dat dit de term is die al in vele versies werd gebezigd, maar valt me nu pas op)</a:t>
        </a:r>
      </a:p>
    </p188:txBody>
  </p188:cm>
  <p188:cm id="{5FCA7CAC-2661-4AF2-8DB9-A33729151096}" authorId="{DBCFCE4A-9479-B2C6-A6D9-C14AA4C4F210}" status="resolved" created="2024-11-18T19:50:51.364">
    <ac:txMkLst xmlns:ac="http://schemas.microsoft.com/office/drawing/2013/main/command">
      <pc:docMk xmlns:pc="http://schemas.microsoft.com/office/powerpoint/2013/main/command"/>
      <pc:sldMk xmlns:pc="http://schemas.microsoft.com/office/powerpoint/2013/main/command" cId="2165724915" sldId="2147481843"/>
      <ac:spMk id="3" creationId="{9AEC36BD-2A11-90B1-170F-9A2663C8B944}"/>
      <ac:txMk cp="1095" len="28">
        <ac:context len="2157" hash="1616931512"/>
      </ac:txMk>
    </ac:txMkLst>
    <p188:pos x="10271125" y="4005263"/>
    <p188:txBody>
      <a:bodyPr/>
      <a:lstStyle/>
      <a:p>
        <a:r>
          <a:rPr lang="nl-NL"/>
          <a:t>Dit zou dan een CumuluZ hub zijn. Dit komt ook overeen met de scope in sheet 4</a:t>
        </a:r>
      </a:p>
    </p188:txBody>
    <p188:extLst>
      <p:ext xmlns:p="http://schemas.openxmlformats.org/presentationml/2006/main" uri="{57CB4572-C831-44C2-8A1C-0ADB6CCDFE69}">
        <p223:reactions xmlns:p223="http://schemas.microsoft.com/office/powerpoint/2022/03/main">
          <p223:rxn type="👍">
            <p223:instance time="2024-11-20T13:13:37.921" authorId="{12FB8049-7B07-5F1E-B08E-724F1F569084}"/>
          </p223:rxn>
        </p223:reactions>
      </p:ext>
    </p188:extLst>
  </p188:cm>
</p188:cmLst>
</file>

<file path=ppt/comments/modernComment_7FFFF8F5_4F5D2CB2.xml><?xml version="1.0" encoding="utf-8"?>
<p188:cmLst xmlns:a="http://schemas.openxmlformats.org/drawingml/2006/main" xmlns:r="http://schemas.openxmlformats.org/officeDocument/2006/relationships" xmlns:p188="http://schemas.microsoft.com/office/powerpoint/2018/8/main">
  <p188:cm id="{96CA5F22-5763-4128-805F-E37977BECE92}" authorId="{1C5E8DD4-DC97-A63E-8A55-1D4774ADA5C7}" created="2024-11-25T12:13:35.457">
    <ac:txMkLst xmlns:ac="http://schemas.microsoft.com/office/drawing/2013/main/command">
      <pc:docMk xmlns:pc="http://schemas.microsoft.com/office/powerpoint/2013/main/command"/>
      <pc:sldMk xmlns:pc="http://schemas.microsoft.com/office/powerpoint/2013/main/command" cId="1331506354" sldId="2147481845"/>
      <ac:spMk id="23" creationId="{A1F4AC44-914E-ACE9-C3BE-8791061CADFB}"/>
      <ac:txMk cp="767" len="321">
        <ac:context len="1089" hash="28471067"/>
      </ac:txMk>
    </ac:txMkLst>
    <p188:pos x="3573570" y="2527109"/>
    <p188:txBody>
      <a:bodyPr/>
      <a:lstStyle/>
      <a:p>
        <a:r>
          <a:rPr lang="en-NL"/>
          <a:t>Ook terugschrijven naar bronsystemen van HA, Apotheker, EPD / ECD etc. ?</a:t>
        </a:r>
      </a:p>
    </p188:txBody>
  </p188:cm>
</p188:cmLst>
</file>

<file path=ppt/comments/modernComment_7FFFF8F6_E19D10CE.xml><?xml version="1.0" encoding="utf-8"?>
<p188:cmLst xmlns:a="http://schemas.openxmlformats.org/drawingml/2006/main" xmlns:r="http://schemas.openxmlformats.org/officeDocument/2006/relationships" xmlns:p188="http://schemas.microsoft.com/office/powerpoint/2018/8/main">
  <p188:cm id="{893AF420-7245-4F86-8F49-6D6CB8C11827}" authorId="{1C5E8DD4-DC97-A63E-8A55-1D4774ADA5C7}" created="2024-11-25T14:18:11.639">
    <ac:txMkLst xmlns:ac="http://schemas.microsoft.com/office/drawing/2013/main/command">
      <pc:docMk xmlns:pc="http://schemas.microsoft.com/office/powerpoint/2013/main/command"/>
      <pc:sldMk xmlns:pc="http://schemas.microsoft.com/office/powerpoint/2013/main/command" cId="3785167054" sldId="2147481846"/>
      <ac:spMk id="65" creationId="{5F0260A0-A2DB-0FD8-D44D-CF1D37EBA985}"/>
      <ac:txMk cp="0" len="30">
        <ac:context len="36" hash="1700444654"/>
      </ac:txMk>
    </ac:txMkLst>
    <p188:pos x="2220773" y="320027"/>
    <p188:txBody>
      <a:bodyPr/>
      <a:lstStyle/>
      <a:p>
        <a:r>
          <a:rPr lang="en-NL"/>
          <a:t>@mbalia - Hier kan de aanvulling t.a.v. scope plaatsvinden.</a:t>
        </a:r>
      </a:p>
    </p188:txBody>
  </p188:cm>
  <p188:cm id="{C8C9A631-298B-43C7-A074-E018A8D05822}" authorId="{1C5E8DD4-DC97-A63E-8A55-1D4774ADA5C7}" status="resolved" created="2024-11-25T14:19:04.762" complete="100000">
    <ac:txMkLst xmlns:ac="http://schemas.microsoft.com/office/drawing/2013/main/command">
      <pc:docMk xmlns:pc="http://schemas.microsoft.com/office/powerpoint/2013/main/command"/>
      <pc:sldMk xmlns:pc="http://schemas.microsoft.com/office/powerpoint/2013/main/command" cId="3785167054" sldId="2147481846"/>
      <ac:spMk id="64" creationId="{83AE81B4-8FED-1A73-081F-524EEAD23EA3}"/>
      <ac:txMk cp="0" len="25">
        <ac:context len="260" hash="2268731227"/>
      </ac:txMk>
    </ac:txMkLst>
    <p188:pos x="2129333" y="322594"/>
    <p188:replyLst>
      <p188:reply id="{C01890B9-519B-4E0D-B417-ED0E0DDA9BEE}" authorId="{12FB8049-7B07-5F1E-B08E-724F1F569084}" created="2024-11-28T16:16:51.788">
        <p188:txBody>
          <a:bodyPr/>
          <a:lstStyle/>
          <a:p>
            <a:r>
              <a:rPr lang="LID4096"/>
              <a:t>Done.</a:t>
            </a:r>
          </a:p>
        </p188:txBody>
      </p188:reply>
    </p188:replyLst>
    <p188:txBody>
      <a:bodyPr/>
      <a:lstStyle/>
      <a:p>
        <a:r>
          <a:rPr lang="en-NL"/>
          <a:t>@chris - Deze graag voor MSB t.a.v. scope aanvullen.</a:t>
        </a:r>
      </a:p>
    </p188:txBody>
  </p188:cm>
  <p188:cm id="{41379CC7-399F-4340-B616-69668B936169}" authorId="{1C5E8DD4-DC97-A63E-8A55-1D4774ADA5C7}" created="2024-11-25T14:20:39.699">
    <ac:txMkLst xmlns:ac="http://schemas.microsoft.com/office/drawing/2013/main/command">
      <pc:docMk xmlns:pc="http://schemas.microsoft.com/office/powerpoint/2013/main/command"/>
      <pc:sldMk xmlns:pc="http://schemas.microsoft.com/office/powerpoint/2013/main/command" cId="3785167054" sldId="2147481846"/>
      <ac:spMk id="62" creationId="{8472D710-4867-DCCC-995F-83F49CEFA7A0}"/>
      <ac:txMk cp="0" len="27">
        <ac:context len="227" hash="1161362686"/>
      </ac:txMk>
    </ac:txMkLst>
    <p188:pos x="1923593" y="316493"/>
    <p188:replyLst>
      <p188:reply id="{B0B3D8B7-9928-480B-BA21-367E15500947}" authorId="{92416EC8-F06A-7550-7E4F-469EDEE6A847}" created="2024-11-25T20:29:46.325">
        <p188:txBody>
          <a:bodyPr/>
          <a:lstStyle/>
          <a:p>
            <a:r>
              <a:rPr lang="nl-NL"/>
              <a:t>Aangevuld</a:t>
            </a:r>
          </a:p>
        </p188:txBody>
      </p188:reply>
    </p188:replyLst>
    <p188:txBody>
      <a:bodyPr/>
      <a:lstStyle/>
      <a:p>
        <a:r>
          <a:rPr lang="en-NL"/>
          <a:t>@Mi Sun &amp; @Erik O. - Naam van lopend programma i.r.t. Thema 1 graag aanpassen en verder aanvullen als het gaat om scope afbakening en samenhang met TP. </a:t>
        </a:r>
      </a:p>
    </p188:txBody>
  </p188:cm>
  <p188:cm id="{E5449FDF-D589-E543-841B-9334F2440A58}" authorId="{DF484407-D847-CE85-9D36-1756EA191C72}" created="2024-11-27T16:36:21.496">
    <ac:txMkLst xmlns:ac="http://schemas.microsoft.com/office/drawing/2013/main/command">
      <pc:docMk xmlns:pc="http://schemas.microsoft.com/office/powerpoint/2013/main/command"/>
      <pc:sldMk xmlns:pc="http://schemas.microsoft.com/office/powerpoint/2013/main/command" cId="3785167054" sldId="2147481846"/>
      <ac:spMk id="70" creationId="{4BA09C5D-3251-511A-EC08-E4237118A1F9}"/>
      <ac:txMk cp="0" len="30">
        <ac:context len="31" hash="2993195172"/>
      </ac:txMk>
    </ac:txMkLst>
    <p188:pos x="2108767" y="555625"/>
    <p188:txBody>
      <a:bodyPr/>
      <a:lstStyle/>
      <a:p>
        <a:r>
          <a:rPr lang="nl-NL"/>
          <a:t>@Liesbeth en Danielle, HAP Eemland in deze slide/andere slide toevoegen?</a:t>
        </a:r>
      </a:p>
    </p188:txBody>
  </p188:cm>
  <p188:cm id="{224520B6-AAFF-46DD-A1C4-61E234BDE77C}" authorId="{12FB8049-7B07-5F1E-B08E-724F1F569084}" created="2024-11-28T16:10:51.122">
    <ac:deMkLst xmlns:ac="http://schemas.microsoft.com/office/drawing/2013/main/command">
      <pc:docMk xmlns:pc="http://schemas.microsoft.com/office/powerpoint/2013/main/command"/>
      <pc:sldMk xmlns:pc="http://schemas.microsoft.com/office/powerpoint/2013/main/command" cId="3785167054" sldId="2147481846"/>
      <ac:spMk id="64" creationId="{83AE81B4-8FED-1A73-081F-524EEAD23EA3}"/>
    </ac:deMkLst>
    <p188:txBody>
      <a:bodyPr/>
      <a:lstStyle/>
      <a:p>
        <a:r>
          <a:rPr lang="LID4096"/>
          <a:t>MNL zou ik er niet achter zetten. Het is een landelijke programma. </a:t>
        </a:r>
      </a:p>
    </p188:txBody>
  </p188:cm>
</p188:cmLst>
</file>

<file path=ppt/comments/modernComment_7FFFF8FB_93AF6EC8.xml><?xml version="1.0" encoding="utf-8"?>
<p188:cmLst xmlns:a="http://schemas.openxmlformats.org/drawingml/2006/main" xmlns:r="http://schemas.openxmlformats.org/officeDocument/2006/relationships" xmlns:p188="http://schemas.microsoft.com/office/powerpoint/2018/8/main">
  <p188:cm id="{6119CED5-CB72-4FB0-960D-24BED4850BD7}" authorId="{92416EC8-F06A-7550-7E4F-469EDEE6A847}" created="2024-11-29T08:11:59.174">
    <pc:sldMkLst xmlns:pc="http://schemas.microsoft.com/office/powerpoint/2013/main/command">
      <pc:docMk/>
      <pc:sldMk cId="2477747912" sldId="2147481851"/>
    </pc:sldMkLst>
    <p188:txBody>
      <a:bodyPr/>
      <a:lstStyle/>
      <a:p>
        <a:r>
          <a:rPr lang="nl-NL"/>
          <a:t>Nog te vullen als we UC 1.2 los trekken</a:t>
        </a:r>
      </a:p>
    </p188:txBody>
  </p188:cm>
</p188:cmLst>
</file>

<file path=ppt/comments/modernComment_7FFFF8FF_EFD363AC.xml><?xml version="1.0" encoding="utf-8"?>
<p188:cmLst xmlns:a="http://schemas.openxmlformats.org/drawingml/2006/main" xmlns:r="http://schemas.openxmlformats.org/officeDocument/2006/relationships" xmlns:p188="http://schemas.microsoft.com/office/powerpoint/2018/8/main">
  <p188:cm id="{2E545081-D199-43E7-BBA9-77F71300F327}" authorId="{92416EC8-F06A-7550-7E4F-469EDEE6A847}" created="2024-11-29T08:06:47.241">
    <ac:txMkLst xmlns:ac="http://schemas.microsoft.com/office/drawing/2013/main/command">
      <pc:docMk xmlns:pc="http://schemas.microsoft.com/office/powerpoint/2013/main/command"/>
      <pc:sldMk xmlns:pc="http://schemas.microsoft.com/office/powerpoint/2013/main/command" cId="4023608236" sldId="2147481855"/>
      <ac:spMk id="9" creationId="{CA949A71-98DC-5F3A-83D9-50F7D55BB504}"/>
      <ac:txMk cp="519" len="626">
        <ac:context len="1146" hash="2581925007"/>
      </ac:txMk>
    </ac:txMkLst>
    <p188:pos x="7814635" y="1101138"/>
    <p188:txBody>
      <a:bodyPr/>
      <a:lstStyle/>
      <a:p>
        <a:r>
          <a:rPr lang="nl-NL"/>
          <a:t>Loskoppelen in UC 1.2</a:t>
        </a:r>
      </a:p>
    </p188:txBody>
  </p188:cm>
  <p188:cm id="{A35EE699-8041-4783-814C-2AA09194A413}" authorId="{92416EC8-F06A-7550-7E4F-469EDEE6A847}" created="2024-11-29T08:07:02.895">
    <ac:txMkLst xmlns:ac="http://schemas.microsoft.com/office/drawing/2013/main/command">
      <pc:docMk xmlns:pc="http://schemas.microsoft.com/office/powerpoint/2013/main/command"/>
      <pc:sldMk xmlns:pc="http://schemas.microsoft.com/office/powerpoint/2013/main/command" cId="4023608236" sldId="2147481855"/>
      <ac:spMk id="4" creationId="{C82FBABC-7D6E-3244-FBF5-F95A5BBF8EC4}"/>
      <ac:txMk cp="592" len="192">
        <ac:context len="786" hash="3641194871"/>
      </ac:txMk>
    </ac:txMkLst>
    <p188:pos x="7814635" y="1186998"/>
    <p188:txBody>
      <a:bodyPr/>
      <a:lstStyle/>
      <a:p>
        <a:r>
          <a:rPr lang="nl-NL"/>
          <a:t>Loskoppelen in UC 1.2</a:t>
        </a:r>
      </a:p>
    </p188:txBody>
  </p188:cm>
</p188:cmLst>
</file>

<file path=ppt/comments/modernComment_7FFFF88D_9929DD08.xml><?xml version="1.0" encoding="utf-8"?>
<p188:cmLst xmlns:a="http://schemas.openxmlformats.org/drawingml/2006/main" xmlns:r="http://schemas.openxmlformats.org/officeDocument/2006/relationships" xmlns:p188="http://schemas.microsoft.com/office/powerpoint/2018/8/main">
  <p188:cm id="{87B78F9E-5C57-4678-8C0F-B07FDDC0AB66}" authorId="{602049B3-E2C5-597B-738E-C1F3F036CAFD}" status="resolved" created="2024-10-23T08:23:46.222" complete="100000">
    <pc:sldMkLst xmlns:pc="http://schemas.microsoft.com/office/powerpoint/2013/main/command">
      <pc:docMk/>
      <pc:sldMk cId="2569657608" sldId="2147481741"/>
    </pc:sldMkLst>
    <p188:txBody>
      <a:bodyPr/>
      <a:lstStyle/>
      <a:p>
        <a:r>
          <a:rPr lang="nl-NL"/>
          <a:t>Al eerder de domeinen noemen en in deze slide de thema's uitwerken. Use cases ook hier nog niet noemen, komen pas later. </a:t>
        </a:r>
      </a:p>
    </p188:txBody>
  </p188:cm>
  <p188:cm id="{2ABAD27B-A8DD-4AB0-8552-ECD8DF2DD580}" authorId="{12FB8049-7B07-5F1E-B08E-724F1F569084}" status="resolved" created="2024-10-23T12:29:40.817" complete="100000">
    <ac:txMkLst xmlns:ac="http://schemas.microsoft.com/office/drawing/2013/main/command">
      <pc:docMk xmlns:pc="http://schemas.microsoft.com/office/powerpoint/2013/main/command"/>
      <pc:sldMk xmlns:pc="http://schemas.microsoft.com/office/powerpoint/2013/main/command" cId="2569657608" sldId="2147481741"/>
      <ac:spMk id="28" creationId="{16A7DC3A-175B-0DB3-74F7-95BBCDF15593}"/>
      <ac:txMk cp="256" len="32">
        <ac:context len="335" hash="2039063377"/>
      </ac:txMk>
    </ac:txMkLst>
    <p188:pos x="8484139" y="463331"/>
    <p188:replyLst>
      <p188:reply id="{BCE82DE3-CF72-4C18-90E2-CA47E2F2C30A}" authorId="{1C5E8DD4-DC97-A63E-8A55-1D4774ADA5C7}" created="2024-11-04T06:01:02.604">
        <p188:txBody>
          <a:bodyPr/>
          <a:lstStyle/>
          <a:p>
            <a:r>
              <a:rPr lang="en-NL"/>
              <a:t>Zin anders geformuleerd, maar wel genieriek gehouden. </a:t>
            </a:r>
          </a:p>
        </p188:txBody>
      </p188:reply>
    </p188:replyLst>
    <p188:txBody>
      <a:bodyPr/>
      <a:lstStyle/>
      <a:p>
        <a:r>
          <a:rPr lang="LID4096"/>
          <a:t>Ik zou hier Twiin als een afsprakenstelsel positioneren. En niet te spreken over aansluiten, maar misschien iets als conformeren?</a:t>
        </a:r>
      </a:p>
    </p188:txBody>
  </p188:cm>
</p188:cmLst>
</file>

<file path=ppt/comments/modernComment_7FFFF88E_40397490.xml><?xml version="1.0" encoding="utf-8"?>
<p188:cmLst xmlns:a="http://schemas.openxmlformats.org/drawingml/2006/main" xmlns:r="http://schemas.openxmlformats.org/officeDocument/2006/relationships" xmlns:p188="http://schemas.microsoft.com/office/powerpoint/2018/8/main">
  <p188:cm id="{4E789BD0-A594-45D1-AD6C-2D4925342008}" authorId="{602049B3-E2C5-597B-738E-C1F3F036CAFD}" created="2024-10-23T08:25:24.507">
    <pc:sldMkLst xmlns:pc="http://schemas.microsoft.com/office/powerpoint/2013/main/command">
      <pc:docMk/>
      <pc:sldMk cId="1077507216" sldId="2147481742"/>
    </pc:sldMkLst>
    <p188:txBody>
      <a:bodyPr/>
      <a:lstStyle/>
      <a:p>
        <a:r>
          <a:rPr lang="nl-NL"/>
          <a:t>Hiervoor een slide met uitleg waarom we de stap naar het nictiz model maken. </a:t>
        </a:r>
      </a:p>
    </p188:txBody>
  </p188:cm>
</p188:cmLst>
</file>

<file path=ppt/comments/modernComment_7FFFF89E_A4EB26B4.xml><?xml version="1.0" encoding="utf-8"?>
<p188:cmLst xmlns:a="http://schemas.openxmlformats.org/drawingml/2006/main" xmlns:r="http://schemas.openxmlformats.org/officeDocument/2006/relationships" xmlns:p188="http://schemas.microsoft.com/office/powerpoint/2018/8/main">
  <p188:cm id="{9EBBD733-7947-4A01-B20B-0739089F8289}" authorId="{B1BC6354-5B7A-4FBB-59CD-B4BB28620524}" status="resolved" created="2024-11-27T14:46:48.040" complete="100000">
    <ac:txMkLst xmlns:ac="http://schemas.microsoft.com/office/drawing/2013/main/command">
      <pc:docMk xmlns:pc="http://schemas.microsoft.com/office/powerpoint/2013/main/command"/>
      <pc:sldMk xmlns:pc="http://schemas.microsoft.com/office/powerpoint/2013/main/command" cId="2766874292" sldId="2147481758"/>
      <ac:spMk id="5" creationId="{A8BF3FFB-ACD1-1B11-ACD8-E0331E3C215F}"/>
      <ac:txMk cp="304" len="203">
        <ac:context len="508" hash="1203618221"/>
      </ac:txMk>
    </ac:txMkLst>
    <p188:pos x="4484843" y="1320516"/>
    <p188:replyLst>
      <p188:reply id="{C4158726-1FE9-492C-B6F6-48ABD72209D4}" authorId="{12FB8049-7B07-5F1E-B08E-724F1F569084}" created="2024-11-28T15:49:44.231">
        <p188:txBody>
          <a:bodyPr/>
          <a:lstStyle/>
          <a:p>
            <a:r>
              <a:rPr lang="LID4096"/>
              <a:t>Eens! </a:t>
            </a:r>
          </a:p>
        </p188:txBody>
      </p188:reply>
    </p188:replyLst>
    <p188:txBody>
      <a:bodyPr/>
      <a:lstStyle/>
      <a:p>
        <a:r>
          <a:rPr lang="nl-NL"/>
          <a:t>Samenwerken lijkt mij een goed idee, maar er moet erg duidelijk gekaderd worden waar het RPD voor dient en waar het HDSU voor dient. De laatste is een initiatief van en voor UMCU. De eerste is voor alle zorgverleners in de regio die valt onder RSO Trijn. Daar ligt wat mij betreft voor RSOTrijn de focus op. </a:t>
        </a:r>
      </a:p>
    </p188:txBody>
  </p188:cm>
  <p188:cm id="{AD4203EB-B4D5-4CF9-BBA4-BC76FC55B53F}" authorId="{B1BC6354-5B7A-4FBB-59CD-B4BB28620524}" status="resolved" created="2024-11-29T11:00:33.973" complete="100000">
    <ac:txMkLst xmlns:ac="http://schemas.microsoft.com/office/drawing/2013/main/command">
      <pc:docMk xmlns:pc="http://schemas.microsoft.com/office/powerpoint/2013/main/command"/>
      <pc:sldMk xmlns:pc="http://schemas.microsoft.com/office/powerpoint/2013/main/command" cId="2766874292" sldId="2147481758"/>
      <ac:spMk id="5" creationId="{A8BF3FFB-ACD1-1B11-ACD8-E0331E3C215F}"/>
      <ac:txMk cp="138">
        <ac:context len="508" hash="1203618221"/>
      </ac:txMk>
    </ac:txMkLst>
    <p188:pos x="2526834" y="694351"/>
    <p188:txBody>
      <a:bodyPr/>
      <a:lstStyle/>
      <a:p>
        <a:r>
          <a:rPr lang="nl-NL"/>
          <a:t>Inwoner
</a:t>
        </a:r>
      </a:p>
    </p188:txBody>
  </p188:cm>
  <p188:cm id="{E25079EB-35B8-410F-9759-8467802AA2EF}" authorId="{B1BC6354-5B7A-4FBB-59CD-B4BB28620524}" status="resolved" created="2024-11-29T11:00:45.956" complete="100000">
    <ac:txMkLst xmlns:ac="http://schemas.microsoft.com/office/drawing/2013/main/command">
      <pc:docMk xmlns:pc="http://schemas.microsoft.com/office/powerpoint/2013/main/command"/>
      <pc:sldMk xmlns:pc="http://schemas.microsoft.com/office/powerpoint/2013/main/command" cId="2766874292" sldId="2147481758"/>
      <ac:spMk id="5" creationId="{A8BF3FFB-ACD1-1B11-ACD8-E0331E3C215F}"/>
      <ac:txMk cp="191" len="18">
        <ac:context len="508" hash="1203618221"/>
      </ac:txMk>
    </ac:txMkLst>
    <p188:pos x="3818921" y="903072"/>
    <p188:txBody>
      <a:bodyPr/>
      <a:lstStyle/>
      <a:p>
        <a:r>
          <a:rPr lang="nl-NL"/>
          <a:t>inwoners</a:t>
        </a:r>
      </a:p>
    </p188:txBody>
  </p188:cm>
</p188:cmLst>
</file>

<file path=ppt/comments/modernComment_7FFFF855_4D28D68F.xml><?xml version="1.0" encoding="utf-8"?>
<p188:cmLst xmlns:a="http://schemas.openxmlformats.org/drawingml/2006/main" xmlns:r="http://schemas.openxmlformats.org/officeDocument/2006/relationships" xmlns:p188="http://schemas.microsoft.com/office/powerpoint/2018/8/main">
  <p188:cm id="{089E803C-E3C2-4B06-B26B-2176989DE539}" authorId="{93747FD5-C3CE-7318-4666-CB21595F5B17}" status="resolved" created="2024-10-03T12:42:14.754" complete="100000">
    <pc:sldMkLst xmlns:pc="http://schemas.microsoft.com/office/powerpoint/2013/main/command">
      <pc:docMk/>
      <pc:sldMk cId="921113324" sldId="2147481679"/>
    </pc:sldMkLst>
    <p188:txBody>
      <a:bodyPr/>
      <a:lstStyle/>
      <a:p>
        <a:r>
          <a:rPr lang="nl-NL"/>
          <a:t>Suggestie voor leeswijzer/waar zitten we in de opbouw van het plan:  plaatje met inhoudsgave, of plaatje met structuur usecases, </a:t>
        </a:r>
      </a:p>
    </p188:txBody>
  </p188:cm>
  <p188:cm id="{342BF01C-DE6B-4534-AC9E-F91C7212C99E}" authorId="{B1E7C80D-48D8-7E8B-D119-529BE8416E3C}" status="resolved" created="2024-10-20T13:49:56.894" complete="100000">
    <ac:txMkLst xmlns:ac="http://schemas.microsoft.com/office/drawing/2013/main/command">
      <pc:docMk xmlns:pc="http://schemas.microsoft.com/office/powerpoint/2013/main/command"/>
      <pc:sldMk xmlns:pc="http://schemas.microsoft.com/office/powerpoint/2013/main/command" cId="1294521999" sldId="2147481685"/>
      <ac:spMk id="26" creationId="{901983AA-6123-ED37-2914-722EC4112FC7}"/>
      <ac:txMk cp="0">
        <ac:context len="1" hash="13"/>
      </ac:txMk>
    </ac:txMkLst>
    <p188:txBody>
      <a:bodyPr/>
      <a:lstStyle/>
      <a:p>
        <a:r>
          <a:rPr lang="en-US"/>
          <a:t>Slide met aanpassingen zoals nu opgenomen in het concept Transformatieplan v0.3</a:t>
        </a:r>
      </a:p>
    </p188:txBody>
    <p188:extLst>
      <p:ext xmlns:p="http://schemas.openxmlformats.org/presentationml/2006/main" uri="{57CB4572-C831-44C2-8A1C-0ADB6CCDFE69}">
        <p223:reactions xmlns:p223="http://schemas.microsoft.com/office/powerpoint/2022/03/main">
          <p223:rxn type="👍">
            <p223:instance time="2024-10-22T11:45:58.929" authorId="{42CB782E-D7A8-133A-9A41-5CCFBE383ED1}"/>
          </p223:rxn>
        </p223:reactions>
      </p:ext>
    </p188:extLst>
  </p188:cm>
</p188:cmLst>
</file>

<file path=ppt/comments/modernComment_7FFFF882_A73244DA.xml><?xml version="1.0" encoding="utf-8"?>
<p188:cmLst xmlns:a="http://schemas.openxmlformats.org/drawingml/2006/main" xmlns:r="http://schemas.openxmlformats.org/officeDocument/2006/relationships" xmlns:p188="http://schemas.microsoft.com/office/powerpoint/2018/8/main">
  <p188:cm id="{3608B344-02F8-49DC-988F-C2CA37ADAD26}" authorId="{602049B3-E2C5-597B-738E-C1F3F036CAFD}" status="resolved" created="2024-10-02T11:54:16.117" complete="100000">
    <pc:sldMkLst xmlns:pc="http://schemas.microsoft.com/office/powerpoint/2013/main/command">
      <pc:docMk/>
      <pc:sldMk cId="2805089498" sldId="2147481730"/>
    </pc:sldMkLst>
    <p188:replyLst>
      <p188:reply id="{D3487104-9A22-4A41-AF5C-B531AE78D3A5}" authorId="{1C5E8DD4-DC97-A63E-8A55-1D4774ADA5C7}" created="2024-11-11T06:04:29.681">
        <p188:txBody>
          <a:bodyPr/>
          <a:lstStyle/>
          <a:p>
            <a:r>
              <a:rPr lang="en-NL"/>
              <a:t>Is met voorgaande slides en introductie op het thema opgenomen. Daarin wordt getracht de toevoeging van en nadruk op de noodzaak van gestructureerde registratie aan de bron én (proces)afspraken op regionaal niveau binnen de kaders van de landelijke richtlijnen en standaarden, te eggen an als randvoorwaarden voor eenheid van taal daarmee van essentieel belang.</a:t>
            </a:r>
          </a:p>
        </p188:txBody>
      </p188:reply>
    </p188:replyLst>
    <p188:txBody>
      <a:bodyPr/>
      <a:lstStyle/>
      <a:p>
        <a:r>
          <a:rPr lang="nl-NL"/>
          <a:t>Ik mis hiervoor een slide met duiding van het thema. 
ook toevoegen dat het use cases zijn die eigenlijk een kunstmatige scheiding kennen. Het betreft allemaal databeschikbaarheid. </a:t>
        </a:r>
      </a:p>
    </p188:txBody>
  </p188:cm>
</p188:cmLst>
</file>

<file path=ppt/comments/modernComment_7FFFF884_2785D4FB.xml><?xml version="1.0" encoding="utf-8"?>
<p188:cmLst xmlns:a="http://schemas.openxmlformats.org/drawingml/2006/main" xmlns:r="http://schemas.openxmlformats.org/officeDocument/2006/relationships" xmlns:p188="http://schemas.microsoft.com/office/powerpoint/2018/8/main">
  <p188:cm id="{A0B2D8BD-1DCB-4922-8C79-BD709446FA30}" authorId="{5AC7799B-9EC9-1BB5-15A8-C3424975A24A}" created="2024-11-27T08:35:58.243">
    <pc:sldMkLst xmlns:pc="http://schemas.microsoft.com/office/powerpoint/2013/main/command">
      <pc:docMk/>
      <pc:sldMk cId="663082235" sldId="2147481732"/>
    </pc:sldMkLst>
    <p188:txBody>
      <a:bodyPr/>
      <a:lstStyle/>
      <a:p>
        <a:r>
          <a:rPr lang="nl-NL"/>
          <a:t>Is de inzet van de leden (en bijbehorende kosten) door de leden zelf aangedragen?</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22B669-A2EE-453A-B5BD-0E06C7ED308D}"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nl-NL"/>
        </a:p>
      </dgm:t>
    </dgm:pt>
    <dgm:pt modelId="{6243FA1E-54FD-41AA-B953-F66F4A50D901}">
      <dgm:prSet phldrT="[Tekst]"/>
      <dgm:spPr/>
      <dgm:t>
        <a:bodyPr/>
        <a:lstStyle/>
        <a:p>
          <a:endParaRPr lang="nl-NL"/>
        </a:p>
      </dgm:t>
    </dgm:pt>
    <dgm:pt modelId="{191218C0-B6C9-472E-A175-6BB8FCEF2E01}" type="parTrans" cxnId="{D589C331-734B-4963-BD25-50A0D36C3E83}">
      <dgm:prSet/>
      <dgm:spPr/>
      <dgm:t>
        <a:bodyPr/>
        <a:lstStyle/>
        <a:p>
          <a:endParaRPr lang="nl-NL"/>
        </a:p>
      </dgm:t>
    </dgm:pt>
    <dgm:pt modelId="{943463DA-CF50-49BD-9D55-D608D23026F5}" type="sibTrans" cxnId="{D589C331-734B-4963-BD25-50A0D36C3E83}">
      <dgm:prSet/>
      <dgm:spPr/>
      <dgm:t>
        <a:bodyPr/>
        <a:lstStyle/>
        <a:p>
          <a:endParaRPr lang="nl-NL"/>
        </a:p>
      </dgm:t>
    </dgm:pt>
    <dgm:pt modelId="{2510EFD8-9F6E-4126-8E25-CA7B00ABED64}">
      <dgm:prSet phldrT="[Tekst]"/>
      <dgm:spPr>
        <a:solidFill>
          <a:srgbClr val="21BBEF"/>
        </a:solidFill>
      </dgm:spPr>
      <dgm:t>
        <a:bodyPr/>
        <a:lstStyle/>
        <a:p>
          <a:r>
            <a:rPr lang="nl-NL"/>
            <a:t>UNICUM </a:t>
          </a:r>
          <a:r>
            <a:rPr lang="nl-NL" err="1"/>
            <a:t>Huisarsenzorg</a:t>
          </a:r>
          <a:r>
            <a:rPr lang="nl-NL"/>
            <a:t>, </a:t>
          </a:r>
          <a:r>
            <a:rPr lang="nl-NL" err="1"/>
            <a:t>RegiozorgNU</a:t>
          </a:r>
          <a:r>
            <a:rPr lang="nl-NL"/>
            <a:t>, HUS/Sterkzorg</a:t>
          </a:r>
        </a:p>
      </dgm:t>
    </dgm:pt>
    <dgm:pt modelId="{DFF25E9D-AEA0-49DD-BE06-B2C3063E04BD}" type="parTrans" cxnId="{5649133E-C4E5-4B1E-88A4-EC218DE4CD32}">
      <dgm:prSet/>
      <dgm:spPr/>
      <dgm:t>
        <a:bodyPr/>
        <a:lstStyle/>
        <a:p>
          <a:endParaRPr lang="nl-NL"/>
        </a:p>
      </dgm:t>
    </dgm:pt>
    <dgm:pt modelId="{7F6877CA-D323-4606-BBAC-3CAAC1D0F2C8}" type="sibTrans" cxnId="{5649133E-C4E5-4B1E-88A4-EC218DE4CD32}">
      <dgm:prSet custT="1"/>
      <dgm:spPr>
        <a:solidFill>
          <a:srgbClr val="21BBEF"/>
        </a:solidFill>
      </dgm:spPr>
      <dgm:t>
        <a:bodyPr/>
        <a:lstStyle/>
        <a:p>
          <a:r>
            <a:rPr lang="nl-NL" sz="600"/>
            <a:t>RAVU &amp; ZCC</a:t>
          </a:r>
        </a:p>
      </dgm:t>
    </dgm:pt>
    <dgm:pt modelId="{27F0A43F-6D4E-4FF2-803A-1EC2C4C86658}">
      <dgm:prSet phldrT="[Tekst]"/>
      <dgm:spPr/>
      <dgm:t>
        <a:bodyPr/>
        <a:lstStyle/>
        <a:p>
          <a:r>
            <a:rPr lang="nl-NL"/>
            <a:t>Huisartsen Eemland</a:t>
          </a:r>
        </a:p>
      </dgm:t>
    </dgm:pt>
    <dgm:pt modelId="{9CB5AAE4-4CBC-41FB-A880-5E488B235237}" type="parTrans" cxnId="{1952EA2F-B94A-447B-A27C-E2E5D881B17C}">
      <dgm:prSet/>
      <dgm:spPr/>
      <dgm:t>
        <a:bodyPr/>
        <a:lstStyle/>
        <a:p>
          <a:endParaRPr lang="nl-NL"/>
        </a:p>
      </dgm:t>
    </dgm:pt>
    <dgm:pt modelId="{CFD931A2-5274-4836-A121-9CD6E65524DA}" type="sibTrans" cxnId="{1952EA2F-B94A-447B-A27C-E2E5D881B17C}">
      <dgm:prSet/>
      <dgm:spPr/>
      <dgm:t>
        <a:bodyPr/>
        <a:lstStyle/>
        <a:p>
          <a:endParaRPr lang="nl-NL"/>
        </a:p>
      </dgm:t>
    </dgm:pt>
    <dgm:pt modelId="{56BFE3C6-F632-40EB-B956-4D728E9B35CF}">
      <dgm:prSet phldrT="[Tekst]"/>
      <dgm:spPr>
        <a:solidFill>
          <a:srgbClr val="21BBEF"/>
        </a:solidFill>
      </dgm:spPr>
      <dgm:t>
        <a:bodyPr/>
        <a:lstStyle/>
        <a:p>
          <a:r>
            <a:rPr lang="nl-NL"/>
            <a:t>EMC Utrecht, St Antonius, Meander MC, </a:t>
          </a:r>
          <a:r>
            <a:rPr lang="nl-NL" err="1"/>
            <a:t>Diakonessenhuis</a:t>
          </a:r>
          <a:endParaRPr lang="nl-NL"/>
        </a:p>
      </dgm:t>
    </dgm:pt>
    <dgm:pt modelId="{A5C70450-8689-484F-AC99-3EBEE7C3363B}" type="parTrans" cxnId="{828A4776-682E-41D8-B4C1-04853FB88C6E}">
      <dgm:prSet/>
      <dgm:spPr/>
      <dgm:t>
        <a:bodyPr/>
        <a:lstStyle/>
        <a:p>
          <a:endParaRPr lang="nl-NL"/>
        </a:p>
      </dgm:t>
    </dgm:pt>
    <dgm:pt modelId="{39D2F902-A6D1-4F0A-86E2-A7962BF24EEB}" type="sibTrans" cxnId="{828A4776-682E-41D8-B4C1-04853FB88C6E}">
      <dgm:prSet/>
      <dgm:spPr>
        <a:solidFill>
          <a:srgbClr val="21BBEF"/>
        </a:solidFill>
      </dgm:spPr>
      <dgm:t>
        <a:bodyPr/>
        <a:lstStyle/>
        <a:p>
          <a:endParaRPr lang="nl-NL"/>
        </a:p>
      </dgm:t>
    </dgm:pt>
    <dgm:pt modelId="{C47777E9-9836-406C-9F62-A3D6684A7A23}">
      <dgm:prSet phldrT="[Tekst]"/>
      <dgm:spPr/>
      <dgm:t>
        <a:bodyPr/>
        <a:lstStyle/>
        <a:p>
          <a:r>
            <a:rPr lang="nl-NL"/>
            <a:t>NAZMN</a:t>
          </a:r>
        </a:p>
      </dgm:t>
    </dgm:pt>
    <dgm:pt modelId="{77EF488C-DBFE-4A36-8D54-326C897687D4}" type="parTrans" cxnId="{CBC1FFB3-2A0E-4EB6-9B94-7AB803BE423F}">
      <dgm:prSet/>
      <dgm:spPr/>
      <dgm:t>
        <a:bodyPr/>
        <a:lstStyle/>
        <a:p>
          <a:endParaRPr lang="nl-NL"/>
        </a:p>
      </dgm:t>
    </dgm:pt>
    <dgm:pt modelId="{92A25F63-C976-4B6E-916B-595324863EEF}" type="sibTrans" cxnId="{CBC1FFB3-2A0E-4EB6-9B94-7AB803BE423F}">
      <dgm:prSet/>
      <dgm:spPr/>
      <dgm:t>
        <a:bodyPr/>
        <a:lstStyle/>
        <a:p>
          <a:endParaRPr lang="nl-NL"/>
        </a:p>
      </dgm:t>
    </dgm:pt>
    <dgm:pt modelId="{47238700-3CA5-4FDE-B38C-D95289FE6BF2}">
      <dgm:prSet phldrT="[Tekst]"/>
      <dgm:spPr>
        <a:solidFill>
          <a:srgbClr val="21BBEF"/>
        </a:solidFill>
      </dgm:spPr>
      <dgm:t>
        <a:bodyPr/>
        <a:lstStyle/>
        <a:p>
          <a:r>
            <a:rPr lang="nl-NL" err="1"/>
            <a:t>Unilabs</a:t>
          </a:r>
          <a:endParaRPr lang="nl-NL"/>
        </a:p>
      </dgm:t>
    </dgm:pt>
    <dgm:pt modelId="{3B7C8E45-1E16-4C58-AF97-AAB59AD0FD6B}" type="parTrans" cxnId="{BCD831A1-44B9-4168-AF30-7AABAB4BF400}">
      <dgm:prSet/>
      <dgm:spPr/>
      <dgm:t>
        <a:bodyPr/>
        <a:lstStyle/>
        <a:p>
          <a:endParaRPr lang="nl-NL"/>
        </a:p>
      </dgm:t>
    </dgm:pt>
    <dgm:pt modelId="{1291F49F-1EB9-4B4A-89D1-B69BCBEFA651}" type="sibTrans" cxnId="{BCD831A1-44B9-4168-AF30-7AABAB4BF400}">
      <dgm:prSet/>
      <dgm:spPr>
        <a:solidFill>
          <a:srgbClr val="21BBEF"/>
        </a:solidFill>
      </dgm:spPr>
      <dgm:t>
        <a:bodyPr/>
        <a:lstStyle/>
        <a:p>
          <a:endParaRPr lang="nl-NL"/>
        </a:p>
      </dgm:t>
    </dgm:pt>
    <dgm:pt modelId="{B474ED42-CF0F-407F-A13B-72E49CDF2596}">
      <dgm:prSet phldrT="[Tekst]"/>
      <dgm:spPr>
        <a:solidFill>
          <a:srgbClr val="21BBEF"/>
        </a:solidFill>
      </dgm:spPr>
      <dgm:t>
        <a:bodyPr/>
        <a:lstStyle/>
        <a:p>
          <a:r>
            <a:rPr lang="nl-NL"/>
            <a:t>SUAC apothekers</a:t>
          </a:r>
        </a:p>
      </dgm:t>
    </dgm:pt>
    <dgm:pt modelId="{CEBE40E6-AE3E-4D74-9E5B-F43160FCF2A0}" type="parTrans" cxnId="{D04759CA-933D-42C6-8D78-748ECAD95AA8}">
      <dgm:prSet/>
      <dgm:spPr/>
      <dgm:t>
        <a:bodyPr/>
        <a:lstStyle/>
        <a:p>
          <a:endParaRPr lang="nl-NL"/>
        </a:p>
      </dgm:t>
    </dgm:pt>
    <dgm:pt modelId="{645C0DFD-B4ED-470D-9CDD-5E7F1B08E012}" type="sibTrans" cxnId="{D04759CA-933D-42C6-8D78-748ECAD95AA8}">
      <dgm:prSet/>
      <dgm:spPr>
        <a:solidFill>
          <a:srgbClr val="21BBEF"/>
        </a:solidFill>
      </dgm:spPr>
      <dgm:t>
        <a:bodyPr/>
        <a:lstStyle/>
        <a:p>
          <a:endParaRPr lang="nl-NL"/>
        </a:p>
      </dgm:t>
    </dgm:pt>
    <dgm:pt modelId="{3F36539F-6FB9-4882-B419-8DF4869FA92B}">
      <dgm:prSet phldrT="[Tekst]"/>
      <dgm:spPr>
        <a:solidFill>
          <a:srgbClr val="21BBEF"/>
        </a:solidFill>
      </dgm:spPr>
      <dgm:t>
        <a:bodyPr/>
        <a:lstStyle/>
        <a:p>
          <a:r>
            <a:rPr lang="nl-NL" err="1"/>
            <a:t>Altrecht</a:t>
          </a:r>
          <a:endParaRPr lang="nl-NL"/>
        </a:p>
      </dgm:t>
    </dgm:pt>
    <dgm:pt modelId="{463A19DA-32FD-4511-A7B1-A2BEC0241E04}" type="parTrans" cxnId="{50B0815B-1D39-472B-8F34-63E27D417A0B}">
      <dgm:prSet/>
      <dgm:spPr/>
      <dgm:t>
        <a:bodyPr/>
        <a:lstStyle/>
        <a:p>
          <a:endParaRPr lang="nl-NL"/>
        </a:p>
      </dgm:t>
    </dgm:pt>
    <dgm:pt modelId="{DE40D179-D3CD-474A-9DC1-0CA93F15AADF}" type="sibTrans" cxnId="{50B0815B-1D39-472B-8F34-63E27D417A0B}">
      <dgm:prSet/>
      <dgm:spPr>
        <a:solidFill>
          <a:srgbClr val="21BBEF"/>
        </a:solidFill>
      </dgm:spPr>
      <dgm:t>
        <a:bodyPr/>
        <a:lstStyle/>
        <a:p>
          <a:endParaRPr lang="nl-NL"/>
        </a:p>
      </dgm:t>
    </dgm:pt>
    <dgm:pt modelId="{D50B076D-21F9-49C8-9398-816A942614B2}">
      <dgm:prSet phldrT="[Tekst]"/>
      <dgm:spPr/>
      <dgm:t>
        <a:bodyPr/>
        <a:lstStyle/>
        <a:p>
          <a:r>
            <a:rPr lang="nl-NL"/>
            <a:t>Welzijn en Buurtteams</a:t>
          </a:r>
        </a:p>
      </dgm:t>
    </dgm:pt>
    <dgm:pt modelId="{F945D5AC-EF5C-4E74-9AE9-E7C2874BF083}" type="parTrans" cxnId="{2CF1F46D-6696-46C0-AF0E-D3AFC857001A}">
      <dgm:prSet/>
      <dgm:spPr/>
      <dgm:t>
        <a:bodyPr/>
        <a:lstStyle/>
        <a:p>
          <a:endParaRPr lang="nl-NL"/>
        </a:p>
      </dgm:t>
    </dgm:pt>
    <dgm:pt modelId="{D044C9AD-A6DD-426A-96CF-C34B4E0152A2}" type="sibTrans" cxnId="{2CF1F46D-6696-46C0-AF0E-D3AFC857001A}">
      <dgm:prSet/>
      <dgm:spPr/>
      <dgm:t>
        <a:bodyPr/>
        <a:lstStyle/>
        <a:p>
          <a:endParaRPr lang="nl-NL"/>
        </a:p>
      </dgm:t>
    </dgm:pt>
    <dgm:pt modelId="{B87A938B-B529-41A8-8195-F0AD624456E9}">
      <dgm:prSet phldrT="[Tekst]"/>
      <dgm:spPr/>
      <dgm:t>
        <a:bodyPr/>
        <a:lstStyle/>
        <a:p>
          <a:r>
            <a:rPr lang="nl-NL"/>
            <a:t>GGD</a:t>
          </a:r>
        </a:p>
      </dgm:t>
    </dgm:pt>
    <dgm:pt modelId="{9D2C05A9-DC65-48F0-A7AC-F5E11945ADE7}" type="parTrans" cxnId="{BB1BCAD1-C38E-443A-944D-40957866C1D9}">
      <dgm:prSet/>
      <dgm:spPr/>
      <dgm:t>
        <a:bodyPr/>
        <a:lstStyle/>
        <a:p>
          <a:endParaRPr lang="nl-NL"/>
        </a:p>
      </dgm:t>
    </dgm:pt>
    <dgm:pt modelId="{9C2E2F1D-1822-4EB0-AF25-2EFA37C52FCA}" type="sibTrans" cxnId="{BB1BCAD1-C38E-443A-944D-40957866C1D9}">
      <dgm:prSet/>
      <dgm:spPr/>
      <dgm:t>
        <a:bodyPr/>
        <a:lstStyle/>
        <a:p>
          <a:endParaRPr lang="nl-NL"/>
        </a:p>
      </dgm:t>
    </dgm:pt>
    <dgm:pt modelId="{1470D904-2728-4976-9B53-45EA0EEEEF13}">
      <dgm:prSet phldrT="[Tekst]"/>
      <dgm:spPr/>
      <dgm:t>
        <a:bodyPr/>
        <a:lstStyle/>
        <a:p>
          <a:r>
            <a:rPr lang="nl-NL"/>
            <a:t>Regio coördinatoren gemeenten</a:t>
          </a:r>
        </a:p>
      </dgm:t>
    </dgm:pt>
    <dgm:pt modelId="{FD703832-D11E-44A5-87D4-E13DE2DC4C55}" type="parTrans" cxnId="{0947FB03-3073-4A2B-B977-ADC47AD2F735}">
      <dgm:prSet/>
      <dgm:spPr/>
      <dgm:t>
        <a:bodyPr/>
        <a:lstStyle/>
        <a:p>
          <a:endParaRPr lang="nl-NL"/>
        </a:p>
      </dgm:t>
    </dgm:pt>
    <dgm:pt modelId="{EBF43F2D-7B21-493D-8E9F-08A423D0E78B}" type="sibTrans" cxnId="{0947FB03-3073-4A2B-B977-ADC47AD2F735}">
      <dgm:prSet/>
      <dgm:spPr/>
      <dgm:t>
        <a:bodyPr/>
        <a:lstStyle/>
        <a:p>
          <a:endParaRPr lang="nl-NL"/>
        </a:p>
      </dgm:t>
    </dgm:pt>
    <dgm:pt modelId="{EC83A5AC-80EE-4D47-9272-8D6B96A3118C}">
      <dgm:prSet phldrT="[Tekst]"/>
      <dgm:spPr>
        <a:solidFill>
          <a:srgbClr val="21BBEF"/>
        </a:solidFill>
      </dgm:spPr>
      <dgm:t>
        <a:bodyPr/>
        <a:lstStyle/>
        <a:p>
          <a:r>
            <a:rPr lang="nl-NL"/>
            <a:t>IVVU</a:t>
          </a:r>
        </a:p>
      </dgm:t>
    </dgm:pt>
    <dgm:pt modelId="{586368D8-1F13-400E-8537-A7800B99C429}" type="sibTrans" cxnId="{2B71545F-CA51-443E-8B12-53D9EAE16215}">
      <dgm:prSet/>
      <dgm:spPr>
        <a:solidFill>
          <a:srgbClr val="21BBEF"/>
        </a:solidFill>
      </dgm:spPr>
      <dgm:t>
        <a:bodyPr/>
        <a:lstStyle/>
        <a:p>
          <a:endParaRPr lang="nl-NL"/>
        </a:p>
      </dgm:t>
    </dgm:pt>
    <dgm:pt modelId="{C4DA8326-44E0-46F1-B1CB-8C050BD27CB9}" type="parTrans" cxnId="{2B71545F-CA51-443E-8B12-53D9EAE16215}">
      <dgm:prSet/>
      <dgm:spPr/>
      <dgm:t>
        <a:bodyPr/>
        <a:lstStyle/>
        <a:p>
          <a:endParaRPr lang="nl-NL"/>
        </a:p>
      </dgm:t>
    </dgm:pt>
    <dgm:pt modelId="{940A4184-6AF6-45C0-ABBA-AC8508ABF6C1}" type="pres">
      <dgm:prSet presAssocID="{1B22B669-A2EE-453A-B5BD-0E06C7ED308D}" presName="Name0" presStyleCnt="0">
        <dgm:presLayoutVars>
          <dgm:chMax/>
          <dgm:chPref/>
          <dgm:dir/>
          <dgm:animLvl val="lvl"/>
        </dgm:presLayoutVars>
      </dgm:prSet>
      <dgm:spPr/>
    </dgm:pt>
    <dgm:pt modelId="{BBFD7852-07AC-463C-A6E4-AF2E025D2B0F}" type="pres">
      <dgm:prSet presAssocID="{EC83A5AC-80EE-4D47-9272-8D6B96A3118C}" presName="composite" presStyleCnt="0"/>
      <dgm:spPr/>
    </dgm:pt>
    <dgm:pt modelId="{66A036B9-7FC5-42B2-AFEC-1CE4D6D81FF8}" type="pres">
      <dgm:prSet presAssocID="{EC83A5AC-80EE-4D47-9272-8D6B96A3118C}" presName="Parent1" presStyleLbl="node1" presStyleIdx="0" presStyleCnt="12">
        <dgm:presLayoutVars>
          <dgm:chMax val="1"/>
          <dgm:chPref val="1"/>
          <dgm:bulletEnabled val="1"/>
        </dgm:presLayoutVars>
      </dgm:prSet>
      <dgm:spPr/>
    </dgm:pt>
    <dgm:pt modelId="{78870A65-939E-4A45-840D-731A3D575504}" type="pres">
      <dgm:prSet presAssocID="{EC83A5AC-80EE-4D47-9272-8D6B96A3118C}" presName="Childtext1" presStyleLbl="revTx" presStyleIdx="0" presStyleCnt="6">
        <dgm:presLayoutVars>
          <dgm:chMax val="0"/>
          <dgm:chPref val="0"/>
          <dgm:bulletEnabled val="1"/>
        </dgm:presLayoutVars>
      </dgm:prSet>
      <dgm:spPr/>
    </dgm:pt>
    <dgm:pt modelId="{42C71729-E386-4290-8BCF-94561EC0A5C2}" type="pres">
      <dgm:prSet presAssocID="{EC83A5AC-80EE-4D47-9272-8D6B96A3118C}" presName="BalanceSpacing" presStyleCnt="0"/>
      <dgm:spPr/>
    </dgm:pt>
    <dgm:pt modelId="{6D65416F-5A3F-4D76-8B94-051BAF3FEFF4}" type="pres">
      <dgm:prSet presAssocID="{EC83A5AC-80EE-4D47-9272-8D6B96A3118C}" presName="BalanceSpacing1" presStyleCnt="0"/>
      <dgm:spPr/>
    </dgm:pt>
    <dgm:pt modelId="{F00C8EBA-BFEE-4114-A386-2758999A0D37}" type="pres">
      <dgm:prSet presAssocID="{586368D8-1F13-400E-8537-A7800B99C429}" presName="Accent1Text" presStyleLbl="node1" presStyleIdx="1" presStyleCnt="12"/>
      <dgm:spPr/>
    </dgm:pt>
    <dgm:pt modelId="{E975D350-3C79-4420-9F56-F8E7F347E60C}" type="pres">
      <dgm:prSet presAssocID="{586368D8-1F13-400E-8537-A7800B99C429}" presName="spaceBetweenRectangles" presStyleCnt="0"/>
      <dgm:spPr/>
    </dgm:pt>
    <dgm:pt modelId="{82BEC239-7A67-4AB8-95CE-2BA8EB39F130}" type="pres">
      <dgm:prSet presAssocID="{2510EFD8-9F6E-4126-8E25-CA7B00ABED64}" presName="composite" presStyleCnt="0"/>
      <dgm:spPr/>
    </dgm:pt>
    <dgm:pt modelId="{52E5982B-6E90-4842-9F4C-9B7304CAF959}" type="pres">
      <dgm:prSet presAssocID="{2510EFD8-9F6E-4126-8E25-CA7B00ABED64}" presName="Parent1" presStyleLbl="node1" presStyleIdx="2" presStyleCnt="12">
        <dgm:presLayoutVars>
          <dgm:chMax val="1"/>
          <dgm:chPref val="1"/>
          <dgm:bulletEnabled val="1"/>
        </dgm:presLayoutVars>
      </dgm:prSet>
      <dgm:spPr/>
    </dgm:pt>
    <dgm:pt modelId="{BF071F5C-4972-4B5D-97C3-A70D473DE3E7}" type="pres">
      <dgm:prSet presAssocID="{2510EFD8-9F6E-4126-8E25-CA7B00ABED64}" presName="Childtext1" presStyleLbl="revTx" presStyleIdx="1" presStyleCnt="6">
        <dgm:presLayoutVars>
          <dgm:chMax val="0"/>
          <dgm:chPref val="0"/>
          <dgm:bulletEnabled val="1"/>
        </dgm:presLayoutVars>
      </dgm:prSet>
      <dgm:spPr/>
    </dgm:pt>
    <dgm:pt modelId="{5686E0A5-1F2E-4AC9-AC37-9F463C1F7CFF}" type="pres">
      <dgm:prSet presAssocID="{2510EFD8-9F6E-4126-8E25-CA7B00ABED64}" presName="BalanceSpacing" presStyleCnt="0"/>
      <dgm:spPr/>
    </dgm:pt>
    <dgm:pt modelId="{4CCA8120-29D9-4921-867B-D17AC665D416}" type="pres">
      <dgm:prSet presAssocID="{2510EFD8-9F6E-4126-8E25-CA7B00ABED64}" presName="BalanceSpacing1" presStyleCnt="0"/>
      <dgm:spPr/>
    </dgm:pt>
    <dgm:pt modelId="{3C46A291-8135-4831-8DFF-A978EAC8A270}" type="pres">
      <dgm:prSet presAssocID="{7F6877CA-D323-4606-BBAC-3CAAC1D0F2C8}" presName="Accent1Text" presStyleLbl="node1" presStyleIdx="3" presStyleCnt="12"/>
      <dgm:spPr/>
    </dgm:pt>
    <dgm:pt modelId="{08F3A4CD-9809-43A7-82EB-394ED64D3B0E}" type="pres">
      <dgm:prSet presAssocID="{7F6877CA-D323-4606-BBAC-3CAAC1D0F2C8}" presName="spaceBetweenRectangles" presStyleCnt="0"/>
      <dgm:spPr/>
    </dgm:pt>
    <dgm:pt modelId="{A303D391-619A-479A-B6BA-B028105A89FD}" type="pres">
      <dgm:prSet presAssocID="{56BFE3C6-F632-40EB-B956-4D728E9B35CF}" presName="composite" presStyleCnt="0"/>
      <dgm:spPr/>
    </dgm:pt>
    <dgm:pt modelId="{59F2EEBC-56EC-4BF2-A6B7-84AE408F4798}" type="pres">
      <dgm:prSet presAssocID="{56BFE3C6-F632-40EB-B956-4D728E9B35CF}" presName="Parent1" presStyleLbl="node1" presStyleIdx="4" presStyleCnt="12">
        <dgm:presLayoutVars>
          <dgm:chMax val="1"/>
          <dgm:chPref val="1"/>
          <dgm:bulletEnabled val="1"/>
        </dgm:presLayoutVars>
      </dgm:prSet>
      <dgm:spPr/>
    </dgm:pt>
    <dgm:pt modelId="{AF5CC47E-47B4-4CEA-9F6E-B3EB25516A59}" type="pres">
      <dgm:prSet presAssocID="{56BFE3C6-F632-40EB-B956-4D728E9B35CF}" presName="Childtext1" presStyleLbl="revTx" presStyleIdx="2" presStyleCnt="6">
        <dgm:presLayoutVars>
          <dgm:chMax val="0"/>
          <dgm:chPref val="0"/>
          <dgm:bulletEnabled val="1"/>
        </dgm:presLayoutVars>
      </dgm:prSet>
      <dgm:spPr/>
    </dgm:pt>
    <dgm:pt modelId="{B9DB76BC-2B9C-441A-AED4-83597C99B7EE}" type="pres">
      <dgm:prSet presAssocID="{56BFE3C6-F632-40EB-B956-4D728E9B35CF}" presName="BalanceSpacing" presStyleCnt="0"/>
      <dgm:spPr/>
    </dgm:pt>
    <dgm:pt modelId="{E31E9FF9-F9BD-402B-AAA5-A4E372DCF27B}" type="pres">
      <dgm:prSet presAssocID="{56BFE3C6-F632-40EB-B956-4D728E9B35CF}" presName="BalanceSpacing1" presStyleCnt="0"/>
      <dgm:spPr/>
    </dgm:pt>
    <dgm:pt modelId="{550B30A8-57EC-40DE-9E24-749AD9C74F15}" type="pres">
      <dgm:prSet presAssocID="{39D2F902-A6D1-4F0A-86E2-A7962BF24EEB}" presName="Accent1Text" presStyleLbl="node1" presStyleIdx="5" presStyleCnt="12"/>
      <dgm:spPr/>
    </dgm:pt>
    <dgm:pt modelId="{FB93E8D5-E62B-442A-B963-6E579751D2B0}" type="pres">
      <dgm:prSet presAssocID="{39D2F902-A6D1-4F0A-86E2-A7962BF24EEB}" presName="spaceBetweenRectangles" presStyleCnt="0"/>
      <dgm:spPr/>
    </dgm:pt>
    <dgm:pt modelId="{46F813EA-175A-404A-9BCB-5D551D8F199C}" type="pres">
      <dgm:prSet presAssocID="{47238700-3CA5-4FDE-B38C-D95289FE6BF2}" presName="composite" presStyleCnt="0"/>
      <dgm:spPr/>
    </dgm:pt>
    <dgm:pt modelId="{F919B708-7DB9-4F35-8D32-05F5D4DBADD7}" type="pres">
      <dgm:prSet presAssocID="{47238700-3CA5-4FDE-B38C-D95289FE6BF2}" presName="Parent1" presStyleLbl="node1" presStyleIdx="6" presStyleCnt="12">
        <dgm:presLayoutVars>
          <dgm:chMax val="1"/>
          <dgm:chPref val="1"/>
          <dgm:bulletEnabled val="1"/>
        </dgm:presLayoutVars>
      </dgm:prSet>
      <dgm:spPr/>
    </dgm:pt>
    <dgm:pt modelId="{DC424BA0-58A0-438C-8C6D-C4CA499A750E}" type="pres">
      <dgm:prSet presAssocID="{47238700-3CA5-4FDE-B38C-D95289FE6BF2}" presName="Childtext1" presStyleLbl="revTx" presStyleIdx="3" presStyleCnt="6">
        <dgm:presLayoutVars>
          <dgm:chMax val="0"/>
          <dgm:chPref val="0"/>
          <dgm:bulletEnabled val="1"/>
        </dgm:presLayoutVars>
      </dgm:prSet>
      <dgm:spPr/>
    </dgm:pt>
    <dgm:pt modelId="{F1C478B0-A8E5-491B-9B5B-71EDDF92F943}" type="pres">
      <dgm:prSet presAssocID="{47238700-3CA5-4FDE-B38C-D95289FE6BF2}" presName="BalanceSpacing" presStyleCnt="0"/>
      <dgm:spPr/>
    </dgm:pt>
    <dgm:pt modelId="{FFCC4E48-148C-42EA-ABE2-CE991CF0BB76}" type="pres">
      <dgm:prSet presAssocID="{47238700-3CA5-4FDE-B38C-D95289FE6BF2}" presName="BalanceSpacing1" presStyleCnt="0"/>
      <dgm:spPr/>
    </dgm:pt>
    <dgm:pt modelId="{F5572AD1-EBF9-48AA-835C-9C9008F7512E}" type="pres">
      <dgm:prSet presAssocID="{1291F49F-1EB9-4B4A-89D1-B69BCBEFA651}" presName="Accent1Text" presStyleLbl="node1" presStyleIdx="7" presStyleCnt="12"/>
      <dgm:spPr/>
    </dgm:pt>
    <dgm:pt modelId="{16BADEF2-82E0-4973-A6A5-96BFD87B5C75}" type="pres">
      <dgm:prSet presAssocID="{1291F49F-1EB9-4B4A-89D1-B69BCBEFA651}" presName="spaceBetweenRectangles" presStyleCnt="0"/>
      <dgm:spPr/>
    </dgm:pt>
    <dgm:pt modelId="{9E8DA827-DB59-4F5C-8292-D828D3CA00A9}" type="pres">
      <dgm:prSet presAssocID="{B474ED42-CF0F-407F-A13B-72E49CDF2596}" presName="composite" presStyleCnt="0"/>
      <dgm:spPr/>
    </dgm:pt>
    <dgm:pt modelId="{06ECEF4B-F425-46F9-9B4C-F5A42540D2D1}" type="pres">
      <dgm:prSet presAssocID="{B474ED42-CF0F-407F-A13B-72E49CDF2596}" presName="Parent1" presStyleLbl="node1" presStyleIdx="8" presStyleCnt="12">
        <dgm:presLayoutVars>
          <dgm:chMax val="1"/>
          <dgm:chPref val="1"/>
          <dgm:bulletEnabled val="1"/>
        </dgm:presLayoutVars>
      </dgm:prSet>
      <dgm:spPr/>
    </dgm:pt>
    <dgm:pt modelId="{889B8383-CEF4-4175-A4DD-DA711DB6DED8}" type="pres">
      <dgm:prSet presAssocID="{B474ED42-CF0F-407F-A13B-72E49CDF2596}" presName="Childtext1" presStyleLbl="revTx" presStyleIdx="4" presStyleCnt="6" custLinFactY="-262115" custLinFactNeighborX="498" custLinFactNeighborY="-300000">
        <dgm:presLayoutVars>
          <dgm:chMax val="0"/>
          <dgm:chPref val="0"/>
          <dgm:bulletEnabled val="1"/>
        </dgm:presLayoutVars>
      </dgm:prSet>
      <dgm:spPr/>
    </dgm:pt>
    <dgm:pt modelId="{D0A5B5A2-1CFD-4F79-8544-91D986B2F666}" type="pres">
      <dgm:prSet presAssocID="{B474ED42-CF0F-407F-A13B-72E49CDF2596}" presName="BalanceSpacing" presStyleCnt="0"/>
      <dgm:spPr/>
    </dgm:pt>
    <dgm:pt modelId="{8C73E36F-7FC3-4BB7-8D5A-827F454B6B75}" type="pres">
      <dgm:prSet presAssocID="{B474ED42-CF0F-407F-A13B-72E49CDF2596}" presName="BalanceSpacing1" presStyleCnt="0"/>
      <dgm:spPr/>
    </dgm:pt>
    <dgm:pt modelId="{0565CDD6-664D-4AAF-A321-14F8972C1B19}" type="pres">
      <dgm:prSet presAssocID="{645C0DFD-B4ED-470D-9CDD-5E7F1B08E012}" presName="Accent1Text" presStyleLbl="node1" presStyleIdx="9" presStyleCnt="12"/>
      <dgm:spPr/>
    </dgm:pt>
    <dgm:pt modelId="{B82AA3F9-B48E-4686-B052-E16EDF3E4807}" type="pres">
      <dgm:prSet presAssocID="{645C0DFD-B4ED-470D-9CDD-5E7F1B08E012}" presName="spaceBetweenRectangles" presStyleCnt="0"/>
      <dgm:spPr/>
    </dgm:pt>
    <dgm:pt modelId="{6EF74F6B-0165-4B57-9E76-57F9FFD64DB7}" type="pres">
      <dgm:prSet presAssocID="{3F36539F-6FB9-4882-B419-8DF4869FA92B}" presName="composite" presStyleCnt="0"/>
      <dgm:spPr/>
    </dgm:pt>
    <dgm:pt modelId="{E35439CB-B7B7-44E7-B252-3592D3A0CB15}" type="pres">
      <dgm:prSet presAssocID="{3F36539F-6FB9-4882-B419-8DF4869FA92B}" presName="Parent1" presStyleLbl="node1" presStyleIdx="10" presStyleCnt="12">
        <dgm:presLayoutVars>
          <dgm:chMax val="1"/>
          <dgm:chPref val="1"/>
          <dgm:bulletEnabled val="1"/>
        </dgm:presLayoutVars>
      </dgm:prSet>
      <dgm:spPr/>
    </dgm:pt>
    <dgm:pt modelId="{411703B7-CAF8-444F-8C86-AAA879AB6C70}" type="pres">
      <dgm:prSet presAssocID="{3F36539F-6FB9-4882-B419-8DF4869FA92B}" presName="Childtext1" presStyleLbl="revTx" presStyleIdx="5" presStyleCnt="6">
        <dgm:presLayoutVars>
          <dgm:chMax val="0"/>
          <dgm:chPref val="0"/>
          <dgm:bulletEnabled val="1"/>
        </dgm:presLayoutVars>
      </dgm:prSet>
      <dgm:spPr/>
    </dgm:pt>
    <dgm:pt modelId="{5317D110-F4A8-48E4-8296-71CEC849C79D}" type="pres">
      <dgm:prSet presAssocID="{3F36539F-6FB9-4882-B419-8DF4869FA92B}" presName="BalanceSpacing" presStyleCnt="0"/>
      <dgm:spPr/>
    </dgm:pt>
    <dgm:pt modelId="{4329C164-6FC8-489D-9F8C-E94179F6E987}" type="pres">
      <dgm:prSet presAssocID="{3F36539F-6FB9-4882-B419-8DF4869FA92B}" presName="BalanceSpacing1" presStyleCnt="0"/>
      <dgm:spPr/>
    </dgm:pt>
    <dgm:pt modelId="{D02303CA-3EE8-44EA-8734-27B48D251E08}" type="pres">
      <dgm:prSet presAssocID="{DE40D179-D3CD-474A-9DC1-0CA93F15AADF}" presName="Accent1Text" presStyleLbl="node1" presStyleIdx="11" presStyleCnt="12"/>
      <dgm:spPr/>
    </dgm:pt>
  </dgm:ptLst>
  <dgm:cxnLst>
    <dgm:cxn modelId="{0947FB03-3073-4A2B-B977-ADC47AD2F735}" srcId="{B474ED42-CF0F-407F-A13B-72E49CDF2596}" destId="{1470D904-2728-4976-9B53-45EA0EEEEF13}" srcOrd="0" destOrd="0" parTransId="{FD703832-D11E-44A5-87D4-E13DE2DC4C55}" sibTransId="{EBF43F2D-7B21-493D-8E9F-08A423D0E78B}"/>
    <dgm:cxn modelId="{81CC5305-EF3D-4B7C-BBD3-B0CA88130D08}" type="presOf" srcId="{645C0DFD-B4ED-470D-9CDD-5E7F1B08E012}" destId="{0565CDD6-664D-4AAF-A321-14F8972C1B19}" srcOrd="0" destOrd="0" presId="urn:microsoft.com/office/officeart/2008/layout/AlternatingHexagons"/>
    <dgm:cxn modelId="{D2BFED18-3520-4AF8-AB74-F72637E74AD7}" type="presOf" srcId="{6243FA1E-54FD-41AA-B953-F66F4A50D901}" destId="{78870A65-939E-4A45-840D-731A3D575504}" srcOrd="0" destOrd="0" presId="urn:microsoft.com/office/officeart/2008/layout/AlternatingHexagons"/>
    <dgm:cxn modelId="{DABD7519-82CA-4B6C-87D7-E40680135E2D}" type="presOf" srcId="{EC83A5AC-80EE-4D47-9272-8D6B96A3118C}" destId="{66A036B9-7FC5-42B2-AFEC-1CE4D6D81FF8}" srcOrd="0" destOrd="0" presId="urn:microsoft.com/office/officeart/2008/layout/AlternatingHexagons"/>
    <dgm:cxn modelId="{F715F51F-7D50-44CD-AEC9-56B91AECD095}" type="presOf" srcId="{56BFE3C6-F632-40EB-B956-4D728E9B35CF}" destId="{59F2EEBC-56EC-4BF2-A6B7-84AE408F4798}" srcOrd="0" destOrd="0" presId="urn:microsoft.com/office/officeart/2008/layout/AlternatingHexagons"/>
    <dgm:cxn modelId="{158FA923-4A41-460B-A40F-41F7675933E8}" type="presOf" srcId="{3F36539F-6FB9-4882-B419-8DF4869FA92B}" destId="{E35439CB-B7B7-44E7-B252-3592D3A0CB15}" srcOrd="0" destOrd="0" presId="urn:microsoft.com/office/officeart/2008/layout/AlternatingHexagons"/>
    <dgm:cxn modelId="{326DFA2E-2DB7-47C3-8CF7-36CFB776856A}" type="presOf" srcId="{7F6877CA-D323-4606-BBAC-3CAAC1D0F2C8}" destId="{3C46A291-8135-4831-8DFF-A978EAC8A270}" srcOrd="0" destOrd="0" presId="urn:microsoft.com/office/officeart/2008/layout/AlternatingHexagons"/>
    <dgm:cxn modelId="{A8120A2F-208C-4B32-9B9D-119A83E89843}" type="presOf" srcId="{47238700-3CA5-4FDE-B38C-D95289FE6BF2}" destId="{F919B708-7DB9-4F35-8D32-05F5D4DBADD7}" srcOrd="0" destOrd="0" presId="urn:microsoft.com/office/officeart/2008/layout/AlternatingHexagons"/>
    <dgm:cxn modelId="{1952EA2F-B94A-447B-A27C-E2E5D881B17C}" srcId="{2510EFD8-9F6E-4126-8E25-CA7B00ABED64}" destId="{27F0A43F-6D4E-4FF2-803A-1EC2C4C86658}" srcOrd="0" destOrd="0" parTransId="{9CB5AAE4-4CBC-41FB-A880-5E488B235237}" sibTransId="{CFD931A2-5274-4836-A121-9CD6E65524DA}"/>
    <dgm:cxn modelId="{D589C331-734B-4963-BD25-50A0D36C3E83}" srcId="{EC83A5AC-80EE-4D47-9272-8D6B96A3118C}" destId="{6243FA1E-54FD-41AA-B953-F66F4A50D901}" srcOrd="0" destOrd="0" parTransId="{191218C0-B6C9-472E-A175-6BB8FCEF2E01}" sibTransId="{943463DA-CF50-49BD-9D55-D608D23026F5}"/>
    <dgm:cxn modelId="{1CD78A36-0A0E-4E9B-B24F-D7B3F8064F2B}" type="presOf" srcId="{1B22B669-A2EE-453A-B5BD-0E06C7ED308D}" destId="{940A4184-6AF6-45C0-ABBA-AC8508ABF6C1}" srcOrd="0" destOrd="0" presId="urn:microsoft.com/office/officeart/2008/layout/AlternatingHexagons"/>
    <dgm:cxn modelId="{5649133E-C4E5-4B1E-88A4-EC218DE4CD32}" srcId="{1B22B669-A2EE-453A-B5BD-0E06C7ED308D}" destId="{2510EFD8-9F6E-4126-8E25-CA7B00ABED64}" srcOrd="1" destOrd="0" parTransId="{DFF25E9D-AEA0-49DD-BE06-B2C3063E04BD}" sibTransId="{7F6877CA-D323-4606-BBAC-3CAAC1D0F2C8}"/>
    <dgm:cxn modelId="{D5BD793F-12BE-4318-88CC-03EB36DCEF66}" type="presOf" srcId="{39D2F902-A6D1-4F0A-86E2-A7962BF24EEB}" destId="{550B30A8-57EC-40DE-9E24-749AD9C74F15}" srcOrd="0" destOrd="0" presId="urn:microsoft.com/office/officeart/2008/layout/AlternatingHexagons"/>
    <dgm:cxn modelId="{50B0815B-1D39-472B-8F34-63E27D417A0B}" srcId="{1B22B669-A2EE-453A-B5BD-0E06C7ED308D}" destId="{3F36539F-6FB9-4882-B419-8DF4869FA92B}" srcOrd="5" destOrd="0" parTransId="{463A19DA-32FD-4511-A7B1-A2BEC0241E04}" sibTransId="{DE40D179-D3CD-474A-9DC1-0CA93F15AADF}"/>
    <dgm:cxn modelId="{2705A95C-08CC-42D0-BC09-9BBEBDA94AF4}" type="presOf" srcId="{DE40D179-D3CD-474A-9DC1-0CA93F15AADF}" destId="{D02303CA-3EE8-44EA-8734-27B48D251E08}" srcOrd="0" destOrd="0" presId="urn:microsoft.com/office/officeart/2008/layout/AlternatingHexagons"/>
    <dgm:cxn modelId="{2B71545F-CA51-443E-8B12-53D9EAE16215}" srcId="{1B22B669-A2EE-453A-B5BD-0E06C7ED308D}" destId="{EC83A5AC-80EE-4D47-9272-8D6B96A3118C}" srcOrd="0" destOrd="0" parTransId="{C4DA8326-44E0-46F1-B1CB-8C050BD27CB9}" sibTransId="{586368D8-1F13-400E-8537-A7800B99C429}"/>
    <dgm:cxn modelId="{2CF1F46D-6696-46C0-AF0E-D3AFC857001A}" srcId="{3F36539F-6FB9-4882-B419-8DF4869FA92B}" destId="{D50B076D-21F9-49C8-9398-816A942614B2}" srcOrd="0" destOrd="0" parTransId="{F945D5AC-EF5C-4E74-9AE9-E7C2874BF083}" sibTransId="{D044C9AD-A6DD-426A-96CF-C34B4E0152A2}"/>
    <dgm:cxn modelId="{828A4776-682E-41D8-B4C1-04853FB88C6E}" srcId="{1B22B669-A2EE-453A-B5BD-0E06C7ED308D}" destId="{56BFE3C6-F632-40EB-B956-4D728E9B35CF}" srcOrd="2" destOrd="0" parTransId="{A5C70450-8689-484F-AC99-3EBEE7C3363B}" sibTransId="{39D2F902-A6D1-4F0A-86E2-A7962BF24EEB}"/>
    <dgm:cxn modelId="{BCD831A1-44B9-4168-AF30-7AABAB4BF400}" srcId="{1B22B669-A2EE-453A-B5BD-0E06C7ED308D}" destId="{47238700-3CA5-4FDE-B38C-D95289FE6BF2}" srcOrd="3" destOrd="0" parTransId="{3B7C8E45-1E16-4C58-AF97-AAB59AD0FD6B}" sibTransId="{1291F49F-1EB9-4B4A-89D1-B69BCBEFA651}"/>
    <dgm:cxn modelId="{CBC1FFB3-2A0E-4EB6-9B94-7AB803BE423F}" srcId="{56BFE3C6-F632-40EB-B956-4D728E9B35CF}" destId="{C47777E9-9836-406C-9F62-A3D6684A7A23}" srcOrd="0" destOrd="0" parTransId="{77EF488C-DBFE-4A36-8D54-326C897687D4}" sibTransId="{92A25F63-C976-4B6E-916B-595324863EEF}"/>
    <dgm:cxn modelId="{DE153BBB-9B9C-4C8B-8267-07D9845221AE}" type="presOf" srcId="{1291F49F-1EB9-4B4A-89D1-B69BCBEFA651}" destId="{F5572AD1-EBF9-48AA-835C-9C9008F7512E}" srcOrd="0" destOrd="0" presId="urn:microsoft.com/office/officeart/2008/layout/AlternatingHexagons"/>
    <dgm:cxn modelId="{D04759CA-933D-42C6-8D78-748ECAD95AA8}" srcId="{1B22B669-A2EE-453A-B5BD-0E06C7ED308D}" destId="{B474ED42-CF0F-407F-A13B-72E49CDF2596}" srcOrd="4" destOrd="0" parTransId="{CEBE40E6-AE3E-4D74-9E5B-F43160FCF2A0}" sibTransId="{645C0DFD-B4ED-470D-9CDD-5E7F1B08E012}"/>
    <dgm:cxn modelId="{5FF54DCD-2C67-4559-820B-BC7B914E2794}" type="presOf" srcId="{2510EFD8-9F6E-4126-8E25-CA7B00ABED64}" destId="{52E5982B-6E90-4842-9F4C-9B7304CAF959}" srcOrd="0" destOrd="0" presId="urn:microsoft.com/office/officeart/2008/layout/AlternatingHexagons"/>
    <dgm:cxn modelId="{BB1BCAD1-C38E-443A-944D-40957866C1D9}" srcId="{47238700-3CA5-4FDE-B38C-D95289FE6BF2}" destId="{B87A938B-B529-41A8-8195-F0AD624456E9}" srcOrd="0" destOrd="0" parTransId="{9D2C05A9-DC65-48F0-A7AC-F5E11945ADE7}" sibTransId="{9C2E2F1D-1822-4EB0-AF25-2EFA37C52FCA}"/>
    <dgm:cxn modelId="{AA618DD8-B71C-4EE9-B432-3B04E859CD82}" type="presOf" srcId="{B474ED42-CF0F-407F-A13B-72E49CDF2596}" destId="{06ECEF4B-F425-46F9-9B4C-F5A42540D2D1}" srcOrd="0" destOrd="0" presId="urn:microsoft.com/office/officeart/2008/layout/AlternatingHexagons"/>
    <dgm:cxn modelId="{A984BDE5-8373-4F53-8FDA-5FB4A207D3B8}" type="presOf" srcId="{1470D904-2728-4976-9B53-45EA0EEEEF13}" destId="{889B8383-CEF4-4175-A4DD-DA711DB6DED8}" srcOrd="0" destOrd="0" presId="urn:microsoft.com/office/officeart/2008/layout/AlternatingHexagons"/>
    <dgm:cxn modelId="{AE4146E6-FE41-4EFB-B29B-FE59448C9CAE}" type="presOf" srcId="{D50B076D-21F9-49C8-9398-816A942614B2}" destId="{411703B7-CAF8-444F-8C86-AAA879AB6C70}" srcOrd="0" destOrd="0" presId="urn:microsoft.com/office/officeart/2008/layout/AlternatingHexagons"/>
    <dgm:cxn modelId="{F4DF5AE6-284B-4991-BA7C-92EFEC264006}" type="presOf" srcId="{B87A938B-B529-41A8-8195-F0AD624456E9}" destId="{DC424BA0-58A0-438C-8C6D-C4CA499A750E}" srcOrd="0" destOrd="0" presId="urn:microsoft.com/office/officeart/2008/layout/AlternatingHexagons"/>
    <dgm:cxn modelId="{E8C5E1E6-1C7B-4188-9A7B-64FE36A3D2A2}" type="presOf" srcId="{586368D8-1F13-400E-8537-A7800B99C429}" destId="{F00C8EBA-BFEE-4114-A386-2758999A0D37}" srcOrd="0" destOrd="0" presId="urn:microsoft.com/office/officeart/2008/layout/AlternatingHexagons"/>
    <dgm:cxn modelId="{82A9B5EF-B891-4647-A6E1-8A6946740276}" type="presOf" srcId="{C47777E9-9836-406C-9F62-A3D6684A7A23}" destId="{AF5CC47E-47B4-4CEA-9F6E-B3EB25516A59}" srcOrd="0" destOrd="0" presId="urn:microsoft.com/office/officeart/2008/layout/AlternatingHexagons"/>
    <dgm:cxn modelId="{4A8117F4-2D34-408D-A842-636D0CFA212C}" type="presOf" srcId="{27F0A43F-6D4E-4FF2-803A-1EC2C4C86658}" destId="{BF071F5C-4972-4B5D-97C3-A70D473DE3E7}" srcOrd="0" destOrd="0" presId="urn:microsoft.com/office/officeart/2008/layout/AlternatingHexagons"/>
    <dgm:cxn modelId="{B0497A27-B83A-475A-B304-6CD82DFC4043}" type="presParOf" srcId="{940A4184-6AF6-45C0-ABBA-AC8508ABF6C1}" destId="{BBFD7852-07AC-463C-A6E4-AF2E025D2B0F}" srcOrd="0" destOrd="0" presId="urn:microsoft.com/office/officeart/2008/layout/AlternatingHexagons"/>
    <dgm:cxn modelId="{48CFC31E-2B3B-46F7-B230-012D04CB189B}" type="presParOf" srcId="{BBFD7852-07AC-463C-A6E4-AF2E025D2B0F}" destId="{66A036B9-7FC5-42B2-AFEC-1CE4D6D81FF8}" srcOrd="0" destOrd="0" presId="urn:microsoft.com/office/officeart/2008/layout/AlternatingHexagons"/>
    <dgm:cxn modelId="{D5ACCFD6-824C-4A08-9490-AB277FF990D8}" type="presParOf" srcId="{BBFD7852-07AC-463C-A6E4-AF2E025D2B0F}" destId="{78870A65-939E-4A45-840D-731A3D575504}" srcOrd="1" destOrd="0" presId="urn:microsoft.com/office/officeart/2008/layout/AlternatingHexagons"/>
    <dgm:cxn modelId="{F779CA9E-0552-4744-AA40-AC1A90EA16D6}" type="presParOf" srcId="{BBFD7852-07AC-463C-A6E4-AF2E025D2B0F}" destId="{42C71729-E386-4290-8BCF-94561EC0A5C2}" srcOrd="2" destOrd="0" presId="urn:microsoft.com/office/officeart/2008/layout/AlternatingHexagons"/>
    <dgm:cxn modelId="{3B3CBC9C-4FC0-4020-A33E-98DE3C46A2C9}" type="presParOf" srcId="{BBFD7852-07AC-463C-A6E4-AF2E025D2B0F}" destId="{6D65416F-5A3F-4D76-8B94-051BAF3FEFF4}" srcOrd="3" destOrd="0" presId="urn:microsoft.com/office/officeart/2008/layout/AlternatingHexagons"/>
    <dgm:cxn modelId="{C3E3A38A-1E37-4E78-86A7-4E0C6A9143B7}" type="presParOf" srcId="{BBFD7852-07AC-463C-A6E4-AF2E025D2B0F}" destId="{F00C8EBA-BFEE-4114-A386-2758999A0D37}" srcOrd="4" destOrd="0" presId="urn:microsoft.com/office/officeart/2008/layout/AlternatingHexagons"/>
    <dgm:cxn modelId="{2C01492A-453F-4592-A4AC-8D14690C638A}" type="presParOf" srcId="{940A4184-6AF6-45C0-ABBA-AC8508ABF6C1}" destId="{E975D350-3C79-4420-9F56-F8E7F347E60C}" srcOrd="1" destOrd="0" presId="urn:microsoft.com/office/officeart/2008/layout/AlternatingHexagons"/>
    <dgm:cxn modelId="{BC9280C0-28A7-40A0-86FE-DC4EC7B6E9E4}" type="presParOf" srcId="{940A4184-6AF6-45C0-ABBA-AC8508ABF6C1}" destId="{82BEC239-7A67-4AB8-95CE-2BA8EB39F130}" srcOrd="2" destOrd="0" presId="urn:microsoft.com/office/officeart/2008/layout/AlternatingHexagons"/>
    <dgm:cxn modelId="{DFA1A7C3-25F5-4DFE-BCBC-4CB62EA5A1FD}" type="presParOf" srcId="{82BEC239-7A67-4AB8-95CE-2BA8EB39F130}" destId="{52E5982B-6E90-4842-9F4C-9B7304CAF959}" srcOrd="0" destOrd="0" presId="urn:microsoft.com/office/officeart/2008/layout/AlternatingHexagons"/>
    <dgm:cxn modelId="{9819D506-802D-40A5-AE38-7A381209331D}" type="presParOf" srcId="{82BEC239-7A67-4AB8-95CE-2BA8EB39F130}" destId="{BF071F5C-4972-4B5D-97C3-A70D473DE3E7}" srcOrd="1" destOrd="0" presId="urn:microsoft.com/office/officeart/2008/layout/AlternatingHexagons"/>
    <dgm:cxn modelId="{59C5B450-8A98-4FD2-94DF-831091092D98}" type="presParOf" srcId="{82BEC239-7A67-4AB8-95CE-2BA8EB39F130}" destId="{5686E0A5-1F2E-4AC9-AC37-9F463C1F7CFF}" srcOrd="2" destOrd="0" presId="urn:microsoft.com/office/officeart/2008/layout/AlternatingHexagons"/>
    <dgm:cxn modelId="{E83ED4C2-B509-4DD8-9107-690D1538B34D}" type="presParOf" srcId="{82BEC239-7A67-4AB8-95CE-2BA8EB39F130}" destId="{4CCA8120-29D9-4921-867B-D17AC665D416}" srcOrd="3" destOrd="0" presId="urn:microsoft.com/office/officeart/2008/layout/AlternatingHexagons"/>
    <dgm:cxn modelId="{5016C941-60BE-4363-B9A5-9BF9A3A4D7B2}" type="presParOf" srcId="{82BEC239-7A67-4AB8-95CE-2BA8EB39F130}" destId="{3C46A291-8135-4831-8DFF-A978EAC8A270}" srcOrd="4" destOrd="0" presId="urn:microsoft.com/office/officeart/2008/layout/AlternatingHexagons"/>
    <dgm:cxn modelId="{04C98CE1-3623-420C-B782-979DC897E5FB}" type="presParOf" srcId="{940A4184-6AF6-45C0-ABBA-AC8508ABF6C1}" destId="{08F3A4CD-9809-43A7-82EB-394ED64D3B0E}" srcOrd="3" destOrd="0" presId="urn:microsoft.com/office/officeart/2008/layout/AlternatingHexagons"/>
    <dgm:cxn modelId="{F71C8522-FB0B-41D4-BC22-3E5A991615A7}" type="presParOf" srcId="{940A4184-6AF6-45C0-ABBA-AC8508ABF6C1}" destId="{A303D391-619A-479A-B6BA-B028105A89FD}" srcOrd="4" destOrd="0" presId="urn:microsoft.com/office/officeart/2008/layout/AlternatingHexagons"/>
    <dgm:cxn modelId="{75B320AA-365A-4E35-8D52-97DC48707D9F}" type="presParOf" srcId="{A303D391-619A-479A-B6BA-B028105A89FD}" destId="{59F2EEBC-56EC-4BF2-A6B7-84AE408F4798}" srcOrd="0" destOrd="0" presId="urn:microsoft.com/office/officeart/2008/layout/AlternatingHexagons"/>
    <dgm:cxn modelId="{86319A89-3E62-4625-A40C-089F22937DBE}" type="presParOf" srcId="{A303D391-619A-479A-B6BA-B028105A89FD}" destId="{AF5CC47E-47B4-4CEA-9F6E-B3EB25516A59}" srcOrd="1" destOrd="0" presId="urn:microsoft.com/office/officeart/2008/layout/AlternatingHexagons"/>
    <dgm:cxn modelId="{2B15D51C-3DB4-4A84-8672-7A7E0ADFCBBF}" type="presParOf" srcId="{A303D391-619A-479A-B6BA-B028105A89FD}" destId="{B9DB76BC-2B9C-441A-AED4-83597C99B7EE}" srcOrd="2" destOrd="0" presId="urn:microsoft.com/office/officeart/2008/layout/AlternatingHexagons"/>
    <dgm:cxn modelId="{9846C3DD-34F5-42BC-BC91-B73564DCF1E6}" type="presParOf" srcId="{A303D391-619A-479A-B6BA-B028105A89FD}" destId="{E31E9FF9-F9BD-402B-AAA5-A4E372DCF27B}" srcOrd="3" destOrd="0" presId="urn:microsoft.com/office/officeart/2008/layout/AlternatingHexagons"/>
    <dgm:cxn modelId="{BE671C8F-FCF5-486F-A962-9F725FA1CC39}" type="presParOf" srcId="{A303D391-619A-479A-B6BA-B028105A89FD}" destId="{550B30A8-57EC-40DE-9E24-749AD9C74F15}" srcOrd="4" destOrd="0" presId="urn:microsoft.com/office/officeart/2008/layout/AlternatingHexagons"/>
    <dgm:cxn modelId="{6878A14D-0D3F-461B-B7D2-85402F802FF7}" type="presParOf" srcId="{940A4184-6AF6-45C0-ABBA-AC8508ABF6C1}" destId="{FB93E8D5-E62B-442A-B963-6E579751D2B0}" srcOrd="5" destOrd="0" presId="urn:microsoft.com/office/officeart/2008/layout/AlternatingHexagons"/>
    <dgm:cxn modelId="{EB7F2B7F-8EA4-4E1D-846C-E9C74B0F7A09}" type="presParOf" srcId="{940A4184-6AF6-45C0-ABBA-AC8508ABF6C1}" destId="{46F813EA-175A-404A-9BCB-5D551D8F199C}" srcOrd="6" destOrd="0" presId="urn:microsoft.com/office/officeart/2008/layout/AlternatingHexagons"/>
    <dgm:cxn modelId="{C09ED341-4DCF-49B2-884F-8DE1E31E3961}" type="presParOf" srcId="{46F813EA-175A-404A-9BCB-5D551D8F199C}" destId="{F919B708-7DB9-4F35-8D32-05F5D4DBADD7}" srcOrd="0" destOrd="0" presId="urn:microsoft.com/office/officeart/2008/layout/AlternatingHexagons"/>
    <dgm:cxn modelId="{7424DF32-20F7-4BC5-A0D7-C5354D4BD56F}" type="presParOf" srcId="{46F813EA-175A-404A-9BCB-5D551D8F199C}" destId="{DC424BA0-58A0-438C-8C6D-C4CA499A750E}" srcOrd="1" destOrd="0" presId="urn:microsoft.com/office/officeart/2008/layout/AlternatingHexagons"/>
    <dgm:cxn modelId="{E5FA90C9-1380-4323-83BC-8AFE9F447FAE}" type="presParOf" srcId="{46F813EA-175A-404A-9BCB-5D551D8F199C}" destId="{F1C478B0-A8E5-491B-9B5B-71EDDF92F943}" srcOrd="2" destOrd="0" presId="urn:microsoft.com/office/officeart/2008/layout/AlternatingHexagons"/>
    <dgm:cxn modelId="{6F655DE9-17F4-460A-9D64-16DEB61AF181}" type="presParOf" srcId="{46F813EA-175A-404A-9BCB-5D551D8F199C}" destId="{FFCC4E48-148C-42EA-ABE2-CE991CF0BB76}" srcOrd="3" destOrd="0" presId="urn:microsoft.com/office/officeart/2008/layout/AlternatingHexagons"/>
    <dgm:cxn modelId="{217117FE-2BBD-4913-A265-9BF3123D9328}" type="presParOf" srcId="{46F813EA-175A-404A-9BCB-5D551D8F199C}" destId="{F5572AD1-EBF9-48AA-835C-9C9008F7512E}" srcOrd="4" destOrd="0" presId="urn:microsoft.com/office/officeart/2008/layout/AlternatingHexagons"/>
    <dgm:cxn modelId="{701F347C-3E6F-4BB7-BFC4-6857ECEB3A82}" type="presParOf" srcId="{940A4184-6AF6-45C0-ABBA-AC8508ABF6C1}" destId="{16BADEF2-82E0-4973-A6A5-96BFD87B5C75}" srcOrd="7" destOrd="0" presId="urn:microsoft.com/office/officeart/2008/layout/AlternatingHexagons"/>
    <dgm:cxn modelId="{7B79C51D-000B-419F-96AB-286A5F23C767}" type="presParOf" srcId="{940A4184-6AF6-45C0-ABBA-AC8508ABF6C1}" destId="{9E8DA827-DB59-4F5C-8292-D828D3CA00A9}" srcOrd="8" destOrd="0" presId="urn:microsoft.com/office/officeart/2008/layout/AlternatingHexagons"/>
    <dgm:cxn modelId="{45CAD7C5-6EA9-407D-A0EF-83585EB3D584}" type="presParOf" srcId="{9E8DA827-DB59-4F5C-8292-D828D3CA00A9}" destId="{06ECEF4B-F425-46F9-9B4C-F5A42540D2D1}" srcOrd="0" destOrd="0" presId="urn:microsoft.com/office/officeart/2008/layout/AlternatingHexagons"/>
    <dgm:cxn modelId="{495B2635-35AB-4BCF-9C58-6CAAE9CE7BED}" type="presParOf" srcId="{9E8DA827-DB59-4F5C-8292-D828D3CA00A9}" destId="{889B8383-CEF4-4175-A4DD-DA711DB6DED8}" srcOrd="1" destOrd="0" presId="urn:microsoft.com/office/officeart/2008/layout/AlternatingHexagons"/>
    <dgm:cxn modelId="{F0FA8997-F26E-4577-84EF-830AC6FBB29E}" type="presParOf" srcId="{9E8DA827-DB59-4F5C-8292-D828D3CA00A9}" destId="{D0A5B5A2-1CFD-4F79-8544-91D986B2F666}" srcOrd="2" destOrd="0" presId="urn:microsoft.com/office/officeart/2008/layout/AlternatingHexagons"/>
    <dgm:cxn modelId="{188A7383-5D28-4FF0-BF73-ADBDE600600C}" type="presParOf" srcId="{9E8DA827-DB59-4F5C-8292-D828D3CA00A9}" destId="{8C73E36F-7FC3-4BB7-8D5A-827F454B6B75}" srcOrd="3" destOrd="0" presId="urn:microsoft.com/office/officeart/2008/layout/AlternatingHexagons"/>
    <dgm:cxn modelId="{B857D34A-4239-4D10-A9D5-CBF767006CDA}" type="presParOf" srcId="{9E8DA827-DB59-4F5C-8292-D828D3CA00A9}" destId="{0565CDD6-664D-4AAF-A321-14F8972C1B19}" srcOrd="4" destOrd="0" presId="urn:microsoft.com/office/officeart/2008/layout/AlternatingHexagons"/>
    <dgm:cxn modelId="{53839BFA-DA5C-447B-9E8B-78C04FF598A5}" type="presParOf" srcId="{940A4184-6AF6-45C0-ABBA-AC8508ABF6C1}" destId="{B82AA3F9-B48E-4686-B052-E16EDF3E4807}" srcOrd="9" destOrd="0" presId="urn:microsoft.com/office/officeart/2008/layout/AlternatingHexagons"/>
    <dgm:cxn modelId="{D6C64A1C-08C0-4025-92A4-B9E8174CFAFC}" type="presParOf" srcId="{940A4184-6AF6-45C0-ABBA-AC8508ABF6C1}" destId="{6EF74F6B-0165-4B57-9E76-57F9FFD64DB7}" srcOrd="10" destOrd="0" presId="urn:microsoft.com/office/officeart/2008/layout/AlternatingHexagons"/>
    <dgm:cxn modelId="{CEFED9FC-D943-4EEE-9039-B4F1A1B6C75F}" type="presParOf" srcId="{6EF74F6B-0165-4B57-9E76-57F9FFD64DB7}" destId="{E35439CB-B7B7-44E7-B252-3592D3A0CB15}" srcOrd="0" destOrd="0" presId="urn:microsoft.com/office/officeart/2008/layout/AlternatingHexagons"/>
    <dgm:cxn modelId="{03F29860-4AF6-4790-BD07-B19DECEEE4E5}" type="presParOf" srcId="{6EF74F6B-0165-4B57-9E76-57F9FFD64DB7}" destId="{411703B7-CAF8-444F-8C86-AAA879AB6C70}" srcOrd="1" destOrd="0" presId="urn:microsoft.com/office/officeart/2008/layout/AlternatingHexagons"/>
    <dgm:cxn modelId="{28F0E33F-5D5E-48FF-A223-677A1FDFD123}" type="presParOf" srcId="{6EF74F6B-0165-4B57-9E76-57F9FFD64DB7}" destId="{5317D110-F4A8-48E4-8296-71CEC849C79D}" srcOrd="2" destOrd="0" presId="urn:microsoft.com/office/officeart/2008/layout/AlternatingHexagons"/>
    <dgm:cxn modelId="{C9BD4E01-BD3A-4A60-B845-8F0DE928CDA7}" type="presParOf" srcId="{6EF74F6B-0165-4B57-9E76-57F9FFD64DB7}" destId="{4329C164-6FC8-489D-9F8C-E94179F6E987}" srcOrd="3" destOrd="0" presId="urn:microsoft.com/office/officeart/2008/layout/AlternatingHexagons"/>
    <dgm:cxn modelId="{273FB5D2-0142-4436-9A88-DFE3593B707A}" type="presParOf" srcId="{6EF74F6B-0165-4B57-9E76-57F9FFD64DB7}" destId="{D02303CA-3EE8-44EA-8734-27B48D251E08}"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A036B9-7FC5-42B2-AFEC-1CE4D6D81FF8}">
      <dsp:nvSpPr>
        <dsp:cNvPr id="0" name=""/>
        <dsp:cNvSpPr/>
      </dsp:nvSpPr>
      <dsp:spPr>
        <a:xfrm rot="5400000">
          <a:off x="3801917" y="63529"/>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nl-NL" sz="600" kern="1200"/>
            <a:t>IVVU</a:t>
          </a:r>
        </a:p>
      </dsp:txBody>
      <dsp:txXfrm rot="-5400000">
        <a:off x="3991416" y="149348"/>
        <a:ext cx="565783" cy="650324"/>
      </dsp:txXfrm>
    </dsp:sp>
    <dsp:sp modelId="{78870A65-939E-4A45-840D-731A3D575504}">
      <dsp:nvSpPr>
        <dsp:cNvPr id="0" name=""/>
        <dsp:cNvSpPr/>
      </dsp:nvSpPr>
      <dsp:spPr>
        <a:xfrm>
          <a:off x="4710231" y="191075"/>
          <a:ext cx="1054377" cy="56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l" defTabSz="266700">
            <a:lnSpc>
              <a:spcPct val="90000"/>
            </a:lnSpc>
            <a:spcBef>
              <a:spcPct val="0"/>
            </a:spcBef>
            <a:spcAft>
              <a:spcPct val="35000"/>
            </a:spcAft>
            <a:buNone/>
          </a:pPr>
          <a:endParaRPr lang="nl-NL" sz="600" kern="1200"/>
        </a:p>
      </dsp:txBody>
      <dsp:txXfrm>
        <a:off x="4710231" y="191075"/>
        <a:ext cx="1054377" cy="566869"/>
      </dsp:txXfrm>
    </dsp:sp>
    <dsp:sp modelId="{F00C8EBA-BFEE-4114-A386-2758999A0D37}">
      <dsp:nvSpPr>
        <dsp:cNvPr id="0" name=""/>
        <dsp:cNvSpPr/>
      </dsp:nvSpPr>
      <dsp:spPr>
        <a:xfrm rot="5400000">
          <a:off x="2914199" y="63529"/>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nl-NL" sz="3600" kern="1200"/>
        </a:p>
      </dsp:txBody>
      <dsp:txXfrm rot="-5400000">
        <a:off x="3103698" y="149348"/>
        <a:ext cx="565783" cy="650324"/>
      </dsp:txXfrm>
    </dsp:sp>
    <dsp:sp modelId="{52E5982B-6E90-4842-9F4C-9B7304CAF959}">
      <dsp:nvSpPr>
        <dsp:cNvPr id="0" name=""/>
        <dsp:cNvSpPr/>
      </dsp:nvSpPr>
      <dsp:spPr>
        <a:xfrm rot="5400000">
          <a:off x="3356357" y="865461"/>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nl-NL" sz="600" kern="1200"/>
            <a:t>UNICUM </a:t>
          </a:r>
          <a:r>
            <a:rPr lang="nl-NL" sz="600" kern="1200" err="1"/>
            <a:t>Huisarsenzorg</a:t>
          </a:r>
          <a:r>
            <a:rPr lang="nl-NL" sz="600" kern="1200"/>
            <a:t>, </a:t>
          </a:r>
          <a:r>
            <a:rPr lang="nl-NL" sz="600" kern="1200" err="1"/>
            <a:t>RegiozorgNU</a:t>
          </a:r>
          <a:r>
            <a:rPr lang="nl-NL" sz="600" kern="1200"/>
            <a:t>, HUS/Sterkzorg</a:t>
          </a:r>
        </a:p>
      </dsp:txBody>
      <dsp:txXfrm rot="-5400000">
        <a:off x="3545856" y="951280"/>
        <a:ext cx="565783" cy="650324"/>
      </dsp:txXfrm>
    </dsp:sp>
    <dsp:sp modelId="{BF071F5C-4972-4B5D-97C3-A70D473DE3E7}">
      <dsp:nvSpPr>
        <dsp:cNvPr id="0" name=""/>
        <dsp:cNvSpPr/>
      </dsp:nvSpPr>
      <dsp:spPr>
        <a:xfrm>
          <a:off x="2363390" y="993007"/>
          <a:ext cx="1020365" cy="56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r" defTabSz="266700">
            <a:lnSpc>
              <a:spcPct val="90000"/>
            </a:lnSpc>
            <a:spcBef>
              <a:spcPct val="0"/>
            </a:spcBef>
            <a:spcAft>
              <a:spcPct val="35000"/>
            </a:spcAft>
            <a:buNone/>
          </a:pPr>
          <a:r>
            <a:rPr lang="nl-NL" sz="600" kern="1200"/>
            <a:t>Huisartsen Eemland</a:t>
          </a:r>
        </a:p>
      </dsp:txBody>
      <dsp:txXfrm>
        <a:off x="2363390" y="993007"/>
        <a:ext cx="1020365" cy="566869"/>
      </dsp:txXfrm>
    </dsp:sp>
    <dsp:sp modelId="{3C46A291-8135-4831-8DFF-A978EAC8A270}">
      <dsp:nvSpPr>
        <dsp:cNvPr id="0" name=""/>
        <dsp:cNvSpPr/>
      </dsp:nvSpPr>
      <dsp:spPr>
        <a:xfrm rot="5400000">
          <a:off x="4244075" y="865461"/>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r>
            <a:rPr lang="nl-NL" sz="600" kern="1200"/>
            <a:t>RAVU &amp; ZCC</a:t>
          </a:r>
        </a:p>
      </dsp:txBody>
      <dsp:txXfrm rot="-5400000">
        <a:off x="4433574" y="951280"/>
        <a:ext cx="565783" cy="650324"/>
      </dsp:txXfrm>
    </dsp:sp>
    <dsp:sp modelId="{59F2EEBC-56EC-4BF2-A6B7-84AE408F4798}">
      <dsp:nvSpPr>
        <dsp:cNvPr id="0" name=""/>
        <dsp:cNvSpPr/>
      </dsp:nvSpPr>
      <dsp:spPr>
        <a:xfrm rot="5400000">
          <a:off x="3801917" y="1667393"/>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nl-NL" sz="600" kern="1200"/>
            <a:t>EMC Utrecht, St Antonius, Meander MC, </a:t>
          </a:r>
          <a:r>
            <a:rPr lang="nl-NL" sz="600" kern="1200" err="1"/>
            <a:t>Diakonessenhuis</a:t>
          </a:r>
          <a:endParaRPr lang="nl-NL" sz="600" kern="1200"/>
        </a:p>
      </dsp:txBody>
      <dsp:txXfrm rot="-5400000">
        <a:off x="3991416" y="1753212"/>
        <a:ext cx="565783" cy="650324"/>
      </dsp:txXfrm>
    </dsp:sp>
    <dsp:sp modelId="{AF5CC47E-47B4-4CEA-9F6E-B3EB25516A59}">
      <dsp:nvSpPr>
        <dsp:cNvPr id="0" name=""/>
        <dsp:cNvSpPr/>
      </dsp:nvSpPr>
      <dsp:spPr>
        <a:xfrm>
          <a:off x="4710231" y="1794939"/>
          <a:ext cx="1054377" cy="56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l" defTabSz="266700">
            <a:lnSpc>
              <a:spcPct val="90000"/>
            </a:lnSpc>
            <a:spcBef>
              <a:spcPct val="0"/>
            </a:spcBef>
            <a:spcAft>
              <a:spcPct val="35000"/>
            </a:spcAft>
            <a:buNone/>
          </a:pPr>
          <a:r>
            <a:rPr lang="nl-NL" sz="600" kern="1200"/>
            <a:t>NAZMN</a:t>
          </a:r>
        </a:p>
      </dsp:txBody>
      <dsp:txXfrm>
        <a:off x="4710231" y="1794939"/>
        <a:ext cx="1054377" cy="566869"/>
      </dsp:txXfrm>
    </dsp:sp>
    <dsp:sp modelId="{550B30A8-57EC-40DE-9E24-749AD9C74F15}">
      <dsp:nvSpPr>
        <dsp:cNvPr id="0" name=""/>
        <dsp:cNvSpPr/>
      </dsp:nvSpPr>
      <dsp:spPr>
        <a:xfrm rot="5400000">
          <a:off x="2914199" y="1667393"/>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nl-NL" sz="3600" kern="1200"/>
        </a:p>
      </dsp:txBody>
      <dsp:txXfrm rot="-5400000">
        <a:off x="3103698" y="1753212"/>
        <a:ext cx="565783" cy="650324"/>
      </dsp:txXfrm>
    </dsp:sp>
    <dsp:sp modelId="{F919B708-7DB9-4F35-8D32-05F5D4DBADD7}">
      <dsp:nvSpPr>
        <dsp:cNvPr id="0" name=""/>
        <dsp:cNvSpPr/>
      </dsp:nvSpPr>
      <dsp:spPr>
        <a:xfrm rot="5400000">
          <a:off x="3356357" y="2469325"/>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nl-NL" sz="600" kern="1200" err="1"/>
            <a:t>Unilabs</a:t>
          </a:r>
          <a:endParaRPr lang="nl-NL" sz="600" kern="1200"/>
        </a:p>
      </dsp:txBody>
      <dsp:txXfrm rot="-5400000">
        <a:off x="3545856" y="2555144"/>
        <a:ext cx="565783" cy="650324"/>
      </dsp:txXfrm>
    </dsp:sp>
    <dsp:sp modelId="{DC424BA0-58A0-438C-8C6D-C4CA499A750E}">
      <dsp:nvSpPr>
        <dsp:cNvPr id="0" name=""/>
        <dsp:cNvSpPr/>
      </dsp:nvSpPr>
      <dsp:spPr>
        <a:xfrm>
          <a:off x="2363390" y="2596871"/>
          <a:ext cx="1020365" cy="56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r" defTabSz="266700">
            <a:lnSpc>
              <a:spcPct val="90000"/>
            </a:lnSpc>
            <a:spcBef>
              <a:spcPct val="0"/>
            </a:spcBef>
            <a:spcAft>
              <a:spcPct val="35000"/>
            </a:spcAft>
            <a:buNone/>
          </a:pPr>
          <a:r>
            <a:rPr lang="nl-NL" sz="600" kern="1200"/>
            <a:t>GGD</a:t>
          </a:r>
        </a:p>
      </dsp:txBody>
      <dsp:txXfrm>
        <a:off x="2363390" y="2596871"/>
        <a:ext cx="1020365" cy="566869"/>
      </dsp:txXfrm>
    </dsp:sp>
    <dsp:sp modelId="{F5572AD1-EBF9-48AA-835C-9C9008F7512E}">
      <dsp:nvSpPr>
        <dsp:cNvPr id="0" name=""/>
        <dsp:cNvSpPr/>
      </dsp:nvSpPr>
      <dsp:spPr>
        <a:xfrm rot="5400000">
          <a:off x="4244075" y="2469325"/>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nl-NL" sz="3600" kern="1200"/>
        </a:p>
      </dsp:txBody>
      <dsp:txXfrm rot="-5400000">
        <a:off x="4433574" y="2555144"/>
        <a:ext cx="565783" cy="650324"/>
      </dsp:txXfrm>
    </dsp:sp>
    <dsp:sp modelId="{06ECEF4B-F425-46F9-9B4C-F5A42540D2D1}">
      <dsp:nvSpPr>
        <dsp:cNvPr id="0" name=""/>
        <dsp:cNvSpPr/>
      </dsp:nvSpPr>
      <dsp:spPr>
        <a:xfrm rot="5400000">
          <a:off x="3801917" y="3271257"/>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nl-NL" sz="600" kern="1200"/>
            <a:t>SUAC apothekers</a:t>
          </a:r>
        </a:p>
      </dsp:txBody>
      <dsp:txXfrm rot="-5400000">
        <a:off x="3991416" y="3357076"/>
        <a:ext cx="565783" cy="650324"/>
      </dsp:txXfrm>
    </dsp:sp>
    <dsp:sp modelId="{889B8383-CEF4-4175-A4DD-DA711DB6DED8}">
      <dsp:nvSpPr>
        <dsp:cNvPr id="0" name=""/>
        <dsp:cNvSpPr/>
      </dsp:nvSpPr>
      <dsp:spPr>
        <a:xfrm>
          <a:off x="4715482" y="212342"/>
          <a:ext cx="1054377" cy="56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l" defTabSz="266700">
            <a:lnSpc>
              <a:spcPct val="90000"/>
            </a:lnSpc>
            <a:spcBef>
              <a:spcPct val="0"/>
            </a:spcBef>
            <a:spcAft>
              <a:spcPct val="35000"/>
            </a:spcAft>
            <a:buNone/>
          </a:pPr>
          <a:r>
            <a:rPr lang="nl-NL" sz="600" kern="1200"/>
            <a:t>Regio coördinatoren gemeenten</a:t>
          </a:r>
        </a:p>
      </dsp:txBody>
      <dsp:txXfrm>
        <a:off x="4715482" y="212342"/>
        <a:ext cx="1054377" cy="566869"/>
      </dsp:txXfrm>
    </dsp:sp>
    <dsp:sp modelId="{0565CDD6-664D-4AAF-A321-14F8972C1B19}">
      <dsp:nvSpPr>
        <dsp:cNvPr id="0" name=""/>
        <dsp:cNvSpPr/>
      </dsp:nvSpPr>
      <dsp:spPr>
        <a:xfrm rot="5400000">
          <a:off x="2914199" y="3271257"/>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nl-NL" sz="3600" kern="1200"/>
        </a:p>
      </dsp:txBody>
      <dsp:txXfrm rot="-5400000">
        <a:off x="3103698" y="3357076"/>
        <a:ext cx="565783" cy="650324"/>
      </dsp:txXfrm>
    </dsp:sp>
    <dsp:sp modelId="{E35439CB-B7B7-44E7-B252-3592D3A0CB15}">
      <dsp:nvSpPr>
        <dsp:cNvPr id="0" name=""/>
        <dsp:cNvSpPr/>
      </dsp:nvSpPr>
      <dsp:spPr>
        <a:xfrm rot="5400000">
          <a:off x="3356357" y="4073188"/>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266700">
            <a:lnSpc>
              <a:spcPct val="90000"/>
            </a:lnSpc>
            <a:spcBef>
              <a:spcPct val="0"/>
            </a:spcBef>
            <a:spcAft>
              <a:spcPct val="35000"/>
            </a:spcAft>
            <a:buNone/>
          </a:pPr>
          <a:r>
            <a:rPr lang="nl-NL" sz="600" kern="1200" err="1"/>
            <a:t>Altrecht</a:t>
          </a:r>
          <a:endParaRPr lang="nl-NL" sz="600" kern="1200"/>
        </a:p>
      </dsp:txBody>
      <dsp:txXfrm rot="-5400000">
        <a:off x="3545856" y="4159007"/>
        <a:ext cx="565783" cy="650324"/>
      </dsp:txXfrm>
    </dsp:sp>
    <dsp:sp modelId="{411703B7-CAF8-444F-8C86-AAA879AB6C70}">
      <dsp:nvSpPr>
        <dsp:cNvPr id="0" name=""/>
        <dsp:cNvSpPr/>
      </dsp:nvSpPr>
      <dsp:spPr>
        <a:xfrm>
          <a:off x="2363390" y="4200734"/>
          <a:ext cx="1020365" cy="566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r" defTabSz="266700">
            <a:lnSpc>
              <a:spcPct val="90000"/>
            </a:lnSpc>
            <a:spcBef>
              <a:spcPct val="0"/>
            </a:spcBef>
            <a:spcAft>
              <a:spcPct val="35000"/>
            </a:spcAft>
            <a:buNone/>
          </a:pPr>
          <a:r>
            <a:rPr lang="nl-NL" sz="600" kern="1200"/>
            <a:t>Welzijn en Buurtteams</a:t>
          </a:r>
        </a:p>
      </dsp:txBody>
      <dsp:txXfrm>
        <a:off x="2363390" y="4200734"/>
        <a:ext cx="1020365" cy="566869"/>
      </dsp:txXfrm>
    </dsp:sp>
    <dsp:sp modelId="{D02303CA-3EE8-44EA-8734-27B48D251E08}">
      <dsp:nvSpPr>
        <dsp:cNvPr id="0" name=""/>
        <dsp:cNvSpPr/>
      </dsp:nvSpPr>
      <dsp:spPr>
        <a:xfrm rot="5400000">
          <a:off x="4244075" y="4073188"/>
          <a:ext cx="944782" cy="821961"/>
        </a:xfrm>
        <a:prstGeom prst="hexagon">
          <a:avLst>
            <a:gd name="adj" fmla="val 25000"/>
            <a:gd name="vf" fmla="val 115470"/>
          </a:avLst>
        </a:prstGeom>
        <a:solidFill>
          <a:srgbClr val="21BBE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nl-NL" sz="3600" kern="1200"/>
        </a:p>
      </dsp:txBody>
      <dsp:txXfrm rot="-5400000">
        <a:off x="4433574" y="4159007"/>
        <a:ext cx="565783" cy="650324"/>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51163" cy="498852"/>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7636" y="0"/>
            <a:ext cx="2951163" cy="498852"/>
          </a:xfrm>
          <a:prstGeom prst="rect">
            <a:avLst/>
          </a:prstGeom>
        </p:spPr>
        <p:txBody>
          <a:bodyPr vert="horz" lIns="91440" tIns="45720" rIns="91440" bIns="45720" rtlCol="0"/>
          <a:lstStyle>
            <a:lvl1pPr algn="r">
              <a:defRPr sz="1200"/>
            </a:lvl1pPr>
          </a:lstStyle>
          <a:p>
            <a:fld id="{9CFB0BED-D221-41CC-96CA-B0710BFA0E1F}" type="datetimeFigureOut">
              <a:rPr lang="nl-NL" smtClean="0"/>
              <a:t>1-12-2024</a:t>
            </a:fld>
            <a:endParaRPr lang="nl-NL"/>
          </a:p>
        </p:txBody>
      </p:sp>
      <p:sp>
        <p:nvSpPr>
          <p:cNvPr id="4" name="Tijdelijke aanduiding voor dia-afbeelding 3"/>
          <p:cNvSpPr>
            <a:spLocks noGrp="1" noRot="1" noChangeAspect="1"/>
          </p:cNvSpPr>
          <p:nvPr>
            <p:ph type="sldImg" idx="2"/>
          </p:nvPr>
        </p:nvSpPr>
        <p:spPr>
          <a:xfrm>
            <a:off x="422275" y="1243013"/>
            <a:ext cx="5965825" cy="3355975"/>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1038" y="4784835"/>
            <a:ext cx="5448300" cy="3914864"/>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43662"/>
            <a:ext cx="2951163" cy="498851"/>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7636" y="9443662"/>
            <a:ext cx="2951163" cy="498851"/>
          </a:xfrm>
          <a:prstGeom prst="rect">
            <a:avLst/>
          </a:prstGeom>
        </p:spPr>
        <p:txBody>
          <a:bodyPr vert="horz" lIns="91440" tIns="45720" rIns="91440" bIns="45720" rtlCol="0" anchor="b"/>
          <a:lstStyle>
            <a:lvl1pPr algn="r">
              <a:defRPr sz="1200"/>
            </a:lvl1pPr>
          </a:lstStyle>
          <a:p>
            <a:fld id="{252A3A4B-DB77-4B90-BD1A-9DE64CFDDA18}" type="slidenum">
              <a:rPr lang="nl-NL" smtClean="0"/>
              <a:t>‹nr.›</a:t>
            </a:fld>
            <a:endParaRPr lang="nl-NL"/>
          </a:p>
        </p:txBody>
      </p:sp>
    </p:spTree>
    <p:extLst>
      <p:ext uri="{BB962C8B-B14F-4D97-AF65-F5344CB8AC3E}">
        <p14:creationId xmlns:p14="http://schemas.microsoft.com/office/powerpoint/2010/main" val="1443146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1</a:t>
            </a:fld>
            <a:endParaRPr lang="nl-NL"/>
          </a:p>
        </p:txBody>
      </p:sp>
    </p:spTree>
    <p:extLst>
      <p:ext uri="{BB962C8B-B14F-4D97-AF65-F5344CB8AC3E}">
        <p14:creationId xmlns:p14="http://schemas.microsoft.com/office/powerpoint/2010/main" val="188132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05261-0103-CA9F-2543-33A4EDE0C43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2735ADD-F571-14A0-2A9C-2393069F99F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9A46E4C-BFB3-8DAE-FA9D-BBA5F00F9382}"/>
              </a:ext>
            </a:extLst>
          </p:cNvPr>
          <p:cNvSpPr>
            <a:spLocks noGrp="1"/>
          </p:cNvSpPr>
          <p:nvPr>
            <p:ph type="body" idx="1"/>
          </p:nvPr>
        </p:nvSpPr>
        <p:spPr/>
        <p:txBody>
          <a:bodyPr/>
          <a:lstStyle/>
          <a:p>
            <a:r>
              <a:rPr lang="nl-NL" b="1"/>
              <a:t>VERHAALLIJN EN OPBOUW</a:t>
            </a:r>
          </a:p>
          <a:p>
            <a:pPr marL="800100" lvl="2" indent="-342900" algn="just">
              <a:lnSpc>
                <a:spcPct val="110000"/>
              </a:lnSpc>
              <a:spcBef>
                <a:spcPts val="0"/>
              </a:spcBef>
              <a:buFont typeface="+mj-lt"/>
              <a:buAutoNum type="arabicPeriod"/>
            </a:pPr>
            <a:r>
              <a:rPr lang="nl-NL" sz="1600" b="1">
                <a:latin typeface="Verdana"/>
                <a:ea typeface="Verdana"/>
              </a:rPr>
              <a:t>Managementsamenvatting</a:t>
            </a:r>
          </a:p>
          <a:p>
            <a:pPr marL="800100" lvl="2" indent="-342900" algn="just">
              <a:lnSpc>
                <a:spcPct val="110000"/>
              </a:lnSpc>
              <a:spcBef>
                <a:spcPts val="0"/>
              </a:spcBef>
              <a:buFont typeface="+mj-lt"/>
              <a:buAutoNum type="arabicPeriod" startAt="2"/>
            </a:pPr>
            <a:r>
              <a:rPr lang="nl-NL" sz="1600" b="1">
                <a:latin typeface="Verdana"/>
                <a:ea typeface="Verdana"/>
              </a:rPr>
              <a:t>Achtergrond &amp; aanleiding</a:t>
            </a:r>
            <a:r>
              <a:rPr lang="nl-NL" sz="1600">
                <a:latin typeface="Verdana"/>
                <a:ea typeface="Verdana"/>
              </a:rPr>
              <a:t> - </a:t>
            </a:r>
            <a:r>
              <a:rPr lang="nl-NL" sz="1600" i="1">
                <a:latin typeface="Verdana"/>
                <a:ea typeface="Verdana"/>
              </a:rPr>
              <a:t>Waarom doen we dit?</a:t>
            </a:r>
            <a:endParaRPr lang="nl-NL" sz="1600" b="1">
              <a:latin typeface="Verdana"/>
              <a:ea typeface="Verdana"/>
            </a:endParaRPr>
          </a:p>
          <a:p>
            <a:pPr marL="1257300" lvl="3" indent="-342900" algn="just">
              <a:lnSpc>
                <a:spcPct val="110000"/>
              </a:lnSpc>
              <a:spcBef>
                <a:spcPts val="0"/>
              </a:spcBef>
            </a:pPr>
            <a:r>
              <a:rPr lang="nl-NL" sz="1400">
                <a:latin typeface="Verdana"/>
                <a:ea typeface="Verdana"/>
              </a:rPr>
              <a:t>Link met regioplan</a:t>
            </a:r>
          </a:p>
          <a:p>
            <a:pPr marL="1257300" lvl="3" indent="-342900" algn="just">
              <a:lnSpc>
                <a:spcPct val="110000"/>
              </a:lnSpc>
              <a:spcBef>
                <a:spcPts val="0"/>
              </a:spcBef>
            </a:pPr>
            <a:r>
              <a:rPr lang="nl-NL" sz="1400">
                <a:latin typeface="Verdana"/>
                <a:ea typeface="Verdana"/>
              </a:rPr>
              <a:t>Samenhang met andere plannen in de regio</a:t>
            </a:r>
          </a:p>
          <a:p>
            <a:pPr marL="800100" lvl="2" indent="-342900" algn="just">
              <a:lnSpc>
                <a:spcPct val="110000"/>
              </a:lnSpc>
              <a:spcBef>
                <a:spcPts val="0"/>
              </a:spcBef>
              <a:buFont typeface="+mj-lt"/>
              <a:buAutoNum type="arabicPeriod" startAt="3"/>
            </a:pPr>
            <a:r>
              <a:rPr lang="nl-NL" sz="1600" b="1">
                <a:latin typeface="Verdana"/>
                <a:ea typeface="Verdana"/>
              </a:rPr>
              <a:t>Visie &amp; ambitie</a:t>
            </a:r>
            <a:r>
              <a:rPr lang="nl-NL" sz="1600">
                <a:latin typeface="Verdana"/>
                <a:ea typeface="Verdana"/>
              </a:rPr>
              <a:t> - </a:t>
            </a:r>
            <a:r>
              <a:rPr lang="nl-NL" sz="1600" i="1">
                <a:latin typeface="Verdana"/>
                <a:ea typeface="Verdana"/>
              </a:rPr>
              <a:t>Wat gaan we doen en met wie?</a:t>
            </a:r>
            <a:endParaRPr lang="nl-NL" sz="1600" b="1">
              <a:latin typeface="Verdana"/>
              <a:ea typeface="Verdana"/>
            </a:endParaRPr>
          </a:p>
          <a:p>
            <a:pPr marL="1257300" lvl="3" indent="-342900" algn="just">
              <a:lnSpc>
                <a:spcPct val="110000"/>
              </a:lnSpc>
              <a:spcBef>
                <a:spcPts val="0"/>
              </a:spcBef>
            </a:pPr>
            <a:r>
              <a:rPr lang="nl-NL" sz="1400">
                <a:latin typeface="Verdana"/>
                <a:ea typeface="Verdana"/>
              </a:rPr>
              <a:t>Introduceren </a:t>
            </a:r>
            <a:r>
              <a:rPr lang="nl-NL" sz="1400" err="1">
                <a:latin typeface="Verdana"/>
                <a:ea typeface="Verdana"/>
              </a:rPr>
              <a:t>usecases</a:t>
            </a:r>
            <a:r>
              <a:rPr lang="nl-NL" sz="1400">
                <a:latin typeface="Verdana"/>
                <a:ea typeface="Verdana"/>
              </a:rPr>
              <a:t> en samenhang</a:t>
            </a:r>
          </a:p>
          <a:p>
            <a:pPr marL="1257300" lvl="3" indent="-342900" algn="just">
              <a:lnSpc>
                <a:spcPct val="110000"/>
              </a:lnSpc>
              <a:spcBef>
                <a:spcPts val="0"/>
              </a:spcBef>
            </a:pPr>
            <a:r>
              <a:rPr lang="nl-NL" sz="1400">
                <a:latin typeface="Verdana"/>
                <a:ea typeface="Verdana"/>
              </a:rPr>
              <a:t>Samenhang van de </a:t>
            </a:r>
            <a:r>
              <a:rPr lang="nl-NL" sz="1400" err="1">
                <a:latin typeface="Verdana"/>
                <a:ea typeface="Verdana"/>
              </a:rPr>
              <a:t>use</a:t>
            </a:r>
            <a:r>
              <a:rPr lang="nl-NL" sz="1400">
                <a:latin typeface="Verdana"/>
                <a:ea typeface="Verdana"/>
              </a:rPr>
              <a:t> cases – linken aan casus Theo</a:t>
            </a:r>
          </a:p>
          <a:p>
            <a:pPr marL="1257300" lvl="3" indent="-342900" algn="just">
              <a:lnSpc>
                <a:spcPct val="110000"/>
              </a:lnSpc>
              <a:spcBef>
                <a:spcPts val="0"/>
              </a:spcBef>
            </a:pPr>
            <a:r>
              <a:rPr lang="nl-NL" sz="1400">
                <a:latin typeface="Verdana"/>
                <a:ea typeface="Verdana"/>
              </a:rPr>
              <a:t>Aansluiten bij landelijke en (boven)regionale ontwikkelingen</a:t>
            </a:r>
          </a:p>
          <a:p>
            <a:pPr marL="1257300" lvl="3" indent="-342900" algn="just">
              <a:lnSpc>
                <a:spcPct val="110000"/>
              </a:lnSpc>
              <a:spcBef>
                <a:spcPts val="0"/>
              </a:spcBef>
            </a:pPr>
            <a:r>
              <a:rPr lang="nl-NL" sz="1400">
                <a:latin typeface="Verdana"/>
                <a:ea typeface="Verdana"/>
              </a:rPr>
              <a:t>Doorkijk na 2026…</a:t>
            </a:r>
          </a:p>
          <a:p>
            <a:pPr marL="800100" lvl="2" indent="-342900" algn="just">
              <a:lnSpc>
                <a:spcPct val="110000"/>
              </a:lnSpc>
              <a:spcBef>
                <a:spcPts val="0"/>
              </a:spcBef>
              <a:buFont typeface="+mj-lt"/>
              <a:buAutoNum type="arabicPeriod" startAt="4"/>
            </a:pPr>
            <a:r>
              <a:rPr lang="nl-NL" sz="1600" b="1" i="1">
                <a:latin typeface="Verdana"/>
                <a:ea typeface="Verdana"/>
              </a:rPr>
              <a:t>Veranderopgave &amp; verwachte impact </a:t>
            </a:r>
            <a:r>
              <a:rPr lang="nl-NL" sz="1600" i="1">
                <a:latin typeface="Verdana"/>
                <a:ea typeface="Verdana"/>
              </a:rPr>
              <a:t>- Welke impact gaan we maken?</a:t>
            </a:r>
            <a:endParaRPr lang="nl-NL" sz="1600" b="1" i="1">
              <a:latin typeface="Verdana"/>
              <a:ea typeface="Verdana"/>
            </a:endParaRPr>
          </a:p>
          <a:p>
            <a:pPr marL="1257300" lvl="3" indent="-342900" algn="just">
              <a:lnSpc>
                <a:spcPct val="110000"/>
              </a:lnSpc>
              <a:spcBef>
                <a:spcPts val="0"/>
              </a:spcBef>
            </a:pPr>
            <a:r>
              <a:rPr lang="nl-NL" sz="1400" i="1">
                <a:latin typeface="Verdana"/>
                <a:ea typeface="Verdana"/>
              </a:rPr>
              <a:t>Hoog over samenvatting impactkant business case</a:t>
            </a:r>
          </a:p>
          <a:p>
            <a:pPr marL="457200" lvl="2" indent="0" algn="just">
              <a:lnSpc>
                <a:spcPct val="110000"/>
              </a:lnSpc>
              <a:spcBef>
                <a:spcPts val="0"/>
              </a:spcBef>
              <a:buNone/>
            </a:pPr>
            <a:r>
              <a:rPr lang="nl-NL" sz="1600" i="1">
                <a:latin typeface="Verdana"/>
                <a:ea typeface="Verdana"/>
              </a:rPr>
              <a:t>	En hoe gaan we dit doen? (en wat hebben we nodig?)</a:t>
            </a:r>
          </a:p>
          <a:p>
            <a:pPr marL="800100" lvl="2" indent="-342900" algn="just">
              <a:lnSpc>
                <a:spcPct val="110000"/>
              </a:lnSpc>
              <a:spcBef>
                <a:spcPts val="0"/>
              </a:spcBef>
              <a:buFont typeface="+mj-lt"/>
              <a:buAutoNum type="arabicPeriod" startAt="5"/>
            </a:pPr>
            <a:r>
              <a:rPr lang="nl-NL" sz="1600" b="1" i="1">
                <a:latin typeface="Verdana"/>
                <a:ea typeface="Verdana"/>
              </a:rPr>
              <a:t>Uitwerking </a:t>
            </a:r>
            <a:r>
              <a:rPr lang="nl-NL" sz="1600" b="1" i="1" err="1">
                <a:latin typeface="Verdana"/>
                <a:ea typeface="Verdana"/>
              </a:rPr>
              <a:t>usecases</a:t>
            </a:r>
            <a:endParaRPr lang="nl-NL" sz="1600" b="1" i="1">
              <a:latin typeface="Verdana"/>
              <a:ea typeface="Verdana"/>
            </a:endParaRPr>
          </a:p>
          <a:p>
            <a:pPr marL="800100" lvl="2" indent="-342900" algn="just">
              <a:lnSpc>
                <a:spcPct val="110000"/>
              </a:lnSpc>
              <a:spcBef>
                <a:spcPts val="0"/>
              </a:spcBef>
              <a:buAutoNum type="arabicPeriod" startAt="5"/>
            </a:pPr>
            <a:r>
              <a:rPr lang="nl-NL" sz="1600" b="1" i="1">
                <a:latin typeface="Verdana"/>
                <a:ea typeface="Verdana"/>
              </a:rPr>
              <a:t>Overkoepelende business case &amp; investeringsvraag</a:t>
            </a:r>
            <a:endParaRPr lang="en-GB" sz="1600" b="1" i="1">
              <a:latin typeface="Verdana"/>
              <a:ea typeface="Verdana"/>
            </a:endParaRPr>
          </a:p>
          <a:p>
            <a:pPr marL="800100" lvl="2" indent="-342900" algn="just">
              <a:lnSpc>
                <a:spcPct val="110000"/>
              </a:lnSpc>
              <a:spcBef>
                <a:spcPts val="0"/>
              </a:spcBef>
              <a:buAutoNum type="arabicPeriod" startAt="5"/>
            </a:pPr>
            <a:r>
              <a:rPr lang="nl-NL" sz="1600" b="1" i="1">
                <a:latin typeface="Verdana"/>
                <a:ea typeface="Verdana"/>
              </a:rPr>
              <a:t>Governance en programmastructuur</a:t>
            </a:r>
          </a:p>
          <a:p>
            <a:pPr marL="800100" lvl="2" indent="-342900" algn="just">
              <a:lnSpc>
                <a:spcPct val="110000"/>
              </a:lnSpc>
              <a:spcBef>
                <a:spcPts val="0"/>
              </a:spcBef>
              <a:buAutoNum type="arabicPeriod" startAt="5"/>
            </a:pPr>
            <a:r>
              <a:rPr lang="nl-NL" sz="1600" b="1" i="1">
                <a:latin typeface="Verdana"/>
                <a:ea typeface="Verdana"/>
              </a:rPr>
              <a:t>Integrale implementatieplanning &amp; </a:t>
            </a:r>
            <a:r>
              <a:rPr lang="nl-NL" sz="1600" b="1" i="1" err="1">
                <a:latin typeface="Verdana"/>
                <a:ea typeface="Verdana"/>
              </a:rPr>
              <a:t>KPI’s</a:t>
            </a:r>
            <a:endParaRPr lang="nl-NL" sz="1600" b="1" i="1">
              <a:latin typeface="Verdana"/>
              <a:ea typeface="Verdana"/>
            </a:endParaRPr>
          </a:p>
          <a:p>
            <a:pPr marL="800100" lvl="2" indent="-342900" algn="just">
              <a:lnSpc>
                <a:spcPct val="110000"/>
              </a:lnSpc>
              <a:spcBef>
                <a:spcPts val="0"/>
              </a:spcBef>
              <a:buAutoNum type="arabicPeriod" startAt="5"/>
            </a:pPr>
            <a:r>
              <a:rPr lang="nl-NL" sz="1600" b="1" i="1">
                <a:latin typeface="Verdana"/>
                <a:ea typeface="Verdana"/>
              </a:rPr>
              <a:t>Randvoorwaarden voor succes – risico’s en mitigerende maatregelen</a:t>
            </a:r>
            <a:endParaRPr lang="nl-NL"/>
          </a:p>
        </p:txBody>
      </p:sp>
      <p:sp>
        <p:nvSpPr>
          <p:cNvPr id="4" name="Tijdelijke aanduiding voor dianummer 3">
            <a:extLst>
              <a:ext uri="{FF2B5EF4-FFF2-40B4-BE49-F238E27FC236}">
                <a16:creationId xmlns:a16="http://schemas.microsoft.com/office/drawing/2014/main" id="{0B3B525F-06E9-D051-A357-8B982F813D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7861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3</a:t>
            </a:fld>
            <a:endParaRPr lang="nl-NL"/>
          </a:p>
        </p:txBody>
      </p:sp>
    </p:spTree>
    <p:extLst>
      <p:ext uri="{BB962C8B-B14F-4D97-AF65-F5344CB8AC3E}">
        <p14:creationId xmlns:p14="http://schemas.microsoft.com/office/powerpoint/2010/main" val="876215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AF460-6758-092C-1AB2-455393A872E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59DFE3E-2A46-8566-3C11-E65AFC39CEB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B0C59AC-3DE1-8228-9E27-9C265F722E75}"/>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148E3CF8-44D8-7005-1882-880A4287A164}"/>
              </a:ext>
            </a:extLst>
          </p:cNvPr>
          <p:cNvSpPr>
            <a:spLocks noGrp="1"/>
          </p:cNvSpPr>
          <p:nvPr>
            <p:ph type="sldNum" sz="quarter" idx="5"/>
          </p:nvPr>
        </p:nvSpPr>
        <p:spPr/>
        <p:txBody>
          <a:bodyPr/>
          <a:lstStyle/>
          <a:p>
            <a:fld id="{252A3A4B-DB77-4B90-BD1A-9DE64CFDDA18}" type="slidenum">
              <a:rPr lang="nl-NL" smtClean="0"/>
              <a:t>4</a:t>
            </a:fld>
            <a:endParaRPr lang="nl-NL"/>
          </a:p>
        </p:txBody>
      </p:sp>
    </p:spTree>
    <p:extLst>
      <p:ext uri="{BB962C8B-B14F-4D97-AF65-F5344CB8AC3E}">
        <p14:creationId xmlns:p14="http://schemas.microsoft.com/office/powerpoint/2010/main" val="1460197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1" indent="-342900" algn="just">
              <a:lnSpc>
                <a:spcPct val="110000"/>
              </a:lnSpc>
              <a:spcBef>
                <a:spcPts val="0"/>
              </a:spcBef>
              <a:buAutoNum type="arabicPeriod"/>
            </a:pPr>
            <a:r>
              <a:rPr lang="nl-NL" sz="1200">
                <a:latin typeface="Verdana"/>
                <a:ea typeface="Verdana"/>
              </a:rPr>
              <a:t>Ontwikkelingen in de regio schetsen -&gt; link met andere plannen maken + toelichten hoe regio samen schouders eronder wil zetten + rol </a:t>
            </a:r>
            <a:r>
              <a:rPr lang="nl-NL" sz="1200" err="1">
                <a:latin typeface="Verdana"/>
                <a:ea typeface="Verdana"/>
              </a:rPr>
              <a:t>Trijn</a:t>
            </a:r>
            <a:r>
              <a:rPr lang="nl-NL" sz="1200">
                <a:latin typeface="Verdana"/>
                <a:ea typeface="Verdana"/>
              </a:rPr>
              <a:t> hierin </a:t>
            </a:r>
            <a:endParaRPr lang="nl-NL" sz="1200" b="1">
              <a:latin typeface="Verdana"/>
              <a:ea typeface="Verdana"/>
            </a:endParaRPr>
          </a:p>
          <a:p>
            <a:pPr marL="342900" lvl="1" indent="-342900" algn="just">
              <a:lnSpc>
                <a:spcPct val="110000"/>
              </a:lnSpc>
              <a:spcBef>
                <a:spcPts val="0"/>
              </a:spcBef>
              <a:buAutoNum type="arabicPeriod"/>
            </a:pPr>
            <a:r>
              <a:rPr lang="nl-NL" sz="1200">
                <a:latin typeface="Verdana"/>
                <a:ea typeface="Verdana"/>
              </a:rPr>
              <a:t>Inwoner en zorgprofessional centraal zetten</a:t>
            </a:r>
            <a:endParaRPr lang="nl-NL" sz="1200" b="1">
              <a:latin typeface="Verdana"/>
              <a:ea typeface="Verdana"/>
            </a:endParaRPr>
          </a:p>
          <a:p>
            <a:pPr marL="342900" lvl="1" indent="-342900" algn="just">
              <a:lnSpc>
                <a:spcPct val="110000"/>
              </a:lnSpc>
              <a:spcBef>
                <a:spcPts val="0"/>
              </a:spcBef>
              <a:buAutoNum type="arabicPeriod"/>
            </a:pPr>
            <a:r>
              <a:rPr lang="nl-NL" sz="1200">
                <a:latin typeface="Verdana"/>
                <a:ea typeface="Verdana"/>
              </a:rPr>
              <a:t>Urgentie creëren -&gt; Waarom IZA-middelen noodzakelijk? </a:t>
            </a:r>
          </a:p>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5</a:t>
            </a:fld>
            <a:endParaRPr lang="nl-NL"/>
          </a:p>
        </p:txBody>
      </p:sp>
    </p:spTree>
    <p:extLst>
      <p:ext uri="{BB962C8B-B14F-4D97-AF65-F5344CB8AC3E}">
        <p14:creationId xmlns:p14="http://schemas.microsoft.com/office/powerpoint/2010/main" val="3481123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2400" b="1">
                <a:solidFill>
                  <a:srgbClr val="8C95CD"/>
                </a:solidFill>
                <a:latin typeface="Helvetica" pitchFamily="2" charset="0"/>
              </a:rPr>
              <a:t>Ontwikkelingen in regio Midden-Nederland – </a:t>
            </a:r>
            <a:r>
              <a:rPr lang="nl-NL" sz="6000" b="1">
                <a:solidFill>
                  <a:srgbClr val="8C95CD"/>
                </a:solidFill>
                <a:latin typeface="Helvetica" pitchFamily="2" charset="0"/>
              </a:rPr>
              <a:t>h</a:t>
            </a:r>
            <a:r>
              <a:rPr lang="nl-NL" sz="2400" b="1">
                <a:solidFill>
                  <a:srgbClr val="8C95CD"/>
                </a:solidFill>
                <a:latin typeface="Helvetica" pitchFamily="2" charset="0"/>
              </a:rPr>
              <a:t>uidige situatie (IST) en context</a:t>
            </a:r>
            <a:endParaRPr lang="nl-NL" sz="2200">
              <a:latin typeface="Verdana" panose="020B0604030504040204" pitchFamily="34" charset="0"/>
              <a:ea typeface="Verdana" panose="020B0604030504040204" pitchFamily="34" charset="0"/>
            </a:endParaRPr>
          </a:p>
          <a:p>
            <a:r>
              <a:rPr lang="nl-NL" b="1">
                <a:latin typeface="Verdana" panose="020B0604030504040204" pitchFamily="34" charset="0"/>
                <a:ea typeface="Verdana" panose="020B0604030504040204" pitchFamily="34" charset="0"/>
              </a:rPr>
              <a:t>“Problematische” Ontwikkelingen in de regio vanuit het regiobeeld</a:t>
            </a:r>
          </a:p>
          <a:p>
            <a:pPr lvl="1"/>
            <a:r>
              <a:rPr lang="nl-NL" sz="1600">
                <a:latin typeface="Verdana" panose="020B0604030504040204" pitchFamily="34" charset="0"/>
                <a:ea typeface="Verdana" panose="020B0604030504040204" pitchFamily="34" charset="0"/>
              </a:rPr>
              <a:t>12,5% bevolkingsgroei (incl. toename aantal geboortes)</a:t>
            </a:r>
          </a:p>
          <a:p>
            <a:pPr lvl="1"/>
            <a:r>
              <a:rPr lang="nl-NL" sz="1600">
                <a:latin typeface="Verdana" panose="020B0604030504040204" pitchFamily="34" charset="0"/>
                <a:ea typeface="Verdana" panose="020B0604030504040204" pitchFamily="34" charset="0"/>
              </a:rPr>
              <a:t>Dubbele vergrijzing sterker dan in Nederland (NL)</a:t>
            </a:r>
          </a:p>
          <a:p>
            <a:pPr lvl="1"/>
            <a:r>
              <a:rPr lang="nl-NL" sz="1600">
                <a:latin typeface="Verdana" panose="020B0604030504040204" pitchFamily="34" charset="0"/>
                <a:ea typeface="Verdana" panose="020B0604030504040204" pitchFamily="34" charset="0"/>
              </a:rPr>
              <a:t>Dalend mantelzorgpotentieel en disbalans instroom/uitstroom zorgpersoneel</a:t>
            </a:r>
          </a:p>
          <a:p>
            <a:pPr marL="457200" lvl="1" indent="0">
              <a:buNone/>
            </a:pPr>
            <a:endParaRPr lang="nl-NL" sz="1800">
              <a:latin typeface="Verdana" panose="020B0604030504040204" pitchFamily="34" charset="0"/>
              <a:ea typeface="Verdana" panose="020B0604030504040204" pitchFamily="34" charset="0"/>
            </a:endParaRPr>
          </a:p>
          <a:p>
            <a:r>
              <a:rPr lang="nl-NL" b="1">
                <a:latin typeface="Verdana" panose="020B0604030504040204" pitchFamily="34" charset="0"/>
                <a:ea typeface="Verdana" panose="020B0604030504040204" pitchFamily="34" charset="0"/>
              </a:rPr>
              <a:t>Uitdagingen voor de regio</a:t>
            </a:r>
          </a:p>
          <a:p>
            <a:pPr lvl="1"/>
            <a:r>
              <a:rPr lang="nl-NL" sz="1600">
                <a:latin typeface="Verdana" panose="020B0604030504040204" pitchFamily="34" charset="0"/>
                <a:ea typeface="Verdana" panose="020B0604030504040204" pitchFamily="34" charset="0"/>
              </a:rPr>
              <a:t>Stijgende vraag naar (informele) zorg en ondersteuning </a:t>
            </a:r>
          </a:p>
          <a:p>
            <a:pPr lvl="1"/>
            <a:r>
              <a:rPr lang="nl-NL" sz="1600"/>
              <a:t>Toename </a:t>
            </a:r>
            <a:r>
              <a:rPr lang="nl-NL" sz="1600">
                <a:latin typeface="Verdana" panose="020B0604030504040204" pitchFamily="34" charset="0"/>
                <a:ea typeface="Verdana" panose="020B0604030504040204" pitchFamily="34" charset="0"/>
              </a:rPr>
              <a:t>druk op formele en informele zorg toe</a:t>
            </a:r>
            <a:endParaRPr lang="nl-NL" sz="1600"/>
          </a:p>
          <a:p>
            <a:pPr lvl="1"/>
            <a:r>
              <a:rPr lang="nl-NL" sz="1600">
                <a:latin typeface="Verdana" panose="020B0604030504040204" pitchFamily="34" charset="0"/>
                <a:ea typeface="Verdana" panose="020B0604030504040204" pitchFamily="34" charset="0"/>
              </a:rPr>
              <a:t>Complexere zorgvraag</a:t>
            </a:r>
          </a:p>
          <a:p>
            <a:pPr lvl="1"/>
            <a:r>
              <a:rPr lang="nl-NL" sz="1600">
                <a:latin typeface="Verdana" panose="020B0604030504040204" pitchFamily="34" charset="0"/>
                <a:ea typeface="Verdana" panose="020B0604030504040204" pitchFamily="34" charset="0"/>
              </a:rPr>
              <a:t>Arbeidsmarkttekort</a:t>
            </a:r>
          </a:p>
          <a:p>
            <a:pPr lvl="1"/>
            <a:r>
              <a:rPr lang="nl-NL" sz="1600">
                <a:latin typeface="Verdana" panose="020B0604030504040204" pitchFamily="34" charset="0"/>
                <a:ea typeface="Verdana" panose="020B0604030504040204" pitchFamily="34" charset="0"/>
              </a:rPr>
              <a:t>Regionale gezondheidsverschillen</a:t>
            </a:r>
          </a:p>
          <a:p>
            <a:pPr lvl="1"/>
            <a:r>
              <a:rPr lang="nl-NL" sz="1600">
                <a:latin typeface="Verdana" panose="020B0604030504040204" pitchFamily="34" charset="0"/>
                <a:ea typeface="Verdana" panose="020B0604030504040204" pitchFamily="34" charset="0"/>
              </a:rPr>
              <a:t>Mentale weerbaarheid neemt af, meeste onder jongeren en jongvolwassenen</a:t>
            </a:r>
          </a:p>
          <a:p>
            <a:pPr lvl="1"/>
            <a:r>
              <a:rPr lang="nl-NL" sz="1600">
                <a:latin typeface="Verdana" panose="020B0604030504040204" pitchFamily="34" charset="0"/>
                <a:ea typeface="Verdana" panose="020B0604030504040204" pitchFamily="34" charset="0"/>
              </a:rPr>
              <a:t>Organisatie zorg &amp; welzijn versnipperd, domeinen werken niet optimaal samen</a:t>
            </a:r>
          </a:p>
          <a:p>
            <a:pPr lvl="1"/>
            <a:endParaRPr lang="nl-NL" sz="1600">
              <a:latin typeface="Verdana" panose="020B0604030504040204" pitchFamily="34" charset="0"/>
              <a:ea typeface="Verdana" panose="020B0604030504040204" pitchFamily="34" charset="0"/>
            </a:endParaRPr>
          </a:p>
          <a:p>
            <a:r>
              <a:rPr lang="nl-NL" sz="1600">
                <a:latin typeface="Verdana" panose="020B0604030504040204" pitchFamily="34" charset="0"/>
                <a:ea typeface="Verdana" panose="020B0604030504040204" pitchFamily="34" charset="0"/>
              </a:rPr>
              <a:t>Regioplan beschrijft geprioriteerde transformaties per zorg- en ondersteuningsdomein, waar digitalisering &amp; gegevensuitwisseling als fundament onder ligt. </a:t>
            </a:r>
          </a:p>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6</a:t>
            </a:fld>
            <a:endParaRPr lang="nl-NL"/>
          </a:p>
        </p:txBody>
      </p:sp>
    </p:spTree>
    <p:extLst>
      <p:ext uri="{BB962C8B-B14F-4D97-AF65-F5344CB8AC3E}">
        <p14:creationId xmlns:p14="http://schemas.microsoft.com/office/powerpoint/2010/main" val="2552469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800">
                <a:latin typeface="Verdana" panose="020B0604030504040204" pitchFamily="34" charset="0"/>
                <a:ea typeface="Verdana" panose="020B0604030504040204" pitchFamily="34" charset="0"/>
              </a:rPr>
              <a:t>“Problematische” Ontwikkelingen in de regio vanuit het regiobeeld</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12,5% bevolkingsgroei</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Dubbele vergrijzing sterker dan in NL</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Dalend mantelzorgpotentieel en disbalans instroom/uitstroom zorgpersoneel</a:t>
            </a:r>
          </a:p>
          <a:p>
            <a:pPr marL="0" lvl="0" indent="0">
              <a:buFont typeface="Arial" panose="020B0604020202020204" pitchFamily="34" charset="0"/>
              <a:buNone/>
            </a:pPr>
            <a:endParaRPr lang="nl-NL" sz="1400">
              <a:latin typeface="Verdana" panose="020B0604030504040204" pitchFamily="34" charset="0"/>
              <a:ea typeface="Verdana" panose="020B0604030504040204" pitchFamily="34" charset="0"/>
            </a:endParaRPr>
          </a:p>
          <a:p>
            <a:pPr marL="0" lvl="0" indent="0">
              <a:buFont typeface="Arial" panose="020B0604020202020204" pitchFamily="34" charset="0"/>
              <a:buNone/>
            </a:pPr>
            <a:r>
              <a:rPr lang="nl-NL" sz="1800">
                <a:latin typeface="Verdana" panose="020B0604030504040204" pitchFamily="34" charset="0"/>
                <a:ea typeface="Verdana" panose="020B0604030504040204" pitchFamily="34" charset="0"/>
              </a:rPr>
              <a:t>Uitdagingen voor de regio</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Stijgende vraag naar (informele) zorg en ondersteuning, druk op formele en informele zorg neemt toe</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Complexere zorgvraag</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Arbeidsmarkttekort</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Regionale gezondheidsverschillen</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Mentale weerbaarheid neemt af, meeste onder jongeren en jongvolwassenen</a:t>
            </a:r>
          </a:p>
          <a:p>
            <a:pPr marL="285750" lvl="0" indent="-285750">
              <a:buFont typeface="Arial" panose="020B0604020202020204" pitchFamily="34" charset="0"/>
              <a:buChar char="•"/>
            </a:pPr>
            <a:r>
              <a:rPr lang="nl-NL" sz="1400">
                <a:latin typeface="Verdana" panose="020B0604030504040204" pitchFamily="34" charset="0"/>
                <a:ea typeface="Verdana" panose="020B0604030504040204" pitchFamily="34" charset="0"/>
              </a:rPr>
              <a:t>Organisatie zorg &amp; welzijn versnipperd, domeinen werken niet optimaal samen</a:t>
            </a:r>
          </a:p>
          <a:p>
            <a:pPr marL="0" lvl="0" indent="0">
              <a:buFont typeface="Arial" panose="020B0604020202020204" pitchFamily="34" charset="0"/>
              <a:buNone/>
            </a:pPr>
            <a:endParaRPr lang="nl-NL"/>
          </a:p>
          <a:p>
            <a:pPr marL="0" lvl="0" indent="0">
              <a:buFont typeface="Arial" panose="020B0604020202020204" pitchFamily="34" charset="0"/>
              <a:buNone/>
            </a:pPr>
            <a:r>
              <a:rPr lang="nl-NL"/>
              <a:t>Elektronische gegevensvastlegging en -uitwisseling draagt bij aan goede en veilige zorg voor de inwoner, verlicht de werkdruk van professionals en wordt de standaard in de zorg. </a:t>
            </a:r>
            <a:r>
              <a:rPr lang="nl-NL" sz="1800" b="0" i="0" u="none" strike="noStrike" baseline="0">
                <a:solidFill>
                  <a:srgbClr val="004C71"/>
                </a:solidFill>
                <a:latin typeface="Outfit-Light"/>
              </a:rPr>
              <a:t>Om optimaal gebruik te maken van (patiënt) data, moeten deze elektronisch beschikbaar, raadpleegbaar en herbruikbaar zijn voor primair en secundair gebruik.</a:t>
            </a:r>
          </a:p>
          <a:p>
            <a:pPr algn="l"/>
            <a:endParaRPr lang="nl-NL"/>
          </a:p>
          <a:p>
            <a:pPr algn="l"/>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5131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gn="l"/>
            <a:r>
              <a:rPr lang="nl-NL" sz="1800" b="1" i="0" u="none" strike="noStrike" baseline="0">
                <a:solidFill>
                  <a:srgbClr val="A80C61"/>
                </a:solidFill>
                <a:latin typeface="BeVietnamPro-Medium"/>
                <a:cs typeface="Calibri"/>
              </a:rPr>
              <a:t>Onze aanpak:</a:t>
            </a:r>
            <a:endParaRPr lang="nl-NL" sz="1800" b="0" i="0" u="none" strike="noStrike" baseline="0">
              <a:solidFill>
                <a:srgbClr val="A80C61"/>
              </a:solidFill>
              <a:latin typeface="BeVietnamPro-Medium"/>
              <a:cs typeface="Calibri"/>
            </a:endParaRPr>
          </a:p>
          <a:p>
            <a:pPr algn="l"/>
            <a:r>
              <a:rPr lang="nl-NL" sz="1800" b="0" i="0" u="none" strike="noStrike" baseline="0">
                <a:solidFill>
                  <a:srgbClr val="A80C61"/>
                </a:solidFill>
                <a:latin typeface="BeVietnamPro-Medium"/>
              </a:rPr>
              <a:t>Onze aanpak richt zich op: voorkomen waar mogelijk en zelf waar het kan. Daarbij gaan we uit van het welbevinden van inwoners, zelfredzaamheid en gemeenschapskracht. Daar waar zij het zelf niet redden moeten inwoners kunnen blijven rekenen op passende ondersteuning en zorg, zoveel mogelijk in de wijk. </a:t>
            </a:r>
          </a:p>
          <a:p>
            <a:pPr algn="l"/>
            <a:endParaRPr lang="nl-NL" sz="1400">
              <a:cs typeface="Calibri"/>
            </a:endParaRPr>
          </a:p>
          <a:p>
            <a:r>
              <a:rPr lang="nl-NL" sz="1400">
                <a:cs typeface="Calibri"/>
              </a:rPr>
              <a:t>Het </a:t>
            </a:r>
            <a:r>
              <a:rPr lang="nl-NL" sz="1400" b="1">
                <a:cs typeface="Calibri"/>
              </a:rPr>
              <a:t>fundament digitalisering &amp; gegevensuitwisseling </a:t>
            </a:r>
            <a:r>
              <a:rPr lang="nl-NL" sz="1400">
                <a:cs typeface="Calibri"/>
              </a:rPr>
              <a:t>sluit aan bij de 5 inhoudelijke opgaven beschreven in het IZA regioplan Midden-Nederland. </a:t>
            </a:r>
          </a:p>
          <a:p>
            <a:r>
              <a:rPr lang="nl-NL" sz="1400">
                <a:cs typeface="Calibri"/>
              </a:rPr>
              <a:t>In het fundament digitalisering &amp; gegevensuitwisseling zijn 2 themaopgaven gedefinieerd welke randvoorwaarde voor regionale / </a:t>
            </a:r>
            <a:r>
              <a:rPr lang="nl-NL" sz="1400" err="1">
                <a:cs typeface="Calibri"/>
              </a:rPr>
              <a:t>domeinoverstijgende</a:t>
            </a:r>
            <a:r>
              <a:rPr lang="nl-NL" sz="1400">
                <a:cs typeface="Calibri"/>
              </a:rPr>
              <a:t> samenwerking en optimaal benutten van beschikbaar personeel en expertise:</a:t>
            </a:r>
          </a:p>
          <a:p>
            <a:pPr marL="171450" lvl="0" indent="-171450">
              <a:buFont typeface="Arial" panose="020B0604020202020204" pitchFamily="34" charset="0"/>
              <a:buChar char="•"/>
            </a:pPr>
            <a:r>
              <a:rPr lang="nl-NL">
                <a:cs typeface="Calibri"/>
              </a:rPr>
              <a:t>Elektronische gegevensuitwisseling, toegankelijkheid en registratie</a:t>
            </a:r>
          </a:p>
          <a:p>
            <a:pPr marL="171450" lvl="0" indent="-171450">
              <a:buFont typeface="Arial" panose="020B0604020202020204" pitchFamily="34" charset="0"/>
              <a:buChar char="•"/>
            </a:pPr>
            <a:r>
              <a:rPr lang="nl-NL">
                <a:cs typeface="Calibri"/>
              </a:rPr>
              <a:t>Transformatie naar hybride zorg</a:t>
            </a:r>
          </a:p>
          <a:p>
            <a:endParaRPr lang="nl-NL" sz="1400">
              <a:cs typeface="Calibri"/>
            </a:endParaRPr>
          </a:p>
          <a:p>
            <a:r>
              <a:rPr lang="nl-NL" sz="1400">
                <a:cs typeface="Calibri"/>
              </a:rPr>
              <a:t>Deze thema’s bouwen op 3 pijlers;</a:t>
            </a:r>
          </a:p>
          <a:p>
            <a:pPr lvl="1"/>
            <a:r>
              <a:rPr lang="nl-NL">
                <a:cs typeface="Calibri"/>
              </a:rPr>
              <a:t>Netwerkzorg (perspectief inwoners en perspectief professionals)</a:t>
            </a:r>
          </a:p>
          <a:p>
            <a:pPr lvl="1"/>
            <a:r>
              <a:rPr lang="nl-NL">
                <a:cs typeface="Calibri"/>
              </a:rPr>
              <a:t>Basis op orde</a:t>
            </a:r>
          </a:p>
          <a:p>
            <a:pPr lvl="1"/>
            <a:r>
              <a:rPr lang="nl-NL">
                <a:cs typeface="Calibri"/>
              </a:rPr>
              <a:t>Regionale data- en applicatiehitecthitectuur</a:t>
            </a:r>
          </a:p>
          <a:p>
            <a:r>
              <a:rPr lang="nl-NL" sz="1400">
                <a:cs typeface="Calibri"/>
              </a:rPr>
              <a:t>Netwerksamenwerking kan niet zonder goede data- en applicatiearchitectuur en het opbouwen van de data- en applicatiearchitectuur kan niet zonder de netwerkzorg. De basis op orde is een absolute voorwaarde voor het realiseren van allebei. De waarde van deze transformatieopgave is als volgt beschreven: </a:t>
            </a:r>
            <a:r>
              <a:rPr lang="nl-NL">
                <a:cs typeface="Calibri"/>
              </a:rPr>
              <a:t>Volgen </a:t>
            </a:r>
            <a:r>
              <a:rPr lang="nl-NL" err="1">
                <a:cs typeface="Calibri"/>
              </a:rPr>
              <a:t>quadruple</a:t>
            </a:r>
            <a:r>
              <a:rPr lang="nl-NL">
                <a:cs typeface="Calibri"/>
              </a:rPr>
              <a:t> </a:t>
            </a:r>
            <a:r>
              <a:rPr lang="nl-NL" err="1">
                <a:cs typeface="Calibri"/>
              </a:rPr>
              <a:t>aim</a:t>
            </a:r>
            <a:endParaRPr lang="nl-NL">
              <a:cs typeface="Calibri"/>
            </a:endParaRPr>
          </a:p>
          <a:p>
            <a:pPr lvl="1"/>
            <a:r>
              <a:rPr lang="nl-NL">
                <a:cs typeface="Calibri"/>
              </a:rPr>
              <a:t>Beschrijvend, tenzij beschikbaar in cijfers</a:t>
            </a:r>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3862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342900" lvl="1" indent="-342900" algn="just">
              <a:lnSpc>
                <a:spcPct val="110000"/>
              </a:lnSpc>
              <a:spcBef>
                <a:spcPts val="0"/>
              </a:spcBef>
              <a:buAutoNum type="arabicPeriod"/>
            </a:pPr>
            <a:r>
              <a:rPr lang="nl-NL" sz="1200">
                <a:latin typeface="Verdana"/>
                <a:ea typeface="Verdana"/>
              </a:rPr>
              <a:t>Ontwikkelingen in de regio schetsen -&gt; link met andere plannen maken + toelichten hoe regio samen schouders eronder wil zetten + rol </a:t>
            </a:r>
            <a:r>
              <a:rPr lang="nl-NL" sz="1200" err="1">
                <a:latin typeface="Verdana"/>
                <a:ea typeface="Verdana"/>
              </a:rPr>
              <a:t>Trijn</a:t>
            </a:r>
            <a:r>
              <a:rPr lang="nl-NL" sz="1200">
                <a:latin typeface="Verdana"/>
                <a:ea typeface="Verdana"/>
              </a:rPr>
              <a:t> hierin </a:t>
            </a:r>
            <a:endParaRPr lang="nl-NL" sz="1200" b="1">
              <a:latin typeface="Verdana"/>
              <a:ea typeface="Verdana"/>
            </a:endParaRPr>
          </a:p>
          <a:p>
            <a:pPr marL="342900" lvl="1" indent="-342900" algn="just">
              <a:lnSpc>
                <a:spcPct val="110000"/>
              </a:lnSpc>
              <a:spcBef>
                <a:spcPts val="0"/>
              </a:spcBef>
              <a:buAutoNum type="arabicPeriod"/>
            </a:pPr>
            <a:r>
              <a:rPr lang="nl-NL" sz="1200">
                <a:latin typeface="Verdana"/>
                <a:ea typeface="Verdana"/>
              </a:rPr>
              <a:t>Inwoner en zorgprofessional centraal zetten</a:t>
            </a:r>
            <a:endParaRPr lang="nl-NL" sz="1200" b="1">
              <a:latin typeface="Verdana"/>
              <a:ea typeface="Verdana"/>
            </a:endParaRPr>
          </a:p>
          <a:p>
            <a:pPr marL="342900" lvl="1" indent="-342900" algn="just">
              <a:lnSpc>
                <a:spcPct val="110000"/>
              </a:lnSpc>
              <a:spcBef>
                <a:spcPts val="0"/>
              </a:spcBef>
              <a:buAutoNum type="arabicPeriod"/>
            </a:pPr>
            <a:r>
              <a:rPr lang="nl-NL" sz="1200">
                <a:latin typeface="Verdana"/>
                <a:ea typeface="Verdana"/>
              </a:rPr>
              <a:t>Urgentie creëren -&gt; Waarom IZA-middelen noodzakelijk? </a:t>
            </a:r>
            <a:endParaRPr lang="nl-NL" sz="1200" b="1">
              <a:latin typeface="Verdana"/>
              <a:ea typeface="Verdana"/>
            </a:endParaRPr>
          </a:p>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9</a:t>
            </a:fld>
            <a:endParaRPr lang="nl-NL"/>
          </a:p>
        </p:txBody>
      </p:sp>
    </p:spTree>
    <p:extLst>
      <p:ext uri="{BB962C8B-B14F-4D97-AF65-F5344CB8AC3E}">
        <p14:creationId xmlns:p14="http://schemas.microsoft.com/office/powerpoint/2010/main" val="89331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just">
              <a:lnSpc>
                <a:spcPct val="110000"/>
              </a:lnSpc>
              <a:spcBef>
                <a:spcPts val="0"/>
              </a:spcBef>
              <a:buNone/>
            </a:pPr>
            <a:r>
              <a:rPr lang="nl-NL" sz="1200">
                <a:latin typeface="Verdana"/>
                <a:ea typeface="Verdana"/>
              </a:rPr>
              <a:t>[</a:t>
            </a:r>
            <a:r>
              <a:rPr lang="nl-NL" sz="1200" err="1">
                <a:latin typeface="Verdana"/>
                <a:ea typeface="Verdana"/>
              </a:rPr>
              <a:t>Placeholder</a:t>
            </a:r>
            <a:r>
              <a:rPr lang="nl-NL" sz="1200">
                <a:latin typeface="Verdana"/>
                <a:ea typeface="Verdana"/>
              </a:rPr>
              <a:t>]</a:t>
            </a:r>
          </a:p>
          <a:p>
            <a:pPr marL="0" lvl="1" indent="0" algn="just">
              <a:lnSpc>
                <a:spcPct val="110000"/>
              </a:lnSpc>
              <a:spcBef>
                <a:spcPts val="0"/>
              </a:spcBef>
              <a:buNone/>
            </a:pPr>
            <a:endParaRPr lang="nl-NL" sz="1200">
              <a:latin typeface="Verdana"/>
              <a:ea typeface="Verdana"/>
            </a:endParaRPr>
          </a:p>
          <a:p>
            <a:pPr marL="342900" lvl="1" indent="-342900" algn="just">
              <a:lnSpc>
                <a:spcPct val="110000"/>
              </a:lnSpc>
              <a:spcBef>
                <a:spcPts val="0"/>
              </a:spcBef>
              <a:buAutoNum type="arabicPeriod"/>
            </a:pPr>
            <a:r>
              <a:rPr lang="nl-NL" sz="1200">
                <a:latin typeface="Verdana"/>
                <a:ea typeface="Verdana"/>
              </a:rPr>
              <a:t>Koppeling maken met regioplan -&gt; demografische ontwikkeling</a:t>
            </a:r>
            <a:endParaRPr lang="nl-NL" sz="1200" b="1">
              <a:latin typeface="Verdana"/>
              <a:ea typeface="Verdana"/>
            </a:endParaRPr>
          </a:p>
          <a:p>
            <a:pPr marL="342900" lvl="1" indent="-342900" algn="just">
              <a:lnSpc>
                <a:spcPct val="110000"/>
              </a:lnSpc>
              <a:spcBef>
                <a:spcPts val="0"/>
              </a:spcBef>
              <a:buFont typeface="Arial" panose="020B0604020202020204" pitchFamily="34" charset="0"/>
              <a:buAutoNum type="arabicPeriod"/>
            </a:pPr>
            <a:r>
              <a:rPr lang="nl-NL" sz="1200">
                <a:latin typeface="Verdana"/>
                <a:ea typeface="Verdana"/>
              </a:rPr>
              <a:t>Casus Theo -&gt; samenhang der dingen toelichten</a:t>
            </a:r>
            <a:endParaRPr lang="nl-NL" sz="1200" b="1">
              <a:latin typeface="Verdana"/>
              <a:ea typeface="Verdana"/>
            </a:endParaRPr>
          </a:p>
          <a:p>
            <a:pPr marL="342900" lvl="1" indent="-342900" algn="just">
              <a:lnSpc>
                <a:spcPct val="110000"/>
              </a:lnSpc>
              <a:spcBef>
                <a:spcPts val="0"/>
              </a:spcBef>
              <a:buAutoNum type="arabicPeriod"/>
            </a:pPr>
            <a:r>
              <a:rPr lang="nl-NL" sz="1200">
                <a:latin typeface="Verdana"/>
                <a:ea typeface="Verdana"/>
              </a:rPr>
              <a:t>Complexiteit toelichten en waarom deze aanvliegroute (selectie van </a:t>
            </a:r>
            <a:r>
              <a:rPr lang="nl-NL" sz="1200" err="1">
                <a:latin typeface="Verdana"/>
                <a:ea typeface="Verdana"/>
              </a:rPr>
              <a:t>use</a:t>
            </a:r>
            <a:r>
              <a:rPr lang="nl-NL" sz="1200">
                <a:latin typeface="Verdana"/>
                <a:ea typeface="Verdana"/>
              </a:rPr>
              <a:t> cases</a:t>
            </a:r>
            <a:endParaRPr lang="nl-NL" sz="1200" b="1">
              <a:latin typeface="Verdana"/>
              <a:ea typeface="Verdana"/>
            </a:endParaRPr>
          </a:p>
          <a:p>
            <a:pPr marL="342900" lvl="1" indent="-342900" algn="just">
              <a:lnSpc>
                <a:spcPct val="110000"/>
              </a:lnSpc>
              <a:spcBef>
                <a:spcPts val="0"/>
              </a:spcBef>
              <a:buAutoNum type="arabicPeriod"/>
            </a:pPr>
            <a:r>
              <a:rPr lang="nl-NL" sz="1200">
                <a:latin typeface="Verdana"/>
                <a:ea typeface="Verdana"/>
              </a:rPr>
              <a:t>Aansluiten bij landelijke en (boven)regionale initiatieven – </a:t>
            </a:r>
            <a:r>
              <a:rPr lang="nl-NL" sz="1200" err="1">
                <a:latin typeface="Verdana"/>
                <a:ea typeface="Verdana"/>
              </a:rPr>
              <a:t>proudly</a:t>
            </a:r>
            <a:r>
              <a:rPr lang="nl-NL" sz="1200">
                <a:latin typeface="Verdana"/>
                <a:ea typeface="Verdana"/>
              </a:rPr>
              <a:t> </a:t>
            </a:r>
            <a:r>
              <a:rPr lang="nl-NL" sz="1200" err="1">
                <a:latin typeface="Verdana"/>
                <a:ea typeface="Verdana"/>
              </a:rPr>
              <a:t>copied</a:t>
            </a:r>
            <a:r>
              <a:rPr lang="nl-NL" sz="1200">
                <a:latin typeface="Verdana"/>
                <a:ea typeface="Verdana"/>
              </a:rPr>
              <a:t> </a:t>
            </a:r>
            <a:r>
              <a:rPr lang="nl-NL" sz="1200" err="1">
                <a:latin typeface="Verdana"/>
                <a:ea typeface="Verdana"/>
              </a:rPr>
              <a:t>from</a:t>
            </a:r>
            <a:r>
              <a:rPr lang="nl-NL" sz="1200">
                <a:latin typeface="Verdana"/>
                <a:ea typeface="Verdana"/>
              </a:rPr>
              <a:t> </a:t>
            </a:r>
            <a:endParaRPr lang="nl-NL" sz="1200" b="1">
              <a:latin typeface="Verdana"/>
              <a:ea typeface="Verdana"/>
            </a:endParaRPr>
          </a:p>
          <a:p>
            <a:pPr marL="342900" lvl="1" indent="-342900" algn="just">
              <a:lnSpc>
                <a:spcPct val="110000"/>
              </a:lnSpc>
              <a:spcBef>
                <a:spcPts val="0"/>
              </a:spcBef>
              <a:buFont typeface="Arial" panose="020B0604020202020204" pitchFamily="34" charset="0"/>
              <a:buAutoNum type="arabicPeriod"/>
            </a:pPr>
            <a:r>
              <a:rPr lang="nl-NL" sz="1200">
                <a:latin typeface="Verdana"/>
                <a:ea typeface="Verdana"/>
              </a:rPr>
              <a:t>Digitalisering en Databeschikbaarheid (onderdeel van) de oplossing van de uitdagingen in de zorg </a:t>
            </a:r>
          </a:p>
          <a:p>
            <a:pPr marL="342900" lvl="1" indent="-342900" algn="just">
              <a:lnSpc>
                <a:spcPct val="110000"/>
              </a:lnSpc>
              <a:spcBef>
                <a:spcPts val="0"/>
              </a:spcBef>
              <a:buAutoNum type="arabicPeriod"/>
            </a:pPr>
            <a:endParaRPr lang="nl-NL" sz="1200">
              <a:latin typeface="Verdana"/>
              <a:ea typeface="Verdana"/>
            </a:endParaRPr>
          </a:p>
          <a:p>
            <a:pPr marL="342900" lvl="1" indent="-342900" algn="just">
              <a:lnSpc>
                <a:spcPct val="110000"/>
              </a:lnSpc>
              <a:spcBef>
                <a:spcPts val="0"/>
              </a:spcBef>
              <a:buAutoNum type="arabicPeriod"/>
            </a:pPr>
            <a:endParaRPr lang="nl-NL" sz="1200">
              <a:latin typeface="Verdana"/>
              <a:ea typeface="Verdana"/>
            </a:endParaRPr>
          </a:p>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10</a:t>
            </a:fld>
            <a:endParaRPr lang="nl-NL"/>
          </a:p>
        </p:txBody>
      </p:sp>
    </p:spTree>
    <p:extLst>
      <p:ext uri="{BB962C8B-B14F-4D97-AF65-F5344CB8AC3E}">
        <p14:creationId xmlns:p14="http://schemas.microsoft.com/office/powerpoint/2010/main" val="141057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128D3-36FE-4C57-924A-6AED5CCEEF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2075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kumimoji="0" lang="nl-NL" sz="1200"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Vanuit de twee (2) themaopgaven in de (</a:t>
            </a:r>
            <a:r>
              <a:rPr kumimoji="0" lang="nl-NL" sz="1200" i="0" u="none" strike="noStrike" kern="1200" cap="none" spc="0" normalizeH="0" baseline="0" noProof="0" err="1">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inter</a:t>
            </a:r>
            <a:r>
              <a:rPr kumimoji="0" lang="nl-NL" sz="1200"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)regionale fundamentopgave</a:t>
            </a:r>
          </a:p>
          <a:p>
            <a:endParaRPr lang="nl-NL" sz="1200">
              <a:effectLst/>
              <a:latin typeface="Verdana"/>
              <a:ea typeface="Calibri"/>
              <a:cs typeface="Arial"/>
            </a:endParaRPr>
          </a:p>
          <a:p>
            <a:r>
              <a:rPr lang="nl-NL" sz="1200">
                <a:effectLst/>
                <a:latin typeface="Verdana"/>
                <a:ea typeface="Calibri"/>
                <a:cs typeface="Arial"/>
              </a:rPr>
              <a:t>Middels een transformatiegelden aanvraag wil </a:t>
            </a:r>
            <a:r>
              <a:rPr lang="nl-NL" sz="1200" err="1">
                <a:effectLst/>
                <a:latin typeface="Verdana"/>
                <a:ea typeface="Calibri"/>
                <a:cs typeface="Arial"/>
              </a:rPr>
              <a:t>Trijn</a:t>
            </a:r>
            <a:r>
              <a:rPr lang="nl-NL" sz="1200">
                <a:effectLst/>
                <a:latin typeface="Verdana"/>
                <a:ea typeface="Calibri"/>
                <a:cs typeface="Arial"/>
              </a:rPr>
              <a:t> de eerste stappen om het fundament te realiseren financieren. In deze initiële snelle toets worden de eerste stappen (prioritering) beschreven aan de hand van </a:t>
            </a:r>
            <a:r>
              <a:rPr lang="nl-NL" sz="1200" err="1">
                <a:effectLst/>
                <a:latin typeface="Verdana"/>
                <a:ea typeface="Calibri"/>
                <a:cs typeface="Arial"/>
              </a:rPr>
              <a:t>use</a:t>
            </a:r>
            <a:r>
              <a:rPr lang="nl-NL" sz="1200">
                <a:effectLst/>
                <a:latin typeface="Verdana"/>
                <a:ea typeface="Calibri"/>
                <a:cs typeface="Arial"/>
              </a:rPr>
              <a:t> cases die direct impact maken op zorg en ondersteuning in de regio.</a:t>
            </a:r>
            <a:r>
              <a:rPr lang="nl-NL" sz="1200">
                <a:latin typeface="Verdana"/>
                <a:ea typeface="Calibri"/>
                <a:cs typeface="Arial"/>
              </a:rPr>
              <a:t> </a:t>
            </a:r>
            <a:endParaRPr lang="nl-NL" sz="1200">
              <a:effectLst/>
              <a:latin typeface="Verdana" panose="020B0604030504040204" pitchFamily="34" charset="0"/>
              <a:ea typeface="Calibri" panose="020F0502020204030204" pitchFamily="34" charset="0"/>
              <a:cs typeface="Arial" panose="020B0604020202020204" pitchFamily="34" charset="0"/>
            </a:endParaRPr>
          </a:p>
          <a:p>
            <a:endParaRPr lang="nl-NL"/>
          </a:p>
          <a:p>
            <a:r>
              <a:rPr lang="nl-NL" sz="1800" b="1">
                <a:effectLst/>
                <a:latin typeface="Verdana" panose="020B0604030504040204" pitchFamily="34" charset="0"/>
                <a:ea typeface="Calibri" panose="020F0502020204030204" pitchFamily="34" charset="0"/>
                <a:cs typeface="Arial" panose="020B0604020202020204" pitchFamily="34" charset="0"/>
              </a:rPr>
              <a:t>Netwerkzorg kan niet zonder goede data- en applicatiearchitectuur en het opbouwen van de data- en applicatiearchitectuur kan niet zonder de netwerkzorg. De basis op orde is een absolute voorwaarde voor het realiseren van allebei. </a:t>
            </a:r>
          </a:p>
          <a:p>
            <a:endParaRPr lang="nl-NL"/>
          </a:p>
          <a:p>
            <a:r>
              <a:rPr lang="nl-NL" sz="1800" b="0" i="0" u="none" strike="noStrike" baseline="0">
                <a:solidFill>
                  <a:srgbClr val="000000"/>
                </a:solidFill>
                <a:latin typeface="Helvetica Now Display"/>
              </a:rPr>
              <a:t>Praktische invulling geven aan transformatie in de zorg; parallelle ontwikkeling van de regionale Data &amp; Applicatie Architectuur en toepassingen (business functionaliteiten) op basis van </a:t>
            </a:r>
            <a:r>
              <a:rPr lang="nl-NL" sz="1800" b="0" i="0" u="none" strike="noStrike" baseline="0" err="1">
                <a:solidFill>
                  <a:srgbClr val="000000"/>
                </a:solidFill>
                <a:latin typeface="Helvetica Now Display"/>
              </a:rPr>
              <a:t>use</a:t>
            </a:r>
            <a:r>
              <a:rPr lang="nl-NL" sz="1800" b="0" i="0" u="none" strike="noStrike" baseline="0">
                <a:solidFill>
                  <a:srgbClr val="000000"/>
                </a:solidFill>
                <a:latin typeface="Helvetica Now Display"/>
              </a:rPr>
              <a:t> cases. </a:t>
            </a:r>
          </a:p>
          <a:p>
            <a:endParaRPr lang="nl-NL" sz="1800" b="0" i="0" u="none" strike="noStrike" baseline="0">
              <a:solidFill>
                <a:srgbClr val="000000"/>
              </a:solidFill>
              <a:latin typeface="Helvetica Now Display"/>
            </a:endParaRPr>
          </a:p>
          <a:p>
            <a:r>
              <a:rPr lang="nl-NL" b="1"/>
              <a:t>Ambities Netwerkzorg:</a:t>
            </a:r>
            <a:endParaRPr lang="nl-NL" sz="1200" b="1">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Regionale transmurale afspraken (</a:t>
            </a:r>
            <a:r>
              <a:rPr lang="nl-NL" sz="1200" err="1">
                <a:effectLst/>
                <a:latin typeface="Calibri" panose="020F0502020204030204" pitchFamily="34" charset="0"/>
                <a:ea typeface="Cambria" panose="02040503050406030204" pitchFamily="18" charset="0"/>
                <a:cs typeface="Cambria" panose="02040503050406030204" pitchFamily="18" charset="0"/>
              </a:rPr>
              <a:t>RTA’s</a:t>
            </a:r>
            <a:r>
              <a:rPr lang="nl-NL" sz="1200">
                <a:effectLst/>
                <a:latin typeface="Calibri" panose="020F0502020204030204" pitchFamily="34" charset="0"/>
                <a:ea typeface="Cambria" panose="02040503050406030204" pitchFamily="18" charset="0"/>
                <a:cs typeface="Cambria" panose="02040503050406030204" pitchFamily="18" charset="0"/>
              </a:rPr>
              <a:t>) vormen de basis.</a:t>
            </a:r>
            <a:endParaRPr lang="nl-NL" sz="1200">
              <a:effectLst/>
              <a:latin typeface="Cambria" panose="02040503050406030204" pitchFamily="18" charset="0"/>
              <a:ea typeface="Cambria" panose="02040503050406030204" pitchFamily="18" charset="0"/>
              <a:cs typeface="Cambria" panose="02040503050406030204" pitchFamily="18" charset="0"/>
            </a:endParaRPr>
          </a:p>
          <a:p>
            <a:pPr marL="342900" indent="-342900">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Realiseren van een netwerkzorgplatform.</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Digitale (zorg)communicatie met inwoners en patiënten, en professionals onderling ter ondersteuning van netwerkzorg.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Hybride 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endParaRPr lang="nl-NL" sz="1200" i="1">
              <a:effectLst/>
              <a:latin typeface="Calibri" panose="020F0502020204030204" pitchFamily="34" charset="0"/>
              <a:ea typeface="Calibri" panose="020F0502020204030204" pitchFamily="34" charset="0"/>
              <a:cs typeface="Times New Roman" panose="02020603050405020304" pitchFamily="18" charset="0"/>
            </a:endParaRPr>
          </a:p>
          <a:p>
            <a:r>
              <a:rPr lang="nl-NL" sz="1200" b="1" i="1">
                <a:effectLst/>
                <a:latin typeface="Calibri" panose="020F0502020204030204" pitchFamily="34" charset="0"/>
                <a:ea typeface="Calibri" panose="020F0502020204030204" pitchFamily="34" charset="0"/>
                <a:cs typeface="Times New Roman" panose="02020603050405020304" pitchFamily="18" charset="0"/>
              </a:rPr>
              <a:t>Ad.1. </a:t>
            </a:r>
            <a:r>
              <a:rPr lang="nl-NL" sz="1200" b="1" i="1" err="1">
                <a:effectLst/>
                <a:latin typeface="Calibri" panose="020F0502020204030204" pitchFamily="34" charset="0"/>
                <a:ea typeface="Calibri" panose="020F0502020204030204" pitchFamily="34" charset="0"/>
                <a:cs typeface="Times New Roman" panose="02020603050405020304" pitchFamily="18" charset="0"/>
              </a:rPr>
              <a:t>RTA’s</a:t>
            </a:r>
            <a:r>
              <a:rPr lang="nl-NL" sz="1200" b="1" i="1">
                <a:effectLst/>
                <a:latin typeface="Calibri" panose="020F0502020204030204" pitchFamily="34" charset="0"/>
                <a:ea typeface="Calibri" panose="020F0502020204030204" pitchFamily="34" charset="0"/>
                <a:cs typeface="Times New Roman" panose="02020603050405020304" pitchFamily="18" charset="0"/>
              </a:rPr>
              <a:t> zijn de zorgpaden/zorgprocessen, regionale transmurale afspraken en (netwerkzorg) werkafspraken.</a:t>
            </a:r>
            <a:endParaRPr lang="en-NL" sz="1200" b="1" i="1">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Het doel is ervoor te zorgen dat er uniforme afspraken komen tussen de sectoren over bijvoorbeeld diagnostiek, behandeling, consultatie, berichtgeving, verwijzing en </a:t>
            </a:r>
            <a:r>
              <a:rPr lang="nl-NL" sz="120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terugverwijzing</a:t>
            </a:r>
            <a:r>
              <a:rPr lang="nl-NL"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De professionals kunnen zo eenduidig helpen te bepalen welke inwoner waar moet worden gezien en behandeld. Bovendien is behandel- en ondersteuningsaanbod op elkaar afgestemd en wordt naar verwachting 5-10% onnodige zorg voorkomen. </a:t>
            </a:r>
            <a:endParaRPr lang="en-NL" sz="1200">
              <a:effectLst/>
              <a:latin typeface="Times New Roman" panose="02020603050405020304" pitchFamily="18" charset="0"/>
              <a:ea typeface="Times New Roman" panose="02020603050405020304" pitchFamily="18" charset="0"/>
            </a:endParaRPr>
          </a:p>
          <a:p>
            <a:endParaRPr lang="nl-NL" b="0"/>
          </a:p>
          <a:p>
            <a:r>
              <a:rPr lang="nl-NL" b="1"/>
              <a:t>Ad.2. Zorgnetwerkplatform</a:t>
            </a:r>
          </a:p>
          <a:p>
            <a:r>
              <a:rPr lang="nl-NL" sz="120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Doelstelling is dat professionals en inwoners in de regio’s via één netwerkzorgtoepassing geïntegreerd in de eigen werkomgeving toegang hebben tot alle relevante gegevens uit verschillende gegevensbronnen uit verschillende domeinen. </a:t>
            </a:r>
            <a:r>
              <a:rPr lang="nl-NL" sz="1200">
                <a:effectLst/>
                <a:latin typeface="Calibri" panose="020F0502020204030204" pitchFamily="34" charset="0"/>
                <a:ea typeface="Calibri" panose="020F0502020204030204" pitchFamily="34" charset="0"/>
                <a:cs typeface="Times New Roman" panose="02020603050405020304" pitchFamily="18" charset="0"/>
              </a:rPr>
              <a:t>Dat wil zeggen: gezondheid en sport, welzijn, sociaal en (jeugd-) (wijk) (acute) zorg. </a:t>
            </a:r>
            <a:r>
              <a:rPr lang="nl-NL" sz="1200">
                <a:effectLst/>
                <a:latin typeface="Calibri" panose="020F0502020204030204" pitchFamily="34" charset="0"/>
                <a:ea typeface="Calibri" panose="020F0502020204030204" pitchFamily="34" charset="0"/>
              </a:rPr>
              <a:t>Meer snelheid in de verschillende processen waardoor productiviteit met 7,5-10% verhoogd kan worden. Hulpverleners zijn op de hoogte van elkaars interventies en dat bevordert de kwaliteit van zorg. Daarmee ook de ervaring van de inwoner/patiënt. Deze ervaart meer regie op het eigen behandelproces. Professionals zullen in 2026 een reductie van 35% ervaren ten aanzien van administratie lasten en uitzoekwerk. Met netwerkzorg zal het percentage van doorverwijzingen naar de tweede lijn afnemen. Ambitie is dat  deze de komende jaren met 7% gereduceerd wordt.</a:t>
            </a:r>
          </a:p>
          <a:p>
            <a:endParaRPr lang="nl-NL" sz="1200">
              <a:effectLst/>
              <a:latin typeface="Calibri" panose="020F0502020204030204" pitchFamily="34" charset="0"/>
              <a:ea typeface="Calibri" panose="020F0502020204030204" pitchFamily="34" charset="0"/>
              <a:cs typeface="Times New Roman" panose="02020603050405020304" pitchFamily="18" charset="0"/>
            </a:endParaRPr>
          </a:p>
          <a:p>
            <a:r>
              <a:rPr lang="nl-NL" sz="1200" b="1">
                <a:effectLst/>
                <a:latin typeface="Calibri" panose="020F0502020204030204" pitchFamily="34" charset="0"/>
                <a:ea typeface="Calibri" panose="020F0502020204030204" pitchFamily="34" charset="0"/>
                <a:cs typeface="Times New Roman" panose="02020603050405020304" pitchFamily="18" charset="0"/>
              </a:rPr>
              <a:t>Ad.3. Digitale Communicatie</a:t>
            </a:r>
          </a:p>
          <a:p>
            <a:r>
              <a:rPr lang="nl-NL" sz="1200">
                <a:effectLst/>
                <a:latin typeface="Calibri" panose="020F0502020204030204" pitchFamily="34" charset="0"/>
                <a:ea typeface="Calibri" panose="020F0502020204030204" pitchFamily="34" charset="0"/>
                <a:cs typeface="Times New Roman" panose="02020603050405020304" pitchFamily="18" charset="0"/>
              </a:rPr>
              <a:t>De doelstelling is om een uniforme, regionale basisinfrastructuur neer te zetten voor digitale communicatie binnen het totale zorgnetwerk, met goede koppelingen met de dossiers. Het betreft de realisatie van op grote schaal multidisciplinaire digitale communicatie tussen huisarts en specialist én patiënt, het zogenoemde meedenk-consult gecombineerd met het digitaal verwijzen. Dit betreft ook het op regionaal niveau harmoniseren van de werkwijze en een keuze voor een digitaal platform voor communicatie en verwijzing maken. </a:t>
            </a:r>
            <a:endParaRPr lang="nl-NL" sz="1200" b="0">
              <a:effectLst/>
              <a:latin typeface="Calibri" panose="020F0502020204030204" pitchFamily="34" charset="0"/>
              <a:ea typeface="Calibri" panose="020F0502020204030204" pitchFamily="34" charset="0"/>
              <a:cs typeface="Times New Roman" panose="02020603050405020304" pitchFamily="18" charset="0"/>
            </a:endParaRPr>
          </a:p>
          <a:p>
            <a:endParaRPr lang="nl-NL" b="0"/>
          </a:p>
          <a:p>
            <a:r>
              <a:rPr lang="nl-NL" b="1"/>
              <a:t>Ad. 4. Hybride Zorg</a:t>
            </a:r>
          </a:p>
          <a:p>
            <a:pPr marL="0" lvl="0" indent="0">
              <a:buFont typeface="Arial" panose="020B0604020202020204" pitchFamily="34" charset="0"/>
              <a:buNone/>
            </a:pPr>
            <a:r>
              <a:rPr lang="nl-NL" sz="1200" b="0">
                <a:effectLst/>
                <a:latin typeface="Calibri" panose="020F0502020204030204" pitchFamily="34" charset="0"/>
                <a:ea typeface="Times New Roman" panose="02020603050405020304" pitchFamily="18" charset="0"/>
                <a:cs typeface="Cambria" panose="02040503050406030204" pitchFamily="18" charset="0"/>
              </a:rPr>
              <a:t>a) </a:t>
            </a:r>
            <a:r>
              <a:rPr lang="nl-NL" sz="1200" b="0" err="1">
                <a:effectLst/>
                <a:latin typeface="Calibri" panose="020F0502020204030204" pitchFamily="34" charset="0"/>
                <a:ea typeface="Times New Roman" panose="02020603050405020304" pitchFamily="18" charset="0"/>
                <a:cs typeface="Cambria" panose="02040503050406030204" pitchFamily="18" charset="0"/>
              </a:rPr>
              <a:t>Telemonitoring</a:t>
            </a:r>
            <a:r>
              <a:rPr lang="nl-NL" sz="1200" b="0">
                <a:effectLst/>
                <a:latin typeface="Calibri" panose="020F0502020204030204" pitchFamily="34" charset="0"/>
                <a:ea typeface="Times New Roman" panose="02020603050405020304" pitchFamily="18" charset="0"/>
                <a:cs typeface="Cambria" panose="02040503050406030204" pitchFamily="18" charset="0"/>
              </a:rPr>
              <a:t> en </a:t>
            </a:r>
            <a:r>
              <a:rPr lang="nl-NL" sz="1200" b="0" err="1">
                <a:effectLst/>
                <a:latin typeface="Calibri" panose="020F0502020204030204" pitchFamily="34" charset="0"/>
                <a:ea typeface="Times New Roman" panose="02020603050405020304" pitchFamily="18" charset="0"/>
                <a:cs typeface="Cambria" panose="02040503050406030204" pitchFamily="18" charset="0"/>
              </a:rPr>
              <a:t>telebehandeling</a:t>
            </a:r>
            <a:r>
              <a:rPr lang="nl-NL" sz="1200" b="0">
                <a:effectLst/>
                <a:latin typeface="Calibri" panose="020F0502020204030204" pitchFamily="34" charset="0"/>
                <a:ea typeface="Times New Roman" panose="02020603050405020304" pitchFamily="18" charset="0"/>
                <a:cs typeface="Cambria" panose="02040503050406030204" pitchFamily="18" charset="0"/>
              </a:rPr>
              <a:t> (zorg op afstand)</a:t>
            </a:r>
            <a:endParaRPr lang="en-NL" sz="1200" b="0">
              <a:effectLst/>
              <a:latin typeface="Cambria" panose="02040503050406030204" pitchFamily="18" charset="0"/>
              <a:ea typeface="Times New Roman" panose="02020603050405020304" pitchFamily="18" charset="0"/>
              <a:cs typeface="Cambria" panose="02040503050406030204" pitchFamily="18" charset="0"/>
            </a:endParaRPr>
          </a:p>
          <a:p>
            <a:pPr marL="0" lvl="0" indent="0">
              <a:buFont typeface="Arial" panose="020B0604020202020204" pitchFamily="34" charset="0"/>
              <a:buNone/>
            </a:pPr>
            <a:r>
              <a:rPr lang="nl-NL" sz="1200" b="0">
                <a:effectLst/>
                <a:latin typeface="Calibri" panose="020F0502020204030204" pitchFamily="34" charset="0"/>
                <a:ea typeface="Times New Roman" panose="02020603050405020304" pitchFamily="18" charset="0"/>
                <a:cs typeface="Cambria" panose="02040503050406030204" pitchFamily="18" charset="0"/>
              </a:rPr>
              <a:t>b) Digitalisering van zorgpaden</a:t>
            </a:r>
            <a:r>
              <a:rPr lang="nl-NL" sz="1200" b="0">
                <a:effectLst/>
                <a:latin typeface="Cambria" panose="02040503050406030204" pitchFamily="18" charset="0"/>
                <a:ea typeface="Times New Roman" panose="02020603050405020304" pitchFamily="18" charset="0"/>
                <a:cs typeface="Cambria" panose="02040503050406030204" pitchFamily="18" charset="0"/>
              </a:rPr>
              <a:t>/zorgprocessen</a:t>
            </a:r>
          </a:p>
          <a:p>
            <a:pPr marL="0" lvl="0" indent="0">
              <a:buFont typeface="Arial" panose="020B0604020202020204" pitchFamily="34" charset="0"/>
              <a:buNone/>
            </a:pPr>
            <a:endParaRPr lang="nl-NL" sz="12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Arial" panose="020B0604020202020204" pitchFamily="34" charset="0"/>
              <a:buAutoNum type="alphaLcParenR"/>
            </a:pPr>
            <a:r>
              <a:rPr lang="nl-NL" sz="1200">
                <a:effectLst/>
                <a:latin typeface="Calibri" panose="020F0502020204030204" pitchFamily="34" charset="0"/>
                <a:ea typeface="Calibri" panose="020F0502020204030204" pitchFamily="34" charset="0"/>
                <a:cs typeface="Times New Roman" panose="02020603050405020304" pitchFamily="18" charset="0"/>
              </a:rPr>
              <a:t>De  functie van </a:t>
            </a:r>
            <a:r>
              <a:rPr lang="nl-NL" sz="1200" err="1">
                <a:effectLst/>
                <a:latin typeface="Calibri" panose="020F0502020204030204" pitchFamily="34" charset="0"/>
                <a:ea typeface="Calibri" panose="020F0502020204030204" pitchFamily="34" charset="0"/>
                <a:cs typeface="Times New Roman" panose="02020603050405020304" pitchFamily="18" charset="0"/>
              </a:rPr>
              <a:t>telemonitoring</a:t>
            </a:r>
            <a:r>
              <a:rPr lang="nl-NL" sz="1200">
                <a:effectLst/>
                <a:latin typeface="Calibri" panose="020F0502020204030204" pitchFamily="34" charset="0"/>
                <a:ea typeface="Calibri" panose="020F0502020204030204" pitchFamily="34" charset="0"/>
                <a:cs typeface="Times New Roman" panose="02020603050405020304" pitchFamily="18" charset="0"/>
              </a:rPr>
              <a:t> wordt regionaal voor ten minste 65% ondergebracht in het medisch regie centrum (MRC). Op dit moment is de functie van MRC ondergebracht bij twee ziekenhuizen in onze regio: het UMC Utrecht (medisch regiecentrum UMCU) en het Sint Antonius ziekenhuis (Zorg Bij Jou). Ons doel is om tot één MRC voor de regio te komen, met als basis </a:t>
            </a:r>
            <a:r>
              <a:rPr lang="nl-NL" sz="1200" err="1">
                <a:effectLst/>
                <a:latin typeface="Calibri" panose="020F0502020204030204" pitchFamily="34" charset="0"/>
                <a:ea typeface="Calibri" panose="020F0502020204030204" pitchFamily="34" charset="0"/>
                <a:cs typeface="Times New Roman" panose="02020603050405020304" pitchFamily="18" charset="0"/>
              </a:rPr>
              <a:t>Santeon</a:t>
            </a:r>
            <a:r>
              <a:rPr lang="nl-NL" sz="1200">
                <a:effectLst/>
                <a:latin typeface="Calibri" panose="020F0502020204030204" pitchFamily="34" charset="0"/>
                <a:ea typeface="Calibri" panose="020F0502020204030204" pitchFamily="34" charset="0"/>
                <a:cs typeface="Times New Roman" panose="02020603050405020304" pitchFamily="18" charset="0"/>
              </a:rPr>
              <a:t> Zorg bij jou.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AutoNum type="alphaLcParenR"/>
              <a:tabLst/>
              <a:defRPr/>
            </a:pPr>
            <a:r>
              <a:rPr lang="nl-NL" sz="1200">
                <a:effectLst/>
                <a:latin typeface="Calibri" panose="020F0502020204030204" pitchFamily="34" charset="0"/>
                <a:ea typeface="Calibri" panose="020F0502020204030204" pitchFamily="34" charset="0"/>
                <a:cs typeface="Times New Roman" panose="02020603050405020304" pitchFamily="18" charset="0"/>
              </a:rPr>
              <a:t>De harmonisatie van werkprocessen en toepassingen maakt de stap naar een regionaal (</a:t>
            </a:r>
            <a:r>
              <a:rPr lang="nl-NL" sz="1200" err="1">
                <a:effectLst/>
                <a:latin typeface="Calibri" panose="020F0502020204030204" pitchFamily="34" charset="0"/>
                <a:ea typeface="Calibri" panose="020F0502020204030204" pitchFamily="34" charset="0"/>
                <a:cs typeface="Times New Roman" panose="02020603050405020304" pitchFamily="18" charset="0"/>
              </a:rPr>
              <a:t>telemonitoring</a:t>
            </a:r>
            <a:r>
              <a:rPr lang="nl-NL" sz="1200">
                <a:effectLst/>
                <a:latin typeface="Calibri" panose="020F0502020204030204" pitchFamily="34" charset="0"/>
                <a:ea typeface="Calibri" panose="020F0502020204030204" pitchFamily="34" charset="0"/>
                <a:cs typeface="Times New Roman" panose="02020603050405020304" pitchFamily="18" charset="0"/>
              </a:rPr>
              <a:t>) medisch centrum makkelijker mogelijk. Daarnaast wordt verwacht dat </a:t>
            </a:r>
            <a:r>
              <a:rPr lang="nl-NL" sz="1200" err="1">
                <a:effectLst/>
                <a:latin typeface="Calibri" panose="020F0502020204030204" pitchFamily="34" charset="0"/>
                <a:ea typeface="Calibri" panose="020F0502020204030204" pitchFamily="34" charset="0"/>
                <a:cs typeface="Times New Roman" panose="02020603050405020304" pitchFamily="18" charset="0"/>
              </a:rPr>
              <a:t>telemonitoring</a:t>
            </a:r>
            <a:r>
              <a:rPr lang="nl-NL" sz="1200">
                <a:effectLst/>
                <a:latin typeface="Calibri" panose="020F0502020204030204" pitchFamily="34" charset="0"/>
                <a:ea typeface="Calibri" panose="020F0502020204030204" pitchFamily="34" charset="0"/>
                <a:cs typeface="Times New Roman" panose="02020603050405020304" pitchFamily="18" charset="0"/>
              </a:rPr>
              <a:t> kan leiden tot verplaatsing van tweede- naar eerstelijns zorg. Bovendien valt de patiënt niet meer onder de directe behandeling van de arts/specialist. Deze blijft vaak wel de regiebehandelaar. De inzet kan verlegd worden naar POH, specialistisch verpleegkundigen of anders.</a:t>
            </a:r>
            <a:endParaRPr lang="en-NL" sz="1200">
              <a:effectLst/>
              <a:latin typeface="Calibri" panose="020F0502020204030204" pitchFamily="34" charset="0"/>
              <a:ea typeface="Calibri" panose="020F0502020204030204" pitchFamily="34" charset="0"/>
              <a:cs typeface="Times New Roman" panose="02020603050405020304" pitchFamily="18" charset="0"/>
            </a:endParaRPr>
          </a:p>
          <a:p>
            <a:endParaRPr lang="nl-NL" sz="1800" b="0" i="0" u="none" strike="noStrike" baseline="0">
              <a:solidFill>
                <a:srgbClr val="000000"/>
              </a:solidFill>
              <a:latin typeface="Helvetica Now Display"/>
            </a:endParaRPr>
          </a:p>
          <a:p>
            <a:r>
              <a:rPr lang="nl-NL" sz="1800" b="1" i="0" u="none" strike="noStrike" baseline="0">
                <a:solidFill>
                  <a:srgbClr val="000000"/>
                </a:solidFill>
                <a:latin typeface="Helvetica Now Display"/>
              </a:rPr>
              <a:t>Ambities Basis op Orde</a:t>
            </a:r>
            <a:endParaRPr lang="nl-NL" sz="1800" b="0" i="0" u="none" strike="noStrike" baseline="0">
              <a:solidFill>
                <a:srgbClr val="000000"/>
              </a:solidFill>
              <a:latin typeface="Helvetica Now Display"/>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a:effectLst/>
                <a:latin typeface="Calibri" panose="020F0502020204030204" pitchFamily="34" charset="0"/>
                <a:ea typeface="Calibri" panose="020F0502020204030204" pitchFamily="34" charset="0"/>
                <a:cs typeface="Times New Roman" panose="02020603050405020304" pitchFamily="18" charset="0"/>
              </a:rPr>
              <a:t>Doelstelling is de implementatie van standaarden en inzet van gemeenschappelijke voorzieningen voor generieke functies zodat informatie beschikbaar, deelbaar en uitwisselbaar wordt. Hierbij denken we aan de landelijke infrastructuren (zoals LSP, XDS en de datastations), landelijke afsprakenstelsels (zoals </a:t>
            </a:r>
            <a:r>
              <a:rPr lang="nl-NL" sz="1800" err="1">
                <a:effectLst/>
                <a:latin typeface="Calibri" panose="020F0502020204030204" pitchFamily="34" charset="0"/>
                <a:ea typeface="Calibri" panose="020F0502020204030204" pitchFamily="34" charset="0"/>
                <a:cs typeface="Times New Roman" panose="02020603050405020304" pitchFamily="18" charset="0"/>
              </a:rPr>
              <a:t>Twiin</a:t>
            </a:r>
            <a:r>
              <a:rPr lang="nl-NL" sz="1800">
                <a:effectLst/>
                <a:latin typeface="Calibri" panose="020F0502020204030204" pitchFamily="34" charset="0"/>
                <a:ea typeface="Calibri" panose="020F0502020204030204" pitchFamily="34" charset="0"/>
                <a:cs typeface="Times New Roman" panose="02020603050405020304" pitchFamily="18" charset="0"/>
              </a:rPr>
              <a:t> en Nuts), FHIR-standaarden voor de koppelingen (waar nodig open EHR), </a:t>
            </a:r>
            <a:r>
              <a:rPr lang="nl-NL" sz="1800" err="1">
                <a:effectLst/>
                <a:latin typeface="Calibri" panose="020F0502020204030204" pitchFamily="34" charset="0"/>
                <a:ea typeface="Calibri" panose="020F0502020204030204" pitchFamily="34" charset="0"/>
                <a:cs typeface="Times New Roman" panose="02020603050405020304" pitchFamily="18" charset="0"/>
              </a:rPr>
              <a:t>Wegiz</a:t>
            </a:r>
            <a:r>
              <a:rPr lang="nl-NL" sz="1800">
                <a:effectLst/>
                <a:latin typeface="Calibri" panose="020F0502020204030204" pitchFamily="34" charset="0"/>
                <a:ea typeface="Calibri" panose="020F0502020204030204" pitchFamily="34" charset="0"/>
                <a:cs typeface="Times New Roman" panose="02020603050405020304" pitchFamily="18" charset="0"/>
              </a:rPr>
              <a:t> standaarden voor de meest cruciale overdrachten incl. de acute- en ambulance zorg. Het gaat hierbij ook om standaarden voor privacy en informatieveiligheid.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1">
                <a:effectLst/>
                <a:latin typeface="Calibri" panose="020F0502020204030204" pitchFamily="34" charset="0"/>
                <a:ea typeface="Calibri" panose="020F0502020204030204" pitchFamily="34" charset="0"/>
                <a:cs typeface="Times New Roman" panose="02020603050405020304" pitchFamily="18" charset="0"/>
              </a:rPr>
              <a:t>Ambities Regionale Data- &amp; Applicatiearchitectuur</a:t>
            </a:r>
            <a:endParaRPr lang="nl-NL" sz="1800" b="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0">
                <a:effectLst/>
                <a:latin typeface="Calibri" panose="020F0502020204030204" pitchFamily="34" charset="0"/>
                <a:ea typeface="Calibri" panose="020F0502020204030204" pitchFamily="34" charset="0"/>
                <a:cs typeface="Times New Roman" panose="02020603050405020304" pitchFamily="18" charset="0"/>
              </a:rPr>
              <a:t>Doel is het realiseren van een </a:t>
            </a:r>
            <a:r>
              <a:rPr lang="nl-NL" sz="1800">
                <a:effectLst/>
                <a:latin typeface="Calibri" panose="020F0502020204030204" pitchFamily="34" charset="0"/>
                <a:ea typeface="Calibri" panose="020F0502020204030204" pitchFamily="34" charset="0"/>
                <a:cs typeface="Times New Roman" panose="02020603050405020304" pitchFamily="18" charset="0"/>
              </a:rPr>
              <a:t>verbindend fundament, een dataplatform zorg, </a:t>
            </a:r>
            <a:r>
              <a:rPr lang="nl-NL" sz="1800">
                <a:effectLst/>
                <a:latin typeface="Calibri" panose="020F0502020204030204" pitchFamily="34" charset="0"/>
                <a:ea typeface="Calibri" panose="020F0502020204030204" pitchFamily="34" charset="0"/>
              </a:rPr>
              <a:t>om te kunnen komen tot het leveren van ‘passende zorg’. In de regio is succesvol gewerkt aan transformatie van oncologische zorg met behulp van digitalisering en databeschikbaarheid in Data Delen Midden-Nederland (DDMN): </a:t>
            </a:r>
            <a:r>
              <a:rPr lang="nl-NL" sz="1800" err="1">
                <a:effectLst/>
                <a:latin typeface="Calibri" panose="020F0502020204030204" pitchFamily="34" charset="0"/>
                <a:ea typeface="Calibri" panose="020F0502020204030204" pitchFamily="34" charset="0"/>
              </a:rPr>
              <a:t>Onco-Mid</a:t>
            </a:r>
            <a:r>
              <a:rPr lang="nl-NL" sz="1800">
                <a:effectLst/>
                <a:latin typeface="Calibri" panose="020F0502020204030204" pitchFamily="34" charset="0"/>
                <a:ea typeface="Calibri" panose="020F0502020204030204" pitchFamily="34" charset="0"/>
              </a:rPr>
              <a:t>. DDMN, Ook </a:t>
            </a:r>
            <a:r>
              <a:rPr lang="nl-NL" sz="1800" err="1">
                <a:effectLst/>
                <a:latin typeface="Calibri" panose="020F0502020204030204" pitchFamily="34" charset="0"/>
                <a:ea typeface="Calibri" panose="020F0502020204030204" pitchFamily="34" charset="0"/>
              </a:rPr>
              <a:t>BabyConnect</a:t>
            </a:r>
            <a:r>
              <a:rPr lang="nl-NL" sz="1800">
                <a:effectLst/>
                <a:latin typeface="Calibri" panose="020F0502020204030204" pitchFamily="34" charset="0"/>
                <a:ea typeface="Calibri" panose="020F0502020204030204" pitchFamily="34" charset="0"/>
              </a:rPr>
              <a:t> met HINQ, is een goed voorbeeld van netwerksamenwerking voor passende zorg met een data-architectuur en -infrastructuur die past bij de nationale visie en strategie op het gezondheidsinformatiestelsel van VWS, het IZA, en bij landelijke ontwikkelingen. </a:t>
            </a:r>
            <a:r>
              <a:rPr lang="nl-NL" sz="1800">
                <a:effectLst/>
                <a:latin typeface="Calibri" panose="020F0502020204030204" pitchFamily="34" charset="0"/>
                <a:ea typeface="Calibri" panose="020F0502020204030204" pitchFamily="34" charset="0"/>
                <a:cs typeface="Times New Roman" panose="02020603050405020304" pitchFamily="18" charset="0"/>
              </a:rPr>
              <a:t>Als basis voor de data architectuur onderscheiden we vier domeinen. </a:t>
            </a: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Preventieve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GROZ</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Populatiemanagement</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Patiënt gestuurde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Psychische 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Times New Roman" panose="02020603050405020304" pitchFamily="18" charset="0"/>
                <a:cs typeface="Times New Roman" panose="02020603050405020304" pitchFamily="18" charset="0"/>
              </a:rPr>
              <a:t>Zelf- &amp; thuiszorg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Transmurale- en netwerkzorg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Regionale oplossingen faciliteren DDMN, </a:t>
            </a:r>
            <a:r>
              <a:rPr lang="nl-NL" sz="1000" err="1">
                <a:effectLst/>
                <a:latin typeface="Calibri" panose="020F0502020204030204" pitchFamily="34" charset="0"/>
                <a:ea typeface="Cambria" panose="02040503050406030204" pitchFamily="18" charset="0"/>
                <a:cs typeface="Cambria" panose="02040503050406030204" pitchFamily="18" charset="0"/>
              </a:rPr>
              <a:t>Babyconnect</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Samenwerking tussen HA, VVT, APO, ZKHS-en, etc. bevorderen</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Regionaal medisch regiecentrum</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Acute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800100" lvl="1" indent="-34290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ROAZ</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800100" lvl="1" indent="-342900">
              <a:lnSpc>
                <a:spcPts val="1200"/>
              </a:lnSpc>
              <a:buFont typeface="+mj-lt"/>
              <a:buAutoNum type="alphaLcPeriod"/>
            </a:pPr>
            <a:r>
              <a:rPr lang="nl-NL" sz="1000">
                <a:effectLst/>
                <a:latin typeface="Calibri" panose="020F0502020204030204" pitchFamily="34" charset="0"/>
                <a:ea typeface="Calibri" panose="020F0502020204030204" pitchFamily="34" charset="0"/>
                <a:cs typeface="Cambria" panose="02040503050406030204" pitchFamily="18" charset="0"/>
              </a:rPr>
              <a:t>Zorgcoördinatie Centrum </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b="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1">
                <a:effectLst/>
                <a:latin typeface="Calibri" panose="020F0502020204030204" pitchFamily="34" charset="0"/>
                <a:ea typeface="Calibri" panose="020F0502020204030204" pitchFamily="34" charset="0"/>
                <a:cs typeface="Times New Roman" panose="02020603050405020304" pitchFamily="18" charset="0"/>
              </a:rPr>
              <a:t>Ontwikkelperspectief</a:t>
            </a: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Inzien en/of raadplegen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middels een viewer, waarbij de zorginformatie in de bron blijft opgeslagen en dus niet in de zorgviewer of ergens anders centraal. Een zorgprofessional heeft daarbij toegang tot zorginformatie van (een) andere zorgaanbieder(s) die betrokken is/zijn bij de zorg rondom dezelfde patiënt op basis van toestemming van de patiënt en/of samenwerkingsafspraken tussen zorgaanbieders/zorgprofessionals.</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Overnemen en hergebruiken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(selectief) ook wel het kunnen verwerken van zorginformatie uit de beschikbaar gestelde datasets (informatiestandaarden) door de ontvangende organisatie. De professional beoordeelt de gegevens en bepaalt of en hoe de gegevens worden opgeslagen en hergebruikt in het lokale zorgdossier. </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Verrijken/toevoegen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op basis van interactie en bi-directionele uitwisseling van gegevens. </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a:effectLst/>
              <a:latin typeface="Calibri" panose="020F0502020204030204" pitchFamily="34" charset="0"/>
              <a:ea typeface="Calibri" panose="020F0502020204030204" pitchFamily="34" charset="0"/>
              <a:cs typeface="Times New Roman" panose="02020603050405020304" pitchFamily="18" charset="0"/>
            </a:endParaRPr>
          </a:p>
          <a:p>
            <a:pPr algn="l"/>
            <a:endParaRPr lang="nl-NL">
              <a:cs typeface="Calibri"/>
            </a:endParaRPr>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7091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kumimoji="0" lang="nl-NL" sz="1200"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Vanuit de twee (2) themaopgaven in de (</a:t>
            </a:r>
            <a:r>
              <a:rPr kumimoji="0" lang="nl-NL" sz="1200" i="0" u="none" strike="noStrike" kern="1200" cap="none" spc="0" normalizeH="0" baseline="0" noProof="0" err="1">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inter</a:t>
            </a:r>
            <a:r>
              <a:rPr kumimoji="0" lang="nl-NL" sz="1200"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)regionale fundamentopgave</a:t>
            </a:r>
          </a:p>
          <a:p>
            <a:endParaRPr lang="nl-NL" sz="1200">
              <a:effectLst/>
              <a:latin typeface="Verdana"/>
              <a:ea typeface="Calibri"/>
              <a:cs typeface="Arial"/>
            </a:endParaRPr>
          </a:p>
          <a:p>
            <a:r>
              <a:rPr lang="nl-NL" sz="1200">
                <a:effectLst/>
                <a:latin typeface="Verdana"/>
                <a:ea typeface="Calibri"/>
                <a:cs typeface="Arial"/>
              </a:rPr>
              <a:t>Middels een transformatiegelden aanvraag wil Trijn de eerste stappen om het fundament te realiseren financieren. In deze initiële snelle toets worden de eerste stappen (prioritering) beschreven aan de hand van </a:t>
            </a:r>
            <a:r>
              <a:rPr lang="nl-NL" sz="1200" err="1">
                <a:effectLst/>
                <a:latin typeface="Verdana"/>
                <a:ea typeface="Calibri"/>
                <a:cs typeface="Arial"/>
              </a:rPr>
              <a:t>use</a:t>
            </a:r>
            <a:r>
              <a:rPr lang="nl-NL" sz="1200">
                <a:effectLst/>
                <a:latin typeface="Verdana"/>
                <a:ea typeface="Calibri"/>
                <a:cs typeface="Arial"/>
              </a:rPr>
              <a:t> cases die direct impact maken op zorg en ondersteuning in de regio.</a:t>
            </a:r>
            <a:r>
              <a:rPr lang="nl-NL" sz="1200">
                <a:latin typeface="Verdana"/>
                <a:ea typeface="Calibri"/>
                <a:cs typeface="Arial"/>
              </a:rPr>
              <a:t> </a:t>
            </a:r>
            <a:endParaRPr lang="nl-NL" sz="1200">
              <a:effectLst/>
              <a:latin typeface="Verdana" panose="020B0604030504040204" pitchFamily="34" charset="0"/>
              <a:ea typeface="Calibri" panose="020F0502020204030204" pitchFamily="34" charset="0"/>
              <a:cs typeface="Arial" panose="020B0604020202020204" pitchFamily="34" charset="0"/>
            </a:endParaRPr>
          </a:p>
          <a:p>
            <a:endParaRPr lang="nl-NL"/>
          </a:p>
          <a:p>
            <a:r>
              <a:rPr lang="nl-NL" sz="1800" b="1">
                <a:effectLst/>
                <a:latin typeface="Verdana" panose="020B0604030504040204" pitchFamily="34" charset="0"/>
                <a:ea typeface="Calibri" panose="020F0502020204030204" pitchFamily="34" charset="0"/>
                <a:cs typeface="Arial" panose="020B0604020202020204" pitchFamily="34" charset="0"/>
              </a:rPr>
              <a:t>Netwerkzorg kan niet zonder goede data- en applicatiearchitectuur en het opbouwen van de data- en applicatiearchitectuur kan niet zonder de netwerkzorg. De basis op orde is een absolute voorwaarde voor het realiseren van allebei. </a:t>
            </a:r>
          </a:p>
          <a:p>
            <a:endParaRPr lang="nl-NL"/>
          </a:p>
          <a:p>
            <a:r>
              <a:rPr lang="nl-NL" sz="1800" b="0" i="0" u="none" strike="noStrike" baseline="0">
                <a:solidFill>
                  <a:srgbClr val="000000"/>
                </a:solidFill>
                <a:latin typeface="Helvetica Now Display"/>
              </a:rPr>
              <a:t>Praktische invulling geven aan transformatie in de zorg; parallelle ontwikkeling van de regionale Data &amp; Applicatie Architectuur en toepassingen (business functionaliteiten) op basis van </a:t>
            </a:r>
            <a:r>
              <a:rPr lang="nl-NL" sz="1800" b="0" i="0" u="none" strike="noStrike" baseline="0" err="1">
                <a:solidFill>
                  <a:srgbClr val="000000"/>
                </a:solidFill>
                <a:latin typeface="Helvetica Now Display"/>
              </a:rPr>
              <a:t>use</a:t>
            </a:r>
            <a:r>
              <a:rPr lang="nl-NL" sz="1800" b="0" i="0" u="none" strike="noStrike" baseline="0">
                <a:solidFill>
                  <a:srgbClr val="000000"/>
                </a:solidFill>
                <a:latin typeface="Helvetica Now Display"/>
              </a:rPr>
              <a:t> cases. </a:t>
            </a:r>
          </a:p>
          <a:p>
            <a:endParaRPr lang="nl-NL" sz="1800" b="0" i="0" u="none" strike="noStrike" baseline="0">
              <a:solidFill>
                <a:srgbClr val="000000"/>
              </a:solidFill>
              <a:latin typeface="Helvetica Now Display"/>
            </a:endParaRPr>
          </a:p>
          <a:p>
            <a:r>
              <a:rPr lang="nl-NL" b="1"/>
              <a:t>Ambities Netwerkzorg:</a:t>
            </a:r>
            <a:endParaRPr lang="nl-NL" sz="1200" b="1">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Regionale transmurale afspraken (</a:t>
            </a:r>
            <a:r>
              <a:rPr lang="nl-NL" sz="1200" err="1">
                <a:effectLst/>
                <a:latin typeface="Calibri" panose="020F0502020204030204" pitchFamily="34" charset="0"/>
                <a:ea typeface="Cambria" panose="02040503050406030204" pitchFamily="18" charset="0"/>
                <a:cs typeface="Cambria" panose="02040503050406030204" pitchFamily="18" charset="0"/>
              </a:rPr>
              <a:t>RTA’s</a:t>
            </a:r>
            <a:r>
              <a:rPr lang="nl-NL" sz="1200">
                <a:effectLst/>
                <a:latin typeface="Calibri" panose="020F0502020204030204" pitchFamily="34" charset="0"/>
                <a:ea typeface="Cambria" panose="02040503050406030204" pitchFamily="18" charset="0"/>
                <a:cs typeface="Cambria" panose="02040503050406030204" pitchFamily="18" charset="0"/>
              </a:rPr>
              <a:t>) vormen de basis.</a:t>
            </a:r>
            <a:endParaRPr lang="nl-NL" sz="1200">
              <a:effectLst/>
              <a:latin typeface="Cambria" panose="02040503050406030204" pitchFamily="18" charset="0"/>
              <a:ea typeface="Cambria" panose="02040503050406030204" pitchFamily="18" charset="0"/>
              <a:cs typeface="Cambria" panose="02040503050406030204" pitchFamily="18" charset="0"/>
            </a:endParaRPr>
          </a:p>
          <a:p>
            <a:pPr marL="342900" indent="-342900">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Realiseren van een netwerkzorgplatform.</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Digitale (zorg)communicatie met inwoners en patiënten, en professionals onderling ter ondersteuning van netwerkzorg.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Hybride 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endParaRPr lang="nl-NL" sz="1200" i="1">
              <a:effectLst/>
              <a:latin typeface="Calibri" panose="020F0502020204030204" pitchFamily="34" charset="0"/>
              <a:ea typeface="Calibri" panose="020F0502020204030204" pitchFamily="34" charset="0"/>
              <a:cs typeface="Times New Roman" panose="02020603050405020304" pitchFamily="18" charset="0"/>
            </a:endParaRPr>
          </a:p>
          <a:p>
            <a:r>
              <a:rPr lang="nl-NL" sz="1200" b="1" i="1">
                <a:effectLst/>
                <a:latin typeface="Calibri" panose="020F0502020204030204" pitchFamily="34" charset="0"/>
                <a:ea typeface="Calibri" panose="020F0502020204030204" pitchFamily="34" charset="0"/>
                <a:cs typeface="Times New Roman" panose="02020603050405020304" pitchFamily="18" charset="0"/>
              </a:rPr>
              <a:t>Ad.1. </a:t>
            </a:r>
            <a:r>
              <a:rPr lang="nl-NL" sz="1200" b="1" i="1" err="1">
                <a:effectLst/>
                <a:latin typeface="Calibri" panose="020F0502020204030204" pitchFamily="34" charset="0"/>
                <a:ea typeface="Calibri" panose="020F0502020204030204" pitchFamily="34" charset="0"/>
                <a:cs typeface="Times New Roman" panose="02020603050405020304" pitchFamily="18" charset="0"/>
              </a:rPr>
              <a:t>RTA’s</a:t>
            </a:r>
            <a:r>
              <a:rPr lang="nl-NL" sz="1200" b="1" i="1">
                <a:effectLst/>
                <a:latin typeface="Calibri" panose="020F0502020204030204" pitchFamily="34" charset="0"/>
                <a:ea typeface="Calibri" panose="020F0502020204030204" pitchFamily="34" charset="0"/>
                <a:cs typeface="Times New Roman" panose="02020603050405020304" pitchFamily="18" charset="0"/>
              </a:rPr>
              <a:t> zijn de zorgpaden/zorgprocessen, regionale transmurale afspraken en (netwerkzorg) werkafspraken.</a:t>
            </a:r>
            <a:endParaRPr lang="en-NL" sz="1200" b="1" i="1">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Het doel is ervoor te zorgen dat er uniforme afspraken komen tussen de sectoren over bijvoorbeeld diagnostiek, behandeling, consultatie, berichtgeving, verwijzing en </a:t>
            </a:r>
            <a:r>
              <a:rPr lang="nl-NL" sz="120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terugverwijzing</a:t>
            </a:r>
            <a:r>
              <a:rPr lang="nl-NL"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De professionals kunnen zo eenduidig helpen te bepalen welke inwoner waar moet worden gezien en behandeld. Bovendien is behandel- en ondersteuningsaanbod op elkaar afgestemd en wordt naar verwachting 5-10% onnodige zorg voorkomen. </a:t>
            </a:r>
            <a:endParaRPr lang="en-NL" sz="1200">
              <a:effectLst/>
              <a:latin typeface="Times New Roman" panose="02020603050405020304" pitchFamily="18" charset="0"/>
              <a:ea typeface="Times New Roman" panose="02020603050405020304" pitchFamily="18" charset="0"/>
            </a:endParaRPr>
          </a:p>
          <a:p>
            <a:endParaRPr lang="nl-NL" b="0"/>
          </a:p>
          <a:p>
            <a:r>
              <a:rPr lang="nl-NL" b="1"/>
              <a:t>Ad.2. Zorgnetwerkplatform</a:t>
            </a:r>
          </a:p>
          <a:p>
            <a:r>
              <a:rPr lang="nl-NL" sz="120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Doelstelling is dat professionals en inwoners in de regio’s via één netwerkzorgtoepassing geïntegreerd in de eigen werkomgeving toegang hebben tot alle relevante gegevens uit verschillende gegevensbronnen uit verschillende domeinen. </a:t>
            </a:r>
            <a:r>
              <a:rPr lang="nl-NL" sz="1200">
                <a:effectLst/>
                <a:latin typeface="Calibri" panose="020F0502020204030204" pitchFamily="34" charset="0"/>
                <a:ea typeface="Calibri" panose="020F0502020204030204" pitchFamily="34" charset="0"/>
                <a:cs typeface="Times New Roman" panose="02020603050405020304" pitchFamily="18" charset="0"/>
              </a:rPr>
              <a:t>Dat wil zeggen: gezondheid en sport, welzijn, sociaal en (jeugd-) (wijk) (acute) zorg. </a:t>
            </a:r>
            <a:r>
              <a:rPr lang="nl-NL" sz="1200">
                <a:effectLst/>
                <a:latin typeface="Calibri" panose="020F0502020204030204" pitchFamily="34" charset="0"/>
                <a:ea typeface="Calibri" panose="020F0502020204030204" pitchFamily="34" charset="0"/>
              </a:rPr>
              <a:t>Meer snelheid in de verschillende processen waardoor productiviteit met 7,5-10% verhoogd kan worden. Hulpverleners zijn op de hoogte van elkaars interventies en dat bevordert de kwaliteit van zorg. Daarmee ook de ervaring van de inwoner/patiënt. Deze ervaart meer regie op het eigen behandelproces. Professionals zullen in 2026 een reductie van 35% ervaren ten aanzien van administratie lasten en uitzoekwerk. Met netwerkzorg zal het percentage van doorverwijzingen naar de tweede lijn afnemen. Ambitie is dat  deze de komende jaren met 7% gereduceerd wordt.</a:t>
            </a:r>
          </a:p>
          <a:p>
            <a:endParaRPr lang="nl-NL" sz="1200">
              <a:effectLst/>
              <a:latin typeface="Calibri" panose="020F0502020204030204" pitchFamily="34" charset="0"/>
              <a:ea typeface="Calibri" panose="020F0502020204030204" pitchFamily="34" charset="0"/>
              <a:cs typeface="Times New Roman" panose="02020603050405020304" pitchFamily="18" charset="0"/>
            </a:endParaRPr>
          </a:p>
          <a:p>
            <a:r>
              <a:rPr lang="nl-NL" sz="1200" b="1">
                <a:effectLst/>
                <a:latin typeface="Calibri" panose="020F0502020204030204" pitchFamily="34" charset="0"/>
                <a:ea typeface="Calibri" panose="020F0502020204030204" pitchFamily="34" charset="0"/>
                <a:cs typeface="Times New Roman" panose="02020603050405020304" pitchFamily="18" charset="0"/>
              </a:rPr>
              <a:t>Ad.3. Digitale Communicatie</a:t>
            </a:r>
          </a:p>
          <a:p>
            <a:r>
              <a:rPr lang="nl-NL" sz="1200">
                <a:effectLst/>
                <a:latin typeface="Calibri" panose="020F0502020204030204" pitchFamily="34" charset="0"/>
                <a:ea typeface="Calibri" panose="020F0502020204030204" pitchFamily="34" charset="0"/>
                <a:cs typeface="Times New Roman" panose="02020603050405020304" pitchFamily="18" charset="0"/>
              </a:rPr>
              <a:t>De doelstelling is om een uniforme, regionale basisinfrastructuur neer te zetten voor digitale communicatie binnen het totale zorgnetwerk, met goede koppelingen met de dossiers. Het betreft de realisatie van op grote schaal multidisciplinaire digitale communicatie tussen huisarts en specialist én patiënt, het zogenoemde meedenk-consult gecombineerd met het digitaal verwijzen. Dit betreft ook het op regionaal niveau harmoniseren van de werkwijze en een keuze voor een digitaal platform voor communicatie en verwijzing maken. </a:t>
            </a:r>
            <a:endParaRPr lang="nl-NL" sz="1200" b="0">
              <a:effectLst/>
              <a:latin typeface="Calibri" panose="020F0502020204030204" pitchFamily="34" charset="0"/>
              <a:ea typeface="Calibri" panose="020F0502020204030204" pitchFamily="34" charset="0"/>
              <a:cs typeface="Times New Roman" panose="02020603050405020304" pitchFamily="18" charset="0"/>
            </a:endParaRPr>
          </a:p>
          <a:p>
            <a:endParaRPr lang="nl-NL" b="0"/>
          </a:p>
          <a:p>
            <a:r>
              <a:rPr lang="nl-NL" b="1"/>
              <a:t>Ad. 4. Hybride Zorg</a:t>
            </a:r>
          </a:p>
          <a:p>
            <a:pPr marL="0" lvl="0" indent="0">
              <a:buFont typeface="Arial" panose="020B0604020202020204" pitchFamily="34" charset="0"/>
              <a:buNone/>
            </a:pPr>
            <a:r>
              <a:rPr lang="nl-NL" sz="1200" b="0">
                <a:effectLst/>
                <a:latin typeface="Calibri" panose="020F0502020204030204" pitchFamily="34" charset="0"/>
                <a:ea typeface="Times New Roman" panose="02020603050405020304" pitchFamily="18" charset="0"/>
                <a:cs typeface="Cambria" panose="02040503050406030204" pitchFamily="18" charset="0"/>
              </a:rPr>
              <a:t>a) </a:t>
            </a:r>
            <a:r>
              <a:rPr lang="nl-NL" sz="1200" b="0" err="1">
                <a:effectLst/>
                <a:latin typeface="Calibri" panose="020F0502020204030204" pitchFamily="34" charset="0"/>
                <a:ea typeface="Times New Roman" panose="02020603050405020304" pitchFamily="18" charset="0"/>
                <a:cs typeface="Cambria" panose="02040503050406030204" pitchFamily="18" charset="0"/>
              </a:rPr>
              <a:t>Telemonitoring</a:t>
            </a:r>
            <a:r>
              <a:rPr lang="nl-NL" sz="1200" b="0">
                <a:effectLst/>
                <a:latin typeface="Calibri" panose="020F0502020204030204" pitchFamily="34" charset="0"/>
                <a:ea typeface="Times New Roman" panose="02020603050405020304" pitchFamily="18" charset="0"/>
                <a:cs typeface="Cambria" panose="02040503050406030204" pitchFamily="18" charset="0"/>
              </a:rPr>
              <a:t> en </a:t>
            </a:r>
            <a:r>
              <a:rPr lang="nl-NL" sz="1200" b="0" err="1">
                <a:effectLst/>
                <a:latin typeface="Calibri" panose="020F0502020204030204" pitchFamily="34" charset="0"/>
                <a:ea typeface="Times New Roman" panose="02020603050405020304" pitchFamily="18" charset="0"/>
                <a:cs typeface="Cambria" panose="02040503050406030204" pitchFamily="18" charset="0"/>
              </a:rPr>
              <a:t>telebehandeling</a:t>
            </a:r>
            <a:r>
              <a:rPr lang="nl-NL" sz="1200" b="0">
                <a:effectLst/>
                <a:latin typeface="Calibri" panose="020F0502020204030204" pitchFamily="34" charset="0"/>
                <a:ea typeface="Times New Roman" panose="02020603050405020304" pitchFamily="18" charset="0"/>
                <a:cs typeface="Cambria" panose="02040503050406030204" pitchFamily="18" charset="0"/>
              </a:rPr>
              <a:t> (zorg op afstand)</a:t>
            </a:r>
            <a:endParaRPr lang="en-NL" sz="1200" b="0">
              <a:effectLst/>
              <a:latin typeface="Cambria" panose="02040503050406030204" pitchFamily="18" charset="0"/>
              <a:ea typeface="Times New Roman" panose="02020603050405020304" pitchFamily="18" charset="0"/>
              <a:cs typeface="Cambria" panose="02040503050406030204" pitchFamily="18" charset="0"/>
            </a:endParaRPr>
          </a:p>
          <a:p>
            <a:pPr marL="0" lvl="0" indent="0">
              <a:buFont typeface="Arial" panose="020B0604020202020204" pitchFamily="34" charset="0"/>
              <a:buNone/>
            </a:pPr>
            <a:r>
              <a:rPr lang="nl-NL" sz="1200" b="0">
                <a:effectLst/>
                <a:latin typeface="Calibri" panose="020F0502020204030204" pitchFamily="34" charset="0"/>
                <a:ea typeface="Times New Roman" panose="02020603050405020304" pitchFamily="18" charset="0"/>
                <a:cs typeface="Cambria" panose="02040503050406030204" pitchFamily="18" charset="0"/>
              </a:rPr>
              <a:t>b) Digitalisering van zorgpaden</a:t>
            </a:r>
            <a:r>
              <a:rPr lang="nl-NL" sz="1200" b="0">
                <a:effectLst/>
                <a:latin typeface="Cambria" panose="02040503050406030204" pitchFamily="18" charset="0"/>
                <a:ea typeface="Times New Roman" panose="02020603050405020304" pitchFamily="18" charset="0"/>
                <a:cs typeface="Cambria" panose="02040503050406030204" pitchFamily="18" charset="0"/>
              </a:rPr>
              <a:t>/zorgprocessen</a:t>
            </a:r>
          </a:p>
          <a:p>
            <a:pPr marL="0" lvl="0" indent="0">
              <a:buFont typeface="Arial" panose="020B0604020202020204" pitchFamily="34" charset="0"/>
              <a:buNone/>
            </a:pPr>
            <a:endParaRPr lang="nl-NL" sz="12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Arial" panose="020B0604020202020204" pitchFamily="34" charset="0"/>
              <a:buAutoNum type="alphaLcParenR"/>
            </a:pPr>
            <a:r>
              <a:rPr lang="nl-NL" sz="1200">
                <a:effectLst/>
                <a:latin typeface="Calibri" panose="020F0502020204030204" pitchFamily="34" charset="0"/>
                <a:ea typeface="Calibri" panose="020F0502020204030204" pitchFamily="34" charset="0"/>
                <a:cs typeface="Times New Roman" panose="02020603050405020304" pitchFamily="18" charset="0"/>
              </a:rPr>
              <a:t>De  functie van </a:t>
            </a:r>
            <a:r>
              <a:rPr lang="nl-NL" sz="1200" err="1">
                <a:effectLst/>
                <a:latin typeface="Calibri" panose="020F0502020204030204" pitchFamily="34" charset="0"/>
                <a:ea typeface="Calibri" panose="020F0502020204030204" pitchFamily="34" charset="0"/>
                <a:cs typeface="Times New Roman" panose="02020603050405020304" pitchFamily="18" charset="0"/>
              </a:rPr>
              <a:t>telemonitoring</a:t>
            </a:r>
            <a:r>
              <a:rPr lang="nl-NL" sz="1200">
                <a:effectLst/>
                <a:latin typeface="Calibri" panose="020F0502020204030204" pitchFamily="34" charset="0"/>
                <a:ea typeface="Calibri" panose="020F0502020204030204" pitchFamily="34" charset="0"/>
                <a:cs typeface="Times New Roman" panose="02020603050405020304" pitchFamily="18" charset="0"/>
              </a:rPr>
              <a:t> wordt regionaal voor ten minste 65% ondergebracht in het medisch regie centrum (MRC). Op dit moment is de functie van MRC ondergebracht bij twee ziekenhuizen in onze regio: het UMC Utrecht (medisch regiecentrum UMCU) en het Sint Antonius ziekenhuis (Zorg Bij Jou). Ons doel is om tot één MRC voor de regio te komen, met als basis </a:t>
            </a:r>
            <a:r>
              <a:rPr lang="nl-NL" sz="1200" err="1">
                <a:effectLst/>
                <a:latin typeface="Calibri" panose="020F0502020204030204" pitchFamily="34" charset="0"/>
                <a:ea typeface="Calibri" panose="020F0502020204030204" pitchFamily="34" charset="0"/>
                <a:cs typeface="Times New Roman" panose="02020603050405020304" pitchFamily="18" charset="0"/>
              </a:rPr>
              <a:t>Santeon</a:t>
            </a:r>
            <a:r>
              <a:rPr lang="nl-NL" sz="1200">
                <a:effectLst/>
                <a:latin typeface="Calibri" panose="020F0502020204030204" pitchFamily="34" charset="0"/>
                <a:ea typeface="Calibri" panose="020F0502020204030204" pitchFamily="34" charset="0"/>
                <a:cs typeface="Times New Roman" panose="02020603050405020304" pitchFamily="18" charset="0"/>
              </a:rPr>
              <a:t> Zorg bij jou.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AutoNum type="alphaLcParenR"/>
              <a:tabLst/>
              <a:defRPr/>
            </a:pPr>
            <a:r>
              <a:rPr lang="nl-NL" sz="1200">
                <a:effectLst/>
                <a:latin typeface="Calibri" panose="020F0502020204030204" pitchFamily="34" charset="0"/>
                <a:ea typeface="Calibri" panose="020F0502020204030204" pitchFamily="34" charset="0"/>
                <a:cs typeface="Times New Roman" panose="02020603050405020304" pitchFamily="18" charset="0"/>
              </a:rPr>
              <a:t>De harmonisatie van werkprocessen en toepassingen maakt de stap naar een regionaal (</a:t>
            </a:r>
            <a:r>
              <a:rPr lang="nl-NL" sz="1200" err="1">
                <a:effectLst/>
                <a:latin typeface="Calibri" panose="020F0502020204030204" pitchFamily="34" charset="0"/>
                <a:ea typeface="Calibri" panose="020F0502020204030204" pitchFamily="34" charset="0"/>
                <a:cs typeface="Times New Roman" panose="02020603050405020304" pitchFamily="18" charset="0"/>
              </a:rPr>
              <a:t>telemonitoring</a:t>
            </a:r>
            <a:r>
              <a:rPr lang="nl-NL" sz="1200">
                <a:effectLst/>
                <a:latin typeface="Calibri" panose="020F0502020204030204" pitchFamily="34" charset="0"/>
                <a:ea typeface="Calibri" panose="020F0502020204030204" pitchFamily="34" charset="0"/>
                <a:cs typeface="Times New Roman" panose="02020603050405020304" pitchFamily="18" charset="0"/>
              </a:rPr>
              <a:t>) medisch centrum makkelijker mogelijk. Daarnaast wordt verwacht dat </a:t>
            </a:r>
            <a:r>
              <a:rPr lang="nl-NL" sz="1200" err="1">
                <a:effectLst/>
                <a:latin typeface="Calibri" panose="020F0502020204030204" pitchFamily="34" charset="0"/>
                <a:ea typeface="Calibri" panose="020F0502020204030204" pitchFamily="34" charset="0"/>
                <a:cs typeface="Times New Roman" panose="02020603050405020304" pitchFamily="18" charset="0"/>
              </a:rPr>
              <a:t>telemonitoring</a:t>
            </a:r>
            <a:r>
              <a:rPr lang="nl-NL" sz="1200">
                <a:effectLst/>
                <a:latin typeface="Calibri" panose="020F0502020204030204" pitchFamily="34" charset="0"/>
                <a:ea typeface="Calibri" panose="020F0502020204030204" pitchFamily="34" charset="0"/>
                <a:cs typeface="Times New Roman" panose="02020603050405020304" pitchFamily="18" charset="0"/>
              </a:rPr>
              <a:t> kan leiden tot verplaatsing van tweede- naar eerstelijns zorg. Bovendien valt de patiënt niet meer onder de directe behandeling van de arts/specialist. Deze blijft vaak wel de regiebehandelaar. De inzet kan verlegd worden naar POH, specialistisch verpleegkundigen of anders.</a:t>
            </a:r>
            <a:endParaRPr lang="en-NL" sz="1200">
              <a:effectLst/>
              <a:latin typeface="Calibri" panose="020F0502020204030204" pitchFamily="34" charset="0"/>
              <a:ea typeface="Calibri" panose="020F0502020204030204" pitchFamily="34" charset="0"/>
              <a:cs typeface="Times New Roman" panose="02020603050405020304" pitchFamily="18" charset="0"/>
            </a:endParaRPr>
          </a:p>
          <a:p>
            <a:endParaRPr lang="nl-NL" sz="1800" b="0" i="0" u="none" strike="noStrike" baseline="0">
              <a:solidFill>
                <a:srgbClr val="000000"/>
              </a:solidFill>
              <a:latin typeface="Helvetica Now Display"/>
            </a:endParaRPr>
          </a:p>
          <a:p>
            <a:r>
              <a:rPr lang="nl-NL" sz="1800" b="1" i="0" u="none" strike="noStrike" baseline="0">
                <a:solidFill>
                  <a:srgbClr val="000000"/>
                </a:solidFill>
                <a:latin typeface="Helvetica Now Display"/>
              </a:rPr>
              <a:t>Ambities Basis op Orde</a:t>
            </a:r>
            <a:endParaRPr lang="nl-NL" sz="1800" b="0" i="0" u="none" strike="noStrike" baseline="0">
              <a:solidFill>
                <a:srgbClr val="000000"/>
              </a:solidFill>
              <a:latin typeface="Helvetica Now Display"/>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a:effectLst/>
                <a:latin typeface="Calibri" panose="020F0502020204030204" pitchFamily="34" charset="0"/>
                <a:ea typeface="Calibri" panose="020F0502020204030204" pitchFamily="34" charset="0"/>
                <a:cs typeface="Times New Roman" panose="02020603050405020304" pitchFamily="18" charset="0"/>
              </a:rPr>
              <a:t>Doelstelling is de implementatie van standaarden en inzet van gemeenschappelijke voorzieningen voor generieke functies zodat informatie beschikbaar, deelbaar en uitwisselbaar wordt. Hierbij denken we aan de landelijke infrastructuren (zoals LSP, XDS en de datastations), landelijke afsprakenstelsels (zoals </a:t>
            </a:r>
            <a:r>
              <a:rPr lang="nl-NL" sz="1800" err="1">
                <a:effectLst/>
                <a:latin typeface="Calibri" panose="020F0502020204030204" pitchFamily="34" charset="0"/>
                <a:ea typeface="Calibri" panose="020F0502020204030204" pitchFamily="34" charset="0"/>
                <a:cs typeface="Times New Roman" panose="02020603050405020304" pitchFamily="18" charset="0"/>
              </a:rPr>
              <a:t>Twiin</a:t>
            </a:r>
            <a:r>
              <a:rPr lang="nl-NL" sz="1800">
                <a:effectLst/>
                <a:latin typeface="Calibri" panose="020F0502020204030204" pitchFamily="34" charset="0"/>
                <a:ea typeface="Calibri" panose="020F0502020204030204" pitchFamily="34" charset="0"/>
                <a:cs typeface="Times New Roman" panose="02020603050405020304" pitchFamily="18" charset="0"/>
              </a:rPr>
              <a:t> en Nuts), FHIR-standaarden voor de koppelingen (waar nodig open EHR), </a:t>
            </a:r>
            <a:r>
              <a:rPr lang="nl-NL" sz="1800" err="1">
                <a:effectLst/>
                <a:latin typeface="Calibri" panose="020F0502020204030204" pitchFamily="34" charset="0"/>
                <a:ea typeface="Calibri" panose="020F0502020204030204" pitchFamily="34" charset="0"/>
                <a:cs typeface="Times New Roman" panose="02020603050405020304" pitchFamily="18" charset="0"/>
              </a:rPr>
              <a:t>Wegiz</a:t>
            </a:r>
            <a:r>
              <a:rPr lang="nl-NL" sz="1800">
                <a:effectLst/>
                <a:latin typeface="Calibri" panose="020F0502020204030204" pitchFamily="34" charset="0"/>
                <a:ea typeface="Calibri" panose="020F0502020204030204" pitchFamily="34" charset="0"/>
                <a:cs typeface="Times New Roman" panose="02020603050405020304" pitchFamily="18" charset="0"/>
              </a:rPr>
              <a:t> standaarden voor de meest cruciale overdrachten incl. de acute- en ambulance zorg. Het gaat hierbij ook om standaarden voor privacy en informatieveiligheid.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1">
                <a:effectLst/>
                <a:latin typeface="Calibri" panose="020F0502020204030204" pitchFamily="34" charset="0"/>
                <a:ea typeface="Calibri" panose="020F0502020204030204" pitchFamily="34" charset="0"/>
                <a:cs typeface="Times New Roman" panose="02020603050405020304" pitchFamily="18" charset="0"/>
              </a:rPr>
              <a:t>Ambities Regionale Data- &amp; Applicatiearchitectuur</a:t>
            </a:r>
            <a:endParaRPr lang="nl-NL" sz="1800" b="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0">
                <a:effectLst/>
                <a:latin typeface="Calibri" panose="020F0502020204030204" pitchFamily="34" charset="0"/>
                <a:ea typeface="Calibri" panose="020F0502020204030204" pitchFamily="34" charset="0"/>
                <a:cs typeface="Times New Roman" panose="02020603050405020304" pitchFamily="18" charset="0"/>
              </a:rPr>
              <a:t>Doel is het realiseren van een </a:t>
            </a:r>
            <a:r>
              <a:rPr lang="nl-NL" sz="1800">
                <a:effectLst/>
                <a:latin typeface="Calibri" panose="020F0502020204030204" pitchFamily="34" charset="0"/>
                <a:ea typeface="Calibri" panose="020F0502020204030204" pitchFamily="34" charset="0"/>
                <a:cs typeface="Times New Roman" panose="02020603050405020304" pitchFamily="18" charset="0"/>
              </a:rPr>
              <a:t>verbindend fundament, een dataplatform zorg, </a:t>
            </a:r>
            <a:r>
              <a:rPr lang="nl-NL" sz="1800">
                <a:effectLst/>
                <a:latin typeface="Calibri" panose="020F0502020204030204" pitchFamily="34" charset="0"/>
                <a:ea typeface="Calibri" panose="020F0502020204030204" pitchFamily="34" charset="0"/>
              </a:rPr>
              <a:t>om te kunnen komen tot het leveren van ‘passende zorg’. In de regio is succesvol gewerkt aan transformatie van oncologische zorg met behulp van digitalisering en databeschikbaarheid in Data Delen Midden-Nederland (DDMN): </a:t>
            </a:r>
            <a:r>
              <a:rPr lang="nl-NL" sz="1800" err="1">
                <a:effectLst/>
                <a:latin typeface="Calibri" panose="020F0502020204030204" pitchFamily="34" charset="0"/>
                <a:ea typeface="Calibri" panose="020F0502020204030204" pitchFamily="34" charset="0"/>
              </a:rPr>
              <a:t>Onco-Mid</a:t>
            </a:r>
            <a:r>
              <a:rPr lang="nl-NL" sz="1800">
                <a:effectLst/>
                <a:latin typeface="Calibri" panose="020F0502020204030204" pitchFamily="34" charset="0"/>
                <a:ea typeface="Calibri" panose="020F0502020204030204" pitchFamily="34" charset="0"/>
              </a:rPr>
              <a:t>. DDMN, Ook </a:t>
            </a:r>
            <a:r>
              <a:rPr lang="nl-NL" sz="1800" err="1">
                <a:effectLst/>
                <a:latin typeface="Calibri" panose="020F0502020204030204" pitchFamily="34" charset="0"/>
                <a:ea typeface="Calibri" panose="020F0502020204030204" pitchFamily="34" charset="0"/>
              </a:rPr>
              <a:t>BabyConnect</a:t>
            </a:r>
            <a:r>
              <a:rPr lang="nl-NL" sz="1800">
                <a:effectLst/>
                <a:latin typeface="Calibri" panose="020F0502020204030204" pitchFamily="34" charset="0"/>
                <a:ea typeface="Calibri" panose="020F0502020204030204" pitchFamily="34" charset="0"/>
              </a:rPr>
              <a:t> met HINQ, is een goed voorbeeld van netwerksamenwerking voor passende zorg met een data-architectuur en -infrastructuur die past bij de nationale visie en strategie op het gezondheidsinformatiestelsel van VWS, het IZA, en bij landelijke ontwikkelingen. </a:t>
            </a:r>
            <a:r>
              <a:rPr lang="nl-NL" sz="1800">
                <a:effectLst/>
                <a:latin typeface="Calibri" panose="020F0502020204030204" pitchFamily="34" charset="0"/>
                <a:ea typeface="Calibri" panose="020F0502020204030204" pitchFamily="34" charset="0"/>
                <a:cs typeface="Times New Roman" panose="02020603050405020304" pitchFamily="18" charset="0"/>
              </a:rPr>
              <a:t>Als basis voor de data architectuur onderscheiden we vier domeinen. </a:t>
            </a: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Preventieve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GROZ</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Populatiemanagement</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Patiënt gestuurde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Psychische 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Times New Roman" panose="02020603050405020304" pitchFamily="18" charset="0"/>
                <a:cs typeface="Times New Roman" panose="02020603050405020304" pitchFamily="18" charset="0"/>
              </a:rPr>
              <a:t>Zelf- &amp; thuiszorg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Transmurale- en netwerkzorg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Regionale oplossingen faciliteren DDMN, </a:t>
            </a:r>
            <a:r>
              <a:rPr lang="nl-NL" sz="1000" err="1">
                <a:effectLst/>
                <a:latin typeface="Calibri" panose="020F0502020204030204" pitchFamily="34" charset="0"/>
                <a:ea typeface="Cambria" panose="02040503050406030204" pitchFamily="18" charset="0"/>
                <a:cs typeface="Cambria" panose="02040503050406030204" pitchFamily="18" charset="0"/>
              </a:rPr>
              <a:t>Babyconnect</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Samenwerking tussen HA, VVT, APO, ZKHS-en, etc. bevorderen</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Regionaal medisch regiecentrum</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Acute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800100" lvl="1" indent="-34290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ROAZ</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800100" lvl="1" indent="-342900">
              <a:lnSpc>
                <a:spcPts val="1200"/>
              </a:lnSpc>
              <a:buFont typeface="+mj-lt"/>
              <a:buAutoNum type="alphaLcPeriod"/>
            </a:pPr>
            <a:r>
              <a:rPr lang="nl-NL" sz="1000">
                <a:effectLst/>
                <a:latin typeface="Calibri" panose="020F0502020204030204" pitchFamily="34" charset="0"/>
                <a:ea typeface="Calibri" panose="020F0502020204030204" pitchFamily="34" charset="0"/>
                <a:cs typeface="Cambria" panose="02040503050406030204" pitchFamily="18" charset="0"/>
              </a:rPr>
              <a:t>Zorgcoördinatie Centrum </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b="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1">
                <a:effectLst/>
                <a:latin typeface="Calibri" panose="020F0502020204030204" pitchFamily="34" charset="0"/>
                <a:ea typeface="Calibri" panose="020F0502020204030204" pitchFamily="34" charset="0"/>
                <a:cs typeface="Times New Roman" panose="02020603050405020304" pitchFamily="18" charset="0"/>
              </a:rPr>
              <a:t>Ontwikkelperspectief</a:t>
            </a: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Inzien en/of raadplegen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middels een viewer, waarbij de zorginformatie in de bron blijft opgeslagen en dus niet in de zorgviewer of ergens anders centraal. Een zorgprofessional heeft daarbij toegang tot zorginformatie van (een) andere zorgaanbieder(s) die betrokken is/zijn bij de zorg rondom dezelfde patiënt op basis van toestemming van de patiënt en/of samenwerkingsafspraken tussen zorgaanbieders/zorgprofessionals.</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Overnemen en hergebruiken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(selectief) ook wel het kunnen verwerken van zorginformatie uit de beschikbaar gestelde datasets (informatiestandaarden) door de ontvangende organisatie. De professional beoordeelt de gegevens en bepaalt of en hoe de gegevens worden opgeslagen en hergebruikt in het lokale zorgdossier. </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Verrijken/toevoegen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op basis van interactie en bi-directionele uitwisseling van gegevens. </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a:effectLst/>
              <a:latin typeface="Calibri" panose="020F0502020204030204" pitchFamily="34" charset="0"/>
              <a:ea typeface="Calibri" panose="020F0502020204030204" pitchFamily="34" charset="0"/>
              <a:cs typeface="Times New Roman" panose="02020603050405020304" pitchFamily="18" charset="0"/>
            </a:endParaRPr>
          </a:p>
          <a:p>
            <a:pPr algn="l"/>
            <a:endParaRPr lang="nl-NL">
              <a:cs typeface="Calibri"/>
            </a:endParaRPr>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0453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3338B-7A06-96CA-6939-D4FD53F51DE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8E6AF1F-D047-9EEF-CC4B-F46D0014A47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BF0F3D3-A693-42A6-FFB5-FD260BB74557}"/>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22C81AF9-1F8E-8447-B9D1-6D962A44161F}"/>
              </a:ext>
            </a:extLst>
          </p:cNvPr>
          <p:cNvSpPr>
            <a:spLocks noGrp="1"/>
          </p:cNvSpPr>
          <p:nvPr>
            <p:ph type="sldNum" sz="quarter" idx="5"/>
          </p:nvPr>
        </p:nvSpPr>
        <p:spPr/>
        <p:txBody>
          <a:bodyPr/>
          <a:lstStyle/>
          <a:p>
            <a:fld id="{252A3A4B-DB77-4B90-BD1A-9DE64CFDDA18}" type="slidenum">
              <a:rPr lang="nl-NL" smtClean="0"/>
              <a:t>15</a:t>
            </a:fld>
            <a:endParaRPr lang="nl-NL"/>
          </a:p>
        </p:txBody>
      </p:sp>
    </p:spTree>
    <p:extLst>
      <p:ext uri="{BB962C8B-B14F-4D97-AF65-F5344CB8AC3E}">
        <p14:creationId xmlns:p14="http://schemas.microsoft.com/office/powerpoint/2010/main" val="34144260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CF689-2792-AA4A-32BB-EB479977B13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EA58EA8-B940-7C93-550C-34BB0A84A3C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3101ACE-2DD4-45F5-81A8-6A0D11CC4074}"/>
              </a:ext>
            </a:extLst>
          </p:cNvPr>
          <p:cNvSpPr>
            <a:spLocks noGrp="1"/>
          </p:cNvSpPr>
          <p:nvPr>
            <p:ph type="body" idx="1"/>
          </p:nvPr>
        </p:nvSpPr>
        <p:spPr/>
        <p:txBody>
          <a:bodyPr/>
          <a:lstStyle/>
          <a:p>
            <a:pPr algn="l"/>
            <a:endParaRPr lang="nl-NL">
              <a:cs typeface="Calibri"/>
            </a:endParaRPr>
          </a:p>
        </p:txBody>
      </p:sp>
      <p:sp>
        <p:nvSpPr>
          <p:cNvPr id="4" name="Tijdelijke aanduiding voor dianummer 3">
            <a:extLst>
              <a:ext uri="{FF2B5EF4-FFF2-40B4-BE49-F238E27FC236}">
                <a16:creationId xmlns:a16="http://schemas.microsoft.com/office/drawing/2014/main" id="{C4DCD6F5-919F-13E2-7B9F-AAD0A848FC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523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7371-250F-E49A-B7AE-F75A0B30CBB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3D68120-CFF6-6D3C-3406-2C0764B3601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0829F51-38DB-F2D4-1877-A01EF0B41DFE}"/>
              </a:ext>
            </a:extLst>
          </p:cNvPr>
          <p:cNvSpPr>
            <a:spLocks noGrp="1"/>
          </p:cNvSpPr>
          <p:nvPr>
            <p:ph type="body" idx="1"/>
          </p:nvPr>
        </p:nvSpPr>
        <p:spPr/>
        <p:txBody>
          <a:bodyPr/>
          <a:lstStyle/>
          <a:p>
            <a:pPr algn="l"/>
            <a:endParaRPr lang="nl-NL">
              <a:cs typeface="Calibri"/>
            </a:endParaRPr>
          </a:p>
        </p:txBody>
      </p:sp>
      <p:sp>
        <p:nvSpPr>
          <p:cNvPr id="4" name="Tijdelijke aanduiding voor dianummer 3">
            <a:extLst>
              <a:ext uri="{FF2B5EF4-FFF2-40B4-BE49-F238E27FC236}">
                <a16:creationId xmlns:a16="http://schemas.microsoft.com/office/drawing/2014/main" id="{B7339F4A-0AEE-DC5A-9353-144A83734C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6904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b="1">
                <a:solidFill>
                  <a:srgbClr val="8C95CD"/>
                </a:solidFill>
              </a:rPr>
              <a:t>Landelijke afspraken over interoperabiliteit worden gevolgd om regionale zorgprocessen te ondersteunen </a:t>
            </a:r>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18</a:t>
            </a:fld>
            <a:endParaRPr lang="nl-NL"/>
          </a:p>
        </p:txBody>
      </p:sp>
    </p:spTree>
    <p:extLst>
      <p:ext uri="{BB962C8B-B14F-4D97-AF65-F5344CB8AC3E}">
        <p14:creationId xmlns:p14="http://schemas.microsoft.com/office/powerpoint/2010/main" val="2503162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19</a:t>
            </a:fld>
            <a:endParaRPr lang="nl-NL"/>
          </a:p>
        </p:txBody>
      </p:sp>
    </p:spTree>
    <p:extLst>
      <p:ext uri="{BB962C8B-B14F-4D97-AF65-F5344CB8AC3E}">
        <p14:creationId xmlns:p14="http://schemas.microsoft.com/office/powerpoint/2010/main" val="99439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20</a:t>
            </a:fld>
            <a:endParaRPr lang="nl-NL"/>
          </a:p>
        </p:txBody>
      </p:sp>
    </p:spTree>
    <p:extLst>
      <p:ext uri="{BB962C8B-B14F-4D97-AF65-F5344CB8AC3E}">
        <p14:creationId xmlns:p14="http://schemas.microsoft.com/office/powerpoint/2010/main" val="36533620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kumimoji="0" lang="nl-NL" sz="1200"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Vanuit de twee (2) themaopgaven in de (</a:t>
            </a:r>
            <a:r>
              <a:rPr kumimoji="0" lang="nl-NL" sz="1200" i="0" u="none" strike="noStrike" kern="1200" cap="none" spc="0" normalizeH="0" baseline="0" noProof="0" err="1">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inter</a:t>
            </a:r>
            <a:r>
              <a:rPr kumimoji="0" lang="nl-NL" sz="1200"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)regionale fundamentopgave</a:t>
            </a:r>
          </a:p>
          <a:p>
            <a:endParaRPr lang="nl-NL" sz="1200">
              <a:effectLst/>
              <a:latin typeface="Verdana"/>
              <a:ea typeface="Calibri"/>
              <a:cs typeface="Arial"/>
            </a:endParaRPr>
          </a:p>
          <a:p>
            <a:r>
              <a:rPr lang="nl-NL" sz="1200">
                <a:effectLst/>
                <a:latin typeface="Verdana"/>
                <a:ea typeface="Calibri"/>
                <a:cs typeface="Arial"/>
              </a:rPr>
              <a:t>Middels een transformatiegelden aanvraag wil Trijn de eerste stappen om het fundament te realiseren financieren. In deze initiële snelle toets worden de eerste stappen (prioritering) beschreven aan de hand van use cases die direct impact maken op zorg en ondersteuning in de regio.</a:t>
            </a:r>
            <a:r>
              <a:rPr lang="nl-NL" sz="1200">
                <a:latin typeface="Verdana"/>
                <a:ea typeface="Calibri"/>
                <a:cs typeface="Arial"/>
              </a:rPr>
              <a:t> </a:t>
            </a:r>
            <a:endParaRPr lang="nl-NL" sz="1200">
              <a:effectLst/>
              <a:latin typeface="Verdana" panose="020B0604030504040204" pitchFamily="34" charset="0"/>
              <a:ea typeface="Calibri" panose="020F0502020204030204" pitchFamily="34" charset="0"/>
              <a:cs typeface="Arial" panose="020B0604020202020204" pitchFamily="34" charset="0"/>
            </a:endParaRPr>
          </a:p>
          <a:p>
            <a:endParaRPr lang="nl-NL"/>
          </a:p>
          <a:p>
            <a:r>
              <a:rPr lang="nl-NL" sz="1800" b="1">
                <a:effectLst/>
                <a:latin typeface="Verdana" panose="020B0604030504040204" pitchFamily="34" charset="0"/>
                <a:ea typeface="Calibri" panose="020F0502020204030204" pitchFamily="34" charset="0"/>
                <a:cs typeface="Arial" panose="020B0604020202020204" pitchFamily="34" charset="0"/>
              </a:rPr>
              <a:t>Netwerkzorg kan niet zonder goede data- en applicatiearchitectuur en het opbouwen van de data- en applicatiearchitectuur kan niet zonder de netwerkzorg. De basis op orde is een absolute voorwaarde voor het realiseren van allebei. </a:t>
            </a:r>
          </a:p>
          <a:p>
            <a:endParaRPr lang="nl-NL"/>
          </a:p>
          <a:p>
            <a:r>
              <a:rPr lang="nl-NL" sz="1800" b="0" i="0" u="none" strike="noStrike" baseline="0">
                <a:solidFill>
                  <a:srgbClr val="000000"/>
                </a:solidFill>
                <a:latin typeface="Helvetica Now Display"/>
              </a:rPr>
              <a:t>Praktische invulling geven aan transformatie in de zorg; parallelle ontwikkeling van de regionale Data &amp; Applicatie Architectuur en toepassingen (business functionaliteiten) op basis van use cases. </a:t>
            </a:r>
          </a:p>
          <a:p>
            <a:endParaRPr lang="nl-NL" sz="1800" b="0" i="0" u="none" strike="noStrike" baseline="0">
              <a:solidFill>
                <a:srgbClr val="000000"/>
              </a:solidFill>
              <a:latin typeface="Helvetica Now Display"/>
            </a:endParaRPr>
          </a:p>
          <a:p>
            <a:r>
              <a:rPr lang="nl-NL" b="1"/>
              <a:t>Ambities Netwerkzorg:</a:t>
            </a:r>
            <a:endParaRPr lang="nl-NL" sz="1200" b="1">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Regionale transmurale afspraken (RTA’s) vormen de basis.</a:t>
            </a:r>
            <a:endParaRPr lang="nl-NL" sz="1200">
              <a:effectLst/>
              <a:latin typeface="Cambria" panose="02040503050406030204" pitchFamily="18" charset="0"/>
              <a:ea typeface="Cambria" panose="02040503050406030204" pitchFamily="18" charset="0"/>
              <a:cs typeface="Cambria" panose="02040503050406030204" pitchFamily="18" charset="0"/>
            </a:endParaRPr>
          </a:p>
          <a:p>
            <a:pPr marL="342900" indent="-342900">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Realiseren van een netwerkzorgplatform.</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Digitale (zorg)communicatie met inwoners en patiënten, en professionals onderling ter ondersteuning van netwerkzorg.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200">
                <a:effectLst/>
                <a:latin typeface="Calibri" panose="020F0502020204030204" pitchFamily="34" charset="0"/>
                <a:ea typeface="Cambria" panose="02040503050406030204" pitchFamily="18" charset="0"/>
                <a:cs typeface="Cambria" panose="02040503050406030204" pitchFamily="18" charset="0"/>
              </a:rPr>
              <a:t>Hybride 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endParaRPr lang="nl-NL" sz="1200" i="1">
              <a:effectLst/>
              <a:latin typeface="Calibri" panose="020F0502020204030204" pitchFamily="34" charset="0"/>
              <a:ea typeface="Calibri" panose="020F0502020204030204" pitchFamily="34" charset="0"/>
              <a:cs typeface="Times New Roman" panose="02020603050405020304" pitchFamily="18" charset="0"/>
            </a:endParaRPr>
          </a:p>
          <a:p>
            <a:r>
              <a:rPr lang="nl-NL" sz="1200" b="1" i="1">
                <a:effectLst/>
                <a:latin typeface="Calibri" panose="020F0502020204030204" pitchFamily="34" charset="0"/>
                <a:ea typeface="Calibri" panose="020F0502020204030204" pitchFamily="34" charset="0"/>
                <a:cs typeface="Times New Roman" panose="02020603050405020304" pitchFamily="18" charset="0"/>
              </a:rPr>
              <a:t>Ad.1. RTA’s zijn de zorgpaden/zorgprocessen, regionale transmurale afspraken en (netwerkzorg) werkafspraken.</a:t>
            </a:r>
            <a:endParaRPr lang="en-NL" sz="1200" b="1" i="1">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Het doel is ervoor te zorgen dat er uniforme afspraken komen tussen de sectoren over bijvoorbeeld diagnostiek, behandeling, consultatie, berichtgeving, verwijzing en </a:t>
            </a:r>
            <a:r>
              <a:rPr lang="nl-NL" sz="120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terugverwijzing</a:t>
            </a:r>
            <a:r>
              <a:rPr lang="nl-NL"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De professionals kunnen zo eenduidig helpen te bepalen welke inwoner waar moet worden gezien en behandeld. Bovendien is behandel- en ondersteuningsaanbod op elkaar afgestemd en wordt naar verwachting 5-10% onnodige zorg voorkomen. </a:t>
            </a:r>
            <a:endParaRPr lang="en-NL" sz="1200">
              <a:effectLst/>
              <a:latin typeface="Times New Roman" panose="02020603050405020304" pitchFamily="18" charset="0"/>
              <a:ea typeface="Times New Roman" panose="02020603050405020304" pitchFamily="18" charset="0"/>
            </a:endParaRPr>
          </a:p>
          <a:p>
            <a:endParaRPr lang="nl-NL" b="0"/>
          </a:p>
          <a:p>
            <a:r>
              <a:rPr lang="nl-NL" b="1"/>
              <a:t>Ad.2. Zorgnetwerkplatform</a:t>
            </a:r>
          </a:p>
          <a:p>
            <a:r>
              <a:rPr lang="nl-NL" sz="120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Doelstelling is dat professionals en inwoners in de regio’s via één netwerkzorgtoepassing geïntegreerd in de eigen werkomgeving toegang hebben tot alle relevante gegevens uit verschillende gegevensbronnen uit verschillende domeinen. </a:t>
            </a:r>
            <a:r>
              <a:rPr lang="nl-NL" sz="1200">
                <a:effectLst/>
                <a:latin typeface="Calibri" panose="020F0502020204030204" pitchFamily="34" charset="0"/>
                <a:ea typeface="Calibri" panose="020F0502020204030204" pitchFamily="34" charset="0"/>
                <a:cs typeface="Times New Roman" panose="02020603050405020304" pitchFamily="18" charset="0"/>
              </a:rPr>
              <a:t>Dat wil zeggen: gezondheid en sport, welzijn, sociaal en (jeugd-) (wijk) (acute) zorg. </a:t>
            </a:r>
            <a:r>
              <a:rPr lang="nl-NL" sz="1200">
                <a:effectLst/>
                <a:latin typeface="Calibri" panose="020F0502020204030204" pitchFamily="34" charset="0"/>
                <a:ea typeface="Calibri" panose="020F0502020204030204" pitchFamily="34" charset="0"/>
              </a:rPr>
              <a:t>Meer snelheid in de verschillende processen waardoor productiviteit met 7,5-10% verhoogd kan worden. Hulpverleners zijn op de hoogte van elkaars interventies en dat bevordert de kwaliteit van zorg. Daarmee ook de ervaring van de inwoner/patiënt. Deze ervaart meer regie op het eigen behandelproces. Professionals zullen in 2026 een reductie van 35% ervaren ten aanzien van administratie lasten en uitzoekwerk. Met netwerkzorg zal het percentage van doorverwijzingen naar de tweede lijn afnemen. Ambitie is dat  deze de komende jaren met 7% gereduceerd wordt.</a:t>
            </a:r>
          </a:p>
          <a:p>
            <a:endParaRPr lang="nl-NL" sz="1200">
              <a:effectLst/>
              <a:latin typeface="Calibri" panose="020F0502020204030204" pitchFamily="34" charset="0"/>
              <a:ea typeface="Calibri" panose="020F0502020204030204" pitchFamily="34" charset="0"/>
              <a:cs typeface="Times New Roman" panose="02020603050405020304" pitchFamily="18" charset="0"/>
            </a:endParaRPr>
          </a:p>
          <a:p>
            <a:r>
              <a:rPr lang="nl-NL" sz="1200" b="1">
                <a:effectLst/>
                <a:latin typeface="Calibri" panose="020F0502020204030204" pitchFamily="34" charset="0"/>
                <a:ea typeface="Calibri" panose="020F0502020204030204" pitchFamily="34" charset="0"/>
                <a:cs typeface="Times New Roman" panose="02020603050405020304" pitchFamily="18" charset="0"/>
              </a:rPr>
              <a:t>Ad.3. Digitale Communicatie</a:t>
            </a:r>
          </a:p>
          <a:p>
            <a:r>
              <a:rPr lang="nl-NL" sz="1200">
                <a:effectLst/>
                <a:latin typeface="Calibri" panose="020F0502020204030204" pitchFamily="34" charset="0"/>
                <a:ea typeface="Calibri" panose="020F0502020204030204" pitchFamily="34" charset="0"/>
                <a:cs typeface="Times New Roman" panose="02020603050405020304" pitchFamily="18" charset="0"/>
              </a:rPr>
              <a:t>De doelstelling is om een uniforme, regionale basisinfrastructuur neer te zetten voor digitale communicatie binnen het totale zorgnetwerk, met goede koppelingen met de dossiers. Het betreft de realisatie van op grote schaal multidisciplinaire digitale communicatie tussen huisarts en specialist én patiënt, het zogenoemde meedenk-consult gecombineerd met het digitaal verwijzen. Dit betreft ook het op regionaal niveau harmoniseren van de werkwijze en een keuze voor een digitaal platform voor communicatie en verwijzing maken. </a:t>
            </a:r>
            <a:endParaRPr lang="nl-NL" sz="1200" b="0">
              <a:effectLst/>
              <a:latin typeface="Calibri" panose="020F0502020204030204" pitchFamily="34" charset="0"/>
              <a:ea typeface="Calibri" panose="020F0502020204030204" pitchFamily="34" charset="0"/>
              <a:cs typeface="Times New Roman" panose="02020603050405020304" pitchFamily="18" charset="0"/>
            </a:endParaRPr>
          </a:p>
          <a:p>
            <a:endParaRPr lang="nl-NL" b="0"/>
          </a:p>
          <a:p>
            <a:r>
              <a:rPr lang="nl-NL" b="1"/>
              <a:t>Ad. 4. Hybride Zorg</a:t>
            </a:r>
          </a:p>
          <a:p>
            <a:pPr marL="0" lvl="0" indent="0">
              <a:buFont typeface="Arial" panose="020B0604020202020204" pitchFamily="34" charset="0"/>
              <a:buNone/>
            </a:pPr>
            <a:r>
              <a:rPr lang="nl-NL" sz="1200" b="0">
                <a:effectLst/>
                <a:latin typeface="Calibri" panose="020F0502020204030204" pitchFamily="34" charset="0"/>
                <a:ea typeface="Times New Roman" panose="02020603050405020304" pitchFamily="18" charset="0"/>
                <a:cs typeface="Cambria" panose="02040503050406030204" pitchFamily="18" charset="0"/>
              </a:rPr>
              <a:t>a) Telemonitoring en telebehandeling (zorg op afstand)</a:t>
            </a:r>
            <a:endParaRPr lang="en-NL" sz="1200" b="0">
              <a:effectLst/>
              <a:latin typeface="Cambria" panose="02040503050406030204" pitchFamily="18" charset="0"/>
              <a:ea typeface="Times New Roman" panose="02020603050405020304" pitchFamily="18" charset="0"/>
              <a:cs typeface="Cambria" panose="02040503050406030204" pitchFamily="18" charset="0"/>
            </a:endParaRPr>
          </a:p>
          <a:p>
            <a:pPr marL="0" lvl="0" indent="0">
              <a:buFont typeface="Arial" panose="020B0604020202020204" pitchFamily="34" charset="0"/>
              <a:buNone/>
            </a:pPr>
            <a:r>
              <a:rPr lang="nl-NL" sz="1200" b="0">
                <a:effectLst/>
                <a:latin typeface="Calibri" panose="020F0502020204030204" pitchFamily="34" charset="0"/>
                <a:ea typeface="Times New Roman" panose="02020603050405020304" pitchFamily="18" charset="0"/>
                <a:cs typeface="Cambria" panose="02040503050406030204" pitchFamily="18" charset="0"/>
              </a:rPr>
              <a:t>b) Digitalisering van zorgpaden</a:t>
            </a:r>
            <a:r>
              <a:rPr lang="nl-NL" sz="1200" b="0">
                <a:effectLst/>
                <a:latin typeface="Cambria" panose="02040503050406030204" pitchFamily="18" charset="0"/>
                <a:ea typeface="Times New Roman" panose="02020603050405020304" pitchFamily="18" charset="0"/>
                <a:cs typeface="Cambria" panose="02040503050406030204" pitchFamily="18" charset="0"/>
              </a:rPr>
              <a:t>/zorgprocessen</a:t>
            </a:r>
          </a:p>
          <a:p>
            <a:pPr marL="0" lvl="0" indent="0">
              <a:buFont typeface="Arial" panose="020B0604020202020204" pitchFamily="34" charset="0"/>
              <a:buNone/>
            </a:pPr>
            <a:endParaRPr lang="nl-NL" sz="12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Arial" panose="020B0604020202020204" pitchFamily="34" charset="0"/>
              <a:buAutoNum type="alphaLcParenR"/>
            </a:pPr>
            <a:r>
              <a:rPr lang="nl-NL" sz="1200">
                <a:effectLst/>
                <a:latin typeface="Calibri" panose="020F0502020204030204" pitchFamily="34" charset="0"/>
                <a:ea typeface="Calibri" panose="020F0502020204030204" pitchFamily="34" charset="0"/>
                <a:cs typeface="Times New Roman" panose="02020603050405020304" pitchFamily="18" charset="0"/>
              </a:rPr>
              <a:t>De  functie van telemonitoring wordt regionaal voor ten minste 65% ondergebracht in het medisch regie centrum (MRC). Op dit moment is de functie van MRC ondergebracht bij twee ziekenhuizen in onze regio: het UMC Utrecht (medisch regiecentrum UMCU) en het Sint Antonius ziekenhuis (Zorg Bij Jou). Ons doel is om tot één MRC voor de regio te komen, met als basis </a:t>
            </a:r>
            <a:r>
              <a:rPr lang="nl-NL" sz="1200" err="1">
                <a:effectLst/>
                <a:latin typeface="Calibri" panose="020F0502020204030204" pitchFamily="34" charset="0"/>
                <a:ea typeface="Calibri" panose="020F0502020204030204" pitchFamily="34" charset="0"/>
                <a:cs typeface="Times New Roman" panose="02020603050405020304" pitchFamily="18" charset="0"/>
              </a:rPr>
              <a:t>Santeon</a:t>
            </a:r>
            <a:r>
              <a:rPr lang="nl-NL" sz="1200">
                <a:effectLst/>
                <a:latin typeface="Calibri" panose="020F0502020204030204" pitchFamily="34" charset="0"/>
                <a:ea typeface="Calibri" panose="020F0502020204030204" pitchFamily="34" charset="0"/>
                <a:cs typeface="Times New Roman" panose="02020603050405020304" pitchFamily="18" charset="0"/>
              </a:rPr>
              <a:t> Zorg bij jou.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AutoNum type="alphaLcParenR"/>
              <a:tabLst/>
              <a:defRPr/>
            </a:pPr>
            <a:r>
              <a:rPr lang="nl-NL" sz="1200">
                <a:effectLst/>
                <a:latin typeface="Calibri" panose="020F0502020204030204" pitchFamily="34" charset="0"/>
                <a:ea typeface="Calibri" panose="020F0502020204030204" pitchFamily="34" charset="0"/>
                <a:cs typeface="Times New Roman" panose="02020603050405020304" pitchFamily="18" charset="0"/>
              </a:rPr>
              <a:t>De harmonisatie van werkprocessen en toepassingen maakt de stap naar een regionaal (telemonitoring) medisch centrum makkelijker mogelijk. Daarnaast wordt verwacht dat telemonitoring kan leiden tot verplaatsing van tweede- naar eerstelijns zorg. Bovendien valt de patiënt niet meer onder de directe behandeling van de arts/specialist. Deze blijft vaak wel de regiebehandelaar. De inzet kan verlegd worden naar POH, specialistisch verpleegkundigen of anders.</a:t>
            </a:r>
            <a:endParaRPr lang="en-NL" sz="1200">
              <a:effectLst/>
              <a:latin typeface="Calibri" panose="020F0502020204030204" pitchFamily="34" charset="0"/>
              <a:ea typeface="Calibri" panose="020F0502020204030204" pitchFamily="34" charset="0"/>
              <a:cs typeface="Times New Roman" panose="02020603050405020304" pitchFamily="18" charset="0"/>
            </a:endParaRPr>
          </a:p>
          <a:p>
            <a:endParaRPr lang="nl-NL" sz="1800" b="0" i="0" u="none" strike="noStrike" baseline="0">
              <a:solidFill>
                <a:srgbClr val="000000"/>
              </a:solidFill>
              <a:latin typeface="Helvetica Now Display"/>
            </a:endParaRPr>
          </a:p>
          <a:p>
            <a:r>
              <a:rPr lang="nl-NL" sz="1800" b="1" i="0" u="none" strike="noStrike" baseline="0">
                <a:solidFill>
                  <a:srgbClr val="000000"/>
                </a:solidFill>
                <a:latin typeface="Helvetica Now Display"/>
              </a:rPr>
              <a:t>Ambities Basis op Orde</a:t>
            </a:r>
            <a:endParaRPr lang="nl-NL" sz="1800" b="0" i="0" u="none" strike="noStrike" baseline="0">
              <a:solidFill>
                <a:srgbClr val="000000"/>
              </a:solidFill>
              <a:latin typeface="Helvetica Now Display"/>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a:effectLst/>
                <a:latin typeface="Calibri" panose="020F0502020204030204" pitchFamily="34" charset="0"/>
                <a:ea typeface="Calibri" panose="020F0502020204030204" pitchFamily="34" charset="0"/>
                <a:cs typeface="Times New Roman" panose="02020603050405020304" pitchFamily="18" charset="0"/>
              </a:rPr>
              <a:t>Doelstelling is de implementatie van standaarden en inzet van gemeenschappelijke voorzieningen voor generieke functies zodat informatie beschikbaar, deelbaar en uitwisselbaar wordt. Hierbij denken we aan de landelijke infrastructuren (zoals LSP, XDS en de datastations), landelijke afsprakenstelsels (zoals </a:t>
            </a:r>
            <a:r>
              <a:rPr lang="nl-NL" sz="1800" err="1">
                <a:effectLst/>
                <a:latin typeface="Calibri" panose="020F0502020204030204" pitchFamily="34" charset="0"/>
                <a:ea typeface="Calibri" panose="020F0502020204030204" pitchFamily="34" charset="0"/>
                <a:cs typeface="Times New Roman" panose="02020603050405020304" pitchFamily="18" charset="0"/>
              </a:rPr>
              <a:t>Twiin</a:t>
            </a:r>
            <a:r>
              <a:rPr lang="nl-NL" sz="1800">
                <a:effectLst/>
                <a:latin typeface="Calibri" panose="020F0502020204030204" pitchFamily="34" charset="0"/>
                <a:ea typeface="Calibri" panose="020F0502020204030204" pitchFamily="34" charset="0"/>
                <a:cs typeface="Times New Roman" panose="02020603050405020304" pitchFamily="18" charset="0"/>
              </a:rPr>
              <a:t> en Nuts), FHIR-standaarden voor de koppelingen (waar nodig open EHR), </a:t>
            </a:r>
            <a:r>
              <a:rPr lang="nl-NL" sz="1800" err="1">
                <a:effectLst/>
                <a:latin typeface="Calibri" panose="020F0502020204030204" pitchFamily="34" charset="0"/>
                <a:ea typeface="Calibri" panose="020F0502020204030204" pitchFamily="34" charset="0"/>
                <a:cs typeface="Times New Roman" panose="02020603050405020304" pitchFamily="18" charset="0"/>
              </a:rPr>
              <a:t>Wegiz</a:t>
            </a:r>
            <a:r>
              <a:rPr lang="nl-NL" sz="1800">
                <a:effectLst/>
                <a:latin typeface="Calibri" panose="020F0502020204030204" pitchFamily="34" charset="0"/>
                <a:ea typeface="Calibri" panose="020F0502020204030204" pitchFamily="34" charset="0"/>
                <a:cs typeface="Times New Roman" panose="02020603050405020304" pitchFamily="18" charset="0"/>
              </a:rPr>
              <a:t> standaarden voor de meest cruciale overdrachten incl. de acute- en ambulance zorg. Het gaat hierbij ook om standaarden voor privacy en informatieveiligheid.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1">
                <a:effectLst/>
                <a:latin typeface="Calibri" panose="020F0502020204030204" pitchFamily="34" charset="0"/>
                <a:ea typeface="Calibri" panose="020F0502020204030204" pitchFamily="34" charset="0"/>
                <a:cs typeface="Times New Roman" panose="02020603050405020304" pitchFamily="18" charset="0"/>
              </a:rPr>
              <a:t>Ambities Regionale Data- &amp; Applicatiearchitectuur</a:t>
            </a:r>
            <a:endParaRPr lang="nl-NL" sz="1800" b="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0">
                <a:effectLst/>
                <a:latin typeface="Calibri" panose="020F0502020204030204" pitchFamily="34" charset="0"/>
                <a:ea typeface="Calibri" panose="020F0502020204030204" pitchFamily="34" charset="0"/>
                <a:cs typeface="Times New Roman" panose="02020603050405020304" pitchFamily="18" charset="0"/>
              </a:rPr>
              <a:t>Doel is het realiseren van een </a:t>
            </a:r>
            <a:r>
              <a:rPr lang="nl-NL" sz="1800">
                <a:effectLst/>
                <a:latin typeface="Calibri" panose="020F0502020204030204" pitchFamily="34" charset="0"/>
                <a:ea typeface="Calibri" panose="020F0502020204030204" pitchFamily="34" charset="0"/>
                <a:cs typeface="Times New Roman" panose="02020603050405020304" pitchFamily="18" charset="0"/>
              </a:rPr>
              <a:t>verbindend fundament, een dataplatform zorg, </a:t>
            </a:r>
            <a:r>
              <a:rPr lang="nl-NL" sz="1800">
                <a:effectLst/>
                <a:latin typeface="Calibri" panose="020F0502020204030204" pitchFamily="34" charset="0"/>
                <a:ea typeface="Calibri" panose="020F0502020204030204" pitchFamily="34" charset="0"/>
              </a:rPr>
              <a:t>om te kunnen komen tot het leveren van ‘passende zorg’. In de regio is succesvol gewerkt aan transformatie van oncologische zorg met behulp van digitalisering en databeschikbaarheid in Data Delen Midden-Nederland (DDMN): </a:t>
            </a:r>
            <a:r>
              <a:rPr lang="nl-NL" sz="1800" err="1">
                <a:effectLst/>
                <a:latin typeface="Calibri" panose="020F0502020204030204" pitchFamily="34" charset="0"/>
                <a:ea typeface="Calibri" panose="020F0502020204030204" pitchFamily="34" charset="0"/>
              </a:rPr>
              <a:t>Onco-Mid</a:t>
            </a:r>
            <a:r>
              <a:rPr lang="nl-NL" sz="1800">
                <a:effectLst/>
                <a:latin typeface="Calibri" panose="020F0502020204030204" pitchFamily="34" charset="0"/>
                <a:ea typeface="Calibri" panose="020F0502020204030204" pitchFamily="34" charset="0"/>
              </a:rPr>
              <a:t>. DDMN, Ook BabyConnect met HINQ, is een goed voorbeeld van netwerksamenwerking voor passende zorg met een data-architectuur en -infrastructuur die past bij de nationale visie en strategie op het gezondheidsinformatiestelsel van VWS, het IZA, en bij landelijke ontwikkelingen. </a:t>
            </a:r>
            <a:r>
              <a:rPr lang="nl-NL" sz="1800">
                <a:effectLst/>
                <a:latin typeface="Calibri" panose="020F0502020204030204" pitchFamily="34" charset="0"/>
                <a:ea typeface="Calibri" panose="020F0502020204030204" pitchFamily="34" charset="0"/>
                <a:cs typeface="Times New Roman" panose="02020603050405020304" pitchFamily="18" charset="0"/>
              </a:rPr>
              <a:t>Als basis voor de data architectuur onderscheiden we vier domeinen. </a:t>
            </a: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Preventieve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GROZ</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Populatiemanagement</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Patiënt gestuurde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libri" panose="020F0502020204030204" pitchFamily="34" charset="0"/>
                <a:cs typeface="Times New Roman" panose="02020603050405020304" pitchFamily="18" charset="0"/>
              </a:rPr>
              <a:t>Psychische 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Times New Roman" panose="02020603050405020304" pitchFamily="18" charset="0"/>
                <a:cs typeface="Times New Roman" panose="02020603050405020304" pitchFamily="18" charset="0"/>
              </a:rPr>
              <a:t>Zelf- &amp; thuiszorg</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Transmurale- en netwerkzorg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Regionale oplossingen faciliteren DDMN, </a:t>
            </a:r>
            <a:r>
              <a:rPr lang="nl-NL" sz="1000" err="1">
                <a:effectLst/>
                <a:latin typeface="Calibri" panose="020F0502020204030204" pitchFamily="34" charset="0"/>
                <a:ea typeface="Cambria" panose="02040503050406030204" pitchFamily="18" charset="0"/>
                <a:cs typeface="Cambria" panose="02040503050406030204" pitchFamily="18" charset="0"/>
              </a:rPr>
              <a:t>Babyconnect</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Samenwerking tussen HA, VVT, APO, ZKHS-en, etc. bevorderen</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742950" lvl="1" indent="-28575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Regionaal medisch regiecentrum</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Font typeface="+mj-lt"/>
              <a:buAutoNum type="arabicPeriod"/>
            </a:pPr>
            <a:r>
              <a:rPr lang="nl-NL" sz="1000" b="1">
                <a:effectLst/>
                <a:latin typeface="Calibri" panose="020F0502020204030204" pitchFamily="34" charset="0"/>
                <a:ea typeface="Calibri" panose="020F0502020204030204" pitchFamily="34" charset="0"/>
                <a:cs typeface="Times New Roman" panose="02020603050405020304" pitchFamily="18" charset="0"/>
              </a:rPr>
              <a:t>Acute zorg</a:t>
            </a:r>
            <a:endParaRPr lang="en-NL" sz="1200" b="1">
              <a:effectLst/>
              <a:latin typeface="Cambria" panose="02040503050406030204" pitchFamily="18" charset="0"/>
              <a:ea typeface="Cambria" panose="02040503050406030204" pitchFamily="18" charset="0"/>
              <a:cs typeface="Cambria" panose="02040503050406030204" pitchFamily="18" charset="0"/>
            </a:endParaRPr>
          </a:p>
          <a:p>
            <a:pPr marL="800100" lvl="1" indent="-342900">
              <a:lnSpc>
                <a:spcPts val="1200"/>
              </a:lnSpc>
              <a:buFont typeface="+mj-lt"/>
              <a:buAutoNum type="alphaLcPeriod"/>
            </a:pPr>
            <a:r>
              <a:rPr lang="nl-NL" sz="1000">
                <a:effectLst/>
                <a:latin typeface="Calibri" panose="020F0502020204030204" pitchFamily="34" charset="0"/>
                <a:ea typeface="Cambria" panose="02040503050406030204" pitchFamily="18" charset="0"/>
                <a:cs typeface="Cambria" panose="02040503050406030204" pitchFamily="18" charset="0"/>
              </a:rPr>
              <a:t>ROAZ</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800100" lvl="1" indent="-342900">
              <a:lnSpc>
                <a:spcPts val="1200"/>
              </a:lnSpc>
              <a:buFont typeface="+mj-lt"/>
              <a:buAutoNum type="alphaLcPeriod"/>
            </a:pPr>
            <a:r>
              <a:rPr lang="nl-NL" sz="1000">
                <a:effectLst/>
                <a:latin typeface="Calibri" panose="020F0502020204030204" pitchFamily="34" charset="0"/>
                <a:ea typeface="Calibri" panose="020F0502020204030204" pitchFamily="34" charset="0"/>
                <a:cs typeface="Cambria" panose="02040503050406030204" pitchFamily="18" charset="0"/>
              </a:rPr>
              <a:t>Zorgcoördinatie Centrum </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b="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800" b="1">
                <a:effectLst/>
                <a:latin typeface="Calibri" panose="020F0502020204030204" pitchFamily="34" charset="0"/>
                <a:ea typeface="Calibri" panose="020F0502020204030204" pitchFamily="34" charset="0"/>
                <a:cs typeface="Times New Roman" panose="02020603050405020304" pitchFamily="18" charset="0"/>
              </a:rPr>
              <a:t>Ontwikkelperspectief</a:t>
            </a: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Inzien en/of raadplegen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middels een viewer, waarbij de zorginformatie in de bron blijft opgeslagen en dus niet in de zorgviewer of ergens anders centraal. Een zorgprofessional heeft daarbij toegang tot zorginformatie van (een) andere zorgaanbieder(s) die betrokken is/zijn bij de zorg rondom dezelfde patiënt op basis van toestemming van de patiënt en/of samenwerkingsafspraken tussen zorgaanbieders/zorgprofessionals.</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Overnemen en hergebruiken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(selectief) ook wel het kunnen verwerken van zorginformatie uit de beschikbaar gestelde datasets (informatiestandaarden) door de ontvangende organisatie. De professional beoordeelt de gegevens en bepaalt of en hoe de gegevens worden opgeslagen en hergebruikt in het lokale zorgdossier. </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800" b="1">
                <a:effectLst/>
                <a:latin typeface="Calibri" panose="020F0502020204030204" pitchFamily="34" charset="0"/>
                <a:ea typeface="Cambria" panose="02040503050406030204" pitchFamily="18" charset="0"/>
                <a:cs typeface="Cambria" panose="02040503050406030204" pitchFamily="18" charset="0"/>
              </a:rPr>
              <a:t>Verrijken/toevoegen van zorginformatie</a:t>
            </a:r>
            <a:r>
              <a:rPr lang="nl-NL" sz="1800">
                <a:effectLst/>
                <a:latin typeface="Calibri" panose="020F0502020204030204" pitchFamily="34" charset="0"/>
                <a:ea typeface="Cambria" panose="02040503050406030204" pitchFamily="18" charset="0"/>
                <a:cs typeface="Cambria" panose="02040503050406030204" pitchFamily="18" charset="0"/>
              </a:rPr>
              <a:t> op basis van interactie en bi-directionele uitwisseling van gegevens. </a:t>
            </a:r>
            <a:endParaRPr lang="en-NL" sz="1800">
              <a:effectLst/>
              <a:latin typeface="Cambria" panose="02040503050406030204" pitchFamily="18" charset="0"/>
              <a:ea typeface="Cambria" panose="02040503050406030204" pitchFamily="18" charset="0"/>
              <a:cs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800">
              <a:effectLst/>
              <a:latin typeface="Calibri" panose="020F0502020204030204" pitchFamily="34" charset="0"/>
              <a:ea typeface="Calibri" panose="020F0502020204030204" pitchFamily="34" charset="0"/>
              <a:cs typeface="Times New Roman" panose="02020603050405020304" pitchFamily="18" charset="0"/>
            </a:endParaRPr>
          </a:p>
          <a:p>
            <a:pPr algn="l"/>
            <a:endParaRPr lang="nl-NL">
              <a:cs typeface="Calibri"/>
            </a:endParaRPr>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0277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4324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2D52-03E9-ED04-E5BE-45C693E40A0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0A618C2-8AD4-30BB-CEA5-16B5C5C68FB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EF3D31E-0CF4-12BA-B925-A1A014166723}"/>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5A67A593-FC34-D3E5-38CD-4B99813D84D2}"/>
              </a:ext>
            </a:extLst>
          </p:cNvPr>
          <p:cNvSpPr>
            <a:spLocks noGrp="1"/>
          </p:cNvSpPr>
          <p:nvPr>
            <p:ph type="sldNum" sz="quarter" idx="5"/>
          </p:nvPr>
        </p:nvSpPr>
        <p:spPr/>
        <p:txBody>
          <a:bodyPr/>
          <a:lstStyle/>
          <a:p>
            <a:fld id="{252A3A4B-DB77-4B90-BD1A-9DE64CFDDA18}" type="slidenum">
              <a:rPr lang="nl-NL" smtClean="0"/>
              <a:t>23</a:t>
            </a:fld>
            <a:endParaRPr lang="nl-NL"/>
          </a:p>
        </p:txBody>
      </p:sp>
    </p:spTree>
    <p:extLst>
      <p:ext uri="{BB962C8B-B14F-4D97-AF65-F5344CB8AC3E}">
        <p14:creationId xmlns:p14="http://schemas.microsoft.com/office/powerpoint/2010/main" val="3430252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24</a:t>
            </a:fld>
            <a:endParaRPr lang="nl-NL"/>
          </a:p>
        </p:txBody>
      </p:sp>
    </p:spTree>
    <p:extLst>
      <p:ext uri="{BB962C8B-B14F-4D97-AF65-F5344CB8AC3E}">
        <p14:creationId xmlns:p14="http://schemas.microsoft.com/office/powerpoint/2010/main" val="1086985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BCC99-D9B7-A240-B7C2-B54EC8F9DB2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F78C528-BBCF-26A1-7E6A-7F084BF4639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A0C7EBE-81F1-8325-FDFA-A44E6F5F3246}"/>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98CCA318-81DA-30C9-3F33-465993AE643E}"/>
              </a:ext>
            </a:extLst>
          </p:cNvPr>
          <p:cNvSpPr>
            <a:spLocks noGrp="1"/>
          </p:cNvSpPr>
          <p:nvPr>
            <p:ph type="sldNum" sz="quarter" idx="5"/>
          </p:nvPr>
        </p:nvSpPr>
        <p:spPr/>
        <p:txBody>
          <a:bodyPr/>
          <a:lstStyle/>
          <a:p>
            <a:fld id="{252A3A4B-DB77-4B90-BD1A-9DE64CFDDA18}" type="slidenum">
              <a:rPr lang="nl-NL" smtClean="0"/>
              <a:t>25</a:t>
            </a:fld>
            <a:endParaRPr lang="nl-NL"/>
          </a:p>
        </p:txBody>
      </p:sp>
    </p:spTree>
    <p:extLst>
      <p:ext uri="{BB962C8B-B14F-4D97-AF65-F5344CB8AC3E}">
        <p14:creationId xmlns:p14="http://schemas.microsoft.com/office/powerpoint/2010/main" val="1961271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A6113-16D1-2EDD-7FA6-E3516EF8E61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4381BA6-E935-0FCE-A023-23938F45EDD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690F687-37BD-3957-2DEF-B675BEC12AF3}"/>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97E72450-E8A0-9A93-B155-D7D895DC352D}"/>
              </a:ext>
            </a:extLst>
          </p:cNvPr>
          <p:cNvSpPr>
            <a:spLocks noGrp="1"/>
          </p:cNvSpPr>
          <p:nvPr>
            <p:ph type="sldNum" sz="quarter" idx="5"/>
          </p:nvPr>
        </p:nvSpPr>
        <p:spPr/>
        <p:txBody>
          <a:bodyPr/>
          <a:lstStyle/>
          <a:p>
            <a:fld id="{252A3A4B-DB77-4B90-BD1A-9DE64CFDDA18}" type="slidenum">
              <a:rPr lang="nl-NL" smtClean="0"/>
              <a:t>26</a:t>
            </a:fld>
            <a:endParaRPr lang="nl-NL"/>
          </a:p>
        </p:txBody>
      </p:sp>
    </p:spTree>
    <p:extLst>
      <p:ext uri="{BB962C8B-B14F-4D97-AF65-F5344CB8AC3E}">
        <p14:creationId xmlns:p14="http://schemas.microsoft.com/office/powerpoint/2010/main" val="343834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0218EE-4935-4049-87D7-ABDBEEF192A7}" type="slidenum">
              <a:rPr kumimoji="0" lang="nl-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nl-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536791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just">
              <a:lnSpc>
                <a:spcPct val="110000"/>
              </a:lnSpc>
              <a:spcBef>
                <a:spcPts val="0"/>
              </a:spcBef>
              <a:buNone/>
            </a:pPr>
            <a:r>
              <a:rPr lang="nl-NL" sz="1800">
                <a:latin typeface="Verdana"/>
                <a:ea typeface="Verdana"/>
              </a:rPr>
              <a:t>[</a:t>
            </a:r>
            <a:r>
              <a:rPr lang="nl-NL" sz="1800" err="1">
                <a:latin typeface="Verdana"/>
                <a:ea typeface="Verdana"/>
              </a:rPr>
              <a:t>Placeholder</a:t>
            </a:r>
            <a:r>
              <a:rPr lang="nl-NL" sz="1800">
                <a:latin typeface="Verdana"/>
                <a:ea typeface="Verdana"/>
              </a:rPr>
              <a:t>]</a:t>
            </a:r>
          </a:p>
          <a:p>
            <a:pPr marL="0" lvl="1" indent="0" algn="just">
              <a:lnSpc>
                <a:spcPct val="110000"/>
              </a:lnSpc>
              <a:spcBef>
                <a:spcPts val="0"/>
              </a:spcBef>
              <a:buNone/>
            </a:pPr>
            <a:endParaRPr lang="nl-NL" sz="1800">
              <a:latin typeface="Verdana"/>
              <a:ea typeface="Verdana"/>
            </a:endParaRPr>
          </a:p>
          <a:p>
            <a:pPr marL="342900" lvl="1" indent="-342900" algn="just">
              <a:lnSpc>
                <a:spcPct val="110000"/>
              </a:lnSpc>
              <a:spcBef>
                <a:spcPts val="0"/>
              </a:spcBef>
              <a:buFont typeface="Arial" panose="020B0604020202020204" pitchFamily="34" charset="0"/>
              <a:buAutoNum type="arabicPeriod"/>
            </a:pPr>
            <a:r>
              <a:rPr lang="nl-NL" sz="1800">
                <a:latin typeface="Verdana"/>
                <a:ea typeface="Verdana"/>
              </a:rPr>
              <a:t>Input uit snelle toets</a:t>
            </a:r>
          </a:p>
          <a:p>
            <a:pPr marL="342900" lvl="1" indent="-342900" algn="just">
              <a:lnSpc>
                <a:spcPct val="110000"/>
              </a:lnSpc>
              <a:spcBef>
                <a:spcPts val="0"/>
              </a:spcBef>
              <a:buAutoNum type="arabicPeriod"/>
            </a:pPr>
            <a:r>
              <a:rPr lang="nl-NL" sz="1800">
                <a:latin typeface="Verdana"/>
                <a:ea typeface="Verdana"/>
              </a:rPr>
              <a:t>Samenvatting per </a:t>
            </a:r>
            <a:r>
              <a:rPr lang="nl-NL" sz="1800" err="1">
                <a:latin typeface="Verdana"/>
                <a:ea typeface="Verdana"/>
              </a:rPr>
              <a:t>use</a:t>
            </a:r>
            <a:r>
              <a:rPr lang="nl-NL" sz="1800">
                <a:latin typeface="Verdana"/>
                <a:ea typeface="Verdana"/>
              </a:rPr>
              <a:t> case – o.b.v. uitkomsten en verdieping uit de werksessies</a:t>
            </a:r>
          </a:p>
          <a:p>
            <a:pPr marL="800100" lvl="2" indent="-342900" algn="just">
              <a:lnSpc>
                <a:spcPct val="110000"/>
              </a:lnSpc>
              <a:spcBef>
                <a:spcPts val="0"/>
              </a:spcBef>
              <a:buFont typeface="Arial" panose="020B0604020202020204" pitchFamily="34" charset="0"/>
              <a:buAutoNum type="arabicPeriod"/>
            </a:pPr>
            <a:r>
              <a:rPr lang="nl-NL" sz="1600">
                <a:latin typeface="Verdana"/>
                <a:ea typeface="Verdana"/>
              </a:rPr>
              <a:t>Max 2 slides overkoepelend </a:t>
            </a:r>
          </a:p>
          <a:p>
            <a:pPr marL="800100" lvl="2" indent="-342900" algn="just">
              <a:lnSpc>
                <a:spcPct val="110000"/>
              </a:lnSpc>
              <a:spcBef>
                <a:spcPts val="0"/>
              </a:spcBef>
              <a:buFont typeface="Arial" panose="020B0604020202020204" pitchFamily="34" charset="0"/>
              <a:buAutoNum type="arabicPeriod"/>
            </a:pPr>
            <a:r>
              <a:rPr lang="nl-NL" sz="1600">
                <a:latin typeface="Verdana"/>
                <a:ea typeface="Verdana"/>
              </a:rPr>
              <a:t>Max 3 slides per </a:t>
            </a:r>
            <a:r>
              <a:rPr lang="nl-NL" sz="1600" err="1">
                <a:latin typeface="Verdana"/>
                <a:ea typeface="Verdana"/>
              </a:rPr>
              <a:t>use</a:t>
            </a:r>
            <a:r>
              <a:rPr lang="nl-NL" sz="1600">
                <a:latin typeface="Verdana"/>
                <a:ea typeface="Verdana"/>
              </a:rPr>
              <a:t> case</a:t>
            </a:r>
            <a:endParaRPr lang="nl-NL" sz="1600" b="1">
              <a:latin typeface="Verdana"/>
              <a:ea typeface="Verdana"/>
            </a:endParaRPr>
          </a:p>
          <a:p>
            <a:pPr marL="800100" lvl="2" indent="-342900" algn="just">
              <a:lnSpc>
                <a:spcPct val="110000"/>
              </a:lnSpc>
              <a:spcBef>
                <a:spcPts val="0"/>
              </a:spcBef>
              <a:buAutoNum type="arabicPeriod"/>
            </a:pPr>
            <a:r>
              <a:rPr lang="nl-NL" sz="1600">
                <a:latin typeface="Verdana"/>
                <a:ea typeface="Verdana"/>
              </a:rPr>
              <a:t>Uitzondering fundament &amp; viewer</a:t>
            </a:r>
            <a:endParaRPr lang="nl-NL" sz="1600">
              <a:highlight>
                <a:srgbClr val="FFFF00"/>
              </a:highlight>
              <a:latin typeface="Verdana"/>
              <a:ea typeface="Verdana"/>
            </a:endParaRPr>
          </a:p>
          <a:p>
            <a:pPr marL="800100" lvl="2" indent="-342900" algn="just">
              <a:lnSpc>
                <a:spcPct val="110000"/>
              </a:lnSpc>
              <a:spcBef>
                <a:spcPts val="0"/>
              </a:spcBef>
              <a:buAutoNum type="arabicPeriod"/>
            </a:pPr>
            <a:endParaRPr lang="nl-NL" sz="1600">
              <a:highlight>
                <a:srgbClr val="FFFF00"/>
              </a:highlight>
              <a:latin typeface="Verdana"/>
              <a:ea typeface="Verdana"/>
            </a:endParaRPr>
          </a:p>
          <a:p>
            <a:pPr marL="800100" lvl="2" indent="-342900" algn="just">
              <a:lnSpc>
                <a:spcPct val="110000"/>
              </a:lnSpc>
              <a:spcBef>
                <a:spcPts val="0"/>
              </a:spcBef>
              <a:buAutoNum type="arabicPeriod"/>
            </a:pPr>
            <a:endParaRPr lang="nl-NL" sz="1600">
              <a:highlight>
                <a:srgbClr val="FFFF00"/>
              </a:highlight>
              <a:latin typeface="Verdana"/>
              <a:ea typeface="Verdana"/>
            </a:endParaRPr>
          </a:p>
          <a:p>
            <a:pPr marL="342900" lvl="1" indent="-342900" algn="just">
              <a:lnSpc>
                <a:spcPct val="110000"/>
              </a:lnSpc>
              <a:spcBef>
                <a:spcPts val="0"/>
              </a:spcBef>
              <a:buAutoNum type="arabicPeriod"/>
            </a:pPr>
            <a:r>
              <a:rPr lang="nl-NL" sz="1800">
                <a:latin typeface="Verdana"/>
                <a:ea typeface="Verdana"/>
              </a:rPr>
              <a:t>Verdieping/ details in de bijlage</a:t>
            </a:r>
          </a:p>
          <a:p>
            <a:pPr marL="800100" lvl="2" indent="-342900" algn="just">
              <a:lnSpc>
                <a:spcPct val="110000"/>
              </a:lnSpc>
              <a:spcBef>
                <a:spcPts val="0"/>
              </a:spcBef>
              <a:buAutoNum type="arabicPeriod"/>
            </a:pPr>
            <a:r>
              <a:rPr lang="nl-NL" sz="1600">
                <a:latin typeface="Verdana"/>
                <a:ea typeface="Verdana"/>
              </a:rPr>
              <a:t>Verdieping </a:t>
            </a:r>
            <a:r>
              <a:rPr lang="nl-NL" sz="1600" err="1">
                <a:latin typeface="Verdana"/>
                <a:ea typeface="Verdana"/>
              </a:rPr>
              <a:t>usecases</a:t>
            </a:r>
            <a:endParaRPr lang="nl-NL" sz="1600">
              <a:latin typeface="Verdana"/>
              <a:ea typeface="Verdana"/>
            </a:endParaRPr>
          </a:p>
          <a:p>
            <a:pPr marL="800100" lvl="2" indent="-342900" algn="just">
              <a:lnSpc>
                <a:spcPct val="110000"/>
              </a:lnSpc>
              <a:spcBef>
                <a:spcPts val="0"/>
              </a:spcBef>
              <a:buAutoNum type="arabicPeriod"/>
            </a:pPr>
            <a:r>
              <a:rPr lang="nl-NL" sz="1600">
                <a:latin typeface="Verdana"/>
                <a:ea typeface="Verdana"/>
              </a:rPr>
              <a:t>doelarchitectuur fundament</a:t>
            </a:r>
          </a:p>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28</a:t>
            </a:fld>
            <a:endParaRPr lang="nl-NL"/>
          </a:p>
        </p:txBody>
      </p:sp>
    </p:spTree>
    <p:extLst>
      <p:ext uri="{BB962C8B-B14F-4D97-AF65-F5344CB8AC3E}">
        <p14:creationId xmlns:p14="http://schemas.microsoft.com/office/powerpoint/2010/main" val="1010883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29</a:t>
            </a:fld>
            <a:endParaRPr lang="nl-NL"/>
          </a:p>
        </p:txBody>
      </p:sp>
    </p:spTree>
    <p:extLst>
      <p:ext uri="{BB962C8B-B14F-4D97-AF65-F5344CB8AC3E}">
        <p14:creationId xmlns:p14="http://schemas.microsoft.com/office/powerpoint/2010/main" val="13316453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210E-C146-900A-452B-B703DEB342B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0142A0F-A55D-1D64-78F7-824D45ED2D6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457B697-9688-E790-BD2C-2E155C9D2238}"/>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E7F65E57-5D00-C0EF-32A6-742A76ABCBC5}"/>
              </a:ext>
            </a:extLst>
          </p:cNvPr>
          <p:cNvSpPr>
            <a:spLocks noGrp="1"/>
          </p:cNvSpPr>
          <p:nvPr>
            <p:ph type="sldNum" sz="quarter" idx="5"/>
          </p:nvPr>
        </p:nvSpPr>
        <p:spPr/>
        <p:txBody>
          <a:bodyPr/>
          <a:lstStyle/>
          <a:p>
            <a:fld id="{252A3A4B-DB77-4B90-BD1A-9DE64CFDDA18}" type="slidenum">
              <a:rPr lang="nl-NL" smtClean="0"/>
              <a:t>30</a:t>
            </a:fld>
            <a:endParaRPr lang="nl-NL"/>
          </a:p>
        </p:txBody>
      </p:sp>
    </p:spTree>
    <p:extLst>
      <p:ext uri="{BB962C8B-B14F-4D97-AF65-F5344CB8AC3E}">
        <p14:creationId xmlns:p14="http://schemas.microsoft.com/office/powerpoint/2010/main" val="2382674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31</a:t>
            </a:fld>
            <a:endParaRPr lang="nl-NL"/>
          </a:p>
        </p:txBody>
      </p:sp>
    </p:spTree>
    <p:extLst>
      <p:ext uri="{BB962C8B-B14F-4D97-AF65-F5344CB8AC3E}">
        <p14:creationId xmlns:p14="http://schemas.microsoft.com/office/powerpoint/2010/main" val="1282987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2202E8-D125-4E71-AD9C-078F7984084F}"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18193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75DC9-283B-43F9-9414-F37DEB63FD3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89436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38</a:t>
            </a:fld>
            <a:endParaRPr lang="nl-NL"/>
          </a:p>
        </p:txBody>
      </p:sp>
    </p:spTree>
    <p:extLst>
      <p:ext uri="{BB962C8B-B14F-4D97-AF65-F5344CB8AC3E}">
        <p14:creationId xmlns:p14="http://schemas.microsoft.com/office/powerpoint/2010/main" val="8653516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F1BED-538B-3544-FACB-D7741F513A6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E006F66-F9DD-D997-D15C-F23D861689E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5BB978D-AFB3-13A8-B2B9-BC69E81E5D16}"/>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17E524F5-C8E2-096C-ADB5-696BEF9EF8B4}"/>
              </a:ext>
            </a:extLst>
          </p:cNvPr>
          <p:cNvSpPr>
            <a:spLocks noGrp="1"/>
          </p:cNvSpPr>
          <p:nvPr>
            <p:ph type="sldNum" sz="quarter" idx="5"/>
          </p:nvPr>
        </p:nvSpPr>
        <p:spPr/>
        <p:txBody>
          <a:bodyPr/>
          <a:lstStyle/>
          <a:p>
            <a:fld id="{252A3A4B-DB77-4B90-BD1A-9DE64CFDDA18}" type="slidenum">
              <a:rPr lang="nl-NL" smtClean="0"/>
              <a:t>39</a:t>
            </a:fld>
            <a:endParaRPr lang="nl-NL"/>
          </a:p>
        </p:txBody>
      </p:sp>
    </p:spTree>
    <p:extLst>
      <p:ext uri="{BB962C8B-B14F-4D97-AF65-F5344CB8AC3E}">
        <p14:creationId xmlns:p14="http://schemas.microsoft.com/office/powerpoint/2010/main" val="7860862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a:t>Medische overdracht</a:t>
            </a:r>
          </a:p>
          <a:p>
            <a:r>
              <a:rPr lang="nl-NL"/>
              <a:t>Medicatie overdracht</a:t>
            </a:r>
          </a:p>
          <a:p>
            <a:r>
              <a:rPr lang="nl-NL"/>
              <a:t>Verpleegkundige overdracht</a:t>
            </a:r>
          </a:p>
          <a:p>
            <a:r>
              <a:rPr lang="nl-NL"/>
              <a:t>Acute zorg overdracht</a:t>
            </a:r>
          </a:p>
        </p:txBody>
      </p:sp>
      <p:sp>
        <p:nvSpPr>
          <p:cNvPr id="4" name="Slide Number Placeholder 3"/>
          <p:cNvSpPr>
            <a:spLocks noGrp="1"/>
          </p:cNvSpPr>
          <p:nvPr>
            <p:ph type="sldNum" sz="quarter" idx="5"/>
          </p:nvPr>
        </p:nvSpPr>
        <p:spPr/>
        <p:txBody>
          <a:bodyPr/>
          <a:lstStyle/>
          <a:p>
            <a:fld id="{830128D3-36FE-4C57-924A-6AED5CCEEFAE}" type="slidenum">
              <a:rPr lang="en-GB" smtClean="0"/>
              <a:t>40</a:t>
            </a:fld>
            <a:endParaRPr lang="en-GB"/>
          </a:p>
        </p:txBody>
      </p:sp>
    </p:spTree>
    <p:extLst>
      <p:ext uri="{BB962C8B-B14F-4D97-AF65-F5344CB8AC3E}">
        <p14:creationId xmlns:p14="http://schemas.microsoft.com/office/powerpoint/2010/main" val="5910022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fld id="{982202E8-D125-4E71-AD9C-078F7984084F}" type="slidenum">
              <a:rPr lang="en-NL" smtClean="0"/>
              <a:t>43</a:t>
            </a:fld>
            <a:endParaRPr lang="en-NL"/>
          </a:p>
        </p:txBody>
      </p:sp>
    </p:spTree>
    <p:extLst>
      <p:ext uri="{BB962C8B-B14F-4D97-AF65-F5344CB8AC3E}">
        <p14:creationId xmlns:p14="http://schemas.microsoft.com/office/powerpoint/2010/main" val="5918193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BE563-E6C2-F71D-9F1B-A8DBAD52520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F0029CD-FC31-F5D9-8C9E-B290D360451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0224803-332F-F7B8-F88E-C2E5221189E9}"/>
              </a:ext>
            </a:extLst>
          </p:cNvPr>
          <p:cNvSpPr>
            <a:spLocks noGrp="1"/>
          </p:cNvSpPr>
          <p:nvPr>
            <p:ph type="body" idx="1"/>
          </p:nvPr>
        </p:nvSpPr>
        <p:spPr/>
        <p:txBody>
          <a:bodyPr/>
          <a:lstStyle/>
          <a:p>
            <a:endParaRPr lang="en-NL"/>
          </a:p>
        </p:txBody>
      </p:sp>
      <p:sp>
        <p:nvSpPr>
          <p:cNvPr id="4" name="Tijdelijke aanduiding voor dianummer 3">
            <a:extLst>
              <a:ext uri="{FF2B5EF4-FFF2-40B4-BE49-F238E27FC236}">
                <a16:creationId xmlns:a16="http://schemas.microsoft.com/office/drawing/2014/main" id="{EE793BD9-011A-0BBA-7759-0339D2FBD9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75DC9-283B-43F9-9414-F37DEB63FD3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18030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2202E8-D125-4E71-AD9C-078F7984084F}"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18193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75DC9-283B-43F9-9414-F37DEB63FD3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8943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75DC9-283B-43F9-9414-F37DEB63FD3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97174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Namen weg, 1 ziekenhuis, 2 VVT. </a:t>
            </a:r>
          </a:p>
          <a:p>
            <a:r>
              <a:rPr lang="nl-NL" err="1"/>
              <a:t>Axion</a:t>
            </a:r>
            <a:r>
              <a:rPr lang="nl-NL"/>
              <a:t> en Meander gaan niet mee. </a:t>
            </a:r>
          </a:p>
          <a:p>
            <a:r>
              <a:rPr lang="nl-NL"/>
              <a:t>Koplopers; UMC gebruikt Point en dat is wat minder praktisch als koploper. Daarom </a:t>
            </a:r>
            <a:r>
              <a:rPr lang="nl-NL" err="1"/>
              <a:t>Diak</a:t>
            </a:r>
            <a:r>
              <a:rPr lang="nl-NL"/>
              <a:t>. </a:t>
            </a:r>
          </a:p>
          <a:p>
            <a:r>
              <a:rPr lang="nl-NL" err="1"/>
              <a:t>Altrecht</a:t>
            </a:r>
            <a:r>
              <a:rPr lang="nl-NL"/>
              <a:t> wilt fasering andere </a:t>
            </a:r>
            <a:r>
              <a:rPr lang="nl-NL" err="1"/>
              <a:t>use</a:t>
            </a:r>
            <a:r>
              <a:rPr lang="nl-NL"/>
              <a:t> cases ook meenemen. </a:t>
            </a:r>
          </a:p>
          <a:p>
            <a:endParaRPr lang="nl-NL"/>
          </a:p>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2202E8-D125-4E71-AD9C-078F7984084F}"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918193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75DC9-283B-43F9-9414-F37DEB63FD3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89436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9294E6-A2F9-4152-942B-87D9F512556A}" type="slidenum">
              <a:rPr kumimoji="0" lang="nl-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nl-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60196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2202E8-D125-4E71-AD9C-078F7984084F}"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18193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75DC9-283B-43F9-9414-F37DEB63FD38}"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89436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62153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505F5-1767-3A0F-88F7-400AACF0FEC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F9EF3E6-E653-107B-4E69-60266FE0772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2A75571-FE0C-BA85-C6E3-4BBB8C10D7A8}"/>
              </a:ext>
            </a:extLst>
          </p:cNvPr>
          <p:cNvSpPr>
            <a:spLocks noGrp="1"/>
          </p:cNvSpPr>
          <p:nvPr>
            <p:ph type="body" idx="1"/>
          </p:nvPr>
        </p:nvSpPr>
        <p:spPr/>
        <p:txBody>
          <a:bodyPr/>
          <a:lstStyle/>
          <a:p>
            <a:pPr marL="0" marR="0" lvl="0" indent="0" algn="just" defTabSz="914400" rtl="0" eaLnBrk="0" fontAlgn="auto" latinLnBrk="0" hangingPunct="0">
              <a:lnSpc>
                <a:spcPct val="85000"/>
              </a:lnSpc>
              <a:spcBef>
                <a:spcPts val="100"/>
              </a:spcBef>
              <a:spcAft>
                <a:spcPts val="100"/>
              </a:spcAft>
              <a:buClrTx/>
              <a:buSzTx/>
              <a:buFontTx/>
              <a:buNone/>
              <a:tabLst/>
              <a:defRPr/>
            </a:pPr>
            <a:endParaRPr kumimoji="0" lang="nl-NL" sz="1200" b="0" i="0" u="none" strike="noStrike" kern="1200" cap="none" spc="0" normalizeH="0" baseline="0" noProof="0" dirty="0">
              <a:ln>
                <a:noFill/>
              </a:ln>
              <a:solidFill>
                <a:srgbClr val="595959"/>
              </a:solidFill>
              <a:effectLst/>
              <a:uLnTx/>
              <a:uFillTx/>
              <a:latin typeface="Verdana" panose="020B0604030504040204" pitchFamily="34" charset="0"/>
              <a:ea typeface="Verdana" panose="020B0604030504040204" pitchFamily="34" charset="0"/>
              <a:cs typeface="+mn-cs"/>
            </a:endParaRPr>
          </a:p>
        </p:txBody>
      </p:sp>
      <p:sp>
        <p:nvSpPr>
          <p:cNvPr id="4" name="Tijdelijke aanduiding voor dianummer 3">
            <a:extLst>
              <a:ext uri="{FF2B5EF4-FFF2-40B4-BE49-F238E27FC236}">
                <a16:creationId xmlns:a16="http://schemas.microsoft.com/office/drawing/2014/main" id="{B1D5A3AF-AB64-6F49-783E-FC250D5318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03455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D0EF-4204-DD9A-E4D8-4FACD167737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89072AB-D3C8-4FEB-A04B-8572F67C659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EE645BE-EC92-956A-12B7-9987D78C84E0}"/>
              </a:ext>
            </a:extLst>
          </p:cNvPr>
          <p:cNvSpPr>
            <a:spLocks noGrp="1"/>
          </p:cNvSpPr>
          <p:nvPr>
            <p:ph type="body" idx="1"/>
          </p:nvPr>
        </p:nvSpPr>
        <p:spPr/>
        <p:txBody>
          <a:bodyPr/>
          <a:lstStyle/>
          <a:p>
            <a:pPr lvl="0" algn="just" eaLnBrk="0" hangingPunct="0">
              <a:lnSpc>
                <a:spcPct val="85000"/>
              </a:lnSpc>
              <a:spcBef>
                <a:spcPts val="100"/>
              </a:spcBef>
              <a:spcAft>
                <a:spcPts val="100"/>
              </a:spcAft>
              <a:defRPr/>
            </a:pPr>
            <a:r>
              <a:rPr kumimoji="0" lang="nl-NL" sz="1200" b="0" i="0" u="none" strike="noStrike" kern="1200" cap="none" spc="0" normalizeH="0" baseline="0" noProof="0">
                <a:ln>
                  <a:noFill/>
                </a:ln>
                <a:solidFill>
                  <a:srgbClr val="595959"/>
                </a:solidFill>
                <a:effectLst/>
                <a:uLnTx/>
                <a:uFillTx/>
                <a:latin typeface="Verdana" panose="020B0604030504040204" pitchFamily="34" charset="0"/>
                <a:ea typeface="Verdana" panose="020B0604030504040204" pitchFamily="34" charset="0"/>
                <a:cs typeface="+mn-cs"/>
              </a:rPr>
              <a:t>Opschaling naar meer informatie voor de nazorg aanvraag, de volledige verpleegkundige overdracht, medische overdracht, de paramedische overdracht en de medicatieoverdracht (de overige </a:t>
            </a:r>
            <a:r>
              <a:rPr kumimoji="0" lang="nl-NL" sz="1200" b="0" i="0" u="none" strike="noStrike" kern="1200" cap="none" spc="0" normalizeH="0" baseline="0" noProof="0" err="1">
                <a:ln>
                  <a:noFill/>
                </a:ln>
                <a:solidFill>
                  <a:srgbClr val="595959"/>
                </a:solidFill>
                <a:effectLst/>
                <a:uLnTx/>
                <a:uFillTx/>
                <a:latin typeface="Verdana" panose="020B0604030504040204" pitchFamily="34" charset="0"/>
                <a:ea typeface="Verdana" panose="020B0604030504040204" pitchFamily="34" charset="0"/>
                <a:cs typeface="+mn-cs"/>
              </a:rPr>
              <a:t>Wegiz</a:t>
            </a:r>
            <a:r>
              <a:rPr kumimoji="0" lang="nl-NL" sz="1200" b="0" i="0" u="none" strike="noStrike" kern="1200" cap="none" spc="0" normalizeH="0" baseline="0" noProof="0">
                <a:ln>
                  <a:noFill/>
                </a:ln>
                <a:solidFill>
                  <a:srgbClr val="595959"/>
                </a:solidFill>
                <a:effectLst/>
                <a:uLnTx/>
                <a:uFillTx/>
                <a:latin typeface="Verdana" panose="020B0604030504040204" pitchFamily="34" charset="0"/>
                <a:ea typeface="Verdana" panose="020B0604030504040204" pitchFamily="34" charset="0"/>
                <a:cs typeface="+mn-cs"/>
              </a:rPr>
              <a:t> geprioriteerde gegevensdiensten). </a:t>
            </a:r>
            <a:r>
              <a:rPr kumimoji="0" lang="nl-NL" sz="1200" b="0" i="0" u="none" strike="noStrike" kern="1200" cap="none" spc="0" normalizeH="0" baseline="0" noProof="0">
                <a:ln>
                  <a:noFill/>
                </a:ln>
                <a:solidFill>
                  <a:srgbClr val="595959"/>
                </a:solidFill>
                <a:effectLst/>
                <a:uLnTx/>
                <a:uFillTx/>
                <a:latin typeface="Verdana"/>
                <a:ea typeface="Verdana"/>
                <a:cs typeface="+mn-cs"/>
              </a:rPr>
              <a:t>De onderliggende zorg informatie bouwstenen (</a:t>
            </a:r>
            <a:r>
              <a:rPr kumimoji="0" lang="nl-NL" sz="1200" b="0" i="0" u="none" strike="noStrike" kern="1200" cap="none" spc="0" normalizeH="0" baseline="0" noProof="0" err="1">
                <a:ln>
                  <a:noFill/>
                </a:ln>
                <a:solidFill>
                  <a:srgbClr val="595959"/>
                </a:solidFill>
                <a:effectLst/>
                <a:uLnTx/>
                <a:uFillTx/>
                <a:latin typeface="Verdana"/>
                <a:ea typeface="Verdana"/>
                <a:cs typeface="+mn-cs"/>
              </a:rPr>
              <a:t>Zibs</a:t>
            </a:r>
            <a:r>
              <a:rPr kumimoji="0" lang="nl-NL" sz="1200" b="0" i="0" u="none" strike="noStrike" kern="1200" cap="none" spc="0" normalizeH="0" baseline="0" noProof="0">
                <a:ln>
                  <a:noFill/>
                </a:ln>
                <a:solidFill>
                  <a:srgbClr val="595959"/>
                </a:solidFill>
                <a:effectLst/>
                <a:uLnTx/>
                <a:uFillTx/>
                <a:latin typeface="Verdana"/>
                <a:ea typeface="Verdana"/>
                <a:cs typeface="+mn-cs"/>
              </a:rPr>
              <a:t>) van de beschikbare gegevensdiensten, vormen de basis voor het beschikbaar stellen van data voor onder meer de (crisisdiensten) </a:t>
            </a:r>
            <a:r>
              <a:rPr kumimoji="0" lang="nl-NL" sz="1200" b="1" i="0" u="none" strike="noStrike" kern="1200" cap="none" spc="0" normalizeH="0" baseline="0" noProof="0">
                <a:ln>
                  <a:noFill/>
                </a:ln>
                <a:solidFill>
                  <a:srgbClr val="595959"/>
                </a:solidFill>
                <a:effectLst/>
                <a:uLnTx/>
                <a:uFillTx/>
                <a:latin typeface="Verdana"/>
                <a:ea typeface="Verdana"/>
                <a:cs typeface="+mn-cs"/>
              </a:rPr>
              <a:t>VG, VVT, GGZ en/of revalidatie.</a:t>
            </a:r>
          </a:p>
          <a:p>
            <a:pPr marL="0" marR="0" lvl="0" indent="0" algn="just" defTabSz="914400" rtl="0" eaLnBrk="0" fontAlgn="auto" latinLnBrk="0" hangingPunct="0">
              <a:lnSpc>
                <a:spcPct val="85000"/>
              </a:lnSpc>
              <a:spcBef>
                <a:spcPts val="100"/>
              </a:spcBef>
              <a:spcAft>
                <a:spcPts val="100"/>
              </a:spcAft>
              <a:buClrTx/>
              <a:buSzTx/>
              <a:buFontTx/>
              <a:buNone/>
              <a:tabLst/>
              <a:defRPr/>
            </a:pPr>
            <a:endParaRPr kumimoji="0" lang="nl-NL" sz="1200" b="0" i="0" u="none" strike="noStrike" kern="1200" cap="none" spc="0" normalizeH="0" baseline="0" noProof="0">
              <a:ln>
                <a:noFill/>
              </a:ln>
              <a:solidFill>
                <a:srgbClr val="595959"/>
              </a:solidFill>
              <a:effectLst/>
              <a:uLnTx/>
              <a:uFillTx/>
              <a:latin typeface="Verdana" panose="020B0604030504040204" pitchFamily="34" charset="0"/>
              <a:ea typeface="Verdana" panose="020B0604030504040204" pitchFamily="34" charset="0"/>
              <a:cs typeface="+mn-cs"/>
            </a:endParaRPr>
          </a:p>
        </p:txBody>
      </p:sp>
      <p:sp>
        <p:nvSpPr>
          <p:cNvPr id="4" name="Tijdelijke aanduiding voor dianummer 3">
            <a:extLst>
              <a:ext uri="{FF2B5EF4-FFF2-40B4-BE49-F238E27FC236}">
                <a16:creationId xmlns:a16="http://schemas.microsoft.com/office/drawing/2014/main" id="{4D068E10-5C32-E309-AAC7-625BBA70A3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56987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3AC6B7-B50C-41D8-A1BB-6409AFD47719}"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97126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fld id="{7B3AC6B7-B50C-41D8-A1BB-6409AFD47719}" type="slidenum">
              <a:rPr lang="nl-NL" smtClean="0"/>
              <a:t>62</a:t>
            </a:fld>
            <a:endParaRPr lang="nl-NL"/>
          </a:p>
        </p:txBody>
      </p:sp>
    </p:spTree>
    <p:extLst>
      <p:ext uri="{BB962C8B-B14F-4D97-AF65-F5344CB8AC3E}">
        <p14:creationId xmlns:p14="http://schemas.microsoft.com/office/powerpoint/2010/main" val="28522128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2FFD2-42D3-8782-743C-D9132AB7A35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4B4ADFB-27D6-4E07-2B74-6D6700F51E4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E55E0EB-1E7F-2E4B-7ED4-3D79211B78D2}"/>
              </a:ext>
            </a:extLst>
          </p:cNvPr>
          <p:cNvSpPr>
            <a:spLocks noGrp="1"/>
          </p:cNvSpPr>
          <p:nvPr>
            <p:ph type="body" idx="1"/>
          </p:nvPr>
        </p:nvSpPr>
        <p:spPr/>
        <p:txBody>
          <a:bodyPr/>
          <a:lstStyle/>
          <a:p>
            <a:endParaRPr lang="en-NL"/>
          </a:p>
        </p:txBody>
      </p:sp>
      <p:sp>
        <p:nvSpPr>
          <p:cNvPr id="4" name="Tijdelijke aanduiding voor dianummer 3">
            <a:extLst>
              <a:ext uri="{FF2B5EF4-FFF2-40B4-BE49-F238E27FC236}">
                <a16:creationId xmlns:a16="http://schemas.microsoft.com/office/drawing/2014/main" id="{05978573-AB55-9AAC-E57A-453078E1E021}"/>
              </a:ext>
            </a:extLst>
          </p:cNvPr>
          <p:cNvSpPr>
            <a:spLocks noGrp="1"/>
          </p:cNvSpPr>
          <p:nvPr>
            <p:ph type="sldNum" sz="quarter" idx="5"/>
          </p:nvPr>
        </p:nvSpPr>
        <p:spPr/>
        <p:txBody>
          <a:bodyPr/>
          <a:lstStyle/>
          <a:p>
            <a:fld id="{7B3AC6B7-B50C-41D8-A1BB-6409AFD47719}" type="slidenum">
              <a:rPr lang="nl-NL" smtClean="0"/>
              <a:t>63</a:t>
            </a:fld>
            <a:endParaRPr lang="nl-NL"/>
          </a:p>
        </p:txBody>
      </p:sp>
    </p:spTree>
    <p:extLst>
      <p:ext uri="{BB962C8B-B14F-4D97-AF65-F5344CB8AC3E}">
        <p14:creationId xmlns:p14="http://schemas.microsoft.com/office/powerpoint/2010/main" val="39406179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300B-64D7-8AFB-3254-57FBD4F5E16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A42EE6D-2D1E-DCE7-0CD3-56C8D75A104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580F1EE-657F-432D-8750-676E8EAFF28C}"/>
              </a:ext>
            </a:extLst>
          </p:cNvPr>
          <p:cNvSpPr>
            <a:spLocks noGrp="1"/>
          </p:cNvSpPr>
          <p:nvPr>
            <p:ph type="body" idx="1"/>
          </p:nvPr>
        </p:nvSpPr>
        <p:spPr/>
        <p:txBody>
          <a:bodyPr/>
          <a:lstStyle/>
          <a:p>
            <a:endParaRPr lang="en-NL"/>
          </a:p>
        </p:txBody>
      </p:sp>
      <p:sp>
        <p:nvSpPr>
          <p:cNvPr id="4" name="Tijdelijke aanduiding voor dianummer 3">
            <a:extLst>
              <a:ext uri="{FF2B5EF4-FFF2-40B4-BE49-F238E27FC236}">
                <a16:creationId xmlns:a16="http://schemas.microsoft.com/office/drawing/2014/main" id="{C7E55AF8-0510-2F35-03ED-CD8ADF2997C5}"/>
              </a:ext>
            </a:extLst>
          </p:cNvPr>
          <p:cNvSpPr>
            <a:spLocks noGrp="1"/>
          </p:cNvSpPr>
          <p:nvPr>
            <p:ph type="sldNum" sz="quarter" idx="5"/>
          </p:nvPr>
        </p:nvSpPr>
        <p:spPr/>
        <p:txBody>
          <a:bodyPr/>
          <a:lstStyle/>
          <a:p>
            <a:fld id="{7B3AC6B7-B50C-41D8-A1BB-6409AFD47719}" type="slidenum">
              <a:rPr lang="nl-NL" smtClean="0"/>
              <a:t>64</a:t>
            </a:fld>
            <a:endParaRPr lang="nl-NL"/>
          </a:p>
        </p:txBody>
      </p:sp>
    </p:spTree>
    <p:extLst>
      <p:ext uri="{BB962C8B-B14F-4D97-AF65-F5344CB8AC3E}">
        <p14:creationId xmlns:p14="http://schemas.microsoft.com/office/powerpoint/2010/main" val="23675599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Namen weg, 1 ziekenhuis, 2 VVT. </a:t>
            </a:r>
          </a:p>
          <a:p>
            <a:r>
              <a:rPr lang="nl-NL" err="1"/>
              <a:t>Axion</a:t>
            </a:r>
            <a:r>
              <a:rPr lang="nl-NL"/>
              <a:t> en Meander gaan niet mee. </a:t>
            </a:r>
          </a:p>
          <a:p>
            <a:r>
              <a:rPr lang="nl-NL"/>
              <a:t>Koplopers; UMC gebruikt Point en dat is wat minder praktisch als koploper. Daarom </a:t>
            </a:r>
            <a:r>
              <a:rPr lang="nl-NL" err="1"/>
              <a:t>Diak</a:t>
            </a:r>
            <a:r>
              <a:rPr lang="nl-NL"/>
              <a:t>. </a:t>
            </a:r>
          </a:p>
          <a:p>
            <a:r>
              <a:rPr lang="nl-NL" err="1"/>
              <a:t>Altrecht</a:t>
            </a:r>
            <a:r>
              <a:rPr lang="nl-NL"/>
              <a:t> wilt fasering andere </a:t>
            </a:r>
            <a:r>
              <a:rPr lang="nl-NL" err="1"/>
              <a:t>use</a:t>
            </a:r>
            <a:r>
              <a:rPr lang="nl-NL"/>
              <a:t> cases ook meenemen. </a:t>
            </a:r>
          </a:p>
          <a:p>
            <a:endParaRPr lang="nl-NL"/>
          </a:p>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2202E8-D125-4E71-AD9C-078F7984084F}"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918193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66</a:t>
            </a:fld>
            <a:endParaRPr lang="nl-NL"/>
          </a:p>
        </p:txBody>
      </p:sp>
    </p:spTree>
    <p:extLst>
      <p:ext uri="{BB962C8B-B14F-4D97-AF65-F5344CB8AC3E}">
        <p14:creationId xmlns:p14="http://schemas.microsoft.com/office/powerpoint/2010/main" val="39551386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67</a:t>
            </a:fld>
            <a:endParaRPr lang="nl-NL"/>
          </a:p>
        </p:txBody>
      </p:sp>
    </p:spTree>
    <p:extLst>
      <p:ext uri="{BB962C8B-B14F-4D97-AF65-F5344CB8AC3E}">
        <p14:creationId xmlns:p14="http://schemas.microsoft.com/office/powerpoint/2010/main" val="12281169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nl-NL"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7779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80399-1FAC-7496-90EA-54109D9BFED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D5F0C59-1357-995B-BC0D-F875EE3EC6E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80B507B-E2B8-E925-04A4-D432569FFD0C}"/>
              </a:ext>
            </a:extLst>
          </p:cNvPr>
          <p:cNvSpPr>
            <a:spLocks noGrp="1"/>
          </p:cNvSpPr>
          <p:nvPr>
            <p:ph type="body" idx="1"/>
          </p:nvPr>
        </p:nvSpPr>
        <p:spPr/>
        <p:txBody>
          <a:bodyPr/>
          <a:lstStyle/>
          <a:p>
            <a:endParaRPr lang="en-NL"/>
          </a:p>
        </p:txBody>
      </p:sp>
      <p:sp>
        <p:nvSpPr>
          <p:cNvPr id="4" name="Tijdelijke aanduiding voor dianummer 3">
            <a:extLst>
              <a:ext uri="{FF2B5EF4-FFF2-40B4-BE49-F238E27FC236}">
                <a16:creationId xmlns:a16="http://schemas.microsoft.com/office/drawing/2014/main" id="{DE61950E-325E-DE09-7DAA-6EFB5530EE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3AC6B7-B50C-41D8-A1BB-6409AFD47719}"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4013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70</a:t>
            </a:fld>
            <a:endParaRPr lang="nl-NL"/>
          </a:p>
        </p:txBody>
      </p:sp>
    </p:spTree>
    <p:extLst>
      <p:ext uri="{BB962C8B-B14F-4D97-AF65-F5344CB8AC3E}">
        <p14:creationId xmlns:p14="http://schemas.microsoft.com/office/powerpoint/2010/main" val="14307000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fld id="{7B3AC6B7-B50C-41D8-A1BB-6409AFD47719}" type="slidenum">
              <a:rPr lang="nl-NL" smtClean="0"/>
              <a:t>71</a:t>
            </a:fld>
            <a:endParaRPr lang="nl-NL"/>
          </a:p>
        </p:txBody>
      </p:sp>
    </p:spTree>
    <p:extLst>
      <p:ext uri="{BB962C8B-B14F-4D97-AF65-F5344CB8AC3E}">
        <p14:creationId xmlns:p14="http://schemas.microsoft.com/office/powerpoint/2010/main" val="26765704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7B3AC6B7-B50C-41D8-A1BB-6409AFD47719}" type="slidenum">
              <a:rPr lang="nl-NL" smtClean="0"/>
              <a:t>73</a:t>
            </a:fld>
            <a:endParaRPr lang="nl-NL"/>
          </a:p>
        </p:txBody>
      </p:sp>
    </p:spTree>
    <p:extLst>
      <p:ext uri="{BB962C8B-B14F-4D97-AF65-F5344CB8AC3E}">
        <p14:creationId xmlns:p14="http://schemas.microsoft.com/office/powerpoint/2010/main" val="6190446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4E44-3806-38BE-D07B-184DD48BB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79466-6A22-9623-2406-1FEDA1B1C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A8313-1FD2-594F-8840-19D4C66FDD44}"/>
              </a:ext>
            </a:extLst>
          </p:cNvPr>
          <p:cNvSpPr>
            <a:spLocks noGrp="1"/>
          </p:cNvSpPr>
          <p:nvPr>
            <p:ph type="body" idx="1"/>
          </p:nvPr>
        </p:nvSpPr>
        <p:spPr/>
        <p:txBody>
          <a:bodyPr/>
          <a:lstStyle/>
          <a:p>
            <a:endParaRPr lang="nl-NL"/>
          </a:p>
        </p:txBody>
      </p:sp>
      <p:sp>
        <p:nvSpPr>
          <p:cNvPr id="4" name="Slide Number Placeholder 3">
            <a:extLst>
              <a:ext uri="{FF2B5EF4-FFF2-40B4-BE49-F238E27FC236}">
                <a16:creationId xmlns:a16="http://schemas.microsoft.com/office/drawing/2014/main" id="{23906C69-116D-70BD-1617-EE89907F7973}"/>
              </a:ext>
            </a:extLst>
          </p:cNvPr>
          <p:cNvSpPr>
            <a:spLocks noGrp="1"/>
          </p:cNvSpPr>
          <p:nvPr>
            <p:ph type="sldNum" sz="quarter" idx="5"/>
          </p:nvPr>
        </p:nvSpPr>
        <p:spPr/>
        <p:txBody>
          <a:bodyPr/>
          <a:lstStyle/>
          <a:p>
            <a:pPr marL="0" marR="0" lvl="0" indent="0" algn="r" defTabSz="990752" rtl="0" eaLnBrk="1" fontAlgn="auto" latinLnBrk="0" hangingPunct="1">
              <a:lnSpc>
                <a:spcPct val="100000"/>
              </a:lnSpc>
              <a:spcBef>
                <a:spcPts val="0"/>
              </a:spcBef>
              <a:spcAft>
                <a:spcPts val="0"/>
              </a:spcAft>
              <a:buClrTx/>
              <a:buSzTx/>
              <a:buFontTx/>
              <a:buNone/>
              <a:tabLst/>
              <a:defRPr/>
            </a:pPr>
            <a:fld id="{B80218EE-4935-4049-87D7-ABDBEEF192A7}" type="slidenum">
              <a:rPr kumimoji="0" lang="nl-NL" sz="13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90752" rtl="0" eaLnBrk="1" fontAlgn="auto" latinLnBrk="0" hangingPunct="1">
                <a:lnSpc>
                  <a:spcPct val="100000"/>
                </a:lnSpc>
                <a:spcBef>
                  <a:spcPts val="0"/>
                </a:spcBef>
                <a:spcAft>
                  <a:spcPts val="0"/>
                </a:spcAft>
                <a:buClrTx/>
                <a:buSzTx/>
                <a:buFontTx/>
                <a:buNone/>
                <a:tabLst/>
                <a:defRPr/>
              </a:pPr>
              <a:t>75</a:t>
            </a:fld>
            <a:endParaRPr kumimoji="0" lang="nl-NL"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05109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3AC6B7-B50C-41D8-A1BB-6409AFD47719}" type="slidenum">
              <a:rPr kumimoji="0" lang="nl-NL"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nl-NL"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6016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just">
              <a:lnSpc>
                <a:spcPct val="110000"/>
              </a:lnSpc>
              <a:spcBef>
                <a:spcPts val="0"/>
              </a:spcBef>
              <a:buNone/>
            </a:pPr>
            <a:r>
              <a:rPr lang="nl-NL" sz="1200">
                <a:latin typeface="Verdana"/>
                <a:ea typeface="Verdana"/>
              </a:rPr>
              <a:t>[</a:t>
            </a:r>
            <a:r>
              <a:rPr lang="nl-NL" sz="1200" err="1">
                <a:latin typeface="Verdana"/>
                <a:ea typeface="Verdana"/>
              </a:rPr>
              <a:t>Placeholder</a:t>
            </a:r>
            <a:r>
              <a:rPr lang="nl-NL" sz="1200">
                <a:latin typeface="Verdana"/>
                <a:ea typeface="Verdana"/>
              </a:rPr>
              <a:t>]</a:t>
            </a:r>
          </a:p>
          <a:p>
            <a:pPr marL="0" lvl="1" indent="0" algn="just">
              <a:lnSpc>
                <a:spcPct val="110000"/>
              </a:lnSpc>
              <a:spcBef>
                <a:spcPts val="0"/>
              </a:spcBef>
              <a:buNone/>
            </a:pPr>
            <a:endParaRPr lang="nl-NL" sz="1200">
              <a:latin typeface="Verdana"/>
              <a:ea typeface="Verdana"/>
            </a:endParaRPr>
          </a:p>
          <a:p>
            <a:pPr marL="342900" lvl="1" indent="-342900" algn="just">
              <a:lnSpc>
                <a:spcPct val="110000"/>
              </a:lnSpc>
              <a:spcBef>
                <a:spcPts val="0"/>
              </a:spcBef>
              <a:buAutoNum type="arabicPeriod"/>
            </a:pPr>
            <a:r>
              <a:rPr lang="nl-NL" sz="1200">
                <a:latin typeface="Verdana"/>
                <a:ea typeface="Verdana"/>
              </a:rPr>
              <a:t>Implementatieplanning</a:t>
            </a:r>
          </a:p>
          <a:p>
            <a:pPr marL="342900" lvl="1" indent="-342900" algn="just">
              <a:lnSpc>
                <a:spcPct val="110000"/>
              </a:lnSpc>
              <a:spcBef>
                <a:spcPts val="0"/>
              </a:spcBef>
              <a:buFont typeface="Arial" panose="020B0604020202020204" pitchFamily="34" charset="0"/>
              <a:buAutoNum type="arabicPeriod"/>
            </a:pPr>
            <a:r>
              <a:rPr lang="nl-NL" sz="1200">
                <a:latin typeface="Verdana"/>
                <a:ea typeface="Verdana"/>
              </a:rPr>
              <a:t>Monitoring- en evaluatiemethodiek</a:t>
            </a:r>
          </a:p>
          <a:p>
            <a:pPr marL="342900" lvl="1" indent="-342900" algn="just">
              <a:lnSpc>
                <a:spcPct val="110000"/>
              </a:lnSpc>
              <a:spcBef>
                <a:spcPts val="0"/>
              </a:spcBef>
              <a:buFont typeface="Arial" panose="020B0604020202020204" pitchFamily="34" charset="0"/>
              <a:buAutoNum type="arabicPeriod"/>
            </a:pPr>
            <a:r>
              <a:rPr lang="nl-NL" sz="1200">
                <a:latin typeface="Verdana"/>
                <a:ea typeface="Verdana"/>
              </a:rPr>
              <a:t>Uitgangspunten t.b.v. monitoring</a:t>
            </a:r>
          </a:p>
          <a:p>
            <a:pPr marL="342900" lvl="1" indent="-342900" algn="just">
              <a:lnSpc>
                <a:spcPct val="110000"/>
              </a:lnSpc>
              <a:spcBef>
                <a:spcPts val="0"/>
              </a:spcBef>
              <a:buAutoNum type="arabicPeriod"/>
            </a:pPr>
            <a:r>
              <a:rPr lang="nl-NL" sz="1200">
                <a:latin typeface="Verdana"/>
                <a:ea typeface="Verdana"/>
              </a:rPr>
              <a:t>Overzicht van </a:t>
            </a:r>
            <a:r>
              <a:rPr lang="nl-NL" sz="1200" err="1">
                <a:latin typeface="Verdana"/>
                <a:ea typeface="Verdana"/>
              </a:rPr>
              <a:t>KPI’s</a:t>
            </a:r>
            <a:r>
              <a:rPr lang="nl-NL" sz="1200">
                <a:latin typeface="Verdana"/>
                <a:ea typeface="Verdana"/>
              </a:rPr>
              <a:t> en financieringsmomenten</a:t>
            </a:r>
          </a:p>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78</a:t>
            </a:fld>
            <a:endParaRPr lang="nl-NL"/>
          </a:p>
        </p:txBody>
      </p:sp>
    </p:spTree>
    <p:extLst>
      <p:ext uri="{BB962C8B-B14F-4D97-AF65-F5344CB8AC3E}">
        <p14:creationId xmlns:p14="http://schemas.microsoft.com/office/powerpoint/2010/main" val="30880754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87</a:t>
            </a:fld>
            <a:endParaRPr lang="nl-NL"/>
          </a:p>
        </p:txBody>
      </p:sp>
    </p:spTree>
    <p:extLst>
      <p:ext uri="{BB962C8B-B14F-4D97-AF65-F5344CB8AC3E}">
        <p14:creationId xmlns:p14="http://schemas.microsoft.com/office/powerpoint/2010/main" val="40883103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a:latin typeface="FreightSansProBook-Regular" panose="02000606030000020004" pitchFamily="2" charset="0"/>
              </a:rPr>
              <a:t>Wat betekent dit voor de </a:t>
            </a:r>
            <a:r>
              <a:rPr lang="nl-NL" sz="1200" err="1">
                <a:latin typeface="FreightSansProBook-Regular" panose="02000606030000020004" pitchFamily="2" charset="0"/>
              </a:rPr>
              <a:t>ZvW</a:t>
            </a:r>
            <a:r>
              <a:rPr lang="nl-NL" sz="1200">
                <a:latin typeface="FreightSansProBook-Regular" panose="02000606030000020004" pitchFamily="2" charset="0"/>
              </a:rPr>
              <a:t>?</a:t>
            </a:r>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72509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89</a:t>
            </a:fld>
            <a:endParaRPr lang="nl-NL"/>
          </a:p>
        </p:txBody>
      </p:sp>
    </p:spTree>
    <p:extLst>
      <p:ext uri="{BB962C8B-B14F-4D97-AF65-F5344CB8AC3E}">
        <p14:creationId xmlns:p14="http://schemas.microsoft.com/office/powerpoint/2010/main" val="7909123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90</a:t>
            </a:fld>
            <a:endParaRPr lang="nl-NL"/>
          </a:p>
        </p:txBody>
      </p:sp>
    </p:spTree>
    <p:extLst>
      <p:ext uri="{BB962C8B-B14F-4D97-AF65-F5344CB8AC3E}">
        <p14:creationId xmlns:p14="http://schemas.microsoft.com/office/powerpoint/2010/main" val="4471191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Ook nog link naar strategisch tactisch </a:t>
            </a:r>
            <a:r>
              <a:rPr lang="nl-NL" err="1"/>
              <a:t>nav</a:t>
            </a:r>
            <a:r>
              <a:rPr lang="nl-NL"/>
              <a:t> bestuurlijke netwerktafel op aparte slide</a:t>
            </a:r>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91</a:t>
            </a:fld>
            <a:endParaRPr lang="nl-NL"/>
          </a:p>
        </p:txBody>
      </p:sp>
    </p:spTree>
    <p:extLst>
      <p:ext uri="{BB962C8B-B14F-4D97-AF65-F5344CB8AC3E}">
        <p14:creationId xmlns:p14="http://schemas.microsoft.com/office/powerpoint/2010/main" val="36550288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92</a:t>
            </a:fld>
            <a:endParaRPr lang="nl-NL"/>
          </a:p>
        </p:txBody>
      </p:sp>
    </p:spTree>
    <p:extLst>
      <p:ext uri="{BB962C8B-B14F-4D97-AF65-F5344CB8AC3E}">
        <p14:creationId xmlns:p14="http://schemas.microsoft.com/office/powerpoint/2010/main" val="32442042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lnSpc>
                <a:spcPct val="110000"/>
              </a:lnSpc>
              <a:spcBef>
                <a:spcPts val="0"/>
              </a:spcBef>
              <a:buNone/>
            </a:pPr>
            <a:r>
              <a:rPr lang="nl-NL" sz="1200">
                <a:latin typeface="Verdana" panose="020B0604030504040204" pitchFamily="34" charset="0"/>
                <a:ea typeface="Verdana" panose="020B0604030504040204" pitchFamily="34" charset="0"/>
              </a:rPr>
              <a:t>In de verschillende expert- en werkgroepen vragen we bemensing uit de deelnemende organisaties. Per project zullen in</a:t>
            </a:r>
            <a:r>
              <a:rPr lang="nl-NL" sz="1200"/>
              <a:t> </a:t>
            </a:r>
            <a:r>
              <a:rPr lang="nl-NL" sz="1200">
                <a:latin typeface="Verdana" panose="020B0604030504040204" pitchFamily="34" charset="0"/>
                <a:ea typeface="Verdana" panose="020B0604030504040204" pitchFamily="34" charset="0"/>
              </a:rPr>
              <a:t>verschillende stadia van het project en in de diverse onderdelen verschillende type functionarissen nodig zijn. Om het behapbaar te houden kunnen sectorafgevaardigden geduid worden. We denken globaal aan:</a:t>
            </a:r>
          </a:p>
          <a:p>
            <a:pPr>
              <a:lnSpc>
                <a:spcPct val="110000"/>
              </a:lnSpc>
              <a:spcBef>
                <a:spcPts val="0"/>
              </a:spcBef>
            </a:pPr>
            <a:endParaRPr lang="nl-NL" sz="1200">
              <a:latin typeface="Verdana" panose="020B0604030504040204" pitchFamily="34" charset="0"/>
              <a:ea typeface="Verdana" panose="020B0604030504040204" pitchFamily="34" charset="0"/>
            </a:endParaRPr>
          </a:p>
          <a:p>
            <a:pPr marL="285750">
              <a:lnSpc>
                <a:spcPct val="110000"/>
              </a:lnSpc>
              <a:spcBef>
                <a:spcPts val="0"/>
              </a:spcBef>
            </a:pPr>
            <a:r>
              <a:rPr lang="nl-NL" sz="1200">
                <a:latin typeface="Verdana" panose="020B0604030504040204" pitchFamily="34" charset="0"/>
                <a:ea typeface="Verdana" panose="020B0604030504040204" pitchFamily="34" charset="0"/>
              </a:rPr>
              <a:t>Projectleider</a:t>
            </a:r>
          </a:p>
          <a:p>
            <a:pPr marL="285750">
              <a:lnSpc>
                <a:spcPct val="110000"/>
              </a:lnSpc>
              <a:spcBef>
                <a:spcPts val="0"/>
              </a:spcBef>
            </a:pPr>
            <a:r>
              <a:rPr lang="nl-NL" sz="1200">
                <a:latin typeface="Verdana" panose="020B0604030504040204" pitchFamily="34" charset="0"/>
                <a:ea typeface="Verdana" panose="020B0604030504040204" pitchFamily="34" charset="0"/>
              </a:rPr>
              <a:t>Zorgprofessional</a:t>
            </a:r>
          </a:p>
          <a:p>
            <a:pPr marL="285750">
              <a:lnSpc>
                <a:spcPct val="110000"/>
              </a:lnSpc>
              <a:spcBef>
                <a:spcPts val="0"/>
              </a:spcBef>
            </a:pPr>
            <a:r>
              <a:rPr lang="nl-NL" sz="1200">
                <a:latin typeface="Verdana" panose="020B0604030504040204" pitchFamily="34" charset="0"/>
                <a:ea typeface="Verdana" panose="020B0604030504040204" pitchFamily="34" charset="0"/>
              </a:rPr>
              <a:t>Business-/informatieanalist</a:t>
            </a:r>
          </a:p>
          <a:p>
            <a:pPr marL="285750">
              <a:lnSpc>
                <a:spcPct val="110000"/>
              </a:lnSpc>
              <a:spcBef>
                <a:spcPts val="0"/>
              </a:spcBef>
            </a:pPr>
            <a:r>
              <a:rPr lang="nl-NL" sz="1200">
                <a:latin typeface="Verdana" panose="020B0604030504040204" pitchFamily="34" charset="0"/>
                <a:ea typeface="Verdana" panose="020B0604030504040204" pitchFamily="34" charset="0"/>
              </a:rPr>
              <a:t>Functioneel-/applicatiebeheerder</a:t>
            </a:r>
          </a:p>
          <a:p>
            <a:pPr marL="285750">
              <a:lnSpc>
                <a:spcPct val="110000"/>
              </a:lnSpc>
              <a:spcBef>
                <a:spcPts val="0"/>
              </a:spcBef>
            </a:pPr>
            <a:r>
              <a:rPr lang="nl-NL" sz="1200">
                <a:latin typeface="Verdana" panose="020B0604030504040204" pitchFamily="34" charset="0"/>
                <a:ea typeface="Verdana" panose="020B0604030504040204" pitchFamily="34" charset="0"/>
              </a:rPr>
              <a:t>FG/</a:t>
            </a:r>
            <a:r>
              <a:rPr lang="nl-NL" sz="1200" err="1">
                <a:latin typeface="Verdana" panose="020B0604030504040204" pitchFamily="34" charset="0"/>
                <a:ea typeface="Verdana" panose="020B0604030504040204" pitchFamily="34" charset="0"/>
              </a:rPr>
              <a:t>Ciso</a:t>
            </a:r>
            <a:endParaRPr lang="nl-NL" sz="1200">
              <a:latin typeface="Verdana" panose="020B0604030504040204" pitchFamily="34" charset="0"/>
              <a:ea typeface="Verdana" panose="020B0604030504040204" pitchFamily="34" charset="0"/>
            </a:endParaRPr>
          </a:p>
          <a:p>
            <a:pPr marL="285750">
              <a:lnSpc>
                <a:spcPct val="110000"/>
              </a:lnSpc>
              <a:spcBef>
                <a:spcPts val="0"/>
              </a:spcBef>
            </a:pPr>
            <a:r>
              <a:rPr lang="nl-NL" sz="1200">
                <a:latin typeface="Verdana" panose="020B0604030504040204" pitchFamily="34" charset="0"/>
                <a:ea typeface="Verdana" panose="020B0604030504040204" pitchFamily="34" charset="0"/>
              </a:rPr>
              <a:t>Architect</a:t>
            </a:r>
          </a:p>
          <a:p>
            <a:pPr marL="285750">
              <a:lnSpc>
                <a:spcPct val="110000"/>
              </a:lnSpc>
              <a:spcBef>
                <a:spcPts val="0"/>
              </a:spcBef>
            </a:pPr>
            <a:r>
              <a:rPr lang="nl-NL" sz="1200">
                <a:latin typeface="Verdana" panose="020B0604030504040204" pitchFamily="34" charset="0"/>
                <a:ea typeface="Verdana" panose="020B0604030504040204" pitchFamily="34" charset="0"/>
              </a:rPr>
              <a:t>Transmuraal manager</a:t>
            </a:r>
          </a:p>
          <a:p>
            <a:pPr marL="285750">
              <a:lnSpc>
                <a:spcPct val="110000"/>
              </a:lnSpc>
              <a:spcBef>
                <a:spcPts val="0"/>
              </a:spcBef>
            </a:pPr>
            <a:r>
              <a:rPr lang="nl-NL" sz="1200">
                <a:latin typeface="Verdana" panose="020B0604030504040204" pitchFamily="34" charset="0"/>
                <a:ea typeface="Verdana" panose="020B0604030504040204" pitchFamily="34" charset="0"/>
              </a:rPr>
              <a:t>Zorgmanagers</a:t>
            </a:r>
          </a:p>
          <a:p>
            <a:pPr marL="285750">
              <a:lnSpc>
                <a:spcPct val="110000"/>
              </a:lnSpc>
              <a:spcBef>
                <a:spcPts val="0"/>
              </a:spcBef>
            </a:pPr>
            <a:r>
              <a:rPr lang="nl-NL" sz="1200">
                <a:latin typeface="Verdana" panose="020B0604030504040204" pitchFamily="34" charset="0"/>
                <a:ea typeface="Verdana" panose="020B0604030504040204" pitchFamily="34" charset="0"/>
              </a:rPr>
              <a:t>CIO</a:t>
            </a:r>
          </a:p>
          <a:p>
            <a:pPr marL="285750">
              <a:lnSpc>
                <a:spcPct val="110000"/>
              </a:lnSpc>
              <a:spcBef>
                <a:spcPts val="0"/>
              </a:spcBef>
            </a:pPr>
            <a:r>
              <a:rPr lang="nl-NL" sz="1200">
                <a:latin typeface="Verdana" panose="020B0604030504040204" pitchFamily="34" charset="0"/>
                <a:ea typeface="Verdana" panose="020B0604030504040204" pitchFamily="34" charset="0"/>
              </a:rPr>
              <a:t>Bestuurder</a:t>
            </a:r>
          </a:p>
          <a:p>
            <a:pPr marL="285750">
              <a:lnSpc>
                <a:spcPct val="110000"/>
              </a:lnSpc>
              <a:spcBef>
                <a:spcPts val="0"/>
              </a:spcBef>
            </a:pPr>
            <a:r>
              <a:rPr lang="nl-NL" sz="1200">
                <a:latin typeface="Verdana" panose="020B0604030504040204" pitchFamily="34" charset="0"/>
                <a:ea typeface="Verdana" panose="020B0604030504040204" pitchFamily="34" charset="0"/>
              </a:rPr>
              <a:t>Communicatieadviseur</a:t>
            </a:r>
          </a:p>
          <a:p>
            <a:pPr marL="285750">
              <a:lnSpc>
                <a:spcPct val="110000"/>
              </a:lnSpc>
              <a:spcBef>
                <a:spcPts val="0"/>
              </a:spcBef>
            </a:pPr>
            <a:endParaRPr lang="nl-NL" sz="1200">
              <a:latin typeface="Verdana" panose="020B0604030504040204" pitchFamily="34" charset="0"/>
              <a:ea typeface="Verdana" panose="020B0604030504040204" pitchFamily="34" charset="0"/>
            </a:endParaRPr>
          </a:p>
          <a:p>
            <a:pPr marL="57150" indent="0">
              <a:lnSpc>
                <a:spcPct val="110000"/>
              </a:lnSpc>
              <a:spcBef>
                <a:spcPts val="0"/>
              </a:spcBef>
              <a:buNone/>
            </a:pPr>
            <a:r>
              <a:rPr lang="nl-NL" sz="1200">
                <a:latin typeface="Verdana" panose="020B0604030504040204" pitchFamily="34" charset="0"/>
                <a:ea typeface="Verdana" panose="020B0604030504040204" pitchFamily="34" charset="0"/>
              </a:rPr>
              <a:t>Wanneer een koplopergroep wordt aangewezen, hoeven de niet-deelnemende organisaties niet deel te nemen, maar blijven wel actief verbonden.</a:t>
            </a:r>
          </a:p>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93</a:t>
            </a:fld>
            <a:endParaRPr lang="nl-NL"/>
          </a:p>
        </p:txBody>
      </p:sp>
    </p:spTree>
    <p:extLst>
      <p:ext uri="{BB962C8B-B14F-4D97-AF65-F5344CB8AC3E}">
        <p14:creationId xmlns:p14="http://schemas.microsoft.com/office/powerpoint/2010/main" val="34456329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a:solidFill>
                  <a:srgbClr val="44546A"/>
                </a:solidFill>
                <a:effectLst/>
                <a:latin typeface="Arial" panose="020B0604020202020204" pitchFamily="34" charset="0"/>
                <a:ea typeface="Calibri" panose="020F0502020204030204" pitchFamily="34" charset="0"/>
              </a:rPr>
              <a:t>I</a:t>
            </a:r>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94</a:t>
            </a:fld>
            <a:endParaRPr lang="nl-NL"/>
          </a:p>
        </p:txBody>
      </p:sp>
    </p:spTree>
    <p:extLst>
      <p:ext uri="{BB962C8B-B14F-4D97-AF65-F5344CB8AC3E}">
        <p14:creationId xmlns:p14="http://schemas.microsoft.com/office/powerpoint/2010/main" val="63815427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237643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671A9-1064-8973-BCD5-3F2E9802C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4FF7C-FF3C-17B0-3ABE-C7ECA8903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AF844-2C05-6F5C-6E89-20AF9DF0FD9A}"/>
              </a:ext>
            </a:extLst>
          </p:cNvPr>
          <p:cNvSpPr>
            <a:spLocks noGrp="1"/>
          </p:cNvSpPr>
          <p:nvPr>
            <p:ph type="body" idx="1"/>
          </p:nvPr>
        </p:nvSpPr>
        <p:spPr/>
        <p:txBody>
          <a:bodyPr/>
          <a:lstStyle/>
          <a:p>
            <a:pPr marL="0" lvl="1" indent="0" algn="just">
              <a:lnSpc>
                <a:spcPct val="110000"/>
              </a:lnSpc>
              <a:spcBef>
                <a:spcPts val="0"/>
              </a:spcBef>
              <a:buNone/>
            </a:pPr>
            <a:r>
              <a:rPr lang="nl-NL" sz="1200">
                <a:latin typeface="Verdana"/>
                <a:ea typeface="Verdana"/>
              </a:rPr>
              <a:t>[</a:t>
            </a:r>
            <a:r>
              <a:rPr lang="nl-NL" sz="1200" err="1">
                <a:latin typeface="Verdana"/>
                <a:ea typeface="Verdana"/>
              </a:rPr>
              <a:t>Placeholder</a:t>
            </a:r>
            <a:r>
              <a:rPr lang="nl-NL" sz="1200">
                <a:latin typeface="Verdana"/>
                <a:ea typeface="Verdana"/>
              </a:rPr>
              <a:t>]</a:t>
            </a:r>
          </a:p>
          <a:p>
            <a:pPr marL="0" lvl="1" indent="0" algn="just">
              <a:lnSpc>
                <a:spcPct val="110000"/>
              </a:lnSpc>
              <a:spcBef>
                <a:spcPts val="0"/>
              </a:spcBef>
              <a:buNone/>
            </a:pPr>
            <a:endParaRPr lang="nl-NL" sz="1200">
              <a:latin typeface="Verdana"/>
              <a:ea typeface="Verdana"/>
            </a:endParaRPr>
          </a:p>
          <a:p>
            <a:pPr marL="342900" lvl="1" indent="-342900" algn="just">
              <a:lnSpc>
                <a:spcPct val="110000"/>
              </a:lnSpc>
              <a:spcBef>
                <a:spcPts val="0"/>
              </a:spcBef>
              <a:buAutoNum type="arabicPeriod"/>
            </a:pPr>
            <a:r>
              <a:rPr lang="nl-NL" sz="1200">
                <a:latin typeface="Verdana"/>
                <a:ea typeface="Verdana"/>
              </a:rPr>
              <a:t>Overzicht van belangrijkste succesfactoren</a:t>
            </a:r>
          </a:p>
          <a:p>
            <a:pPr marL="342900" lvl="1" indent="-342900" algn="just">
              <a:lnSpc>
                <a:spcPct val="110000"/>
              </a:lnSpc>
              <a:spcBef>
                <a:spcPts val="0"/>
              </a:spcBef>
              <a:buAutoNum type="arabicPeriod"/>
            </a:pPr>
            <a:r>
              <a:rPr lang="nl-NL" sz="1200">
                <a:latin typeface="Verdana"/>
                <a:ea typeface="Verdana"/>
              </a:rPr>
              <a:t>Overzicht van risico’s en mitigerende maatregelen</a:t>
            </a:r>
          </a:p>
          <a:p>
            <a:endParaRPr lang="en-US">
              <a:highlight>
                <a:srgbClr val="FFFF00"/>
              </a:highlight>
              <a:cs typeface="Calibri"/>
            </a:endParaRPr>
          </a:p>
        </p:txBody>
      </p:sp>
      <p:sp>
        <p:nvSpPr>
          <p:cNvPr id="4" name="Slide Number Placeholder 3">
            <a:extLst>
              <a:ext uri="{FF2B5EF4-FFF2-40B4-BE49-F238E27FC236}">
                <a16:creationId xmlns:a16="http://schemas.microsoft.com/office/drawing/2014/main" id="{EA1B3041-6CB3-D455-4E86-12FF47FD5E97}"/>
              </a:ext>
            </a:extLst>
          </p:cNvPr>
          <p:cNvSpPr>
            <a:spLocks noGrp="1"/>
          </p:cNvSpPr>
          <p:nvPr>
            <p:ph type="sldNum" sz="quarter" idx="5"/>
          </p:nvPr>
        </p:nvSpPr>
        <p:spPr/>
        <p:txBody>
          <a:bodyPr/>
          <a:lstStyle/>
          <a:p>
            <a:fld id="{252A3A4B-DB77-4B90-BD1A-9DE64CFDDA18}" type="slidenum">
              <a:rPr lang="nl-NL" smtClean="0"/>
              <a:t>96</a:t>
            </a:fld>
            <a:endParaRPr lang="nl-NL"/>
          </a:p>
        </p:txBody>
      </p:sp>
    </p:spTree>
    <p:extLst>
      <p:ext uri="{BB962C8B-B14F-4D97-AF65-F5344CB8AC3E}">
        <p14:creationId xmlns:p14="http://schemas.microsoft.com/office/powerpoint/2010/main" val="27918826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5FE8D-C21B-3205-9AEA-C188D5282E0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C1A6190-2DF0-BB87-818D-4BE781095DD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A9CE241-83C9-D8B1-6F0B-15CF2DB8998B}"/>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8BBDB2B7-3AA9-134D-C937-C6C68E88B7D7}"/>
              </a:ext>
            </a:extLst>
          </p:cNvPr>
          <p:cNvSpPr>
            <a:spLocks noGrp="1"/>
          </p:cNvSpPr>
          <p:nvPr>
            <p:ph type="sldNum" sz="quarter" idx="5"/>
          </p:nvPr>
        </p:nvSpPr>
        <p:spPr/>
        <p:txBody>
          <a:bodyPr/>
          <a:lstStyle/>
          <a:p>
            <a:fld id="{252A3A4B-DB77-4B90-BD1A-9DE64CFDDA18}" type="slidenum">
              <a:rPr lang="nl-NL" smtClean="0"/>
              <a:t>97</a:t>
            </a:fld>
            <a:endParaRPr lang="nl-NL"/>
          </a:p>
        </p:txBody>
      </p:sp>
    </p:spTree>
    <p:extLst>
      <p:ext uri="{BB962C8B-B14F-4D97-AF65-F5344CB8AC3E}">
        <p14:creationId xmlns:p14="http://schemas.microsoft.com/office/powerpoint/2010/main" val="344113805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24FA8-EB3D-2ADD-D961-F822BF859B1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6C931F0-12B6-C3F2-356D-536C05436FC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7B678A4-AF78-E3A3-B3F3-B769E09433E6}"/>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65F6D5E3-1018-5581-3DEB-E02FF90D4583}"/>
              </a:ext>
            </a:extLst>
          </p:cNvPr>
          <p:cNvSpPr>
            <a:spLocks noGrp="1"/>
          </p:cNvSpPr>
          <p:nvPr>
            <p:ph type="sldNum" sz="quarter" idx="5"/>
          </p:nvPr>
        </p:nvSpPr>
        <p:spPr/>
        <p:txBody>
          <a:bodyPr/>
          <a:lstStyle/>
          <a:p>
            <a:fld id="{252A3A4B-DB77-4B90-BD1A-9DE64CFDDA18}" type="slidenum">
              <a:rPr lang="nl-NL" smtClean="0"/>
              <a:t>98</a:t>
            </a:fld>
            <a:endParaRPr lang="nl-NL"/>
          </a:p>
        </p:txBody>
      </p:sp>
    </p:spTree>
    <p:extLst>
      <p:ext uri="{BB962C8B-B14F-4D97-AF65-F5344CB8AC3E}">
        <p14:creationId xmlns:p14="http://schemas.microsoft.com/office/powerpoint/2010/main" val="20814167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DBCDC-EB58-431E-5525-8CBE262A1FC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AB67C05-4B54-A291-88AB-F5A25EB26F48}"/>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61670A7-5418-FDC3-4305-D5A6B71B0075}"/>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5FEA1F90-8076-8734-D394-BDE7B2CDBA09}"/>
              </a:ext>
            </a:extLst>
          </p:cNvPr>
          <p:cNvSpPr>
            <a:spLocks noGrp="1"/>
          </p:cNvSpPr>
          <p:nvPr>
            <p:ph type="sldNum" sz="quarter" idx="5"/>
          </p:nvPr>
        </p:nvSpPr>
        <p:spPr/>
        <p:txBody>
          <a:bodyPr/>
          <a:lstStyle/>
          <a:p>
            <a:fld id="{252A3A4B-DB77-4B90-BD1A-9DE64CFDDA18}" type="slidenum">
              <a:rPr lang="nl-NL" smtClean="0"/>
              <a:t>99</a:t>
            </a:fld>
            <a:endParaRPr lang="nl-NL"/>
          </a:p>
        </p:txBody>
      </p:sp>
    </p:spTree>
    <p:extLst>
      <p:ext uri="{BB962C8B-B14F-4D97-AF65-F5344CB8AC3E}">
        <p14:creationId xmlns:p14="http://schemas.microsoft.com/office/powerpoint/2010/main" val="21787581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a:effectLst/>
                <a:latin typeface="Calibri" panose="020F0502020204030204" pitchFamily="34" charset="0"/>
                <a:ea typeface="Calibri" panose="020F0502020204030204" pitchFamily="34" charset="0"/>
                <a:cs typeface="Times New Roman" panose="02020603050405020304" pitchFamily="18" charset="0"/>
              </a:rPr>
              <a:t>Ontwikkelperspectief</a:t>
            </a:r>
          </a:p>
          <a:p>
            <a:pPr marL="342900" lvl="0" indent="-342900">
              <a:lnSpc>
                <a:spcPts val="1200"/>
              </a:lnSpc>
              <a:buSzPts val="1000"/>
              <a:buFont typeface="+mj-lt"/>
              <a:buAutoNum type="arabicPeriod"/>
              <a:tabLst>
                <a:tab pos="228600" algn="l"/>
              </a:tabLst>
            </a:pPr>
            <a:r>
              <a:rPr lang="nl-NL" sz="1200" b="1">
                <a:effectLst/>
                <a:latin typeface="Calibri" panose="020F0502020204030204" pitchFamily="34" charset="0"/>
                <a:ea typeface="Cambria" panose="02040503050406030204" pitchFamily="18" charset="0"/>
                <a:cs typeface="Cambria" panose="02040503050406030204" pitchFamily="18" charset="0"/>
              </a:rPr>
              <a:t>Inzien en/of raadplegen van zorginformatie</a:t>
            </a:r>
            <a:r>
              <a:rPr lang="nl-NL" sz="1200">
                <a:effectLst/>
                <a:latin typeface="Calibri" panose="020F0502020204030204" pitchFamily="34" charset="0"/>
                <a:ea typeface="Cambria" panose="02040503050406030204" pitchFamily="18" charset="0"/>
                <a:cs typeface="Cambria" panose="02040503050406030204" pitchFamily="18" charset="0"/>
              </a:rPr>
              <a:t> middels een viewer, waarbij de zorginformatie in de bron blijft opgeslagen en dus niet in de zorgviewer of ergens anders centraal. Een zorgprofessional heeft daarbij toegang tot zorginformatie van (een) andere zorgaanbieder(s) die betrokken is/zijn bij de zorg rondom dezelfde patiënt op basis van toestemming van de patiënt en/of samenwerkingsafspraken tussen zorgaanbieders/zorgprofessionals.</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200" b="1">
                <a:effectLst/>
                <a:latin typeface="Calibri" panose="020F0502020204030204" pitchFamily="34" charset="0"/>
                <a:ea typeface="Cambria" panose="02040503050406030204" pitchFamily="18" charset="0"/>
                <a:cs typeface="Cambria" panose="02040503050406030204" pitchFamily="18" charset="0"/>
              </a:rPr>
              <a:t>Overnemen en hergebruiken van zorginformatie</a:t>
            </a:r>
            <a:r>
              <a:rPr lang="nl-NL" sz="1200">
                <a:effectLst/>
                <a:latin typeface="Calibri" panose="020F0502020204030204" pitchFamily="34" charset="0"/>
                <a:ea typeface="Cambria" panose="02040503050406030204" pitchFamily="18" charset="0"/>
                <a:cs typeface="Cambria" panose="02040503050406030204" pitchFamily="18" charset="0"/>
              </a:rPr>
              <a:t> (selectief) ook wel het kunnen verwerken van zorginformatie uit de beschikbaar gestelde datasets (informatiestandaarden) door de ontvangende organisatie. De professional beoordeelt de gegevens en bepaalt of en hoe de gegevens worden opgeslagen en hergebruikt in het lokale zorgdossier. </a:t>
            </a:r>
            <a:endParaRPr lang="en-NL" sz="1200">
              <a:effectLst/>
              <a:latin typeface="Cambria" panose="02040503050406030204" pitchFamily="18" charset="0"/>
              <a:ea typeface="Cambria" panose="02040503050406030204" pitchFamily="18" charset="0"/>
              <a:cs typeface="Cambria" panose="02040503050406030204" pitchFamily="18" charset="0"/>
            </a:endParaRPr>
          </a:p>
          <a:p>
            <a:pPr marL="342900" lvl="0" indent="-342900">
              <a:lnSpc>
                <a:spcPts val="1200"/>
              </a:lnSpc>
              <a:buSzPts val="1000"/>
              <a:buFont typeface="+mj-lt"/>
              <a:buAutoNum type="arabicPeriod"/>
              <a:tabLst>
                <a:tab pos="228600" algn="l"/>
              </a:tabLst>
            </a:pPr>
            <a:r>
              <a:rPr lang="nl-NL" sz="1200" b="1">
                <a:effectLst/>
                <a:latin typeface="Calibri" panose="020F0502020204030204" pitchFamily="34" charset="0"/>
                <a:ea typeface="Cambria" panose="02040503050406030204" pitchFamily="18" charset="0"/>
                <a:cs typeface="Cambria" panose="02040503050406030204" pitchFamily="18" charset="0"/>
              </a:rPr>
              <a:t>Verrijken/toevoegen van zorginformatie</a:t>
            </a:r>
            <a:r>
              <a:rPr lang="nl-NL" sz="1200">
                <a:effectLst/>
                <a:latin typeface="Calibri" panose="020F0502020204030204" pitchFamily="34" charset="0"/>
                <a:ea typeface="Cambria" panose="02040503050406030204" pitchFamily="18" charset="0"/>
                <a:cs typeface="Cambria" panose="02040503050406030204" pitchFamily="18" charset="0"/>
              </a:rPr>
              <a:t> op basis van interactie en bi-directionele uitwisseling van gegevens. </a:t>
            </a:r>
            <a:endParaRPr lang="en-NL" sz="1200">
              <a:effectLst/>
              <a:latin typeface="Cambria" panose="02040503050406030204" pitchFamily="18" charset="0"/>
              <a:ea typeface="Cambria" panose="02040503050406030204" pitchFamily="18" charset="0"/>
              <a:cs typeface="Cambria" panose="02040503050406030204" pitchFamily="18" charset="0"/>
            </a:endParaRPr>
          </a:p>
          <a:p>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i="0" u="none" strike="noStrike" baseline="0">
                <a:solidFill>
                  <a:srgbClr val="000000"/>
                </a:solidFill>
                <a:latin typeface="Calibri" panose="020F0502020204030204" pitchFamily="34" charset="0"/>
              </a:rPr>
              <a:t>NVS</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u="none" strike="noStrike" baseline="0">
                <a:solidFill>
                  <a:srgbClr val="000000"/>
                </a:solidFill>
                <a:latin typeface="Calibri" panose="020F0502020204030204" pitchFamily="34" charset="0"/>
              </a:rPr>
              <a:t>De uitwerking van de strategie is verbonden aan de plateaus: interoperabiliteit (2023-2026), betere ondersteuning van netwerkzorg (2027-2030) en geïntegreerde zorg en ondersteuning (2031-2035). In het eerste plateau worden voorbereidingen getroffen die hun effect kennen in het tweede en derde plateau. </a:t>
            </a:r>
            <a:endParaRPr lang="en-NL"/>
          </a:p>
          <a:p>
            <a:endParaRPr lang="nl-NL"/>
          </a:p>
          <a:p>
            <a:endParaRPr lang="nl-NL"/>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2A3A4B-DB77-4B90-BD1A-9DE64CFDDA18}"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92230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just">
              <a:lnSpc>
                <a:spcPct val="110000"/>
              </a:lnSpc>
              <a:spcBef>
                <a:spcPts val="0"/>
              </a:spcBef>
              <a:buNone/>
            </a:pPr>
            <a:r>
              <a:rPr lang="nl-NL" sz="1200">
                <a:latin typeface="Verdana"/>
                <a:ea typeface="Verdana"/>
              </a:rPr>
              <a:t>[</a:t>
            </a:r>
            <a:r>
              <a:rPr lang="nl-NL" sz="1200" err="1">
                <a:latin typeface="Verdana"/>
                <a:ea typeface="Verdana"/>
              </a:rPr>
              <a:t>Placeholder</a:t>
            </a:r>
            <a:r>
              <a:rPr lang="nl-NL" sz="1200">
                <a:latin typeface="Verdana"/>
                <a:ea typeface="Verdana"/>
              </a:rPr>
              <a:t>]</a:t>
            </a:r>
          </a:p>
          <a:p>
            <a:pPr marL="0" lvl="1" indent="0" algn="just">
              <a:lnSpc>
                <a:spcPct val="110000"/>
              </a:lnSpc>
              <a:spcBef>
                <a:spcPts val="0"/>
              </a:spcBef>
              <a:buNone/>
            </a:pPr>
            <a:endParaRPr lang="nl-NL" sz="1200">
              <a:latin typeface="Verdana"/>
              <a:ea typeface="Verdana"/>
            </a:endParaRPr>
          </a:p>
          <a:p>
            <a:pPr marL="342900" lvl="1" indent="-342900" algn="just">
              <a:lnSpc>
                <a:spcPct val="110000"/>
              </a:lnSpc>
              <a:spcBef>
                <a:spcPts val="0"/>
              </a:spcBef>
              <a:buAutoNum type="arabicPeriod"/>
            </a:pPr>
            <a:r>
              <a:rPr lang="nl-NL" sz="1200">
                <a:latin typeface="Verdana"/>
                <a:ea typeface="Verdana"/>
              </a:rPr>
              <a:t>Overzicht van belangrijkste succesfactoren</a:t>
            </a:r>
          </a:p>
          <a:p>
            <a:pPr marL="342900" lvl="1" indent="-342900" algn="just">
              <a:lnSpc>
                <a:spcPct val="110000"/>
              </a:lnSpc>
              <a:spcBef>
                <a:spcPts val="0"/>
              </a:spcBef>
              <a:buAutoNum type="arabicPeriod"/>
            </a:pPr>
            <a:r>
              <a:rPr lang="nl-NL" sz="1200">
                <a:latin typeface="Verdana"/>
                <a:ea typeface="Verdana"/>
              </a:rPr>
              <a:t>Overzicht van risico’s en mitigerende maatregelen</a:t>
            </a:r>
          </a:p>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101</a:t>
            </a:fld>
            <a:endParaRPr lang="nl-NL"/>
          </a:p>
        </p:txBody>
      </p:sp>
    </p:spTree>
    <p:extLst>
      <p:ext uri="{BB962C8B-B14F-4D97-AF65-F5344CB8AC3E}">
        <p14:creationId xmlns:p14="http://schemas.microsoft.com/office/powerpoint/2010/main" val="221169880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252A3A4B-DB77-4B90-BD1A-9DE64CFDDA18}" type="slidenum">
              <a:rPr lang="nl-NL" smtClean="0"/>
              <a:t>102</a:t>
            </a:fld>
            <a:endParaRPr lang="nl-NL"/>
          </a:p>
        </p:txBody>
      </p:sp>
    </p:spTree>
    <p:extLst>
      <p:ext uri="{BB962C8B-B14F-4D97-AF65-F5344CB8AC3E}">
        <p14:creationId xmlns:p14="http://schemas.microsoft.com/office/powerpoint/2010/main" val="11406998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63513-B117-4F60-D2C3-9C0CAAFAF0D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7C47240-2ECB-9A02-882F-82B83B02207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B3EFE5A-54AB-24A8-B819-9C6716D6394A}"/>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D0490096-AD60-D070-F7E7-C0AF603FB96F}"/>
              </a:ext>
            </a:extLst>
          </p:cNvPr>
          <p:cNvSpPr>
            <a:spLocks noGrp="1"/>
          </p:cNvSpPr>
          <p:nvPr>
            <p:ph type="sldNum" sz="quarter" idx="5"/>
          </p:nvPr>
        </p:nvSpPr>
        <p:spPr/>
        <p:txBody>
          <a:bodyPr/>
          <a:lstStyle/>
          <a:p>
            <a:fld id="{252A3A4B-DB77-4B90-BD1A-9DE64CFDDA18}" type="slidenum">
              <a:rPr lang="nl-NL" smtClean="0"/>
              <a:t>103</a:t>
            </a:fld>
            <a:endParaRPr lang="nl-NL"/>
          </a:p>
        </p:txBody>
      </p:sp>
    </p:spTree>
    <p:extLst>
      <p:ext uri="{BB962C8B-B14F-4D97-AF65-F5344CB8AC3E}">
        <p14:creationId xmlns:p14="http://schemas.microsoft.com/office/powerpoint/2010/main" val="371445229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highlight>
                <a:srgbClr val="FFFF00"/>
              </a:highlight>
              <a:cs typeface="Calibri"/>
            </a:endParaRPr>
          </a:p>
        </p:txBody>
      </p:sp>
      <p:sp>
        <p:nvSpPr>
          <p:cNvPr id="4" name="Slide Number Placeholder 3"/>
          <p:cNvSpPr>
            <a:spLocks noGrp="1"/>
          </p:cNvSpPr>
          <p:nvPr>
            <p:ph type="sldNum" sz="quarter" idx="5"/>
          </p:nvPr>
        </p:nvSpPr>
        <p:spPr/>
        <p:txBody>
          <a:bodyPr/>
          <a:lstStyle/>
          <a:p>
            <a:fld id="{252A3A4B-DB77-4B90-BD1A-9DE64CFDDA18}" type="slidenum">
              <a:rPr lang="nl-NL" smtClean="0"/>
              <a:t>104</a:t>
            </a:fld>
            <a:endParaRPr lang="nl-NL"/>
          </a:p>
        </p:txBody>
      </p:sp>
    </p:spTree>
    <p:extLst>
      <p:ext uri="{BB962C8B-B14F-4D97-AF65-F5344CB8AC3E}">
        <p14:creationId xmlns:p14="http://schemas.microsoft.com/office/powerpoint/2010/main" val="40309503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			</a:t>
            </a:r>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4A0213-DA9B-4CAD-B238-8E2230AA73B5}"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66569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CF32-1379-B93E-9AF0-2590A1778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04C37-84EC-9C96-977C-AA6736063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B5F0B-18B8-D084-80C2-CCBBB5AE980B}"/>
              </a:ext>
            </a:extLst>
          </p:cNvPr>
          <p:cNvSpPr>
            <a:spLocks noGrp="1"/>
          </p:cNvSpPr>
          <p:nvPr>
            <p:ph type="body" idx="1"/>
          </p:nvPr>
        </p:nvSpPr>
        <p:spPr/>
        <p:txBody>
          <a:bodyPr/>
          <a:lstStyle/>
          <a:p>
            <a:endParaRPr lang="en-US">
              <a:highlight>
                <a:srgbClr val="FFFF00"/>
              </a:highlight>
              <a:cs typeface="Calibri"/>
            </a:endParaRPr>
          </a:p>
        </p:txBody>
      </p:sp>
      <p:sp>
        <p:nvSpPr>
          <p:cNvPr id="4" name="Slide Number Placeholder 3">
            <a:extLst>
              <a:ext uri="{FF2B5EF4-FFF2-40B4-BE49-F238E27FC236}">
                <a16:creationId xmlns:a16="http://schemas.microsoft.com/office/drawing/2014/main" id="{42879B8E-1A22-1E3A-E6DF-0505E6DD197E}"/>
              </a:ext>
            </a:extLst>
          </p:cNvPr>
          <p:cNvSpPr>
            <a:spLocks noGrp="1"/>
          </p:cNvSpPr>
          <p:nvPr>
            <p:ph type="sldNum" sz="quarter" idx="5"/>
          </p:nvPr>
        </p:nvSpPr>
        <p:spPr/>
        <p:txBody>
          <a:bodyPr/>
          <a:lstStyle/>
          <a:p>
            <a:fld id="{252A3A4B-DB77-4B90-BD1A-9DE64CFDDA18}" type="slidenum">
              <a:rPr lang="nl-NL" smtClean="0"/>
              <a:t>107</a:t>
            </a:fld>
            <a:endParaRPr lang="nl-NL"/>
          </a:p>
        </p:txBody>
      </p:sp>
    </p:spTree>
    <p:extLst>
      <p:ext uri="{BB962C8B-B14F-4D97-AF65-F5344CB8AC3E}">
        <p14:creationId xmlns:p14="http://schemas.microsoft.com/office/powerpoint/2010/main" val="145926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16.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17.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19.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20.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21.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22.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24.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25.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26.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28.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29.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7.xml"/><Relationship Id="rId1" Type="http://schemas.openxmlformats.org/officeDocument/2006/relationships/tags" Target="../tags/tag30.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7.xml"/><Relationship Id="rId1" Type="http://schemas.openxmlformats.org/officeDocument/2006/relationships/tags" Target="../tags/tag31.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32.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33.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34.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35.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A68C4910-0E13-159B-29BA-81BFEB0862A2}"/>
              </a:ext>
            </a:extLst>
          </p:cNvPr>
          <p:cNvGrpSpPr>
            <a:grpSpLocks noChangeAspect="1"/>
          </p:cNvGrpSpPr>
          <p:nvPr userDrawn="1"/>
        </p:nvGrpSpPr>
        <p:grpSpPr>
          <a:xfrm>
            <a:off x="10671582" y="-84910"/>
            <a:ext cx="1596618" cy="930642"/>
            <a:chOff x="9122465" y="-249963"/>
            <a:chExt cx="3252741" cy="1895968"/>
          </a:xfrm>
        </p:grpSpPr>
        <p:sp>
          <p:nvSpPr>
            <p:cNvPr id="3" name="Gelijkbenige driehoek 8">
              <a:extLst>
                <a:ext uri="{FF2B5EF4-FFF2-40B4-BE49-F238E27FC236}">
                  <a16:creationId xmlns:a16="http://schemas.microsoft.com/office/drawing/2014/main" id="{BDFFD9D8-CA9E-5799-61BD-00B387AFA7B0}"/>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Gelijkbenige driehoek 9">
              <a:extLst>
                <a:ext uri="{FF2B5EF4-FFF2-40B4-BE49-F238E27FC236}">
                  <a16:creationId xmlns:a16="http://schemas.microsoft.com/office/drawing/2014/main" id="{2DBB7842-F141-DD03-265A-0257E6F16E10}"/>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10">
              <a:extLst>
                <a:ext uri="{FF2B5EF4-FFF2-40B4-BE49-F238E27FC236}">
                  <a16:creationId xmlns:a16="http://schemas.microsoft.com/office/drawing/2014/main" id="{9B3CDB94-5E80-DCAF-5DCD-E72E18D2E979}"/>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12">
              <a:extLst>
                <a:ext uri="{FF2B5EF4-FFF2-40B4-BE49-F238E27FC236}">
                  <a16:creationId xmlns:a16="http://schemas.microsoft.com/office/drawing/2014/main" id="{460233A6-0DC0-1C2A-DE6B-349DD507CD08}"/>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Isosceles Triangle 15">
              <a:extLst>
                <a:ext uri="{FF2B5EF4-FFF2-40B4-BE49-F238E27FC236}">
                  <a16:creationId xmlns:a16="http://schemas.microsoft.com/office/drawing/2014/main" id="{EBD604DF-39D5-AB02-9A72-D7289503CD69}"/>
                </a:ext>
              </a:extLst>
            </p:cNvPr>
            <p:cNvSpPr/>
            <p:nvPr userDrawn="1"/>
          </p:nvSpPr>
          <p:spPr>
            <a:xfrm rot="13078281">
              <a:off x="10819850" y="692005"/>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Gelijkbenige driehoek 9">
              <a:extLst>
                <a:ext uri="{FF2B5EF4-FFF2-40B4-BE49-F238E27FC236}">
                  <a16:creationId xmlns:a16="http://schemas.microsoft.com/office/drawing/2014/main" id="{C8E9D384-1200-6A23-80A0-C1CC5D546614}"/>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grpSp>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465997"/>
            <a:ext cx="9720000" cy="1008000"/>
          </a:xfrm>
        </p:spPr>
        <p:txBody>
          <a:bodyPr vert="horz" anchor="t">
            <a:noAutofit/>
          </a:bodyPr>
          <a:lstStyle>
            <a:lvl1pPr algn="l">
              <a:lnSpc>
                <a:spcPct val="100000"/>
              </a:lnSpc>
              <a:defRPr sz="2800" b="1">
                <a:solidFill>
                  <a:srgbClr val="8C95CD"/>
                </a:solidFill>
                <a:latin typeface="Verdana Pro" panose="020B0604030504040204" pitchFamily="34" charset="0"/>
              </a:defRPr>
            </a:lvl1pPr>
          </a:lstStyle>
          <a:p>
            <a:r>
              <a:rPr lang="nl-NL" noProof="0"/>
              <a:t>Titel</a:t>
            </a:r>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73997"/>
            <a:ext cx="11233171" cy="4693531"/>
          </a:xfrm>
          <a:prstGeom prst="rect">
            <a:avLst/>
          </a:prstGeom>
        </p:spPr>
        <p:txBody>
          <a:bodyPr vert="horz" lIns="91440" tIns="45720" rIns="91440" bIns="45720" rtlCol="0">
            <a:normAutofit/>
          </a:bodyPr>
          <a:lstStyle>
            <a:lvl1pPr marL="180000" indent="-180000">
              <a:lnSpc>
                <a:spcPct val="100000"/>
              </a:lnSpc>
              <a:spcBef>
                <a:spcPts val="0"/>
              </a:spcBef>
              <a:spcAft>
                <a:spcPts val="600"/>
              </a:spcAft>
              <a:defRPr sz="1200"/>
            </a:lvl1pPr>
            <a:lvl2pPr marL="360000" indent="-180000">
              <a:lnSpc>
                <a:spcPct val="100000"/>
              </a:lnSpc>
              <a:spcBef>
                <a:spcPts val="0"/>
              </a:spcBef>
              <a:spcAft>
                <a:spcPts val="600"/>
              </a:spcAft>
              <a:defRPr sz="1100"/>
            </a:lvl2pPr>
            <a:lvl3pPr marL="540000" indent="-180000">
              <a:lnSpc>
                <a:spcPct val="100000"/>
              </a:lnSpc>
              <a:spcBef>
                <a:spcPts val="0"/>
              </a:spcBef>
              <a:spcAft>
                <a:spcPts val="600"/>
              </a:spcAft>
              <a:defRPr sz="1050"/>
            </a:lvl3pPr>
            <a:lvl4pPr marL="720000" indent="-180000">
              <a:lnSpc>
                <a:spcPct val="100000"/>
              </a:lnSpc>
              <a:spcBef>
                <a:spcPts val="0"/>
              </a:spcBef>
              <a:spcAft>
                <a:spcPts val="600"/>
              </a:spcAft>
              <a:defRPr sz="900"/>
            </a:lvl4p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a:p>
            <a:pPr lvl="1"/>
            <a:r>
              <a:rPr lang="nl-NL" noProof="0"/>
              <a:t>Second level</a:t>
            </a:r>
          </a:p>
          <a:p>
            <a:pPr lvl="2"/>
            <a:r>
              <a:rPr lang="nl-NL" noProof="0" err="1"/>
              <a:t>Third</a:t>
            </a:r>
            <a:r>
              <a:rPr lang="nl-NL" noProof="0"/>
              <a:t> level</a:t>
            </a:r>
          </a:p>
        </p:txBody>
      </p:sp>
      <p:sp>
        <p:nvSpPr>
          <p:cNvPr id="9" name="Rechthoek: afgeronde hoeken 2">
            <a:extLst>
              <a:ext uri="{FF2B5EF4-FFF2-40B4-BE49-F238E27FC236}">
                <a16:creationId xmlns:a16="http://schemas.microsoft.com/office/drawing/2014/main" id="{084378FC-A7CF-4E20-B9B4-84E3C9BFBF02}"/>
              </a:ext>
            </a:extLst>
          </p:cNvPr>
          <p:cNvSpPr/>
          <p:nvPr userDrawn="1"/>
        </p:nvSpPr>
        <p:spPr>
          <a:xfrm>
            <a:off x="-1" y="0"/>
            <a:ext cx="10145303"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2" name="Slide Number Placeholder 18">
            <a:extLst>
              <a:ext uri="{FF2B5EF4-FFF2-40B4-BE49-F238E27FC236}">
                <a16:creationId xmlns:a16="http://schemas.microsoft.com/office/drawing/2014/main" id="{ABD9C3B9-76D2-D21C-CD59-4D9C771207E6}"/>
              </a:ext>
            </a:extLst>
          </p:cNvPr>
          <p:cNvSpPr>
            <a:spLocks noGrp="1"/>
          </p:cNvSpPr>
          <p:nvPr>
            <p:ph type="sldNum" sz="quarter" idx="4"/>
          </p:nvPr>
        </p:nvSpPr>
        <p:spPr>
          <a:xfrm>
            <a:off x="0" y="6330666"/>
            <a:ext cx="288001" cy="288000"/>
          </a:xfrm>
          <a:prstGeom prst="rect">
            <a:avLst/>
          </a:prstGeom>
        </p:spPr>
        <p:txBody>
          <a:bodyPr vert="horz" lIns="0" tIns="0" rIns="0" bIns="0" rtlCol="0" anchor="ctr"/>
          <a:lstStyle>
            <a:lvl1pPr algn="ctr">
              <a:defRPr sz="1050">
                <a:solidFill>
                  <a:schemeClr val="tx1">
                    <a:tint val="75000"/>
                  </a:schemeClr>
                </a:solidFill>
                <a:latin typeface="Verdana" panose="020B0604030504040204" pitchFamily="34" charset="0"/>
                <a:ea typeface="Verdana" panose="020B0604030504040204" pitchFamily="34" charset="0"/>
              </a:defRPr>
            </a:lvl1pPr>
          </a:lstStyle>
          <a:p>
            <a:pPr>
              <a:defRPr/>
            </a:pPr>
            <a:fld id="{C698A4D3-8B34-4F59-BA76-BF518A49D96C}" type="slidenum">
              <a:rPr lang="nl-NL" smtClean="0">
                <a:solidFill>
                  <a:prstClr val="black">
                    <a:tint val="75000"/>
                  </a:prstClr>
                </a:solidFill>
              </a:rPr>
              <a:pPr>
                <a:defRPr/>
              </a:pPr>
              <a:t>‹nr.›</a:t>
            </a:fld>
            <a:endParaRPr lang="nl-NL">
              <a:solidFill>
                <a:prstClr val="black">
                  <a:tint val="75000"/>
                </a:prstClr>
              </a:solidFill>
            </a:endParaRPr>
          </a:p>
        </p:txBody>
      </p:sp>
    </p:spTree>
    <p:extLst>
      <p:ext uri="{BB962C8B-B14F-4D97-AF65-F5344CB8AC3E}">
        <p14:creationId xmlns:p14="http://schemas.microsoft.com/office/powerpoint/2010/main" val="917629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 Subtitel">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27DE919D-247E-68E4-8BEA-6D6171F26009}"/>
              </a:ext>
            </a:extLst>
          </p:cNvPr>
          <p:cNvSpPr>
            <a:spLocks noGrp="1"/>
          </p:cNvSpPr>
          <p:nvPr>
            <p:ph type="sldNum" sz="quarter" idx="4"/>
          </p:nvPr>
        </p:nvSpPr>
        <p:spPr>
          <a:xfrm>
            <a:off x="0" y="6553688"/>
            <a:ext cx="288001" cy="288000"/>
          </a:xfrm>
          <a:prstGeom prst="rect">
            <a:avLst/>
          </a:prstGeom>
        </p:spPr>
        <p:txBody>
          <a:bodyPr vert="horz" lIns="0" tIns="0" rIns="0" bIns="0" rtlCol="0" anchor="ctr"/>
          <a:lstStyle>
            <a:lvl1pPr algn="ctr">
              <a:defRPr sz="1050">
                <a:solidFill>
                  <a:schemeClr val="tx1">
                    <a:tint val="75000"/>
                  </a:schemeClr>
                </a:solidFill>
                <a:latin typeface="Verdana" panose="020B0604030504040204" pitchFamily="34" charset="0"/>
                <a:ea typeface="Verdana" panose="020B0604030504040204" pitchFamily="34" charset="0"/>
              </a:defRPr>
            </a:lvl1pPr>
          </a:lstStyle>
          <a:p>
            <a:pPr>
              <a:defRPr/>
            </a:pPr>
            <a:fld id="{C698A4D3-8B34-4F59-BA76-BF518A49D96C}" type="slidenum">
              <a:rPr lang="nl-NL" smtClean="0">
                <a:solidFill>
                  <a:prstClr val="black">
                    <a:tint val="75000"/>
                  </a:prstClr>
                </a:solidFill>
              </a:rPr>
              <a:pPr>
                <a:defRPr/>
              </a:pPr>
              <a:t>‹nr.›</a:t>
            </a:fld>
            <a:endParaRPr lang="nl-NL">
              <a:solidFill>
                <a:prstClr val="black">
                  <a:tint val="75000"/>
                </a:prstClr>
              </a:solidFill>
            </a:endParaRPr>
          </a:p>
        </p:txBody>
      </p:sp>
      <p:grpSp>
        <p:nvGrpSpPr>
          <p:cNvPr id="18" name="Group 17">
            <a:extLst>
              <a:ext uri="{FF2B5EF4-FFF2-40B4-BE49-F238E27FC236}">
                <a16:creationId xmlns:a16="http://schemas.microsoft.com/office/drawing/2014/main" id="{A68C4910-0E13-159B-29BA-81BFEB0862A2}"/>
              </a:ext>
            </a:extLst>
          </p:cNvPr>
          <p:cNvGrpSpPr>
            <a:grpSpLocks noChangeAspect="1"/>
          </p:cNvGrpSpPr>
          <p:nvPr userDrawn="1"/>
        </p:nvGrpSpPr>
        <p:grpSpPr>
          <a:xfrm>
            <a:off x="10693111" y="104660"/>
            <a:ext cx="1610100" cy="1194512"/>
            <a:chOff x="9120885" y="-636163"/>
            <a:chExt cx="3280205" cy="2433544"/>
          </a:xfrm>
        </p:grpSpPr>
        <p:sp>
          <p:nvSpPr>
            <p:cNvPr id="3" name="Gelijkbenige driehoek 8">
              <a:extLst>
                <a:ext uri="{FF2B5EF4-FFF2-40B4-BE49-F238E27FC236}">
                  <a16:creationId xmlns:a16="http://schemas.microsoft.com/office/drawing/2014/main" id="{BDFFD9D8-CA9E-5799-61BD-00B387AFA7B0}"/>
                </a:ext>
              </a:extLst>
            </p:cNvPr>
            <p:cNvSpPr/>
            <p:nvPr userDrawn="1"/>
          </p:nvSpPr>
          <p:spPr>
            <a:xfrm rot="14777940">
              <a:off x="10747850" y="-1164011"/>
              <a:ext cx="1125392" cy="2181088"/>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Gelijkbenige driehoek 9">
              <a:extLst>
                <a:ext uri="{FF2B5EF4-FFF2-40B4-BE49-F238E27FC236}">
                  <a16:creationId xmlns:a16="http://schemas.microsoft.com/office/drawing/2014/main" id="{2DBB7842-F141-DD03-265A-0257E6F16E10}"/>
                </a:ext>
              </a:extLst>
            </p:cNvPr>
            <p:cNvSpPr/>
            <p:nvPr userDrawn="1"/>
          </p:nvSpPr>
          <p:spPr>
            <a:xfrm rot="10420549">
              <a:off x="9744116" y="-404316"/>
              <a:ext cx="596765"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10">
              <a:extLst>
                <a:ext uri="{FF2B5EF4-FFF2-40B4-BE49-F238E27FC236}">
                  <a16:creationId xmlns:a16="http://schemas.microsoft.com/office/drawing/2014/main" id="{9B3CDB94-5E80-DCAF-5DCD-E72E18D2E979}"/>
                </a:ext>
              </a:extLst>
            </p:cNvPr>
            <p:cNvSpPr/>
            <p:nvPr userDrawn="1"/>
          </p:nvSpPr>
          <p:spPr>
            <a:xfrm rot="13828098">
              <a:off x="9414455" y="1176552"/>
              <a:ext cx="327259" cy="914399"/>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12">
              <a:extLst>
                <a:ext uri="{FF2B5EF4-FFF2-40B4-BE49-F238E27FC236}">
                  <a16:creationId xmlns:a16="http://schemas.microsoft.com/office/drawing/2014/main" id="{460233A6-0DC0-1C2A-DE6B-349DD507CD08}"/>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Isosceles Triangle 15">
              <a:extLst>
                <a:ext uri="{FF2B5EF4-FFF2-40B4-BE49-F238E27FC236}">
                  <a16:creationId xmlns:a16="http://schemas.microsoft.com/office/drawing/2014/main" id="{EBD604DF-39D5-AB02-9A72-D7289503CD69}"/>
                </a:ext>
              </a:extLst>
            </p:cNvPr>
            <p:cNvSpPr/>
            <p:nvPr userDrawn="1"/>
          </p:nvSpPr>
          <p:spPr>
            <a:xfrm rot="13078281">
              <a:off x="10819849" y="280434"/>
              <a:ext cx="475199" cy="954001"/>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Gelijkbenige driehoek 9">
              <a:extLst>
                <a:ext uri="{FF2B5EF4-FFF2-40B4-BE49-F238E27FC236}">
                  <a16:creationId xmlns:a16="http://schemas.microsoft.com/office/drawing/2014/main" id="{C8E9D384-1200-6A23-80A0-C1CC5D546614}"/>
                </a:ext>
              </a:extLst>
            </p:cNvPr>
            <p:cNvSpPr/>
            <p:nvPr userDrawn="1"/>
          </p:nvSpPr>
          <p:spPr>
            <a:xfrm rot="15468765">
              <a:off x="10659912" y="761258"/>
              <a:ext cx="313650" cy="377585"/>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grpSp>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465998"/>
            <a:ext cx="9720000" cy="504000"/>
          </a:xfrm>
        </p:spPr>
        <p:txBody>
          <a:bodyPr vert="horz" anchor="t">
            <a:noAutofit/>
          </a:bodyPr>
          <a:lstStyle>
            <a:lvl1pPr algn="l">
              <a:lnSpc>
                <a:spcPct val="100000"/>
              </a:lnSpc>
              <a:defRPr sz="2800" b="1">
                <a:solidFill>
                  <a:srgbClr val="8C95CD"/>
                </a:solidFill>
                <a:latin typeface="Verdana Pro" panose="020B0604030504040204" pitchFamily="34" charset="0"/>
              </a:defRPr>
            </a:lvl1pPr>
          </a:lstStyle>
          <a:p>
            <a:r>
              <a:rPr lang="nl-NL" noProof="0"/>
              <a:t>Titel</a:t>
            </a:r>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73998"/>
            <a:ext cx="11233171" cy="4693530"/>
          </a:xfrm>
          <a:prstGeom prst="rect">
            <a:avLst/>
          </a:prstGeom>
        </p:spPr>
        <p:txBody>
          <a:bodyPr vert="horz" lIns="91440" tIns="45720" rIns="91440" bIns="45720" rtlCol="0">
            <a:normAutofit/>
          </a:bodyPr>
          <a:lstStyle>
            <a:lvl1pPr marL="0" indent="0">
              <a:lnSpc>
                <a:spcPct val="100000"/>
              </a:lnSpc>
              <a:spcBef>
                <a:spcPts val="0"/>
              </a:spcBef>
              <a:spcAft>
                <a:spcPts val="600"/>
              </a:spcAft>
              <a:buNone/>
              <a:defRPr sz="1200"/>
            </a:lvl1pPr>
            <a:lvl2pPr marL="360000" indent="-180000">
              <a:lnSpc>
                <a:spcPct val="100000"/>
              </a:lnSpc>
              <a:spcBef>
                <a:spcPts val="0"/>
              </a:spcBef>
              <a:spcAft>
                <a:spcPts val="600"/>
              </a:spcAft>
              <a:defRPr sz="1200"/>
            </a:lvl2pPr>
            <a:lvl3pPr marL="540000" indent="-180000">
              <a:lnSpc>
                <a:spcPct val="100000"/>
              </a:lnSpc>
              <a:spcBef>
                <a:spcPts val="0"/>
              </a:spcBef>
              <a:spcAft>
                <a:spcPts val="600"/>
              </a:spcAft>
              <a:defRPr sz="1100"/>
            </a:lvl3pPr>
            <a:lvl4pPr marL="720000" indent="-180000">
              <a:lnSpc>
                <a:spcPct val="100000"/>
              </a:lnSpc>
              <a:spcBef>
                <a:spcPts val="0"/>
              </a:spcBef>
              <a:spcAft>
                <a:spcPts val="600"/>
              </a:spcAft>
              <a:defRPr/>
            </a:lvl4pPr>
          </a:lstStyle>
          <a:p>
            <a:pPr lvl="0"/>
            <a:endParaRPr lang="nl-NL" noProof="0"/>
          </a:p>
        </p:txBody>
      </p:sp>
      <p:sp>
        <p:nvSpPr>
          <p:cNvPr id="11" name="Text Placeholder 10">
            <a:extLst>
              <a:ext uri="{FF2B5EF4-FFF2-40B4-BE49-F238E27FC236}">
                <a16:creationId xmlns:a16="http://schemas.microsoft.com/office/drawing/2014/main" id="{B97C682A-8D80-BE63-2643-D6E378D0C985}"/>
              </a:ext>
            </a:extLst>
          </p:cNvPr>
          <p:cNvSpPr>
            <a:spLocks noGrp="1"/>
          </p:cNvSpPr>
          <p:nvPr>
            <p:ph type="body" sz="quarter" idx="10" hasCustomPrompt="1"/>
          </p:nvPr>
        </p:nvSpPr>
        <p:spPr>
          <a:xfrm>
            <a:off x="425302" y="969998"/>
            <a:ext cx="10544967" cy="504000"/>
          </a:xfrm>
        </p:spPr>
        <p:txBody>
          <a:bodyPr>
            <a:noAutofit/>
          </a:bodyPr>
          <a:lstStyle>
            <a:lvl1pPr marL="0" indent="0">
              <a:lnSpc>
                <a:spcPct val="100000"/>
              </a:lnSpc>
              <a:spcBef>
                <a:spcPts val="0"/>
              </a:spcBef>
              <a:buNone/>
              <a:defRPr sz="1400" b="1">
                <a:latin typeface="Verdana Pro" panose="020B0604030504040204" pitchFamily="34" charset="0"/>
              </a:defRPr>
            </a:lvl1pPr>
            <a:lvl5pPr>
              <a:defRPr/>
            </a:lvl5pPr>
          </a:lstStyle>
          <a:p>
            <a:pPr lvl="0"/>
            <a:r>
              <a:rPr lang="nl-NL" noProof="0"/>
              <a:t>Subtitel</a:t>
            </a:r>
          </a:p>
        </p:txBody>
      </p:sp>
    </p:spTree>
    <p:extLst>
      <p:ext uri="{BB962C8B-B14F-4D97-AF65-F5344CB8AC3E}">
        <p14:creationId xmlns:p14="http://schemas.microsoft.com/office/powerpoint/2010/main" val="309813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1756610"/>
            <a:ext cx="12192000" cy="3205213"/>
          </a:xfrm>
          <a:prstGeom prst="rect">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noAutofit/>
          </a:bodyPr>
          <a:lstStyle>
            <a:lvl1pPr algn="ctr">
              <a:defRPr b="1">
                <a:solidFill>
                  <a:schemeClr val="bg1"/>
                </a:solidFill>
                <a:latin typeface="Verdana Pro" panose="020B0604030504040204" pitchFamily="34" charset="0"/>
              </a:defRPr>
            </a:lvl1pPr>
          </a:lstStyle>
          <a:p>
            <a:r>
              <a:rPr lang="en-US" err="1"/>
              <a:t>Titel</a:t>
            </a:r>
            <a:endParaRPr lang="nl-NL"/>
          </a:p>
        </p:txBody>
      </p:sp>
      <p:sp>
        <p:nvSpPr>
          <p:cNvPr id="28" name="Gelijkbenige driehoek 8">
            <a:extLst>
              <a:ext uri="{FF2B5EF4-FFF2-40B4-BE49-F238E27FC236}">
                <a16:creationId xmlns:a16="http://schemas.microsoft.com/office/drawing/2014/main" id="{DA246DD0-28F9-07DE-47FD-F4037CAEE8FC}"/>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Gelijkbenige driehoek 9">
            <a:extLst>
              <a:ext uri="{FF2B5EF4-FFF2-40B4-BE49-F238E27FC236}">
                <a16:creationId xmlns:a16="http://schemas.microsoft.com/office/drawing/2014/main" id="{73337D40-5E84-9271-3DB1-B703035AF191}"/>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Gelijkbenige driehoek 10">
            <a:extLst>
              <a:ext uri="{FF2B5EF4-FFF2-40B4-BE49-F238E27FC236}">
                <a16:creationId xmlns:a16="http://schemas.microsoft.com/office/drawing/2014/main" id="{95460C9E-8F42-E303-4867-10B0EA7ABC9D}"/>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Gelijkbenige driehoek 12">
            <a:extLst>
              <a:ext uri="{FF2B5EF4-FFF2-40B4-BE49-F238E27FC236}">
                <a16:creationId xmlns:a16="http://schemas.microsoft.com/office/drawing/2014/main" id="{523C686D-1A5B-E381-EC34-4D7E2505C4E1}"/>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Gelijkbenige driehoek 9">
            <a:extLst>
              <a:ext uri="{FF2B5EF4-FFF2-40B4-BE49-F238E27FC236}">
                <a16:creationId xmlns:a16="http://schemas.microsoft.com/office/drawing/2014/main" id="{5A25D909-0AE7-0D6B-846E-9DE1F78B7FDA}"/>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88374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2497044"/>
            <a:ext cx="12192000" cy="1724346"/>
          </a:xfrm>
          <a:prstGeom prst="rect">
            <a:avLst/>
          </a:prstGeom>
          <a:solidFill>
            <a:srgbClr val="D7DA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noAutofit/>
          </a:bodyPr>
          <a:lstStyle>
            <a:lvl1pPr>
              <a:defRPr sz="2400" b="1">
                <a:solidFill>
                  <a:srgbClr val="8C95CD"/>
                </a:solidFill>
                <a:latin typeface="Verdana Pro" panose="020B0604030504040204" pitchFamily="34" charset="0"/>
              </a:defRPr>
            </a:lvl1pPr>
          </a:lstStyle>
          <a:p>
            <a:r>
              <a:rPr lang="en-US" err="1"/>
              <a:t>Titel</a:t>
            </a:r>
            <a:endParaRPr lang="nl-NL"/>
          </a:p>
        </p:txBody>
      </p:sp>
      <p:sp>
        <p:nvSpPr>
          <p:cNvPr id="28" name="Gelijkbenige driehoek 8">
            <a:extLst>
              <a:ext uri="{FF2B5EF4-FFF2-40B4-BE49-F238E27FC236}">
                <a16:creationId xmlns:a16="http://schemas.microsoft.com/office/drawing/2014/main" id="{DA246DD0-28F9-07DE-47FD-F4037CAEE8FC}"/>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Gelijkbenige driehoek 9">
            <a:extLst>
              <a:ext uri="{FF2B5EF4-FFF2-40B4-BE49-F238E27FC236}">
                <a16:creationId xmlns:a16="http://schemas.microsoft.com/office/drawing/2014/main" id="{73337D40-5E84-9271-3DB1-B703035AF191}"/>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Gelijkbenige driehoek 10">
            <a:extLst>
              <a:ext uri="{FF2B5EF4-FFF2-40B4-BE49-F238E27FC236}">
                <a16:creationId xmlns:a16="http://schemas.microsoft.com/office/drawing/2014/main" id="{95460C9E-8F42-E303-4867-10B0EA7ABC9D}"/>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Gelijkbenige driehoek 12">
            <a:extLst>
              <a:ext uri="{FF2B5EF4-FFF2-40B4-BE49-F238E27FC236}">
                <a16:creationId xmlns:a16="http://schemas.microsoft.com/office/drawing/2014/main" id="{523C686D-1A5B-E381-EC34-4D7E2505C4E1}"/>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Gelijkbenige driehoek 9">
            <a:extLst>
              <a:ext uri="{FF2B5EF4-FFF2-40B4-BE49-F238E27FC236}">
                <a16:creationId xmlns:a16="http://schemas.microsoft.com/office/drawing/2014/main" id="{5A25D909-0AE7-0D6B-846E-9DE1F78B7FDA}"/>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62882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4FE693-8585-4B5F-F274-16D014884F0F}"/>
              </a:ext>
            </a:extLst>
          </p:cNvPr>
          <p:cNvGraphicFramePr>
            <a:graphicFrameLocks noChangeAspect="1"/>
          </p:cNvGraphicFramePr>
          <p:nvPr userDrawn="1">
            <p:custDataLst>
              <p:tags r:id="rId1"/>
            </p:custDataLst>
            <p:extLst>
              <p:ext uri="{D42A27DB-BD31-4B8C-83A1-F6EECF244321}">
                <p14:modId xmlns:p14="http://schemas.microsoft.com/office/powerpoint/2010/main" val="2778108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D4FE693-8585-4B5F-F274-16D014884F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C88D6E93-8838-2012-8C9A-A0293C67C217}"/>
              </a:ext>
            </a:extLst>
          </p:cNvPr>
          <p:cNvSpPr/>
          <p:nvPr userDrawn="1"/>
        </p:nvSpPr>
        <p:spPr>
          <a:xfrm>
            <a:off x="-1" y="0"/>
            <a:ext cx="7347099" cy="6858000"/>
          </a:xfrm>
          <a:prstGeom prst="rect">
            <a:avLst/>
          </a:prstGeom>
          <a:solidFill>
            <a:srgbClr val="8C95CD"/>
          </a:solidFill>
          <a:ln>
            <a:solidFill>
              <a:srgbClr val="8C95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90137709-92CC-1047-27E8-FA7D5C7581F1}"/>
              </a:ext>
            </a:extLst>
          </p:cNvPr>
          <p:cNvSpPr>
            <a:spLocks noGrp="1"/>
          </p:cNvSpPr>
          <p:nvPr>
            <p:ph type="title"/>
          </p:nvPr>
        </p:nvSpPr>
        <p:spPr>
          <a:xfrm>
            <a:off x="838200" y="136525"/>
            <a:ext cx="4786423" cy="1261351"/>
          </a:xfrm>
        </p:spPr>
        <p:txBody>
          <a:bodyPr vert="horz">
            <a:noAutofit/>
          </a:bodyPr>
          <a:lstStyle>
            <a:lvl1pPr>
              <a:defRPr sz="3600" b="1">
                <a:solidFill>
                  <a:schemeClr val="bg1"/>
                </a:solidFill>
                <a:latin typeface="Verdana Pro" panose="020B0604030504040204" pitchFamily="34" charset="0"/>
              </a:defRPr>
            </a:lvl1pPr>
          </a:lstStyle>
          <a:p>
            <a:r>
              <a:rPr lang="en-US"/>
              <a:t>Click to edit Master title style</a:t>
            </a:r>
            <a:endParaRPr lang="nl-NL"/>
          </a:p>
        </p:txBody>
      </p:sp>
      <p:sp>
        <p:nvSpPr>
          <p:cNvPr id="4" name="Slide Number Placeholder 3">
            <a:extLst>
              <a:ext uri="{FF2B5EF4-FFF2-40B4-BE49-F238E27FC236}">
                <a16:creationId xmlns:a16="http://schemas.microsoft.com/office/drawing/2014/main" id="{8D8127D9-7C32-9D04-AF34-BD9E719DCEC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5" name="Gelijkbenige driehoek 8">
            <a:extLst>
              <a:ext uri="{FF2B5EF4-FFF2-40B4-BE49-F238E27FC236}">
                <a16:creationId xmlns:a16="http://schemas.microsoft.com/office/drawing/2014/main" id="{728CA5C1-C599-3928-8311-C6FF1919A77A}"/>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Gelijkbenige driehoek 9">
            <a:extLst>
              <a:ext uri="{FF2B5EF4-FFF2-40B4-BE49-F238E27FC236}">
                <a16:creationId xmlns:a16="http://schemas.microsoft.com/office/drawing/2014/main" id="{3CB0E011-2471-02FF-8C86-B1E815C2CF17}"/>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10">
            <a:extLst>
              <a:ext uri="{FF2B5EF4-FFF2-40B4-BE49-F238E27FC236}">
                <a16:creationId xmlns:a16="http://schemas.microsoft.com/office/drawing/2014/main" id="{E05C3C84-76F2-4259-39CB-472324D0BCA3}"/>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2">
            <a:extLst>
              <a:ext uri="{FF2B5EF4-FFF2-40B4-BE49-F238E27FC236}">
                <a16:creationId xmlns:a16="http://schemas.microsoft.com/office/drawing/2014/main" id="{528D0C8F-FB5A-AFB4-0DBE-0672E596E487}"/>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Isosceles Triangle 9">
            <a:extLst>
              <a:ext uri="{FF2B5EF4-FFF2-40B4-BE49-F238E27FC236}">
                <a16:creationId xmlns:a16="http://schemas.microsoft.com/office/drawing/2014/main" id="{54771689-0F03-819D-7580-E75D329FC18E}"/>
              </a:ext>
            </a:extLst>
          </p:cNvPr>
          <p:cNvSpPr/>
          <p:nvPr userDrawn="1"/>
        </p:nvSpPr>
        <p:spPr>
          <a:xfrm rot="13078281">
            <a:off x="10819850" y="692005"/>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Gelijkbenige driehoek 9">
            <a:extLst>
              <a:ext uri="{FF2B5EF4-FFF2-40B4-BE49-F238E27FC236}">
                <a16:creationId xmlns:a16="http://schemas.microsoft.com/office/drawing/2014/main" id="{13F86AA2-F5FF-D2DF-D337-C0DF938130A9}"/>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Content Placeholder 12">
            <a:extLst>
              <a:ext uri="{FF2B5EF4-FFF2-40B4-BE49-F238E27FC236}">
                <a16:creationId xmlns:a16="http://schemas.microsoft.com/office/drawing/2014/main" id="{4915FB1F-10AC-6BAB-15BA-FDDE80865F72}"/>
              </a:ext>
            </a:extLst>
          </p:cNvPr>
          <p:cNvSpPr>
            <a:spLocks noGrp="1"/>
          </p:cNvSpPr>
          <p:nvPr>
            <p:ph sz="quarter" idx="12"/>
          </p:nvPr>
        </p:nvSpPr>
        <p:spPr>
          <a:xfrm>
            <a:off x="838200" y="1771650"/>
            <a:ext cx="4786423" cy="45847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05371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gular">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261351"/>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87528"/>
            <a:ext cx="11233171"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3949656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5.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501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gular">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001619"/>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214455"/>
            <a:ext cx="11233171" cy="49530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04924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15.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5226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gular">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261351"/>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87528"/>
            <a:ext cx="11233171"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637277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1756610"/>
            <a:ext cx="12192000" cy="3205213"/>
          </a:xfrm>
          <a:prstGeom prst="rect">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Date Placeholder 2">
            <a:extLst>
              <a:ext uri="{FF2B5EF4-FFF2-40B4-BE49-F238E27FC236}">
                <a16:creationId xmlns:a16="http://schemas.microsoft.com/office/drawing/2014/main" id="{08FFA03E-A994-F4E7-DB0A-7C1E122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5" name="Gelijkbenige driehoek 8">
            <a:extLst>
              <a:ext uri="{FF2B5EF4-FFF2-40B4-BE49-F238E27FC236}">
                <a16:creationId xmlns:a16="http://schemas.microsoft.com/office/drawing/2014/main" id="{00D39168-DAC1-5467-6143-B32BEDEBD8D5}"/>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9">
            <a:extLst>
              <a:ext uri="{FF2B5EF4-FFF2-40B4-BE49-F238E27FC236}">
                <a16:creationId xmlns:a16="http://schemas.microsoft.com/office/drawing/2014/main" id="{949B08FF-027C-360E-33B4-21354728194F}"/>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Gelijkbenige driehoek 10">
            <a:extLst>
              <a:ext uri="{FF2B5EF4-FFF2-40B4-BE49-F238E27FC236}">
                <a16:creationId xmlns:a16="http://schemas.microsoft.com/office/drawing/2014/main" id="{BDE16A69-9171-4392-9D95-27F5D2B8CEA0}"/>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12">
            <a:extLst>
              <a:ext uri="{FF2B5EF4-FFF2-40B4-BE49-F238E27FC236}">
                <a16:creationId xmlns:a16="http://schemas.microsoft.com/office/drawing/2014/main" id="{02954895-F7BD-AAEE-EC5D-7EFFF922D1ED}"/>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lstStyle>
            <a:lvl1pPr>
              <a:defRPr b="1">
                <a:solidFill>
                  <a:schemeClr val="bg1"/>
                </a:solidFill>
                <a:latin typeface="+mj-lt"/>
              </a:defRPr>
            </a:lvl1pPr>
          </a:lstStyle>
          <a:p>
            <a:r>
              <a:rPr lang="en-US" err="1"/>
              <a:t>Titel</a:t>
            </a:r>
            <a:endParaRPr lang="nl-NL"/>
          </a:p>
        </p:txBody>
      </p:sp>
    </p:spTree>
    <p:extLst>
      <p:ext uri="{BB962C8B-B14F-4D97-AF65-F5344CB8AC3E}">
        <p14:creationId xmlns:p14="http://schemas.microsoft.com/office/powerpoint/2010/main" val="3042840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4FE693-8585-4B5F-F274-16D014884F0F}"/>
              </a:ext>
            </a:extLst>
          </p:cNvPr>
          <p:cNvGraphicFramePr>
            <a:graphicFrameLocks noChangeAspect="1"/>
          </p:cNvGraphicFramePr>
          <p:nvPr userDrawn="1">
            <p:custDataLst>
              <p:tags r:id="rId1"/>
            </p:custDataLst>
            <p:extLst>
              <p:ext uri="{D42A27DB-BD31-4B8C-83A1-F6EECF244321}">
                <p14:modId xmlns:p14="http://schemas.microsoft.com/office/powerpoint/2010/main" val="2778108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D4FE693-8585-4B5F-F274-16D014884F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C88D6E93-8838-2012-8C9A-A0293C67C217}"/>
              </a:ext>
            </a:extLst>
          </p:cNvPr>
          <p:cNvSpPr/>
          <p:nvPr userDrawn="1"/>
        </p:nvSpPr>
        <p:spPr>
          <a:xfrm>
            <a:off x="0" y="0"/>
            <a:ext cx="6096000" cy="6858000"/>
          </a:xfrm>
          <a:prstGeom prst="rect">
            <a:avLst/>
          </a:prstGeom>
          <a:solidFill>
            <a:srgbClr val="8C95CD"/>
          </a:solidFill>
          <a:ln>
            <a:solidFill>
              <a:srgbClr val="8C95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90137709-92CC-1047-27E8-FA7D5C7581F1}"/>
              </a:ext>
            </a:extLst>
          </p:cNvPr>
          <p:cNvSpPr>
            <a:spLocks noGrp="1"/>
          </p:cNvSpPr>
          <p:nvPr>
            <p:ph type="title"/>
          </p:nvPr>
        </p:nvSpPr>
        <p:spPr>
          <a:xfrm>
            <a:off x="838200" y="136525"/>
            <a:ext cx="4786423" cy="1261351"/>
          </a:xfrm>
        </p:spPr>
        <p:txBody>
          <a:bodyPr vert="horz">
            <a:normAutofit/>
          </a:bodyPr>
          <a:lstStyle>
            <a:lvl1pPr>
              <a:defRPr sz="3600" b="1">
                <a:solidFill>
                  <a:schemeClr val="bg1"/>
                </a:solidFill>
                <a:latin typeface="+mj-lt"/>
              </a:defRPr>
            </a:lvl1pPr>
          </a:lstStyle>
          <a:p>
            <a:r>
              <a:rPr lang="en-US"/>
              <a:t>Click to edit Master title style</a:t>
            </a:r>
            <a:endParaRPr lang="nl-NL"/>
          </a:p>
        </p:txBody>
      </p:sp>
      <p:sp>
        <p:nvSpPr>
          <p:cNvPr id="3" name="Date Placeholder 2">
            <a:extLst>
              <a:ext uri="{FF2B5EF4-FFF2-40B4-BE49-F238E27FC236}">
                <a16:creationId xmlns:a16="http://schemas.microsoft.com/office/drawing/2014/main" id="{338B5E25-7826-B5A7-4A34-B2CE47EE647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8D8127D9-7C32-9D04-AF34-BD9E719DCEC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3" name="Isosceles Triangle 12">
            <a:extLst>
              <a:ext uri="{FF2B5EF4-FFF2-40B4-BE49-F238E27FC236}">
                <a16:creationId xmlns:a16="http://schemas.microsoft.com/office/drawing/2014/main" id="{A745B7C0-B4ED-7868-6D2B-B93B1222D828}"/>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Gelijkbenige driehoek 8">
            <a:extLst>
              <a:ext uri="{FF2B5EF4-FFF2-40B4-BE49-F238E27FC236}">
                <a16:creationId xmlns:a16="http://schemas.microsoft.com/office/drawing/2014/main" id="{20D7910A-CA69-352C-C0A0-AD34F213C5C4}"/>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9">
            <a:extLst>
              <a:ext uri="{FF2B5EF4-FFF2-40B4-BE49-F238E27FC236}">
                <a16:creationId xmlns:a16="http://schemas.microsoft.com/office/drawing/2014/main" id="{94D739A9-7834-D8E3-74F4-F6E5D7D817C0}"/>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Gelijkbenige driehoek 10">
            <a:extLst>
              <a:ext uri="{FF2B5EF4-FFF2-40B4-BE49-F238E27FC236}">
                <a16:creationId xmlns:a16="http://schemas.microsoft.com/office/drawing/2014/main" id="{8ABE94A3-2E77-6ECC-557A-F968E3838BA6}"/>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Gelijkbenige driehoek 12">
            <a:extLst>
              <a:ext uri="{FF2B5EF4-FFF2-40B4-BE49-F238E27FC236}">
                <a16:creationId xmlns:a16="http://schemas.microsoft.com/office/drawing/2014/main" id="{B23CDEA1-1E9C-3004-F0F1-27FC003FBE83}"/>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3213991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5. Blank">
    <p:spTree>
      <p:nvGrpSpPr>
        <p:cNvPr id="1" name=""/>
        <p:cNvGrpSpPr/>
        <p:nvPr/>
      </p:nvGrpSpPr>
      <p:grpSpPr>
        <a:xfrm>
          <a:off x="0" y="0"/>
          <a:ext cx="0" cy="0"/>
          <a:chOff x="0" y="0"/>
          <a:chExt cx="0" cy="0"/>
        </a:xfrm>
      </p:grpSpPr>
      <p:grpSp>
        <p:nvGrpSpPr>
          <p:cNvPr id="2" name="Group 24">
            <a:extLst>
              <a:ext uri="{FF2B5EF4-FFF2-40B4-BE49-F238E27FC236}">
                <a16:creationId xmlns:a16="http://schemas.microsoft.com/office/drawing/2014/main" id="{8DE9834F-07F0-E6F3-9C96-66BF722DAA81}"/>
              </a:ext>
            </a:extLst>
          </p:cNvPr>
          <p:cNvGrpSpPr/>
          <p:nvPr/>
        </p:nvGrpSpPr>
        <p:grpSpPr>
          <a:xfrm>
            <a:off x="-2553084" y="10"/>
            <a:ext cx="2344127" cy="6707671"/>
            <a:chOff x="-2238935" y="9"/>
            <a:chExt cx="2055690" cy="5880081"/>
          </a:xfrm>
        </p:grpSpPr>
        <p:grpSp>
          <p:nvGrpSpPr>
            <p:cNvPr id="3" name="Group 25">
              <a:extLst>
                <a:ext uri="{FF2B5EF4-FFF2-40B4-BE49-F238E27FC236}">
                  <a16:creationId xmlns:a16="http://schemas.microsoft.com/office/drawing/2014/main" id="{C2F69491-7DF8-125D-79F0-2B715B058C13}"/>
                </a:ext>
              </a:extLst>
            </p:cNvPr>
            <p:cNvGrpSpPr/>
            <p:nvPr/>
          </p:nvGrpSpPr>
          <p:grpSpPr>
            <a:xfrm>
              <a:off x="-1695306" y="649873"/>
              <a:ext cx="1489236" cy="5230217"/>
              <a:chOff x="-1695306" y="649873"/>
              <a:chExt cx="1489236" cy="5230217"/>
            </a:xfrm>
          </p:grpSpPr>
          <p:sp>
            <p:nvSpPr>
              <p:cNvPr id="4" name="Oval 27">
                <a:extLst>
                  <a:ext uri="{FF2B5EF4-FFF2-40B4-BE49-F238E27FC236}">
                    <a16:creationId xmlns:a16="http://schemas.microsoft.com/office/drawing/2014/main" id="{7F5C951E-16D5-2197-D85C-4B8C1B25702A}"/>
                  </a:ext>
                </a:extLst>
              </p:cNvPr>
              <p:cNvSpPr/>
              <p:nvPr/>
            </p:nvSpPr>
            <p:spPr>
              <a:xfrm>
                <a:off x="-647706" y="5510494"/>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B1C33"/>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5" name="Oval 28">
                <a:extLst>
                  <a:ext uri="{FF2B5EF4-FFF2-40B4-BE49-F238E27FC236}">
                    <a16:creationId xmlns:a16="http://schemas.microsoft.com/office/drawing/2014/main" id="{7FDE4D4C-C7C4-C883-28BC-6C3C75A380FE}"/>
                  </a:ext>
                </a:extLst>
              </p:cNvPr>
              <p:cNvSpPr/>
              <p:nvPr/>
            </p:nvSpPr>
            <p:spPr>
              <a:xfrm>
                <a:off x="-647706" y="1018723"/>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CE0E2D"/>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6" name="Oval 29">
                <a:extLst>
                  <a:ext uri="{FF2B5EF4-FFF2-40B4-BE49-F238E27FC236}">
                    <a16:creationId xmlns:a16="http://schemas.microsoft.com/office/drawing/2014/main" id="{A92740FC-A694-A847-548C-F77108AEF932}"/>
                  </a:ext>
                </a:extLst>
              </p:cNvPr>
              <p:cNvSpPr/>
              <p:nvPr/>
            </p:nvSpPr>
            <p:spPr>
              <a:xfrm>
                <a:off x="-647706" y="2035289"/>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7254C"/>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7" name="Oval 30">
                <a:extLst>
                  <a:ext uri="{FF2B5EF4-FFF2-40B4-BE49-F238E27FC236}">
                    <a16:creationId xmlns:a16="http://schemas.microsoft.com/office/drawing/2014/main" id="{B23A8A7D-D7FC-67E1-5FDD-58B78CBD60BE}"/>
                  </a:ext>
                </a:extLst>
              </p:cNvPr>
              <p:cNvSpPr/>
              <p:nvPr/>
            </p:nvSpPr>
            <p:spPr>
              <a:xfrm>
                <a:off x="-647706" y="2636398"/>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B4D4E"/>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8" name="Oval 31">
                <a:extLst>
                  <a:ext uri="{FF2B5EF4-FFF2-40B4-BE49-F238E27FC236}">
                    <a16:creationId xmlns:a16="http://schemas.microsoft.com/office/drawing/2014/main" id="{0BAE6E7A-1398-B516-07B8-D6AA18EF75A5}"/>
                  </a:ext>
                </a:extLst>
              </p:cNvPr>
              <p:cNvSpPr/>
              <p:nvPr/>
            </p:nvSpPr>
            <p:spPr>
              <a:xfrm>
                <a:off x="-647706" y="3237506"/>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7A5A4"/>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9" name="Oval 32">
                <a:extLst>
                  <a:ext uri="{FF2B5EF4-FFF2-40B4-BE49-F238E27FC236}">
                    <a16:creationId xmlns:a16="http://schemas.microsoft.com/office/drawing/2014/main" id="{1B83DDDE-439B-A1D5-6C7B-ABFBCDDBA548}"/>
                  </a:ext>
                </a:extLst>
              </p:cNvPr>
              <p:cNvSpPr/>
              <p:nvPr/>
            </p:nvSpPr>
            <p:spPr>
              <a:xfrm>
                <a:off x="-647706" y="3838614"/>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8E8EA"/>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10" name="Oval 33">
                <a:extLst>
                  <a:ext uri="{FF2B5EF4-FFF2-40B4-BE49-F238E27FC236}">
                    <a16:creationId xmlns:a16="http://schemas.microsoft.com/office/drawing/2014/main" id="{7F74CC76-462A-662C-95F7-3F7AF4D468E4}"/>
                  </a:ext>
                </a:extLst>
              </p:cNvPr>
              <p:cNvSpPr/>
              <p:nvPr/>
            </p:nvSpPr>
            <p:spPr>
              <a:xfrm>
                <a:off x="-647706" y="4439732"/>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2701" cap="flat">
                <a:solidFill>
                  <a:srgbClr val="A7A5A4"/>
                </a:solidFill>
                <a:prstDash val="solid"/>
                <a:miter/>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11" name="TextBox 34">
                <a:extLst>
                  <a:ext uri="{FF2B5EF4-FFF2-40B4-BE49-F238E27FC236}">
                    <a16:creationId xmlns:a16="http://schemas.microsoft.com/office/drawing/2014/main" id="{2629D3F4-3637-52C8-7CF6-AD66C465F656}"/>
                  </a:ext>
                </a:extLst>
              </p:cNvPr>
              <p:cNvSpPr txBox="1"/>
              <p:nvPr/>
            </p:nvSpPr>
            <p:spPr>
              <a:xfrm>
                <a:off x="-1695306" y="1006214"/>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Red</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206 – 14 - 45</a:t>
                </a:r>
              </a:p>
            </p:txBody>
          </p:sp>
          <p:sp>
            <p:nvSpPr>
              <p:cNvPr id="12" name="TextBox 35">
                <a:extLst>
                  <a:ext uri="{FF2B5EF4-FFF2-40B4-BE49-F238E27FC236}">
                    <a16:creationId xmlns:a16="http://schemas.microsoft.com/office/drawing/2014/main" id="{FC31776D-ADAE-CC63-318F-36B7C2027386}"/>
                  </a:ext>
                </a:extLst>
              </p:cNvPr>
              <p:cNvSpPr txBox="1"/>
              <p:nvPr/>
            </p:nvSpPr>
            <p:spPr>
              <a:xfrm>
                <a:off x="-1681371" y="5430530"/>
                <a:ext cx="1027063" cy="449560"/>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Writers blue</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27 – 28 – 51</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For text use only</a:t>
                </a:r>
              </a:p>
            </p:txBody>
          </p:sp>
          <p:sp>
            <p:nvSpPr>
              <p:cNvPr id="13" name="TextBox 36">
                <a:extLst>
                  <a:ext uri="{FF2B5EF4-FFF2-40B4-BE49-F238E27FC236}">
                    <a16:creationId xmlns:a16="http://schemas.microsoft.com/office/drawing/2014/main" id="{7B60C39E-1D90-5425-6555-19243DD0B782}"/>
                  </a:ext>
                </a:extLst>
              </p:cNvPr>
              <p:cNvSpPr txBox="1"/>
              <p:nvPr/>
            </p:nvSpPr>
            <p:spPr>
              <a:xfrm>
                <a:off x="-1681371" y="2022789"/>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Blue</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39 – 37 - 76</a:t>
                </a:r>
              </a:p>
            </p:txBody>
          </p:sp>
          <p:sp>
            <p:nvSpPr>
              <p:cNvPr id="14" name="TextBox 37">
                <a:extLst>
                  <a:ext uri="{FF2B5EF4-FFF2-40B4-BE49-F238E27FC236}">
                    <a16:creationId xmlns:a16="http://schemas.microsoft.com/office/drawing/2014/main" id="{FA8AB957-B050-4643-BAD2-C2A7E99A6F66}"/>
                  </a:ext>
                </a:extLst>
              </p:cNvPr>
              <p:cNvSpPr txBox="1"/>
              <p:nvPr/>
            </p:nvSpPr>
            <p:spPr>
              <a:xfrm>
                <a:off x="-1681371" y="2623898"/>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Dark 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75 – 77 - 78</a:t>
                </a:r>
              </a:p>
            </p:txBody>
          </p:sp>
          <p:sp>
            <p:nvSpPr>
              <p:cNvPr id="15" name="TextBox 38">
                <a:extLst>
                  <a:ext uri="{FF2B5EF4-FFF2-40B4-BE49-F238E27FC236}">
                    <a16:creationId xmlns:a16="http://schemas.microsoft.com/office/drawing/2014/main" id="{C437C8F3-A5A9-72CA-76E1-634A0FE7AA1B}"/>
                  </a:ext>
                </a:extLst>
              </p:cNvPr>
              <p:cNvSpPr txBox="1"/>
              <p:nvPr/>
            </p:nvSpPr>
            <p:spPr>
              <a:xfrm>
                <a:off x="-1518068" y="3225006"/>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167 – 165 - 164</a:t>
                </a:r>
              </a:p>
            </p:txBody>
          </p:sp>
          <p:sp>
            <p:nvSpPr>
              <p:cNvPr id="16" name="TextBox 39">
                <a:extLst>
                  <a:ext uri="{FF2B5EF4-FFF2-40B4-BE49-F238E27FC236}">
                    <a16:creationId xmlns:a16="http://schemas.microsoft.com/office/drawing/2014/main" id="{C5404D83-B41E-080B-1F23-1891E1CC06AA}"/>
                  </a:ext>
                </a:extLst>
              </p:cNvPr>
              <p:cNvSpPr txBox="1"/>
              <p:nvPr/>
            </p:nvSpPr>
            <p:spPr>
              <a:xfrm>
                <a:off x="-1518068" y="3826114"/>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Light 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232 – 232 - 234</a:t>
                </a:r>
              </a:p>
            </p:txBody>
          </p:sp>
          <p:sp>
            <p:nvSpPr>
              <p:cNvPr id="17" name="TextBox 40">
                <a:extLst>
                  <a:ext uri="{FF2B5EF4-FFF2-40B4-BE49-F238E27FC236}">
                    <a16:creationId xmlns:a16="http://schemas.microsoft.com/office/drawing/2014/main" id="{A289D9EB-A0F8-AD0D-2974-E14EFACC77B7}"/>
                  </a:ext>
                </a:extLst>
              </p:cNvPr>
              <p:cNvSpPr txBox="1"/>
              <p:nvPr/>
            </p:nvSpPr>
            <p:spPr>
              <a:xfrm>
                <a:off x="-1247077" y="1700838"/>
                <a:ext cx="1041007" cy="203814"/>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CE0E2D"/>
                    </a:solidFill>
                    <a:uFillTx/>
                    <a:latin typeface="HelveticaNowDisplay Bold" pitchFamily="34"/>
                    <a:cs typeface="HelveticaNowDisplay Bold" pitchFamily="34"/>
                  </a:rPr>
                  <a:t>Secondary colors</a:t>
                </a:r>
                <a:endParaRPr lang="nl-NL" sz="911" b="0" i="0" u="none" strike="noStrike" kern="1200" cap="none" spc="0" baseline="0">
                  <a:solidFill>
                    <a:srgbClr val="CE0E2D"/>
                  </a:solidFill>
                  <a:uFillTx/>
                  <a:latin typeface="HelveticaNowDisplay Light" pitchFamily="34"/>
                  <a:cs typeface="HelveticaNowDisplay Light" pitchFamily="34"/>
                </a:endParaRPr>
              </a:p>
            </p:txBody>
          </p:sp>
          <p:sp>
            <p:nvSpPr>
              <p:cNvPr id="18" name="TextBox 41">
                <a:extLst>
                  <a:ext uri="{FF2B5EF4-FFF2-40B4-BE49-F238E27FC236}">
                    <a16:creationId xmlns:a16="http://schemas.microsoft.com/office/drawing/2014/main" id="{941138A4-1791-CFFB-DF2A-99BA241D95B4}"/>
                  </a:ext>
                </a:extLst>
              </p:cNvPr>
              <p:cNvSpPr txBox="1"/>
              <p:nvPr/>
            </p:nvSpPr>
            <p:spPr>
              <a:xfrm>
                <a:off x="-1247077" y="649873"/>
                <a:ext cx="1041007" cy="203814"/>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CE0E2D"/>
                    </a:solidFill>
                    <a:uFillTx/>
                    <a:latin typeface="HelveticaNowDisplay Bold" pitchFamily="34"/>
                    <a:cs typeface="HelveticaNowDisplay Bold" pitchFamily="34"/>
                  </a:rPr>
                  <a:t>Primary color</a:t>
                </a:r>
                <a:endParaRPr lang="nl-NL" sz="911" b="0" i="0" u="none" strike="noStrike" kern="1200" cap="none" spc="0" baseline="0">
                  <a:solidFill>
                    <a:srgbClr val="CE0E2D"/>
                  </a:solidFill>
                  <a:uFillTx/>
                  <a:latin typeface="HelveticaNowDisplay Light" pitchFamily="34"/>
                  <a:cs typeface="HelveticaNowDisplay Light" pitchFamily="34"/>
                </a:endParaRPr>
              </a:p>
            </p:txBody>
          </p:sp>
          <p:sp>
            <p:nvSpPr>
              <p:cNvPr id="19" name="TextBox 42">
                <a:extLst>
                  <a:ext uri="{FF2B5EF4-FFF2-40B4-BE49-F238E27FC236}">
                    <a16:creationId xmlns:a16="http://schemas.microsoft.com/office/drawing/2014/main" id="{EF07DE83-40EA-6EBC-929C-C6AEF125D553}"/>
                  </a:ext>
                </a:extLst>
              </p:cNvPr>
              <p:cNvSpPr txBox="1"/>
              <p:nvPr/>
            </p:nvSpPr>
            <p:spPr>
              <a:xfrm>
                <a:off x="-1518068" y="4427223"/>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White</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255 – 255 - 255</a:t>
                </a:r>
              </a:p>
            </p:txBody>
          </p:sp>
        </p:grpSp>
        <p:sp>
          <p:nvSpPr>
            <p:cNvPr id="20" name="Rectangle: Rounded Corners 26">
              <a:extLst>
                <a:ext uri="{FF2B5EF4-FFF2-40B4-BE49-F238E27FC236}">
                  <a16:creationId xmlns:a16="http://schemas.microsoft.com/office/drawing/2014/main" id="{06960060-E2F2-25E7-58B1-F235F07E079C}"/>
                </a:ext>
              </a:extLst>
            </p:cNvPr>
            <p:cNvSpPr/>
            <p:nvPr/>
          </p:nvSpPr>
          <p:spPr>
            <a:xfrm>
              <a:off x="-2238935" y="9"/>
              <a:ext cx="2055690" cy="500021"/>
            </a:xfrm>
            <a:custGeom>
              <a:avLst>
                <a:gd name="f0" fmla="val 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noFill/>
            <a:ln cap="flat">
              <a:noFill/>
              <a:prstDash val="solid"/>
            </a:ln>
          </p:spPr>
          <p:txBody>
            <a:bodyPr vert="horz" wrap="square" lIns="179999" tIns="179999" rIns="91440" bIns="45720" anchor="t" anchorCtr="0" compatLnSpc="1">
              <a:no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367" b="0" i="0" u="none" strike="noStrike" kern="1200" cap="none" spc="0" baseline="0">
                  <a:solidFill>
                    <a:srgbClr val="CE0E2D"/>
                  </a:solidFill>
                  <a:uFillTx/>
                  <a:latin typeface="HelveticaNowDisplay ExtraBold" pitchFamily="34"/>
                  <a:cs typeface="HelveticaNowDisplay ExtraBold" pitchFamily="34"/>
                </a:rPr>
                <a:t>Style guide </a:t>
              </a:r>
              <a:br>
                <a:rPr lang="en-GB" sz="1367" b="0" i="0" u="none" strike="noStrike" kern="1200" cap="none" spc="0" baseline="0">
                  <a:solidFill>
                    <a:srgbClr val="CE0E2D"/>
                  </a:solidFill>
                  <a:uFillTx/>
                  <a:latin typeface="HelveticaNowDisplay ExtraBold" pitchFamily="34"/>
                  <a:cs typeface="HelveticaNowDisplay ExtraBold" pitchFamily="34"/>
                </a:rPr>
              </a:br>
              <a:r>
                <a:rPr lang="en-GB" sz="1367" b="0" i="0" u="none" strike="noStrike" kern="1200" cap="none" spc="0" baseline="0">
                  <a:solidFill>
                    <a:srgbClr val="CE0E2D"/>
                  </a:solidFill>
                  <a:uFillTx/>
                  <a:latin typeface="HelveticaNowDisplay ExtraBold" pitchFamily="34"/>
                  <a:cs typeface="HelveticaNowDisplay ExtraBold" pitchFamily="34"/>
                </a:rPr>
                <a:t>RGB colors</a:t>
              </a:r>
            </a:p>
          </p:txBody>
        </p:sp>
      </p:grpSp>
    </p:spTree>
    <p:extLst>
      <p:ext uri="{BB962C8B-B14F-4D97-AF65-F5344CB8AC3E}">
        <p14:creationId xmlns:p14="http://schemas.microsoft.com/office/powerpoint/2010/main" val="1735969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C5AC23-3CBA-C547-A751-E713D38C84A9}"/>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97ECEE67-6007-494B-ACBB-CE78A4B11106}"/>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4EC24945-8D63-EC40-84CE-61E47D5B985E}"/>
              </a:ext>
            </a:extLst>
          </p:cNvPr>
          <p:cNvSpPr>
            <a:spLocks noGrp="1"/>
          </p:cNvSpPr>
          <p:nvPr>
            <p:ph type="dt" sz="half" idx="10"/>
          </p:nvPr>
        </p:nvSpPr>
        <p:spPr/>
        <p:txBody>
          <a:bodyPr/>
          <a:lstStyle/>
          <a:p>
            <a:fld id="{C1033840-74FD-CD4B-B622-E8A3E60016E5}" type="datetimeFigureOut">
              <a:rPr lang="nl-NL" smtClean="0"/>
              <a:t>1-12-2024</a:t>
            </a:fld>
            <a:endParaRPr lang="nl-NL"/>
          </a:p>
        </p:txBody>
      </p:sp>
      <p:sp>
        <p:nvSpPr>
          <p:cNvPr id="5" name="Tijdelijke aanduiding voor voettekst 4">
            <a:extLst>
              <a:ext uri="{FF2B5EF4-FFF2-40B4-BE49-F238E27FC236}">
                <a16:creationId xmlns:a16="http://schemas.microsoft.com/office/drawing/2014/main" id="{FACF613D-8A02-AA48-A58D-95EE1E3CC08F}"/>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385E841-507E-D34F-8DFD-89F563D5C2A5}"/>
              </a:ext>
            </a:extLst>
          </p:cNvPr>
          <p:cNvSpPr>
            <a:spLocks noGrp="1"/>
          </p:cNvSpPr>
          <p:nvPr>
            <p:ph type="sldNum" sz="quarter" idx="12"/>
          </p:nvPr>
        </p:nvSpPr>
        <p:spPr/>
        <p:txBody>
          <a:bodyPr/>
          <a:lstStyle/>
          <a:p>
            <a:fld id="{A097CBB9-1A0E-5F43-B369-4CCA5BADCBFE}" type="slidenum">
              <a:rPr lang="nl-NL" smtClean="0"/>
              <a:t>‹nr.›</a:t>
            </a:fld>
            <a:endParaRPr lang="nl-NL"/>
          </a:p>
        </p:txBody>
      </p:sp>
      <p:sp>
        <p:nvSpPr>
          <p:cNvPr id="9" name="Rechthoek 8">
            <a:extLst>
              <a:ext uri="{FF2B5EF4-FFF2-40B4-BE49-F238E27FC236}">
                <a16:creationId xmlns:a16="http://schemas.microsoft.com/office/drawing/2014/main" id="{F4F3EE38-7925-C025-2CFF-18A788B8C6E6}"/>
              </a:ext>
            </a:extLst>
          </p:cNvPr>
          <p:cNvSpPr/>
          <p:nvPr userDrawn="1"/>
        </p:nvSpPr>
        <p:spPr>
          <a:xfrm>
            <a:off x="10352744" y="5438590"/>
            <a:ext cx="1806370" cy="1213418"/>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6499293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egular">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261351"/>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87528"/>
            <a:ext cx="11233171"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4253123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1756610"/>
            <a:ext cx="12192000" cy="3205213"/>
          </a:xfrm>
          <a:prstGeom prst="rect">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Date Placeholder 2">
            <a:extLst>
              <a:ext uri="{FF2B5EF4-FFF2-40B4-BE49-F238E27FC236}">
                <a16:creationId xmlns:a16="http://schemas.microsoft.com/office/drawing/2014/main" id="{08FFA03E-A994-F4E7-DB0A-7C1E122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5" name="Gelijkbenige driehoek 8">
            <a:extLst>
              <a:ext uri="{FF2B5EF4-FFF2-40B4-BE49-F238E27FC236}">
                <a16:creationId xmlns:a16="http://schemas.microsoft.com/office/drawing/2014/main" id="{00D39168-DAC1-5467-6143-B32BEDEBD8D5}"/>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9">
            <a:extLst>
              <a:ext uri="{FF2B5EF4-FFF2-40B4-BE49-F238E27FC236}">
                <a16:creationId xmlns:a16="http://schemas.microsoft.com/office/drawing/2014/main" id="{949B08FF-027C-360E-33B4-21354728194F}"/>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Gelijkbenige driehoek 10">
            <a:extLst>
              <a:ext uri="{FF2B5EF4-FFF2-40B4-BE49-F238E27FC236}">
                <a16:creationId xmlns:a16="http://schemas.microsoft.com/office/drawing/2014/main" id="{BDE16A69-9171-4392-9D95-27F5D2B8CEA0}"/>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12">
            <a:extLst>
              <a:ext uri="{FF2B5EF4-FFF2-40B4-BE49-F238E27FC236}">
                <a16:creationId xmlns:a16="http://schemas.microsoft.com/office/drawing/2014/main" id="{02954895-F7BD-AAEE-EC5D-7EFFF922D1ED}"/>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lstStyle>
            <a:lvl1pPr>
              <a:defRPr b="1">
                <a:solidFill>
                  <a:schemeClr val="bg1"/>
                </a:solidFill>
                <a:latin typeface="+mj-lt"/>
              </a:defRPr>
            </a:lvl1pPr>
          </a:lstStyle>
          <a:p>
            <a:r>
              <a:rPr lang="en-US" err="1"/>
              <a:t>Titel</a:t>
            </a:r>
            <a:endParaRPr lang="nl-NL"/>
          </a:p>
        </p:txBody>
      </p:sp>
    </p:spTree>
    <p:extLst>
      <p:ext uri="{BB962C8B-B14F-4D97-AF65-F5344CB8AC3E}">
        <p14:creationId xmlns:p14="http://schemas.microsoft.com/office/powerpoint/2010/main" val="16681907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4FE693-8585-4B5F-F274-16D014884F0F}"/>
              </a:ext>
            </a:extLst>
          </p:cNvPr>
          <p:cNvGraphicFramePr>
            <a:graphicFrameLocks noChangeAspect="1"/>
          </p:cNvGraphicFramePr>
          <p:nvPr userDrawn="1">
            <p:custDataLst>
              <p:tags r:id="rId1"/>
            </p:custDataLst>
            <p:extLst>
              <p:ext uri="{D42A27DB-BD31-4B8C-83A1-F6EECF244321}">
                <p14:modId xmlns:p14="http://schemas.microsoft.com/office/powerpoint/2010/main" val="2778108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D4FE693-8585-4B5F-F274-16D014884F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C88D6E93-8838-2012-8C9A-A0293C67C217}"/>
              </a:ext>
            </a:extLst>
          </p:cNvPr>
          <p:cNvSpPr/>
          <p:nvPr userDrawn="1"/>
        </p:nvSpPr>
        <p:spPr>
          <a:xfrm>
            <a:off x="0" y="0"/>
            <a:ext cx="6096000" cy="6858000"/>
          </a:xfrm>
          <a:prstGeom prst="rect">
            <a:avLst/>
          </a:prstGeom>
          <a:solidFill>
            <a:srgbClr val="8C95CD"/>
          </a:solidFill>
          <a:ln>
            <a:solidFill>
              <a:srgbClr val="8C95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90137709-92CC-1047-27E8-FA7D5C7581F1}"/>
              </a:ext>
            </a:extLst>
          </p:cNvPr>
          <p:cNvSpPr>
            <a:spLocks noGrp="1"/>
          </p:cNvSpPr>
          <p:nvPr>
            <p:ph type="title"/>
          </p:nvPr>
        </p:nvSpPr>
        <p:spPr>
          <a:xfrm>
            <a:off x="838200" y="136525"/>
            <a:ext cx="4786423" cy="1261351"/>
          </a:xfrm>
        </p:spPr>
        <p:txBody>
          <a:bodyPr vert="horz">
            <a:normAutofit/>
          </a:bodyPr>
          <a:lstStyle>
            <a:lvl1pPr>
              <a:defRPr sz="3600" b="1">
                <a:solidFill>
                  <a:schemeClr val="bg1"/>
                </a:solidFill>
                <a:latin typeface="+mj-lt"/>
              </a:defRPr>
            </a:lvl1pPr>
          </a:lstStyle>
          <a:p>
            <a:r>
              <a:rPr lang="en-US"/>
              <a:t>Click to edit Master title style</a:t>
            </a:r>
            <a:endParaRPr lang="nl-NL"/>
          </a:p>
        </p:txBody>
      </p:sp>
      <p:sp>
        <p:nvSpPr>
          <p:cNvPr id="3" name="Date Placeholder 2">
            <a:extLst>
              <a:ext uri="{FF2B5EF4-FFF2-40B4-BE49-F238E27FC236}">
                <a16:creationId xmlns:a16="http://schemas.microsoft.com/office/drawing/2014/main" id="{338B5E25-7826-B5A7-4A34-B2CE47EE647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8D8127D9-7C32-9D04-AF34-BD9E719DCEC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3" name="Isosceles Triangle 12">
            <a:extLst>
              <a:ext uri="{FF2B5EF4-FFF2-40B4-BE49-F238E27FC236}">
                <a16:creationId xmlns:a16="http://schemas.microsoft.com/office/drawing/2014/main" id="{A745B7C0-B4ED-7868-6D2B-B93B1222D828}"/>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Gelijkbenige driehoek 8">
            <a:extLst>
              <a:ext uri="{FF2B5EF4-FFF2-40B4-BE49-F238E27FC236}">
                <a16:creationId xmlns:a16="http://schemas.microsoft.com/office/drawing/2014/main" id="{20D7910A-CA69-352C-C0A0-AD34F213C5C4}"/>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9">
            <a:extLst>
              <a:ext uri="{FF2B5EF4-FFF2-40B4-BE49-F238E27FC236}">
                <a16:creationId xmlns:a16="http://schemas.microsoft.com/office/drawing/2014/main" id="{94D739A9-7834-D8E3-74F4-F6E5D7D817C0}"/>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Gelijkbenige driehoek 10">
            <a:extLst>
              <a:ext uri="{FF2B5EF4-FFF2-40B4-BE49-F238E27FC236}">
                <a16:creationId xmlns:a16="http://schemas.microsoft.com/office/drawing/2014/main" id="{8ABE94A3-2E77-6ECC-557A-F968E3838BA6}"/>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Gelijkbenige driehoek 12">
            <a:extLst>
              <a:ext uri="{FF2B5EF4-FFF2-40B4-BE49-F238E27FC236}">
                <a16:creationId xmlns:a16="http://schemas.microsoft.com/office/drawing/2014/main" id="{B23CDEA1-1E9C-3004-F0F1-27FC003FBE83}"/>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417145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261351"/>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87528"/>
            <a:ext cx="11233171"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24265911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 Subtitel">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465998"/>
            <a:ext cx="9720000" cy="602406"/>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610770"/>
            <a:ext cx="11233171" cy="45567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1" name="Text Placeholder 10">
            <a:extLst>
              <a:ext uri="{FF2B5EF4-FFF2-40B4-BE49-F238E27FC236}">
                <a16:creationId xmlns:a16="http://schemas.microsoft.com/office/drawing/2014/main" id="{B97C682A-8D80-BE63-2643-D6E378D0C985}"/>
              </a:ext>
            </a:extLst>
          </p:cNvPr>
          <p:cNvSpPr>
            <a:spLocks noGrp="1"/>
          </p:cNvSpPr>
          <p:nvPr>
            <p:ph type="body" sz="quarter" idx="10" hasCustomPrompt="1"/>
          </p:nvPr>
        </p:nvSpPr>
        <p:spPr>
          <a:xfrm>
            <a:off x="425302" y="1075758"/>
            <a:ext cx="10544967" cy="461380"/>
          </a:xfrm>
        </p:spPr>
        <p:txBody>
          <a:bodyPr/>
          <a:lstStyle>
            <a:lvl1pPr marL="0" indent="0">
              <a:buNone/>
              <a:defRPr/>
            </a:lvl1pPr>
            <a:lvl5pPr>
              <a:defRPr/>
            </a:lvl5pPr>
          </a:lstStyle>
          <a:p>
            <a:pPr lvl="0"/>
            <a:r>
              <a:rPr lang="en-US" err="1"/>
              <a:t>Subtitel</a:t>
            </a:r>
            <a:endParaRPr lang="en-GB"/>
          </a:p>
        </p:txBody>
      </p:sp>
    </p:spTree>
    <p:extLst>
      <p:ext uri="{BB962C8B-B14F-4D97-AF65-F5344CB8AC3E}">
        <p14:creationId xmlns:p14="http://schemas.microsoft.com/office/powerpoint/2010/main" val="9392555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1756610"/>
            <a:ext cx="12192000" cy="3205213"/>
          </a:xfrm>
          <a:prstGeom prst="rect">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Date Placeholder 2">
            <a:extLst>
              <a:ext uri="{FF2B5EF4-FFF2-40B4-BE49-F238E27FC236}">
                <a16:creationId xmlns:a16="http://schemas.microsoft.com/office/drawing/2014/main" id="{08FFA03E-A994-F4E7-DB0A-7C1E122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5" name="Gelijkbenige driehoek 8">
            <a:extLst>
              <a:ext uri="{FF2B5EF4-FFF2-40B4-BE49-F238E27FC236}">
                <a16:creationId xmlns:a16="http://schemas.microsoft.com/office/drawing/2014/main" id="{00D39168-DAC1-5467-6143-B32BEDEBD8D5}"/>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9">
            <a:extLst>
              <a:ext uri="{FF2B5EF4-FFF2-40B4-BE49-F238E27FC236}">
                <a16:creationId xmlns:a16="http://schemas.microsoft.com/office/drawing/2014/main" id="{949B08FF-027C-360E-33B4-21354728194F}"/>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Gelijkbenige driehoek 10">
            <a:extLst>
              <a:ext uri="{FF2B5EF4-FFF2-40B4-BE49-F238E27FC236}">
                <a16:creationId xmlns:a16="http://schemas.microsoft.com/office/drawing/2014/main" id="{BDE16A69-9171-4392-9D95-27F5D2B8CEA0}"/>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12">
            <a:extLst>
              <a:ext uri="{FF2B5EF4-FFF2-40B4-BE49-F238E27FC236}">
                <a16:creationId xmlns:a16="http://schemas.microsoft.com/office/drawing/2014/main" id="{02954895-F7BD-AAEE-EC5D-7EFFF922D1ED}"/>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lstStyle>
            <a:lvl1pPr>
              <a:defRPr b="1">
                <a:solidFill>
                  <a:schemeClr val="bg1"/>
                </a:solidFill>
                <a:latin typeface="+mj-lt"/>
              </a:defRPr>
            </a:lvl1pPr>
          </a:lstStyle>
          <a:p>
            <a:r>
              <a:rPr lang="en-US" err="1"/>
              <a:t>Titel</a:t>
            </a:r>
            <a:endParaRPr lang="nl-NL"/>
          </a:p>
        </p:txBody>
      </p:sp>
    </p:spTree>
    <p:extLst>
      <p:ext uri="{BB962C8B-B14F-4D97-AF65-F5344CB8AC3E}">
        <p14:creationId xmlns:p14="http://schemas.microsoft.com/office/powerpoint/2010/main" val="28933711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4FE693-8585-4B5F-F274-16D014884F0F}"/>
              </a:ext>
            </a:extLst>
          </p:cNvPr>
          <p:cNvGraphicFramePr>
            <a:graphicFrameLocks noChangeAspect="1"/>
          </p:cNvGraphicFramePr>
          <p:nvPr userDrawn="1">
            <p:custDataLst>
              <p:tags r:id="rId1"/>
            </p:custDataLst>
            <p:extLst>
              <p:ext uri="{D42A27DB-BD31-4B8C-83A1-F6EECF244321}">
                <p14:modId xmlns:p14="http://schemas.microsoft.com/office/powerpoint/2010/main" val="2778108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D4FE693-8585-4B5F-F274-16D014884F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C88D6E93-8838-2012-8C9A-A0293C67C217}"/>
              </a:ext>
            </a:extLst>
          </p:cNvPr>
          <p:cNvSpPr/>
          <p:nvPr userDrawn="1"/>
        </p:nvSpPr>
        <p:spPr>
          <a:xfrm>
            <a:off x="0" y="0"/>
            <a:ext cx="6096000" cy="6858000"/>
          </a:xfrm>
          <a:prstGeom prst="rect">
            <a:avLst/>
          </a:prstGeom>
          <a:solidFill>
            <a:srgbClr val="8C95CD"/>
          </a:solidFill>
          <a:ln>
            <a:solidFill>
              <a:srgbClr val="8C95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90137709-92CC-1047-27E8-FA7D5C7581F1}"/>
              </a:ext>
            </a:extLst>
          </p:cNvPr>
          <p:cNvSpPr>
            <a:spLocks noGrp="1"/>
          </p:cNvSpPr>
          <p:nvPr>
            <p:ph type="title"/>
          </p:nvPr>
        </p:nvSpPr>
        <p:spPr>
          <a:xfrm>
            <a:off x="838200" y="136525"/>
            <a:ext cx="4786423" cy="1261351"/>
          </a:xfrm>
        </p:spPr>
        <p:txBody>
          <a:bodyPr vert="horz">
            <a:normAutofit/>
          </a:bodyPr>
          <a:lstStyle>
            <a:lvl1pPr>
              <a:defRPr sz="3600" b="1">
                <a:solidFill>
                  <a:schemeClr val="bg1"/>
                </a:solidFill>
                <a:latin typeface="+mj-lt"/>
              </a:defRPr>
            </a:lvl1pPr>
          </a:lstStyle>
          <a:p>
            <a:r>
              <a:rPr lang="en-US"/>
              <a:t>Click to edit Master title style</a:t>
            </a:r>
            <a:endParaRPr lang="nl-NL"/>
          </a:p>
        </p:txBody>
      </p:sp>
      <p:sp>
        <p:nvSpPr>
          <p:cNvPr id="3" name="Date Placeholder 2">
            <a:extLst>
              <a:ext uri="{FF2B5EF4-FFF2-40B4-BE49-F238E27FC236}">
                <a16:creationId xmlns:a16="http://schemas.microsoft.com/office/drawing/2014/main" id="{338B5E25-7826-B5A7-4A34-B2CE47EE647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8D8127D9-7C32-9D04-AF34-BD9E719DCEC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3" name="Isosceles Triangle 12">
            <a:extLst>
              <a:ext uri="{FF2B5EF4-FFF2-40B4-BE49-F238E27FC236}">
                <a16:creationId xmlns:a16="http://schemas.microsoft.com/office/drawing/2014/main" id="{A745B7C0-B4ED-7868-6D2B-B93B1222D828}"/>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Gelijkbenige driehoek 8">
            <a:extLst>
              <a:ext uri="{FF2B5EF4-FFF2-40B4-BE49-F238E27FC236}">
                <a16:creationId xmlns:a16="http://schemas.microsoft.com/office/drawing/2014/main" id="{20D7910A-CA69-352C-C0A0-AD34F213C5C4}"/>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9">
            <a:extLst>
              <a:ext uri="{FF2B5EF4-FFF2-40B4-BE49-F238E27FC236}">
                <a16:creationId xmlns:a16="http://schemas.microsoft.com/office/drawing/2014/main" id="{94D739A9-7834-D8E3-74F4-F6E5D7D817C0}"/>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Gelijkbenige driehoek 10">
            <a:extLst>
              <a:ext uri="{FF2B5EF4-FFF2-40B4-BE49-F238E27FC236}">
                <a16:creationId xmlns:a16="http://schemas.microsoft.com/office/drawing/2014/main" id="{8ABE94A3-2E77-6ECC-557A-F968E3838BA6}"/>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Gelijkbenige driehoek 12">
            <a:extLst>
              <a:ext uri="{FF2B5EF4-FFF2-40B4-BE49-F238E27FC236}">
                <a16:creationId xmlns:a16="http://schemas.microsoft.com/office/drawing/2014/main" id="{B23CDEA1-1E9C-3004-F0F1-27FC003FBE83}"/>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6307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15. Blank">
    <p:spTree>
      <p:nvGrpSpPr>
        <p:cNvPr id="1" name=""/>
        <p:cNvGrpSpPr/>
        <p:nvPr/>
      </p:nvGrpSpPr>
      <p:grpSpPr>
        <a:xfrm>
          <a:off x="0" y="0"/>
          <a:ext cx="0" cy="0"/>
          <a:chOff x="0" y="0"/>
          <a:chExt cx="0" cy="0"/>
        </a:xfrm>
      </p:grpSpPr>
      <p:grpSp>
        <p:nvGrpSpPr>
          <p:cNvPr id="2" name="Group 24">
            <a:extLst>
              <a:ext uri="{FF2B5EF4-FFF2-40B4-BE49-F238E27FC236}">
                <a16:creationId xmlns:a16="http://schemas.microsoft.com/office/drawing/2014/main" id="{8DE9834F-07F0-E6F3-9C96-66BF722DAA81}"/>
              </a:ext>
            </a:extLst>
          </p:cNvPr>
          <p:cNvGrpSpPr/>
          <p:nvPr/>
        </p:nvGrpSpPr>
        <p:grpSpPr>
          <a:xfrm>
            <a:off x="-2553084" y="10"/>
            <a:ext cx="2344127" cy="6707671"/>
            <a:chOff x="-2238935" y="9"/>
            <a:chExt cx="2055690" cy="5880081"/>
          </a:xfrm>
        </p:grpSpPr>
        <p:grpSp>
          <p:nvGrpSpPr>
            <p:cNvPr id="3" name="Group 25">
              <a:extLst>
                <a:ext uri="{FF2B5EF4-FFF2-40B4-BE49-F238E27FC236}">
                  <a16:creationId xmlns:a16="http://schemas.microsoft.com/office/drawing/2014/main" id="{C2F69491-7DF8-125D-79F0-2B715B058C13}"/>
                </a:ext>
              </a:extLst>
            </p:cNvPr>
            <p:cNvGrpSpPr/>
            <p:nvPr/>
          </p:nvGrpSpPr>
          <p:grpSpPr>
            <a:xfrm>
              <a:off x="-1695306" y="649873"/>
              <a:ext cx="1489236" cy="5230217"/>
              <a:chOff x="-1695306" y="649873"/>
              <a:chExt cx="1489236" cy="5230217"/>
            </a:xfrm>
          </p:grpSpPr>
          <p:sp>
            <p:nvSpPr>
              <p:cNvPr id="4" name="Oval 27">
                <a:extLst>
                  <a:ext uri="{FF2B5EF4-FFF2-40B4-BE49-F238E27FC236}">
                    <a16:creationId xmlns:a16="http://schemas.microsoft.com/office/drawing/2014/main" id="{7F5C951E-16D5-2197-D85C-4B8C1B25702A}"/>
                  </a:ext>
                </a:extLst>
              </p:cNvPr>
              <p:cNvSpPr/>
              <p:nvPr/>
            </p:nvSpPr>
            <p:spPr>
              <a:xfrm>
                <a:off x="-647706" y="5510494"/>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B1C33"/>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5" name="Oval 28">
                <a:extLst>
                  <a:ext uri="{FF2B5EF4-FFF2-40B4-BE49-F238E27FC236}">
                    <a16:creationId xmlns:a16="http://schemas.microsoft.com/office/drawing/2014/main" id="{7FDE4D4C-C7C4-C883-28BC-6C3C75A380FE}"/>
                  </a:ext>
                </a:extLst>
              </p:cNvPr>
              <p:cNvSpPr/>
              <p:nvPr/>
            </p:nvSpPr>
            <p:spPr>
              <a:xfrm>
                <a:off x="-647706" y="1018723"/>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CE0E2D"/>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6" name="Oval 29">
                <a:extLst>
                  <a:ext uri="{FF2B5EF4-FFF2-40B4-BE49-F238E27FC236}">
                    <a16:creationId xmlns:a16="http://schemas.microsoft.com/office/drawing/2014/main" id="{A92740FC-A694-A847-548C-F77108AEF932}"/>
                  </a:ext>
                </a:extLst>
              </p:cNvPr>
              <p:cNvSpPr/>
              <p:nvPr/>
            </p:nvSpPr>
            <p:spPr>
              <a:xfrm>
                <a:off x="-647706" y="2035289"/>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7254C"/>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7" name="Oval 30">
                <a:extLst>
                  <a:ext uri="{FF2B5EF4-FFF2-40B4-BE49-F238E27FC236}">
                    <a16:creationId xmlns:a16="http://schemas.microsoft.com/office/drawing/2014/main" id="{B23A8A7D-D7FC-67E1-5FDD-58B78CBD60BE}"/>
                  </a:ext>
                </a:extLst>
              </p:cNvPr>
              <p:cNvSpPr/>
              <p:nvPr/>
            </p:nvSpPr>
            <p:spPr>
              <a:xfrm>
                <a:off x="-647706" y="2636398"/>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B4D4E"/>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8" name="Oval 31">
                <a:extLst>
                  <a:ext uri="{FF2B5EF4-FFF2-40B4-BE49-F238E27FC236}">
                    <a16:creationId xmlns:a16="http://schemas.microsoft.com/office/drawing/2014/main" id="{0BAE6E7A-1398-B516-07B8-D6AA18EF75A5}"/>
                  </a:ext>
                </a:extLst>
              </p:cNvPr>
              <p:cNvSpPr/>
              <p:nvPr/>
            </p:nvSpPr>
            <p:spPr>
              <a:xfrm>
                <a:off x="-647706" y="3237506"/>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7A5A4"/>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9" name="Oval 32">
                <a:extLst>
                  <a:ext uri="{FF2B5EF4-FFF2-40B4-BE49-F238E27FC236}">
                    <a16:creationId xmlns:a16="http://schemas.microsoft.com/office/drawing/2014/main" id="{1B83DDDE-439B-A1D5-6C7B-ABFBCDDBA548}"/>
                  </a:ext>
                </a:extLst>
              </p:cNvPr>
              <p:cNvSpPr/>
              <p:nvPr/>
            </p:nvSpPr>
            <p:spPr>
              <a:xfrm>
                <a:off x="-647706" y="3838614"/>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8E8EA"/>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10" name="Oval 33">
                <a:extLst>
                  <a:ext uri="{FF2B5EF4-FFF2-40B4-BE49-F238E27FC236}">
                    <a16:creationId xmlns:a16="http://schemas.microsoft.com/office/drawing/2014/main" id="{7F74CC76-462A-662C-95F7-3F7AF4D468E4}"/>
                  </a:ext>
                </a:extLst>
              </p:cNvPr>
              <p:cNvSpPr/>
              <p:nvPr/>
            </p:nvSpPr>
            <p:spPr>
              <a:xfrm>
                <a:off x="-647706" y="4439732"/>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2701" cap="flat">
                <a:solidFill>
                  <a:srgbClr val="A7A5A4"/>
                </a:solidFill>
                <a:prstDash val="solid"/>
                <a:miter/>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11" name="TextBox 34">
                <a:extLst>
                  <a:ext uri="{FF2B5EF4-FFF2-40B4-BE49-F238E27FC236}">
                    <a16:creationId xmlns:a16="http://schemas.microsoft.com/office/drawing/2014/main" id="{2629D3F4-3637-52C8-7CF6-AD66C465F656}"/>
                  </a:ext>
                </a:extLst>
              </p:cNvPr>
              <p:cNvSpPr txBox="1"/>
              <p:nvPr/>
            </p:nvSpPr>
            <p:spPr>
              <a:xfrm>
                <a:off x="-1695306" y="1006214"/>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Red</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206 – 14 - 45</a:t>
                </a:r>
              </a:p>
            </p:txBody>
          </p:sp>
          <p:sp>
            <p:nvSpPr>
              <p:cNvPr id="12" name="TextBox 35">
                <a:extLst>
                  <a:ext uri="{FF2B5EF4-FFF2-40B4-BE49-F238E27FC236}">
                    <a16:creationId xmlns:a16="http://schemas.microsoft.com/office/drawing/2014/main" id="{FC31776D-ADAE-CC63-318F-36B7C2027386}"/>
                  </a:ext>
                </a:extLst>
              </p:cNvPr>
              <p:cNvSpPr txBox="1"/>
              <p:nvPr/>
            </p:nvSpPr>
            <p:spPr>
              <a:xfrm>
                <a:off x="-1681371" y="5430530"/>
                <a:ext cx="1027063" cy="449560"/>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Writers blue</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27 – 28 – 51</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For text use only</a:t>
                </a:r>
              </a:p>
            </p:txBody>
          </p:sp>
          <p:sp>
            <p:nvSpPr>
              <p:cNvPr id="13" name="TextBox 36">
                <a:extLst>
                  <a:ext uri="{FF2B5EF4-FFF2-40B4-BE49-F238E27FC236}">
                    <a16:creationId xmlns:a16="http://schemas.microsoft.com/office/drawing/2014/main" id="{7B60C39E-1D90-5425-6555-19243DD0B782}"/>
                  </a:ext>
                </a:extLst>
              </p:cNvPr>
              <p:cNvSpPr txBox="1"/>
              <p:nvPr/>
            </p:nvSpPr>
            <p:spPr>
              <a:xfrm>
                <a:off x="-1681371" y="2022789"/>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Blue</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39 – 37 - 76</a:t>
                </a:r>
              </a:p>
            </p:txBody>
          </p:sp>
          <p:sp>
            <p:nvSpPr>
              <p:cNvPr id="14" name="TextBox 37">
                <a:extLst>
                  <a:ext uri="{FF2B5EF4-FFF2-40B4-BE49-F238E27FC236}">
                    <a16:creationId xmlns:a16="http://schemas.microsoft.com/office/drawing/2014/main" id="{FA8AB957-B050-4643-BAD2-C2A7E99A6F66}"/>
                  </a:ext>
                </a:extLst>
              </p:cNvPr>
              <p:cNvSpPr txBox="1"/>
              <p:nvPr/>
            </p:nvSpPr>
            <p:spPr>
              <a:xfrm>
                <a:off x="-1681371" y="2623898"/>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Dark 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75 – 77 - 78</a:t>
                </a:r>
              </a:p>
            </p:txBody>
          </p:sp>
          <p:sp>
            <p:nvSpPr>
              <p:cNvPr id="15" name="TextBox 38">
                <a:extLst>
                  <a:ext uri="{FF2B5EF4-FFF2-40B4-BE49-F238E27FC236}">
                    <a16:creationId xmlns:a16="http://schemas.microsoft.com/office/drawing/2014/main" id="{C437C8F3-A5A9-72CA-76E1-634A0FE7AA1B}"/>
                  </a:ext>
                </a:extLst>
              </p:cNvPr>
              <p:cNvSpPr txBox="1"/>
              <p:nvPr/>
            </p:nvSpPr>
            <p:spPr>
              <a:xfrm>
                <a:off x="-1518068" y="3225006"/>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167 – 165 - 164</a:t>
                </a:r>
              </a:p>
            </p:txBody>
          </p:sp>
          <p:sp>
            <p:nvSpPr>
              <p:cNvPr id="16" name="TextBox 39">
                <a:extLst>
                  <a:ext uri="{FF2B5EF4-FFF2-40B4-BE49-F238E27FC236}">
                    <a16:creationId xmlns:a16="http://schemas.microsoft.com/office/drawing/2014/main" id="{C5404D83-B41E-080B-1F23-1891E1CC06AA}"/>
                  </a:ext>
                </a:extLst>
              </p:cNvPr>
              <p:cNvSpPr txBox="1"/>
              <p:nvPr/>
            </p:nvSpPr>
            <p:spPr>
              <a:xfrm>
                <a:off x="-1518068" y="3826114"/>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Light 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232 – 232 - 234</a:t>
                </a:r>
              </a:p>
            </p:txBody>
          </p:sp>
          <p:sp>
            <p:nvSpPr>
              <p:cNvPr id="17" name="TextBox 40">
                <a:extLst>
                  <a:ext uri="{FF2B5EF4-FFF2-40B4-BE49-F238E27FC236}">
                    <a16:creationId xmlns:a16="http://schemas.microsoft.com/office/drawing/2014/main" id="{A289D9EB-A0F8-AD0D-2974-E14EFACC77B7}"/>
                  </a:ext>
                </a:extLst>
              </p:cNvPr>
              <p:cNvSpPr txBox="1"/>
              <p:nvPr/>
            </p:nvSpPr>
            <p:spPr>
              <a:xfrm>
                <a:off x="-1247077" y="1700838"/>
                <a:ext cx="1041007" cy="203814"/>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CE0E2D"/>
                    </a:solidFill>
                    <a:uFillTx/>
                    <a:latin typeface="HelveticaNowDisplay Bold" pitchFamily="34"/>
                    <a:cs typeface="HelveticaNowDisplay Bold" pitchFamily="34"/>
                  </a:rPr>
                  <a:t>Secondary colors</a:t>
                </a:r>
                <a:endParaRPr lang="nl-NL" sz="911" b="0" i="0" u="none" strike="noStrike" kern="1200" cap="none" spc="0" baseline="0">
                  <a:solidFill>
                    <a:srgbClr val="CE0E2D"/>
                  </a:solidFill>
                  <a:uFillTx/>
                  <a:latin typeface="HelveticaNowDisplay Light" pitchFamily="34"/>
                  <a:cs typeface="HelveticaNowDisplay Light" pitchFamily="34"/>
                </a:endParaRPr>
              </a:p>
            </p:txBody>
          </p:sp>
          <p:sp>
            <p:nvSpPr>
              <p:cNvPr id="18" name="TextBox 41">
                <a:extLst>
                  <a:ext uri="{FF2B5EF4-FFF2-40B4-BE49-F238E27FC236}">
                    <a16:creationId xmlns:a16="http://schemas.microsoft.com/office/drawing/2014/main" id="{941138A4-1791-CFFB-DF2A-99BA241D95B4}"/>
                  </a:ext>
                </a:extLst>
              </p:cNvPr>
              <p:cNvSpPr txBox="1"/>
              <p:nvPr/>
            </p:nvSpPr>
            <p:spPr>
              <a:xfrm>
                <a:off x="-1247077" y="649873"/>
                <a:ext cx="1041007" cy="203814"/>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CE0E2D"/>
                    </a:solidFill>
                    <a:uFillTx/>
                    <a:latin typeface="HelveticaNowDisplay Bold" pitchFamily="34"/>
                    <a:cs typeface="HelveticaNowDisplay Bold" pitchFamily="34"/>
                  </a:rPr>
                  <a:t>Primary color</a:t>
                </a:r>
                <a:endParaRPr lang="nl-NL" sz="911" b="0" i="0" u="none" strike="noStrike" kern="1200" cap="none" spc="0" baseline="0">
                  <a:solidFill>
                    <a:srgbClr val="CE0E2D"/>
                  </a:solidFill>
                  <a:uFillTx/>
                  <a:latin typeface="HelveticaNowDisplay Light" pitchFamily="34"/>
                  <a:cs typeface="HelveticaNowDisplay Light" pitchFamily="34"/>
                </a:endParaRPr>
              </a:p>
            </p:txBody>
          </p:sp>
          <p:sp>
            <p:nvSpPr>
              <p:cNvPr id="19" name="TextBox 42">
                <a:extLst>
                  <a:ext uri="{FF2B5EF4-FFF2-40B4-BE49-F238E27FC236}">
                    <a16:creationId xmlns:a16="http://schemas.microsoft.com/office/drawing/2014/main" id="{EF07DE83-40EA-6EBC-929C-C6AEF125D553}"/>
                  </a:ext>
                </a:extLst>
              </p:cNvPr>
              <p:cNvSpPr txBox="1"/>
              <p:nvPr/>
            </p:nvSpPr>
            <p:spPr>
              <a:xfrm>
                <a:off x="-1518068" y="4427223"/>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White</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255 – 255 - 255</a:t>
                </a:r>
              </a:p>
            </p:txBody>
          </p:sp>
        </p:grpSp>
        <p:sp>
          <p:nvSpPr>
            <p:cNvPr id="20" name="Rectangle: Rounded Corners 26">
              <a:extLst>
                <a:ext uri="{FF2B5EF4-FFF2-40B4-BE49-F238E27FC236}">
                  <a16:creationId xmlns:a16="http://schemas.microsoft.com/office/drawing/2014/main" id="{06960060-E2F2-25E7-58B1-F235F07E079C}"/>
                </a:ext>
              </a:extLst>
            </p:cNvPr>
            <p:cNvSpPr/>
            <p:nvPr/>
          </p:nvSpPr>
          <p:spPr>
            <a:xfrm>
              <a:off x="-2238935" y="9"/>
              <a:ext cx="2055690" cy="500021"/>
            </a:xfrm>
            <a:custGeom>
              <a:avLst>
                <a:gd name="f0" fmla="val 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noFill/>
            <a:ln cap="flat">
              <a:noFill/>
              <a:prstDash val="solid"/>
            </a:ln>
          </p:spPr>
          <p:txBody>
            <a:bodyPr vert="horz" wrap="square" lIns="179999" tIns="179999" rIns="91440" bIns="45720" anchor="t" anchorCtr="0" compatLnSpc="1">
              <a:no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367" b="0" i="0" u="none" strike="noStrike" kern="1200" cap="none" spc="0" baseline="0">
                  <a:solidFill>
                    <a:srgbClr val="CE0E2D"/>
                  </a:solidFill>
                  <a:uFillTx/>
                  <a:latin typeface="HelveticaNowDisplay ExtraBold" pitchFamily="34"/>
                  <a:cs typeface="HelveticaNowDisplay ExtraBold" pitchFamily="34"/>
                </a:rPr>
                <a:t>Style guide </a:t>
              </a:r>
              <a:br>
                <a:rPr lang="en-GB" sz="1367" b="0" i="0" u="none" strike="noStrike" kern="1200" cap="none" spc="0" baseline="0">
                  <a:solidFill>
                    <a:srgbClr val="CE0E2D"/>
                  </a:solidFill>
                  <a:uFillTx/>
                  <a:latin typeface="HelveticaNowDisplay ExtraBold" pitchFamily="34"/>
                  <a:cs typeface="HelveticaNowDisplay ExtraBold" pitchFamily="34"/>
                </a:rPr>
              </a:br>
              <a:r>
                <a:rPr lang="en-GB" sz="1367" b="0" i="0" u="none" strike="noStrike" kern="1200" cap="none" spc="0" baseline="0">
                  <a:solidFill>
                    <a:srgbClr val="CE0E2D"/>
                  </a:solidFill>
                  <a:uFillTx/>
                  <a:latin typeface="HelveticaNowDisplay ExtraBold" pitchFamily="34"/>
                  <a:cs typeface="HelveticaNowDisplay ExtraBold" pitchFamily="34"/>
                </a:rPr>
                <a:t>RGB colors</a:t>
              </a:r>
            </a:p>
          </p:txBody>
        </p:sp>
      </p:grpSp>
    </p:spTree>
    <p:extLst>
      <p:ext uri="{BB962C8B-B14F-4D97-AF65-F5344CB8AC3E}">
        <p14:creationId xmlns:p14="http://schemas.microsoft.com/office/powerpoint/2010/main" val="26754238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gular">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261351"/>
          </a:xfrm>
        </p:spPr>
        <p:txBody>
          <a:bodyPr vert="horz">
            <a:normAutofit/>
          </a:bodyPr>
          <a:lstStyle>
            <a:lvl1pPr algn="l">
              <a:defRPr sz="3600" b="1">
                <a:solidFill>
                  <a:srgbClr val="8C95CD"/>
                </a:solidFill>
                <a:latin typeface="+mj-lt"/>
              </a:defRPr>
            </a:lvl1pPr>
          </a:lstStyle>
          <a:p>
            <a:r>
              <a:rPr lang="nl-NL" noProof="0"/>
              <a:t>Titel</a:t>
            </a:r>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87528"/>
            <a:ext cx="11233171" cy="4680000"/>
          </a:xfrm>
          <a:prstGeom prst="rect">
            <a:avLst/>
          </a:prstGeom>
        </p:spPr>
        <p:txBody>
          <a:bodyPr vert="horz" lIns="91440" tIns="45720" rIns="91440" bIns="45720" rtlCol="0">
            <a:normAutofit/>
          </a:body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a:p>
            <a:pPr lvl="1"/>
            <a:r>
              <a:rPr lang="nl-NL" noProof="0"/>
              <a:t>Second level</a:t>
            </a:r>
          </a:p>
          <a:p>
            <a:pPr lvl="2"/>
            <a:r>
              <a:rPr lang="nl-NL" noProof="0" err="1"/>
              <a:t>Third</a:t>
            </a:r>
            <a:r>
              <a:rPr lang="nl-NL" noProof="0"/>
              <a:t> level</a:t>
            </a:r>
          </a:p>
          <a:p>
            <a:pPr lvl="3"/>
            <a:r>
              <a:rPr lang="nl-NL" noProof="0" err="1"/>
              <a:t>Fourth</a:t>
            </a:r>
            <a:r>
              <a:rPr lang="nl-NL" noProof="0"/>
              <a:t>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spTree>
    <p:extLst>
      <p:ext uri="{BB962C8B-B14F-4D97-AF65-F5344CB8AC3E}">
        <p14:creationId xmlns:p14="http://schemas.microsoft.com/office/powerpoint/2010/main" val="22988635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1756610"/>
            <a:ext cx="12192000" cy="3205213"/>
          </a:xfrm>
          <a:prstGeom prst="rect">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3" name="Date Placeholder 2">
            <a:extLst>
              <a:ext uri="{FF2B5EF4-FFF2-40B4-BE49-F238E27FC236}">
                <a16:creationId xmlns:a16="http://schemas.microsoft.com/office/drawing/2014/main" id="{08FFA03E-A994-F4E7-DB0A-7C1E122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5" name="Gelijkbenige driehoek 8">
            <a:extLst>
              <a:ext uri="{FF2B5EF4-FFF2-40B4-BE49-F238E27FC236}">
                <a16:creationId xmlns:a16="http://schemas.microsoft.com/office/drawing/2014/main" id="{00D39168-DAC1-5467-6143-B32BEDEBD8D5}"/>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9">
            <a:extLst>
              <a:ext uri="{FF2B5EF4-FFF2-40B4-BE49-F238E27FC236}">
                <a16:creationId xmlns:a16="http://schemas.microsoft.com/office/drawing/2014/main" id="{949B08FF-027C-360E-33B4-21354728194F}"/>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Gelijkbenige driehoek 10">
            <a:extLst>
              <a:ext uri="{FF2B5EF4-FFF2-40B4-BE49-F238E27FC236}">
                <a16:creationId xmlns:a16="http://schemas.microsoft.com/office/drawing/2014/main" id="{BDE16A69-9171-4392-9D95-27F5D2B8CEA0}"/>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12">
            <a:extLst>
              <a:ext uri="{FF2B5EF4-FFF2-40B4-BE49-F238E27FC236}">
                <a16:creationId xmlns:a16="http://schemas.microsoft.com/office/drawing/2014/main" id="{02954895-F7BD-AAEE-EC5D-7EFFF922D1ED}"/>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lstStyle>
            <a:lvl1pPr>
              <a:defRPr b="1">
                <a:solidFill>
                  <a:schemeClr val="bg1"/>
                </a:solidFill>
                <a:latin typeface="+mj-lt"/>
              </a:defRPr>
            </a:lvl1pPr>
          </a:lstStyle>
          <a:p>
            <a:r>
              <a:rPr lang="nl-NL" noProof="0"/>
              <a:t>Titel</a:t>
            </a:r>
          </a:p>
        </p:txBody>
      </p:sp>
    </p:spTree>
    <p:extLst>
      <p:ext uri="{BB962C8B-B14F-4D97-AF65-F5344CB8AC3E}">
        <p14:creationId xmlns:p14="http://schemas.microsoft.com/office/powerpoint/2010/main" val="2228289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4FE693-8585-4B5F-F274-16D014884F0F}"/>
              </a:ext>
            </a:extLst>
          </p:cNvPr>
          <p:cNvGraphicFramePr>
            <a:graphicFrameLocks noChangeAspect="1"/>
          </p:cNvGraphicFramePr>
          <p:nvPr userDrawn="1">
            <p:custDataLst>
              <p:tags r:id="rId1"/>
            </p:custDataLst>
            <p:extLst>
              <p:ext uri="{D42A27DB-BD31-4B8C-83A1-F6EECF244321}">
                <p14:modId xmlns:p14="http://schemas.microsoft.com/office/powerpoint/2010/main" val="2778108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D4FE693-8585-4B5F-F274-16D014884F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C88D6E93-8838-2012-8C9A-A0293C67C217}"/>
              </a:ext>
            </a:extLst>
          </p:cNvPr>
          <p:cNvSpPr/>
          <p:nvPr userDrawn="1"/>
        </p:nvSpPr>
        <p:spPr>
          <a:xfrm>
            <a:off x="0" y="0"/>
            <a:ext cx="6096000" cy="6858000"/>
          </a:xfrm>
          <a:prstGeom prst="rect">
            <a:avLst/>
          </a:prstGeom>
          <a:solidFill>
            <a:srgbClr val="8C95CD"/>
          </a:solidFill>
          <a:ln>
            <a:solidFill>
              <a:srgbClr val="8C95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90137709-92CC-1047-27E8-FA7D5C7581F1}"/>
              </a:ext>
            </a:extLst>
          </p:cNvPr>
          <p:cNvSpPr>
            <a:spLocks noGrp="1"/>
          </p:cNvSpPr>
          <p:nvPr>
            <p:ph type="title"/>
          </p:nvPr>
        </p:nvSpPr>
        <p:spPr>
          <a:xfrm>
            <a:off x="838200" y="136525"/>
            <a:ext cx="4786423" cy="1261351"/>
          </a:xfrm>
        </p:spPr>
        <p:txBody>
          <a:bodyPr vert="horz">
            <a:normAutofit/>
          </a:bodyPr>
          <a:lstStyle>
            <a:lvl1pPr>
              <a:defRPr sz="3600" b="1">
                <a:solidFill>
                  <a:schemeClr val="bg1"/>
                </a:solidFill>
                <a:latin typeface="+mj-lt"/>
              </a:defRPr>
            </a:lvl1pPr>
          </a:lstStyle>
          <a:p>
            <a:r>
              <a:rPr lang="en-US"/>
              <a:t>Click to edit Master title style</a:t>
            </a:r>
            <a:endParaRPr lang="nl-NL"/>
          </a:p>
        </p:txBody>
      </p:sp>
      <p:sp>
        <p:nvSpPr>
          <p:cNvPr id="3" name="Date Placeholder 2">
            <a:extLst>
              <a:ext uri="{FF2B5EF4-FFF2-40B4-BE49-F238E27FC236}">
                <a16:creationId xmlns:a16="http://schemas.microsoft.com/office/drawing/2014/main" id="{338B5E25-7826-B5A7-4A34-B2CE47EE647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4" name="Slide Number Placeholder 3">
            <a:extLst>
              <a:ext uri="{FF2B5EF4-FFF2-40B4-BE49-F238E27FC236}">
                <a16:creationId xmlns:a16="http://schemas.microsoft.com/office/drawing/2014/main" id="{8D8127D9-7C32-9D04-AF34-BD9E719DCEC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3" name="Isosceles Triangle 12">
            <a:extLst>
              <a:ext uri="{FF2B5EF4-FFF2-40B4-BE49-F238E27FC236}">
                <a16:creationId xmlns:a16="http://schemas.microsoft.com/office/drawing/2014/main" id="{A745B7C0-B4ED-7868-6D2B-B93B1222D828}"/>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Gelijkbenige driehoek 8">
            <a:extLst>
              <a:ext uri="{FF2B5EF4-FFF2-40B4-BE49-F238E27FC236}">
                <a16:creationId xmlns:a16="http://schemas.microsoft.com/office/drawing/2014/main" id="{20D7910A-CA69-352C-C0A0-AD34F213C5C4}"/>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9">
            <a:extLst>
              <a:ext uri="{FF2B5EF4-FFF2-40B4-BE49-F238E27FC236}">
                <a16:creationId xmlns:a16="http://schemas.microsoft.com/office/drawing/2014/main" id="{94D739A9-7834-D8E3-74F4-F6E5D7D817C0}"/>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Gelijkbenige driehoek 10">
            <a:extLst>
              <a:ext uri="{FF2B5EF4-FFF2-40B4-BE49-F238E27FC236}">
                <a16:creationId xmlns:a16="http://schemas.microsoft.com/office/drawing/2014/main" id="{8ABE94A3-2E77-6ECC-557A-F968E3838BA6}"/>
              </a:ext>
            </a:extLst>
          </p:cNvPr>
          <p:cNvSpPr/>
          <p:nvPr userDrawn="1"/>
        </p:nvSpPr>
        <p:spPr>
          <a:xfrm rot="16486328">
            <a:off x="9416035" y="655165"/>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Gelijkbenige driehoek 12">
            <a:extLst>
              <a:ext uri="{FF2B5EF4-FFF2-40B4-BE49-F238E27FC236}">
                <a16:creationId xmlns:a16="http://schemas.microsoft.com/office/drawing/2014/main" id="{B23CDEA1-1E9C-3004-F0F1-27FC003FBE83}"/>
              </a:ext>
            </a:extLst>
          </p:cNvPr>
          <p:cNvSpPr/>
          <p:nvPr userDrawn="1"/>
        </p:nvSpPr>
        <p:spPr>
          <a:xfrm rot="15162444">
            <a:off x="11766763" y="1890382"/>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0262357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15. Blank">
    <p:spTree>
      <p:nvGrpSpPr>
        <p:cNvPr id="1" name=""/>
        <p:cNvGrpSpPr/>
        <p:nvPr/>
      </p:nvGrpSpPr>
      <p:grpSpPr>
        <a:xfrm>
          <a:off x="0" y="0"/>
          <a:ext cx="0" cy="0"/>
          <a:chOff x="0" y="0"/>
          <a:chExt cx="0" cy="0"/>
        </a:xfrm>
      </p:grpSpPr>
      <p:grpSp>
        <p:nvGrpSpPr>
          <p:cNvPr id="2" name="Group 24">
            <a:extLst>
              <a:ext uri="{FF2B5EF4-FFF2-40B4-BE49-F238E27FC236}">
                <a16:creationId xmlns:a16="http://schemas.microsoft.com/office/drawing/2014/main" id="{8DE9834F-07F0-E6F3-9C96-66BF722DAA81}"/>
              </a:ext>
            </a:extLst>
          </p:cNvPr>
          <p:cNvGrpSpPr/>
          <p:nvPr/>
        </p:nvGrpSpPr>
        <p:grpSpPr>
          <a:xfrm>
            <a:off x="-2553084" y="10"/>
            <a:ext cx="2344127" cy="6707671"/>
            <a:chOff x="-2238935" y="9"/>
            <a:chExt cx="2055690" cy="5880081"/>
          </a:xfrm>
        </p:grpSpPr>
        <p:grpSp>
          <p:nvGrpSpPr>
            <p:cNvPr id="3" name="Group 25">
              <a:extLst>
                <a:ext uri="{FF2B5EF4-FFF2-40B4-BE49-F238E27FC236}">
                  <a16:creationId xmlns:a16="http://schemas.microsoft.com/office/drawing/2014/main" id="{C2F69491-7DF8-125D-79F0-2B715B058C13}"/>
                </a:ext>
              </a:extLst>
            </p:cNvPr>
            <p:cNvGrpSpPr/>
            <p:nvPr/>
          </p:nvGrpSpPr>
          <p:grpSpPr>
            <a:xfrm>
              <a:off x="-1695306" y="649873"/>
              <a:ext cx="1489236" cy="5230217"/>
              <a:chOff x="-1695306" y="649873"/>
              <a:chExt cx="1489236" cy="5230217"/>
            </a:xfrm>
          </p:grpSpPr>
          <p:sp>
            <p:nvSpPr>
              <p:cNvPr id="4" name="Oval 27">
                <a:extLst>
                  <a:ext uri="{FF2B5EF4-FFF2-40B4-BE49-F238E27FC236}">
                    <a16:creationId xmlns:a16="http://schemas.microsoft.com/office/drawing/2014/main" id="{7F5C951E-16D5-2197-D85C-4B8C1B25702A}"/>
                  </a:ext>
                </a:extLst>
              </p:cNvPr>
              <p:cNvSpPr/>
              <p:nvPr/>
            </p:nvSpPr>
            <p:spPr>
              <a:xfrm>
                <a:off x="-647706" y="5510494"/>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1B1C33"/>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5" name="Oval 28">
                <a:extLst>
                  <a:ext uri="{FF2B5EF4-FFF2-40B4-BE49-F238E27FC236}">
                    <a16:creationId xmlns:a16="http://schemas.microsoft.com/office/drawing/2014/main" id="{7FDE4D4C-C7C4-C883-28BC-6C3C75A380FE}"/>
                  </a:ext>
                </a:extLst>
              </p:cNvPr>
              <p:cNvSpPr/>
              <p:nvPr/>
            </p:nvSpPr>
            <p:spPr>
              <a:xfrm>
                <a:off x="-647706" y="1018723"/>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CE0E2D"/>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6" name="Oval 29">
                <a:extLst>
                  <a:ext uri="{FF2B5EF4-FFF2-40B4-BE49-F238E27FC236}">
                    <a16:creationId xmlns:a16="http://schemas.microsoft.com/office/drawing/2014/main" id="{A92740FC-A694-A847-548C-F77108AEF932}"/>
                  </a:ext>
                </a:extLst>
              </p:cNvPr>
              <p:cNvSpPr/>
              <p:nvPr/>
            </p:nvSpPr>
            <p:spPr>
              <a:xfrm>
                <a:off x="-647706" y="2035289"/>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27254C"/>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7" name="Oval 30">
                <a:extLst>
                  <a:ext uri="{FF2B5EF4-FFF2-40B4-BE49-F238E27FC236}">
                    <a16:creationId xmlns:a16="http://schemas.microsoft.com/office/drawing/2014/main" id="{B23A8A7D-D7FC-67E1-5FDD-58B78CBD60BE}"/>
                  </a:ext>
                </a:extLst>
              </p:cNvPr>
              <p:cNvSpPr/>
              <p:nvPr/>
            </p:nvSpPr>
            <p:spPr>
              <a:xfrm>
                <a:off x="-647706" y="2636398"/>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4B4D4E"/>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8" name="Oval 31">
                <a:extLst>
                  <a:ext uri="{FF2B5EF4-FFF2-40B4-BE49-F238E27FC236}">
                    <a16:creationId xmlns:a16="http://schemas.microsoft.com/office/drawing/2014/main" id="{0BAE6E7A-1398-B516-07B8-D6AA18EF75A5}"/>
                  </a:ext>
                </a:extLst>
              </p:cNvPr>
              <p:cNvSpPr/>
              <p:nvPr/>
            </p:nvSpPr>
            <p:spPr>
              <a:xfrm>
                <a:off x="-647706" y="3237506"/>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7A5A4"/>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9" name="Oval 32">
                <a:extLst>
                  <a:ext uri="{FF2B5EF4-FFF2-40B4-BE49-F238E27FC236}">
                    <a16:creationId xmlns:a16="http://schemas.microsoft.com/office/drawing/2014/main" id="{1B83DDDE-439B-A1D5-6C7B-ABFBCDDBA548}"/>
                  </a:ext>
                </a:extLst>
              </p:cNvPr>
              <p:cNvSpPr/>
              <p:nvPr/>
            </p:nvSpPr>
            <p:spPr>
              <a:xfrm>
                <a:off x="-647706" y="3838614"/>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8E8EA"/>
              </a:solidFill>
              <a:ln cap="flat">
                <a:noFill/>
                <a:prstDash val="solid"/>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10" name="Oval 33">
                <a:extLst>
                  <a:ext uri="{FF2B5EF4-FFF2-40B4-BE49-F238E27FC236}">
                    <a16:creationId xmlns:a16="http://schemas.microsoft.com/office/drawing/2014/main" id="{7F74CC76-462A-662C-95F7-3F7AF4D468E4}"/>
                  </a:ext>
                </a:extLst>
              </p:cNvPr>
              <p:cNvSpPr/>
              <p:nvPr/>
            </p:nvSpPr>
            <p:spPr>
              <a:xfrm>
                <a:off x="-647706" y="4439732"/>
                <a:ext cx="313547" cy="31354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FFFFFF"/>
              </a:solidFill>
              <a:ln w="12701" cap="flat">
                <a:solidFill>
                  <a:srgbClr val="A7A5A4"/>
                </a:solidFill>
                <a:prstDash val="solid"/>
                <a:miter/>
              </a:ln>
            </p:spPr>
            <p:txBody>
              <a:bodyPr vert="horz" wrap="square" lIns="91440" tIns="45720" rIns="91440" bIns="45720" anchor="ctr" anchorCtr="1" compatLnSpc="1">
                <a:noAutofit/>
              </a:bodyPr>
              <a:lstStyle/>
              <a:p>
                <a:pPr marL="0" marR="0" lvl="0" indent="0" algn="ct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NL" sz="2053" b="0" i="0" u="none" strike="noStrike" kern="1200" cap="none" spc="0" baseline="0">
                  <a:solidFill>
                    <a:srgbClr val="FFFFFF"/>
                  </a:solidFill>
                  <a:uFillTx/>
                  <a:latin typeface="HelveticaNowDisplay Regular" pitchFamily="34"/>
                </a:endParaRPr>
              </a:p>
            </p:txBody>
          </p:sp>
          <p:sp>
            <p:nvSpPr>
              <p:cNvPr id="11" name="TextBox 34">
                <a:extLst>
                  <a:ext uri="{FF2B5EF4-FFF2-40B4-BE49-F238E27FC236}">
                    <a16:creationId xmlns:a16="http://schemas.microsoft.com/office/drawing/2014/main" id="{2629D3F4-3637-52C8-7CF6-AD66C465F656}"/>
                  </a:ext>
                </a:extLst>
              </p:cNvPr>
              <p:cNvSpPr txBox="1"/>
              <p:nvPr/>
            </p:nvSpPr>
            <p:spPr>
              <a:xfrm>
                <a:off x="-1695306" y="1006214"/>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Red</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206 – 14 - 45</a:t>
                </a:r>
              </a:p>
            </p:txBody>
          </p:sp>
          <p:sp>
            <p:nvSpPr>
              <p:cNvPr id="12" name="TextBox 35">
                <a:extLst>
                  <a:ext uri="{FF2B5EF4-FFF2-40B4-BE49-F238E27FC236}">
                    <a16:creationId xmlns:a16="http://schemas.microsoft.com/office/drawing/2014/main" id="{FC31776D-ADAE-CC63-318F-36B7C2027386}"/>
                  </a:ext>
                </a:extLst>
              </p:cNvPr>
              <p:cNvSpPr txBox="1"/>
              <p:nvPr/>
            </p:nvSpPr>
            <p:spPr>
              <a:xfrm>
                <a:off x="-1681371" y="5430530"/>
                <a:ext cx="1027063" cy="449560"/>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Writers blue</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27 – 28 – 51</a:t>
                </a: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For text use only</a:t>
                </a:r>
              </a:p>
            </p:txBody>
          </p:sp>
          <p:sp>
            <p:nvSpPr>
              <p:cNvPr id="13" name="TextBox 36">
                <a:extLst>
                  <a:ext uri="{FF2B5EF4-FFF2-40B4-BE49-F238E27FC236}">
                    <a16:creationId xmlns:a16="http://schemas.microsoft.com/office/drawing/2014/main" id="{7B60C39E-1D90-5425-6555-19243DD0B782}"/>
                  </a:ext>
                </a:extLst>
              </p:cNvPr>
              <p:cNvSpPr txBox="1"/>
              <p:nvPr/>
            </p:nvSpPr>
            <p:spPr>
              <a:xfrm>
                <a:off x="-1681371" y="2022789"/>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Blue</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39 – 37 - 76</a:t>
                </a:r>
              </a:p>
            </p:txBody>
          </p:sp>
          <p:sp>
            <p:nvSpPr>
              <p:cNvPr id="14" name="TextBox 37">
                <a:extLst>
                  <a:ext uri="{FF2B5EF4-FFF2-40B4-BE49-F238E27FC236}">
                    <a16:creationId xmlns:a16="http://schemas.microsoft.com/office/drawing/2014/main" id="{FA8AB957-B050-4643-BAD2-C2A7E99A6F66}"/>
                  </a:ext>
                </a:extLst>
              </p:cNvPr>
              <p:cNvSpPr txBox="1"/>
              <p:nvPr/>
            </p:nvSpPr>
            <p:spPr>
              <a:xfrm>
                <a:off x="-1681371" y="2623898"/>
                <a:ext cx="1041007"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Dark 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75 – 77 - 78</a:t>
                </a:r>
              </a:p>
            </p:txBody>
          </p:sp>
          <p:sp>
            <p:nvSpPr>
              <p:cNvPr id="15" name="TextBox 38">
                <a:extLst>
                  <a:ext uri="{FF2B5EF4-FFF2-40B4-BE49-F238E27FC236}">
                    <a16:creationId xmlns:a16="http://schemas.microsoft.com/office/drawing/2014/main" id="{C437C8F3-A5A9-72CA-76E1-634A0FE7AA1B}"/>
                  </a:ext>
                </a:extLst>
              </p:cNvPr>
              <p:cNvSpPr txBox="1"/>
              <p:nvPr/>
            </p:nvSpPr>
            <p:spPr>
              <a:xfrm>
                <a:off x="-1518068" y="3225006"/>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167 – 165 - 164</a:t>
                </a:r>
              </a:p>
            </p:txBody>
          </p:sp>
          <p:sp>
            <p:nvSpPr>
              <p:cNvPr id="16" name="TextBox 39">
                <a:extLst>
                  <a:ext uri="{FF2B5EF4-FFF2-40B4-BE49-F238E27FC236}">
                    <a16:creationId xmlns:a16="http://schemas.microsoft.com/office/drawing/2014/main" id="{C5404D83-B41E-080B-1F23-1891E1CC06AA}"/>
                  </a:ext>
                </a:extLst>
              </p:cNvPr>
              <p:cNvSpPr txBox="1"/>
              <p:nvPr/>
            </p:nvSpPr>
            <p:spPr>
              <a:xfrm>
                <a:off x="-1518068" y="3826114"/>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Light grey</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232 – 232 - 234</a:t>
                </a:r>
              </a:p>
            </p:txBody>
          </p:sp>
          <p:sp>
            <p:nvSpPr>
              <p:cNvPr id="17" name="TextBox 40">
                <a:extLst>
                  <a:ext uri="{FF2B5EF4-FFF2-40B4-BE49-F238E27FC236}">
                    <a16:creationId xmlns:a16="http://schemas.microsoft.com/office/drawing/2014/main" id="{A289D9EB-A0F8-AD0D-2974-E14EFACC77B7}"/>
                  </a:ext>
                </a:extLst>
              </p:cNvPr>
              <p:cNvSpPr txBox="1"/>
              <p:nvPr/>
            </p:nvSpPr>
            <p:spPr>
              <a:xfrm>
                <a:off x="-1247077" y="1700838"/>
                <a:ext cx="1041007" cy="203814"/>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CE0E2D"/>
                    </a:solidFill>
                    <a:uFillTx/>
                    <a:latin typeface="HelveticaNowDisplay Bold" pitchFamily="34"/>
                    <a:cs typeface="HelveticaNowDisplay Bold" pitchFamily="34"/>
                  </a:rPr>
                  <a:t>Secondary colors</a:t>
                </a:r>
                <a:endParaRPr lang="nl-NL" sz="911" b="0" i="0" u="none" strike="noStrike" kern="1200" cap="none" spc="0" baseline="0">
                  <a:solidFill>
                    <a:srgbClr val="CE0E2D"/>
                  </a:solidFill>
                  <a:uFillTx/>
                  <a:latin typeface="HelveticaNowDisplay Light" pitchFamily="34"/>
                  <a:cs typeface="HelveticaNowDisplay Light" pitchFamily="34"/>
                </a:endParaRPr>
              </a:p>
            </p:txBody>
          </p:sp>
          <p:sp>
            <p:nvSpPr>
              <p:cNvPr id="18" name="TextBox 41">
                <a:extLst>
                  <a:ext uri="{FF2B5EF4-FFF2-40B4-BE49-F238E27FC236}">
                    <a16:creationId xmlns:a16="http://schemas.microsoft.com/office/drawing/2014/main" id="{941138A4-1791-CFFB-DF2A-99BA241D95B4}"/>
                  </a:ext>
                </a:extLst>
              </p:cNvPr>
              <p:cNvSpPr txBox="1"/>
              <p:nvPr/>
            </p:nvSpPr>
            <p:spPr>
              <a:xfrm>
                <a:off x="-1247077" y="649873"/>
                <a:ext cx="1041007" cy="203814"/>
              </a:xfrm>
              <a:prstGeom prst="rect">
                <a:avLst/>
              </a:prstGeom>
              <a:noFill/>
              <a:ln cap="flat">
                <a:noFill/>
              </a:ln>
            </p:spPr>
            <p:txBody>
              <a:bodyPr vert="horz" wrap="square" lIns="91440" tIns="45720" rIns="91440" bIns="45720" anchor="t" anchorCtr="0" compatLnSpc="1">
                <a:sp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CE0E2D"/>
                    </a:solidFill>
                    <a:uFillTx/>
                    <a:latin typeface="HelveticaNowDisplay Bold" pitchFamily="34"/>
                    <a:cs typeface="HelveticaNowDisplay Bold" pitchFamily="34"/>
                  </a:rPr>
                  <a:t>Primary color</a:t>
                </a:r>
                <a:endParaRPr lang="nl-NL" sz="911" b="0" i="0" u="none" strike="noStrike" kern="1200" cap="none" spc="0" baseline="0">
                  <a:solidFill>
                    <a:srgbClr val="CE0E2D"/>
                  </a:solidFill>
                  <a:uFillTx/>
                  <a:latin typeface="HelveticaNowDisplay Light" pitchFamily="34"/>
                  <a:cs typeface="HelveticaNowDisplay Light" pitchFamily="34"/>
                </a:endParaRPr>
              </a:p>
            </p:txBody>
          </p:sp>
          <p:sp>
            <p:nvSpPr>
              <p:cNvPr id="19" name="TextBox 42">
                <a:extLst>
                  <a:ext uri="{FF2B5EF4-FFF2-40B4-BE49-F238E27FC236}">
                    <a16:creationId xmlns:a16="http://schemas.microsoft.com/office/drawing/2014/main" id="{EF07DE83-40EA-6EBC-929C-C6AEF125D553}"/>
                  </a:ext>
                </a:extLst>
              </p:cNvPr>
              <p:cNvSpPr txBox="1"/>
              <p:nvPr/>
            </p:nvSpPr>
            <p:spPr>
              <a:xfrm>
                <a:off x="-1518068" y="4427223"/>
                <a:ext cx="877705" cy="326687"/>
              </a:xfrm>
              <a:prstGeom prst="rect">
                <a:avLst/>
              </a:prstGeom>
              <a:noFill/>
              <a:ln cap="flat">
                <a:noFill/>
              </a:ln>
            </p:spPr>
            <p:txBody>
              <a:bodyPr vert="horz" wrap="square" lIns="91440" tIns="45720" rIns="91440" bIns="45720" anchor="t" anchorCtr="0" compatLnSpc="1">
                <a:spAutoFit/>
              </a:bodyPr>
              <a:lstStyle/>
              <a:p>
                <a:pPr marL="0" marR="0" lvl="0" indent="0" algn="r" defTabSz="521125"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Bold" pitchFamily="34"/>
                    <a:cs typeface="HelveticaNowDisplay Bold" pitchFamily="34"/>
                  </a:rPr>
                  <a:t>White</a:t>
                </a:r>
                <a:endParaRPr lang="nl-NL" sz="911" b="0" i="0" u="none" strike="noStrike" kern="1200" cap="none" spc="0" baseline="0">
                  <a:solidFill>
                    <a:srgbClr val="1B1C33"/>
                  </a:solidFill>
                  <a:uFillTx/>
                  <a:latin typeface="HelveticaNowDisplay Light" pitchFamily="34"/>
                  <a:cs typeface="HelveticaNowDisplay Light" pitchFamily="34"/>
                </a:endParaRPr>
              </a:p>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nl-NL" sz="911" b="0" i="0" u="none" strike="noStrike" kern="1200" cap="none" spc="0" baseline="0">
                    <a:solidFill>
                      <a:srgbClr val="1B1C33"/>
                    </a:solidFill>
                    <a:uFillTx/>
                    <a:latin typeface="HelveticaNowDisplay Light" pitchFamily="34"/>
                    <a:cs typeface="HelveticaNowDisplay Light" pitchFamily="34"/>
                  </a:rPr>
                  <a:t>255 – 255 - 255</a:t>
                </a:r>
              </a:p>
            </p:txBody>
          </p:sp>
        </p:grpSp>
        <p:sp>
          <p:nvSpPr>
            <p:cNvPr id="20" name="Rectangle: Rounded Corners 26">
              <a:extLst>
                <a:ext uri="{FF2B5EF4-FFF2-40B4-BE49-F238E27FC236}">
                  <a16:creationId xmlns:a16="http://schemas.microsoft.com/office/drawing/2014/main" id="{06960060-E2F2-25E7-58B1-F235F07E079C}"/>
                </a:ext>
              </a:extLst>
            </p:cNvPr>
            <p:cNvSpPr/>
            <p:nvPr/>
          </p:nvSpPr>
          <p:spPr>
            <a:xfrm>
              <a:off x="-2238935" y="9"/>
              <a:ext cx="2055690" cy="500021"/>
            </a:xfrm>
            <a:custGeom>
              <a:avLst>
                <a:gd name="f0" fmla="val 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noFill/>
            <a:ln cap="flat">
              <a:noFill/>
              <a:prstDash val="solid"/>
            </a:ln>
          </p:spPr>
          <p:txBody>
            <a:bodyPr vert="horz" wrap="square" lIns="179999" tIns="179999" rIns="91440" bIns="45720" anchor="t" anchorCtr="0" compatLnSpc="1">
              <a:noAutofit/>
            </a:bodyPr>
            <a:lstStyle/>
            <a:p>
              <a:pPr marL="0" marR="0" lvl="0" indent="0" algn="r" defTabSz="521157"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367" b="0" i="0" u="none" strike="noStrike" kern="1200" cap="none" spc="0" baseline="0">
                  <a:solidFill>
                    <a:srgbClr val="CE0E2D"/>
                  </a:solidFill>
                  <a:uFillTx/>
                  <a:latin typeface="HelveticaNowDisplay ExtraBold" pitchFamily="34"/>
                  <a:cs typeface="HelveticaNowDisplay ExtraBold" pitchFamily="34"/>
                </a:rPr>
                <a:t>Style guide </a:t>
              </a:r>
              <a:br>
                <a:rPr lang="en-GB" sz="1367" b="0" i="0" u="none" strike="noStrike" kern="1200" cap="none" spc="0" baseline="0">
                  <a:solidFill>
                    <a:srgbClr val="CE0E2D"/>
                  </a:solidFill>
                  <a:uFillTx/>
                  <a:latin typeface="HelveticaNowDisplay ExtraBold" pitchFamily="34"/>
                  <a:cs typeface="HelveticaNowDisplay ExtraBold" pitchFamily="34"/>
                </a:rPr>
              </a:br>
              <a:r>
                <a:rPr lang="en-GB" sz="1367" b="0" i="0" u="none" strike="noStrike" kern="1200" cap="none" spc="0" baseline="0">
                  <a:solidFill>
                    <a:srgbClr val="CE0E2D"/>
                  </a:solidFill>
                  <a:uFillTx/>
                  <a:latin typeface="HelveticaNowDisplay ExtraBold" pitchFamily="34"/>
                  <a:cs typeface="HelveticaNowDisplay ExtraBold" pitchFamily="34"/>
                </a:rPr>
                <a:t>RGB colors</a:t>
              </a:r>
            </a:p>
          </p:txBody>
        </p:sp>
      </p:grpSp>
    </p:spTree>
    <p:extLst>
      <p:ext uri="{BB962C8B-B14F-4D97-AF65-F5344CB8AC3E}">
        <p14:creationId xmlns:p14="http://schemas.microsoft.com/office/powerpoint/2010/main" val="15804018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7F607E-27EA-456C-97AA-B32D40860F5A}"/>
              </a:ext>
            </a:extLst>
          </p:cNvPr>
          <p:cNvSpPr>
            <a:spLocks noGrp="1"/>
          </p:cNvSpPr>
          <p:nvPr>
            <p:ph type="title"/>
          </p:nvPr>
        </p:nvSpPr>
        <p:spPr>
          <a:xfrm>
            <a:off x="766764" y="431800"/>
            <a:ext cx="9142518" cy="426583"/>
          </a:xfrm>
        </p:spPr>
        <p:txBody>
          <a:bodyPr/>
          <a:lstStyle/>
          <a:p>
            <a:r>
              <a:rPr lang="en-US"/>
              <a:t>Click to edit Master title style</a:t>
            </a:r>
            <a:endParaRPr lang="nl-NL"/>
          </a:p>
        </p:txBody>
      </p:sp>
      <p:sp>
        <p:nvSpPr>
          <p:cNvPr id="20" name="Text Placeholder 6">
            <a:extLst>
              <a:ext uri="{FF2B5EF4-FFF2-40B4-BE49-F238E27FC236}">
                <a16:creationId xmlns:a16="http://schemas.microsoft.com/office/drawing/2014/main" id="{9C691868-3F9C-45CE-85D2-C9A50B3AC7D8}"/>
              </a:ext>
            </a:extLst>
          </p:cNvPr>
          <p:cNvSpPr>
            <a:spLocks noGrp="1"/>
          </p:cNvSpPr>
          <p:nvPr>
            <p:ph type="body" sz="quarter" idx="11"/>
          </p:nvPr>
        </p:nvSpPr>
        <p:spPr>
          <a:xfrm>
            <a:off x="767544" y="881925"/>
            <a:ext cx="7613890" cy="407459"/>
          </a:xfrm>
        </p:spPr>
        <p:txBody>
          <a:bodyPr vert="horz" lIns="0" tIns="0" rIns="0" bIns="144000" rtlCol="0" anchor="b" anchorCtr="0">
            <a:noAutofit/>
          </a:bodyPr>
          <a:lstStyle>
            <a:lvl1pPr>
              <a:defRPr lang="en-GB" sz="1939" b="0" i="0">
                <a:latin typeface="HelveticaNowDisplay Light"/>
                <a:ea typeface="+mj-ea"/>
                <a:cs typeface="HelveticaNowDisplay Light"/>
              </a:defRPr>
            </a:lvl1pPr>
          </a:lstStyle>
          <a:p>
            <a:pPr lvl="0" defTabSz="801228">
              <a:lnSpc>
                <a:spcPts val="2879"/>
              </a:lnSpc>
              <a:spcBef>
                <a:spcPct val="0"/>
              </a:spcBef>
            </a:pPr>
            <a:endParaRPr lang="en-GB"/>
          </a:p>
        </p:txBody>
      </p:sp>
      <p:sp>
        <p:nvSpPr>
          <p:cNvPr id="2" name="Slide Number Placeholder 5">
            <a:extLst>
              <a:ext uri="{FF2B5EF4-FFF2-40B4-BE49-F238E27FC236}">
                <a16:creationId xmlns:a16="http://schemas.microsoft.com/office/drawing/2014/main" id="{170B6C87-84FB-2E07-55D4-C1D46A6BD7CE}"/>
              </a:ext>
            </a:extLst>
          </p:cNvPr>
          <p:cNvSpPr>
            <a:spLocks noGrp="1"/>
          </p:cNvSpPr>
          <p:nvPr>
            <p:ph type="sldNum" sz="quarter" idx="4"/>
          </p:nvPr>
        </p:nvSpPr>
        <p:spPr>
          <a:xfrm>
            <a:off x="146328" y="6321462"/>
            <a:ext cx="209386" cy="431002"/>
          </a:xfrm>
          <a:prstGeom prst="rect">
            <a:avLst/>
          </a:prstGeom>
        </p:spPr>
        <p:txBody>
          <a:bodyPr vert="horz" lIns="0" tIns="0" rIns="0" bIns="54000" rtlCol="0" anchor="ctr"/>
          <a:lstStyle>
            <a:lvl1pPr algn="r">
              <a:defRPr sz="912">
                <a:solidFill>
                  <a:srgbClr val="1B1C32"/>
                </a:solidFill>
                <a:latin typeface="+mn-lt"/>
                <a:cs typeface="HelveticaNowDisplay Bold" panose="020B0804030202020204" pitchFamily="34" charset="0"/>
              </a:defRPr>
            </a:lvl1pPr>
          </a:lstStyle>
          <a:p>
            <a:fld id="{1FFC24F5-86FC-B34E-9C4E-2BC5AF42D9A6}" type="slidenum">
              <a:rPr lang="en-NL" smtClean="0"/>
              <a:pPr/>
              <a:t>‹nr.›</a:t>
            </a:fld>
            <a:endParaRPr lang="en-NL"/>
          </a:p>
        </p:txBody>
      </p:sp>
    </p:spTree>
    <p:extLst>
      <p:ext uri="{BB962C8B-B14F-4D97-AF65-F5344CB8AC3E}">
        <p14:creationId xmlns:p14="http://schemas.microsoft.com/office/powerpoint/2010/main" val="963699551"/>
      </p:ext>
    </p:extLst>
  </p:cSld>
  <p:clrMapOvr>
    <a:masterClrMapping/>
  </p:clrMapOvr>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A68C4910-0E13-159B-29BA-81BFEB0862A2}"/>
              </a:ext>
            </a:extLst>
          </p:cNvPr>
          <p:cNvGrpSpPr>
            <a:grpSpLocks noChangeAspect="1"/>
          </p:cNvGrpSpPr>
          <p:nvPr userDrawn="1"/>
        </p:nvGrpSpPr>
        <p:grpSpPr>
          <a:xfrm>
            <a:off x="10671582" y="-84910"/>
            <a:ext cx="1596618" cy="930642"/>
            <a:chOff x="9122465" y="-249963"/>
            <a:chExt cx="3252741" cy="1895968"/>
          </a:xfrm>
        </p:grpSpPr>
        <p:sp>
          <p:nvSpPr>
            <p:cNvPr id="3" name="Gelijkbenige driehoek 8">
              <a:extLst>
                <a:ext uri="{FF2B5EF4-FFF2-40B4-BE49-F238E27FC236}">
                  <a16:creationId xmlns:a16="http://schemas.microsoft.com/office/drawing/2014/main" id="{BDFFD9D8-CA9E-5799-61BD-00B387AFA7B0}"/>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Gelijkbenige driehoek 9">
              <a:extLst>
                <a:ext uri="{FF2B5EF4-FFF2-40B4-BE49-F238E27FC236}">
                  <a16:creationId xmlns:a16="http://schemas.microsoft.com/office/drawing/2014/main" id="{2DBB7842-F141-DD03-265A-0257E6F16E10}"/>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10">
              <a:extLst>
                <a:ext uri="{FF2B5EF4-FFF2-40B4-BE49-F238E27FC236}">
                  <a16:creationId xmlns:a16="http://schemas.microsoft.com/office/drawing/2014/main" id="{9B3CDB94-5E80-DCAF-5DCD-E72E18D2E979}"/>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12">
              <a:extLst>
                <a:ext uri="{FF2B5EF4-FFF2-40B4-BE49-F238E27FC236}">
                  <a16:creationId xmlns:a16="http://schemas.microsoft.com/office/drawing/2014/main" id="{460233A6-0DC0-1C2A-DE6B-349DD507CD08}"/>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Isosceles Triangle 15">
              <a:extLst>
                <a:ext uri="{FF2B5EF4-FFF2-40B4-BE49-F238E27FC236}">
                  <a16:creationId xmlns:a16="http://schemas.microsoft.com/office/drawing/2014/main" id="{EBD604DF-39D5-AB02-9A72-D7289503CD69}"/>
                </a:ext>
              </a:extLst>
            </p:cNvPr>
            <p:cNvSpPr/>
            <p:nvPr userDrawn="1"/>
          </p:nvSpPr>
          <p:spPr>
            <a:xfrm rot="13078281">
              <a:off x="10819850" y="692005"/>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Gelijkbenige driehoek 9">
              <a:extLst>
                <a:ext uri="{FF2B5EF4-FFF2-40B4-BE49-F238E27FC236}">
                  <a16:creationId xmlns:a16="http://schemas.microsoft.com/office/drawing/2014/main" id="{C8E9D384-1200-6A23-80A0-C1CC5D546614}"/>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grpSp>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465997"/>
            <a:ext cx="9720000" cy="1008000"/>
          </a:xfrm>
        </p:spPr>
        <p:txBody>
          <a:bodyPr vert="horz" anchor="t">
            <a:noAutofit/>
          </a:bodyPr>
          <a:lstStyle>
            <a:lvl1pPr algn="l">
              <a:lnSpc>
                <a:spcPct val="100000"/>
              </a:lnSpc>
              <a:defRPr sz="2800" b="1">
                <a:solidFill>
                  <a:srgbClr val="8C95CD"/>
                </a:solidFill>
                <a:latin typeface="Verdana Pro" panose="020B0604030504040204" pitchFamily="34" charset="0"/>
              </a:defRPr>
            </a:lvl1pPr>
          </a:lstStyle>
          <a:p>
            <a:r>
              <a:rPr lang="nl-NL" noProof="0"/>
              <a:t>Titel</a:t>
            </a:r>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73997"/>
            <a:ext cx="11233171" cy="4693531"/>
          </a:xfrm>
          <a:prstGeom prst="rect">
            <a:avLst/>
          </a:prstGeom>
        </p:spPr>
        <p:txBody>
          <a:bodyPr vert="horz" lIns="91440" tIns="45720" rIns="91440" bIns="45720" rtlCol="0">
            <a:normAutofit/>
          </a:bodyPr>
          <a:lstStyle>
            <a:lvl1pPr marL="180000" indent="-180000">
              <a:lnSpc>
                <a:spcPct val="100000"/>
              </a:lnSpc>
              <a:spcBef>
                <a:spcPts val="0"/>
              </a:spcBef>
              <a:spcAft>
                <a:spcPts val="600"/>
              </a:spcAft>
              <a:defRPr sz="1200"/>
            </a:lvl1pPr>
            <a:lvl2pPr marL="360000" indent="-180000">
              <a:lnSpc>
                <a:spcPct val="100000"/>
              </a:lnSpc>
              <a:spcBef>
                <a:spcPts val="0"/>
              </a:spcBef>
              <a:spcAft>
                <a:spcPts val="600"/>
              </a:spcAft>
              <a:defRPr sz="1100"/>
            </a:lvl2pPr>
            <a:lvl3pPr marL="540000" indent="-180000">
              <a:lnSpc>
                <a:spcPct val="100000"/>
              </a:lnSpc>
              <a:spcBef>
                <a:spcPts val="0"/>
              </a:spcBef>
              <a:spcAft>
                <a:spcPts val="600"/>
              </a:spcAft>
              <a:defRPr sz="1050"/>
            </a:lvl3pPr>
            <a:lvl4pPr marL="720000" indent="-180000">
              <a:lnSpc>
                <a:spcPct val="100000"/>
              </a:lnSpc>
              <a:spcBef>
                <a:spcPts val="0"/>
              </a:spcBef>
              <a:spcAft>
                <a:spcPts val="600"/>
              </a:spcAft>
              <a:defRPr sz="900"/>
            </a:lvl4p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a:p>
            <a:pPr lvl="1"/>
            <a:r>
              <a:rPr lang="nl-NL" noProof="0"/>
              <a:t>Second level</a:t>
            </a:r>
          </a:p>
          <a:p>
            <a:pPr lvl="2"/>
            <a:r>
              <a:rPr lang="nl-NL" noProof="0" err="1"/>
              <a:t>Third</a:t>
            </a:r>
            <a:r>
              <a:rPr lang="nl-NL" noProof="0"/>
              <a:t> level</a:t>
            </a:r>
          </a:p>
        </p:txBody>
      </p:sp>
      <p:sp>
        <p:nvSpPr>
          <p:cNvPr id="9" name="Rechthoek: afgeronde hoeken 2">
            <a:extLst>
              <a:ext uri="{FF2B5EF4-FFF2-40B4-BE49-F238E27FC236}">
                <a16:creationId xmlns:a16="http://schemas.microsoft.com/office/drawing/2014/main" id="{084378FC-A7CF-4E20-B9B4-84E3C9BFBF02}"/>
              </a:ext>
            </a:extLst>
          </p:cNvPr>
          <p:cNvSpPr/>
          <p:nvPr userDrawn="1"/>
        </p:nvSpPr>
        <p:spPr>
          <a:xfrm>
            <a:off x="-1" y="0"/>
            <a:ext cx="10145303"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2" name="Slide Number Placeholder 18">
            <a:extLst>
              <a:ext uri="{FF2B5EF4-FFF2-40B4-BE49-F238E27FC236}">
                <a16:creationId xmlns:a16="http://schemas.microsoft.com/office/drawing/2014/main" id="{ABD9C3B9-76D2-D21C-CD59-4D9C771207E6}"/>
              </a:ext>
            </a:extLst>
          </p:cNvPr>
          <p:cNvSpPr>
            <a:spLocks noGrp="1"/>
          </p:cNvSpPr>
          <p:nvPr>
            <p:ph type="sldNum" sz="quarter" idx="4"/>
          </p:nvPr>
        </p:nvSpPr>
        <p:spPr>
          <a:xfrm>
            <a:off x="0" y="6330666"/>
            <a:ext cx="288001" cy="288000"/>
          </a:xfrm>
          <a:prstGeom prst="rect">
            <a:avLst/>
          </a:prstGeom>
        </p:spPr>
        <p:txBody>
          <a:bodyPr vert="horz" lIns="0" tIns="0" rIns="0" bIns="0" rtlCol="0" anchor="ctr"/>
          <a:lstStyle>
            <a:lvl1pPr algn="ctr">
              <a:defRPr sz="1050">
                <a:solidFill>
                  <a:schemeClr val="tx1">
                    <a:tint val="75000"/>
                  </a:schemeClr>
                </a:solidFill>
                <a:latin typeface="Verdana" panose="020B0604030504040204" pitchFamily="34" charset="0"/>
                <a:ea typeface="Verdana" panose="020B0604030504040204" pitchFamily="34" charset="0"/>
              </a:defRPr>
            </a:lvl1pPr>
          </a:lstStyle>
          <a:p>
            <a:pPr>
              <a:defRPr/>
            </a:pPr>
            <a:fld id="{C698A4D3-8B34-4F59-BA76-BF518A49D96C}" type="slidenum">
              <a:rPr lang="nl-NL" smtClean="0">
                <a:solidFill>
                  <a:prstClr val="black">
                    <a:tint val="75000"/>
                  </a:prstClr>
                </a:solidFill>
              </a:rPr>
              <a:pPr>
                <a:defRPr/>
              </a:pPr>
              <a:t>‹nr.›</a:t>
            </a:fld>
            <a:endParaRPr lang="nl-NL">
              <a:solidFill>
                <a:prstClr val="black">
                  <a:tint val="75000"/>
                </a:prstClr>
              </a:solidFill>
            </a:endParaRPr>
          </a:p>
        </p:txBody>
      </p:sp>
    </p:spTree>
    <p:extLst>
      <p:ext uri="{BB962C8B-B14F-4D97-AF65-F5344CB8AC3E}">
        <p14:creationId xmlns:p14="http://schemas.microsoft.com/office/powerpoint/2010/main" val="42342905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el + Subtitel">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27DE919D-247E-68E4-8BEA-6D6171F26009}"/>
              </a:ext>
            </a:extLst>
          </p:cNvPr>
          <p:cNvSpPr>
            <a:spLocks noGrp="1"/>
          </p:cNvSpPr>
          <p:nvPr>
            <p:ph type="sldNum" sz="quarter" idx="4"/>
          </p:nvPr>
        </p:nvSpPr>
        <p:spPr>
          <a:xfrm>
            <a:off x="0" y="6553688"/>
            <a:ext cx="288001" cy="288000"/>
          </a:xfrm>
          <a:prstGeom prst="rect">
            <a:avLst/>
          </a:prstGeom>
        </p:spPr>
        <p:txBody>
          <a:bodyPr vert="horz" lIns="0" tIns="0" rIns="0" bIns="0" rtlCol="0" anchor="ctr"/>
          <a:lstStyle>
            <a:lvl1pPr algn="ctr">
              <a:defRPr sz="1050">
                <a:solidFill>
                  <a:schemeClr val="tx1">
                    <a:tint val="75000"/>
                  </a:schemeClr>
                </a:solidFill>
                <a:latin typeface="Verdana" panose="020B0604030504040204" pitchFamily="34" charset="0"/>
                <a:ea typeface="Verdana" panose="020B0604030504040204" pitchFamily="34" charset="0"/>
              </a:defRPr>
            </a:lvl1pPr>
          </a:lstStyle>
          <a:p>
            <a:pPr>
              <a:defRPr/>
            </a:pPr>
            <a:fld id="{C698A4D3-8B34-4F59-BA76-BF518A49D96C}" type="slidenum">
              <a:rPr lang="nl-NL" smtClean="0">
                <a:solidFill>
                  <a:prstClr val="black">
                    <a:tint val="75000"/>
                  </a:prstClr>
                </a:solidFill>
              </a:rPr>
              <a:pPr>
                <a:defRPr/>
              </a:pPr>
              <a:t>‹nr.›</a:t>
            </a:fld>
            <a:endParaRPr lang="nl-NL">
              <a:solidFill>
                <a:prstClr val="black">
                  <a:tint val="75000"/>
                </a:prstClr>
              </a:solidFill>
            </a:endParaRPr>
          </a:p>
        </p:txBody>
      </p:sp>
      <p:grpSp>
        <p:nvGrpSpPr>
          <p:cNvPr id="18" name="Group 17">
            <a:extLst>
              <a:ext uri="{FF2B5EF4-FFF2-40B4-BE49-F238E27FC236}">
                <a16:creationId xmlns:a16="http://schemas.microsoft.com/office/drawing/2014/main" id="{A68C4910-0E13-159B-29BA-81BFEB0862A2}"/>
              </a:ext>
            </a:extLst>
          </p:cNvPr>
          <p:cNvGrpSpPr>
            <a:grpSpLocks noChangeAspect="1"/>
          </p:cNvGrpSpPr>
          <p:nvPr userDrawn="1"/>
        </p:nvGrpSpPr>
        <p:grpSpPr>
          <a:xfrm>
            <a:off x="10693111" y="104660"/>
            <a:ext cx="1610100" cy="1194512"/>
            <a:chOff x="9120885" y="-636163"/>
            <a:chExt cx="3280205" cy="2433544"/>
          </a:xfrm>
        </p:grpSpPr>
        <p:sp>
          <p:nvSpPr>
            <p:cNvPr id="3" name="Gelijkbenige driehoek 8">
              <a:extLst>
                <a:ext uri="{FF2B5EF4-FFF2-40B4-BE49-F238E27FC236}">
                  <a16:creationId xmlns:a16="http://schemas.microsoft.com/office/drawing/2014/main" id="{BDFFD9D8-CA9E-5799-61BD-00B387AFA7B0}"/>
                </a:ext>
              </a:extLst>
            </p:cNvPr>
            <p:cNvSpPr/>
            <p:nvPr userDrawn="1"/>
          </p:nvSpPr>
          <p:spPr>
            <a:xfrm rot="14777940">
              <a:off x="10747850" y="-1164011"/>
              <a:ext cx="1125392" cy="2181088"/>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Gelijkbenige driehoek 9">
              <a:extLst>
                <a:ext uri="{FF2B5EF4-FFF2-40B4-BE49-F238E27FC236}">
                  <a16:creationId xmlns:a16="http://schemas.microsoft.com/office/drawing/2014/main" id="{2DBB7842-F141-DD03-265A-0257E6F16E10}"/>
                </a:ext>
              </a:extLst>
            </p:cNvPr>
            <p:cNvSpPr/>
            <p:nvPr userDrawn="1"/>
          </p:nvSpPr>
          <p:spPr>
            <a:xfrm rot="10420549">
              <a:off x="9744116" y="-404316"/>
              <a:ext cx="596765"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10">
              <a:extLst>
                <a:ext uri="{FF2B5EF4-FFF2-40B4-BE49-F238E27FC236}">
                  <a16:creationId xmlns:a16="http://schemas.microsoft.com/office/drawing/2014/main" id="{9B3CDB94-5E80-DCAF-5DCD-E72E18D2E979}"/>
                </a:ext>
              </a:extLst>
            </p:cNvPr>
            <p:cNvSpPr/>
            <p:nvPr userDrawn="1"/>
          </p:nvSpPr>
          <p:spPr>
            <a:xfrm rot="13828098">
              <a:off x="9414455" y="1176552"/>
              <a:ext cx="327259" cy="914399"/>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12">
              <a:extLst>
                <a:ext uri="{FF2B5EF4-FFF2-40B4-BE49-F238E27FC236}">
                  <a16:creationId xmlns:a16="http://schemas.microsoft.com/office/drawing/2014/main" id="{460233A6-0DC0-1C2A-DE6B-349DD507CD08}"/>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Isosceles Triangle 15">
              <a:extLst>
                <a:ext uri="{FF2B5EF4-FFF2-40B4-BE49-F238E27FC236}">
                  <a16:creationId xmlns:a16="http://schemas.microsoft.com/office/drawing/2014/main" id="{EBD604DF-39D5-AB02-9A72-D7289503CD69}"/>
                </a:ext>
              </a:extLst>
            </p:cNvPr>
            <p:cNvSpPr/>
            <p:nvPr userDrawn="1"/>
          </p:nvSpPr>
          <p:spPr>
            <a:xfrm rot="13078281">
              <a:off x="10819849" y="280434"/>
              <a:ext cx="475199" cy="954001"/>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Gelijkbenige driehoek 9">
              <a:extLst>
                <a:ext uri="{FF2B5EF4-FFF2-40B4-BE49-F238E27FC236}">
                  <a16:creationId xmlns:a16="http://schemas.microsoft.com/office/drawing/2014/main" id="{C8E9D384-1200-6A23-80A0-C1CC5D546614}"/>
                </a:ext>
              </a:extLst>
            </p:cNvPr>
            <p:cNvSpPr/>
            <p:nvPr userDrawn="1"/>
          </p:nvSpPr>
          <p:spPr>
            <a:xfrm rot="15468765">
              <a:off x="10659912" y="761258"/>
              <a:ext cx="313650" cy="377585"/>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grpSp>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465998"/>
            <a:ext cx="9720000" cy="504000"/>
          </a:xfrm>
        </p:spPr>
        <p:txBody>
          <a:bodyPr vert="horz" anchor="t">
            <a:noAutofit/>
          </a:bodyPr>
          <a:lstStyle>
            <a:lvl1pPr algn="l">
              <a:lnSpc>
                <a:spcPct val="100000"/>
              </a:lnSpc>
              <a:defRPr sz="2800" b="1">
                <a:solidFill>
                  <a:srgbClr val="8C95CD"/>
                </a:solidFill>
                <a:latin typeface="Verdana Pro" panose="020B0604030504040204" pitchFamily="34" charset="0"/>
              </a:defRPr>
            </a:lvl1pPr>
          </a:lstStyle>
          <a:p>
            <a:r>
              <a:rPr lang="nl-NL" noProof="0"/>
              <a:t>Titel</a:t>
            </a:r>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73998"/>
            <a:ext cx="11233171" cy="4693530"/>
          </a:xfrm>
          <a:prstGeom prst="rect">
            <a:avLst/>
          </a:prstGeom>
        </p:spPr>
        <p:txBody>
          <a:bodyPr vert="horz" lIns="91440" tIns="45720" rIns="91440" bIns="45720" rtlCol="0">
            <a:normAutofit/>
          </a:bodyPr>
          <a:lstStyle>
            <a:lvl1pPr marL="0" indent="0">
              <a:lnSpc>
                <a:spcPct val="100000"/>
              </a:lnSpc>
              <a:spcBef>
                <a:spcPts val="0"/>
              </a:spcBef>
              <a:spcAft>
                <a:spcPts val="600"/>
              </a:spcAft>
              <a:buNone/>
              <a:defRPr sz="1200"/>
            </a:lvl1pPr>
            <a:lvl2pPr marL="360000" indent="-180000">
              <a:lnSpc>
                <a:spcPct val="100000"/>
              </a:lnSpc>
              <a:spcBef>
                <a:spcPts val="0"/>
              </a:spcBef>
              <a:spcAft>
                <a:spcPts val="600"/>
              </a:spcAft>
              <a:defRPr sz="1200"/>
            </a:lvl2pPr>
            <a:lvl3pPr marL="540000" indent="-180000">
              <a:lnSpc>
                <a:spcPct val="100000"/>
              </a:lnSpc>
              <a:spcBef>
                <a:spcPts val="0"/>
              </a:spcBef>
              <a:spcAft>
                <a:spcPts val="600"/>
              </a:spcAft>
              <a:defRPr sz="1100"/>
            </a:lvl3pPr>
            <a:lvl4pPr marL="720000" indent="-180000">
              <a:lnSpc>
                <a:spcPct val="100000"/>
              </a:lnSpc>
              <a:spcBef>
                <a:spcPts val="0"/>
              </a:spcBef>
              <a:spcAft>
                <a:spcPts val="600"/>
              </a:spcAft>
              <a:defRPr/>
            </a:lvl4pPr>
          </a:lstStyle>
          <a:p>
            <a:pPr lvl="0"/>
            <a:endParaRPr lang="nl-NL" noProof="0"/>
          </a:p>
        </p:txBody>
      </p:sp>
      <p:sp>
        <p:nvSpPr>
          <p:cNvPr id="11" name="Text Placeholder 10">
            <a:extLst>
              <a:ext uri="{FF2B5EF4-FFF2-40B4-BE49-F238E27FC236}">
                <a16:creationId xmlns:a16="http://schemas.microsoft.com/office/drawing/2014/main" id="{B97C682A-8D80-BE63-2643-D6E378D0C985}"/>
              </a:ext>
            </a:extLst>
          </p:cNvPr>
          <p:cNvSpPr>
            <a:spLocks noGrp="1"/>
          </p:cNvSpPr>
          <p:nvPr>
            <p:ph type="body" sz="quarter" idx="10" hasCustomPrompt="1"/>
          </p:nvPr>
        </p:nvSpPr>
        <p:spPr>
          <a:xfrm>
            <a:off x="425302" y="969998"/>
            <a:ext cx="10544967" cy="504000"/>
          </a:xfrm>
        </p:spPr>
        <p:txBody>
          <a:bodyPr>
            <a:noAutofit/>
          </a:bodyPr>
          <a:lstStyle>
            <a:lvl1pPr marL="0" indent="0">
              <a:lnSpc>
                <a:spcPct val="100000"/>
              </a:lnSpc>
              <a:spcBef>
                <a:spcPts val="0"/>
              </a:spcBef>
              <a:buNone/>
              <a:defRPr sz="1400" b="1">
                <a:latin typeface="Verdana Pro" panose="020B0604030504040204" pitchFamily="34" charset="0"/>
              </a:defRPr>
            </a:lvl1pPr>
            <a:lvl5pPr>
              <a:defRPr/>
            </a:lvl5pPr>
          </a:lstStyle>
          <a:p>
            <a:pPr lvl="0"/>
            <a:r>
              <a:rPr lang="nl-NL" noProof="0"/>
              <a:t>Subtitel</a:t>
            </a:r>
          </a:p>
        </p:txBody>
      </p:sp>
    </p:spTree>
    <p:extLst>
      <p:ext uri="{BB962C8B-B14F-4D97-AF65-F5344CB8AC3E}">
        <p14:creationId xmlns:p14="http://schemas.microsoft.com/office/powerpoint/2010/main" val="788133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1756610"/>
            <a:ext cx="12192000" cy="3205213"/>
          </a:xfrm>
          <a:prstGeom prst="rect">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noAutofit/>
          </a:bodyPr>
          <a:lstStyle>
            <a:lvl1pPr algn="ctr">
              <a:defRPr b="1">
                <a:solidFill>
                  <a:schemeClr val="bg1"/>
                </a:solidFill>
                <a:latin typeface="Verdana Pro" panose="020B0604030504040204" pitchFamily="34" charset="0"/>
              </a:defRPr>
            </a:lvl1pPr>
          </a:lstStyle>
          <a:p>
            <a:r>
              <a:rPr lang="en-US" err="1"/>
              <a:t>Titel</a:t>
            </a:r>
            <a:endParaRPr lang="nl-NL"/>
          </a:p>
        </p:txBody>
      </p:sp>
      <p:sp>
        <p:nvSpPr>
          <p:cNvPr id="28" name="Gelijkbenige driehoek 8">
            <a:extLst>
              <a:ext uri="{FF2B5EF4-FFF2-40B4-BE49-F238E27FC236}">
                <a16:creationId xmlns:a16="http://schemas.microsoft.com/office/drawing/2014/main" id="{DA246DD0-28F9-07DE-47FD-F4037CAEE8FC}"/>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Gelijkbenige driehoek 9">
            <a:extLst>
              <a:ext uri="{FF2B5EF4-FFF2-40B4-BE49-F238E27FC236}">
                <a16:creationId xmlns:a16="http://schemas.microsoft.com/office/drawing/2014/main" id="{73337D40-5E84-9271-3DB1-B703035AF191}"/>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Gelijkbenige driehoek 10">
            <a:extLst>
              <a:ext uri="{FF2B5EF4-FFF2-40B4-BE49-F238E27FC236}">
                <a16:creationId xmlns:a16="http://schemas.microsoft.com/office/drawing/2014/main" id="{95460C9E-8F42-E303-4867-10B0EA7ABC9D}"/>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Gelijkbenige driehoek 12">
            <a:extLst>
              <a:ext uri="{FF2B5EF4-FFF2-40B4-BE49-F238E27FC236}">
                <a16:creationId xmlns:a16="http://schemas.microsoft.com/office/drawing/2014/main" id="{523C686D-1A5B-E381-EC34-4D7E2505C4E1}"/>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Gelijkbenige driehoek 9">
            <a:extLst>
              <a:ext uri="{FF2B5EF4-FFF2-40B4-BE49-F238E27FC236}">
                <a16:creationId xmlns:a16="http://schemas.microsoft.com/office/drawing/2014/main" id="{5A25D909-0AE7-0D6B-846E-9DE1F78B7FDA}"/>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3417480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elslid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67C97280-A660-85EC-0C5B-1AF2BD9C9D08}"/>
              </a:ext>
            </a:extLst>
          </p:cNvPr>
          <p:cNvGraphicFramePr>
            <a:graphicFrameLocks noChangeAspect="1"/>
          </p:cNvGraphicFramePr>
          <p:nvPr userDrawn="1">
            <p:custDataLst>
              <p:tags r:id="rId1"/>
            </p:custDataLst>
            <p:extLst>
              <p:ext uri="{D42A27DB-BD31-4B8C-83A1-F6EECF244321}">
                <p14:modId xmlns:p14="http://schemas.microsoft.com/office/powerpoint/2010/main" val="3773613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0" name="think-cell data - do not delete" hidden="1">
                        <a:extLst>
                          <a:ext uri="{FF2B5EF4-FFF2-40B4-BE49-F238E27FC236}">
                            <a16:creationId xmlns:a16="http://schemas.microsoft.com/office/drawing/2014/main" id="{67C97280-A660-85EC-0C5B-1AF2BD9C9D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hoek 4">
            <a:extLst>
              <a:ext uri="{FF2B5EF4-FFF2-40B4-BE49-F238E27FC236}">
                <a16:creationId xmlns:a16="http://schemas.microsoft.com/office/drawing/2014/main" id="{C67B3076-F152-C6A6-93F7-3EF954A12921}"/>
              </a:ext>
            </a:extLst>
          </p:cNvPr>
          <p:cNvSpPr/>
          <p:nvPr userDrawn="1"/>
        </p:nvSpPr>
        <p:spPr>
          <a:xfrm>
            <a:off x="0" y="2497044"/>
            <a:ext cx="12192000" cy="1724346"/>
          </a:xfrm>
          <a:prstGeom prst="rect">
            <a:avLst/>
          </a:prstGeom>
          <a:solidFill>
            <a:srgbClr val="D7DA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Isosceles Triangle 8">
            <a:extLst>
              <a:ext uri="{FF2B5EF4-FFF2-40B4-BE49-F238E27FC236}">
                <a16:creationId xmlns:a16="http://schemas.microsoft.com/office/drawing/2014/main" id="{D43F2D69-FB62-3094-96B1-D8E50059543C}"/>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Slide Number Placeholder 3">
            <a:extLst>
              <a:ext uri="{FF2B5EF4-FFF2-40B4-BE49-F238E27FC236}">
                <a16:creationId xmlns:a16="http://schemas.microsoft.com/office/drawing/2014/main" id="{FCA96E18-3AD7-3C91-CC62-C1E4AA3B0F1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 name="Title 1">
            <a:extLst>
              <a:ext uri="{FF2B5EF4-FFF2-40B4-BE49-F238E27FC236}">
                <a16:creationId xmlns:a16="http://schemas.microsoft.com/office/drawing/2014/main" id="{9949DE4C-4BA2-D807-7FEF-5F2F04437A19}"/>
              </a:ext>
            </a:extLst>
          </p:cNvPr>
          <p:cNvSpPr>
            <a:spLocks noGrp="1"/>
          </p:cNvSpPr>
          <p:nvPr>
            <p:ph type="title" hasCustomPrompt="1"/>
          </p:nvPr>
        </p:nvSpPr>
        <p:spPr>
          <a:xfrm>
            <a:off x="769061" y="2728540"/>
            <a:ext cx="10515600" cy="1261351"/>
          </a:xfrm>
        </p:spPr>
        <p:txBody>
          <a:bodyPr vert="horz">
            <a:noAutofit/>
          </a:bodyPr>
          <a:lstStyle>
            <a:lvl1pPr>
              <a:defRPr sz="2400" b="1">
                <a:solidFill>
                  <a:srgbClr val="8C95CD"/>
                </a:solidFill>
                <a:latin typeface="Verdana Pro" panose="020B0604030504040204" pitchFamily="34" charset="0"/>
              </a:defRPr>
            </a:lvl1pPr>
          </a:lstStyle>
          <a:p>
            <a:r>
              <a:rPr lang="en-US" err="1"/>
              <a:t>Titel</a:t>
            </a:r>
            <a:endParaRPr lang="nl-NL"/>
          </a:p>
        </p:txBody>
      </p:sp>
      <p:sp>
        <p:nvSpPr>
          <p:cNvPr id="28" name="Gelijkbenige driehoek 8">
            <a:extLst>
              <a:ext uri="{FF2B5EF4-FFF2-40B4-BE49-F238E27FC236}">
                <a16:creationId xmlns:a16="http://schemas.microsoft.com/office/drawing/2014/main" id="{DA246DD0-28F9-07DE-47FD-F4037CAEE8FC}"/>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Gelijkbenige driehoek 9">
            <a:extLst>
              <a:ext uri="{FF2B5EF4-FFF2-40B4-BE49-F238E27FC236}">
                <a16:creationId xmlns:a16="http://schemas.microsoft.com/office/drawing/2014/main" id="{73337D40-5E84-9271-3DB1-B703035AF191}"/>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Gelijkbenige driehoek 10">
            <a:extLst>
              <a:ext uri="{FF2B5EF4-FFF2-40B4-BE49-F238E27FC236}">
                <a16:creationId xmlns:a16="http://schemas.microsoft.com/office/drawing/2014/main" id="{95460C9E-8F42-E303-4867-10B0EA7ABC9D}"/>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Gelijkbenige driehoek 12">
            <a:extLst>
              <a:ext uri="{FF2B5EF4-FFF2-40B4-BE49-F238E27FC236}">
                <a16:creationId xmlns:a16="http://schemas.microsoft.com/office/drawing/2014/main" id="{523C686D-1A5B-E381-EC34-4D7E2505C4E1}"/>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Gelijkbenige driehoek 9">
            <a:extLst>
              <a:ext uri="{FF2B5EF4-FFF2-40B4-BE49-F238E27FC236}">
                <a16:creationId xmlns:a16="http://schemas.microsoft.com/office/drawing/2014/main" id="{5A25D909-0AE7-0D6B-846E-9DE1F78B7FDA}"/>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3860546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4FE693-8585-4B5F-F274-16D014884F0F}"/>
              </a:ext>
            </a:extLst>
          </p:cNvPr>
          <p:cNvGraphicFramePr>
            <a:graphicFrameLocks noChangeAspect="1"/>
          </p:cNvGraphicFramePr>
          <p:nvPr userDrawn="1">
            <p:custDataLst>
              <p:tags r:id="rId1"/>
            </p:custDataLst>
            <p:extLst>
              <p:ext uri="{D42A27DB-BD31-4B8C-83A1-F6EECF244321}">
                <p14:modId xmlns:p14="http://schemas.microsoft.com/office/powerpoint/2010/main" val="2778108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D4FE693-8585-4B5F-F274-16D014884F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C88D6E93-8838-2012-8C9A-A0293C67C217}"/>
              </a:ext>
            </a:extLst>
          </p:cNvPr>
          <p:cNvSpPr/>
          <p:nvPr userDrawn="1"/>
        </p:nvSpPr>
        <p:spPr>
          <a:xfrm>
            <a:off x="-1" y="0"/>
            <a:ext cx="7347099" cy="6858000"/>
          </a:xfrm>
          <a:prstGeom prst="rect">
            <a:avLst/>
          </a:prstGeom>
          <a:solidFill>
            <a:srgbClr val="8C95CD"/>
          </a:solidFill>
          <a:ln>
            <a:solidFill>
              <a:srgbClr val="8C95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a:extLst>
              <a:ext uri="{FF2B5EF4-FFF2-40B4-BE49-F238E27FC236}">
                <a16:creationId xmlns:a16="http://schemas.microsoft.com/office/drawing/2014/main" id="{90137709-92CC-1047-27E8-FA7D5C7581F1}"/>
              </a:ext>
            </a:extLst>
          </p:cNvPr>
          <p:cNvSpPr>
            <a:spLocks noGrp="1"/>
          </p:cNvSpPr>
          <p:nvPr>
            <p:ph type="title"/>
          </p:nvPr>
        </p:nvSpPr>
        <p:spPr>
          <a:xfrm>
            <a:off x="838200" y="136525"/>
            <a:ext cx="4786423" cy="1261351"/>
          </a:xfrm>
        </p:spPr>
        <p:txBody>
          <a:bodyPr vert="horz">
            <a:noAutofit/>
          </a:bodyPr>
          <a:lstStyle>
            <a:lvl1pPr>
              <a:defRPr sz="3600" b="1">
                <a:solidFill>
                  <a:schemeClr val="bg1"/>
                </a:solidFill>
                <a:latin typeface="Verdana Pro" panose="020B0604030504040204" pitchFamily="34" charset="0"/>
              </a:defRPr>
            </a:lvl1pPr>
          </a:lstStyle>
          <a:p>
            <a:r>
              <a:rPr lang="en-US"/>
              <a:t>Click to edit Master title style</a:t>
            </a:r>
            <a:endParaRPr lang="nl-NL"/>
          </a:p>
        </p:txBody>
      </p:sp>
      <p:sp>
        <p:nvSpPr>
          <p:cNvPr id="4" name="Slide Number Placeholder 3">
            <a:extLst>
              <a:ext uri="{FF2B5EF4-FFF2-40B4-BE49-F238E27FC236}">
                <a16:creationId xmlns:a16="http://schemas.microsoft.com/office/drawing/2014/main" id="{8D8127D9-7C32-9D04-AF34-BD9E719DCEC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5" name="Gelijkbenige driehoek 8">
            <a:extLst>
              <a:ext uri="{FF2B5EF4-FFF2-40B4-BE49-F238E27FC236}">
                <a16:creationId xmlns:a16="http://schemas.microsoft.com/office/drawing/2014/main" id="{728CA5C1-C599-3928-8311-C6FF1919A77A}"/>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Gelijkbenige driehoek 9">
            <a:extLst>
              <a:ext uri="{FF2B5EF4-FFF2-40B4-BE49-F238E27FC236}">
                <a16:creationId xmlns:a16="http://schemas.microsoft.com/office/drawing/2014/main" id="{3CB0E011-2471-02FF-8C86-B1E815C2CF17}"/>
              </a:ext>
            </a:extLst>
          </p:cNvPr>
          <p:cNvSpPr/>
          <p:nvPr userDrawn="1"/>
        </p:nvSpPr>
        <p:spPr>
          <a:xfrm rot="14807212">
            <a:off x="9722456"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10">
            <a:extLst>
              <a:ext uri="{FF2B5EF4-FFF2-40B4-BE49-F238E27FC236}">
                <a16:creationId xmlns:a16="http://schemas.microsoft.com/office/drawing/2014/main" id="{E05C3C84-76F2-4259-39CB-472324D0BCA3}"/>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2">
            <a:extLst>
              <a:ext uri="{FF2B5EF4-FFF2-40B4-BE49-F238E27FC236}">
                <a16:creationId xmlns:a16="http://schemas.microsoft.com/office/drawing/2014/main" id="{528D0C8F-FB5A-AFB4-0DBE-0672E596E487}"/>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Isosceles Triangle 9">
            <a:extLst>
              <a:ext uri="{FF2B5EF4-FFF2-40B4-BE49-F238E27FC236}">
                <a16:creationId xmlns:a16="http://schemas.microsoft.com/office/drawing/2014/main" id="{54771689-0F03-819D-7580-E75D329FC18E}"/>
              </a:ext>
            </a:extLst>
          </p:cNvPr>
          <p:cNvSpPr/>
          <p:nvPr userDrawn="1"/>
        </p:nvSpPr>
        <p:spPr>
          <a:xfrm rot="13078281">
            <a:off x="10819850" y="692005"/>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Gelijkbenige driehoek 9">
            <a:extLst>
              <a:ext uri="{FF2B5EF4-FFF2-40B4-BE49-F238E27FC236}">
                <a16:creationId xmlns:a16="http://schemas.microsoft.com/office/drawing/2014/main" id="{13F86AA2-F5FF-D2DF-D337-C0DF938130A9}"/>
              </a:ext>
            </a:extLst>
          </p:cNvPr>
          <p:cNvSpPr/>
          <p:nvPr userDrawn="1"/>
        </p:nvSpPr>
        <p:spPr>
          <a:xfrm rot="9601611">
            <a:off x="9208585" y="-83544"/>
            <a:ext cx="313650" cy="377586"/>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Content Placeholder 12">
            <a:extLst>
              <a:ext uri="{FF2B5EF4-FFF2-40B4-BE49-F238E27FC236}">
                <a16:creationId xmlns:a16="http://schemas.microsoft.com/office/drawing/2014/main" id="{4915FB1F-10AC-6BAB-15BA-FDDE80865F72}"/>
              </a:ext>
            </a:extLst>
          </p:cNvPr>
          <p:cNvSpPr>
            <a:spLocks noGrp="1"/>
          </p:cNvSpPr>
          <p:nvPr>
            <p:ph sz="quarter" idx="12"/>
          </p:nvPr>
        </p:nvSpPr>
        <p:spPr>
          <a:xfrm>
            <a:off x="838200" y="1771650"/>
            <a:ext cx="4786423" cy="45847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922367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gular">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261351"/>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87528"/>
            <a:ext cx="11233171"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29629237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15.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14423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14F57C-2AC9-E3ED-FC3D-357EBDED55D9}"/>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99BB78CC-26E0-6A92-C860-C49D26893B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07E02861-34FC-E36B-7556-2C47FD2BE34B}"/>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5" name="Tijdelijke aanduiding voor voettekst 4">
            <a:extLst>
              <a:ext uri="{FF2B5EF4-FFF2-40B4-BE49-F238E27FC236}">
                <a16:creationId xmlns:a16="http://schemas.microsoft.com/office/drawing/2014/main" id="{C413DDD5-FF56-6B75-8A61-6CC08FE30EC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14C571A-A16A-FE34-9268-6B2C96FA9F63}"/>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39497339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3675C5-074F-EDC0-2E6A-F5ADB45DE91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ACC499D7-62B7-4F93-D058-749763243E12}"/>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328687A0-68D2-5477-E529-AE986005552F}"/>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5" name="Tijdelijke aanduiding voor voettekst 4">
            <a:extLst>
              <a:ext uri="{FF2B5EF4-FFF2-40B4-BE49-F238E27FC236}">
                <a16:creationId xmlns:a16="http://schemas.microsoft.com/office/drawing/2014/main" id="{6C3B70B9-1553-867E-0FAA-C9238D9A289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4FA8453-1DFF-E54B-C9B7-C5DC1AC6A3A8}"/>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31203094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CA1517-DD92-CB71-2D90-1579800158A6}"/>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49B94C3E-A2F6-CFE6-6F4B-2258F3BEA9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8A56E76C-CC53-ED6E-5382-B38938F1C694}"/>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5" name="Tijdelijke aanduiding voor voettekst 4">
            <a:extLst>
              <a:ext uri="{FF2B5EF4-FFF2-40B4-BE49-F238E27FC236}">
                <a16:creationId xmlns:a16="http://schemas.microsoft.com/office/drawing/2014/main" id="{931A60AC-E538-12B6-2BB2-62EA458144A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E849DA6-F75D-DB73-4CF2-6A8073013DE8}"/>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26779446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F6B907-0B59-049F-58CD-6F5315831DBE}"/>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0D16C3F4-3BD6-8C80-E1C9-7E3E7B43B686}"/>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DEBE09A1-D527-378E-9593-324285B55B64}"/>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C9159EE9-68B9-9D32-0369-93D7E6C76DF2}"/>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6" name="Tijdelijke aanduiding voor voettekst 5">
            <a:extLst>
              <a:ext uri="{FF2B5EF4-FFF2-40B4-BE49-F238E27FC236}">
                <a16:creationId xmlns:a16="http://schemas.microsoft.com/office/drawing/2014/main" id="{5DD4DFA0-77D7-C6C0-34FE-9050CFD60C01}"/>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5BC2DA7F-3B62-2322-FD79-ADA77E24BA5E}"/>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20895480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84D07-039B-6A1E-BC76-1F0EBD716A8B}"/>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9FE5AF35-BC8B-96E4-C0F1-BBAEC8B265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E7DDDF31-537D-C2D0-DC10-A9FC9ED35734}"/>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C9591C02-D437-797B-68DA-3AEFC0E2CF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D5BCAA31-6089-43D3-2B45-7AE03E40374F}"/>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112BB001-7ED0-838F-BE1C-77A0DDFDDAA7}"/>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8" name="Tijdelijke aanduiding voor voettekst 7">
            <a:extLst>
              <a:ext uri="{FF2B5EF4-FFF2-40B4-BE49-F238E27FC236}">
                <a16:creationId xmlns:a16="http://schemas.microsoft.com/office/drawing/2014/main" id="{968FD076-B4E0-B210-FB43-67B6C52746EF}"/>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EEF94588-5ACF-4F71-0C34-F671C2FFF92C}"/>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28287984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98D706-90F9-A4C0-6D53-F1932005062A}"/>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823C1ADA-C08E-9A65-B6DB-5CE17FF7AAB4}"/>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4" name="Tijdelijke aanduiding voor voettekst 3">
            <a:extLst>
              <a:ext uri="{FF2B5EF4-FFF2-40B4-BE49-F238E27FC236}">
                <a16:creationId xmlns:a16="http://schemas.microsoft.com/office/drawing/2014/main" id="{14609DB5-12FF-77C6-EB7A-3F3073E9DE4D}"/>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A97BE2B9-4C12-8E84-3A30-CB81C5C38325}"/>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7562449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A3006CB3-E4AF-1D95-BB08-B320780EECEA}"/>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3" name="Tijdelijke aanduiding voor voettekst 2">
            <a:extLst>
              <a:ext uri="{FF2B5EF4-FFF2-40B4-BE49-F238E27FC236}">
                <a16:creationId xmlns:a16="http://schemas.microsoft.com/office/drawing/2014/main" id="{692C3B11-A7F7-F4CF-F7D5-5487E42097F0}"/>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96A7A42B-8503-463D-4F0E-FFCDB8F90E62}"/>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23902911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63E76-712C-56A0-6B51-F4E760AB9166}"/>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E818CA1A-F1DB-9194-B394-BE287BE177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5A3ADF46-3F3E-69E2-B51C-48CB7E1AB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4C53512-0A92-770F-D041-1B07E49171FF}"/>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6" name="Tijdelijke aanduiding voor voettekst 5">
            <a:extLst>
              <a:ext uri="{FF2B5EF4-FFF2-40B4-BE49-F238E27FC236}">
                <a16:creationId xmlns:a16="http://schemas.microsoft.com/office/drawing/2014/main" id="{A143EAB3-9376-C863-9A08-9DA6FBB7149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430F39D-D8C2-84D1-825A-AF71B8D09D56}"/>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26651269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989F72-54AC-BA68-A534-CBFAB155274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0551AD4F-572B-7EC0-92B4-1DFF371E76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66E75ACA-DF23-195A-DABC-749FB4885E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A16318D1-8718-85CC-14F4-EE3761C45AA5}"/>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6" name="Tijdelijke aanduiding voor voettekst 5">
            <a:extLst>
              <a:ext uri="{FF2B5EF4-FFF2-40B4-BE49-F238E27FC236}">
                <a16:creationId xmlns:a16="http://schemas.microsoft.com/office/drawing/2014/main" id="{EF407AC5-1443-A349-968D-FD1976FA1B13}"/>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BE9C043F-4FD7-6FA7-2D8A-1F9AA83B1978}"/>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39548049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BDECD3-B19E-96BC-0C15-A6980198B937}"/>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E9DEB225-C5CA-0872-5953-EB9E44D65080}"/>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42E359F3-9A8B-77A1-28A6-66DEE715064B}"/>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5" name="Tijdelijke aanduiding voor voettekst 4">
            <a:extLst>
              <a:ext uri="{FF2B5EF4-FFF2-40B4-BE49-F238E27FC236}">
                <a16:creationId xmlns:a16="http://schemas.microsoft.com/office/drawing/2014/main" id="{EFAE4730-A8D3-C042-5D3B-40F58AD0B96E}"/>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52C0514-2806-BA35-8B46-BE0E431F1622}"/>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31724040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195BC29C-CB0A-D2C5-EEA2-3D1E3C5FFD13}"/>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10D9FD84-1BED-BF05-8608-809CFBBC9050}"/>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A5547CA9-2BED-23CC-E0B3-D65C85CC47B8}"/>
              </a:ext>
            </a:extLst>
          </p:cNvPr>
          <p:cNvSpPr>
            <a:spLocks noGrp="1"/>
          </p:cNvSpPr>
          <p:nvPr>
            <p:ph type="dt" sz="half" idx="10"/>
          </p:nvPr>
        </p:nvSpPr>
        <p:spPr/>
        <p:txBody>
          <a:bodyPr/>
          <a:lstStyle/>
          <a:p>
            <a:fld id="{D5A64BD9-C713-45AF-89D5-76F6CCAD0ABD}" type="datetimeFigureOut">
              <a:rPr lang="nl-NL" smtClean="0"/>
              <a:t>1-12-2024</a:t>
            </a:fld>
            <a:endParaRPr lang="nl-NL"/>
          </a:p>
        </p:txBody>
      </p:sp>
      <p:sp>
        <p:nvSpPr>
          <p:cNvPr id="5" name="Tijdelijke aanduiding voor voettekst 4">
            <a:extLst>
              <a:ext uri="{FF2B5EF4-FFF2-40B4-BE49-F238E27FC236}">
                <a16:creationId xmlns:a16="http://schemas.microsoft.com/office/drawing/2014/main" id="{015A00CC-5737-13D8-D3C8-3DC6C6C5EFE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CEA999C0-00E3-BFF6-8158-EBFE6ADB3427}"/>
              </a:ext>
            </a:extLst>
          </p:cNvPr>
          <p:cNvSpPr>
            <a:spLocks noGrp="1"/>
          </p:cNvSpPr>
          <p:nvPr>
            <p:ph type="sldNum" sz="quarter" idx="12"/>
          </p:nvPr>
        </p:nvSpPr>
        <p:spPr/>
        <p:txBody>
          <a:bodyPr/>
          <a:lstStyle/>
          <a:p>
            <a:fld id="{8DF62294-51DD-4379-AF83-160B3DF97D8F}" type="slidenum">
              <a:rPr lang="nl-NL" smtClean="0"/>
              <a:t>‹nr.›</a:t>
            </a:fld>
            <a:endParaRPr lang="nl-NL"/>
          </a:p>
        </p:txBody>
      </p:sp>
    </p:spTree>
    <p:extLst>
      <p:ext uri="{BB962C8B-B14F-4D97-AF65-F5344CB8AC3E}">
        <p14:creationId xmlns:p14="http://schemas.microsoft.com/office/powerpoint/2010/main" val="12038777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Regular">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136525"/>
            <a:ext cx="9720000" cy="1261351"/>
          </a:xfrm>
        </p:spPr>
        <p:txBody>
          <a:bodyPr vert="horz">
            <a:normAutofit/>
          </a:bodyPr>
          <a:lstStyle>
            <a:lvl1pPr algn="l">
              <a:defRPr sz="3600" b="1">
                <a:solidFill>
                  <a:srgbClr val="8C95CD"/>
                </a:solidFill>
                <a:latin typeface="+mj-lt"/>
              </a:defRPr>
            </a:lvl1pPr>
          </a:lstStyle>
          <a:p>
            <a:r>
              <a:rPr lang="en-US" err="1"/>
              <a:t>Titel</a:t>
            </a:r>
            <a:endParaRPr lang="nl-NL"/>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87528"/>
            <a:ext cx="11233171"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2" name="Group 1">
            <a:extLst>
              <a:ext uri="{FF2B5EF4-FFF2-40B4-BE49-F238E27FC236}">
                <a16:creationId xmlns:a16="http://schemas.microsoft.com/office/drawing/2014/main" id="{7F73C5A5-5E5D-76FD-7A21-A47F8900E81E}"/>
              </a:ext>
            </a:extLst>
          </p:cNvPr>
          <p:cNvGrpSpPr>
            <a:grpSpLocks noChangeAspect="1"/>
          </p:cNvGrpSpPr>
          <p:nvPr userDrawn="1"/>
        </p:nvGrpSpPr>
        <p:grpSpPr>
          <a:xfrm>
            <a:off x="10196793" y="94641"/>
            <a:ext cx="1995207" cy="1345117"/>
            <a:chOff x="8576109" y="-249963"/>
            <a:chExt cx="3799097" cy="2561253"/>
          </a:xfrm>
        </p:grpSpPr>
        <p:sp>
          <p:nvSpPr>
            <p:cNvPr id="10" name="Gelijkbenige driehoek 8">
              <a:extLst>
                <a:ext uri="{FF2B5EF4-FFF2-40B4-BE49-F238E27FC236}">
                  <a16:creationId xmlns:a16="http://schemas.microsoft.com/office/drawing/2014/main" id="{EA9FA149-BFB4-E329-64B5-5D73696DF008}"/>
                </a:ext>
              </a:extLst>
            </p:cNvPr>
            <p:cNvSpPr/>
            <p:nvPr userDrawn="1"/>
          </p:nvSpPr>
          <p:spPr>
            <a:xfrm rot="14777940">
              <a:off x="10721965" y="-777811"/>
              <a:ext cx="1125393" cy="2181089"/>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Gelijkbenige driehoek 9">
              <a:extLst>
                <a:ext uri="{FF2B5EF4-FFF2-40B4-BE49-F238E27FC236}">
                  <a16:creationId xmlns:a16="http://schemas.microsoft.com/office/drawing/2014/main" id="{76EC1890-A0C5-C861-2629-2DCFA1D22834}"/>
                </a:ext>
              </a:extLst>
            </p:cNvPr>
            <p:cNvSpPr/>
            <p:nvPr userDrawn="1"/>
          </p:nvSpPr>
          <p:spPr>
            <a:xfrm rot="14807212">
              <a:off x="8696425" y="-187694"/>
              <a:ext cx="596766"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Gelijkbenige driehoek 10">
              <a:extLst>
                <a:ext uri="{FF2B5EF4-FFF2-40B4-BE49-F238E27FC236}">
                  <a16:creationId xmlns:a16="http://schemas.microsoft.com/office/drawing/2014/main" id="{40F1436E-9FC1-AD83-A5EF-ED3DE277AA75}"/>
                </a:ext>
              </a:extLst>
            </p:cNvPr>
            <p:cNvSpPr/>
            <p:nvPr userDrawn="1"/>
          </p:nvSpPr>
          <p:spPr>
            <a:xfrm rot="16486328">
              <a:off x="9416035" y="559468"/>
              <a:ext cx="327259" cy="914400"/>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Gelijkbenige driehoek 12">
              <a:extLst>
                <a:ext uri="{FF2B5EF4-FFF2-40B4-BE49-F238E27FC236}">
                  <a16:creationId xmlns:a16="http://schemas.microsoft.com/office/drawing/2014/main" id="{B3547876-3716-F901-4562-FEB31358FCDC}"/>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id="{AD796653-2476-D644-F891-848D6AF2F91D}"/>
                </a:ext>
              </a:extLst>
            </p:cNvPr>
            <p:cNvSpPr/>
            <p:nvPr userDrawn="1"/>
          </p:nvSpPr>
          <p:spPr>
            <a:xfrm rot="13078281">
              <a:off x="10640924" y="1357290"/>
              <a:ext cx="475200" cy="954000"/>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267451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el + Subtitel">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27DE919D-247E-68E4-8BEA-6D6171F26009}"/>
              </a:ext>
            </a:extLst>
          </p:cNvPr>
          <p:cNvSpPr>
            <a:spLocks noGrp="1"/>
          </p:cNvSpPr>
          <p:nvPr>
            <p:ph type="sldNum" sz="quarter" idx="4"/>
          </p:nvPr>
        </p:nvSpPr>
        <p:spPr>
          <a:xfrm>
            <a:off x="0" y="6553688"/>
            <a:ext cx="288001" cy="288000"/>
          </a:xfrm>
          <a:prstGeom prst="rect">
            <a:avLst/>
          </a:prstGeom>
        </p:spPr>
        <p:txBody>
          <a:bodyPr vert="horz" lIns="0" tIns="0" rIns="0" bIns="0" rtlCol="0" anchor="ctr"/>
          <a:lstStyle>
            <a:lvl1pPr algn="ctr">
              <a:defRPr sz="1050">
                <a:solidFill>
                  <a:schemeClr val="tx1">
                    <a:tint val="75000"/>
                  </a:schemeClr>
                </a:solidFill>
                <a:latin typeface="Verdana" panose="020B0604030504040204" pitchFamily="34" charset="0"/>
                <a:ea typeface="Verdana" panose="020B0604030504040204" pitchFamily="34" charset="0"/>
              </a:defRPr>
            </a:lvl1pPr>
          </a:lstStyle>
          <a:p>
            <a:pPr>
              <a:defRPr/>
            </a:pPr>
            <a:fld id="{C698A4D3-8B34-4F59-BA76-BF518A49D96C}" type="slidenum">
              <a:rPr lang="nl-NL" smtClean="0">
                <a:solidFill>
                  <a:prstClr val="black">
                    <a:tint val="75000"/>
                  </a:prstClr>
                </a:solidFill>
              </a:rPr>
              <a:pPr>
                <a:defRPr/>
              </a:pPr>
              <a:t>‹nr.›</a:t>
            </a:fld>
            <a:endParaRPr lang="nl-NL">
              <a:solidFill>
                <a:prstClr val="black">
                  <a:tint val="75000"/>
                </a:prstClr>
              </a:solidFill>
            </a:endParaRPr>
          </a:p>
        </p:txBody>
      </p:sp>
      <p:grpSp>
        <p:nvGrpSpPr>
          <p:cNvPr id="18" name="Group 17">
            <a:extLst>
              <a:ext uri="{FF2B5EF4-FFF2-40B4-BE49-F238E27FC236}">
                <a16:creationId xmlns:a16="http://schemas.microsoft.com/office/drawing/2014/main" id="{A68C4910-0E13-159B-29BA-81BFEB0862A2}"/>
              </a:ext>
            </a:extLst>
          </p:cNvPr>
          <p:cNvGrpSpPr>
            <a:grpSpLocks noChangeAspect="1"/>
          </p:cNvGrpSpPr>
          <p:nvPr userDrawn="1"/>
        </p:nvGrpSpPr>
        <p:grpSpPr>
          <a:xfrm>
            <a:off x="10693111" y="104660"/>
            <a:ext cx="1610100" cy="1194512"/>
            <a:chOff x="9120885" y="-636163"/>
            <a:chExt cx="3280205" cy="2433544"/>
          </a:xfrm>
        </p:grpSpPr>
        <p:sp>
          <p:nvSpPr>
            <p:cNvPr id="3" name="Gelijkbenige driehoek 8">
              <a:extLst>
                <a:ext uri="{FF2B5EF4-FFF2-40B4-BE49-F238E27FC236}">
                  <a16:creationId xmlns:a16="http://schemas.microsoft.com/office/drawing/2014/main" id="{BDFFD9D8-CA9E-5799-61BD-00B387AFA7B0}"/>
                </a:ext>
              </a:extLst>
            </p:cNvPr>
            <p:cNvSpPr/>
            <p:nvPr userDrawn="1"/>
          </p:nvSpPr>
          <p:spPr>
            <a:xfrm rot="14777940">
              <a:off x="10747850" y="-1164011"/>
              <a:ext cx="1125392" cy="2181088"/>
            </a:xfrm>
            <a:prstGeom prst="triangle">
              <a:avLst/>
            </a:prstGeom>
            <a:solidFill>
              <a:srgbClr val="A2C877">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Gelijkbenige driehoek 9">
              <a:extLst>
                <a:ext uri="{FF2B5EF4-FFF2-40B4-BE49-F238E27FC236}">
                  <a16:creationId xmlns:a16="http://schemas.microsoft.com/office/drawing/2014/main" id="{2DBB7842-F141-DD03-265A-0257E6F16E10}"/>
                </a:ext>
              </a:extLst>
            </p:cNvPr>
            <p:cNvSpPr/>
            <p:nvPr userDrawn="1"/>
          </p:nvSpPr>
          <p:spPr>
            <a:xfrm rot="10420549">
              <a:off x="9744116" y="-404316"/>
              <a:ext cx="596765" cy="837398"/>
            </a:xfrm>
            <a:prstGeom prst="triangle">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Gelijkbenige driehoek 10">
              <a:extLst>
                <a:ext uri="{FF2B5EF4-FFF2-40B4-BE49-F238E27FC236}">
                  <a16:creationId xmlns:a16="http://schemas.microsoft.com/office/drawing/2014/main" id="{9B3CDB94-5E80-DCAF-5DCD-E72E18D2E979}"/>
                </a:ext>
              </a:extLst>
            </p:cNvPr>
            <p:cNvSpPr/>
            <p:nvPr userDrawn="1"/>
          </p:nvSpPr>
          <p:spPr>
            <a:xfrm rot="13828098">
              <a:off x="9414455" y="1176552"/>
              <a:ext cx="327259" cy="914399"/>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lijkbenige driehoek 12">
              <a:extLst>
                <a:ext uri="{FF2B5EF4-FFF2-40B4-BE49-F238E27FC236}">
                  <a16:creationId xmlns:a16="http://schemas.microsoft.com/office/drawing/2014/main" id="{460233A6-0DC0-1C2A-DE6B-349DD507CD08}"/>
                </a:ext>
              </a:extLst>
            </p:cNvPr>
            <p:cNvSpPr/>
            <p:nvPr userDrawn="1"/>
          </p:nvSpPr>
          <p:spPr>
            <a:xfrm rot="11992692">
              <a:off x="11755555" y="790077"/>
              <a:ext cx="327259" cy="582330"/>
            </a:xfrm>
            <a:prstGeom prst="triangle">
              <a:avLst/>
            </a:prstGeom>
            <a:solidFill>
              <a:srgbClr val="0E9D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Isosceles Triangle 15">
              <a:extLst>
                <a:ext uri="{FF2B5EF4-FFF2-40B4-BE49-F238E27FC236}">
                  <a16:creationId xmlns:a16="http://schemas.microsoft.com/office/drawing/2014/main" id="{EBD604DF-39D5-AB02-9A72-D7289503CD69}"/>
                </a:ext>
              </a:extLst>
            </p:cNvPr>
            <p:cNvSpPr/>
            <p:nvPr userDrawn="1"/>
          </p:nvSpPr>
          <p:spPr>
            <a:xfrm rot="13078281">
              <a:off x="10819849" y="280434"/>
              <a:ext cx="475199" cy="954001"/>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Gelijkbenige driehoek 9">
              <a:extLst>
                <a:ext uri="{FF2B5EF4-FFF2-40B4-BE49-F238E27FC236}">
                  <a16:creationId xmlns:a16="http://schemas.microsoft.com/office/drawing/2014/main" id="{C8E9D384-1200-6A23-80A0-C1CC5D546614}"/>
                </a:ext>
              </a:extLst>
            </p:cNvPr>
            <p:cNvSpPr/>
            <p:nvPr userDrawn="1"/>
          </p:nvSpPr>
          <p:spPr>
            <a:xfrm rot="15468765">
              <a:off x="10659912" y="761258"/>
              <a:ext cx="313650" cy="377585"/>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grpSp>
      <p:graphicFrame>
        <p:nvGraphicFramePr>
          <p:cNvPr id="7" name="think-cell data - do not delete" hidden="1">
            <a:extLst>
              <a:ext uri="{FF2B5EF4-FFF2-40B4-BE49-F238E27FC236}">
                <a16:creationId xmlns:a16="http://schemas.microsoft.com/office/drawing/2014/main" id="{A4094673-D1FC-6A8B-9376-29A7F30581AF}"/>
              </a:ext>
            </a:extLst>
          </p:cNvPr>
          <p:cNvGraphicFramePr>
            <a:graphicFrameLocks noChangeAspect="1"/>
          </p:cNvGraphicFramePr>
          <p:nvPr userDrawn="1">
            <p:custDataLst>
              <p:tags r:id="rId1"/>
            </p:custDataLst>
            <p:extLst>
              <p:ext uri="{D42A27DB-BD31-4B8C-83A1-F6EECF244321}">
                <p14:modId xmlns:p14="http://schemas.microsoft.com/office/powerpoint/2010/main" val="298897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A4094673-D1FC-6A8B-9376-29A7F30581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F67647D7-8832-9529-E93C-1C209D6942B6}"/>
              </a:ext>
            </a:extLst>
          </p:cNvPr>
          <p:cNvSpPr>
            <a:spLocks noGrp="1"/>
          </p:cNvSpPr>
          <p:nvPr>
            <p:ph type="title" hasCustomPrompt="1"/>
          </p:nvPr>
        </p:nvSpPr>
        <p:spPr>
          <a:xfrm>
            <a:off x="425302" y="465998"/>
            <a:ext cx="9720000" cy="504000"/>
          </a:xfrm>
        </p:spPr>
        <p:txBody>
          <a:bodyPr vert="horz" anchor="t">
            <a:noAutofit/>
          </a:bodyPr>
          <a:lstStyle>
            <a:lvl1pPr algn="l">
              <a:lnSpc>
                <a:spcPct val="100000"/>
              </a:lnSpc>
              <a:defRPr sz="2800" b="1">
                <a:solidFill>
                  <a:srgbClr val="8C95CD"/>
                </a:solidFill>
                <a:latin typeface="Verdana Pro" panose="020B0604030504040204" pitchFamily="34" charset="0"/>
              </a:defRPr>
            </a:lvl1pPr>
          </a:lstStyle>
          <a:p>
            <a:r>
              <a:rPr lang="nl-NL" noProof="0"/>
              <a:t>Titel</a:t>
            </a:r>
          </a:p>
        </p:txBody>
      </p:sp>
      <p:sp>
        <p:nvSpPr>
          <p:cNvPr id="5" name="Text Placeholder 22">
            <a:extLst>
              <a:ext uri="{FF2B5EF4-FFF2-40B4-BE49-F238E27FC236}">
                <a16:creationId xmlns:a16="http://schemas.microsoft.com/office/drawing/2014/main" id="{E5AF5ACD-C54D-E9C4-7038-3D561DA92FB1}"/>
              </a:ext>
            </a:extLst>
          </p:cNvPr>
          <p:cNvSpPr>
            <a:spLocks noGrp="1"/>
          </p:cNvSpPr>
          <p:nvPr>
            <p:ph idx="1"/>
          </p:nvPr>
        </p:nvSpPr>
        <p:spPr>
          <a:xfrm>
            <a:off x="425302" y="1473998"/>
            <a:ext cx="11233171" cy="4693530"/>
          </a:xfrm>
          <a:prstGeom prst="rect">
            <a:avLst/>
          </a:prstGeom>
        </p:spPr>
        <p:txBody>
          <a:bodyPr vert="horz" lIns="91440" tIns="45720" rIns="91440" bIns="45720" rtlCol="0">
            <a:normAutofit/>
          </a:bodyPr>
          <a:lstStyle>
            <a:lvl1pPr marL="0" indent="0">
              <a:lnSpc>
                <a:spcPct val="100000"/>
              </a:lnSpc>
              <a:spcBef>
                <a:spcPts val="0"/>
              </a:spcBef>
              <a:spcAft>
                <a:spcPts val="600"/>
              </a:spcAft>
              <a:buNone/>
              <a:defRPr sz="1200"/>
            </a:lvl1pPr>
            <a:lvl2pPr marL="360000" indent="-180000">
              <a:lnSpc>
                <a:spcPct val="100000"/>
              </a:lnSpc>
              <a:spcBef>
                <a:spcPts val="0"/>
              </a:spcBef>
              <a:spcAft>
                <a:spcPts val="600"/>
              </a:spcAft>
              <a:defRPr sz="1200"/>
            </a:lvl2pPr>
            <a:lvl3pPr marL="540000" indent="-180000">
              <a:lnSpc>
                <a:spcPct val="100000"/>
              </a:lnSpc>
              <a:spcBef>
                <a:spcPts val="0"/>
              </a:spcBef>
              <a:spcAft>
                <a:spcPts val="600"/>
              </a:spcAft>
              <a:defRPr sz="1100"/>
            </a:lvl3pPr>
            <a:lvl4pPr marL="720000" indent="-180000">
              <a:lnSpc>
                <a:spcPct val="100000"/>
              </a:lnSpc>
              <a:spcBef>
                <a:spcPts val="0"/>
              </a:spcBef>
              <a:spcAft>
                <a:spcPts val="600"/>
              </a:spcAft>
              <a:defRPr/>
            </a:lvl4pPr>
          </a:lstStyle>
          <a:p>
            <a:pPr lvl="0"/>
            <a:endParaRPr lang="nl-NL" noProof="0"/>
          </a:p>
        </p:txBody>
      </p:sp>
      <p:sp>
        <p:nvSpPr>
          <p:cNvPr id="11" name="Text Placeholder 10">
            <a:extLst>
              <a:ext uri="{FF2B5EF4-FFF2-40B4-BE49-F238E27FC236}">
                <a16:creationId xmlns:a16="http://schemas.microsoft.com/office/drawing/2014/main" id="{B97C682A-8D80-BE63-2643-D6E378D0C985}"/>
              </a:ext>
            </a:extLst>
          </p:cNvPr>
          <p:cNvSpPr>
            <a:spLocks noGrp="1"/>
          </p:cNvSpPr>
          <p:nvPr>
            <p:ph type="body" sz="quarter" idx="10" hasCustomPrompt="1"/>
          </p:nvPr>
        </p:nvSpPr>
        <p:spPr>
          <a:xfrm>
            <a:off x="425302" y="969998"/>
            <a:ext cx="10544967" cy="504000"/>
          </a:xfrm>
        </p:spPr>
        <p:txBody>
          <a:bodyPr>
            <a:noAutofit/>
          </a:bodyPr>
          <a:lstStyle>
            <a:lvl1pPr marL="0" indent="0">
              <a:lnSpc>
                <a:spcPct val="100000"/>
              </a:lnSpc>
              <a:spcBef>
                <a:spcPts val="0"/>
              </a:spcBef>
              <a:buNone/>
              <a:defRPr sz="1400" b="1">
                <a:latin typeface="Verdana Pro" panose="020B0604030504040204" pitchFamily="34" charset="0"/>
              </a:defRPr>
            </a:lvl1pPr>
            <a:lvl5pPr>
              <a:defRPr/>
            </a:lvl5pPr>
          </a:lstStyle>
          <a:p>
            <a:pPr lvl="0"/>
            <a:r>
              <a:rPr lang="nl-NL" noProof="0"/>
              <a:t>Subtitel</a:t>
            </a:r>
          </a:p>
        </p:txBody>
      </p:sp>
    </p:spTree>
    <p:extLst>
      <p:ext uri="{BB962C8B-B14F-4D97-AF65-F5344CB8AC3E}">
        <p14:creationId xmlns:p14="http://schemas.microsoft.com/office/powerpoint/2010/main" val="541205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heme" Target="../theme/theme2.xml"/><Relationship Id="rId7" Type="http://schemas.openxmlformats.org/officeDocument/2006/relationships/image" Target="../media/image3.pn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8.xml"/></Relationships>
</file>

<file path=ppt/slideMasters/_rels/slideMaster3.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12.xml"/><Relationship Id="rId7" Type="http://schemas.openxmlformats.org/officeDocument/2006/relationships/tags" Target="../tags/tag10.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3.xml"/><Relationship Id="rId5" Type="http://schemas.openxmlformats.org/officeDocument/2006/relationships/slideLayout" Target="../slideLayouts/slideLayout14.xml"/><Relationship Id="rId10" Type="http://schemas.openxmlformats.org/officeDocument/2006/relationships/image" Target="../media/image2.png"/><Relationship Id="rId4" Type="http://schemas.openxmlformats.org/officeDocument/2006/relationships/slideLayout" Target="../slideLayouts/slideLayout13.xml"/><Relationship Id="rId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7.xml"/><Relationship Id="rId7" Type="http://schemas.openxmlformats.org/officeDocument/2006/relationships/image" Target="../media/image1.emf"/><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oleObject" Target="../embeddings/oleObject1.bin"/><Relationship Id="rId5" Type="http://schemas.openxmlformats.org/officeDocument/2006/relationships/tags" Target="../tags/tag14.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20.xml"/><Relationship Id="rId7" Type="http://schemas.openxmlformats.org/officeDocument/2006/relationships/tags" Target="../tags/tag18.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5.xml"/><Relationship Id="rId5" Type="http://schemas.openxmlformats.org/officeDocument/2006/relationships/slideLayout" Target="../slideLayouts/slideLayout22.xml"/><Relationship Id="rId10"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image" Target="../media/image1.emf"/></Relationships>
</file>

<file path=ppt/slideMasters/_rels/slideMaster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25.xml"/><Relationship Id="rId7" Type="http://schemas.openxmlformats.org/officeDocument/2006/relationships/tags" Target="../tags/tag2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6.xml"/><Relationship Id="rId5" Type="http://schemas.openxmlformats.org/officeDocument/2006/relationships/slideLayout" Target="../slideLayouts/slideLayout27.xml"/><Relationship Id="rId10" Type="http://schemas.openxmlformats.org/officeDocument/2006/relationships/image" Target="../media/image2.png"/><Relationship Id="rId4" Type="http://schemas.openxmlformats.org/officeDocument/2006/relationships/slideLayout" Target="../slideLayouts/slideLayout26.xml"/><Relationship Id="rId9" Type="http://schemas.openxmlformats.org/officeDocument/2006/relationships/image" Target="../media/image1.emf"/></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2.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image" Target="../media/image1.emf"/><Relationship Id="rId5" Type="http://schemas.openxmlformats.org/officeDocument/2006/relationships/slideLayout" Target="../slideLayouts/slideLayout32.xml"/><Relationship Id="rId10" Type="http://schemas.openxmlformats.org/officeDocument/2006/relationships/oleObject" Target="../embeddings/oleObject1.bin"/><Relationship Id="rId4" Type="http://schemas.openxmlformats.org/officeDocument/2006/relationships/slideLayout" Target="../slideLayouts/slideLayout31.xml"/><Relationship Id="rId9" Type="http://schemas.openxmlformats.org/officeDocument/2006/relationships/tags" Target="../tags/tag2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DA79147A-DE0C-688A-392E-6A801EFBF826}"/>
              </a:ext>
            </a:extLst>
          </p:cNvPr>
          <p:cNvGraphicFramePr>
            <a:graphicFrameLocks noChangeAspect="1"/>
          </p:cNvGraphicFramePr>
          <p:nvPr userDrawn="1">
            <p:custDataLst>
              <p:tags r:id="rId9"/>
            </p:custDataLst>
            <p:extLst>
              <p:ext uri="{D42A27DB-BD31-4B8C-83A1-F6EECF244321}">
                <p14:modId xmlns:p14="http://schemas.microsoft.com/office/powerpoint/2010/main" val="87883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4" progId="TCLayout.ActiveDocument.1">
                  <p:embed/>
                </p:oleObj>
              </mc:Choice>
              <mc:Fallback>
                <p:oleObj name="think-cell Slide" r:id="rId10" imgW="395" imgH="394" progId="TCLayout.ActiveDocument.1">
                  <p:embed/>
                  <p:pic>
                    <p:nvPicPr>
                      <p:cNvPr id="16" name="think-cell data - do not delete" hidden="1">
                        <a:extLst>
                          <a:ext uri="{FF2B5EF4-FFF2-40B4-BE49-F238E27FC236}">
                            <a16:creationId xmlns:a16="http://schemas.microsoft.com/office/drawing/2014/main" id="{DA79147A-DE0C-688A-392E-6A801EFBF82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7" name="Title Placeholder 16">
            <a:extLst>
              <a:ext uri="{FF2B5EF4-FFF2-40B4-BE49-F238E27FC236}">
                <a16:creationId xmlns:a16="http://schemas.microsoft.com/office/drawing/2014/main" id="{824BEBA4-B2E2-38F9-A19E-F285F54186C8}"/>
              </a:ext>
            </a:extLst>
          </p:cNvPr>
          <p:cNvSpPr>
            <a:spLocks noGrp="1"/>
          </p:cNvSpPr>
          <p:nvPr>
            <p:ph type="title"/>
          </p:nvPr>
        </p:nvSpPr>
        <p:spPr>
          <a:xfrm>
            <a:off x="425302" y="136525"/>
            <a:ext cx="9720000" cy="1261351"/>
          </a:xfrm>
          <a:prstGeom prst="rect">
            <a:avLst/>
          </a:prstGeom>
        </p:spPr>
        <p:txBody>
          <a:bodyPr vert="horz" lIns="91440" tIns="45720" rIns="91440" bIns="45720" rtlCol="0" anchor="ctr">
            <a:noAutofit/>
          </a:bodyPr>
          <a:lstStyle/>
          <a:p>
            <a:r>
              <a:rPr lang="nl-NL" sz="4400" b="1">
                <a:solidFill>
                  <a:srgbClr val="8C95CD"/>
                </a:solidFill>
                <a:latin typeface="Helvetica" pitchFamily="2" charset="0"/>
              </a:rPr>
              <a:t>Master </a:t>
            </a:r>
            <a:r>
              <a:rPr lang="nl-NL" sz="4400" b="1" err="1">
                <a:solidFill>
                  <a:srgbClr val="8C95CD"/>
                </a:solidFill>
                <a:latin typeface="Helvetica" pitchFamily="2" charset="0"/>
              </a:rPr>
              <a:t>style</a:t>
            </a:r>
            <a:endParaRPr lang="nl-NL"/>
          </a:p>
        </p:txBody>
      </p:sp>
      <p:sp>
        <p:nvSpPr>
          <p:cNvPr id="19" name="Slide Number Placeholder 18">
            <a:extLst>
              <a:ext uri="{FF2B5EF4-FFF2-40B4-BE49-F238E27FC236}">
                <a16:creationId xmlns:a16="http://schemas.microsoft.com/office/drawing/2014/main" id="{22F2D304-23CF-4E5A-85D5-16A1248F0865}"/>
              </a:ext>
            </a:extLst>
          </p:cNvPr>
          <p:cNvSpPr>
            <a:spLocks noGrp="1"/>
          </p:cNvSpPr>
          <p:nvPr>
            <p:ph type="sldNum" sz="quarter" idx="4"/>
          </p:nvPr>
        </p:nvSpPr>
        <p:spPr>
          <a:xfrm>
            <a:off x="9254818" y="6356350"/>
            <a:ext cx="1935696"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3" name="Text Placeholder 22">
            <a:extLst>
              <a:ext uri="{FF2B5EF4-FFF2-40B4-BE49-F238E27FC236}">
                <a16:creationId xmlns:a16="http://schemas.microsoft.com/office/drawing/2014/main" id="{53284EA5-63FC-FDF2-E718-1725226EDE6F}"/>
              </a:ext>
            </a:extLst>
          </p:cNvPr>
          <p:cNvSpPr>
            <a:spLocks noGrp="1"/>
          </p:cNvSpPr>
          <p:nvPr>
            <p:ph type="body" idx="1"/>
          </p:nvPr>
        </p:nvSpPr>
        <p:spPr>
          <a:xfrm>
            <a:off x="425302" y="1486800"/>
            <a:ext cx="11178447" cy="46800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Rechthoek 8">
            <a:extLst>
              <a:ext uri="{FF2B5EF4-FFF2-40B4-BE49-F238E27FC236}">
                <a16:creationId xmlns:a16="http://schemas.microsoft.com/office/drawing/2014/main" id="{A2F21F38-D5F9-C10A-AA6C-622B94068048}"/>
              </a:ext>
            </a:extLst>
          </p:cNvPr>
          <p:cNvSpPr>
            <a:spLocks noChangeAspect="1"/>
          </p:cNvSpPr>
          <p:nvPr userDrawn="1"/>
        </p:nvSpPr>
        <p:spPr>
          <a:xfrm>
            <a:off x="11212767" y="6196715"/>
            <a:ext cx="968600" cy="650651"/>
          </a:xfrm>
          <a:prstGeom prst="rect">
            <a:avLst/>
          </a:prstGeom>
          <a:blipFill dpi="0" rotWithShape="1">
            <a:blip r:embed="rId1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71584694"/>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53" r:id="rId6"/>
    <p:sldLayoutId id="2147483802" r:id="rId7"/>
  </p:sldLayoutIdLst>
  <p:hf hdr="0" ftr="0"/>
  <p:txStyles>
    <p:titleStyle>
      <a:lvl1pPr algn="l" defTabSz="914400" rtl="0" eaLnBrk="1" latinLnBrk="0" hangingPunct="1">
        <a:lnSpc>
          <a:spcPct val="90000"/>
        </a:lnSpc>
        <a:spcBef>
          <a:spcPct val="0"/>
        </a:spcBef>
        <a:buNone/>
        <a:defRPr sz="3600" kern="1200">
          <a:solidFill>
            <a:schemeClr val="tx1"/>
          </a:solidFill>
          <a:latin typeface="Verdana Pro" panose="020B0604030504040204" pitchFamily="34" charset="0"/>
          <a:ea typeface="Verdana" panose="020B0604030504040204" pitchFamily="34" charset="0"/>
          <a:cs typeface="+mj-cs"/>
        </a:defRPr>
      </a:lvl1pPr>
    </p:titleStyle>
    <p:bodyStyle>
      <a:lvl1pPr marL="180000" indent="-180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1pPr>
      <a:lvl2pPr marL="360000" indent="-180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2pPr>
      <a:lvl3pPr marL="540000" indent="-180000" algn="l" defTabSz="914400"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mn-cs"/>
        </a:defRPr>
      </a:lvl3pPr>
      <a:lvl4pPr marL="720000" indent="-180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DA79147A-DE0C-688A-392E-6A801EFBF826}"/>
              </a:ext>
            </a:extLst>
          </p:cNvPr>
          <p:cNvGraphicFramePr>
            <a:graphicFrameLocks noChangeAspect="1"/>
          </p:cNvGraphicFramePr>
          <p:nvPr userDrawn="1">
            <p:custDataLst>
              <p:tags r:id="rId4"/>
            </p:custDataLst>
            <p:extLst>
              <p:ext uri="{D42A27DB-BD31-4B8C-83A1-F6EECF244321}">
                <p14:modId xmlns:p14="http://schemas.microsoft.com/office/powerpoint/2010/main" val="87883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6" name="think-cell data - do not delete" hidden="1">
                        <a:extLst>
                          <a:ext uri="{FF2B5EF4-FFF2-40B4-BE49-F238E27FC236}">
                            <a16:creationId xmlns:a16="http://schemas.microsoft.com/office/drawing/2014/main" id="{DA79147A-DE0C-688A-392E-6A801EFBF82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7" name="Title Placeholder 16">
            <a:extLst>
              <a:ext uri="{FF2B5EF4-FFF2-40B4-BE49-F238E27FC236}">
                <a16:creationId xmlns:a16="http://schemas.microsoft.com/office/drawing/2014/main" id="{824BEBA4-B2E2-38F9-A19E-F285F54186C8}"/>
              </a:ext>
            </a:extLst>
          </p:cNvPr>
          <p:cNvSpPr>
            <a:spLocks noGrp="1"/>
          </p:cNvSpPr>
          <p:nvPr>
            <p:ph type="title"/>
          </p:nvPr>
        </p:nvSpPr>
        <p:spPr>
          <a:xfrm>
            <a:off x="425302" y="136525"/>
            <a:ext cx="9720000" cy="1261351"/>
          </a:xfrm>
          <a:prstGeom prst="rect">
            <a:avLst/>
          </a:prstGeom>
        </p:spPr>
        <p:txBody>
          <a:bodyPr vert="horz" lIns="91440" tIns="45720" rIns="91440" bIns="45720" rtlCol="0" anchor="ctr">
            <a:normAutofit/>
          </a:bodyPr>
          <a:lstStyle/>
          <a:p>
            <a:r>
              <a:rPr lang="nl-NL" sz="4400" b="1">
                <a:solidFill>
                  <a:srgbClr val="8C95CD"/>
                </a:solidFill>
                <a:latin typeface="Helvetica" pitchFamily="2" charset="0"/>
              </a:rPr>
              <a:t>Master </a:t>
            </a:r>
            <a:r>
              <a:rPr lang="nl-NL" sz="4400" b="1" err="1">
                <a:solidFill>
                  <a:srgbClr val="8C95CD"/>
                </a:solidFill>
                <a:latin typeface="Helvetica" pitchFamily="2" charset="0"/>
              </a:rPr>
              <a:t>style</a:t>
            </a:r>
            <a:endParaRPr lang="nl-NL"/>
          </a:p>
        </p:txBody>
      </p:sp>
      <p:sp>
        <p:nvSpPr>
          <p:cNvPr id="18" name="Date Placeholder 17">
            <a:extLst>
              <a:ext uri="{FF2B5EF4-FFF2-40B4-BE49-F238E27FC236}">
                <a16:creationId xmlns:a16="http://schemas.microsoft.com/office/drawing/2014/main" id="{E00B78CA-FC69-7DAA-794A-ED5ECC730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9" name="Slide Number Placeholder 18">
            <a:extLst>
              <a:ext uri="{FF2B5EF4-FFF2-40B4-BE49-F238E27FC236}">
                <a16:creationId xmlns:a16="http://schemas.microsoft.com/office/drawing/2014/main" id="{22F2D304-23CF-4E5A-85D5-16A1248F0865}"/>
              </a:ext>
            </a:extLst>
          </p:cNvPr>
          <p:cNvSpPr>
            <a:spLocks noGrp="1"/>
          </p:cNvSpPr>
          <p:nvPr>
            <p:ph type="sldNum" sz="quarter" idx="4"/>
          </p:nvPr>
        </p:nvSpPr>
        <p:spPr>
          <a:xfrm>
            <a:off x="8610600" y="6356350"/>
            <a:ext cx="1935696"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3" name="Text Placeholder 22">
            <a:extLst>
              <a:ext uri="{FF2B5EF4-FFF2-40B4-BE49-F238E27FC236}">
                <a16:creationId xmlns:a16="http://schemas.microsoft.com/office/drawing/2014/main" id="{53284EA5-63FC-FDF2-E718-1725226EDE6F}"/>
              </a:ext>
            </a:extLst>
          </p:cNvPr>
          <p:cNvSpPr>
            <a:spLocks noGrp="1"/>
          </p:cNvSpPr>
          <p:nvPr>
            <p:ph type="body" idx="1"/>
          </p:nvPr>
        </p:nvSpPr>
        <p:spPr>
          <a:xfrm>
            <a:off x="425302" y="1486800"/>
            <a:ext cx="11178447"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a:extLst>
              <a:ext uri="{FF2B5EF4-FFF2-40B4-BE49-F238E27FC236}">
                <a16:creationId xmlns:a16="http://schemas.microsoft.com/office/drawing/2014/main" id="{EBFB08B2-9F0E-D5AC-913D-282644657889}"/>
              </a:ext>
            </a:extLst>
          </p:cNvPr>
          <p:cNvPicPr>
            <a:picLocks noChangeAspect="1"/>
          </p:cNvPicPr>
          <p:nvPr userDrawn="1"/>
        </p:nvPicPr>
        <p:blipFill>
          <a:blip r:embed="rId7"/>
          <a:srcRect t="8184" r="3430"/>
          <a:stretch/>
        </p:blipFill>
        <p:spPr>
          <a:xfrm>
            <a:off x="10207951" y="0"/>
            <a:ext cx="1984049" cy="1399400"/>
          </a:xfrm>
          <a:prstGeom prst="rect">
            <a:avLst/>
          </a:prstGeom>
        </p:spPr>
      </p:pic>
      <p:sp>
        <p:nvSpPr>
          <p:cNvPr id="4" name="Rechthoek 8">
            <a:extLst>
              <a:ext uri="{FF2B5EF4-FFF2-40B4-BE49-F238E27FC236}">
                <a16:creationId xmlns:a16="http://schemas.microsoft.com/office/drawing/2014/main" id="{AD9435E8-8414-435C-A32A-B65E5C0DF511}"/>
              </a:ext>
            </a:extLst>
          </p:cNvPr>
          <p:cNvSpPr>
            <a:spLocks noChangeAspect="1"/>
          </p:cNvSpPr>
          <p:nvPr userDrawn="1"/>
        </p:nvSpPr>
        <p:spPr>
          <a:xfrm>
            <a:off x="11212767" y="6196715"/>
            <a:ext cx="968600" cy="650651"/>
          </a:xfrm>
          <a:prstGeom prst="rect">
            <a:avLst/>
          </a:prstGeom>
          <a:blipFill dpi="0" rotWithShape="1">
            <a:blip r:embed="rId8"/>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851385696"/>
      </p:ext>
    </p:extLst>
  </p:cSld>
  <p:clrMap bg1="lt1" tx1="dk1" bg2="lt2" tx2="dk2" accent1="accent1" accent2="accent2" accent3="accent3" accent4="accent4" accent5="accent5" accent6="accent6" hlink="hlink" folHlink="folHlink"/>
  <p:sldLayoutIdLst>
    <p:sldLayoutId id="2147483804" r:id="rId1"/>
    <p:sldLayoutId id="2147483805" r:id="rId2"/>
  </p:sldLayoutIdLst>
  <p:hf hdr="0" ft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05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DA79147A-DE0C-688A-392E-6A801EFBF826}"/>
              </a:ext>
            </a:extLst>
          </p:cNvPr>
          <p:cNvGraphicFramePr>
            <a:graphicFrameLocks noChangeAspect="1"/>
          </p:cNvGraphicFramePr>
          <p:nvPr userDrawn="1">
            <p:custDataLst>
              <p:tags r:id="rId7"/>
            </p:custDataLst>
            <p:extLst>
              <p:ext uri="{D42A27DB-BD31-4B8C-83A1-F6EECF244321}">
                <p14:modId xmlns:p14="http://schemas.microsoft.com/office/powerpoint/2010/main" val="87883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6" name="think-cell data - do not delete" hidden="1">
                        <a:extLst>
                          <a:ext uri="{FF2B5EF4-FFF2-40B4-BE49-F238E27FC236}">
                            <a16:creationId xmlns:a16="http://schemas.microsoft.com/office/drawing/2014/main" id="{DA79147A-DE0C-688A-392E-6A801EFBF82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7" name="Title Placeholder 16">
            <a:extLst>
              <a:ext uri="{FF2B5EF4-FFF2-40B4-BE49-F238E27FC236}">
                <a16:creationId xmlns:a16="http://schemas.microsoft.com/office/drawing/2014/main" id="{824BEBA4-B2E2-38F9-A19E-F285F54186C8}"/>
              </a:ext>
            </a:extLst>
          </p:cNvPr>
          <p:cNvSpPr>
            <a:spLocks noGrp="1"/>
          </p:cNvSpPr>
          <p:nvPr>
            <p:ph type="title"/>
          </p:nvPr>
        </p:nvSpPr>
        <p:spPr>
          <a:xfrm>
            <a:off x="425302" y="136525"/>
            <a:ext cx="9720000" cy="1261351"/>
          </a:xfrm>
          <a:prstGeom prst="rect">
            <a:avLst/>
          </a:prstGeom>
        </p:spPr>
        <p:txBody>
          <a:bodyPr vert="horz" lIns="91440" tIns="45720" rIns="91440" bIns="45720" rtlCol="0" anchor="ctr">
            <a:normAutofit/>
          </a:bodyPr>
          <a:lstStyle/>
          <a:p>
            <a:r>
              <a:rPr lang="nl-NL" sz="4400" b="1">
                <a:solidFill>
                  <a:srgbClr val="8C95CD"/>
                </a:solidFill>
                <a:latin typeface="Helvetica" pitchFamily="2" charset="0"/>
              </a:rPr>
              <a:t>Master </a:t>
            </a:r>
            <a:r>
              <a:rPr lang="nl-NL" sz="4400" b="1" err="1">
                <a:solidFill>
                  <a:srgbClr val="8C95CD"/>
                </a:solidFill>
                <a:latin typeface="Helvetica" pitchFamily="2" charset="0"/>
              </a:rPr>
              <a:t>style</a:t>
            </a:r>
            <a:endParaRPr lang="nl-NL"/>
          </a:p>
        </p:txBody>
      </p:sp>
      <p:sp>
        <p:nvSpPr>
          <p:cNvPr id="18" name="Date Placeholder 17">
            <a:extLst>
              <a:ext uri="{FF2B5EF4-FFF2-40B4-BE49-F238E27FC236}">
                <a16:creationId xmlns:a16="http://schemas.microsoft.com/office/drawing/2014/main" id="{E00B78CA-FC69-7DAA-794A-ED5ECC730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9" name="Slide Number Placeholder 18">
            <a:extLst>
              <a:ext uri="{FF2B5EF4-FFF2-40B4-BE49-F238E27FC236}">
                <a16:creationId xmlns:a16="http://schemas.microsoft.com/office/drawing/2014/main" id="{22F2D304-23CF-4E5A-85D5-16A1248F0865}"/>
              </a:ext>
            </a:extLst>
          </p:cNvPr>
          <p:cNvSpPr>
            <a:spLocks noGrp="1"/>
          </p:cNvSpPr>
          <p:nvPr>
            <p:ph type="sldNum" sz="quarter" idx="4"/>
          </p:nvPr>
        </p:nvSpPr>
        <p:spPr>
          <a:xfrm>
            <a:off x="8610600" y="6356350"/>
            <a:ext cx="1935696"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3" name="Text Placeholder 22">
            <a:extLst>
              <a:ext uri="{FF2B5EF4-FFF2-40B4-BE49-F238E27FC236}">
                <a16:creationId xmlns:a16="http://schemas.microsoft.com/office/drawing/2014/main" id="{53284EA5-63FC-FDF2-E718-1725226EDE6F}"/>
              </a:ext>
            </a:extLst>
          </p:cNvPr>
          <p:cNvSpPr>
            <a:spLocks noGrp="1"/>
          </p:cNvSpPr>
          <p:nvPr>
            <p:ph type="body" idx="1"/>
          </p:nvPr>
        </p:nvSpPr>
        <p:spPr>
          <a:xfrm>
            <a:off x="425302" y="1486800"/>
            <a:ext cx="11178447"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Rechthoek 8">
            <a:extLst>
              <a:ext uri="{FF2B5EF4-FFF2-40B4-BE49-F238E27FC236}">
                <a16:creationId xmlns:a16="http://schemas.microsoft.com/office/drawing/2014/main" id="{A2F21F38-D5F9-C10A-AA6C-622B94068048}"/>
              </a:ext>
            </a:extLst>
          </p:cNvPr>
          <p:cNvSpPr>
            <a:spLocks noChangeAspect="1"/>
          </p:cNvSpPr>
          <p:nvPr userDrawn="1"/>
        </p:nvSpPr>
        <p:spPr>
          <a:xfrm>
            <a:off x="11190514" y="6207348"/>
            <a:ext cx="968600" cy="650651"/>
          </a:xfrm>
          <a:prstGeom prst="rect">
            <a:avLst/>
          </a:prstGeom>
          <a:blipFill dpi="0" rotWithShape="1">
            <a:blip r:embed="rId10"/>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914264311"/>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Lst>
  <p:hf hdr="0" ft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DA79147A-DE0C-688A-392E-6A801EFBF826}"/>
              </a:ext>
            </a:extLst>
          </p:cNvPr>
          <p:cNvGraphicFramePr>
            <a:graphicFrameLocks noChangeAspect="1"/>
          </p:cNvGraphicFramePr>
          <p:nvPr userDrawn="1">
            <p:custDataLst>
              <p:tags r:id="rId5"/>
            </p:custDataLst>
            <p:extLst>
              <p:ext uri="{D42A27DB-BD31-4B8C-83A1-F6EECF244321}">
                <p14:modId xmlns:p14="http://schemas.microsoft.com/office/powerpoint/2010/main" val="87883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6" name="think-cell data - do not delete" hidden="1">
                        <a:extLst>
                          <a:ext uri="{FF2B5EF4-FFF2-40B4-BE49-F238E27FC236}">
                            <a16:creationId xmlns:a16="http://schemas.microsoft.com/office/drawing/2014/main" id="{DA79147A-DE0C-688A-392E-6A801EFBF82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7" name="Title Placeholder 16">
            <a:extLst>
              <a:ext uri="{FF2B5EF4-FFF2-40B4-BE49-F238E27FC236}">
                <a16:creationId xmlns:a16="http://schemas.microsoft.com/office/drawing/2014/main" id="{824BEBA4-B2E2-38F9-A19E-F285F54186C8}"/>
              </a:ext>
            </a:extLst>
          </p:cNvPr>
          <p:cNvSpPr>
            <a:spLocks noGrp="1"/>
          </p:cNvSpPr>
          <p:nvPr>
            <p:ph type="title"/>
          </p:nvPr>
        </p:nvSpPr>
        <p:spPr>
          <a:xfrm>
            <a:off x="425302" y="136525"/>
            <a:ext cx="9720000" cy="1261351"/>
          </a:xfrm>
          <a:prstGeom prst="rect">
            <a:avLst/>
          </a:prstGeom>
        </p:spPr>
        <p:txBody>
          <a:bodyPr vert="horz" lIns="91440" tIns="45720" rIns="91440" bIns="45720" rtlCol="0" anchor="ctr">
            <a:normAutofit/>
          </a:bodyPr>
          <a:lstStyle/>
          <a:p>
            <a:r>
              <a:rPr lang="nl-NL" sz="4400" b="1">
                <a:solidFill>
                  <a:srgbClr val="8C95CD"/>
                </a:solidFill>
                <a:latin typeface="Helvetica" pitchFamily="2" charset="0"/>
              </a:rPr>
              <a:t>Master </a:t>
            </a:r>
            <a:r>
              <a:rPr lang="nl-NL" sz="4400" b="1" err="1">
                <a:solidFill>
                  <a:srgbClr val="8C95CD"/>
                </a:solidFill>
                <a:latin typeface="Helvetica" pitchFamily="2" charset="0"/>
              </a:rPr>
              <a:t>style</a:t>
            </a:r>
            <a:endParaRPr lang="nl-NL"/>
          </a:p>
        </p:txBody>
      </p:sp>
      <p:sp>
        <p:nvSpPr>
          <p:cNvPr id="18" name="Date Placeholder 17">
            <a:extLst>
              <a:ext uri="{FF2B5EF4-FFF2-40B4-BE49-F238E27FC236}">
                <a16:creationId xmlns:a16="http://schemas.microsoft.com/office/drawing/2014/main" id="{E00B78CA-FC69-7DAA-794A-ED5ECC730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9" name="Slide Number Placeholder 18">
            <a:extLst>
              <a:ext uri="{FF2B5EF4-FFF2-40B4-BE49-F238E27FC236}">
                <a16:creationId xmlns:a16="http://schemas.microsoft.com/office/drawing/2014/main" id="{22F2D304-23CF-4E5A-85D5-16A1248F0865}"/>
              </a:ext>
            </a:extLst>
          </p:cNvPr>
          <p:cNvSpPr>
            <a:spLocks noGrp="1"/>
          </p:cNvSpPr>
          <p:nvPr>
            <p:ph type="sldNum" sz="quarter" idx="4"/>
          </p:nvPr>
        </p:nvSpPr>
        <p:spPr>
          <a:xfrm>
            <a:off x="8610600" y="6356350"/>
            <a:ext cx="1935696"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3" name="Text Placeholder 22">
            <a:extLst>
              <a:ext uri="{FF2B5EF4-FFF2-40B4-BE49-F238E27FC236}">
                <a16:creationId xmlns:a16="http://schemas.microsoft.com/office/drawing/2014/main" id="{53284EA5-63FC-FDF2-E718-1725226EDE6F}"/>
              </a:ext>
            </a:extLst>
          </p:cNvPr>
          <p:cNvSpPr>
            <a:spLocks noGrp="1"/>
          </p:cNvSpPr>
          <p:nvPr>
            <p:ph type="body" idx="1"/>
          </p:nvPr>
        </p:nvSpPr>
        <p:spPr>
          <a:xfrm>
            <a:off x="425302" y="1486800"/>
            <a:ext cx="11178447"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Rechthoek 8">
            <a:extLst>
              <a:ext uri="{FF2B5EF4-FFF2-40B4-BE49-F238E27FC236}">
                <a16:creationId xmlns:a16="http://schemas.microsoft.com/office/drawing/2014/main" id="{A2F21F38-D5F9-C10A-AA6C-622B94068048}"/>
              </a:ext>
            </a:extLst>
          </p:cNvPr>
          <p:cNvSpPr>
            <a:spLocks noChangeAspect="1"/>
          </p:cNvSpPr>
          <p:nvPr userDrawn="1"/>
        </p:nvSpPr>
        <p:spPr>
          <a:xfrm>
            <a:off x="11190514" y="6207348"/>
            <a:ext cx="968600" cy="650651"/>
          </a:xfrm>
          <a:prstGeom prst="rect">
            <a:avLst/>
          </a:prstGeom>
          <a:blipFill dpi="0" rotWithShape="1">
            <a:blip r:embed="rId8"/>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4153654426"/>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Lst>
  <p:hf hdr="0" ft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DA79147A-DE0C-688A-392E-6A801EFBF826}"/>
              </a:ext>
            </a:extLst>
          </p:cNvPr>
          <p:cNvGraphicFramePr>
            <a:graphicFrameLocks noChangeAspect="1"/>
          </p:cNvGraphicFramePr>
          <p:nvPr userDrawn="1">
            <p:custDataLst>
              <p:tags r:id="rId7"/>
            </p:custDataLst>
            <p:extLst>
              <p:ext uri="{D42A27DB-BD31-4B8C-83A1-F6EECF244321}">
                <p14:modId xmlns:p14="http://schemas.microsoft.com/office/powerpoint/2010/main" val="87883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6" name="think-cell data - do not delete" hidden="1">
                        <a:extLst>
                          <a:ext uri="{FF2B5EF4-FFF2-40B4-BE49-F238E27FC236}">
                            <a16:creationId xmlns:a16="http://schemas.microsoft.com/office/drawing/2014/main" id="{DA79147A-DE0C-688A-392E-6A801EFBF82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7" name="Title Placeholder 16">
            <a:extLst>
              <a:ext uri="{FF2B5EF4-FFF2-40B4-BE49-F238E27FC236}">
                <a16:creationId xmlns:a16="http://schemas.microsoft.com/office/drawing/2014/main" id="{824BEBA4-B2E2-38F9-A19E-F285F54186C8}"/>
              </a:ext>
            </a:extLst>
          </p:cNvPr>
          <p:cNvSpPr>
            <a:spLocks noGrp="1"/>
          </p:cNvSpPr>
          <p:nvPr>
            <p:ph type="title"/>
          </p:nvPr>
        </p:nvSpPr>
        <p:spPr>
          <a:xfrm>
            <a:off x="425302" y="136525"/>
            <a:ext cx="9720000" cy="1261351"/>
          </a:xfrm>
          <a:prstGeom prst="rect">
            <a:avLst/>
          </a:prstGeom>
        </p:spPr>
        <p:txBody>
          <a:bodyPr vert="horz" lIns="91440" tIns="45720" rIns="91440" bIns="45720" rtlCol="0" anchor="ctr">
            <a:normAutofit/>
          </a:bodyPr>
          <a:lstStyle/>
          <a:p>
            <a:r>
              <a:rPr lang="nl-NL" sz="4400" b="1">
                <a:solidFill>
                  <a:srgbClr val="8C95CD"/>
                </a:solidFill>
                <a:latin typeface="Helvetica" pitchFamily="2" charset="0"/>
              </a:rPr>
              <a:t>Master </a:t>
            </a:r>
            <a:r>
              <a:rPr lang="nl-NL" sz="4400" b="1" err="1">
                <a:solidFill>
                  <a:srgbClr val="8C95CD"/>
                </a:solidFill>
                <a:latin typeface="Helvetica" pitchFamily="2" charset="0"/>
              </a:rPr>
              <a:t>style</a:t>
            </a:r>
            <a:endParaRPr lang="nl-NL"/>
          </a:p>
        </p:txBody>
      </p:sp>
      <p:sp>
        <p:nvSpPr>
          <p:cNvPr id="18" name="Date Placeholder 17">
            <a:extLst>
              <a:ext uri="{FF2B5EF4-FFF2-40B4-BE49-F238E27FC236}">
                <a16:creationId xmlns:a16="http://schemas.microsoft.com/office/drawing/2014/main" id="{E00B78CA-FC69-7DAA-794A-ED5ECC730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9" name="Slide Number Placeholder 18">
            <a:extLst>
              <a:ext uri="{FF2B5EF4-FFF2-40B4-BE49-F238E27FC236}">
                <a16:creationId xmlns:a16="http://schemas.microsoft.com/office/drawing/2014/main" id="{22F2D304-23CF-4E5A-85D5-16A1248F0865}"/>
              </a:ext>
            </a:extLst>
          </p:cNvPr>
          <p:cNvSpPr>
            <a:spLocks noGrp="1"/>
          </p:cNvSpPr>
          <p:nvPr>
            <p:ph type="sldNum" sz="quarter" idx="4"/>
          </p:nvPr>
        </p:nvSpPr>
        <p:spPr>
          <a:xfrm>
            <a:off x="8610600" y="6356350"/>
            <a:ext cx="1935696"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3" name="Text Placeholder 22">
            <a:extLst>
              <a:ext uri="{FF2B5EF4-FFF2-40B4-BE49-F238E27FC236}">
                <a16:creationId xmlns:a16="http://schemas.microsoft.com/office/drawing/2014/main" id="{53284EA5-63FC-FDF2-E718-1725226EDE6F}"/>
              </a:ext>
            </a:extLst>
          </p:cNvPr>
          <p:cNvSpPr>
            <a:spLocks noGrp="1"/>
          </p:cNvSpPr>
          <p:nvPr>
            <p:ph type="body" idx="1"/>
          </p:nvPr>
        </p:nvSpPr>
        <p:spPr>
          <a:xfrm>
            <a:off x="425302" y="1486800"/>
            <a:ext cx="11178447"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Rechthoek 8">
            <a:extLst>
              <a:ext uri="{FF2B5EF4-FFF2-40B4-BE49-F238E27FC236}">
                <a16:creationId xmlns:a16="http://schemas.microsoft.com/office/drawing/2014/main" id="{A2F21F38-D5F9-C10A-AA6C-622B94068048}"/>
              </a:ext>
            </a:extLst>
          </p:cNvPr>
          <p:cNvSpPr>
            <a:spLocks noChangeAspect="1"/>
          </p:cNvSpPr>
          <p:nvPr userDrawn="1"/>
        </p:nvSpPr>
        <p:spPr>
          <a:xfrm>
            <a:off x="11190514" y="6207348"/>
            <a:ext cx="968600" cy="650651"/>
          </a:xfrm>
          <a:prstGeom prst="rect">
            <a:avLst/>
          </a:prstGeom>
          <a:blipFill dpi="0" rotWithShape="1">
            <a:blip r:embed="rId10"/>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026713165"/>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Lst>
  <p:hf hdr="0" ft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DA79147A-DE0C-688A-392E-6A801EFBF826}"/>
              </a:ext>
            </a:extLst>
          </p:cNvPr>
          <p:cNvGraphicFramePr>
            <a:graphicFrameLocks noChangeAspect="1"/>
          </p:cNvGraphicFramePr>
          <p:nvPr userDrawn="1">
            <p:custDataLst>
              <p:tags r:id="rId7"/>
            </p:custDataLst>
            <p:extLst>
              <p:ext uri="{D42A27DB-BD31-4B8C-83A1-F6EECF244321}">
                <p14:modId xmlns:p14="http://schemas.microsoft.com/office/powerpoint/2010/main" val="87883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4" progId="TCLayout.ActiveDocument.1">
                  <p:embed/>
                </p:oleObj>
              </mc:Choice>
              <mc:Fallback>
                <p:oleObj name="think-cell Slide" r:id="rId8" imgW="395" imgH="394" progId="TCLayout.ActiveDocument.1">
                  <p:embed/>
                  <p:pic>
                    <p:nvPicPr>
                      <p:cNvPr id="16" name="think-cell data - do not delete" hidden="1">
                        <a:extLst>
                          <a:ext uri="{FF2B5EF4-FFF2-40B4-BE49-F238E27FC236}">
                            <a16:creationId xmlns:a16="http://schemas.microsoft.com/office/drawing/2014/main" id="{DA79147A-DE0C-688A-392E-6A801EFBF82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7" name="Title Placeholder 16">
            <a:extLst>
              <a:ext uri="{FF2B5EF4-FFF2-40B4-BE49-F238E27FC236}">
                <a16:creationId xmlns:a16="http://schemas.microsoft.com/office/drawing/2014/main" id="{824BEBA4-B2E2-38F9-A19E-F285F54186C8}"/>
              </a:ext>
            </a:extLst>
          </p:cNvPr>
          <p:cNvSpPr>
            <a:spLocks noGrp="1"/>
          </p:cNvSpPr>
          <p:nvPr>
            <p:ph type="title"/>
          </p:nvPr>
        </p:nvSpPr>
        <p:spPr>
          <a:xfrm>
            <a:off x="425302" y="136525"/>
            <a:ext cx="9720000" cy="1261351"/>
          </a:xfrm>
          <a:prstGeom prst="rect">
            <a:avLst/>
          </a:prstGeom>
        </p:spPr>
        <p:txBody>
          <a:bodyPr vert="horz" lIns="91440" tIns="45720" rIns="91440" bIns="45720" rtlCol="0" anchor="ctr">
            <a:normAutofit/>
          </a:bodyPr>
          <a:lstStyle/>
          <a:p>
            <a:r>
              <a:rPr lang="nl-NL" sz="4400" b="1" noProof="0">
                <a:solidFill>
                  <a:srgbClr val="8C95CD"/>
                </a:solidFill>
                <a:latin typeface="Helvetica" pitchFamily="2" charset="0"/>
              </a:rPr>
              <a:t>Master </a:t>
            </a:r>
            <a:r>
              <a:rPr lang="nl-NL" sz="4400" b="1" noProof="0" err="1">
                <a:solidFill>
                  <a:srgbClr val="8C95CD"/>
                </a:solidFill>
                <a:latin typeface="Helvetica" pitchFamily="2" charset="0"/>
              </a:rPr>
              <a:t>style</a:t>
            </a:r>
            <a:endParaRPr lang="nl-NL" noProof="0"/>
          </a:p>
        </p:txBody>
      </p:sp>
      <p:sp>
        <p:nvSpPr>
          <p:cNvPr id="18" name="Date Placeholder 17">
            <a:extLst>
              <a:ext uri="{FF2B5EF4-FFF2-40B4-BE49-F238E27FC236}">
                <a16:creationId xmlns:a16="http://schemas.microsoft.com/office/drawing/2014/main" id="{E00B78CA-FC69-7DAA-794A-ED5ECC7309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B4D5DF-01AB-4253-B07A-D2C2FAD97D42}" type="datetimeFigureOut">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1-12-2024</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19" name="Slide Number Placeholder 18">
            <a:extLst>
              <a:ext uri="{FF2B5EF4-FFF2-40B4-BE49-F238E27FC236}">
                <a16:creationId xmlns:a16="http://schemas.microsoft.com/office/drawing/2014/main" id="{22F2D304-23CF-4E5A-85D5-16A1248F0865}"/>
              </a:ext>
            </a:extLst>
          </p:cNvPr>
          <p:cNvSpPr>
            <a:spLocks noGrp="1"/>
          </p:cNvSpPr>
          <p:nvPr>
            <p:ph type="sldNum" sz="quarter" idx="4"/>
          </p:nvPr>
        </p:nvSpPr>
        <p:spPr>
          <a:xfrm>
            <a:off x="8610600" y="6356350"/>
            <a:ext cx="1935696"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3" name="Text Placeholder 22">
            <a:extLst>
              <a:ext uri="{FF2B5EF4-FFF2-40B4-BE49-F238E27FC236}">
                <a16:creationId xmlns:a16="http://schemas.microsoft.com/office/drawing/2014/main" id="{53284EA5-63FC-FDF2-E718-1725226EDE6F}"/>
              </a:ext>
            </a:extLst>
          </p:cNvPr>
          <p:cNvSpPr>
            <a:spLocks noGrp="1"/>
          </p:cNvSpPr>
          <p:nvPr>
            <p:ph type="body" idx="1"/>
          </p:nvPr>
        </p:nvSpPr>
        <p:spPr>
          <a:xfrm>
            <a:off x="425302" y="1486800"/>
            <a:ext cx="11178447" cy="4680000"/>
          </a:xfrm>
          <a:prstGeom prst="rect">
            <a:avLst/>
          </a:prstGeom>
        </p:spPr>
        <p:txBody>
          <a:bodyPr vert="horz" lIns="91440" tIns="45720" rIns="91440" bIns="45720" rtlCol="0">
            <a:normAutofit/>
          </a:bodyPr>
          <a:lstStyle/>
          <a:p>
            <a:pPr lvl="0"/>
            <a:r>
              <a:rPr lang="nl-NL" noProof="0"/>
              <a:t>Click </a:t>
            </a:r>
            <a:r>
              <a:rPr lang="nl-NL" noProof="0" err="1"/>
              <a:t>to</a:t>
            </a:r>
            <a:r>
              <a:rPr lang="nl-NL" noProof="0"/>
              <a:t> </a:t>
            </a:r>
            <a:r>
              <a:rPr lang="nl-NL" noProof="0" err="1"/>
              <a:t>edit</a:t>
            </a:r>
            <a:r>
              <a:rPr lang="nl-NL" noProof="0"/>
              <a:t> Master </a:t>
            </a:r>
            <a:r>
              <a:rPr lang="nl-NL" noProof="0" err="1"/>
              <a:t>text</a:t>
            </a:r>
            <a:r>
              <a:rPr lang="nl-NL" noProof="0"/>
              <a:t> </a:t>
            </a:r>
            <a:r>
              <a:rPr lang="nl-NL" noProof="0" err="1"/>
              <a:t>styles</a:t>
            </a:r>
            <a:endParaRPr lang="nl-NL" noProof="0"/>
          </a:p>
          <a:p>
            <a:pPr lvl="1"/>
            <a:r>
              <a:rPr lang="nl-NL" noProof="0"/>
              <a:t>Second level</a:t>
            </a:r>
          </a:p>
          <a:p>
            <a:pPr lvl="2"/>
            <a:r>
              <a:rPr lang="nl-NL" noProof="0" err="1"/>
              <a:t>Third</a:t>
            </a:r>
            <a:r>
              <a:rPr lang="nl-NL" noProof="0"/>
              <a:t> level</a:t>
            </a:r>
          </a:p>
          <a:p>
            <a:pPr lvl="3"/>
            <a:r>
              <a:rPr lang="nl-NL" noProof="0" err="1"/>
              <a:t>Fourth</a:t>
            </a:r>
            <a:r>
              <a:rPr lang="nl-NL" noProof="0"/>
              <a:t> level</a:t>
            </a:r>
          </a:p>
        </p:txBody>
      </p:sp>
      <p:sp>
        <p:nvSpPr>
          <p:cNvPr id="2" name="Rechthoek 8">
            <a:extLst>
              <a:ext uri="{FF2B5EF4-FFF2-40B4-BE49-F238E27FC236}">
                <a16:creationId xmlns:a16="http://schemas.microsoft.com/office/drawing/2014/main" id="{A2F21F38-D5F9-C10A-AA6C-622B94068048}"/>
              </a:ext>
            </a:extLst>
          </p:cNvPr>
          <p:cNvSpPr>
            <a:spLocks noChangeAspect="1"/>
          </p:cNvSpPr>
          <p:nvPr userDrawn="1"/>
        </p:nvSpPr>
        <p:spPr>
          <a:xfrm>
            <a:off x="11190514" y="6207348"/>
            <a:ext cx="968600" cy="650651"/>
          </a:xfrm>
          <a:prstGeom prst="rect">
            <a:avLst/>
          </a:prstGeom>
          <a:blipFill dpi="0" rotWithShape="1">
            <a:blip r:embed="rId10"/>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Tree>
    <p:extLst>
      <p:ext uri="{BB962C8B-B14F-4D97-AF65-F5344CB8AC3E}">
        <p14:creationId xmlns:p14="http://schemas.microsoft.com/office/powerpoint/2010/main" val="3576724499"/>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31" r:id="rId5"/>
  </p:sldLayoutIdLst>
  <p:hf hdr="0" ft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DA79147A-DE0C-688A-392E-6A801EFBF826}"/>
              </a:ext>
            </a:extLst>
          </p:cNvPr>
          <p:cNvGraphicFramePr>
            <a:graphicFrameLocks noChangeAspect="1"/>
          </p:cNvGraphicFramePr>
          <p:nvPr userDrawn="1">
            <p:custDataLst>
              <p:tags r:id="rId9"/>
            </p:custDataLst>
            <p:extLst>
              <p:ext uri="{D42A27DB-BD31-4B8C-83A1-F6EECF244321}">
                <p14:modId xmlns:p14="http://schemas.microsoft.com/office/powerpoint/2010/main" val="878839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4" progId="TCLayout.ActiveDocument.1">
                  <p:embed/>
                </p:oleObj>
              </mc:Choice>
              <mc:Fallback>
                <p:oleObj name="think-cell Slide" r:id="rId10" imgW="395" imgH="394" progId="TCLayout.ActiveDocument.1">
                  <p:embed/>
                  <p:pic>
                    <p:nvPicPr>
                      <p:cNvPr id="16" name="think-cell data - do not delete" hidden="1">
                        <a:extLst>
                          <a:ext uri="{FF2B5EF4-FFF2-40B4-BE49-F238E27FC236}">
                            <a16:creationId xmlns:a16="http://schemas.microsoft.com/office/drawing/2014/main" id="{DA79147A-DE0C-688A-392E-6A801EFBF82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7" name="Title Placeholder 16">
            <a:extLst>
              <a:ext uri="{FF2B5EF4-FFF2-40B4-BE49-F238E27FC236}">
                <a16:creationId xmlns:a16="http://schemas.microsoft.com/office/drawing/2014/main" id="{824BEBA4-B2E2-38F9-A19E-F285F54186C8}"/>
              </a:ext>
            </a:extLst>
          </p:cNvPr>
          <p:cNvSpPr>
            <a:spLocks noGrp="1"/>
          </p:cNvSpPr>
          <p:nvPr>
            <p:ph type="title"/>
          </p:nvPr>
        </p:nvSpPr>
        <p:spPr>
          <a:xfrm>
            <a:off x="425302" y="136525"/>
            <a:ext cx="9720000" cy="1261351"/>
          </a:xfrm>
          <a:prstGeom prst="rect">
            <a:avLst/>
          </a:prstGeom>
        </p:spPr>
        <p:txBody>
          <a:bodyPr vert="horz" lIns="91440" tIns="45720" rIns="91440" bIns="45720" rtlCol="0" anchor="ctr">
            <a:noAutofit/>
          </a:bodyPr>
          <a:lstStyle/>
          <a:p>
            <a:r>
              <a:rPr lang="nl-NL" sz="4400" b="1">
                <a:solidFill>
                  <a:srgbClr val="8C95CD"/>
                </a:solidFill>
                <a:latin typeface="Helvetica" pitchFamily="2" charset="0"/>
              </a:rPr>
              <a:t>Master </a:t>
            </a:r>
            <a:r>
              <a:rPr lang="nl-NL" sz="4400" b="1" err="1">
                <a:solidFill>
                  <a:srgbClr val="8C95CD"/>
                </a:solidFill>
                <a:latin typeface="Helvetica" pitchFamily="2" charset="0"/>
              </a:rPr>
              <a:t>style</a:t>
            </a:r>
            <a:endParaRPr lang="nl-NL"/>
          </a:p>
        </p:txBody>
      </p:sp>
      <p:sp>
        <p:nvSpPr>
          <p:cNvPr id="19" name="Slide Number Placeholder 18">
            <a:extLst>
              <a:ext uri="{FF2B5EF4-FFF2-40B4-BE49-F238E27FC236}">
                <a16:creationId xmlns:a16="http://schemas.microsoft.com/office/drawing/2014/main" id="{22F2D304-23CF-4E5A-85D5-16A1248F0865}"/>
              </a:ext>
            </a:extLst>
          </p:cNvPr>
          <p:cNvSpPr>
            <a:spLocks noGrp="1"/>
          </p:cNvSpPr>
          <p:nvPr>
            <p:ph type="sldNum" sz="quarter" idx="4"/>
          </p:nvPr>
        </p:nvSpPr>
        <p:spPr>
          <a:xfrm>
            <a:off x="9254818" y="6356350"/>
            <a:ext cx="1935696"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12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2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23" name="Text Placeholder 22">
            <a:extLst>
              <a:ext uri="{FF2B5EF4-FFF2-40B4-BE49-F238E27FC236}">
                <a16:creationId xmlns:a16="http://schemas.microsoft.com/office/drawing/2014/main" id="{53284EA5-63FC-FDF2-E718-1725226EDE6F}"/>
              </a:ext>
            </a:extLst>
          </p:cNvPr>
          <p:cNvSpPr>
            <a:spLocks noGrp="1"/>
          </p:cNvSpPr>
          <p:nvPr>
            <p:ph type="body" idx="1"/>
          </p:nvPr>
        </p:nvSpPr>
        <p:spPr>
          <a:xfrm>
            <a:off x="425302" y="1486800"/>
            <a:ext cx="11178447" cy="46800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Rechthoek 8">
            <a:extLst>
              <a:ext uri="{FF2B5EF4-FFF2-40B4-BE49-F238E27FC236}">
                <a16:creationId xmlns:a16="http://schemas.microsoft.com/office/drawing/2014/main" id="{A2F21F38-D5F9-C10A-AA6C-622B94068048}"/>
              </a:ext>
            </a:extLst>
          </p:cNvPr>
          <p:cNvSpPr>
            <a:spLocks noChangeAspect="1"/>
          </p:cNvSpPr>
          <p:nvPr userDrawn="1"/>
        </p:nvSpPr>
        <p:spPr>
          <a:xfrm>
            <a:off x="11212767" y="6196715"/>
            <a:ext cx="968600" cy="650651"/>
          </a:xfrm>
          <a:prstGeom prst="rect">
            <a:avLst/>
          </a:prstGeom>
          <a:blipFill dpi="0" rotWithShape="1">
            <a:blip r:embed="rId1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419223060"/>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Lst>
  <p:hf hdr="0" ftr="0"/>
  <p:txStyles>
    <p:titleStyle>
      <a:lvl1pPr algn="l" defTabSz="914400" rtl="0" eaLnBrk="1" latinLnBrk="0" hangingPunct="1">
        <a:lnSpc>
          <a:spcPct val="90000"/>
        </a:lnSpc>
        <a:spcBef>
          <a:spcPct val="0"/>
        </a:spcBef>
        <a:buNone/>
        <a:defRPr sz="3600" kern="1200">
          <a:solidFill>
            <a:schemeClr val="tx1"/>
          </a:solidFill>
          <a:latin typeface="Verdana Pro" panose="020B0604030504040204" pitchFamily="34" charset="0"/>
          <a:ea typeface="Verdana" panose="020B0604030504040204" pitchFamily="34" charset="0"/>
          <a:cs typeface="+mj-cs"/>
        </a:defRPr>
      </a:lvl1pPr>
    </p:titleStyle>
    <p:bodyStyle>
      <a:lvl1pPr marL="180000" indent="-180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1pPr>
      <a:lvl2pPr marL="360000" indent="-180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2pPr>
      <a:lvl3pPr marL="540000" indent="-180000" algn="l" defTabSz="914400"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mn-cs"/>
        </a:defRPr>
      </a:lvl3pPr>
      <a:lvl4pPr marL="720000" indent="-180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32DF4B83-1BD9-F0D8-ED59-94350D60A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B934064-D3C5-00E2-E723-E69312CB7A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F5C14E97-EF90-920F-E0FA-B95F34BB87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A64BD9-C713-45AF-89D5-76F6CCAD0ABD}" type="datetimeFigureOut">
              <a:rPr lang="nl-NL" smtClean="0"/>
              <a:t>1-12-2024</a:t>
            </a:fld>
            <a:endParaRPr lang="nl-NL"/>
          </a:p>
        </p:txBody>
      </p:sp>
      <p:sp>
        <p:nvSpPr>
          <p:cNvPr id="5" name="Tijdelijke aanduiding voor voettekst 4">
            <a:extLst>
              <a:ext uri="{FF2B5EF4-FFF2-40B4-BE49-F238E27FC236}">
                <a16:creationId xmlns:a16="http://schemas.microsoft.com/office/drawing/2014/main" id="{22518A14-0044-E637-5069-62037E02F6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45F7BB95-D66B-0BF6-82B7-EDC7AB18C8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F62294-51DD-4379-AF83-160B3DF97D8F}" type="slidenum">
              <a:rPr lang="nl-NL" smtClean="0"/>
              <a:t>‹nr.›</a:t>
            </a:fld>
            <a:endParaRPr lang="nl-NL"/>
          </a:p>
        </p:txBody>
      </p:sp>
    </p:spTree>
    <p:extLst>
      <p:ext uri="{BB962C8B-B14F-4D97-AF65-F5344CB8AC3E}">
        <p14:creationId xmlns:p14="http://schemas.microsoft.com/office/powerpoint/2010/main" val="4058984962"/>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36.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37.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3.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83.xml"/><Relationship Id="rId2" Type="http://schemas.openxmlformats.org/officeDocument/2006/relationships/notesSlide" Target="../notesSlides/notesSlide4.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38.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slide" Target="slide3.xml"/><Relationship Id="rId18" Type="http://schemas.openxmlformats.org/officeDocument/2006/relationships/slide" Target="slide10.xml"/><Relationship Id="rId26" Type="http://schemas.openxmlformats.org/officeDocument/2006/relationships/slide" Target="slide104.xml"/><Relationship Id="rId3" Type="http://schemas.openxmlformats.org/officeDocument/2006/relationships/tags" Target="../tags/tag41.xml"/><Relationship Id="rId21" Type="http://schemas.openxmlformats.org/officeDocument/2006/relationships/slide" Target="slide38.xml"/><Relationship Id="rId7" Type="http://schemas.openxmlformats.org/officeDocument/2006/relationships/image" Target="../media/image7.png"/><Relationship Id="rId12" Type="http://schemas.openxmlformats.org/officeDocument/2006/relationships/image" Target="../media/image12.svg"/><Relationship Id="rId17" Type="http://schemas.openxmlformats.org/officeDocument/2006/relationships/slide" Target="slide5.xml"/><Relationship Id="rId25" Type="http://schemas.openxmlformats.org/officeDocument/2006/relationships/slide" Target="slide101.xml"/><Relationship Id="rId2" Type="http://schemas.openxmlformats.org/officeDocument/2006/relationships/tags" Target="../tags/tag40.xml"/><Relationship Id="rId16" Type="http://schemas.openxmlformats.org/officeDocument/2006/relationships/image" Target="../media/image6.svg"/><Relationship Id="rId20" Type="http://schemas.openxmlformats.org/officeDocument/2006/relationships/slide" Target="slide29.xml"/><Relationship Id="rId1" Type="http://schemas.openxmlformats.org/officeDocument/2006/relationships/tags" Target="../tags/tag39.xml"/><Relationship Id="rId6" Type="http://schemas.microsoft.com/office/2018/10/relationships/comments" Target="../comments/modernComment_7F8D537E_46AFC306.xml"/><Relationship Id="rId11" Type="http://schemas.openxmlformats.org/officeDocument/2006/relationships/image" Target="../media/image11.png"/><Relationship Id="rId24" Type="http://schemas.openxmlformats.org/officeDocument/2006/relationships/slide" Target="slide96.xml"/><Relationship Id="rId5" Type="http://schemas.openxmlformats.org/officeDocument/2006/relationships/notesSlide" Target="../notesSlides/notesSlide6.xml"/><Relationship Id="rId15" Type="http://schemas.openxmlformats.org/officeDocument/2006/relationships/image" Target="../media/image5.png"/><Relationship Id="rId23" Type="http://schemas.openxmlformats.org/officeDocument/2006/relationships/slide" Target="slide90.xml"/><Relationship Id="rId10" Type="http://schemas.openxmlformats.org/officeDocument/2006/relationships/image" Target="../media/image10.svg"/><Relationship Id="rId19" Type="http://schemas.openxmlformats.org/officeDocument/2006/relationships/slide" Target="slide20.xml"/><Relationship Id="rId4" Type="http://schemas.openxmlformats.org/officeDocument/2006/relationships/slideLayout" Target="../slideLayouts/slideLayout2.xml"/><Relationship Id="rId9" Type="http://schemas.openxmlformats.org/officeDocument/2006/relationships/image" Target="../media/image9.png"/><Relationship Id="rId14" Type="http://schemas.openxmlformats.org/officeDocument/2006/relationships/slide" Target="slide2.xml"/><Relationship Id="rId22" Type="http://schemas.openxmlformats.org/officeDocument/2006/relationships/slide" Target="slide78.xml"/><Relationship Id="rId27" Type="http://schemas.openxmlformats.org/officeDocument/2006/relationships/slide" Target="slide66.xml"/></Relationships>
</file>

<file path=ppt/slides/_rels/slide7.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66.xml"/><Relationship Id="rId3" Type="http://schemas.microsoft.com/office/2018/10/relationships/comments" Target="../comments/modernComment_7F8D5341_907FA552.xml"/><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7.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29.xml"/><Relationship Id="rId18" Type="http://schemas.openxmlformats.org/officeDocument/2006/relationships/slide" Target="slide101.xml"/><Relationship Id="rId3" Type="http://schemas.microsoft.com/office/2018/10/relationships/comments" Target="../comments/modernComment_7F8D534C_709F5751.xml"/><Relationship Id="rId7" Type="http://schemas.openxmlformats.org/officeDocument/2006/relationships/slide" Target="slide2.xml"/><Relationship Id="rId12" Type="http://schemas.openxmlformats.org/officeDocument/2006/relationships/slide" Target="slide20.xml"/><Relationship Id="rId17" Type="http://schemas.openxmlformats.org/officeDocument/2006/relationships/slide" Target="slide96.xml"/><Relationship Id="rId2" Type="http://schemas.openxmlformats.org/officeDocument/2006/relationships/notesSlide" Target="../notesSlides/notesSlide8.xml"/><Relationship Id="rId16" Type="http://schemas.openxmlformats.org/officeDocument/2006/relationships/slide" Target="slide90.xml"/><Relationship Id="rId20" Type="http://schemas.openxmlformats.org/officeDocument/2006/relationships/slide" Target="slide66.xml"/><Relationship Id="rId1" Type="http://schemas.openxmlformats.org/officeDocument/2006/relationships/slideLayout" Target="../slideLayouts/slideLayout2.xml"/><Relationship Id="rId6" Type="http://schemas.openxmlformats.org/officeDocument/2006/relationships/slide" Target="slide3.xml"/><Relationship Id="rId11" Type="http://schemas.openxmlformats.org/officeDocument/2006/relationships/slide" Target="slide10.xml"/><Relationship Id="rId5" Type="http://schemas.openxmlformats.org/officeDocument/2006/relationships/image" Target="../media/image13.png"/><Relationship Id="rId15" Type="http://schemas.openxmlformats.org/officeDocument/2006/relationships/slide" Target="slide78.xml"/><Relationship Id="rId10" Type="http://schemas.openxmlformats.org/officeDocument/2006/relationships/slide" Target="slide5.xml"/><Relationship Id="rId19" Type="http://schemas.openxmlformats.org/officeDocument/2006/relationships/slide" Target="slide104.xml"/><Relationship Id="rId4" Type="http://schemas.openxmlformats.org/officeDocument/2006/relationships/hyperlink" Target="https://rsotrijn.nl/wp-content/uploads/2024/03/Infographic-Fundament-digitalisering-en-gegevensuitwisseling-IZA-regioplan.pdf" TargetMode="External"/><Relationship Id="rId9" Type="http://schemas.openxmlformats.org/officeDocument/2006/relationships/image" Target="../media/image6.svg"/><Relationship Id="rId14" Type="http://schemas.openxmlformats.org/officeDocument/2006/relationships/slide" Target="slide38.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29.xml"/><Relationship Id="rId18" Type="http://schemas.openxmlformats.org/officeDocument/2006/relationships/slide" Target="slide101.xml"/><Relationship Id="rId3" Type="http://schemas.microsoft.com/office/2018/10/relationships/comments" Target="../comments/modernComment_7F8D536E_FE921D59.xml"/><Relationship Id="rId7" Type="http://schemas.openxmlformats.org/officeDocument/2006/relationships/slide" Target="slide2.xml"/><Relationship Id="rId12" Type="http://schemas.openxmlformats.org/officeDocument/2006/relationships/slide" Target="slide20.xml"/><Relationship Id="rId17" Type="http://schemas.openxmlformats.org/officeDocument/2006/relationships/slide" Target="slide96.xml"/><Relationship Id="rId2" Type="http://schemas.openxmlformats.org/officeDocument/2006/relationships/notesSlide" Target="../notesSlides/notesSlide9.xml"/><Relationship Id="rId16" Type="http://schemas.openxmlformats.org/officeDocument/2006/relationships/slide" Target="slide90.xml"/><Relationship Id="rId20" Type="http://schemas.openxmlformats.org/officeDocument/2006/relationships/slide" Target="slide66.xml"/><Relationship Id="rId1" Type="http://schemas.openxmlformats.org/officeDocument/2006/relationships/slideLayout" Target="../slideLayouts/slideLayout2.xml"/><Relationship Id="rId6" Type="http://schemas.openxmlformats.org/officeDocument/2006/relationships/slide" Target="slide3.xml"/><Relationship Id="rId11" Type="http://schemas.openxmlformats.org/officeDocument/2006/relationships/slide" Target="slide10.xml"/><Relationship Id="rId5" Type="http://schemas.openxmlformats.org/officeDocument/2006/relationships/image" Target="../media/image14.png"/><Relationship Id="rId15" Type="http://schemas.openxmlformats.org/officeDocument/2006/relationships/slide" Target="slide78.xml"/><Relationship Id="rId10" Type="http://schemas.openxmlformats.org/officeDocument/2006/relationships/slide" Target="slide5.xml"/><Relationship Id="rId19" Type="http://schemas.openxmlformats.org/officeDocument/2006/relationships/slide" Target="slide104.xml"/><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slide" Target="slide3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42.xml"/><Relationship Id="rId6" Type="http://schemas.openxmlformats.org/officeDocument/2006/relationships/image" Target="../media/image1.emf"/><Relationship Id="rId5" Type="http://schemas.openxmlformats.org/officeDocument/2006/relationships/oleObject" Target="../embeddings/oleObject5.bin"/><Relationship Id="rId4" Type="http://schemas.microsoft.com/office/2018/10/relationships/comments" Target="../comments/modernComment_7F8D536D_79C74298.xml"/></Relationships>
</file>

<file path=ppt/slides/_rels/slide11.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11.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38.xml"/><Relationship Id="rId18" Type="http://schemas.openxmlformats.org/officeDocument/2006/relationships/slide" Target="slide104.xml"/><Relationship Id="rId3" Type="http://schemas.openxmlformats.org/officeDocument/2006/relationships/image" Target="../media/image15.png"/><Relationship Id="rId7" Type="http://schemas.openxmlformats.org/officeDocument/2006/relationships/image" Target="../media/image5.png"/><Relationship Id="rId12" Type="http://schemas.openxmlformats.org/officeDocument/2006/relationships/slide" Target="slide29.xml"/><Relationship Id="rId17" Type="http://schemas.openxmlformats.org/officeDocument/2006/relationships/slide" Target="slide101.xml"/><Relationship Id="rId2" Type="http://schemas.microsoft.com/office/2018/10/relationships/comments" Target="../comments/modernComment_7F8D5382_17D77D5F.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90.xml"/><Relationship Id="rId10" Type="http://schemas.openxmlformats.org/officeDocument/2006/relationships/slide" Target="slide10.xml"/><Relationship Id="rId19" Type="http://schemas.openxmlformats.org/officeDocument/2006/relationships/slide" Target="slide66.xml"/><Relationship Id="rId4" Type="http://schemas.openxmlformats.org/officeDocument/2006/relationships/image" Target="../media/image16.svg"/><Relationship Id="rId9" Type="http://schemas.openxmlformats.org/officeDocument/2006/relationships/slide" Target="slide5.xml"/><Relationship Id="rId14" Type="http://schemas.openxmlformats.org/officeDocument/2006/relationships/slide" Target="slide78.xml"/></Relationships>
</file>

<file path=ppt/slides/_rels/slide13.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38.xml"/><Relationship Id="rId18" Type="http://schemas.openxmlformats.org/officeDocument/2006/relationships/slide" Target="slide104.xml"/><Relationship Id="rId3" Type="http://schemas.microsoft.com/office/2018/10/relationships/comments" Target="../comments/modernComment_7FFFF88D_9929DD08.xml"/><Relationship Id="rId7" Type="http://schemas.openxmlformats.org/officeDocument/2006/relationships/image" Target="../media/image6.sv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12.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4.xml"/><Relationship Id="rId5" Type="http://schemas.openxmlformats.org/officeDocument/2006/relationships/slide" Target="slide2.xml"/><Relationship Id="rId15" Type="http://schemas.openxmlformats.org/officeDocument/2006/relationships/slide" Target="slide90.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78.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29.xml"/><Relationship Id="rId18" Type="http://schemas.openxmlformats.org/officeDocument/2006/relationships/slide" Target="slide101.xml"/><Relationship Id="rId3" Type="http://schemas.microsoft.com/office/2018/10/relationships/comments" Target="../comments/modernComment_7FFFF88E_40397490.xml"/><Relationship Id="rId7" Type="http://schemas.openxmlformats.org/officeDocument/2006/relationships/slide" Target="slide2.xml"/><Relationship Id="rId12" Type="http://schemas.openxmlformats.org/officeDocument/2006/relationships/slide" Target="slide20.xml"/><Relationship Id="rId17" Type="http://schemas.openxmlformats.org/officeDocument/2006/relationships/slide" Target="slide96.xml"/><Relationship Id="rId2" Type="http://schemas.openxmlformats.org/officeDocument/2006/relationships/notesSlide" Target="../notesSlides/notesSlide13.xml"/><Relationship Id="rId16" Type="http://schemas.openxmlformats.org/officeDocument/2006/relationships/slide" Target="slide90.xml"/><Relationship Id="rId20" Type="http://schemas.openxmlformats.org/officeDocument/2006/relationships/slide" Target="slide66.xml"/><Relationship Id="rId1" Type="http://schemas.openxmlformats.org/officeDocument/2006/relationships/slideLayout" Target="../slideLayouts/slideLayout2.xml"/><Relationship Id="rId6" Type="http://schemas.openxmlformats.org/officeDocument/2006/relationships/slide" Target="slide3.xml"/><Relationship Id="rId11" Type="http://schemas.openxmlformats.org/officeDocument/2006/relationships/slide" Target="slide10.xml"/><Relationship Id="rId5" Type="http://schemas.openxmlformats.org/officeDocument/2006/relationships/image" Target="../media/image18.png"/><Relationship Id="rId15" Type="http://schemas.openxmlformats.org/officeDocument/2006/relationships/slide" Target="slide78.xml"/><Relationship Id="rId10" Type="http://schemas.openxmlformats.org/officeDocument/2006/relationships/slide" Target="slide5.xml"/><Relationship Id="rId19" Type="http://schemas.openxmlformats.org/officeDocument/2006/relationships/slide" Target="slide104.xml"/><Relationship Id="rId4" Type="http://schemas.openxmlformats.org/officeDocument/2006/relationships/image" Target="../media/image17.png"/><Relationship Id="rId9" Type="http://schemas.openxmlformats.org/officeDocument/2006/relationships/image" Target="../media/image6.svg"/><Relationship Id="rId14" Type="http://schemas.openxmlformats.org/officeDocument/2006/relationships/slide" Target="slide38.xml"/></Relationships>
</file>

<file path=ppt/slides/_rels/slide15.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14.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1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38.xml"/><Relationship Id="rId18" Type="http://schemas.openxmlformats.org/officeDocument/2006/relationships/slide" Target="slide104.xml"/><Relationship Id="rId3" Type="http://schemas.microsoft.com/office/2018/10/relationships/comments" Target="../comments/modernComment_7FFFF8C6_C32DE083.xml"/><Relationship Id="rId7" Type="http://schemas.openxmlformats.org/officeDocument/2006/relationships/image" Target="../media/image5.pn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15.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90.xml"/><Relationship Id="rId10" Type="http://schemas.openxmlformats.org/officeDocument/2006/relationships/slide" Target="slide10.xml"/><Relationship Id="rId19" Type="http://schemas.openxmlformats.org/officeDocument/2006/relationships/slide" Target="slide66.xml"/><Relationship Id="rId4" Type="http://schemas.openxmlformats.org/officeDocument/2006/relationships/image" Target="../media/image19.png"/><Relationship Id="rId9" Type="http://schemas.openxmlformats.org/officeDocument/2006/relationships/slide" Target="slide5.xml"/><Relationship Id="rId14" Type="http://schemas.openxmlformats.org/officeDocument/2006/relationships/slide" Target="slide78.xml"/></Relationships>
</file>

<file path=ppt/slides/_rels/slide17.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38.xml"/><Relationship Id="rId18" Type="http://schemas.openxmlformats.org/officeDocument/2006/relationships/slide" Target="slide104.xml"/><Relationship Id="rId3" Type="http://schemas.microsoft.com/office/2018/10/relationships/comments" Target="../comments/modernComment_7FFFF8F6_E19D10CE.xml"/><Relationship Id="rId7" Type="http://schemas.openxmlformats.org/officeDocument/2006/relationships/image" Target="../media/image5.pn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16.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90.xml"/><Relationship Id="rId10" Type="http://schemas.openxmlformats.org/officeDocument/2006/relationships/slide" Target="slide10.xml"/><Relationship Id="rId19" Type="http://schemas.openxmlformats.org/officeDocument/2006/relationships/slide" Target="slide66.xml"/><Relationship Id="rId4" Type="http://schemas.openxmlformats.org/officeDocument/2006/relationships/image" Target="../media/image19.png"/><Relationship Id="rId9" Type="http://schemas.openxmlformats.org/officeDocument/2006/relationships/slide" Target="slide5.xml"/><Relationship Id="rId14" Type="http://schemas.openxmlformats.org/officeDocument/2006/relationships/slide" Target="slide78.xml"/></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29.xml"/><Relationship Id="rId18" Type="http://schemas.openxmlformats.org/officeDocument/2006/relationships/slide" Target="slide101.xml"/><Relationship Id="rId3" Type="http://schemas.microsoft.com/office/2018/10/relationships/comments" Target="../comments/modernComment_1BF_70CB78A0.xml"/><Relationship Id="rId7" Type="http://schemas.openxmlformats.org/officeDocument/2006/relationships/slide" Target="slide2.xml"/><Relationship Id="rId12" Type="http://schemas.openxmlformats.org/officeDocument/2006/relationships/slide" Target="slide20.xml"/><Relationship Id="rId17" Type="http://schemas.openxmlformats.org/officeDocument/2006/relationships/slide" Target="slide96.xml"/><Relationship Id="rId2" Type="http://schemas.openxmlformats.org/officeDocument/2006/relationships/notesSlide" Target="../notesSlides/notesSlide17.xml"/><Relationship Id="rId16" Type="http://schemas.openxmlformats.org/officeDocument/2006/relationships/slide" Target="slide90.xml"/><Relationship Id="rId20" Type="http://schemas.openxmlformats.org/officeDocument/2006/relationships/slide" Target="slide66.xml"/><Relationship Id="rId1" Type="http://schemas.openxmlformats.org/officeDocument/2006/relationships/slideLayout" Target="../slideLayouts/slideLayout2.xml"/><Relationship Id="rId6" Type="http://schemas.openxmlformats.org/officeDocument/2006/relationships/slide" Target="slide3.xml"/><Relationship Id="rId11" Type="http://schemas.openxmlformats.org/officeDocument/2006/relationships/slide" Target="slide10.xml"/><Relationship Id="rId5" Type="http://schemas.openxmlformats.org/officeDocument/2006/relationships/image" Target="../media/image2.png"/><Relationship Id="rId15" Type="http://schemas.openxmlformats.org/officeDocument/2006/relationships/slide" Target="slide78.xml"/><Relationship Id="rId10" Type="http://schemas.openxmlformats.org/officeDocument/2006/relationships/slide" Target="slide5.xml"/><Relationship Id="rId19" Type="http://schemas.openxmlformats.org/officeDocument/2006/relationships/slide" Target="slide104.xml"/><Relationship Id="rId4" Type="http://schemas.openxmlformats.org/officeDocument/2006/relationships/image" Target="../media/image20.png"/><Relationship Id="rId9" Type="http://schemas.openxmlformats.org/officeDocument/2006/relationships/image" Target="../media/image6.svg"/><Relationship Id="rId14" Type="http://schemas.openxmlformats.org/officeDocument/2006/relationships/slide" Target="slide38.xml"/></Relationships>
</file>

<file path=ppt/slides/_rels/slide1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38.xml"/><Relationship Id="rId18" Type="http://schemas.openxmlformats.org/officeDocument/2006/relationships/slide" Target="slide104.xml"/><Relationship Id="rId3" Type="http://schemas.microsoft.com/office/2018/10/relationships/comments" Target="../comments/modernComment_7F8D5380_CEF34C75.xml"/><Relationship Id="rId7" Type="http://schemas.openxmlformats.org/officeDocument/2006/relationships/image" Target="../media/image5.pn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18.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90.xml"/><Relationship Id="rId10" Type="http://schemas.openxmlformats.org/officeDocument/2006/relationships/slide" Target="slide10.xml"/><Relationship Id="rId19" Type="http://schemas.openxmlformats.org/officeDocument/2006/relationships/slide" Target="slide66.xml"/><Relationship Id="rId4" Type="http://schemas.openxmlformats.org/officeDocument/2006/relationships/image" Target="../media/image21.png"/><Relationship Id="rId9" Type="http://schemas.openxmlformats.org/officeDocument/2006/relationships/slide" Target="slide5.xml"/><Relationship Id="rId14" Type="http://schemas.openxmlformats.org/officeDocument/2006/relationships/slide" Target="slide7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43.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20.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2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66.xml"/><Relationship Id="rId3" Type="http://schemas.microsoft.com/office/2018/10/relationships/comments" Target="../comments/modernComment_7F8D536A_431C6254.xml"/><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21.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23.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82.xm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22.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24.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66.xm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23.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25.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81.xm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24.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26.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80.xm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25.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27.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26.xml"/><Relationship Id="rId16" Type="http://schemas.openxmlformats.org/officeDocument/2006/relationships/slide" Target="slide104.xml"/><Relationship Id="rId1" Type="http://schemas.openxmlformats.org/officeDocument/2006/relationships/slideLayout" Target="../slideLayouts/slideLayout6.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44.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45.xml"/><Relationship Id="rId6" Type="http://schemas.openxmlformats.org/officeDocument/2006/relationships/image" Target="../media/image22.png"/><Relationship Id="rId5" Type="http://schemas.openxmlformats.org/officeDocument/2006/relationships/image" Target="../media/image1.emf"/><Relationship Id="rId4"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66.xm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29.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31.xml.rels><?xml version="1.0" encoding="UTF-8" standalone="yes"?>
<Relationships xmlns="http://schemas.openxmlformats.org/package/2006/relationships"><Relationship Id="rId8" Type="http://schemas.openxmlformats.org/officeDocument/2006/relationships/slide" Target="slide2.xml"/><Relationship Id="rId13" Type="http://schemas.openxmlformats.org/officeDocument/2006/relationships/slide" Target="slide20.xml"/><Relationship Id="rId18" Type="http://schemas.openxmlformats.org/officeDocument/2006/relationships/slide" Target="slide96.xml"/><Relationship Id="rId3" Type="http://schemas.openxmlformats.org/officeDocument/2006/relationships/notesSlide" Target="../notesSlides/notesSlide30.xml"/><Relationship Id="rId21" Type="http://schemas.openxmlformats.org/officeDocument/2006/relationships/slide" Target="slide66.xml"/><Relationship Id="rId7" Type="http://schemas.openxmlformats.org/officeDocument/2006/relationships/slide" Target="slide3.xml"/><Relationship Id="rId12" Type="http://schemas.openxmlformats.org/officeDocument/2006/relationships/slide" Target="slide10.xml"/><Relationship Id="rId17" Type="http://schemas.openxmlformats.org/officeDocument/2006/relationships/slide" Target="slide90.xml"/><Relationship Id="rId2" Type="http://schemas.openxmlformats.org/officeDocument/2006/relationships/slideLayout" Target="../slideLayouts/slideLayout2.xml"/><Relationship Id="rId16" Type="http://schemas.openxmlformats.org/officeDocument/2006/relationships/slide" Target="slide78.xml"/><Relationship Id="rId20" Type="http://schemas.openxmlformats.org/officeDocument/2006/relationships/slide" Target="slide104.xml"/><Relationship Id="rId1" Type="http://schemas.openxmlformats.org/officeDocument/2006/relationships/tags" Target="../tags/tag46.xml"/><Relationship Id="rId6" Type="http://schemas.openxmlformats.org/officeDocument/2006/relationships/image" Target="../media/image24.svg"/><Relationship Id="rId11" Type="http://schemas.openxmlformats.org/officeDocument/2006/relationships/slide" Target="slide5.xml"/><Relationship Id="rId5" Type="http://schemas.openxmlformats.org/officeDocument/2006/relationships/image" Target="../media/image23.png"/><Relationship Id="rId15" Type="http://schemas.openxmlformats.org/officeDocument/2006/relationships/slide" Target="slide38.xml"/><Relationship Id="rId10" Type="http://schemas.openxmlformats.org/officeDocument/2006/relationships/image" Target="../media/image6.svg"/><Relationship Id="rId19" Type="http://schemas.openxmlformats.org/officeDocument/2006/relationships/slide" Target="slide101.xml"/><Relationship Id="rId4" Type="http://schemas.microsoft.com/office/2018/10/relationships/comments" Target="../comments/modernComment_7FFFF8C4_5EDB26BC.xml"/><Relationship Id="rId9" Type="http://schemas.openxmlformats.org/officeDocument/2006/relationships/image" Target="../media/image5.png"/><Relationship Id="rId14" Type="http://schemas.openxmlformats.org/officeDocument/2006/relationships/slide" Target="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27.png"/><Relationship Id="rId12" Type="http://schemas.openxmlformats.org/officeDocument/2006/relationships/slide" Target="slide33.xml"/><Relationship Id="rId2" Type="http://schemas.openxmlformats.org/officeDocument/2006/relationships/tags" Target="../tags/tag48.xml"/><Relationship Id="rId16" Type="http://schemas.openxmlformats.org/officeDocument/2006/relationships/slide" Target="slide28.xml"/><Relationship Id="rId1" Type="http://schemas.openxmlformats.org/officeDocument/2006/relationships/tags" Target="../tags/tag47.xml"/><Relationship Id="rId6" Type="http://schemas.openxmlformats.org/officeDocument/2006/relationships/image" Target="../media/image26.svg"/><Relationship Id="rId11" Type="http://schemas.openxmlformats.org/officeDocument/2006/relationships/slide" Target="slide42.xml"/><Relationship Id="rId5" Type="http://schemas.openxmlformats.org/officeDocument/2006/relationships/image" Target="../media/image25.png"/><Relationship Id="rId15" Type="http://schemas.openxmlformats.org/officeDocument/2006/relationships/slide" Target="slide31.xml"/><Relationship Id="rId10" Type="http://schemas.openxmlformats.org/officeDocument/2006/relationships/image" Target="../media/image30.svg"/><Relationship Id="rId4" Type="http://schemas.microsoft.com/office/2018/10/relationships/comments" Target="../comments/modernComment_7FFFF8FF_EFD363AC.xml"/><Relationship Id="rId9" Type="http://schemas.openxmlformats.org/officeDocument/2006/relationships/image" Target="../media/image29.png"/><Relationship Id="rId14" Type="http://schemas.openxmlformats.org/officeDocument/2006/relationships/image" Target="../media/image6.svg"/></Relationships>
</file>

<file path=ppt/slides/_rels/slide34.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5.png"/><Relationship Id="rId18" Type="http://schemas.openxmlformats.org/officeDocument/2006/relationships/slide" Target="slide29.xml"/><Relationship Id="rId3" Type="http://schemas.openxmlformats.org/officeDocument/2006/relationships/slideLayout" Target="../slideLayouts/slideLayout2.xml"/><Relationship Id="rId21" Type="http://schemas.openxmlformats.org/officeDocument/2006/relationships/slide" Target="slide90.xml"/><Relationship Id="rId7" Type="http://schemas.openxmlformats.org/officeDocument/2006/relationships/image" Target="../media/image27.png"/><Relationship Id="rId12" Type="http://schemas.openxmlformats.org/officeDocument/2006/relationships/slide" Target="slide2.xml"/><Relationship Id="rId17" Type="http://schemas.openxmlformats.org/officeDocument/2006/relationships/slide" Target="slide20.xml"/><Relationship Id="rId25" Type="http://schemas.openxmlformats.org/officeDocument/2006/relationships/slide" Target="slide66.xml"/><Relationship Id="rId2" Type="http://schemas.openxmlformats.org/officeDocument/2006/relationships/tags" Target="../tags/tag50.xml"/><Relationship Id="rId16" Type="http://schemas.openxmlformats.org/officeDocument/2006/relationships/slide" Target="slide10.xml"/><Relationship Id="rId20" Type="http://schemas.openxmlformats.org/officeDocument/2006/relationships/slide" Target="slide78.xml"/><Relationship Id="rId1" Type="http://schemas.openxmlformats.org/officeDocument/2006/relationships/tags" Target="../tags/tag49.xml"/><Relationship Id="rId6" Type="http://schemas.openxmlformats.org/officeDocument/2006/relationships/image" Target="../media/image26.svg"/><Relationship Id="rId11" Type="http://schemas.openxmlformats.org/officeDocument/2006/relationships/slide" Target="slide3.xml"/><Relationship Id="rId24" Type="http://schemas.openxmlformats.org/officeDocument/2006/relationships/slide" Target="slide104.xml"/><Relationship Id="rId5" Type="http://schemas.openxmlformats.org/officeDocument/2006/relationships/image" Target="../media/image25.png"/><Relationship Id="rId15" Type="http://schemas.openxmlformats.org/officeDocument/2006/relationships/slide" Target="slide5.xml"/><Relationship Id="rId23" Type="http://schemas.openxmlformats.org/officeDocument/2006/relationships/slide" Target="slide101.xml"/><Relationship Id="rId10" Type="http://schemas.openxmlformats.org/officeDocument/2006/relationships/image" Target="../media/image30.svg"/><Relationship Id="rId19" Type="http://schemas.openxmlformats.org/officeDocument/2006/relationships/slide" Target="slide38.xml"/><Relationship Id="rId4" Type="http://schemas.microsoft.com/office/2018/10/relationships/comments" Target="../comments/modernComment_7FFFF8FB_93AF6EC8.xml"/><Relationship Id="rId9" Type="http://schemas.openxmlformats.org/officeDocument/2006/relationships/image" Target="../media/image29.png"/><Relationship Id="rId14" Type="http://schemas.openxmlformats.org/officeDocument/2006/relationships/image" Target="../media/image6.svg"/><Relationship Id="rId22" Type="http://schemas.openxmlformats.org/officeDocument/2006/relationships/slide" Target="slide96.xml"/></Relationships>
</file>

<file path=ppt/slides/_rels/slide3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6.svg"/><Relationship Id="rId3" Type="http://schemas.openxmlformats.org/officeDocument/2006/relationships/slideLayout" Target="../slideLayouts/slideLayout2.xml"/><Relationship Id="rId7" Type="http://schemas.openxmlformats.org/officeDocument/2006/relationships/image" Target="../media/image28.svg"/><Relationship Id="rId12" Type="http://schemas.openxmlformats.org/officeDocument/2006/relationships/image" Target="../media/image5.png"/><Relationship Id="rId17" Type="http://schemas.openxmlformats.org/officeDocument/2006/relationships/slide" Target="slide42.xml"/><Relationship Id="rId2" Type="http://schemas.openxmlformats.org/officeDocument/2006/relationships/tags" Target="../tags/tag52.xml"/><Relationship Id="rId16" Type="http://schemas.openxmlformats.org/officeDocument/2006/relationships/slide" Target="slide28.xml"/><Relationship Id="rId1" Type="http://schemas.openxmlformats.org/officeDocument/2006/relationships/tags" Target="../tags/tag51.xml"/><Relationship Id="rId6" Type="http://schemas.openxmlformats.org/officeDocument/2006/relationships/image" Target="../media/image27.png"/><Relationship Id="rId11" Type="http://schemas.openxmlformats.org/officeDocument/2006/relationships/slide" Target="slide3.xml"/><Relationship Id="rId5" Type="http://schemas.openxmlformats.org/officeDocument/2006/relationships/image" Target="../media/image26.svg"/><Relationship Id="rId15" Type="http://schemas.openxmlformats.org/officeDocument/2006/relationships/slide" Target="slide31.xml"/><Relationship Id="rId10" Type="http://schemas.openxmlformats.org/officeDocument/2006/relationships/slide" Target="slide35.xml"/><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slide" Target="slide40.xml"/></Relationships>
</file>

<file path=ppt/slides/_rels/slide36.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media/image32.svg"/><Relationship Id="rId18" Type="http://schemas.openxmlformats.org/officeDocument/2006/relationships/slide" Target="slide38.xml"/><Relationship Id="rId3" Type="http://schemas.openxmlformats.org/officeDocument/2006/relationships/tags" Target="../tags/tag55.xml"/><Relationship Id="rId21" Type="http://schemas.openxmlformats.org/officeDocument/2006/relationships/slide" Target="slide42.xml"/><Relationship Id="rId7" Type="http://schemas.openxmlformats.org/officeDocument/2006/relationships/tags" Target="../tags/tag59.xml"/><Relationship Id="rId12" Type="http://schemas.openxmlformats.org/officeDocument/2006/relationships/image" Target="../media/image31.png"/><Relationship Id="rId17" Type="http://schemas.openxmlformats.org/officeDocument/2006/relationships/image" Target="../media/image6.svg"/><Relationship Id="rId2" Type="http://schemas.openxmlformats.org/officeDocument/2006/relationships/tags" Target="../tags/tag54.xml"/><Relationship Id="rId16" Type="http://schemas.openxmlformats.org/officeDocument/2006/relationships/image" Target="../media/image5.png"/><Relationship Id="rId20" Type="http://schemas.openxmlformats.org/officeDocument/2006/relationships/slide" Target="slide28.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notesSlide" Target="../notesSlides/notesSlide31.xml"/><Relationship Id="rId5" Type="http://schemas.openxmlformats.org/officeDocument/2006/relationships/tags" Target="../tags/tag57.xml"/><Relationship Id="rId15" Type="http://schemas.openxmlformats.org/officeDocument/2006/relationships/slide" Target="slide3.xml"/><Relationship Id="rId10" Type="http://schemas.openxmlformats.org/officeDocument/2006/relationships/slideLayout" Target="../slideLayouts/slideLayout1.xml"/><Relationship Id="rId19" Type="http://schemas.openxmlformats.org/officeDocument/2006/relationships/slide" Target="slide31.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slide" Target="slide35.xml"/></Relationships>
</file>

<file path=ppt/slides/_rels/slide37.xml.rels><?xml version="1.0" encoding="UTF-8" standalone="yes"?>
<Relationships xmlns="http://schemas.openxmlformats.org/package/2006/relationships"><Relationship Id="rId8" Type="http://schemas.openxmlformats.org/officeDocument/2006/relationships/slide" Target="slide2.xml"/><Relationship Id="rId13" Type="http://schemas.openxmlformats.org/officeDocument/2006/relationships/slide" Target="slide20.xml"/><Relationship Id="rId18" Type="http://schemas.openxmlformats.org/officeDocument/2006/relationships/slide" Target="slide96.xml"/><Relationship Id="rId3" Type="http://schemas.openxmlformats.org/officeDocument/2006/relationships/notesSlide" Target="../notesSlides/notesSlide32.xml"/><Relationship Id="rId21" Type="http://schemas.openxmlformats.org/officeDocument/2006/relationships/slide" Target="slide79.xml"/><Relationship Id="rId7" Type="http://schemas.openxmlformats.org/officeDocument/2006/relationships/slide" Target="slide3.xml"/><Relationship Id="rId12" Type="http://schemas.openxmlformats.org/officeDocument/2006/relationships/slide" Target="slide10.xml"/><Relationship Id="rId17" Type="http://schemas.openxmlformats.org/officeDocument/2006/relationships/slide" Target="slide90.xml"/><Relationship Id="rId2" Type="http://schemas.openxmlformats.org/officeDocument/2006/relationships/slideLayout" Target="../slideLayouts/slideLayout29.xml"/><Relationship Id="rId16" Type="http://schemas.openxmlformats.org/officeDocument/2006/relationships/slide" Target="slide78.xml"/><Relationship Id="rId20" Type="http://schemas.openxmlformats.org/officeDocument/2006/relationships/slide" Target="slide104.xml"/><Relationship Id="rId1" Type="http://schemas.openxmlformats.org/officeDocument/2006/relationships/tags" Target="../tags/tag62.xml"/><Relationship Id="rId6" Type="http://schemas.openxmlformats.org/officeDocument/2006/relationships/image" Target="../media/image1.emf"/><Relationship Id="rId11" Type="http://schemas.openxmlformats.org/officeDocument/2006/relationships/slide" Target="slide5.xml"/><Relationship Id="rId5" Type="http://schemas.openxmlformats.org/officeDocument/2006/relationships/oleObject" Target="../embeddings/oleObject7.bin"/><Relationship Id="rId15" Type="http://schemas.openxmlformats.org/officeDocument/2006/relationships/slide" Target="slide38.xml"/><Relationship Id="rId10" Type="http://schemas.openxmlformats.org/officeDocument/2006/relationships/image" Target="../media/image6.svg"/><Relationship Id="rId19" Type="http://schemas.openxmlformats.org/officeDocument/2006/relationships/slide" Target="slide101.xml"/><Relationship Id="rId4" Type="http://schemas.microsoft.com/office/2018/10/relationships/comments" Target="../comments/modernComment_7FFFF8B9_26E8BFE5.xml"/><Relationship Id="rId9" Type="http://schemas.openxmlformats.org/officeDocument/2006/relationships/image" Target="../media/image5.png"/><Relationship Id="rId14" Type="http://schemas.openxmlformats.org/officeDocument/2006/relationships/slide" Target="slide29.xml"/><Relationship Id="rId22"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63.xml"/><Relationship Id="rId6" Type="http://schemas.openxmlformats.org/officeDocument/2006/relationships/image" Target="../media/image22.png"/><Relationship Id="rId5" Type="http://schemas.openxmlformats.org/officeDocument/2006/relationships/image" Target="../media/image1.emf"/><Relationship Id="rId4"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66.xm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34.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40.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66.xml"/><Relationship Id="rId3" Type="http://schemas.openxmlformats.org/officeDocument/2006/relationships/image" Target="../media/image21.png"/><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35.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41.xml.rels><?xml version="1.0" encoding="UTF-8" standalone="yes"?>
<Relationships xmlns="http://schemas.openxmlformats.org/package/2006/relationships"><Relationship Id="rId2" Type="http://schemas.microsoft.com/office/2018/10/relationships/comments" Target="../comments/modernComment_7FFFF882_A73244DA.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5.png"/><Relationship Id="rId18" Type="http://schemas.openxmlformats.org/officeDocument/2006/relationships/slide" Target="slide29.xml"/><Relationship Id="rId3" Type="http://schemas.openxmlformats.org/officeDocument/2006/relationships/slideLayout" Target="../slideLayouts/slideLayout2.xml"/><Relationship Id="rId21" Type="http://schemas.openxmlformats.org/officeDocument/2006/relationships/slide" Target="slide90.xml"/><Relationship Id="rId7" Type="http://schemas.openxmlformats.org/officeDocument/2006/relationships/image" Target="../media/image27.png"/><Relationship Id="rId12" Type="http://schemas.openxmlformats.org/officeDocument/2006/relationships/slide" Target="slide2.xml"/><Relationship Id="rId17" Type="http://schemas.openxmlformats.org/officeDocument/2006/relationships/slide" Target="slide20.xml"/><Relationship Id="rId25" Type="http://schemas.openxmlformats.org/officeDocument/2006/relationships/slide" Target="slide66.xml"/><Relationship Id="rId2" Type="http://schemas.openxmlformats.org/officeDocument/2006/relationships/tags" Target="../tags/tag65.xml"/><Relationship Id="rId16" Type="http://schemas.openxmlformats.org/officeDocument/2006/relationships/slide" Target="slide10.xml"/><Relationship Id="rId20" Type="http://schemas.openxmlformats.org/officeDocument/2006/relationships/slide" Target="slide78.xml"/><Relationship Id="rId1" Type="http://schemas.openxmlformats.org/officeDocument/2006/relationships/tags" Target="../tags/tag64.xml"/><Relationship Id="rId6" Type="http://schemas.openxmlformats.org/officeDocument/2006/relationships/image" Target="../media/image26.svg"/><Relationship Id="rId11" Type="http://schemas.openxmlformats.org/officeDocument/2006/relationships/slide" Target="slide3.xml"/><Relationship Id="rId24" Type="http://schemas.openxmlformats.org/officeDocument/2006/relationships/slide" Target="slide104.xml"/><Relationship Id="rId5" Type="http://schemas.openxmlformats.org/officeDocument/2006/relationships/image" Target="../media/image25.png"/><Relationship Id="rId15" Type="http://schemas.openxmlformats.org/officeDocument/2006/relationships/slide" Target="slide5.xml"/><Relationship Id="rId23" Type="http://schemas.openxmlformats.org/officeDocument/2006/relationships/slide" Target="slide101.xml"/><Relationship Id="rId10" Type="http://schemas.openxmlformats.org/officeDocument/2006/relationships/image" Target="../media/image30.svg"/><Relationship Id="rId19" Type="http://schemas.openxmlformats.org/officeDocument/2006/relationships/slide" Target="slide38.xml"/><Relationship Id="rId4" Type="http://schemas.microsoft.com/office/2018/10/relationships/comments" Target="../comments/modernComment_7FFFF855_4D28D68F.xml"/><Relationship Id="rId9" Type="http://schemas.openxmlformats.org/officeDocument/2006/relationships/image" Target="../media/image29.png"/><Relationship Id="rId14" Type="http://schemas.openxmlformats.org/officeDocument/2006/relationships/image" Target="../media/image6.svg"/><Relationship Id="rId22" Type="http://schemas.openxmlformats.org/officeDocument/2006/relationships/slide" Target="slide96.xml"/></Relationships>
</file>

<file path=ppt/slides/_rels/slide43.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18" Type="http://schemas.openxmlformats.org/officeDocument/2006/relationships/image" Target="../media/image31.png"/><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36.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19" Type="http://schemas.openxmlformats.org/officeDocument/2006/relationships/image" Target="../media/image32.svg"/><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44.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10.xml"/><Relationship Id="rId18" Type="http://schemas.openxmlformats.org/officeDocument/2006/relationships/slide" Target="slide90.xml"/><Relationship Id="rId3" Type="http://schemas.openxmlformats.org/officeDocument/2006/relationships/notesSlide" Target="../notesSlides/notesSlide37.xml"/><Relationship Id="rId21" Type="http://schemas.openxmlformats.org/officeDocument/2006/relationships/slide" Target="slide104.xml"/><Relationship Id="rId7" Type="http://schemas.openxmlformats.org/officeDocument/2006/relationships/image" Target="../media/image33.png"/><Relationship Id="rId12" Type="http://schemas.openxmlformats.org/officeDocument/2006/relationships/slide" Target="slide5.xml"/><Relationship Id="rId17" Type="http://schemas.openxmlformats.org/officeDocument/2006/relationships/slide" Target="slide78.xml"/><Relationship Id="rId2" Type="http://schemas.openxmlformats.org/officeDocument/2006/relationships/slideLayout" Target="../slideLayouts/slideLayout2.xml"/><Relationship Id="rId16" Type="http://schemas.openxmlformats.org/officeDocument/2006/relationships/slide" Target="slide38.xml"/><Relationship Id="rId20" Type="http://schemas.openxmlformats.org/officeDocument/2006/relationships/slide" Target="slide101.xml"/><Relationship Id="rId1" Type="http://schemas.openxmlformats.org/officeDocument/2006/relationships/tags" Target="../tags/tag66.xml"/><Relationship Id="rId6" Type="http://schemas.openxmlformats.org/officeDocument/2006/relationships/image" Target="../media/image1.emf"/><Relationship Id="rId11" Type="http://schemas.openxmlformats.org/officeDocument/2006/relationships/image" Target="../media/image6.svg"/><Relationship Id="rId5" Type="http://schemas.openxmlformats.org/officeDocument/2006/relationships/oleObject" Target="../embeddings/oleObject7.bin"/><Relationship Id="rId15" Type="http://schemas.openxmlformats.org/officeDocument/2006/relationships/slide" Target="slide29.xml"/><Relationship Id="rId10" Type="http://schemas.openxmlformats.org/officeDocument/2006/relationships/image" Target="../media/image5.png"/><Relationship Id="rId19" Type="http://schemas.openxmlformats.org/officeDocument/2006/relationships/slide" Target="slide96.xml"/><Relationship Id="rId4" Type="http://schemas.microsoft.com/office/2018/10/relationships/comments" Target="../comments/modernComment_7FFFF8EA_C89A3C97.xml"/><Relationship Id="rId9" Type="http://schemas.openxmlformats.org/officeDocument/2006/relationships/slide" Target="slide2.xml"/><Relationship Id="rId14" Type="http://schemas.openxmlformats.org/officeDocument/2006/relationships/slide" Target="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slide" Target="slide2.xml"/><Relationship Id="rId18" Type="http://schemas.openxmlformats.org/officeDocument/2006/relationships/slide" Target="slide20.xml"/><Relationship Id="rId26" Type="http://schemas.openxmlformats.org/officeDocument/2006/relationships/slide" Target="slide66.xml"/><Relationship Id="rId3" Type="http://schemas.openxmlformats.org/officeDocument/2006/relationships/slideLayout" Target="../slideLayouts/slideLayout2.xml"/><Relationship Id="rId21" Type="http://schemas.openxmlformats.org/officeDocument/2006/relationships/slide" Target="slide78.xml"/><Relationship Id="rId7" Type="http://schemas.openxmlformats.org/officeDocument/2006/relationships/image" Target="../media/image26.svg"/><Relationship Id="rId12" Type="http://schemas.openxmlformats.org/officeDocument/2006/relationships/slide" Target="slide3.xml"/><Relationship Id="rId17" Type="http://schemas.openxmlformats.org/officeDocument/2006/relationships/slide" Target="slide10.xml"/><Relationship Id="rId25" Type="http://schemas.openxmlformats.org/officeDocument/2006/relationships/slide" Target="slide104.xml"/><Relationship Id="rId2" Type="http://schemas.openxmlformats.org/officeDocument/2006/relationships/tags" Target="../tags/tag68.xml"/><Relationship Id="rId16" Type="http://schemas.openxmlformats.org/officeDocument/2006/relationships/slide" Target="slide5.xml"/><Relationship Id="rId20" Type="http://schemas.openxmlformats.org/officeDocument/2006/relationships/slide" Target="slide38.xml"/><Relationship Id="rId1" Type="http://schemas.openxmlformats.org/officeDocument/2006/relationships/tags" Target="../tags/tag67.xml"/><Relationship Id="rId6" Type="http://schemas.openxmlformats.org/officeDocument/2006/relationships/image" Target="../media/image25.png"/><Relationship Id="rId11" Type="http://schemas.openxmlformats.org/officeDocument/2006/relationships/image" Target="../media/image30.svg"/><Relationship Id="rId24" Type="http://schemas.openxmlformats.org/officeDocument/2006/relationships/slide" Target="slide101.xml"/><Relationship Id="rId5" Type="http://schemas.openxmlformats.org/officeDocument/2006/relationships/hyperlink" Target="https://www.samenvoormedicatieoverdracht.nl/nieuws/start-ontwikkeling-nen-norm-medicatiegegevens/" TargetMode="External"/><Relationship Id="rId15" Type="http://schemas.openxmlformats.org/officeDocument/2006/relationships/image" Target="../media/image6.svg"/><Relationship Id="rId23" Type="http://schemas.openxmlformats.org/officeDocument/2006/relationships/slide" Target="slide96.xml"/><Relationship Id="rId10" Type="http://schemas.openxmlformats.org/officeDocument/2006/relationships/image" Target="../media/image29.png"/><Relationship Id="rId19" Type="http://schemas.openxmlformats.org/officeDocument/2006/relationships/slide" Target="slide29.xml"/><Relationship Id="rId4" Type="http://schemas.openxmlformats.org/officeDocument/2006/relationships/hyperlink" Target="https://www.nen.nl/nen-7503-2022-nl-294742" TargetMode="External"/><Relationship Id="rId9" Type="http://schemas.openxmlformats.org/officeDocument/2006/relationships/image" Target="../media/image28.svg"/><Relationship Id="rId14" Type="http://schemas.openxmlformats.org/officeDocument/2006/relationships/image" Target="../media/image5.png"/><Relationship Id="rId22" Type="http://schemas.openxmlformats.org/officeDocument/2006/relationships/slide" Target="slide90.xml"/></Relationships>
</file>

<file path=ppt/slides/_rels/slide47.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 Target="slide3.xml"/><Relationship Id="rId26" Type="http://schemas.openxmlformats.org/officeDocument/2006/relationships/slide" Target="slide38.xml"/><Relationship Id="rId3" Type="http://schemas.openxmlformats.org/officeDocument/2006/relationships/tags" Target="../tags/tag71.xml"/><Relationship Id="rId21" Type="http://schemas.openxmlformats.org/officeDocument/2006/relationships/image" Target="../media/image6.svg"/><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image" Target="../media/image32.svg"/><Relationship Id="rId25" Type="http://schemas.openxmlformats.org/officeDocument/2006/relationships/slide" Target="slide29.xml"/><Relationship Id="rId2" Type="http://schemas.openxmlformats.org/officeDocument/2006/relationships/tags" Target="../tags/tag70.xml"/><Relationship Id="rId16" Type="http://schemas.openxmlformats.org/officeDocument/2006/relationships/image" Target="../media/image31.png"/><Relationship Id="rId20" Type="http://schemas.openxmlformats.org/officeDocument/2006/relationships/image" Target="../media/image5.png"/><Relationship Id="rId29" Type="http://schemas.openxmlformats.org/officeDocument/2006/relationships/slide" Target="slide96.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24" Type="http://schemas.openxmlformats.org/officeDocument/2006/relationships/slide" Target="slide20.xml"/><Relationship Id="rId32" Type="http://schemas.openxmlformats.org/officeDocument/2006/relationships/slide" Target="slide66.xml"/><Relationship Id="rId5" Type="http://schemas.openxmlformats.org/officeDocument/2006/relationships/tags" Target="../tags/tag73.xml"/><Relationship Id="rId15" Type="http://schemas.openxmlformats.org/officeDocument/2006/relationships/notesSlide" Target="../notesSlides/notesSlide38.xml"/><Relationship Id="rId23" Type="http://schemas.openxmlformats.org/officeDocument/2006/relationships/slide" Target="slide10.xml"/><Relationship Id="rId28" Type="http://schemas.openxmlformats.org/officeDocument/2006/relationships/slide" Target="slide90.xml"/><Relationship Id="rId10" Type="http://schemas.openxmlformats.org/officeDocument/2006/relationships/tags" Target="../tags/tag78.xml"/><Relationship Id="rId19" Type="http://schemas.openxmlformats.org/officeDocument/2006/relationships/slide" Target="slide2.xml"/><Relationship Id="rId31" Type="http://schemas.openxmlformats.org/officeDocument/2006/relationships/slide" Target="slide104.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slideLayout" Target="../slideLayouts/slideLayout2.xml"/><Relationship Id="rId22" Type="http://schemas.openxmlformats.org/officeDocument/2006/relationships/slide" Target="slide5.xml"/><Relationship Id="rId27" Type="http://schemas.openxmlformats.org/officeDocument/2006/relationships/slide" Target="slide78.xml"/><Relationship Id="rId30" Type="http://schemas.openxmlformats.org/officeDocument/2006/relationships/slide" Target="slide101.xml"/></Relationships>
</file>

<file path=ppt/slides/_rels/slide48.xml.rels><?xml version="1.0" encoding="UTF-8" standalone="yes"?>
<Relationships xmlns="http://schemas.openxmlformats.org/package/2006/relationships"><Relationship Id="rId8" Type="http://schemas.openxmlformats.org/officeDocument/2006/relationships/slide" Target="slide2.xml"/><Relationship Id="rId13" Type="http://schemas.openxmlformats.org/officeDocument/2006/relationships/slide" Target="slide20.xml"/><Relationship Id="rId18" Type="http://schemas.openxmlformats.org/officeDocument/2006/relationships/slide" Target="slide96.xml"/><Relationship Id="rId3" Type="http://schemas.openxmlformats.org/officeDocument/2006/relationships/notesSlide" Target="../notesSlides/notesSlide39.xml"/><Relationship Id="rId21" Type="http://schemas.openxmlformats.org/officeDocument/2006/relationships/slide" Target="slide66.xml"/><Relationship Id="rId7" Type="http://schemas.openxmlformats.org/officeDocument/2006/relationships/slide" Target="slide3.xml"/><Relationship Id="rId12" Type="http://schemas.openxmlformats.org/officeDocument/2006/relationships/slide" Target="slide10.xml"/><Relationship Id="rId17" Type="http://schemas.openxmlformats.org/officeDocument/2006/relationships/slide" Target="slide90.xml"/><Relationship Id="rId2" Type="http://schemas.openxmlformats.org/officeDocument/2006/relationships/slideLayout" Target="../slideLayouts/slideLayout2.xml"/><Relationship Id="rId16" Type="http://schemas.openxmlformats.org/officeDocument/2006/relationships/slide" Target="slide78.xml"/><Relationship Id="rId20" Type="http://schemas.openxmlformats.org/officeDocument/2006/relationships/slide" Target="slide104.xml"/><Relationship Id="rId1" Type="http://schemas.openxmlformats.org/officeDocument/2006/relationships/tags" Target="../tags/tag82.xml"/><Relationship Id="rId6" Type="http://schemas.openxmlformats.org/officeDocument/2006/relationships/image" Target="../media/image33.png"/><Relationship Id="rId11" Type="http://schemas.openxmlformats.org/officeDocument/2006/relationships/slide" Target="slide5.xml"/><Relationship Id="rId5" Type="http://schemas.openxmlformats.org/officeDocument/2006/relationships/image" Target="../media/image1.emf"/><Relationship Id="rId15" Type="http://schemas.openxmlformats.org/officeDocument/2006/relationships/slide" Target="slide38.xml"/><Relationship Id="rId10" Type="http://schemas.openxmlformats.org/officeDocument/2006/relationships/image" Target="../media/image6.svg"/><Relationship Id="rId19" Type="http://schemas.openxmlformats.org/officeDocument/2006/relationships/slide" Target="slide101.xml"/><Relationship Id="rId4" Type="http://schemas.openxmlformats.org/officeDocument/2006/relationships/oleObject" Target="../embeddings/oleObject7.bin"/><Relationship Id="rId9" Type="http://schemas.openxmlformats.org/officeDocument/2006/relationships/image" Target="../media/image5.png"/><Relationship Id="rId14" Type="http://schemas.openxmlformats.org/officeDocument/2006/relationships/slide" Target="slide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5.png"/><Relationship Id="rId18" Type="http://schemas.openxmlformats.org/officeDocument/2006/relationships/slide" Target="slide29.xml"/><Relationship Id="rId3" Type="http://schemas.openxmlformats.org/officeDocument/2006/relationships/slideLayout" Target="../slideLayouts/slideLayout2.xml"/><Relationship Id="rId21" Type="http://schemas.openxmlformats.org/officeDocument/2006/relationships/slide" Target="slide90.xml"/><Relationship Id="rId7" Type="http://schemas.openxmlformats.org/officeDocument/2006/relationships/image" Target="../media/image27.png"/><Relationship Id="rId12" Type="http://schemas.openxmlformats.org/officeDocument/2006/relationships/slide" Target="slide2.xml"/><Relationship Id="rId17" Type="http://schemas.openxmlformats.org/officeDocument/2006/relationships/slide" Target="slide20.xml"/><Relationship Id="rId25" Type="http://schemas.openxmlformats.org/officeDocument/2006/relationships/slide" Target="slide66.xml"/><Relationship Id="rId2" Type="http://schemas.openxmlformats.org/officeDocument/2006/relationships/tags" Target="../tags/tag84.xml"/><Relationship Id="rId16" Type="http://schemas.openxmlformats.org/officeDocument/2006/relationships/slide" Target="slide10.xml"/><Relationship Id="rId20" Type="http://schemas.openxmlformats.org/officeDocument/2006/relationships/slide" Target="slide78.xml"/><Relationship Id="rId1" Type="http://schemas.openxmlformats.org/officeDocument/2006/relationships/tags" Target="../tags/tag83.xml"/><Relationship Id="rId6" Type="http://schemas.openxmlformats.org/officeDocument/2006/relationships/image" Target="../media/image26.svg"/><Relationship Id="rId11" Type="http://schemas.openxmlformats.org/officeDocument/2006/relationships/slide" Target="slide3.xml"/><Relationship Id="rId24" Type="http://schemas.openxmlformats.org/officeDocument/2006/relationships/slide" Target="slide104.xml"/><Relationship Id="rId5" Type="http://schemas.openxmlformats.org/officeDocument/2006/relationships/image" Target="../media/image25.png"/><Relationship Id="rId15" Type="http://schemas.openxmlformats.org/officeDocument/2006/relationships/slide" Target="slide5.xml"/><Relationship Id="rId23" Type="http://schemas.openxmlformats.org/officeDocument/2006/relationships/slide" Target="slide101.xml"/><Relationship Id="rId10" Type="http://schemas.openxmlformats.org/officeDocument/2006/relationships/image" Target="../media/image30.svg"/><Relationship Id="rId19" Type="http://schemas.openxmlformats.org/officeDocument/2006/relationships/slide" Target="slide38.xml"/><Relationship Id="rId4" Type="http://schemas.openxmlformats.org/officeDocument/2006/relationships/notesSlide" Target="../notesSlides/notesSlide40.xml"/><Relationship Id="rId9" Type="http://schemas.openxmlformats.org/officeDocument/2006/relationships/image" Target="../media/image29.png"/><Relationship Id="rId14" Type="http://schemas.openxmlformats.org/officeDocument/2006/relationships/image" Target="../media/image6.svg"/><Relationship Id="rId22" Type="http://schemas.openxmlformats.org/officeDocument/2006/relationships/slide" Target="slide96.xml"/></Relationships>
</file>

<file path=ppt/slides/_rels/slide51.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slide" Target="slide3.xml"/><Relationship Id="rId18" Type="http://schemas.openxmlformats.org/officeDocument/2006/relationships/slide" Target="slide10.xml"/><Relationship Id="rId26" Type="http://schemas.openxmlformats.org/officeDocument/2006/relationships/slide" Target="slide104.xml"/><Relationship Id="rId3" Type="http://schemas.openxmlformats.org/officeDocument/2006/relationships/tags" Target="../tags/tag87.xml"/><Relationship Id="rId21" Type="http://schemas.openxmlformats.org/officeDocument/2006/relationships/slide" Target="slide38.xml"/><Relationship Id="rId7" Type="http://schemas.openxmlformats.org/officeDocument/2006/relationships/tags" Target="../tags/tag91.xml"/><Relationship Id="rId12" Type="http://schemas.openxmlformats.org/officeDocument/2006/relationships/image" Target="../media/image32.svg"/><Relationship Id="rId17" Type="http://schemas.openxmlformats.org/officeDocument/2006/relationships/slide" Target="slide5.xml"/><Relationship Id="rId25" Type="http://schemas.openxmlformats.org/officeDocument/2006/relationships/slide" Target="slide101.xml"/><Relationship Id="rId2" Type="http://schemas.openxmlformats.org/officeDocument/2006/relationships/tags" Target="../tags/tag86.xml"/><Relationship Id="rId16" Type="http://schemas.openxmlformats.org/officeDocument/2006/relationships/image" Target="../media/image6.svg"/><Relationship Id="rId20" Type="http://schemas.openxmlformats.org/officeDocument/2006/relationships/slide" Target="slide29.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image" Target="../media/image31.png"/><Relationship Id="rId24" Type="http://schemas.openxmlformats.org/officeDocument/2006/relationships/slide" Target="slide96.xml"/><Relationship Id="rId5" Type="http://schemas.openxmlformats.org/officeDocument/2006/relationships/tags" Target="../tags/tag89.xml"/><Relationship Id="rId15" Type="http://schemas.openxmlformats.org/officeDocument/2006/relationships/image" Target="../media/image5.png"/><Relationship Id="rId23" Type="http://schemas.openxmlformats.org/officeDocument/2006/relationships/slide" Target="slide90.xml"/><Relationship Id="rId10" Type="http://schemas.openxmlformats.org/officeDocument/2006/relationships/notesSlide" Target="../notesSlides/notesSlide41.xml"/><Relationship Id="rId19" Type="http://schemas.openxmlformats.org/officeDocument/2006/relationships/slide" Target="slide20.xml"/><Relationship Id="rId4" Type="http://schemas.openxmlformats.org/officeDocument/2006/relationships/tags" Target="../tags/tag88.xml"/><Relationship Id="rId9" Type="http://schemas.openxmlformats.org/officeDocument/2006/relationships/slideLayout" Target="../slideLayouts/slideLayout2.xml"/><Relationship Id="rId14" Type="http://schemas.openxmlformats.org/officeDocument/2006/relationships/slide" Target="slide2.xml"/><Relationship Id="rId22" Type="http://schemas.openxmlformats.org/officeDocument/2006/relationships/slide" Target="slide78.xml"/><Relationship Id="rId27" Type="http://schemas.openxmlformats.org/officeDocument/2006/relationships/slide" Target="slide66.xml"/></Relationships>
</file>

<file path=ppt/slides/_rels/slide52.xml.rels><?xml version="1.0" encoding="UTF-8" standalone="yes"?>
<Relationships xmlns="http://schemas.openxmlformats.org/package/2006/relationships"><Relationship Id="rId8" Type="http://schemas.openxmlformats.org/officeDocument/2006/relationships/slide" Target="slide2.xml"/><Relationship Id="rId13" Type="http://schemas.openxmlformats.org/officeDocument/2006/relationships/slide" Target="slide20.xml"/><Relationship Id="rId18" Type="http://schemas.openxmlformats.org/officeDocument/2006/relationships/slide" Target="slide96.xml"/><Relationship Id="rId3" Type="http://schemas.openxmlformats.org/officeDocument/2006/relationships/notesSlide" Target="../notesSlides/notesSlide42.xml"/><Relationship Id="rId21" Type="http://schemas.openxmlformats.org/officeDocument/2006/relationships/slide" Target="slide66.xml"/><Relationship Id="rId7" Type="http://schemas.openxmlformats.org/officeDocument/2006/relationships/slide" Target="slide3.xml"/><Relationship Id="rId12" Type="http://schemas.openxmlformats.org/officeDocument/2006/relationships/slide" Target="slide10.xml"/><Relationship Id="rId17" Type="http://schemas.openxmlformats.org/officeDocument/2006/relationships/slide" Target="slide90.xml"/><Relationship Id="rId2" Type="http://schemas.openxmlformats.org/officeDocument/2006/relationships/slideLayout" Target="../slideLayouts/slideLayout2.xml"/><Relationship Id="rId16" Type="http://schemas.openxmlformats.org/officeDocument/2006/relationships/slide" Target="slide78.xml"/><Relationship Id="rId20" Type="http://schemas.openxmlformats.org/officeDocument/2006/relationships/slide" Target="slide104.xml"/><Relationship Id="rId1" Type="http://schemas.openxmlformats.org/officeDocument/2006/relationships/tags" Target="../tags/tag93.xml"/><Relationship Id="rId6" Type="http://schemas.openxmlformats.org/officeDocument/2006/relationships/image" Target="../media/image33.png"/><Relationship Id="rId11" Type="http://schemas.openxmlformats.org/officeDocument/2006/relationships/slide" Target="slide5.xml"/><Relationship Id="rId5" Type="http://schemas.openxmlformats.org/officeDocument/2006/relationships/image" Target="../media/image1.emf"/><Relationship Id="rId15" Type="http://schemas.openxmlformats.org/officeDocument/2006/relationships/slide" Target="slide38.xml"/><Relationship Id="rId10" Type="http://schemas.openxmlformats.org/officeDocument/2006/relationships/image" Target="../media/image6.svg"/><Relationship Id="rId19" Type="http://schemas.openxmlformats.org/officeDocument/2006/relationships/slide" Target="slide101.xml"/><Relationship Id="rId4" Type="http://schemas.openxmlformats.org/officeDocument/2006/relationships/oleObject" Target="../embeddings/oleObject7.bin"/><Relationship Id="rId9" Type="http://schemas.openxmlformats.org/officeDocument/2006/relationships/image" Target="../media/image5.png"/><Relationship Id="rId14" Type="http://schemas.openxmlformats.org/officeDocument/2006/relationships/slide" Target="slide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5.png"/><Relationship Id="rId18" Type="http://schemas.openxmlformats.org/officeDocument/2006/relationships/slide" Target="slide29.xml"/><Relationship Id="rId3" Type="http://schemas.openxmlformats.org/officeDocument/2006/relationships/slideLayout" Target="../slideLayouts/slideLayout10.xml"/><Relationship Id="rId21" Type="http://schemas.openxmlformats.org/officeDocument/2006/relationships/slide" Target="slide90.xml"/><Relationship Id="rId7" Type="http://schemas.openxmlformats.org/officeDocument/2006/relationships/image" Target="../media/image27.png"/><Relationship Id="rId12" Type="http://schemas.openxmlformats.org/officeDocument/2006/relationships/slide" Target="slide2.xml"/><Relationship Id="rId17" Type="http://schemas.openxmlformats.org/officeDocument/2006/relationships/slide" Target="slide20.xml"/><Relationship Id="rId25" Type="http://schemas.openxmlformats.org/officeDocument/2006/relationships/slide" Target="slide66.xml"/><Relationship Id="rId2" Type="http://schemas.openxmlformats.org/officeDocument/2006/relationships/tags" Target="../tags/tag95.xml"/><Relationship Id="rId16" Type="http://schemas.openxmlformats.org/officeDocument/2006/relationships/slide" Target="slide10.xml"/><Relationship Id="rId20" Type="http://schemas.openxmlformats.org/officeDocument/2006/relationships/slide" Target="slide78.xml"/><Relationship Id="rId1" Type="http://schemas.openxmlformats.org/officeDocument/2006/relationships/tags" Target="../tags/tag94.xml"/><Relationship Id="rId6" Type="http://schemas.openxmlformats.org/officeDocument/2006/relationships/image" Target="../media/image26.svg"/><Relationship Id="rId11" Type="http://schemas.openxmlformats.org/officeDocument/2006/relationships/slide" Target="slide3.xml"/><Relationship Id="rId24" Type="http://schemas.openxmlformats.org/officeDocument/2006/relationships/slide" Target="slide104.xml"/><Relationship Id="rId5" Type="http://schemas.openxmlformats.org/officeDocument/2006/relationships/image" Target="../media/image25.png"/><Relationship Id="rId15" Type="http://schemas.openxmlformats.org/officeDocument/2006/relationships/slide" Target="slide5.xml"/><Relationship Id="rId23" Type="http://schemas.openxmlformats.org/officeDocument/2006/relationships/slide" Target="slide101.xml"/><Relationship Id="rId10" Type="http://schemas.openxmlformats.org/officeDocument/2006/relationships/image" Target="../media/image30.svg"/><Relationship Id="rId19" Type="http://schemas.openxmlformats.org/officeDocument/2006/relationships/slide" Target="slide38.xml"/><Relationship Id="rId4" Type="http://schemas.openxmlformats.org/officeDocument/2006/relationships/notesSlide" Target="../notesSlides/notesSlide43.xml"/><Relationship Id="rId9" Type="http://schemas.openxmlformats.org/officeDocument/2006/relationships/image" Target="../media/image29.png"/><Relationship Id="rId14" Type="http://schemas.openxmlformats.org/officeDocument/2006/relationships/image" Target="../media/image6.svg"/><Relationship Id="rId22" Type="http://schemas.openxmlformats.org/officeDocument/2006/relationships/slide" Target="slide96.xml"/></Relationships>
</file>

<file path=ppt/slides/_rels/slide55.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18" Type="http://schemas.openxmlformats.org/officeDocument/2006/relationships/slide" Target="slide3.xml"/><Relationship Id="rId26" Type="http://schemas.openxmlformats.org/officeDocument/2006/relationships/slide" Target="slide38.xml"/><Relationship Id="rId3" Type="http://schemas.openxmlformats.org/officeDocument/2006/relationships/tags" Target="../tags/tag98.xml"/><Relationship Id="rId21" Type="http://schemas.openxmlformats.org/officeDocument/2006/relationships/image" Target="../media/image6.svg"/><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image" Target="../media/image32.svg"/><Relationship Id="rId25" Type="http://schemas.openxmlformats.org/officeDocument/2006/relationships/slide" Target="slide29.xml"/><Relationship Id="rId2" Type="http://schemas.openxmlformats.org/officeDocument/2006/relationships/tags" Target="../tags/tag97.xml"/><Relationship Id="rId16" Type="http://schemas.openxmlformats.org/officeDocument/2006/relationships/image" Target="../media/image31.png"/><Relationship Id="rId20" Type="http://schemas.openxmlformats.org/officeDocument/2006/relationships/image" Target="../media/image5.png"/><Relationship Id="rId29" Type="http://schemas.openxmlformats.org/officeDocument/2006/relationships/slide" Target="slide96.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24" Type="http://schemas.openxmlformats.org/officeDocument/2006/relationships/slide" Target="slide20.xml"/><Relationship Id="rId32" Type="http://schemas.openxmlformats.org/officeDocument/2006/relationships/slide" Target="slide66.xml"/><Relationship Id="rId5" Type="http://schemas.openxmlformats.org/officeDocument/2006/relationships/tags" Target="../tags/tag100.xml"/><Relationship Id="rId15" Type="http://schemas.openxmlformats.org/officeDocument/2006/relationships/notesSlide" Target="../notesSlides/notesSlide44.xml"/><Relationship Id="rId23" Type="http://schemas.openxmlformats.org/officeDocument/2006/relationships/slide" Target="slide10.xml"/><Relationship Id="rId28" Type="http://schemas.openxmlformats.org/officeDocument/2006/relationships/slide" Target="slide90.xml"/><Relationship Id="rId10" Type="http://schemas.openxmlformats.org/officeDocument/2006/relationships/tags" Target="../tags/tag105.xml"/><Relationship Id="rId19" Type="http://schemas.openxmlformats.org/officeDocument/2006/relationships/slide" Target="slide2.xml"/><Relationship Id="rId31" Type="http://schemas.openxmlformats.org/officeDocument/2006/relationships/slide" Target="slide104.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slideLayout" Target="../slideLayouts/slideLayout10.xml"/><Relationship Id="rId22" Type="http://schemas.openxmlformats.org/officeDocument/2006/relationships/slide" Target="slide5.xml"/><Relationship Id="rId27" Type="http://schemas.openxmlformats.org/officeDocument/2006/relationships/slide" Target="slide78.xml"/><Relationship Id="rId30" Type="http://schemas.openxmlformats.org/officeDocument/2006/relationships/slide" Target="slide101.xml"/></Relationships>
</file>

<file path=ppt/slides/_rels/slide5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29.xml"/><Relationship Id="rId18" Type="http://schemas.openxmlformats.org/officeDocument/2006/relationships/slide" Target="slide101.xml"/><Relationship Id="rId3" Type="http://schemas.openxmlformats.org/officeDocument/2006/relationships/notesSlide" Target="../notesSlides/notesSlide45.xml"/><Relationship Id="rId21" Type="http://schemas.openxmlformats.org/officeDocument/2006/relationships/image" Target="../media/image33.png"/><Relationship Id="rId7" Type="http://schemas.openxmlformats.org/officeDocument/2006/relationships/slide" Target="slide2.xml"/><Relationship Id="rId12" Type="http://schemas.openxmlformats.org/officeDocument/2006/relationships/slide" Target="slide20.xml"/><Relationship Id="rId17" Type="http://schemas.openxmlformats.org/officeDocument/2006/relationships/slide" Target="slide96.xml"/><Relationship Id="rId2" Type="http://schemas.openxmlformats.org/officeDocument/2006/relationships/slideLayout" Target="../slideLayouts/slideLayout29.xml"/><Relationship Id="rId16" Type="http://schemas.openxmlformats.org/officeDocument/2006/relationships/slide" Target="slide90.xml"/><Relationship Id="rId20" Type="http://schemas.openxmlformats.org/officeDocument/2006/relationships/slide" Target="slide66.xml"/><Relationship Id="rId1" Type="http://schemas.openxmlformats.org/officeDocument/2006/relationships/tags" Target="../tags/tag109.xml"/><Relationship Id="rId6" Type="http://schemas.openxmlformats.org/officeDocument/2006/relationships/slide" Target="slide3.xml"/><Relationship Id="rId11" Type="http://schemas.openxmlformats.org/officeDocument/2006/relationships/slide" Target="slide10.xml"/><Relationship Id="rId5" Type="http://schemas.openxmlformats.org/officeDocument/2006/relationships/image" Target="../media/image1.emf"/><Relationship Id="rId15" Type="http://schemas.openxmlformats.org/officeDocument/2006/relationships/slide" Target="slide78.xml"/><Relationship Id="rId10" Type="http://schemas.openxmlformats.org/officeDocument/2006/relationships/slide" Target="slide5.xml"/><Relationship Id="rId19" Type="http://schemas.openxmlformats.org/officeDocument/2006/relationships/slide" Target="slide104.xml"/><Relationship Id="rId4" Type="http://schemas.openxmlformats.org/officeDocument/2006/relationships/oleObject" Target="../embeddings/oleObject7.bin"/><Relationship Id="rId9" Type="http://schemas.openxmlformats.org/officeDocument/2006/relationships/image" Target="../media/image6.svg"/><Relationship Id="rId14" Type="http://schemas.openxmlformats.org/officeDocument/2006/relationships/slide" Target="slide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5.png"/><Relationship Id="rId18" Type="http://schemas.openxmlformats.org/officeDocument/2006/relationships/slide" Target="slide29.xml"/><Relationship Id="rId3" Type="http://schemas.openxmlformats.org/officeDocument/2006/relationships/slideLayout" Target="../slideLayouts/slideLayout2.xml"/><Relationship Id="rId21" Type="http://schemas.openxmlformats.org/officeDocument/2006/relationships/slide" Target="slide90.xml"/><Relationship Id="rId7" Type="http://schemas.openxmlformats.org/officeDocument/2006/relationships/image" Target="../media/image27.png"/><Relationship Id="rId12" Type="http://schemas.openxmlformats.org/officeDocument/2006/relationships/slide" Target="slide2.xml"/><Relationship Id="rId17" Type="http://schemas.openxmlformats.org/officeDocument/2006/relationships/slide" Target="slide20.xml"/><Relationship Id="rId25" Type="http://schemas.openxmlformats.org/officeDocument/2006/relationships/slide" Target="slide66.xml"/><Relationship Id="rId2" Type="http://schemas.openxmlformats.org/officeDocument/2006/relationships/tags" Target="../tags/tag111.xml"/><Relationship Id="rId16" Type="http://schemas.openxmlformats.org/officeDocument/2006/relationships/slide" Target="slide10.xml"/><Relationship Id="rId20" Type="http://schemas.openxmlformats.org/officeDocument/2006/relationships/slide" Target="slide78.xml"/><Relationship Id="rId1" Type="http://schemas.openxmlformats.org/officeDocument/2006/relationships/tags" Target="../tags/tag110.xml"/><Relationship Id="rId6" Type="http://schemas.openxmlformats.org/officeDocument/2006/relationships/image" Target="../media/image26.svg"/><Relationship Id="rId11" Type="http://schemas.openxmlformats.org/officeDocument/2006/relationships/slide" Target="slide3.xml"/><Relationship Id="rId24" Type="http://schemas.openxmlformats.org/officeDocument/2006/relationships/slide" Target="slide104.xml"/><Relationship Id="rId5" Type="http://schemas.openxmlformats.org/officeDocument/2006/relationships/image" Target="../media/image25.png"/><Relationship Id="rId15" Type="http://schemas.openxmlformats.org/officeDocument/2006/relationships/slide" Target="slide5.xml"/><Relationship Id="rId23" Type="http://schemas.openxmlformats.org/officeDocument/2006/relationships/slide" Target="slide101.xml"/><Relationship Id="rId10" Type="http://schemas.openxmlformats.org/officeDocument/2006/relationships/image" Target="../media/image30.svg"/><Relationship Id="rId19" Type="http://schemas.openxmlformats.org/officeDocument/2006/relationships/slide" Target="slide38.xml"/><Relationship Id="rId4" Type="http://schemas.openxmlformats.org/officeDocument/2006/relationships/notesSlide" Target="../notesSlides/notesSlide46.xml"/><Relationship Id="rId9" Type="http://schemas.openxmlformats.org/officeDocument/2006/relationships/image" Target="../media/image29.png"/><Relationship Id="rId14" Type="http://schemas.openxmlformats.org/officeDocument/2006/relationships/image" Target="../media/image6.svg"/><Relationship Id="rId22" Type="http://schemas.openxmlformats.org/officeDocument/2006/relationships/slide" Target="slide96.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6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14.xml"/><Relationship Id="rId7" Type="http://schemas.microsoft.com/office/2018/10/relationships/comments" Target="../comments/modernComment_7FFFF8F5_4F5D2CB2.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notesSlide" Target="../notesSlides/notesSlide48.xml"/><Relationship Id="rId5" Type="http://schemas.openxmlformats.org/officeDocument/2006/relationships/slideLayout" Target="../slideLayouts/slideLayout2.xml"/><Relationship Id="rId4" Type="http://schemas.openxmlformats.org/officeDocument/2006/relationships/tags" Target="../tags/tag115.xml"/><Relationship Id="rId9" Type="http://schemas.openxmlformats.org/officeDocument/2006/relationships/image" Target="../media/image6.svg"/></Relationships>
</file>

<file path=ppt/slides/_rels/slide6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18.xml"/><Relationship Id="rId7" Type="http://schemas.openxmlformats.org/officeDocument/2006/relationships/slide" Target="slide60.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slide" Target="slide61.xml"/><Relationship Id="rId5" Type="http://schemas.openxmlformats.org/officeDocument/2006/relationships/notesSlide" Target="../notesSlides/notesSlide49.xml"/><Relationship Id="rId4" Type="http://schemas.openxmlformats.org/officeDocument/2006/relationships/slideLayout" Target="../slideLayouts/slideLayout47.xml"/><Relationship Id="rId9" Type="http://schemas.openxmlformats.org/officeDocument/2006/relationships/image" Target="../media/image6.svg"/></Relationships>
</file>

<file path=ppt/slides/_rels/slide62.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50.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63.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openxmlformats.org/officeDocument/2006/relationships/notesSlide" Target="../notesSlides/notesSlide51.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64.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slide" Target="slide3.xml"/><Relationship Id="rId18" Type="http://schemas.openxmlformats.org/officeDocument/2006/relationships/slide" Target="slide10.xml"/><Relationship Id="rId26" Type="http://schemas.openxmlformats.org/officeDocument/2006/relationships/slide" Target="slide104.xml"/><Relationship Id="rId3" Type="http://schemas.openxmlformats.org/officeDocument/2006/relationships/tags" Target="../tags/tag121.xml"/><Relationship Id="rId21" Type="http://schemas.openxmlformats.org/officeDocument/2006/relationships/slide" Target="slide38.xml"/><Relationship Id="rId7" Type="http://schemas.openxmlformats.org/officeDocument/2006/relationships/image" Target="../media/image34.png"/><Relationship Id="rId12" Type="http://schemas.openxmlformats.org/officeDocument/2006/relationships/image" Target="../media/image39.svg"/><Relationship Id="rId17" Type="http://schemas.openxmlformats.org/officeDocument/2006/relationships/slide" Target="slide5.xml"/><Relationship Id="rId25" Type="http://schemas.openxmlformats.org/officeDocument/2006/relationships/slide" Target="slide101.xml"/><Relationship Id="rId2" Type="http://schemas.openxmlformats.org/officeDocument/2006/relationships/tags" Target="../tags/tag120.xml"/><Relationship Id="rId16" Type="http://schemas.openxmlformats.org/officeDocument/2006/relationships/image" Target="../media/image6.svg"/><Relationship Id="rId20" Type="http://schemas.openxmlformats.org/officeDocument/2006/relationships/slide" Target="slide29.xml"/><Relationship Id="rId1" Type="http://schemas.openxmlformats.org/officeDocument/2006/relationships/tags" Target="../tags/tag119.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slide" Target="slide96.xml"/><Relationship Id="rId5" Type="http://schemas.openxmlformats.org/officeDocument/2006/relationships/notesSlide" Target="../notesSlides/notesSlide52.xml"/><Relationship Id="rId15" Type="http://schemas.openxmlformats.org/officeDocument/2006/relationships/image" Target="../media/image5.png"/><Relationship Id="rId23" Type="http://schemas.openxmlformats.org/officeDocument/2006/relationships/slide" Target="slide90.xml"/><Relationship Id="rId10" Type="http://schemas.openxmlformats.org/officeDocument/2006/relationships/image" Target="../media/image37.svg"/><Relationship Id="rId19" Type="http://schemas.openxmlformats.org/officeDocument/2006/relationships/slide" Target="slide20.xml"/><Relationship Id="rId4" Type="http://schemas.openxmlformats.org/officeDocument/2006/relationships/slideLayout" Target="../slideLayouts/slideLayout2.xml"/><Relationship Id="rId9" Type="http://schemas.openxmlformats.org/officeDocument/2006/relationships/image" Target="../media/image36.png"/><Relationship Id="rId14" Type="http://schemas.openxmlformats.org/officeDocument/2006/relationships/slide" Target="slide2.xml"/><Relationship Id="rId22" Type="http://schemas.openxmlformats.org/officeDocument/2006/relationships/slide" Target="slide78.xml"/><Relationship Id="rId27" Type="http://schemas.openxmlformats.org/officeDocument/2006/relationships/slide" Target="slide66.xml"/></Relationships>
</file>

<file path=ppt/slides/_rels/slide65.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image" Target="../media/image32.svg"/><Relationship Id="rId18" Type="http://schemas.openxmlformats.org/officeDocument/2006/relationships/slide" Target="slide5.xml"/><Relationship Id="rId26" Type="http://schemas.openxmlformats.org/officeDocument/2006/relationships/slide" Target="slide101.xml"/><Relationship Id="rId3" Type="http://schemas.openxmlformats.org/officeDocument/2006/relationships/tags" Target="../tags/tag124.xml"/><Relationship Id="rId21" Type="http://schemas.openxmlformats.org/officeDocument/2006/relationships/slide" Target="slide29.xml"/><Relationship Id="rId7" Type="http://schemas.openxmlformats.org/officeDocument/2006/relationships/tags" Target="../tags/tag128.xml"/><Relationship Id="rId12" Type="http://schemas.openxmlformats.org/officeDocument/2006/relationships/image" Target="../media/image31.png"/><Relationship Id="rId17" Type="http://schemas.openxmlformats.org/officeDocument/2006/relationships/image" Target="../media/image6.svg"/><Relationship Id="rId25" Type="http://schemas.openxmlformats.org/officeDocument/2006/relationships/slide" Target="slide96.xml"/><Relationship Id="rId2" Type="http://schemas.openxmlformats.org/officeDocument/2006/relationships/tags" Target="../tags/tag123.xml"/><Relationship Id="rId16" Type="http://schemas.openxmlformats.org/officeDocument/2006/relationships/image" Target="../media/image5.png"/><Relationship Id="rId20" Type="http://schemas.openxmlformats.org/officeDocument/2006/relationships/slide" Target="slide20.xml"/><Relationship Id="rId1" Type="http://schemas.openxmlformats.org/officeDocument/2006/relationships/tags" Target="../tags/tag122.xml"/><Relationship Id="rId6" Type="http://schemas.openxmlformats.org/officeDocument/2006/relationships/tags" Target="../tags/tag127.xml"/><Relationship Id="rId11" Type="http://schemas.microsoft.com/office/2018/10/relationships/comments" Target="../comments/modernComment_7FFFF8EC_6CE573E5.xml"/><Relationship Id="rId24" Type="http://schemas.openxmlformats.org/officeDocument/2006/relationships/slide" Target="slide90.xml"/><Relationship Id="rId5" Type="http://schemas.openxmlformats.org/officeDocument/2006/relationships/tags" Target="../tags/tag126.xml"/><Relationship Id="rId15" Type="http://schemas.openxmlformats.org/officeDocument/2006/relationships/slide" Target="slide2.xml"/><Relationship Id="rId23" Type="http://schemas.openxmlformats.org/officeDocument/2006/relationships/slide" Target="slide78.xml"/><Relationship Id="rId28" Type="http://schemas.openxmlformats.org/officeDocument/2006/relationships/slide" Target="slide66.xml"/><Relationship Id="rId10" Type="http://schemas.openxmlformats.org/officeDocument/2006/relationships/notesSlide" Target="../notesSlides/notesSlide53.xml"/><Relationship Id="rId19" Type="http://schemas.openxmlformats.org/officeDocument/2006/relationships/slide" Target="slide10.xml"/><Relationship Id="rId4" Type="http://schemas.openxmlformats.org/officeDocument/2006/relationships/tags" Target="../tags/tag125.xml"/><Relationship Id="rId9" Type="http://schemas.openxmlformats.org/officeDocument/2006/relationships/slideLayout" Target="../slideLayouts/slideLayout6.xml"/><Relationship Id="rId14" Type="http://schemas.openxmlformats.org/officeDocument/2006/relationships/slide" Target="slide3.xml"/><Relationship Id="rId22" Type="http://schemas.openxmlformats.org/officeDocument/2006/relationships/slide" Target="slide38.xml"/><Relationship Id="rId27" Type="http://schemas.openxmlformats.org/officeDocument/2006/relationships/slide" Target="slide104.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tags" Target="../tags/tag130.xml"/><Relationship Id="rId6" Type="http://schemas.openxmlformats.org/officeDocument/2006/relationships/image" Target="../media/image22.png"/><Relationship Id="rId5" Type="http://schemas.openxmlformats.org/officeDocument/2006/relationships/image" Target="../media/image1.emf"/><Relationship Id="rId4" Type="http://schemas.openxmlformats.org/officeDocument/2006/relationships/oleObject" Target="../embeddings/oleObject5.bin"/></Relationships>
</file>

<file path=ppt/slides/_rels/slide67.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36.png"/><Relationship Id="rId18" Type="http://schemas.openxmlformats.org/officeDocument/2006/relationships/slide" Target="slide2.xml"/><Relationship Id="rId26" Type="http://schemas.openxmlformats.org/officeDocument/2006/relationships/slide" Target="slide78.xml"/><Relationship Id="rId3" Type="http://schemas.openxmlformats.org/officeDocument/2006/relationships/tags" Target="../tags/tag133.xml"/><Relationship Id="rId21" Type="http://schemas.openxmlformats.org/officeDocument/2006/relationships/slide" Target="slide5.xml"/><Relationship Id="rId7" Type="http://schemas.microsoft.com/office/2018/10/relationships/comments" Target="../comments/modernComment_7FFFF8CB_9BF9DA12.xml"/><Relationship Id="rId12" Type="http://schemas.openxmlformats.org/officeDocument/2006/relationships/image" Target="../media/image35.svg"/><Relationship Id="rId17" Type="http://schemas.openxmlformats.org/officeDocument/2006/relationships/slide" Target="slide3.xml"/><Relationship Id="rId25" Type="http://schemas.openxmlformats.org/officeDocument/2006/relationships/slide" Target="slide38.xml"/><Relationship Id="rId2" Type="http://schemas.openxmlformats.org/officeDocument/2006/relationships/tags" Target="../tags/tag132.xml"/><Relationship Id="rId16" Type="http://schemas.openxmlformats.org/officeDocument/2006/relationships/image" Target="../media/image39.svg"/><Relationship Id="rId20" Type="http://schemas.openxmlformats.org/officeDocument/2006/relationships/image" Target="../media/image6.svg"/><Relationship Id="rId29" Type="http://schemas.openxmlformats.org/officeDocument/2006/relationships/slide" Target="slide101.xml"/><Relationship Id="rId1" Type="http://schemas.openxmlformats.org/officeDocument/2006/relationships/tags" Target="../tags/tag131.xml"/><Relationship Id="rId6" Type="http://schemas.openxmlformats.org/officeDocument/2006/relationships/notesSlide" Target="../notesSlides/notesSlide55.xml"/><Relationship Id="rId11" Type="http://schemas.openxmlformats.org/officeDocument/2006/relationships/image" Target="../media/image34.png"/><Relationship Id="rId24" Type="http://schemas.openxmlformats.org/officeDocument/2006/relationships/slide" Target="slide29.xml"/><Relationship Id="rId5" Type="http://schemas.openxmlformats.org/officeDocument/2006/relationships/slideLayout" Target="../slideLayouts/slideLayout6.xml"/><Relationship Id="rId15" Type="http://schemas.openxmlformats.org/officeDocument/2006/relationships/image" Target="../media/image38.png"/><Relationship Id="rId23" Type="http://schemas.openxmlformats.org/officeDocument/2006/relationships/slide" Target="slide20.xml"/><Relationship Id="rId28" Type="http://schemas.openxmlformats.org/officeDocument/2006/relationships/slide" Target="slide96.xml"/><Relationship Id="rId10" Type="http://schemas.openxmlformats.org/officeDocument/2006/relationships/image" Target="../media/image41.svg"/><Relationship Id="rId19" Type="http://schemas.openxmlformats.org/officeDocument/2006/relationships/image" Target="../media/image5.png"/><Relationship Id="rId31" Type="http://schemas.openxmlformats.org/officeDocument/2006/relationships/slide" Target="slide66.xml"/><Relationship Id="rId4" Type="http://schemas.openxmlformats.org/officeDocument/2006/relationships/tags" Target="../tags/tag134.xml"/><Relationship Id="rId9" Type="http://schemas.openxmlformats.org/officeDocument/2006/relationships/image" Target="../media/image40.png"/><Relationship Id="rId14" Type="http://schemas.openxmlformats.org/officeDocument/2006/relationships/image" Target="../media/image37.svg"/><Relationship Id="rId22" Type="http://schemas.openxmlformats.org/officeDocument/2006/relationships/slide" Target="slide10.xml"/><Relationship Id="rId27" Type="http://schemas.openxmlformats.org/officeDocument/2006/relationships/slide" Target="slide90.xml"/><Relationship Id="rId30" Type="http://schemas.openxmlformats.org/officeDocument/2006/relationships/slide" Target="slide104.xml"/></Relationships>
</file>

<file path=ppt/slides/_rels/slide68.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slide" Target="slide5.xml"/><Relationship Id="rId18" Type="http://schemas.openxmlformats.org/officeDocument/2006/relationships/slide" Target="slide78.xml"/><Relationship Id="rId26" Type="http://schemas.openxmlformats.org/officeDocument/2006/relationships/image" Target="../media/image44.png"/><Relationship Id="rId3" Type="http://schemas.openxmlformats.org/officeDocument/2006/relationships/tags" Target="../tags/tag137.xml"/><Relationship Id="rId21" Type="http://schemas.openxmlformats.org/officeDocument/2006/relationships/slide" Target="slide101.xml"/><Relationship Id="rId7" Type="http://schemas.microsoft.com/office/2018/10/relationships/comments" Target="../comments/modernComment_7FFFF8EF_D969FD9C.xml"/><Relationship Id="rId12" Type="http://schemas.openxmlformats.org/officeDocument/2006/relationships/image" Target="../media/image6.svg"/><Relationship Id="rId17" Type="http://schemas.openxmlformats.org/officeDocument/2006/relationships/slide" Target="slide38.xml"/><Relationship Id="rId25" Type="http://schemas.openxmlformats.org/officeDocument/2006/relationships/image" Target="../media/image43.svg"/><Relationship Id="rId2" Type="http://schemas.openxmlformats.org/officeDocument/2006/relationships/tags" Target="../tags/tag136.xml"/><Relationship Id="rId16" Type="http://schemas.openxmlformats.org/officeDocument/2006/relationships/slide" Target="slide29.xml"/><Relationship Id="rId20" Type="http://schemas.openxmlformats.org/officeDocument/2006/relationships/slide" Target="slide96.xml"/><Relationship Id="rId1" Type="http://schemas.openxmlformats.org/officeDocument/2006/relationships/tags" Target="../tags/tag135.xml"/><Relationship Id="rId6" Type="http://schemas.openxmlformats.org/officeDocument/2006/relationships/notesSlide" Target="../notesSlides/notesSlide56.xml"/><Relationship Id="rId11" Type="http://schemas.openxmlformats.org/officeDocument/2006/relationships/image" Target="../media/image5.png"/><Relationship Id="rId24" Type="http://schemas.openxmlformats.org/officeDocument/2006/relationships/image" Target="../media/image42.png"/><Relationship Id="rId5" Type="http://schemas.openxmlformats.org/officeDocument/2006/relationships/slideLayout" Target="../slideLayouts/slideLayout2.xml"/><Relationship Id="rId15" Type="http://schemas.openxmlformats.org/officeDocument/2006/relationships/slide" Target="slide20.xml"/><Relationship Id="rId23" Type="http://schemas.openxmlformats.org/officeDocument/2006/relationships/slide" Target="slide66.xml"/><Relationship Id="rId10" Type="http://schemas.openxmlformats.org/officeDocument/2006/relationships/slide" Target="slide2.xml"/><Relationship Id="rId19" Type="http://schemas.openxmlformats.org/officeDocument/2006/relationships/slide" Target="slide90.xml"/><Relationship Id="rId4" Type="http://schemas.openxmlformats.org/officeDocument/2006/relationships/tags" Target="../tags/tag138.xml"/><Relationship Id="rId9" Type="http://schemas.openxmlformats.org/officeDocument/2006/relationships/slide" Target="slide3.xml"/><Relationship Id="rId14" Type="http://schemas.openxmlformats.org/officeDocument/2006/relationships/slide" Target="slide10.xml"/><Relationship Id="rId22" Type="http://schemas.openxmlformats.org/officeDocument/2006/relationships/slide" Target="slide104.xml"/><Relationship Id="rId27" Type="http://schemas.openxmlformats.org/officeDocument/2006/relationships/image" Target="../media/image45.svg"/></Relationships>
</file>

<file path=ppt/slides/_rels/slide69.xml.rels><?xml version="1.0" encoding="UTF-8" standalone="yes"?>
<Relationships xmlns="http://schemas.openxmlformats.org/package/2006/relationships"><Relationship Id="rId13" Type="http://schemas.openxmlformats.org/officeDocument/2006/relationships/tags" Target="../tags/tag151.xml"/><Relationship Id="rId18" Type="http://schemas.openxmlformats.org/officeDocument/2006/relationships/image" Target="../media/image48.png"/><Relationship Id="rId26" Type="http://schemas.openxmlformats.org/officeDocument/2006/relationships/image" Target="../media/image56.png"/><Relationship Id="rId21" Type="http://schemas.openxmlformats.org/officeDocument/2006/relationships/image" Target="../media/image51.png"/><Relationship Id="rId34" Type="http://schemas.openxmlformats.org/officeDocument/2006/relationships/image" Target="../media/image60.png"/><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image" Target="../media/image47.png"/><Relationship Id="rId25" Type="http://schemas.openxmlformats.org/officeDocument/2006/relationships/image" Target="../media/image55.png"/><Relationship Id="rId33" Type="http://schemas.openxmlformats.org/officeDocument/2006/relationships/image" Target="../media/image6.svg"/><Relationship Id="rId2" Type="http://schemas.openxmlformats.org/officeDocument/2006/relationships/tags" Target="../tags/tag140.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svg"/><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24" Type="http://schemas.openxmlformats.org/officeDocument/2006/relationships/image" Target="../media/image54.png"/><Relationship Id="rId32" Type="http://schemas.openxmlformats.org/officeDocument/2006/relationships/image" Target="../media/image5.png"/><Relationship Id="rId37" Type="http://schemas.openxmlformats.org/officeDocument/2006/relationships/image" Target="../media/image63.svg"/><Relationship Id="rId5" Type="http://schemas.openxmlformats.org/officeDocument/2006/relationships/tags" Target="../tags/tag143.xml"/><Relationship Id="rId15" Type="http://schemas.openxmlformats.org/officeDocument/2006/relationships/notesSlide" Target="../notesSlides/notesSlide57.xml"/><Relationship Id="rId23" Type="http://schemas.openxmlformats.org/officeDocument/2006/relationships/image" Target="../media/image53.png"/><Relationship Id="rId28" Type="http://schemas.openxmlformats.org/officeDocument/2006/relationships/image" Target="../media/image58.png"/><Relationship Id="rId36" Type="http://schemas.openxmlformats.org/officeDocument/2006/relationships/image" Target="../media/image62.png"/><Relationship Id="rId10" Type="http://schemas.openxmlformats.org/officeDocument/2006/relationships/tags" Target="../tags/tag148.xml"/><Relationship Id="rId19" Type="http://schemas.openxmlformats.org/officeDocument/2006/relationships/image" Target="../media/image49.png"/><Relationship Id="rId31" Type="http://schemas.openxmlformats.org/officeDocument/2006/relationships/slide" Target="slide60.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slideLayout" Target="../slideLayouts/slideLayout46.xml"/><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slide" Target="slide3.xml"/><Relationship Id="rId35" Type="http://schemas.openxmlformats.org/officeDocument/2006/relationships/image" Target="../media/image61.svg"/><Relationship Id="rId8" Type="http://schemas.openxmlformats.org/officeDocument/2006/relationships/tags" Target="../tags/tag146.xml"/><Relationship Id="rId3" Type="http://schemas.openxmlformats.org/officeDocument/2006/relationships/tags" Target="../tags/tag141.xml"/></Relationships>
</file>

<file path=ppt/slides/_rels/slide70.xml.rels><?xml version="1.0" encoding="UTF-8" standalone="yes"?>
<Relationships xmlns="http://schemas.openxmlformats.org/package/2006/relationships"><Relationship Id="rId8" Type="http://schemas.openxmlformats.org/officeDocument/2006/relationships/slide" Target="slide2.xml"/><Relationship Id="rId13" Type="http://schemas.openxmlformats.org/officeDocument/2006/relationships/slide" Target="slide20.xml"/><Relationship Id="rId18" Type="http://schemas.openxmlformats.org/officeDocument/2006/relationships/slide" Target="slide96.xml"/><Relationship Id="rId3" Type="http://schemas.openxmlformats.org/officeDocument/2006/relationships/notesSlide" Target="../notesSlides/notesSlide58.xml"/><Relationship Id="rId21" Type="http://schemas.openxmlformats.org/officeDocument/2006/relationships/slide" Target="slide66.xml"/><Relationship Id="rId7" Type="http://schemas.openxmlformats.org/officeDocument/2006/relationships/slide" Target="slide3.xml"/><Relationship Id="rId12" Type="http://schemas.openxmlformats.org/officeDocument/2006/relationships/slide" Target="slide10.xml"/><Relationship Id="rId17" Type="http://schemas.openxmlformats.org/officeDocument/2006/relationships/slide" Target="slide90.xml"/><Relationship Id="rId2" Type="http://schemas.openxmlformats.org/officeDocument/2006/relationships/slideLayout" Target="../slideLayouts/slideLayout6.xml"/><Relationship Id="rId16" Type="http://schemas.openxmlformats.org/officeDocument/2006/relationships/slide" Target="slide78.xml"/><Relationship Id="rId20" Type="http://schemas.openxmlformats.org/officeDocument/2006/relationships/slide" Target="slide104.xml"/><Relationship Id="rId1" Type="http://schemas.openxmlformats.org/officeDocument/2006/relationships/tags" Target="../tags/tag152.xml"/><Relationship Id="rId6" Type="http://schemas.openxmlformats.org/officeDocument/2006/relationships/image" Target="../media/image65.svg"/><Relationship Id="rId11" Type="http://schemas.openxmlformats.org/officeDocument/2006/relationships/slide" Target="slide5.xml"/><Relationship Id="rId5" Type="http://schemas.openxmlformats.org/officeDocument/2006/relationships/image" Target="../media/image64.png"/><Relationship Id="rId15" Type="http://schemas.openxmlformats.org/officeDocument/2006/relationships/slide" Target="slide38.xml"/><Relationship Id="rId10" Type="http://schemas.openxmlformats.org/officeDocument/2006/relationships/image" Target="../media/image6.svg"/><Relationship Id="rId19" Type="http://schemas.openxmlformats.org/officeDocument/2006/relationships/slide" Target="slide101.xml"/><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slide" Target="slide29.xml"/></Relationships>
</file>

<file path=ppt/slides/_rels/slide7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38.xml"/><Relationship Id="rId18" Type="http://schemas.openxmlformats.org/officeDocument/2006/relationships/slide" Target="slide104.xml"/><Relationship Id="rId3" Type="http://schemas.openxmlformats.org/officeDocument/2006/relationships/image" Target="../media/image66.png"/><Relationship Id="rId7" Type="http://schemas.openxmlformats.org/officeDocument/2006/relationships/image" Target="../media/image5.pn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59.xml"/><Relationship Id="rId16" Type="http://schemas.openxmlformats.org/officeDocument/2006/relationships/slide" Target="slide96.xml"/><Relationship Id="rId1" Type="http://schemas.openxmlformats.org/officeDocument/2006/relationships/slideLayout" Target="../slideLayouts/slideLayout6.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90.xml"/><Relationship Id="rId10" Type="http://schemas.openxmlformats.org/officeDocument/2006/relationships/slide" Target="slide10.xml"/><Relationship Id="rId19" Type="http://schemas.openxmlformats.org/officeDocument/2006/relationships/slide" Target="slide66.xml"/><Relationship Id="rId4" Type="http://schemas.openxmlformats.org/officeDocument/2006/relationships/image" Target="../media/image67.png"/><Relationship Id="rId9" Type="http://schemas.openxmlformats.org/officeDocument/2006/relationships/slide" Target="slide5.xml"/><Relationship Id="rId14" Type="http://schemas.openxmlformats.org/officeDocument/2006/relationships/slide" Target="slide78.xml"/></Relationships>
</file>

<file path=ppt/slides/_rels/slide72.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90.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78.xml"/><Relationship Id="rId17" Type="http://schemas.openxmlformats.org/officeDocument/2006/relationships/slide" Target="slide66.xml"/><Relationship Id="rId2" Type="http://schemas.microsoft.com/office/2018/10/relationships/comments" Target="../comments/modernComment_7FFFF8F3_811656F3.xml"/><Relationship Id="rId16" Type="http://schemas.openxmlformats.org/officeDocument/2006/relationships/slide" Target="slide104.xml"/><Relationship Id="rId1" Type="http://schemas.openxmlformats.org/officeDocument/2006/relationships/slideLayout" Target="../slideLayouts/slideLayout6.xml"/><Relationship Id="rId6" Type="http://schemas.openxmlformats.org/officeDocument/2006/relationships/image" Target="../media/image6.svg"/><Relationship Id="rId11" Type="http://schemas.openxmlformats.org/officeDocument/2006/relationships/slide" Target="slide38.xml"/><Relationship Id="rId5" Type="http://schemas.openxmlformats.org/officeDocument/2006/relationships/image" Target="../media/image5.pn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6.xml"/></Relationships>
</file>

<file path=ppt/slides/_rels/slide7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38.xml"/><Relationship Id="rId18" Type="http://schemas.openxmlformats.org/officeDocument/2006/relationships/slide" Target="slide104.xml"/><Relationship Id="rId3" Type="http://schemas.microsoft.com/office/2018/10/relationships/comments" Target="../comments/modernComment_7FFFF89E_A4EB26B4.xml"/><Relationship Id="rId7" Type="http://schemas.openxmlformats.org/officeDocument/2006/relationships/image" Target="../media/image5.pn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60.xml"/><Relationship Id="rId16" Type="http://schemas.openxmlformats.org/officeDocument/2006/relationships/slide" Target="slide96.xml"/><Relationship Id="rId1" Type="http://schemas.openxmlformats.org/officeDocument/2006/relationships/slideLayout" Target="../slideLayouts/slideLayout6.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90.xml"/><Relationship Id="rId10" Type="http://schemas.openxmlformats.org/officeDocument/2006/relationships/slide" Target="slide10.xml"/><Relationship Id="rId19" Type="http://schemas.openxmlformats.org/officeDocument/2006/relationships/slide" Target="slide66.xml"/><Relationship Id="rId4" Type="http://schemas.openxmlformats.org/officeDocument/2006/relationships/image" Target="../media/image68.png"/><Relationship Id="rId9" Type="http://schemas.openxmlformats.org/officeDocument/2006/relationships/slide" Target="slide5.xml"/><Relationship Id="rId14" Type="http://schemas.openxmlformats.org/officeDocument/2006/relationships/slide" Target="slide7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3" Type="http://schemas.openxmlformats.org/officeDocument/2006/relationships/image" Target="../media/image72.svg"/><Relationship Id="rId18" Type="http://schemas.openxmlformats.org/officeDocument/2006/relationships/image" Target="../media/image75.png"/><Relationship Id="rId26" Type="http://schemas.openxmlformats.org/officeDocument/2006/relationships/slide" Target="slide5.xml"/><Relationship Id="rId3" Type="http://schemas.openxmlformats.org/officeDocument/2006/relationships/tags" Target="../tags/tag155.xml"/><Relationship Id="rId21" Type="http://schemas.openxmlformats.org/officeDocument/2006/relationships/image" Target="../media/image78.svg"/><Relationship Id="rId34" Type="http://schemas.openxmlformats.org/officeDocument/2006/relationships/slide" Target="slide101.xml"/><Relationship Id="rId7" Type="http://schemas.openxmlformats.org/officeDocument/2006/relationships/slideLayout" Target="../slideLayouts/slideLayout2.xml"/><Relationship Id="rId12" Type="http://schemas.openxmlformats.org/officeDocument/2006/relationships/image" Target="../media/image71.png"/><Relationship Id="rId17" Type="http://schemas.openxmlformats.org/officeDocument/2006/relationships/image" Target="../media/image45.svg"/><Relationship Id="rId25" Type="http://schemas.openxmlformats.org/officeDocument/2006/relationships/image" Target="../media/image6.svg"/><Relationship Id="rId33" Type="http://schemas.openxmlformats.org/officeDocument/2006/relationships/slide" Target="slide96.xml"/><Relationship Id="rId2" Type="http://schemas.openxmlformats.org/officeDocument/2006/relationships/tags" Target="../tags/tag154.xml"/><Relationship Id="rId16" Type="http://schemas.openxmlformats.org/officeDocument/2006/relationships/image" Target="../media/image44.png"/><Relationship Id="rId20" Type="http://schemas.openxmlformats.org/officeDocument/2006/relationships/image" Target="../media/image77.png"/><Relationship Id="rId29" Type="http://schemas.openxmlformats.org/officeDocument/2006/relationships/slide" Target="slide29.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image" Target="../media/image70.svg"/><Relationship Id="rId24" Type="http://schemas.openxmlformats.org/officeDocument/2006/relationships/image" Target="../media/image5.png"/><Relationship Id="rId32" Type="http://schemas.openxmlformats.org/officeDocument/2006/relationships/slide" Target="slide90.xml"/><Relationship Id="rId5" Type="http://schemas.openxmlformats.org/officeDocument/2006/relationships/tags" Target="../tags/tag157.xml"/><Relationship Id="rId15" Type="http://schemas.openxmlformats.org/officeDocument/2006/relationships/image" Target="../media/image74.svg"/><Relationship Id="rId23" Type="http://schemas.openxmlformats.org/officeDocument/2006/relationships/slide" Target="slide2.xml"/><Relationship Id="rId28" Type="http://schemas.openxmlformats.org/officeDocument/2006/relationships/slide" Target="slide20.xml"/><Relationship Id="rId36" Type="http://schemas.openxmlformats.org/officeDocument/2006/relationships/slide" Target="slide66.xml"/><Relationship Id="rId10" Type="http://schemas.openxmlformats.org/officeDocument/2006/relationships/image" Target="../media/image69.png"/><Relationship Id="rId19" Type="http://schemas.openxmlformats.org/officeDocument/2006/relationships/image" Target="../media/image76.svg"/><Relationship Id="rId31" Type="http://schemas.openxmlformats.org/officeDocument/2006/relationships/slide" Target="slide78.xml"/><Relationship Id="rId4" Type="http://schemas.openxmlformats.org/officeDocument/2006/relationships/tags" Target="../tags/tag156.xml"/><Relationship Id="rId9" Type="http://schemas.microsoft.com/office/2018/10/relationships/comments" Target="../comments/modernComment_7FFFF8A2_606C7A22.xml"/><Relationship Id="rId14" Type="http://schemas.openxmlformats.org/officeDocument/2006/relationships/image" Target="../media/image73.png"/><Relationship Id="rId22" Type="http://schemas.openxmlformats.org/officeDocument/2006/relationships/slide" Target="slide3.xml"/><Relationship Id="rId27" Type="http://schemas.openxmlformats.org/officeDocument/2006/relationships/slide" Target="slide10.xml"/><Relationship Id="rId30" Type="http://schemas.openxmlformats.org/officeDocument/2006/relationships/slide" Target="slide38.xml"/><Relationship Id="rId35" Type="http://schemas.openxmlformats.org/officeDocument/2006/relationships/slide" Target="slide104.xml"/><Relationship Id="rId8"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svg"/><Relationship Id="rId18" Type="http://schemas.openxmlformats.org/officeDocument/2006/relationships/slide" Target="slide3.xml"/><Relationship Id="rId26" Type="http://schemas.openxmlformats.org/officeDocument/2006/relationships/slide" Target="slide38.xml"/><Relationship Id="rId3" Type="http://schemas.openxmlformats.org/officeDocument/2006/relationships/tags" Target="../tags/tag161.xml"/><Relationship Id="rId21" Type="http://schemas.openxmlformats.org/officeDocument/2006/relationships/image" Target="../media/image6.svg"/><Relationship Id="rId7" Type="http://schemas.openxmlformats.org/officeDocument/2006/relationships/notesSlide" Target="../notesSlides/notesSlide62.xml"/><Relationship Id="rId12" Type="http://schemas.openxmlformats.org/officeDocument/2006/relationships/image" Target="../media/image73.png"/><Relationship Id="rId17" Type="http://schemas.openxmlformats.org/officeDocument/2006/relationships/image" Target="../media/image78.svg"/><Relationship Id="rId25" Type="http://schemas.openxmlformats.org/officeDocument/2006/relationships/slide" Target="slide29.xml"/><Relationship Id="rId2" Type="http://schemas.openxmlformats.org/officeDocument/2006/relationships/tags" Target="../tags/tag160.xml"/><Relationship Id="rId16" Type="http://schemas.openxmlformats.org/officeDocument/2006/relationships/image" Target="../media/image77.png"/><Relationship Id="rId20" Type="http://schemas.openxmlformats.org/officeDocument/2006/relationships/image" Target="../media/image5.png"/><Relationship Id="rId29" Type="http://schemas.openxmlformats.org/officeDocument/2006/relationships/slide" Target="slide96.xml"/><Relationship Id="rId1" Type="http://schemas.openxmlformats.org/officeDocument/2006/relationships/tags" Target="../tags/tag159.xml"/><Relationship Id="rId6" Type="http://schemas.openxmlformats.org/officeDocument/2006/relationships/slideLayout" Target="../slideLayouts/slideLayout2.xml"/><Relationship Id="rId11" Type="http://schemas.openxmlformats.org/officeDocument/2006/relationships/image" Target="../media/image72.svg"/><Relationship Id="rId24" Type="http://schemas.openxmlformats.org/officeDocument/2006/relationships/slide" Target="slide20.xml"/><Relationship Id="rId32" Type="http://schemas.openxmlformats.org/officeDocument/2006/relationships/slide" Target="slide66.xml"/><Relationship Id="rId5" Type="http://schemas.openxmlformats.org/officeDocument/2006/relationships/tags" Target="../tags/tag163.xml"/><Relationship Id="rId15" Type="http://schemas.openxmlformats.org/officeDocument/2006/relationships/image" Target="../media/image79.svg"/><Relationship Id="rId23" Type="http://schemas.openxmlformats.org/officeDocument/2006/relationships/slide" Target="slide10.xml"/><Relationship Id="rId28" Type="http://schemas.openxmlformats.org/officeDocument/2006/relationships/slide" Target="slide90.xml"/><Relationship Id="rId10" Type="http://schemas.openxmlformats.org/officeDocument/2006/relationships/image" Target="../media/image71.png"/><Relationship Id="rId19" Type="http://schemas.openxmlformats.org/officeDocument/2006/relationships/slide" Target="slide2.xml"/><Relationship Id="rId31" Type="http://schemas.openxmlformats.org/officeDocument/2006/relationships/slide" Target="slide104.xml"/><Relationship Id="rId4" Type="http://schemas.openxmlformats.org/officeDocument/2006/relationships/tags" Target="../tags/tag162.xml"/><Relationship Id="rId9" Type="http://schemas.openxmlformats.org/officeDocument/2006/relationships/image" Target="../media/image70.svg"/><Relationship Id="rId14" Type="http://schemas.openxmlformats.org/officeDocument/2006/relationships/image" Target="../media/image75.png"/><Relationship Id="rId22" Type="http://schemas.openxmlformats.org/officeDocument/2006/relationships/slide" Target="slide5.xml"/><Relationship Id="rId27" Type="http://schemas.openxmlformats.org/officeDocument/2006/relationships/slide" Target="slide78.xml"/><Relationship Id="rId30" Type="http://schemas.openxmlformats.org/officeDocument/2006/relationships/slide" Target="slide101.xml"/></Relationships>
</file>

<file path=ppt/slides/_rels/slide77.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78.xml"/><Relationship Id="rId18" Type="http://schemas.openxmlformats.org/officeDocument/2006/relationships/slide" Target="slide66.xml"/><Relationship Id="rId3" Type="http://schemas.openxmlformats.org/officeDocument/2006/relationships/image" Target="../media/image80.emf"/><Relationship Id="rId7" Type="http://schemas.openxmlformats.org/officeDocument/2006/relationships/image" Target="../media/image6.svg"/><Relationship Id="rId12" Type="http://schemas.openxmlformats.org/officeDocument/2006/relationships/slide" Target="slide38.xml"/><Relationship Id="rId17" Type="http://schemas.openxmlformats.org/officeDocument/2006/relationships/slide" Target="slide104.xml"/><Relationship Id="rId2" Type="http://schemas.microsoft.com/office/2018/10/relationships/comments" Target="../comments/modernComment_7FFFF884_2785D4FB.xml"/><Relationship Id="rId16" Type="http://schemas.openxmlformats.org/officeDocument/2006/relationships/slide" Target="slide101.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slide" Target="slide29.xml"/><Relationship Id="rId5" Type="http://schemas.openxmlformats.org/officeDocument/2006/relationships/slide" Target="slide2.xml"/><Relationship Id="rId15" Type="http://schemas.openxmlformats.org/officeDocument/2006/relationships/slide" Target="slide96.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9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xml"/><Relationship Id="rId1" Type="http://schemas.openxmlformats.org/officeDocument/2006/relationships/tags" Target="../tags/tag164.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79.xml.rels><?xml version="1.0" encoding="UTF-8" standalone="yes"?>
<Relationships xmlns="http://schemas.openxmlformats.org/package/2006/relationships"><Relationship Id="rId13" Type="http://schemas.openxmlformats.org/officeDocument/2006/relationships/image" Target="../media/image83.png"/><Relationship Id="rId18" Type="http://schemas.openxmlformats.org/officeDocument/2006/relationships/image" Target="../media/image88.svg"/><Relationship Id="rId26" Type="http://schemas.openxmlformats.org/officeDocument/2006/relationships/slide" Target="slide2.xml"/><Relationship Id="rId39" Type="http://schemas.openxmlformats.org/officeDocument/2006/relationships/slide" Target="slide104.xml"/><Relationship Id="rId21" Type="http://schemas.openxmlformats.org/officeDocument/2006/relationships/image" Target="../media/image77.png"/><Relationship Id="rId34" Type="http://schemas.openxmlformats.org/officeDocument/2006/relationships/slide" Target="slide38.xml"/><Relationship Id="rId7" Type="http://schemas.openxmlformats.org/officeDocument/2006/relationships/tags" Target="../tags/tag171.xml"/><Relationship Id="rId12" Type="http://schemas.openxmlformats.org/officeDocument/2006/relationships/image" Target="../media/image82.svg"/><Relationship Id="rId17" Type="http://schemas.openxmlformats.org/officeDocument/2006/relationships/image" Target="../media/image87.png"/><Relationship Id="rId25" Type="http://schemas.openxmlformats.org/officeDocument/2006/relationships/slide" Target="slide3.xml"/><Relationship Id="rId33" Type="http://schemas.openxmlformats.org/officeDocument/2006/relationships/slide" Target="slide29.xml"/><Relationship Id="rId38" Type="http://schemas.openxmlformats.org/officeDocument/2006/relationships/slide" Target="slide101.xml"/><Relationship Id="rId2" Type="http://schemas.openxmlformats.org/officeDocument/2006/relationships/tags" Target="../tags/tag166.xml"/><Relationship Id="rId16" Type="http://schemas.openxmlformats.org/officeDocument/2006/relationships/image" Target="../media/image86.svg"/><Relationship Id="rId20" Type="http://schemas.openxmlformats.org/officeDocument/2006/relationships/image" Target="../media/image90.svg"/><Relationship Id="rId29" Type="http://schemas.openxmlformats.org/officeDocument/2006/relationships/slide" Target="slide5.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image" Target="../media/image81.png"/><Relationship Id="rId24" Type="http://schemas.openxmlformats.org/officeDocument/2006/relationships/image" Target="../media/image92.svg"/><Relationship Id="rId32" Type="http://schemas.openxmlformats.org/officeDocument/2006/relationships/slide" Target="slide24.xml"/><Relationship Id="rId37" Type="http://schemas.openxmlformats.org/officeDocument/2006/relationships/slide" Target="slide96.xml"/><Relationship Id="rId5" Type="http://schemas.openxmlformats.org/officeDocument/2006/relationships/tags" Target="../tags/tag169.xml"/><Relationship Id="rId15" Type="http://schemas.openxmlformats.org/officeDocument/2006/relationships/image" Target="../media/image85.png"/><Relationship Id="rId23" Type="http://schemas.openxmlformats.org/officeDocument/2006/relationships/image" Target="../media/image91.png"/><Relationship Id="rId28" Type="http://schemas.openxmlformats.org/officeDocument/2006/relationships/image" Target="../media/image6.svg"/><Relationship Id="rId36" Type="http://schemas.openxmlformats.org/officeDocument/2006/relationships/slide" Target="slide90.xml"/><Relationship Id="rId10" Type="http://schemas.openxmlformats.org/officeDocument/2006/relationships/slideLayout" Target="../slideLayouts/slideLayout2.xml"/><Relationship Id="rId19" Type="http://schemas.openxmlformats.org/officeDocument/2006/relationships/image" Target="../media/image89.png"/><Relationship Id="rId31" Type="http://schemas.openxmlformats.org/officeDocument/2006/relationships/slide" Target="slide20.xml"/><Relationship Id="rId4" Type="http://schemas.openxmlformats.org/officeDocument/2006/relationships/tags" Target="../tags/tag168.xml"/><Relationship Id="rId9" Type="http://schemas.openxmlformats.org/officeDocument/2006/relationships/tags" Target="../tags/tag173.xml"/><Relationship Id="rId14" Type="http://schemas.openxmlformats.org/officeDocument/2006/relationships/image" Target="../media/image84.svg"/><Relationship Id="rId22" Type="http://schemas.openxmlformats.org/officeDocument/2006/relationships/image" Target="../media/image78.svg"/><Relationship Id="rId27" Type="http://schemas.openxmlformats.org/officeDocument/2006/relationships/image" Target="../media/image5.png"/><Relationship Id="rId30" Type="http://schemas.openxmlformats.org/officeDocument/2006/relationships/slide" Target="slide10.xml"/><Relationship Id="rId35" Type="http://schemas.openxmlformats.org/officeDocument/2006/relationships/slide" Target="slide78.xml"/><Relationship Id="rId8" Type="http://schemas.openxmlformats.org/officeDocument/2006/relationships/tags" Target="../tags/tag172.xml"/><Relationship Id="rId3" Type="http://schemas.openxmlformats.org/officeDocument/2006/relationships/tags" Target="../tags/tag167.xml"/></Relationships>
</file>

<file path=ppt/slides/_rels/slide80.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90.xml"/><Relationship Id="rId3" Type="http://schemas.openxmlformats.org/officeDocument/2006/relationships/slide" Target="slide2.xml"/><Relationship Id="rId7" Type="http://schemas.openxmlformats.org/officeDocument/2006/relationships/slide" Target="slide10.xml"/><Relationship Id="rId12" Type="http://schemas.openxmlformats.org/officeDocument/2006/relationships/slide" Target="slide78.xml"/><Relationship Id="rId2" Type="http://schemas.openxmlformats.org/officeDocument/2006/relationships/slide" Target="slide3.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38.xml"/><Relationship Id="rId5" Type="http://schemas.openxmlformats.org/officeDocument/2006/relationships/image" Target="../media/image6.sv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image" Target="../media/image5.png"/><Relationship Id="rId9" Type="http://schemas.openxmlformats.org/officeDocument/2006/relationships/slide" Target="slide24.xml"/><Relationship Id="rId14" Type="http://schemas.openxmlformats.org/officeDocument/2006/relationships/slide" Target="slide96.xml"/></Relationships>
</file>

<file path=ppt/slides/_rels/slide81.xml.rels><?xml version="1.0" encoding="UTF-8" standalone="yes"?>
<Relationships xmlns="http://schemas.openxmlformats.org/package/2006/relationships"><Relationship Id="rId13" Type="http://schemas.openxmlformats.org/officeDocument/2006/relationships/image" Target="../media/image98.svg"/><Relationship Id="rId18" Type="http://schemas.openxmlformats.org/officeDocument/2006/relationships/image" Target="../media/image103.png"/><Relationship Id="rId26" Type="http://schemas.openxmlformats.org/officeDocument/2006/relationships/slide" Target="slide10.xml"/><Relationship Id="rId3" Type="http://schemas.openxmlformats.org/officeDocument/2006/relationships/tags" Target="../tags/tag176.xml"/><Relationship Id="rId21" Type="http://schemas.openxmlformats.org/officeDocument/2006/relationships/slide" Target="slide3.xml"/><Relationship Id="rId34" Type="http://schemas.openxmlformats.org/officeDocument/2006/relationships/slide" Target="slide101.xml"/><Relationship Id="rId7" Type="http://schemas.openxmlformats.org/officeDocument/2006/relationships/slideLayout" Target="../slideLayouts/slideLayout2.xml"/><Relationship Id="rId12" Type="http://schemas.openxmlformats.org/officeDocument/2006/relationships/image" Target="../media/image97.png"/><Relationship Id="rId17" Type="http://schemas.openxmlformats.org/officeDocument/2006/relationships/image" Target="../media/image102.svg"/><Relationship Id="rId25" Type="http://schemas.openxmlformats.org/officeDocument/2006/relationships/slide" Target="slide5.xml"/><Relationship Id="rId33" Type="http://schemas.openxmlformats.org/officeDocument/2006/relationships/slide" Target="slide96.xml"/><Relationship Id="rId2" Type="http://schemas.openxmlformats.org/officeDocument/2006/relationships/tags" Target="../tags/tag175.xml"/><Relationship Id="rId16" Type="http://schemas.openxmlformats.org/officeDocument/2006/relationships/image" Target="../media/image101.png"/><Relationship Id="rId20" Type="http://schemas.openxmlformats.org/officeDocument/2006/relationships/image" Target="../media/image33.png"/><Relationship Id="rId29" Type="http://schemas.openxmlformats.org/officeDocument/2006/relationships/slide" Target="slide29.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image" Target="../media/image96.svg"/><Relationship Id="rId24" Type="http://schemas.openxmlformats.org/officeDocument/2006/relationships/image" Target="../media/image6.svg"/><Relationship Id="rId32" Type="http://schemas.openxmlformats.org/officeDocument/2006/relationships/slide" Target="slide90.xml"/><Relationship Id="rId5" Type="http://schemas.openxmlformats.org/officeDocument/2006/relationships/tags" Target="../tags/tag178.xml"/><Relationship Id="rId15" Type="http://schemas.openxmlformats.org/officeDocument/2006/relationships/image" Target="../media/image100.svg"/><Relationship Id="rId23" Type="http://schemas.openxmlformats.org/officeDocument/2006/relationships/image" Target="../media/image5.png"/><Relationship Id="rId28" Type="http://schemas.openxmlformats.org/officeDocument/2006/relationships/slide" Target="slide24.xml"/><Relationship Id="rId10" Type="http://schemas.openxmlformats.org/officeDocument/2006/relationships/image" Target="../media/image95.png"/><Relationship Id="rId19" Type="http://schemas.openxmlformats.org/officeDocument/2006/relationships/image" Target="../media/image104.svg"/><Relationship Id="rId31" Type="http://schemas.openxmlformats.org/officeDocument/2006/relationships/slide" Target="slide78.xml"/><Relationship Id="rId4" Type="http://schemas.openxmlformats.org/officeDocument/2006/relationships/tags" Target="../tags/tag177.xml"/><Relationship Id="rId9" Type="http://schemas.openxmlformats.org/officeDocument/2006/relationships/image" Target="../media/image94.svg"/><Relationship Id="rId14" Type="http://schemas.openxmlformats.org/officeDocument/2006/relationships/image" Target="../media/image99.png"/><Relationship Id="rId22" Type="http://schemas.openxmlformats.org/officeDocument/2006/relationships/slide" Target="slide2.xml"/><Relationship Id="rId27" Type="http://schemas.openxmlformats.org/officeDocument/2006/relationships/slide" Target="slide20.xml"/><Relationship Id="rId30" Type="http://schemas.openxmlformats.org/officeDocument/2006/relationships/slide" Target="slide38.xml"/><Relationship Id="rId35" Type="http://schemas.openxmlformats.org/officeDocument/2006/relationships/slide" Target="slide104.xml"/><Relationship Id="rId8" Type="http://schemas.openxmlformats.org/officeDocument/2006/relationships/image" Target="../media/image93.png"/></Relationships>
</file>

<file path=ppt/slides/_rels/slide82.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90.xml"/><Relationship Id="rId3" Type="http://schemas.openxmlformats.org/officeDocument/2006/relationships/slide" Target="slide2.xml"/><Relationship Id="rId7" Type="http://schemas.openxmlformats.org/officeDocument/2006/relationships/slide" Target="slide10.xml"/><Relationship Id="rId12" Type="http://schemas.openxmlformats.org/officeDocument/2006/relationships/slide" Target="slide78.xml"/><Relationship Id="rId2" Type="http://schemas.openxmlformats.org/officeDocument/2006/relationships/slide" Target="slide3.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38.xml"/><Relationship Id="rId5" Type="http://schemas.openxmlformats.org/officeDocument/2006/relationships/image" Target="../media/image6.sv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image" Target="../media/image5.png"/><Relationship Id="rId9" Type="http://schemas.openxmlformats.org/officeDocument/2006/relationships/slide" Target="slide66.xml"/><Relationship Id="rId14" Type="http://schemas.openxmlformats.org/officeDocument/2006/relationships/slide" Target="slide96.xml"/></Relationships>
</file>

<file path=ppt/slides/_rels/slide83.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microsoft.com/office/2018/10/relationships/comments" Target="../comments/modernComment_7FFFF8DB_5B069B52.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66.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84.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90.xml"/><Relationship Id="rId3" Type="http://schemas.openxmlformats.org/officeDocument/2006/relationships/slide" Target="slide2.xml"/><Relationship Id="rId7" Type="http://schemas.openxmlformats.org/officeDocument/2006/relationships/slide" Target="slide10.xml"/><Relationship Id="rId12" Type="http://schemas.openxmlformats.org/officeDocument/2006/relationships/slide" Target="slide78.xml"/><Relationship Id="rId2" Type="http://schemas.openxmlformats.org/officeDocument/2006/relationships/slide" Target="slide3.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38.xml"/><Relationship Id="rId5" Type="http://schemas.openxmlformats.org/officeDocument/2006/relationships/image" Target="../media/image6.sv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image" Target="../media/image5.png"/><Relationship Id="rId9" Type="http://schemas.openxmlformats.org/officeDocument/2006/relationships/slide" Target="slide66.xml"/><Relationship Id="rId14" Type="http://schemas.openxmlformats.org/officeDocument/2006/relationships/slide" Target="slide96.xml"/></Relationships>
</file>

<file path=ppt/slides/_rels/slide85.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90.xml"/><Relationship Id="rId3" Type="http://schemas.openxmlformats.org/officeDocument/2006/relationships/slide" Target="slide2.xml"/><Relationship Id="rId7" Type="http://schemas.openxmlformats.org/officeDocument/2006/relationships/slide" Target="slide10.xml"/><Relationship Id="rId12" Type="http://schemas.openxmlformats.org/officeDocument/2006/relationships/slide" Target="slide78.xml"/><Relationship Id="rId2" Type="http://schemas.openxmlformats.org/officeDocument/2006/relationships/slide" Target="slide3.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38.xml"/><Relationship Id="rId5" Type="http://schemas.openxmlformats.org/officeDocument/2006/relationships/image" Target="../media/image6.sv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image" Target="../media/image5.png"/><Relationship Id="rId9" Type="http://schemas.openxmlformats.org/officeDocument/2006/relationships/slide" Target="slide66.xml"/><Relationship Id="rId14" Type="http://schemas.openxmlformats.org/officeDocument/2006/relationships/slide" Target="slide96.xml"/></Relationships>
</file>

<file path=ppt/slides/_rels/slide86.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6.svg"/><Relationship Id="rId18" Type="http://schemas.openxmlformats.org/officeDocument/2006/relationships/slide" Target="slide29.xml"/><Relationship Id="rId3" Type="http://schemas.openxmlformats.org/officeDocument/2006/relationships/tags" Target="../tags/tag182.xml"/><Relationship Id="rId21" Type="http://schemas.openxmlformats.org/officeDocument/2006/relationships/slide" Target="slide90.xml"/><Relationship Id="rId7" Type="http://schemas.openxmlformats.org/officeDocument/2006/relationships/tags" Target="../tags/tag186.xml"/><Relationship Id="rId12" Type="http://schemas.openxmlformats.org/officeDocument/2006/relationships/image" Target="../media/image5.png"/><Relationship Id="rId17" Type="http://schemas.openxmlformats.org/officeDocument/2006/relationships/slide" Target="slide66.xml"/><Relationship Id="rId2" Type="http://schemas.openxmlformats.org/officeDocument/2006/relationships/tags" Target="../tags/tag181.xml"/><Relationship Id="rId16" Type="http://schemas.openxmlformats.org/officeDocument/2006/relationships/slide" Target="slide20.xml"/><Relationship Id="rId20" Type="http://schemas.openxmlformats.org/officeDocument/2006/relationships/slide" Target="slide78.xml"/><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slide" Target="slide2.xml"/><Relationship Id="rId24" Type="http://schemas.openxmlformats.org/officeDocument/2006/relationships/slide" Target="slide104.xml"/><Relationship Id="rId5" Type="http://schemas.openxmlformats.org/officeDocument/2006/relationships/tags" Target="../tags/tag184.xml"/><Relationship Id="rId15" Type="http://schemas.openxmlformats.org/officeDocument/2006/relationships/slide" Target="slide10.xml"/><Relationship Id="rId23" Type="http://schemas.openxmlformats.org/officeDocument/2006/relationships/slide" Target="slide101.xml"/><Relationship Id="rId10" Type="http://schemas.openxmlformats.org/officeDocument/2006/relationships/slide" Target="slide3.xml"/><Relationship Id="rId19" Type="http://schemas.openxmlformats.org/officeDocument/2006/relationships/slide" Target="slide38.xml"/><Relationship Id="rId4" Type="http://schemas.openxmlformats.org/officeDocument/2006/relationships/tags" Target="../tags/tag183.xml"/><Relationship Id="rId9" Type="http://schemas.openxmlformats.org/officeDocument/2006/relationships/chart" Target="../charts/chart1.xml"/><Relationship Id="rId14" Type="http://schemas.openxmlformats.org/officeDocument/2006/relationships/slide" Target="slide5.xml"/><Relationship Id="rId22" Type="http://schemas.openxmlformats.org/officeDocument/2006/relationships/slide" Target="slide96.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3.xml"/><Relationship Id="rId1" Type="http://schemas.openxmlformats.org/officeDocument/2006/relationships/tags" Target="../tags/tag187.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8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29.xml"/><Relationship Id="rId18" Type="http://schemas.openxmlformats.org/officeDocument/2006/relationships/slide" Target="slide101.xml"/><Relationship Id="rId3" Type="http://schemas.microsoft.com/office/2018/10/relationships/comments" Target="../comments/modernComment_7FFFF8A1_DB66FF20.xml"/><Relationship Id="rId7" Type="http://schemas.openxmlformats.org/officeDocument/2006/relationships/image" Target="../media/image5.png"/><Relationship Id="rId12" Type="http://schemas.openxmlformats.org/officeDocument/2006/relationships/slide" Target="slide24.xml"/><Relationship Id="rId17" Type="http://schemas.openxmlformats.org/officeDocument/2006/relationships/slide" Target="slide96.xml"/><Relationship Id="rId2" Type="http://schemas.openxmlformats.org/officeDocument/2006/relationships/notesSlide" Target="../notesSlides/notesSlide65.xml"/><Relationship Id="rId16" Type="http://schemas.openxmlformats.org/officeDocument/2006/relationships/slide" Target="slide90.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78.xml"/><Relationship Id="rId10" Type="http://schemas.openxmlformats.org/officeDocument/2006/relationships/slide" Target="slide10.xml"/><Relationship Id="rId19" Type="http://schemas.openxmlformats.org/officeDocument/2006/relationships/slide" Target="slide104.xml"/><Relationship Id="rId4" Type="http://schemas.openxmlformats.org/officeDocument/2006/relationships/image" Target="../media/image2.png"/><Relationship Id="rId9" Type="http://schemas.openxmlformats.org/officeDocument/2006/relationships/slide" Target="slide5.xml"/><Relationship Id="rId14" Type="http://schemas.openxmlformats.org/officeDocument/2006/relationships/slide" Target="slide38.xml"/></Relationships>
</file>

<file path=ppt/slides/_rels/slide89.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38.xml"/><Relationship Id="rId18" Type="http://schemas.openxmlformats.org/officeDocument/2006/relationships/slide" Target="slide104.xm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66.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4.xml"/><Relationship Id="rId5" Type="http://schemas.openxmlformats.org/officeDocument/2006/relationships/slide" Target="slide2.xml"/><Relationship Id="rId15" Type="http://schemas.openxmlformats.org/officeDocument/2006/relationships/slide" Target="slide90.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78.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3.xml"/><Relationship Id="rId1" Type="http://schemas.openxmlformats.org/officeDocument/2006/relationships/tags" Target="../tags/tag188.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91.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38.xml"/><Relationship Id="rId18" Type="http://schemas.openxmlformats.org/officeDocument/2006/relationships/slide" Target="slide104.xml"/><Relationship Id="rId3" Type="http://schemas.openxmlformats.org/officeDocument/2006/relationships/image" Target="../media/image105.jpeg"/><Relationship Id="rId7" Type="http://schemas.openxmlformats.org/officeDocument/2006/relationships/image" Target="../media/image6.sv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68.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4.xml"/><Relationship Id="rId5" Type="http://schemas.openxmlformats.org/officeDocument/2006/relationships/slide" Target="slide2.xml"/><Relationship Id="rId15" Type="http://schemas.openxmlformats.org/officeDocument/2006/relationships/slide" Target="slide90.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78.xml"/></Relationships>
</file>

<file path=ppt/slides/_rels/slide92.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10.xml"/><Relationship Id="rId18" Type="http://schemas.openxmlformats.org/officeDocument/2006/relationships/slide" Target="slide78.xml"/><Relationship Id="rId3" Type="http://schemas.openxmlformats.org/officeDocument/2006/relationships/diagramData" Target="../diagrams/data1.xml"/><Relationship Id="rId21" Type="http://schemas.openxmlformats.org/officeDocument/2006/relationships/slide" Target="slide101.xml"/><Relationship Id="rId7" Type="http://schemas.microsoft.com/office/2007/relationships/diagramDrawing" Target="../diagrams/drawing1.xml"/><Relationship Id="rId12" Type="http://schemas.openxmlformats.org/officeDocument/2006/relationships/slide" Target="slide5.xml"/><Relationship Id="rId17" Type="http://schemas.openxmlformats.org/officeDocument/2006/relationships/slide" Target="slide38.xml"/><Relationship Id="rId2" Type="http://schemas.openxmlformats.org/officeDocument/2006/relationships/notesSlide" Target="../notesSlides/notesSlide69.xml"/><Relationship Id="rId16" Type="http://schemas.openxmlformats.org/officeDocument/2006/relationships/slide" Target="slide29.xml"/><Relationship Id="rId20"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6.svg"/><Relationship Id="rId5" Type="http://schemas.openxmlformats.org/officeDocument/2006/relationships/diagramQuickStyle" Target="../diagrams/quickStyle1.xml"/><Relationship Id="rId15" Type="http://schemas.openxmlformats.org/officeDocument/2006/relationships/slide" Target="slide24.xml"/><Relationship Id="rId10" Type="http://schemas.openxmlformats.org/officeDocument/2006/relationships/image" Target="../media/image5.png"/><Relationship Id="rId19" Type="http://schemas.openxmlformats.org/officeDocument/2006/relationships/slide" Target="slide90.xml"/><Relationship Id="rId4" Type="http://schemas.openxmlformats.org/officeDocument/2006/relationships/diagramLayout" Target="../diagrams/layout1.xml"/><Relationship Id="rId9" Type="http://schemas.openxmlformats.org/officeDocument/2006/relationships/slide" Target="slide2.xml"/><Relationship Id="rId14" Type="http://schemas.openxmlformats.org/officeDocument/2006/relationships/slide" Target="slide20.xml"/><Relationship Id="rId22" Type="http://schemas.openxmlformats.org/officeDocument/2006/relationships/slide" Target="slide104.xml"/></Relationships>
</file>

<file path=ppt/slides/_rels/slide9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slide" Target="slide29.xml"/><Relationship Id="rId18" Type="http://schemas.openxmlformats.org/officeDocument/2006/relationships/slide" Target="slide101.xml"/><Relationship Id="rId3" Type="http://schemas.openxmlformats.org/officeDocument/2006/relationships/image" Target="../media/image106.png"/><Relationship Id="rId7" Type="http://schemas.openxmlformats.org/officeDocument/2006/relationships/image" Target="../media/image5.png"/><Relationship Id="rId12" Type="http://schemas.openxmlformats.org/officeDocument/2006/relationships/slide" Target="slide24.xml"/><Relationship Id="rId17" Type="http://schemas.openxmlformats.org/officeDocument/2006/relationships/slide" Target="slide96.xml"/><Relationship Id="rId2" Type="http://schemas.openxmlformats.org/officeDocument/2006/relationships/notesSlide" Target="../notesSlides/notesSlide70.xml"/><Relationship Id="rId16" Type="http://schemas.openxmlformats.org/officeDocument/2006/relationships/slide" Target="slide90.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slide" Target="slide20.xml"/><Relationship Id="rId5" Type="http://schemas.openxmlformats.org/officeDocument/2006/relationships/slide" Target="slide3.xml"/><Relationship Id="rId15" Type="http://schemas.openxmlformats.org/officeDocument/2006/relationships/slide" Target="slide78.xml"/><Relationship Id="rId10" Type="http://schemas.openxmlformats.org/officeDocument/2006/relationships/slide" Target="slide10.xml"/><Relationship Id="rId19" Type="http://schemas.openxmlformats.org/officeDocument/2006/relationships/slide" Target="slide104.xml"/><Relationship Id="rId4" Type="http://schemas.openxmlformats.org/officeDocument/2006/relationships/image" Target="../media/image107.png"/><Relationship Id="rId9" Type="http://schemas.openxmlformats.org/officeDocument/2006/relationships/slide" Target="slide5.xml"/><Relationship Id="rId14" Type="http://schemas.openxmlformats.org/officeDocument/2006/relationships/slide" Target="slide38.xml"/></Relationships>
</file>

<file path=ppt/slides/_rels/slide94.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71.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24.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95.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72.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24.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3.xml"/><Relationship Id="rId1" Type="http://schemas.openxmlformats.org/officeDocument/2006/relationships/tags" Target="../tags/tag189.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97.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18" Type="http://schemas.openxmlformats.org/officeDocument/2006/relationships/hyperlink" Target="https://www.nen.nl/egiz-werkgroep-nen-7518-identificatie-authenticatie?_gl=1*1abwxxu*_ga*MTQ1MDI4NDQ2NS4xNzI3Mjc0NzUy*_ga_C13P8HNDG2*MTcyNzg1MTcyMC40LjEuMTcyNzg1MTc5Ni4wLjAuMA.." TargetMode="External"/><Relationship Id="rId3" Type="http://schemas.openxmlformats.org/officeDocument/2006/relationships/slide" Target="slide3.xml"/><Relationship Id="rId21" Type="http://schemas.openxmlformats.org/officeDocument/2006/relationships/hyperlink" Target="https://www.dezi.nl/" TargetMode="Externa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74.xml"/><Relationship Id="rId16" Type="http://schemas.openxmlformats.org/officeDocument/2006/relationships/slide" Target="slide101.xml"/><Relationship Id="rId20" Type="http://schemas.openxmlformats.org/officeDocument/2006/relationships/hyperlink" Target="https://www.vzvz.nl/diensten/gemeenschappelijke-diensten/zorg-ab" TargetMode="Externa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24.xml"/><Relationship Id="rId19" Type="http://schemas.openxmlformats.org/officeDocument/2006/relationships/hyperlink" Target="https://www.mitz-toestemming.nl/" TargetMode="Externa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98.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18" Type="http://schemas.openxmlformats.org/officeDocument/2006/relationships/hyperlink" Target="https://metspoedbeschikbaar.nl/" TargetMode="External"/><Relationship Id="rId3" Type="http://schemas.openxmlformats.org/officeDocument/2006/relationships/slide" Target="slide3.xml"/><Relationship Id="rId21" Type="http://schemas.openxmlformats.org/officeDocument/2006/relationships/hyperlink" Target="https://nictiz.nl/nieuws/zelfscan-eoverdracht/" TargetMode="Externa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75.xml"/><Relationship Id="rId16" Type="http://schemas.openxmlformats.org/officeDocument/2006/relationships/slide" Target="slide101.xml"/><Relationship Id="rId20" Type="http://schemas.openxmlformats.org/officeDocument/2006/relationships/hyperlink" Target="https://www.twiin.nl/actueel/nieuws/landelijke-bgz-uitwisseling-hier-staan-we-en-dit-kun-jij-doen" TargetMode="Externa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24.xml"/><Relationship Id="rId19" Type="http://schemas.openxmlformats.org/officeDocument/2006/relationships/hyperlink" Target="https://icthealth.nl/nieuws/pilot-voor-landelijke-tijdlijn-beeldbeschikbaarheid" TargetMode="Externa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99.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76.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24.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100.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38.xml"/><Relationship Id="rId18" Type="http://schemas.openxmlformats.org/officeDocument/2006/relationships/slide" Target="slide104.xml"/><Relationship Id="rId3" Type="http://schemas.microsoft.com/office/2018/10/relationships/comments" Target="../comments/modernComment_1F4_460093B3.xml"/><Relationship Id="rId7" Type="http://schemas.openxmlformats.org/officeDocument/2006/relationships/image" Target="../media/image6.svg"/><Relationship Id="rId12" Type="http://schemas.openxmlformats.org/officeDocument/2006/relationships/slide" Target="slide29.xml"/><Relationship Id="rId17" Type="http://schemas.openxmlformats.org/officeDocument/2006/relationships/slide" Target="slide101.xml"/><Relationship Id="rId2" Type="http://schemas.openxmlformats.org/officeDocument/2006/relationships/notesSlide" Target="../notesSlides/notesSlide77.xml"/><Relationship Id="rId16" Type="http://schemas.openxmlformats.org/officeDocument/2006/relationships/slide" Target="slide96.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24.xml"/><Relationship Id="rId5" Type="http://schemas.openxmlformats.org/officeDocument/2006/relationships/slide" Target="slide2.xml"/><Relationship Id="rId15" Type="http://schemas.openxmlformats.org/officeDocument/2006/relationships/slide" Target="slide90.xml"/><Relationship Id="rId10" Type="http://schemas.openxmlformats.org/officeDocument/2006/relationships/slide" Target="slide20.xml"/><Relationship Id="rId4" Type="http://schemas.openxmlformats.org/officeDocument/2006/relationships/slide" Target="slide3.xml"/><Relationship Id="rId9" Type="http://schemas.openxmlformats.org/officeDocument/2006/relationships/slide" Target="slide10.xml"/><Relationship Id="rId14" Type="http://schemas.openxmlformats.org/officeDocument/2006/relationships/slide" Target="slide78.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3.xml"/><Relationship Id="rId1" Type="http://schemas.openxmlformats.org/officeDocument/2006/relationships/tags" Target="../tags/tag190.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102.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79.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24.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103.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78.xml"/><Relationship Id="rId3" Type="http://schemas.openxmlformats.org/officeDocument/2006/relationships/slide" Target="slide3.xml"/><Relationship Id="rId7" Type="http://schemas.openxmlformats.org/officeDocument/2006/relationships/slide" Target="slide5.xml"/><Relationship Id="rId12" Type="http://schemas.openxmlformats.org/officeDocument/2006/relationships/slide" Target="slide38.xml"/><Relationship Id="rId17" Type="http://schemas.openxmlformats.org/officeDocument/2006/relationships/slide" Target="slide104.xml"/><Relationship Id="rId2" Type="http://schemas.openxmlformats.org/officeDocument/2006/relationships/notesSlide" Target="../notesSlides/notesSlide80.xml"/><Relationship Id="rId16" Type="http://schemas.openxmlformats.org/officeDocument/2006/relationships/slide" Target="slide101.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slide" Target="slide29.xml"/><Relationship Id="rId5" Type="http://schemas.openxmlformats.org/officeDocument/2006/relationships/image" Target="../media/image5.png"/><Relationship Id="rId15" Type="http://schemas.openxmlformats.org/officeDocument/2006/relationships/slide" Target="slide96.xml"/><Relationship Id="rId10" Type="http://schemas.openxmlformats.org/officeDocument/2006/relationships/slide" Target="slide24.xml"/><Relationship Id="rId4" Type="http://schemas.openxmlformats.org/officeDocument/2006/relationships/slide" Target="slide2.xml"/><Relationship Id="rId9" Type="http://schemas.openxmlformats.org/officeDocument/2006/relationships/slide" Target="slide20.xml"/><Relationship Id="rId14" Type="http://schemas.openxmlformats.org/officeDocument/2006/relationships/slide" Target="slide90.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3.xml"/><Relationship Id="rId1" Type="http://schemas.openxmlformats.org/officeDocument/2006/relationships/tags" Target="../tags/tag191.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105.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90.xml"/><Relationship Id="rId3" Type="http://schemas.openxmlformats.org/officeDocument/2006/relationships/slide" Target="slide2.xml"/><Relationship Id="rId7" Type="http://schemas.openxmlformats.org/officeDocument/2006/relationships/slide" Target="slide10.xml"/><Relationship Id="rId12" Type="http://schemas.openxmlformats.org/officeDocument/2006/relationships/slide" Target="slide78.xml"/><Relationship Id="rId2" Type="http://schemas.openxmlformats.org/officeDocument/2006/relationships/slide" Target="slide3.xml"/><Relationship Id="rId16"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38.xml"/><Relationship Id="rId5" Type="http://schemas.openxmlformats.org/officeDocument/2006/relationships/image" Target="../media/image6.svg"/><Relationship Id="rId15" Type="http://schemas.openxmlformats.org/officeDocument/2006/relationships/slide" Target="slide101.xml"/><Relationship Id="rId10" Type="http://schemas.openxmlformats.org/officeDocument/2006/relationships/slide" Target="slide29.xml"/><Relationship Id="rId4" Type="http://schemas.openxmlformats.org/officeDocument/2006/relationships/image" Target="../media/image5.png"/><Relationship Id="rId9" Type="http://schemas.openxmlformats.org/officeDocument/2006/relationships/slide" Target="slide24.xml"/><Relationship Id="rId14" Type="http://schemas.openxmlformats.org/officeDocument/2006/relationships/slide" Target="slide96.xml"/></Relationships>
</file>

<file path=ppt/slides/_rels/slide10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2.xml"/><Relationship Id="rId1" Type="http://schemas.openxmlformats.org/officeDocument/2006/relationships/slideLayout" Target="../slideLayouts/slideLayout7.xml"/><Relationship Id="rId5" Type="http://schemas.openxmlformats.org/officeDocument/2006/relationships/image" Target="../media/image110.png"/><Relationship Id="rId4" Type="http://schemas.openxmlformats.org/officeDocument/2006/relationships/image" Target="../media/image109.sv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3.xml"/><Relationship Id="rId1" Type="http://schemas.openxmlformats.org/officeDocument/2006/relationships/tags" Target="../tags/tag192.xml"/><Relationship Id="rId5" Type="http://schemas.openxmlformats.org/officeDocument/2006/relationships/image" Target="../media/image1.emf"/><Relationship Id="rId4"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descr="Afbeelding met kleding, schoeisel, persoon, Dans&#10;&#10;Automatisch gegenereerde beschrijving">
            <a:extLst>
              <a:ext uri="{FF2B5EF4-FFF2-40B4-BE49-F238E27FC236}">
                <a16:creationId xmlns:a16="http://schemas.microsoft.com/office/drawing/2014/main" id="{54DECD98-2034-8244-A576-887FF42C3FC0}"/>
              </a:ext>
            </a:extLst>
          </p:cNvPr>
          <p:cNvPicPr>
            <a:picLocks noChangeAspect="1"/>
          </p:cNvPicPr>
          <p:nvPr/>
        </p:nvPicPr>
        <p:blipFill>
          <a:blip r:embed="rId4"/>
          <a:stretch>
            <a:fillRect/>
          </a:stretch>
        </p:blipFill>
        <p:spPr>
          <a:xfrm>
            <a:off x="318636" y="1598262"/>
            <a:ext cx="11303267" cy="6354612"/>
          </a:xfrm>
          <a:prstGeom prst="rect">
            <a:avLst/>
          </a:prstGeom>
        </p:spPr>
      </p:pic>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el 1">
            <a:extLst>
              <a:ext uri="{FF2B5EF4-FFF2-40B4-BE49-F238E27FC236}">
                <a16:creationId xmlns:a16="http://schemas.microsoft.com/office/drawing/2014/main" id="{FF99BCB9-2157-D44F-8B65-2B8850545E76}"/>
              </a:ext>
            </a:extLst>
          </p:cNvPr>
          <p:cNvSpPr txBox="1">
            <a:spLocks/>
          </p:cNvSpPr>
          <p:nvPr/>
        </p:nvSpPr>
        <p:spPr>
          <a:xfrm>
            <a:off x="0" y="2559373"/>
            <a:ext cx="1207008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nl-NL" sz="3200" b="1">
              <a:solidFill>
                <a:schemeClr val="bg1"/>
              </a:solidFill>
              <a:latin typeface="Verdana Pro"/>
              <a:cs typeface="Helvetica"/>
            </a:endParaRPr>
          </a:p>
        </p:txBody>
      </p:sp>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a:xfrm>
            <a:off x="1037523" y="2728540"/>
            <a:ext cx="10116954" cy="1261351"/>
          </a:xfrm>
        </p:spPr>
        <p:txBody>
          <a:bodyPr vert="horz">
            <a:normAutofit fontScale="90000"/>
          </a:bodyPr>
          <a:lstStyle/>
          <a:p>
            <a:pPr algn="ctr"/>
            <a:r>
              <a:rPr lang="nl-NL" sz="3600">
                <a:effectLst/>
                <a:ea typeface="Corbel" panose="020B0503020204020204" pitchFamily="34" charset="0"/>
                <a:cs typeface="Times New Roman" panose="02020603050405020304" pitchFamily="18" charset="0"/>
              </a:rPr>
              <a:t>‘Digitalisering en Databeschikbaarheid als drijvende kracht voor Netwerkzorg in Midden-Nederland</a:t>
            </a:r>
            <a:r>
              <a:rPr lang="nl-NL" sz="3600" b="1">
                <a:solidFill>
                  <a:schemeClr val="bg1"/>
                </a:solidFill>
                <a:cs typeface="Helvetica"/>
              </a:rPr>
              <a:t>’ </a:t>
            </a:r>
            <a:br>
              <a:rPr lang="nl-NL" sz="3600" b="1">
                <a:solidFill>
                  <a:schemeClr val="bg1"/>
                </a:solidFill>
                <a:cs typeface="Helvetica"/>
              </a:rPr>
            </a:br>
            <a:br>
              <a:rPr lang="nl-NL" sz="3200" b="1">
                <a:cs typeface="Calibri" panose="020F0502020204030204" pitchFamily="34" charset="0"/>
              </a:rPr>
            </a:br>
            <a:br>
              <a:rPr lang="nl-NL" sz="3200" b="1">
                <a:cs typeface="Calibri" panose="020F0502020204030204" pitchFamily="34" charset="0"/>
              </a:rPr>
            </a:br>
            <a:endParaRPr lang="nl-NL">
              <a:solidFill>
                <a:srgbClr val="21BBEF"/>
              </a:solidFill>
            </a:endParaRPr>
          </a:p>
        </p:txBody>
      </p:sp>
      <p:sp>
        <p:nvSpPr>
          <p:cNvPr id="5" name="Tekstvak 4">
            <a:extLst>
              <a:ext uri="{FF2B5EF4-FFF2-40B4-BE49-F238E27FC236}">
                <a16:creationId xmlns:a16="http://schemas.microsoft.com/office/drawing/2014/main" id="{B7981AA7-C11F-E389-3036-3E8055E2C568}"/>
              </a:ext>
            </a:extLst>
          </p:cNvPr>
          <p:cNvSpPr txBox="1"/>
          <p:nvPr/>
        </p:nvSpPr>
        <p:spPr>
          <a:xfrm>
            <a:off x="244929" y="268306"/>
            <a:ext cx="4953279" cy="400110"/>
          </a:xfrm>
          <a:prstGeom prst="rect">
            <a:avLst/>
          </a:prstGeom>
          <a:noFill/>
        </p:spPr>
        <p:txBody>
          <a:bodyPr wrap="none" rtlCol="0">
            <a:spAutoFit/>
          </a:bodyPr>
          <a:lstStyle/>
          <a:p>
            <a:r>
              <a:rPr lang="nl-NL" sz="1800" b="1">
                <a:solidFill>
                  <a:srgbClr val="21BBEF"/>
                </a:solidFill>
                <a:latin typeface="Verdana Pro"/>
                <a:cs typeface="Calibri"/>
              </a:rPr>
              <a:t>RSO </a:t>
            </a:r>
            <a:r>
              <a:rPr lang="nl-NL" sz="1800" b="1" err="1">
                <a:solidFill>
                  <a:srgbClr val="21BBEF"/>
                </a:solidFill>
                <a:latin typeface="Verdana Pro"/>
                <a:cs typeface="Calibri"/>
              </a:rPr>
              <a:t>Trijn</a:t>
            </a:r>
            <a:r>
              <a:rPr lang="nl-NL" sz="1800" b="1">
                <a:solidFill>
                  <a:srgbClr val="21BBEF"/>
                </a:solidFill>
                <a:latin typeface="Verdana Pro"/>
                <a:cs typeface="Calibri"/>
              </a:rPr>
              <a:t> en leden, november 2024 </a:t>
            </a:r>
            <a:r>
              <a:rPr lang="nl-NL" sz="2000" b="1">
                <a:solidFill>
                  <a:srgbClr val="21BBEF"/>
                </a:solidFill>
                <a:latin typeface="Verdana Pro"/>
                <a:cs typeface="Calibri"/>
              </a:rPr>
              <a:t> </a:t>
            </a:r>
            <a:endParaRPr lang="nl-NL" b="1"/>
          </a:p>
        </p:txBody>
      </p:sp>
      <p:sp>
        <p:nvSpPr>
          <p:cNvPr id="7" name="Tekstvak 6">
            <a:extLst>
              <a:ext uri="{FF2B5EF4-FFF2-40B4-BE49-F238E27FC236}">
                <a16:creationId xmlns:a16="http://schemas.microsoft.com/office/drawing/2014/main" id="{F9ED8746-C156-63EA-5539-DD5A69FADAE8}"/>
              </a:ext>
            </a:extLst>
          </p:cNvPr>
          <p:cNvSpPr txBox="1"/>
          <p:nvPr/>
        </p:nvSpPr>
        <p:spPr>
          <a:xfrm>
            <a:off x="318636" y="3313495"/>
            <a:ext cx="6480810" cy="369332"/>
          </a:xfrm>
          <a:prstGeom prst="rect">
            <a:avLst/>
          </a:prstGeom>
          <a:noFill/>
        </p:spPr>
        <p:txBody>
          <a:bodyPr wrap="square" lIns="91440" tIns="45720" rIns="91440" bIns="45720" anchor="t">
            <a:spAutoFit/>
          </a:bodyPr>
          <a:lstStyle/>
          <a:p>
            <a:r>
              <a:rPr lang="nl-NL" b="1" dirty="0">
                <a:solidFill>
                  <a:schemeClr val="bg1"/>
                </a:solidFill>
                <a:cs typeface="Times New Roman"/>
              </a:rPr>
              <a:t>IZA transformatieplan – versie 0.8 (concept)</a:t>
            </a:r>
            <a:endParaRPr lang="en-NL" dirty="0">
              <a:solidFill>
                <a:schemeClr val="bg1"/>
              </a:solidFill>
            </a:endParaRPr>
          </a:p>
        </p:txBody>
      </p:sp>
    </p:spTree>
    <p:extLst>
      <p:ext uri="{BB962C8B-B14F-4D97-AF65-F5344CB8AC3E}">
        <p14:creationId xmlns:p14="http://schemas.microsoft.com/office/powerpoint/2010/main" val="395296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5F1F6-2BB4-A958-72CA-FDB187AEDB9A}"/>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A607208-6924-E4BD-4B86-2A56B1375A9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 name="think-cell data - do not delete" hidden="1">
                        <a:extLst>
                          <a:ext uri="{FF2B5EF4-FFF2-40B4-BE49-F238E27FC236}">
                            <a16:creationId xmlns:a16="http://schemas.microsoft.com/office/drawing/2014/main" id="{8A607208-6924-E4BD-4B86-2A56B1375A9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F0A6E252-69D7-9C70-6C53-454F45FD7D5D}"/>
              </a:ext>
            </a:extLst>
          </p:cNvPr>
          <p:cNvSpPr>
            <a:spLocks noGrp="1"/>
          </p:cNvSpPr>
          <p:nvPr>
            <p:ph type="title"/>
          </p:nvPr>
        </p:nvSpPr>
        <p:spPr/>
        <p:txBody>
          <a:bodyPr vert="horz"/>
          <a:lstStyle/>
          <a:p>
            <a:r>
              <a:rPr lang="nl-NL"/>
              <a:t>Inhoudsopgave</a:t>
            </a:r>
          </a:p>
        </p:txBody>
      </p:sp>
      <p:sp>
        <p:nvSpPr>
          <p:cNvPr id="5" name="Content Placeholder 4">
            <a:extLst>
              <a:ext uri="{FF2B5EF4-FFF2-40B4-BE49-F238E27FC236}">
                <a16:creationId xmlns:a16="http://schemas.microsoft.com/office/drawing/2014/main" id="{76B3AC35-62B7-1E3E-B876-FE6C723C107A}"/>
              </a:ext>
            </a:extLst>
          </p:cNvPr>
          <p:cNvSpPr>
            <a:spLocks noGrp="1"/>
          </p:cNvSpPr>
          <p:nvPr>
            <p:ph sz="quarter" idx="12"/>
          </p:nvPr>
        </p:nvSpPr>
        <p:spPr>
          <a:xfrm>
            <a:off x="838200" y="1397876"/>
            <a:ext cx="6159500" cy="4958474"/>
          </a:xfrm>
        </p:spPr>
        <p:txBody>
          <a:bodyPr vert="horz" lIns="91440" tIns="45720" rIns="91440" bIns="45720" rtlCol="0" anchor="t">
            <a:normAutofit fontScale="92500"/>
          </a:bodyPr>
          <a:lstStyle/>
          <a:p>
            <a:pPr marL="342900" indent="-342900">
              <a:buFont typeface="+mj-lt"/>
              <a:buAutoNum type="arabicPeriod"/>
            </a:pPr>
            <a:r>
              <a:rPr lang="nl-NL" sz="1700"/>
              <a:t>Management samenvatting en leeswijzer</a:t>
            </a:r>
          </a:p>
          <a:p>
            <a:pPr marL="342900" indent="-342900">
              <a:buFont typeface="+mj-lt"/>
              <a:buAutoNum type="arabicPeriod"/>
            </a:pPr>
            <a:r>
              <a:rPr lang="nl-NL" sz="1700"/>
              <a:t>Achtergrond en aanleiding</a:t>
            </a:r>
          </a:p>
          <a:p>
            <a:pPr marL="342900" indent="-342900">
              <a:buFont typeface="+mj-lt"/>
              <a:buAutoNum type="arabicPeriod"/>
            </a:pPr>
            <a:r>
              <a:rPr lang="nl-NL" sz="1700"/>
              <a:t>Visie en ambitie</a:t>
            </a:r>
          </a:p>
          <a:p>
            <a:pPr marL="342900" indent="-342900">
              <a:buFont typeface="+mj-lt"/>
              <a:buAutoNum type="arabicPeriod"/>
            </a:pPr>
            <a:r>
              <a:rPr lang="nl-NL" sz="1700"/>
              <a:t>Veranderopgave en verwachte impact</a:t>
            </a:r>
          </a:p>
          <a:p>
            <a:pPr marL="342900" indent="-342900">
              <a:buFont typeface="+mj-lt"/>
              <a:buAutoNum type="arabicPeriod"/>
            </a:pPr>
            <a:r>
              <a:rPr lang="nl-NL" sz="1700"/>
              <a:t>Fundament digitalisering</a:t>
            </a:r>
          </a:p>
          <a:p>
            <a:pPr marL="342900" indent="-342900">
              <a:buFont typeface="+mj-lt"/>
              <a:buAutoNum type="arabicPeriod"/>
            </a:pPr>
            <a:r>
              <a:rPr lang="nl-NL" sz="1700"/>
              <a:t>Thema 1: Digitale (zorg)communicatie</a:t>
            </a:r>
          </a:p>
          <a:p>
            <a:pPr marL="342900" indent="-342900">
              <a:buFont typeface="+mj-lt"/>
              <a:buAutoNum type="arabicPeriod"/>
            </a:pPr>
            <a:r>
              <a:rPr lang="nl-NL" sz="1700"/>
              <a:t>Thema 2: Dossierinzage en digitale overdracht</a:t>
            </a:r>
          </a:p>
          <a:p>
            <a:pPr marL="342900" indent="-342900">
              <a:buFont typeface="+mj-lt"/>
              <a:buAutoNum type="arabicPeriod"/>
            </a:pPr>
            <a:r>
              <a:rPr lang="nl-NL" sz="1700"/>
              <a:t>Overkoepelende businesscase en investeringsaanvraag</a:t>
            </a:r>
          </a:p>
          <a:p>
            <a:pPr marL="342900" indent="-342900">
              <a:buFont typeface="+mj-lt"/>
              <a:buAutoNum type="arabicPeriod"/>
            </a:pPr>
            <a:r>
              <a:rPr lang="nl-NL" sz="1700" err="1"/>
              <a:t>Governance</a:t>
            </a:r>
            <a:r>
              <a:rPr lang="nl-NL" sz="1700"/>
              <a:t> en programmastructuur implementatie </a:t>
            </a:r>
          </a:p>
          <a:p>
            <a:pPr marL="342900" indent="-342900">
              <a:buFont typeface="+mj-lt"/>
              <a:buAutoNum type="arabicPeriod"/>
            </a:pPr>
            <a:r>
              <a:rPr lang="nl-NL" sz="1700"/>
              <a:t>Integrale implementatieplanning en monitoring </a:t>
            </a:r>
            <a:r>
              <a:rPr lang="nl-NL" sz="1700" err="1"/>
              <a:t>KPI’s</a:t>
            </a:r>
            <a:endParaRPr lang="nl-NL" sz="1700"/>
          </a:p>
          <a:p>
            <a:pPr marL="342900" indent="-342900">
              <a:buFont typeface="+mj-lt"/>
              <a:buAutoNum type="arabicPeriod"/>
            </a:pPr>
            <a:r>
              <a:rPr lang="nl-NL" sz="1700"/>
              <a:t>Randvoorwaarden voor succes</a:t>
            </a:r>
          </a:p>
          <a:p>
            <a:endParaRPr lang="nl-NL"/>
          </a:p>
          <a:p>
            <a:pPr marL="342000" indent="-342000"/>
            <a:r>
              <a:rPr lang="nl-NL" sz="1700"/>
              <a:t>Bijlagen</a:t>
            </a:r>
          </a:p>
          <a:p>
            <a:pPr marL="684000" lvl="1" indent="-342900">
              <a:buFont typeface="+mj-lt"/>
              <a:buAutoNum type="alphaUcPeriod"/>
            </a:pPr>
            <a:r>
              <a:rPr lang="nl-NL" sz="1500"/>
              <a:t>Detail uitwerking van de </a:t>
            </a:r>
            <a:r>
              <a:rPr lang="nl-NL" sz="1500" err="1"/>
              <a:t>usecases</a:t>
            </a:r>
            <a:endParaRPr lang="nl-NL" sz="1500"/>
          </a:p>
          <a:p>
            <a:pPr marL="684000" lvl="1" indent="-342900">
              <a:buFont typeface="+mj-lt"/>
              <a:buAutoNum type="alphaUcPeriod"/>
            </a:pPr>
            <a:r>
              <a:rPr lang="nl-NL" sz="1500"/>
              <a:t>…</a:t>
            </a:r>
          </a:p>
        </p:txBody>
      </p:sp>
    </p:spTree>
    <p:extLst>
      <p:ext uri="{BB962C8B-B14F-4D97-AF65-F5344CB8AC3E}">
        <p14:creationId xmlns:p14="http://schemas.microsoft.com/office/powerpoint/2010/main" val="2419431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9720000" cy="504000"/>
          </a:xfrm>
        </p:spPr>
        <p:txBody>
          <a:bodyPr>
            <a:noAutofit/>
          </a:bodyPr>
          <a:lstStyle/>
          <a:p>
            <a:r>
              <a:rPr lang="nl-NL"/>
              <a:t>Management samenvatting</a:t>
            </a:r>
          </a:p>
        </p:txBody>
      </p:sp>
      <p:sp>
        <p:nvSpPr>
          <p:cNvPr id="40" name="Content Placeholder 39">
            <a:extLst>
              <a:ext uri="{FF2B5EF4-FFF2-40B4-BE49-F238E27FC236}">
                <a16:creationId xmlns:a16="http://schemas.microsoft.com/office/drawing/2014/main" id="{39B2F8B5-AFB7-4E32-2212-0FA186C282E3}"/>
              </a:ext>
            </a:extLst>
          </p:cNvPr>
          <p:cNvSpPr>
            <a:spLocks noGrp="1"/>
          </p:cNvSpPr>
          <p:nvPr>
            <p:ph idx="1"/>
          </p:nvPr>
        </p:nvSpPr>
        <p:spPr/>
        <p:txBody>
          <a:bodyPr/>
          <a:lstStyle/>
          <a:p>
            <a:endParaRPr lang="en-GB"/>
          </a:p>
        </p:txBody>
      </p:sp>
      <p:sp>
        <p:nvSpPr>
          <p:cNvPr id="41" name="Text Placeholder 40">
            <a:extLst>
              <a:ext uri="{FF2B5EF4-FFF2-40B4-BE49-F238E27FC236}">
                <a16:creationId xmlns:a16="http://schemas.microsoft.com/office/drawing/2014/main" id="{5CA793AA-AECC-ECF9-641A-0BC9CC9F32CE}"/>
              </a:ext>
            </a:extLst>
          </p:cNvPr>
          <p:cNvSpPr>
            <a:spLocks noGrp="1"/>
          </p:cNvSpPr>
          <p:nvPr>
            <p:ph type="body" sz="quarter" idx="10"/>
          </p:nvPr>
        </p:nvSpPr>
        <p:spPr/>
        <p:txBody>
          <a:bodyPr/>
          <a:lstStyle/>
          <a:p>
            <a:endParaRPr lang="en-GB"/>
          </a:p>
        </p:txBody>
      </p:sp>
      <p:sp>
        <p:nvSpPr>
          <p:cNvPr id="3" name="Rectangle: Top Corners Rounded 38">
            <a:hlinkClick r:id="rId3" action="ppaction://hlinksldjump"/>
            <a:extLst>
              <a:ext uri="{FF2B5EF4-FFF2-40B4-BE49-F238E27FC236}">
                <a16:creationId xmlns:a16="http://schemas.microsoft.com/office/drawing/2014/main" id="{33D64D2A-F693-977B-E6C6-0ADAF07AD737}"/>
              </a:ext>
            </a:extLst>
          </p:cNvPr>
          <p:cNvSpPr/>
          <p:nvPr/>
        </p:nvSpPr>
        <p:spPr>
          <a:xfrm>
            <a:off x="28970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Management Samenvatting</a:t>
            </a:r>
          </a:p>
        </p:txBody>
      </p:sp>
      <p:pic>
        <p:nvPicPr>
          <p:cNvPr id="5" name="Graphic 4" descr="Introductiepagina silhouet">
            <a:hlinkClick r:id="rId4" action="ppaction://hlinksldjump"/>
            <a:extLst>
              <a:ext uri="{FF2B5EF4-FFF2-40B4-BE49-F238E27FC236}">
                <a16:creationId xmlns:a16="http://schemas.microsoft.com/office/drawing/2014/main" id="{BCA03AC8-22A8-E4A5-5104-CB71D277AD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6" name="Rectangle: Top Corners Rounded 1">
            <a:hlinkClick r:id="rId7" action="ppaction://hlinksldjump"/>
            <a:extLst>
              <a:ext uri="{FF2B5EF4-FFF2-40B4-BE49-F238E27FC236}">
                <a16:creationId xmlns:a16="http://schemas.microsoft.com/office/drawing/2014/main" id="{64B92DF0-EF43-2BE1-F8B8-B7187FBE31C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8" action="ppaction://hlinksldjump"/>
            <a:extLst>
              <a:ext uri="{FF2B5EF4-FFF2-40B4-BE49-F238E27FC236}">
                <a16:creationId xmlns:a16="http://schemas.microsoft.com/office/drawing/2014/main" id="{19DD23A3-2737-88A3-D523-A9DFEE681C42}"/>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8" name="Rectangle: Top Corners Rounded 1">
            <a:hlinkClick r:id="rId9" action="ppaction://hlinksldjump"/>
            <a:extLst>
              <a:ext uri="{FF2B5EF4-FFF2-40B4-BE49-F238E27FC236}">
                <a16:creationId xmlns:a16="http://schemas.microsoft.com/office/drawing/2014/main" id="{C1EBCD63-682F-3D8D-A686-17167B29C71A}"/>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0" action="ppaction://hlinksldjump"/>
            <a:extLst>
              <a:ext uri="{FF2B5EF4-FFF2-40B4-BE49-F238E27FC236}">
                <a16:creationId xmlns:a16="http://schemas.microsoft.com/office/drawing/2014/main" id="{1630D24A-F0BE-1C64-88B9-33A84CC8D60F}"/>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1" action="ppaction://hlinksldjump"/>
            <a:extLst>
              <a:ext uri="{FF2B5EF4-FFF2-40B4-BE49-F238E27FC236}">
                <a16:creationId xmlns:a16="http://schemas.microsoft.com/office/drawing/2014/main" id="{DE7A3D0D-B0A6-9928-EF00-2A20C12AD2E8}"/>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12" action="ppaction://hlinksldjump"/>
            <a:extLst>
              <a:ext uri="{FF2B5EF4-FFF2-40B4-BE49-F238E27FC236}">
                <a16:creationId xmlns:a16="http://schemas.microsoft.com/office/drawing/2014/main" id="{5D8AAC05-30E9-D8BE-1C7C-C196C2789FC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4" name="Rectangle: Top Corners Rounded 1">
            <a:hlinkClick r:id="rId13" action="ppaction://hlinksldjump"/>
            <a:extLst>
              <a:ext uri="{FF2B5EF4-FFF2-40B4-BE49-F238E27FC236}">
                <a16:creationId xmlns:a16="http://schemas.microsoft.com/office/drawing/2014/main" id="{A1ACA5C6-6566-4D5D-0DE5-F9276234417C}"/>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5" name="Rectangle: Top Corners Rounded 1">
            <a:hlinkClick r:id="rId14" action="ppaction://hlinksldjump"/>
            <a:extLst>
              <a:ext uri="{FF2B5EF4-FFF2-40B4-BE49-F238E27FC236}">
                <a16:creationId xmlns:a16="http://schemas.microsoft.com/office/drawing/2014/main" id="{2E740993-0A7E-E88D-577E-CE8C34161232}"/>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6" name="Rectangle: Top Corners Rounded 1">
            <a:hlinkClick r:id="rId15" action="ppaction://hlinksldjump"/>
            <a:extLst>
              <a:ext uri="{FF2B5EF4-FFF2-40B4-BE49-F238E27FC236}">
                <a16:creationId xmlns:a16="http://schemas.microsoft.com/office/drawing/2014/main" id="{EBF52320-AC54-E4EE-5F08-ACD507F9C104}"/>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7" name="Rectangle: Top Corners Rounded 1">
            <a:hlinkClick r:id="rId16" action="ppaction://hlinksldjump"/>
            <a:extLst>
              <a:ext uri="{FF2B5EF4-FFF2-40B4-BE49-F238E27FC236}">
                <a16:creationId xmlns:a16="http://schemas.microsoft.com/office/drawing/2014/main" id="{50FE5DC7-DCF1-B9CD-C505-95EDB974623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8" name="Slide Number Placeholder 64">
            <a:extLst>
              <a:ext uri="{FF2B5EF4-FFF2-40B4-BE49-F238E27FC236}">
                <a16:creationId xmlns:a16="http://schemas.microsoft.com/office/drawing/2014/main" id="{46768AC3-7584-1B13-ED04-33BFE518A494}"/>
              </a:ext>
            </a:extLst>
          </p:cNvPr>
          <p:cNvSpPr>
            <a:spLocks noGrp="1"/>
          </p:cNvSpPr>
          <p:nvPr>
            <p:ph type="sldNum" sz="quarter" idx="4"/>
          </p:nvPr>
        </p:nvSpPr>
        <p:spPr>
          <a:xfrm>
            <a:off x="5898218" y="6555980"/>
            <a:ext cx="287338" cy="287338"/>
          </a:xfrm>
        </p:spPr>
        <p:txBody>
          <a:bodyPr/>
          <a:lstStyle/>
          <a:p>
            <a:fld id="{C698A4D3-8B34-4F59-BA76-BF518A49D96C}" type="slidenum">
              <a:rPr lang="nl-NL" sz="900" smtClean="0"/>
              <a:pPr/>
              <a:t>3</a:t>
            </a:fld>
            <a:endParaRPr lang="nl-NL" sz="900"/>
          </a:p>
        </p:txBody>
      </p:sp>
      <p:sp>
        <p:nvSpPr>
          <p:cNvPr id="2" name="Rectangle: Top Corners Rounded 1">
            <a:hlinkClick r:id="rId17" action="ppaction://hlinksldjump"/>
            <a:extLst>
              <a:ext uri="{FF2B5EF4-FFF2-40B4-BE49-F238E27FC236}">
                <a16:creationId xmlns:a16="http://schemas.microsoft.com/office/drawing/2014/main" id="{72F4D408-2578-F987-113C-2C8E898C5877}"/>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9" name="Rechthoek: afgeronde hoeken 8">
            <a:extLst>
              <a:ext uri="{FF2B5EF4-FFF2-40B4-BE49-F238E27FC236}">
                <a16:creationId xmlns:a16="http://schemas.microsoft.com/office/drawing/2014/main" id="{CD8B2E74-0829-D637-5CB8-02A6F73F2484}"/>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73516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53329-C76A-1093-F4E2-38BF82237B9A}"/>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8451DB32-971D-66B0-3762-D6AA6987167D}"/>
              </a:ext>
            </a:extLst>
          </p:cNvPr>
          <p:cNvSpPr>
            <a:spLocks noGrp="1"/>
          </p:cNvSpPr>
          <p:nvPr>
            <p:ph type="title"/>
          </p:nvPr>
        </p:nvSpPr>
        <p:spPr>
          <a:xfrm>
            <a:off x="425302" y="465998"/>
            <a:ext cx="9720000" cy="504000"/>
          </a:xfrm>
        </p:spPr>
        <p:txBody>
          <a:bodyPr>
            <a:noAutofit/>
          </a:bodyPr>
          <a:lstStyle/>
          <a:p>
            <a:r>
              <a:rPr lang="nl-NL"/>
              <a:t>Leeswijzer</a:t>
            </a:r>
          </a:p>
        </p:txBody>
      </p:sp>
      <p:sp>
        <p:nvSpPr>
          <p:cNvPr id="40" name="Content Placeholder 39">
            <a:extLst>
              <a:ext uri="{FF2B5EF4-FFF2-40B4-BE49-F238E27FC236}">
                <a16:creationId xmlns:a16="http://schemas.microsoft.com/office/drawing/2014/main" id="{2124C129-85AC-AAF7-5235-CBBF3D9EE45F}"/>
              </a:ext>
            </a:extLst>
          </p:cNvPr>
          <p:cNvSpPr>
            <a:spLocks noGrp="1"/>
          </p:cNvSpPr>
          <p:nvPr>
            <p:ph idx="1"/>
          </p:nvPr>
        </p:nvSpPr>
        <p:spPr/>
        <p:txBody>
          <a:bodyPr/>
          <a:lstStyle/>
          <a:p>
            <a:endParaRPr lang="en-GB"/>
          </a:p>
        </p:txBody>
      </p:sp>
      <p:sp>
        <p:nvSpPr>
          <p:cNvPr id="41" name="Text Placeholder 40">
            <a:extLst>
              <a:ext uri="{FF2B5EF4-FFF2-40B4-BE49-F238E27FC236}">
                <a16:creationId xmlns:a16="http://schemas.microsoft.com/office/drawing/2014/main" id="{BA452727-8303-E083-C7C4-2E3191D207C4}"/>
              </a:ext>
            </a:extLst>
          </p:cNvPr>
          <p:cNvSpPr>
            <a:spLocks noGrp="1"/>
          </p:cNvSpPr>
          <p:nvPr>
            <p:ph type="body" sz="quarter" idx="10"/>
          </p:nvPr>
        </p:nvSpPr>
        <p:spPr/>
        <p:txBody>
          <a:bodyPr/>
          <a:lstStyle/>
          <a:p>
            <a:endParaRPr lang="en-GB"/>
          </a:p>
        </p:txBody>
      </p:sp>
      <p:sp>
        <p:nvSpPr>
          <p:cNvPr id="18" name="Slide Number Placeholder 64">
            <a:extLst>
              <a:ext uri="{FF2B5EF4-FFF2-40B4-BE49-F238E27FC236}">
                <a16:creationId xmlns:a16="http://schemas.microsoft.com/office/drawing/2014/main" id="{962F2291-9EF3-E456-BF97-4E5D70A61ACA}"/>
              </a:ext>
            </a:extLst>
          </p:cNvPr>
          <p:cNvSpPr>
            <a:spLocks noGrp="1"/>
          </p:cNvSpPr>
          <p:nvPr>
            <p:ph type="sldNum" sz="quarter" idx="4"/>
          </p:nvPr>
        </p:nvSpPr>
        <p:spPr>
          <a:xfrm>
            <a:off x="5898218" y="6555980"/>
            <a:ext cx="287338" cy="287338"/>
          </a:xfrm>
        </p:spPr>
        <p:txBody>
          <a:bodyPr/>
          <a:lstStyle/>
          <a:p>
            <a:fld id="{C698A4D3-8B34-4F59-BA76-BF518A49D96C}" type="slidenum">
              <a:rPr lang="nl-NL" sz="900" smtClean="0"/>
              <a:pPr/>
              <a:t>4</a:t>
            </a:fld>
            <a:endParaRPr lang="nl-NL" sz="900"/>
          </a:p>
        </p:txBody>
      </p:sp>
      <p:sp>
        <p:nvSpPr>
          <p:cNvPr id="2" name="Rectangle: Top Corners Rounded 38">
            <a:hlinkClick r:id="rId3" action="ppaction://hlinksldjump"/>
            <a:extLst>
              <a:ext uri="{FF2B5EF4-FFF2-40B4-BE49-F238E27FC236}">
                <a16:creationId xmlns:a16="http://schemas.microsoft.com/office/drawing/2014/main" id="{265E545F-F642-F444-AAD6-26F49B127BFF}"/>
              </a:ext>
            </a:extLst>
          </p:cNvPr>
          <p:cNvSpPr/>
          <p:nvPr/>
        </p:nvSpPr>
        <p:spPr>
          <a:xfrm>
            <a:off x="28970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Management Samenvatting</a:t>
            </a:r>
          </a:p>
        </p:txBody>
      </p:sp>
      <p:pic>
        <p:nvPicPr>
          <p:cNvPr id="10" name="Graphic 9" descr="Introductiepagina silhouet">
            <a:hlinkClick r:id="rId4" action="ppaction://hlinksldjump"/>
            <a:extLst>
              <a:ext uri="{FF2B5EF4-FFF2-40B4-BE49-F238E27FC236}">
                <a16:creationId xmlns:a16="http://schemas.microsoft.com/office/drawing/2014/main" id="{47A5050A-0FC0-0D3F-9C28-BACC246257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19" name="Rectangle: Top Corners Rounded 1">
            <a:hlinkClick r:id="rId7" action="ppaction://hlinksldjump"/>
            <a:extLst>
              <a:ext uri="{FF2B5EF4-FFF2-40B4-BE49-F238E27FC236}">
                <a16:creationId xmlns:a16="http://schemas.microsoft.com/office/drawing/2014/main" id="{8AED2E8B-C4C1-47DF-6F77-6B1F4C2482AB}"/>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0" name="Rectangle: Top Corners Rounded 1">
            <a:hlinkClick r:id="rId8" action="ppaction://hlinksldjump"/>
            <a:extLst>
              <a:ext uri="{FF2B5EF4-FFF2-40B4-BE49-F238E27FC236}">
                <a16:creationId xmlns:a16="http://schemas.microsoft.com/office/drawing/2014/main" id="{B6F80FA6-B359-F169-8D57-8091EA6D9BE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1" name="Rectangle: Top Corners Rounded 1">
            <a:hlinkClick r:id="rId9" action="ppaction://hlinksldjump"/>
            <a:extLst>
              <a:ext uri="{FF2B5EF4-FFF2-40B4-BE49-F238E27FC236}">
                <a16:creationId xmlns:a16="http://schemas.microsoft.com/office/drawing/2014/main" id="{9A097074-9910-7789-A20E-EEC60DC417D3}"/>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2" name="Rectangle: Top Corners Rounded 1">
            <a:hlinkClick r:id="rId10" action="ppaction://hlinksldjump"/>
            <a:extLst>
              <a:ext uri="{FF2B5EF4-FFF2-40B4-BE49-F238E27FC236}">
                <a16:creationId xmlns:a16="http://schemas.microsoft.com/office/drawing/2014/main" id="{82B1CCD0-0691-C8D2-54A3-7DF0B8A276A3}"/>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3" name="Rectangle: Top Corners Rounded 1">
            <a:hlinkClick r:id="rId11" action="ppaction://hlinksldjump"/>
            <a:extLst>
              <a:ext uri="{FF2B5EF4-FFF2-40B4-BE49-F238E27FC236}">
                <a16:creationId xmlns:a16="http://schemas.microsoft.com/office/drawing/2014/main" id="{A00D9E54-C540-9089-3491-06C2CB1EFF58}"/>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4" name="Rectangle: Top Corners Rounded 1">
            <a:hlinkClick r:id="rId12" action="ppaction://hlinksldjump"/>
            <a:extLst>
              <a:ext uri="{FF2B5EF4-FFF2-40B4-BE49-F238E27FC236}">
                <a16:creationId xmlns:a16="http://schemas.microsoft.com/office/drawing/2014/main" id="{1C97017B-C97D-7289-3AA1-74C7FD23E009}"/>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5" name="Rectangle: Top Corners Rounded 1">
            <a:hlinkClick r:id="rId13" action="ppaction://hlinksldjump"/>
            <a:extLst>
              <a:ext uri="{FF2B5EF4-FFF2-40B4-BE49-F238E27FC236}">
                <a16:creationId xmlns:a16="http://schemas.microsoft.com/office/drawing/2014/main" id="{61A84982-9CC3-28E0-AEB1-CC1917453E44}"/>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6" name="Rectangle: Top Corners Rounded 1">
            <a:hlinkClick r:id="rId14" action="ppaction://hlinksldjump"/>
            <a:extLst>
              <a:ext uri="{FF2B5EF4-FFF2-40B4-BE49-F238E27FC236}">
                <a16:creationId xmlns:a16="http://schemas.microsoft.com/office/drawing/2014/main" id="{8C7FE342-A09E-102E-4AC6-1E2309539F82}"/>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7" name="Rectangle: Top Corners Rounded 1">
            <a:hlinkClick r:id="rId15" action="ppaction://hlinksldjump"/>
            <a:extLst>
              <a:ext uri="{FF2B5EF4-FFF2-40B4-BE49-F238E27FC236}">
                <a16:creationId xmlns:a16="http://schemas.microsoft.com/office/drawing/2014/main" id="{076920E6-E2B8-B1BE-F8DB-39BCC830010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8" name="Rectangle: Top Corners Rounded 1">
            <a:hlinkClick r:id="rId16" action="ppaction://hlinksldjump"/>
            <a:extLst>
              <a:ext uri="{FF2B5EF4-FFF2-40B4-BE49-F238E27FC236}">
                <a16:creationId xmlns:a16="http://schemas.microsoft.com/office/drawing/2014/main" id="{BD2A42A7-370A-7CEB-EC93-6EA2786E91CA}"/>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9" name="Rectangle: Top Corners Rounded 1">
            <a:hlinkClick r:id="rId17" action="ppaction://hlinksldjump"/>
            <a:extLst>
              <a:ext uri="{FF2B5EF4-FFF2-40B4-BE49-F238E27FC236}">
                <a16:creationId xmlns:a16="http://schemas.microsoft.com/office/drawing/2014/main" id="{4F2653A7-E666-BFD9-5A2C-707F6279322E}"/>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 name="Rechthoek: afgeronde hoeken 2">
            <a:extLst>
              <a:ext uri="{FF2B5EF4-FFF2-40B4-BE49-F238E27FC236}">
                <a16:creationId xmlns:a16="http://schemas.microsoft.com/office/drawing/2014/main" id="{65D2EE11-E16A-7621-24FA-DE6735A5AE9F}"/>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95755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a:bodyPr>
          <a:lstStyle/>
          <a:p>
            <a:pPr algn="ctr"/>
            <a:r>
              <a:rPr lang="nl-NL">
                <a:latin typeface="Verdana Pro"/>
                <a:cs typeface="Helvetica"/>
              </a:rPr>
              <a:t>Achtergrond &amp; aanleiding</a:t>
            </a:r>
            <a:endParaRPr lang="nl-NL"/>
          </a:p>
        </p:txBody>
      </p:sp>
    </p:spTree>
    <p:extLst>
      <p:ext uri="{BB962C8B-B14F-4D97-AF65-F5344CB8AC3E}">
        <p14:creationId xmlns:p14="http://schemas.microsoft.com/office/powerpoint/2010/main" val="1914796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9720000" cy="850780"/>
          </a:xfrm>
        </p:spPr>
        <p:txBody>
          <a:bodyPr>
            <a:noAutofit/>
          </a:bodyPr>
          <a:lstStyle/>
          <a:p>
            <a:r>
              <a:rPr lang="nl-NL"/>
              <a:t>Impact van demografische ontwikkelingen op zorg en welzijn in de regio Midden-Nederland</a:t>
            </a:r>
          </a:p>
        </p:txBody>
      </p:sp>
      <p:sp>
        <p:nvSpPr>
          <p:cNvPr id="3" name="Tijdelijke aanduiding voor inhoud 2">
            <a:extLst>
              <a:ext uri="{FF2B5EF4-FFF2-40B4-BE49-F238E27FC236}">
                <a16:creationId xmlns:a16="http://schemas.microsoft.com/office/drawing/2014/main" id="{FE87F43F-A23F-7D2F-4D7F-443C970B1CE1}"/>
              </a:ext>
            </a:extLst>
          </p:cNvPr>
          <p:cNvSpPr>
            <a:spLocks noGrp="1"/>
          </p:cNvSpPr>
          <p:nvPr>
            <p:ph idx="1"/>
          </p:nvPr>
        </p:nvSpPr>
        <p:spPr/>
        <p:txBody>
          <a:bodyPr vert="horz" lIns="91440" tIns="45720" rIns="91440" bIns="45720" rtlCol="0" anchor="t">
            <a:noAutofit/>
          </a:bodyPr>
          <a:lstStyle/>
          <a:p>
            <a:pPr marL="0" lvl="1" indent="0" algn="just">
              <a:buNone/>
            </a:pPr>
            <a:r>
              <a:rPr lang="nl-NL" sz="1400" b="1">
                <a:latin typeface="Verdana"/>
                <a:ea typeface="Verdana"/>
              </a:rPr>
              <a:t>Inwoners van de regio Midden-Nederland zijn over het algemeen relatief gezond, hebben een hoge sociaaleconomische status en gezonde leefstijl</a:t>
            </a:r>
            <a:r>
              <a:rPr lang="nl-NL" sz="1400" b="1" baseline="30000">
                <a:latin typeface="Verdana"/>
                <a:ea typeface="Verdana"/>
              </a:rPr>
              <a:t>1</a:t>
            </a:r>
            <a:r>
              <a:rPr lang="nl-NL" sz="1400" b="1">
                <a:latin typeface="Verdana"/>
                <a:ea typeface="Verdana"/>
              </a:rPr>
              <a:t>. Dit uit zich in een hoge levensverwachting en relatief weinig mensen met chronische aandoening(en). Tegelijkertijd vraagt de (ervaren) mentale gezondheid van jongeren en (jong)volwassenen aandacht. De demografische druk is hoog en er is meer (dubbele) vergrijzing dan landelijk gemiddeld. Dit stelt </a:t>
            </a:r>
            <a:r>
              <a:rPr lang="nl-NL" sz="1400" b="1" err="1">
                <a:latin typeface="Verdana"/>
                <a:ea typeface="Verdana"/>
              </a:rPr>
              <a:t>Trijn</a:t>
            </a:r>
            <a:r>
              <a:rPr lang="nl-NL" sz="1400" b="1">
                <a:latin typeface="Verdana"/>
                <a:ea typeface="Verdana"/>
              </a:rPr>
              <a:t>, de regio en haar inwoners voor aanzienlijke uitdagingen.</a:t>
            </a:r>
            <a:endParaRPr lang="nl-NL" b="1">
              <a:latin typeface="Verdana"/>
              <a:ea typeface="Verdana"/>
            </a:endParaRPr>
          </a:p>
          <a:p>
            <a:pPr marL="0" lvl="1" indent="0" algn="just">
              <a:lnSpc>
                <a:spcPct val="100000"/>
              </a:lnSpc>
              <a:spcBef>
                <a:spcPts val="0"/>
              </a:spcBef>
              <a:spcAft>
                <a:spcPts val="600"/>
              </a:spcAft>
              <a:buFont typeface="Arial" panose="020B0604020202020204" pitchFamily="34" charset="0"/>
              <a:buNone/>
            </a:pPr>
            <a:r>
              <a:rPr lang="nl-NL" b="1">
                <a:latin typeface="Verdana"/>
                <a:ea typeface="Verdana"/>
              </a:rPr>
              <a:t>Stevige dubbele vergrijzing: </a:t>
            </a:r>
            <a:r>
              <a:rPr lang="nl-NL">
                <a:latin typeface="Verdana"/>
                <a:ea typeface="Verdana"/>
              </a:rPr>
              <a:t>tussen 2023 en 2040 groeit de regio met 168 duizend inwoners (+12,5%). Het aantal 65-plussers neemt toe met 353 duizend (+23,5%). Vooral in relatie tot ouderen leidt dit tot een verwachte:</a:t>
            </a:r>
          </a:p>
          <a:p>
            <a:pPr marL="742950" lvl="2" indent="-285750" algn="just">
              <a:lnSpc>
                <a:spcPct val="100000"/>
              </a:lnSpc>
              <a:spcBef>
                <a:spcPts val="0"/>
              </a:spcBef>
              <a:spcAft>
                <a:spcPts val="600"/>
              </a:spcAft>
            </a:pPr>
            <a:r>
              <a:rPr lang="nl-NL" sz="1200">
                <a:latin typeface="Verdana"/>
                <a:ea typeface="Verdana"/>
              </a:rPr>
              <a:t>Toename van chronisch zieken, kwetsbare groepen en complexere casuïstiek</a:t>
            </a:r>
          </a:p>
          <a:p>
            <a:pPr marL="742950" lvl="2" indent="-285750" algn="just">
              <a:lnSpc>
                <a:spcPct val="100000"/>
              </a:lnSpc>
              <a:spcBef>
                <a:spcPts val="0"/>
              </a:spcBef>
              <a:spcAft>
                <a:spcPts val="600"/>
              </a:spcAft>
            </a:pPr>
            <a:r>
              <a:rPr lang="nl-NL" sz="1200">
                <a:latin typeface="Verdana"/>
                <a:ea typeface="Verdana"/>
              </a:rPr>
              <a:t>Stijging van vraag naar ondersteuning en zorg</a:t>
            </a:r>
            <a:endParaRPr lang="nl-NL" sz="1200"/>
          </a:p>
          <a:p>
            <a:pPr marL="359410" lvl="1" indent="-179705">
              <a:lnSpc>
                <a:spcPct val="100000"/>
              </a:lnSpc>
              <a:spcBef>
                <a:spcPts val="0"/>
              </a:spcBef>
              <a:spcAft>
                <a:spcPts val="600"/>
              </a:spcAft>
            </a:pPr>
            <a:endParaRPr lang="nl-NL" sz="1200"/>
          </a:p>
          <a:p>
            <a:pPr marL="359410" lvl="1" indent="-179705">
              <a:lnSpc>
                <a:spcPct val="100000"/>
              </a:lnSpc>
              <a:spcBef>
                <a:spcPts val="0"/>
              </a:spcBef>
              <a:spcAft>
                <a:spcPts val="600"/>
              </a:spcAft>
            </a:pPr>
            <a:endParaRPr lang="nl-NL" sz="1200"/>
          </a:p>
        </p:txBody>
      </p:sp>
      <p:sp>
        <p:nvSpPr>
          <p:cNvPr id="8" name="TextBox 7">
            <a:extLst>
              <a:ext uri="{FF2B5EF4-FFF2-40B4-BE49-F238E27FC236}">
                <a16:creationId xmlns:a16="http://schemas.microsoft.com/office/drawing/2014/main" id="{A642FBA2-6F9E-5F98-2FC1-490EF58ADC99}"/>
              </a:ext>
            </a:extLst>
          </p:cNvPr>
          <p:cNvSpPr txBox="1"/>
          <p:nvPr/>
        </p:nvSpPr>
        <p:spPr>
          <a:xfrm>
            <a:off x="425450" y="6543691"/>
            <a:ext cx="7214633" cy="230832"/>
          </a:xfrm>
          <a:prstGeom prst="rect">
            <a:avLst/>
          </a:prstGeom>
          <a:noFill/>
        </p:spPr>
        <p:txBody>
          <a:bodyPr wrap="square" rtlCol="0">
            <a:spAutoFit/>
          </a:bodyPr>
          <a:lstStyle/>
          <a:p>
            <a:r>
              <a:rPr lang="nl-NL" sz="900">
                <a:latin typeface="Verdana" panose="020B0604030504040204" pitchFamily="34" charset="0"/>
                <a:ea typeface="Verdana" panose="020B0604030504040204" pitchFamily="34" charset="0"/>
              </a:rPr>
              <a:t>1. Regioplan Midden Nederland, 2023.</a:t>
            </a:r>
          </a:p>
        </p:txBody>
      </p:sp>
      <p:sp>
        <p:nvSpPr>
          <p:cNvPr id="9" name="Tijdelijke aanduiding voor inhoud 2">
            <a:extLst>
              <a:ext uri="{FF2B5EF4-FFF2-40B4-BE49-F238E27FC236}">
                <a16:creationId xmlns:a16="http://schemas.microsoft.com/office/drawing/2014/main" id="{D9A39A4F-EEF0-3506-CE62-D1DC5390CDDD}"/>
              </a:ext>
            </a:extLst>
          </p:cNvPr>
          <p:cNvSpPr txBox="1">
            <a:spLocks/>
          </p:cNvSpPr>
          <p:nvPr/>
        </p:nvSpPr>
        <p:spPr>
          <a:xfrm>
            <a:off x="691115" y="2414846"/>
            <a:ext cx="10758279" cy="111702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lnSpc>
                <a:spcPct val="110000"/>
              </a:lnSpc>
              <a:spcBef>
                <a:spcPts val="0"/>
              </a:spcBef>
              <a:buFont typeface="Arial" panose="020B0604020202020204" pitchFamily="34" charset="0"/>
              <a:buNone/>
            </a:pPr>
            <a:endParaRPr lang="nl-NL">
              <a:latin typeface="Verdana"/>
              <a:ea typeface="Verdana"/>
            </a:endParaRPr>
          </a:p>
        </p:txBody>
      </p:sp>
      <p:grpSp>
        <p:nvGrpSpPr>
          <p:cNvPr id="66" name="Group 65">
            <a:extLst>
              <a:ext uri="{FF2B5EF4-FFF2-40B4-BE49-F238E27FC236}">
                <a16:creationId xmlns:a16="http://schemas.microsoft.com/office/drawing/2014/main" id="{8631B761-18FB-D9E0-C13A-1DB345CC2981}"/>
              </a:ext>
            </a:extLst>
          </p:cNvPr>
          <p:cNvGrpSpPr/>
          <p:nvPr/>
        </p:nvGrpSpPr>
        <p:grpSpPr>
          <a:xfrm>
            <a:off x="425450" y="3648472"/>
            <a:ext cx="11046653" cy="2362790"/>
            <a:chOff x="682107" y="3860861"/>
            <a:chExt cx="11046653" cy="2362790"/>
          </a:xfrm>
        </p:grpSpPr>
        <p:sp>
          <p:nvSpPr>
            <p:cNvPr id="7" name="Rectangle 6">
              <a:extLst>
                <a:ext uri="{FF2B5EF4-FFF2-40B4-BE49-F238E27FC236}">
                  <a16:creationId xmlns:a16="http://schemas.microsoft.com/office/drawing/2014/main" id="{C35CEEF3-409B-B809-6489-686A1D10329A}"/>
                </a:ext>
              </a:extLst>
            </p:cNvPr>
            <p:cNvSpPr/>
            <p:nvPr/>
          </p:nvSpPr>
          <p:spPr>
            <a:xfrm>
              <a:off x="8782417" y="4161612"/>
              <a:ext cx="2946343" cy="206203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i="1">
                  <a:solidFill>
                    <a:srgbClr val="0E9D90"/>
                  </a:solidFill>
                </a:rPr>
                <a:t>PLACEHOLDER</a:t>
              </a:r>
            </a:p>
            <a:p>
              <a:pPr algn="ctr"/>
              <a:r>
                <a:rPr lang="nl-NL">
                  <a:solidFill>
                    <a:srgbClr val="0E9D90"/>
                  </a:solidFill>
                </a:rPr>
                <a:t>Plaat ontwikkeling zorgkosten</a:t>
              </a:r>
            </a:p>
            <a:p>
              <a:pPr algn="ctr"/>
              <a:endParaRPr lang="nl-NL">
                <a:solidFill>
                  <a:srgbClr val="0E9D90"/>
                </a:solidFill>
              </a:endParaRPr>
            </a:p>
            <a:p>
              <a:pPr algn="ctr"/>
              <a:r>
                <a:rPr lang="nl-NL">
                  <a:solidFill>
                    <a:srgbClr val="0E9D90"/>
                  </a:solidFill>
                </a:rPr>
                <a:t>of</a:t>
              </a:r>
            </a:p>
            <a:p>
              <a:pPr algn="ctr"/>
              <a:endParaRPr lang="nl-NL">
                <a:solidFill>
                  <a:srgbClr val="0E9D90"/>
                </a:solidFill>
              </a:endParaRPr>
            </a:p>
            <a:p>
              <a:pPr algn="ctr"/>
              <a:r>
                <a:rPr lang="nl-NL">
                  <a:solidFill>
                    <a:srgbClr val="0E9D90"/>
                  </a:solidFill>
                </a:rPr>
                <a:t>Plaat ontwikkeling zorgvraag</a:t>
              </a:r>
            </a:p>
          </p:txBody>
        </p:sp>
        <p:pic>
          <p:nvPicPr>
            <p:cNvPr id="10" name="Graphic 9">
              <a:extLst>
                <a:ext uri="{FF2B5EF4-FFF2-40B4-BE49-F238E27FC236}">
                  <a16:creationId xmlns:a16="http://schemas.microsoft.com/office/drawing/2014/main" id="{614ABB49-E1BA-AF77-86A4-F706D5ACBF30}"/>
                </a:ext>
              </a:extLst>
            </p:cNvPr>
            <p:cNvPicPr>
              <a:picLocks noChangeAspect="1"/>
            </p:cNvPicPr>
            <p:nvPr>
              <p:custDataLst>
                <p:tags r:id="rId1"/>
              </p:custDataLst>
            </p:nvPr>
          </p:nvPicPr>
          <p:blipFill>
            <a:blip r:embed="rId7">
              <a:extLst>
                <a:ext uri="{96DAC541-7B7A-43D3-8B79-37D633B846F1}">
                  <asvg:svgBlip xmlns:asvg="http://schemas.microsoft.com/office/drawing/2016/SVG/main" r:embed="rId8"/>
                </a:ext>
              </a:extLst>
            </a:blip>
            <a:stretch>
              <a:fillRect/>
            </a:stretch>
          </p:blipFill>
          <p:spPr>
            <a:xfrm>
              <a:off x="682107" y="4898489"/>
              <a:ext cx="540000" cy="540000"/>
            </a:xfrm>
            <a:prstGeom prst="rect">
              <a:avLst/>
            </a:prstGeom>
          </p:spPr>
        </p:pic>
        <p:pic>
          <p:nvPicPr>
            <p:cNvPr id="11" name="Graphic 10">
              <a:extLst>
                <a:ext uri="{FF2B5EF4-FFF2-40B4-BE49-F238E27FC236}">
                  <a16:creationId xmlns:a16="http://schemas.microsoft.com/office/drawing/2014/main" id="{54DBB2B2-155A-2B8E-8099-5192CA019BDE}"/>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682107" y="5563365"/>
              <a:ext cx="540000" cy="540000"/>
            </a:xfrm>
            <a:prstGeom prst="rect">
              <a:avLst/>
            </a:prstGeom>
          </p:spPr>
        </p:pic>
        <p:pic>
          <p:nvPicPr>
            <p:cNvPr id="14" name="Graphic 13">
              <a:extLst>
                <a:ext uri="{FF2B5EF4-FFF2-40B4-BE49-F238E27FC236}">
                  <a16:creationId xmlns:a16="http://schemas.microsoft.com/office/drawing/2014/main" id="{14B96008-A140-EDDD-BA33-04BEB4B81E15}"/>
                </a:ext>
              </a:extLst>
            </p:cNvPr>
            <p:cNvPicPr>
              <a:picLocks noChangeAspect="1"/>
            </p:cNvPicPr>
            <p:nvPr>
              <p:custDataLst>
                <p:tags r:id="rId3"/>
              </p:custDataLst>
            </p:nvPr>
          </p:nvPicPr>
          <p:blipFill>
            <a:blip r:embed="rId11">
              <a:extLst>
                <a:ext uri="{96DAC541-7B7A-43D3-8B79-37D633B846F1}">
                  <asvg:svgBlip xmlns:asvg="http://schemas.microsoft.com/office/drawing/2016/SVG/main" r:embed="rId12"/>
                </a:ext>
              </a:extLst>
            </a:blip>
            <a:stretch>
              <a:fillRect/>
            </a:stretch>
          </p:blipFill>
          <p:spPr>
            <a:xfrm>
              <a:off x="682107" y="4233612"/>
              <a:ext cx="540000" cy="540000"/>
            </a:xfrm>
            <a:prstGeom prst="rect">
              <a:avLst/>
            </a:prstGeom>
          </p:spPr>
        </p:pic>
        <p:sp>
          <p:nvSpPr>
            <p:cNvPr id="15" name="Tijdelijke aanduiding voor inhoud 2">
              <a:extLst>
                <a:ext uri="{FF2B5EF4-FFF2-40B4-BE49-F238E27FC236}">
                  <a16:creationId xmlns:a16="http://schemas.microsoft.com/office/drawing/2014/main" id="{223C0623-3888-04E9-0AE8-FD7EC9A60B30}"/>
                </a:ext>
              </a:extLst>
            </p:cNvPr>
            <p:cNvSpPr txBox="1">
              <a:spLocks/>
            </p:cNvSpPr>
            <p:nvPr/>
          </p:nvSpPr>
          <p:spPr>
            <a:xfrm>
              <a:off x="692389" y="3860861"/>
              <a:ext cx="9320291" cy="2880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10000"/>
                </a:lnSpc>
                <a:spcBef>
                  <a:spcPts val="0"/>
                </a:spcBef>
                <a:buFont typeface="Arial" panose="020B0604020202020204" pitchFamily="34" charset="0"/>
                <a:buNone/>
              </a:pPr>
              <a:r>
                <a:rPr lang="nl-NL" sz="1200" b="1">
                  <a:solidFill>
                    <a:srgbClr val="21BBEF"/>
                  </a:solidFill>
                  <a:latin typeface="Verdana"/>
                  <a:ea typeface="Verdana"/>
                </a:rPr>
                <a:t>Bovenstaande ontwikkelingen vinden plaats in het licht van uitdagende omstandigheden:</a:t>
              </a:r>
              <a:endParaRPr lang="nl-NL" sz="1200">
                <a:latin typeface="Verdana"/>
                <a:ea typeface="Verdana"/>
              </a:endParaRPr>
            </a:p>
            <a:p>
              <a:pPr marL="342900" lvl="1" indent="-342900">
                <a:lnSpc>
                  <a:spcPct val="110000"/>
                </a:lnSpc>
                <a:spcBef>
                  <a:spcPts val="0"/>
                </a:spcBef>
                <a:buFont typeface="Arial" panose="020B0604020202020204" pitchFamily="34" charset="0"/>
                <a:buAutoNum type="arabicPeriod"/>
              </a:pPr>
              <a:endParaRPr lang="nl-NL">
                <a:latin typeface="Verdana"/>
                <a:ea typeface="Verdana"/>
              </a:endParaRPr>
            </a:p>
          </p:txBody>
        </p:sp>
        <p:sp>
          <p:nvSpPr>
            <p:cNvPr id="56" name="Tijdelijke aanduiding voor inhoud 2">
              <a:extLst>
                <a:ext uri="{FF2B5EF4-FFF2-40B4-BE49-F238E27FC236}">
                  <a16:creationId xmlns:a16="http://schemas.microsoft.com/office/drawing/2014/main" id="{90E17B29-6927-8B20-99FE-F887CDC5B6D1}"/>
                </a:ext>
              </a:extLst>
            </p:cNvPr>
            <p:cNvSpPr txBox="1">
              <a:spLocks/>
            </p:cNvSpPr>
            <p:nvPr/>
          </p:nvSpPr>
          <p:spPr>
            <a:xfrm>
              <a:off x="1222108" y="4826489"/>
              <a:ext cx="7380000" cy="6840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lnSpc>
                  <a:spcPct val="110000"/>
                </a:lnSpc>
                <a:spcBef>
                  <a:spcPts val="0"/>
                </a:spcBef>
                <a:buFont typeface="Arial" panose="020B0604020202020204" pitchFamily="34" charset="0"/>
                <a:buNone/>
              </a:pPr>
              <a:r>
                <a:rPr lang="nl-NL" sz="1200" b="1">
                  <a:latin typeface="Verdana"/>
                  <a:ea typeface="Verdana"/>
                </a:rPr>
                <a:t>Grote gezondheidsverschillen in de regio</a:t>
              </a:r>
              <a:r>
                <a:rPr lang="nl-NL" sz="1200">
                  <a:latin typeface="Verdana"/>
                  <a:ea typeface="Verdana"/>
                </a:rPr>
                <a:t>, voortvloeiend uit populatieverschillen tussen gemeenten en wijken en sociaal economische kenmerken. Dit beïnvloedt de vraag naar formele en informele zorg.</a:t>
              </a:r>
            </a:p>
          </p:txBody>
        </p:sp>
        <p:sp>
          <p:nvSpPr>
            <p:cNvPr id="57" name="Tijdelijke aanduiding voor inhoud 2">
              <a:extLst>
                <a:ext uri="{FF2B5EF4-FFF2-40B4-BE49-F238E27FC236}">
                  <a16:creationId xmlns:a16="http://schemas.microsoft.com/office/drawing/2014/main" id="{4AFD5AEA-02B9-AE9F-1888-394B042B2BAA}"/>
                </a:ext>
              </a:extLst>
            </p:cNvPr>
            <p:cNvSpPr txBox="1">
              <a:spLocks/>
            </p:cNvSpPr>
            <p:nvPr/>
          </p:nvSpPr>
          <p:spPr>
            <a:xfrm>
              <a:off x="1222108" y="4161612"/>
              <a:ext cx="7380000" cy="6840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lnSpc>
                  <a:spcPct val="110000"/>
                </a:lnSpc>
                <a:spcBef>
                  <a:spcPts val="0"/>
                </a:spcBef>
                <a:buFont typeface="Arial" panose="020B0604020202020204" pitchFamily="34" charset="0"/>
                <a:buNone/>
              </a:pPr>
              <a:r>
                <a:rPr lang="nl-NL" sz="1200" b="1">
                  <a:latin typeface="Verdana"/>
                  <a:ea typeface="Verdana"/>
                </a:rPr>
                <a:t>Hoge druk op (in)formele ondersteuning en zorgpersoneel</a:t>
              </a:r>
              <a:r>
                <a:rPr lang="nl-NL" sz="1200">
                  <a:latin typeface="Verdana"/>
                  <a:ea typeface="Verdana"/>
                </a:rPr>
                <a:t>, zowel in de thuissituatie als binnen zorgorganisaties, terwijl mantelzorgpotentieel afneemt.</a:t>
              </a:r>
            </a:p>
          </p:txBody>
        </p:sp>
        <p:sp>
          <p:nvSpPr>
            <p:cNvPr id="62" name="Tijdelijke aanduiding voor inhoud 2">
              <a:extLst>
                <a:ext uri="{FF2B5EF4-FFF2-40B4-BE49-F238E27FC236}">
                  <a16:creationId xmlns:a16="http://schemas.microsoft.com/office/drawing/2014/main" id="{3C1D9236-7253-2FD6-80DD-2BD8D16CA815}"/>
                </a:ext>
              </a:extLst>
            </p:cNvPr>
            <p:cNvSpPr txBox="1">
              <a:spLocks/>
            </p:cNvSpPr>
            <p:nvPr/>
          </p:nvSpPr>
          <p:spPr>
            <a:xfrm>
              <a:off x="1222108" y="5491365"/>
              <a:ext cx="7380000" cy="6840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lnSpc>
                  <a:spcPct val="110000"/>
                </a:lnSpc>
                <a:spcBef>
                  <a:spcPts val="0"/>
                </a:spcBef>
                <a:buFont typeface="Arial" panose="020B0604020202020204" pitchFamily="34" charset="0"/>
                <a:buNone/>
              </a:pPr>
              <a:r>
                <a:rPr lang="nl-NL" sz="1200" b="1">
                  <a:latin typeface="Verdana"/>
                  <a:ea typeface="Verdana"/>
                </a:rPr>
                <a:t>Moeizame organisatie en samenwerking: </a:t>
              </a:r>
              <a:r>
                <a:rPr lang="nl-NL" sz="1200">
                  <a:latin typeface="Verdana"/>
                  <a:ea typeface="Verdana"/>
                </a:rPr>
                <a:t>financiering, wet- en regelgeving en praktische bezwaren staan samenwerking in de weg. Inwoners en zorgprofessionals ervaren de zorg als versnipperd, waarbij vraag en aanbod van zorg zowel lastig samenkomen als inzichtelijk zijn.</a:t>
              </a:r>
              <a:endParaRPr lang="nl-NL" sz="1200" b="1">
                <a:latin typeface="Verdana"/>
                <a:ea typeface="Verdana"/>
              </a:endParaRPr>
            </a:p>
          </p:txBody>
        </p:sp>
      </p:grpSp>
      <p:sp>
        <p:nvSpPr>
          <p:cNvPr id="2" name="Slide Number Placeholder 64">
            <a:extLst>
              <a:ext uri="{FF2B5EF4-FFF2-40B4-BE49-F238E27FC236}">
                <a16:creationId xmlns:a16="http://schemas.microsoft.com/office/drawing/2014/main" id="{154D78EF-F140-028A-1805-7A7B070A1287}"/>
              </a:ext>
            </a:extLst>
          </p:cNvPr>
          <p:cNvSpPr>
            <a:spLocks noGrp="1"/>
          </p:cNvSpPr>
          <p:nvPr>
            <p:ph type="sldNum" sz="quarter" idx="4"/>
          </p:nvPr>
        </p:nvSpPr>
        <p:spPr>
          <a:xfrm>
            <a:off x="5898218" y="6555980"/>
            <a:ext cx="287338" cy="287338"/>
          </a:xfrm>
        </p:spPr>
        <p:txBody>
          <a:bodyPr/>
          <a:lstStyle/>
          <a:p>
            <a:fld id="{C698A4D3-8B34-4F59-BA76-BF518A49D96C}" type="slidenum">
              <a:rPr lang="nl-NL" sz="900" smtClean="0"/>
              <a:pPr/>
              <a:t>6</a:t>
            </a:fld>
            <a:endParaRPr lang="nl-NL" sz="900"/>
          </a:p>
        </p:txBody>
      </p:sp>
      <p:sp>
        <p:nvSpPr>
          <p:cNvPr id="5" name="Rechthoek: afgeronde hoeken 2">
            <a:extLst>
              <a:ext uri="{FF2B5EF4-FFF2-40B4-BE49-F238E27FC236}">
                <a16:creationId xmlns:a16="http://schemas.microsoft.com/office/drawing/2014/main" id="{61AC2595-4AF9-7E38-2712-C0BA5960216C}"/>
              </a:ext>
            </a:extLst>
          </p:cNvPr>
          <p:cNvSpPr/>
          <p:nvPr/>
        </p:nvSpPr>
        <p:spPr>
          <a:xfrm>
            <a:off x="-1" y="6967274"/>
            <a:ext cx="10145303"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Top Corners Rounded 38">
            <a:hlinkClick r:id="rId13" action="ppaction://hlinksldjump"/>
            <a:extLst>
              <a:ext uri="{FF2B5EF4-FFF2-40B4-BE49-F238E27FC236}">
                <a16:creationId xmlns:a16="http://schemas.microsoft.com/office/drawing/2014/main" id="{B0E395BB-9CDF-CA84-14A6-BC154886CC91}"/>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2" name="Graphic 11" descr="Introductiepagina silhouet">
            <a:hlinkClick r:id="rId14" action="ppaction://hlinksldjump"/>
            <a:extLst>
              <a:ext uri="{FF2B5EF4-FFF2-40B4-BE49-F238E27FC236}">
                <a16:creationId xmlns:a16="http://schemas.microsoft.com/office/drawing/2014/main" id="{E5842B91-3678-8F3E-AD5D-9CF060036D0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136" y="147223"/>
            <a:ext cx="144000" cy="144000"/>
          </a:xfrm>
          <a:prstGeom prst="rect">
            <a:avLst/>
          </a:prstGeom>
        </p:spPr>
      </p:pic>
      <p:sp>
        <p:nvSpPr>
          <p:cNvPr id="13" name="Rectangle: Top Corners Rounded 1">
            <a:hlinkClick r:id="rId17" action="ppaction://hlinksldjump"/>
            <a:extLst>
              <a:ext uri="{FF2B5EF4-FFF2-40B4-BE49-F238E27FC236}">
                <a16:creationId xmlns:a16="http://schemas.microsoft.com/office/drawing/2014/main" id="{B4E31E06-6144-B759-F256-DC1B2207F298}"/>
              </a:ext>
            </a:extLst>
          </p:cNvPr>
          <p:cNvSpPr/>
          <p:nvPr/>
        </p:nvSpPr>
        <p:spPr>
          <a:xfrm>
            <a:off x="120718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Achtergrond en aanleiding</a:t>
            </a:r>
          </a:p>
        </p:txBody>
      </p:sp>
      <p:sp>
        <p:nvSpPr>
          <p:cNvPr id="16" name="Rectangle: Top Corners Rounded 1">
            <a:hlinkClick r:id="rId18" action="ppaction://hlinksldjump"/>
            <a:extLst>
              <a:ext uri="{FF2B5EF4-FFF2-40B4-BE49-F238E27FC236}">
                <a16:creationId xmlns:a16="http://schemas.microsoft.com/office/drawing/2014/main" id="{2EA57205-D2F8-B14B-9FF9-CF4A1BF3EB0B}"/>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7" name="Rectangle: Top Corners Rounded 1">
            <a:hlinkClick r:id="rId19" action="ppaction://hlinksldjump"/>
            <a:extLst>
              <a:ext uri="{FF2B5EF4-FFF2-40B4-BE49-F238E27FC236}">
                <a16:creationId xmlns:a16="http://schemas.microsoft.com/office/drawing/2014/main" id="{7942B4B5-137B-0037-0ADA-7DB349084057}"/>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8" name="Rectangle: Top Corners Rounded 1">
            <a:hlinkClick r:id="rId20" action="ppaction://hlinksldjump"/>
            <a:extLst>
              <a:ext uri="{FF2B5EF4-FFF2-40B4-BE49-F238E27FC236}">
                <a16:creationId xmlns:a16="http://schemas.microsoft.com/office/drawing/2014/main" id="{992BC323-7C1F-209D-B1F9-542B6E10DFA4}"/>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9" name="Rectangle: Top Corners Rounded 1">
            <a:hlinkClick r:id="rId21" action="ppaction://hlinksldjump"/>
            <a:extLst>
              <a:ext uri="{FF2B5EF4-FFF2-40B4-BE49-F238E27FC236}">
                <a16:creationId xmlns:a16="http://schemas.microsoft.com/office/drawing/2014/main" id="{0413E782-B702-1D2A-4CB6-0B4C3C10544E}"/>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0" name="Rectangle: Top Corners Rounded 1">
            <a:hlinkClick r:id="rId22" action="ppaction://hlinksldjump"/>
            <a:extLst>
              <a:ext uri="{FF2B5EF4-FFF2-40B4-BE49-F238E27FC236}">
                <a16:creationId xmlns:a16="http://schemas.microsoft.com/office/drawing/2014/main" id="{391A16D9-CD77-070E-8660-79FB5A586A87}"/>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1" name="Rectangle: Top Corners Rounded 1">
            <a:hlinkClick r:id="rId23" action="ppaction://hlinksldjump"/>
            <a:extLst>
              <a:ext uri="{FF2B5EF4-FFF2-40B4-BE49-F238E27FC236}">
                <a16:creationId xmlns:a16="http://schemas.microsoft.com/office/drawing/2014/main" id="{6163D9EF-1274-D0C5-4568-FE65D2711CA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2" name="Rectangle: Top Corners Rounded 1">
            <a:hlinkClick r:id="rId24" action="ppaction://hlinksldjump"/>
            <a:extLst>
              <a:ext uri="{FF2B5EF4-FFF2-40B4-BE49-F238E27FC236}">
                <a16:creationId xmlns:a16="http://schemas.microsoft.com/office/drawing/2014/main" id="{901E23D4-5159-FD47-AC5C-8CE3DC991B51}"/>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3" name="Rectangle: Top Corners Rounded 1">
            <a:hlinkClick r:id="rId25" action="ppaction://hlinksldjump"/>
            <a:extLst>
              <a:ext uri="{FF2B5EF4-FFF2-40B4-BE49-F238E27FC236}">
                <a16:creationId xmlns:a16="http://schemas.microsoft.com/office/drawing/2014/main" id="{28D837EE-388D-1C9A-CC79-290B4AD0178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4" name="Rectangle: Top Corners Rounded 1">
            <a:hlinkClick r:id="rId26" action="ppaction://hlinksldjump"/>
            <a:extLst>
              <a:ext uri="{FF2B5EF4-FFF2-40B4-BE49-F238E27FC236}">
                <a16:creationId xmlns:a16="http://schemas.microsoft.com/office/drawing/2014/main" id="{BEB10306-5E5C-B0FA-622E-CD02A2860F1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5" name="Rectangle: Top Corners Rounded 1">
            <a:hlinkClick r:id="rId27" action="ppaction://hlinksldjump"/>
            <a:extLst>
              <a:ext uri="{FF2B5EF4-FFF2-40B4-BE49-F238E27FC236}">
                <a16:creationId xmlns:a16="http://schemas.microsoft.com/office/drawing/2014/main" id="{154EF365-9B80-E50E-6803-315A2E3C2C44}"/>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185923846"/>
      </p:ext>
    </p:extLst>
  </p:cSld>
  <p:clrMapOvr>
    <a:masterClrMapping/>
  </p:clrMapOvr>
  <p:extLst>
    <p:ext uri="{6950BFC3-D8DA-4A85-94F7-54DA5524770B}">
      <p188:commentRel xmlns:p188="http://schemas.microsoft.com/office/powerpoint/2018/8/main" r:id="rId6"/>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10661798" cy="1008000"/>
          </a:xfrm>
        </p:spPr>
        <p:txBody>
          <a:bodyPr>
            <a:noAutofit/>
          </a:bodyPr>
          <a:lstStyle/>
          <a:p>
            <a:r>
              <a:rPr lang="nl-NL">
                <a:ea typeface="Verdana"/>
              </a:rPr>
              <a:t>De uitdagingen vragen om beschikbaarheid van data in de regio</a:t>
            </a:r>
          </a:p>
        </p:txBody>
      </p:sp>
      <p:sp>
        <p:nvSpPr>
          <p:cNvPr id="21" name="Content Placeholder 20">
            <a:extLst>
              <a:ext uri="{FF2B5EF4-FFF2-40B4-BE49-F238E27FC236}">
                <a16:creationId xmlns:a16="http://schemas.microsoft.com/office/drawing/2014/main" id="{F9C82FEF-0278-EB5A-BC6B-E29ACF0C8F6B}"/>
              </a:ext>
            </a:extLst>
          </p:cNvPr>
          <p:cNvSpPr>
            <a:spLocks noGrp="1"/>
          </p:cNvSpPr>
          <p:nvPr>
            <p:ph idx="1"/>
          </p:nvPr>
        </p:nvSpPr>
        <p:spPr>
          <a:xfrm>
            <a:off x="425302" y="1473998"/>
            <a:ext cx="11233171" cy="4693530"/>
          </a:xfrm>
        </p:spPr>
        <p:txBody>
          <a:bodyPr>
            <a:normAutofit/>
          </a:bodyPr>
          <a:lstStyle/>
          <a:p>
            <a:pPr algn="just"/>
            <a:r>
              <a:rPr lang="nl-NL" sz="1400" b="1" dirty="0"/>
              <a:t>Regionale samenwerking wordt in het Integraal Zorg Akkoord (IZA) genoemd als belangrijke voorwaarde voor de “juiste zorg, op de juiste plek”. De regiopartijen hebben </a:t>
            </a:r>
            <a:r>
              <a:rPr lang="nl-NL" sz="1400" b="1" dirty="0" err="1"/>
              <a:t>Trijn</a:t>
            </a:r>
            <a:r>
              <a:rPr lang="nl-NL" sz="1400" b="1" dirty="0"/>
              <a:t> gepositioneerd om de fundamentopgave digitalisering en gegevensuitwisseling, als onderdeel van het IZA Regioplan MNL uit te voeren. Via digitalisering en (netwerk) zorgtoepassingen, moet de toegankelijkheid van zorg gewaarborgd blijven, het zorggebruik verminderen of verplaatsen, en de druk op professionals afnemen.</a:t>
            </a:r>
          </a:p>
          <a:p>
            <a:pPr algn="just"/>
            <a:r>
              <a:rPr lang="nl-NL" noProof="0" dirty="0"/>
              <a:t>Databeschikbaarheid is voorwaardelijk </a:t>
            </a:r>
            <a:r>
              <a:rPr lang="nl-NL" dirty="0"/>
              <a:t>aan</a:t>
            </a:r>
            <a:r>
              <a:rPr lang="nl-NL" noProof="0" dirty="0"/>
              <a:t> het realiseren van domein overstijgende samenwerking in het netwerk van zorg en welzijn en het optimaal benutten van beschikbaar personeel en expertise. In de huidige </a:t>
            </a:r>
            <a:r>
              <a:rPr lang="nl-NL" dirty="0"/>
              <a:t>situatie zien wij echter door</a:t>
            </a:r>
            <a:r>
              <a:rPr lang="nl-NL" noProof="0" dirty="0"/>
              <a:t> gebrekkige gegevensuitwisseling en beschikbaarheid van data, een groot aantal uitdagingen en terugkerende problematiek in de praktijk ontstaan. </a:t>
            </a:r>
          </a:p>
          <a:p>
            <a:endParaRPr lang="nl-NL" dirty="0"/>
          </a:p>
          <a:p>
            <a:endParaRPr lang="en-GB" dirty="0"/>
          </a:p>
        </p:txBody>
      </p:sp>
      <p:sp>
        <p:nvSpPr>
          <p:cNvPr id="3" name="Rechthoek 2">
            <a:extLst>
              <a:ext uri="{FF2B5EF4-FFF2-40B4-BE49-F238E27FC236}">
                <a16:creationId xmlns:a16="http://schemas.microsoft.com/office/drawing/2014/main" id="{D881C8D1-8D6A-9EFB-1C28-BC30A9552358}"/>
              </a:ext>
            </a:extLst>
          </p:cNvPr>
          <p:cNvSpPr/>
          <p:nvPr/>
        </p:nvSpPr>
        <p:spPr>
          <a:xfrm>
            <a:off x="521146" y="3686112"/>
            <a:ext cx="5400000" cy="26716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Dubbele diagnostiek, onder- of overbehandeling</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Medische fouten</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Inefficiënte tijdsbesteding, extra administratieve druk</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Gebrekkige multidisciplinaire samenwerking</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Lage patiëntveiligheid</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Verspilling van zorggeld</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Beperkte mogelijkheid efficiënt inzetten van eHealth, zorgtechnologie en AI </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Vermindering van werkplezier</a:t>
            </a:r>
          </a:p>
          <a:p>
            <a:pPr marL="180000" marR="0" lvl="0" indent="-180000" algn="l" defTabSz="914400" rtl="0" eaLnBrk="1" fontAlgn="auto" latinLnBrk="0" hangingPunct="1">
              <a:spcAft>
                <a:spcPts val="400"/>
              </a:spcAft>
              <a:buClrTx/>
              <a:buSzPts val="900"/>
              <a:buFont typeface="Segoe UI" panose="020B0502040204020203"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panose="020B0502040204020203" pitchFamily="34" charset="0"/>
              </a:rPr>
              <a:t>Uitstroom van professionals, minder instroom nieuwe professionals</a:t>
            </a:r>
            <a:endParaRPr kumimoji="0" lang="nl-NL"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hthoek 4">
            <a:extLst>
              <a:ext uri="{FF2B5EF4-FFF2-40B4-BE49-F238E27FC236}">
                <a16:creationId xmlns:a16="http://schemas.microsoft.com/office/drawing/2014/main" id="{6D827C61-3031-70BB-BE64-666D017972C8}"/>
              </a:ext>
            </a:extLst>
          </p:cNvPr>
          <p:cNvSpPr/>
          <p:nvPr/>
        </p:nvSpPr>
        <p:spPr>
          <a:xfrm>
            <a:off x="6191696" y="3686112"/>
            <a:ext cx="5400000" cy="26716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Meermalen hetzelfde verhaal vertellen</a:t>
            </a:r>
          </a:p>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Zeggenschap niet goed geregeld</a:t>
            </a:r>
          </a:p>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Onvoldoende toegang tot eigen gegevens</a:t>
            </a:r>
          </a:p>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Slechte mogelijkheid om eigen gegevens te delen met professionals</a:t>
            </a:r>
          </a:p>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Onvoldoende mogelijkheid om zelf te schakelen met het professionele netwerk, of tussen professionele en informele netwerk</a:t>
            </a:r>
          </a:p>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Onvoldoende inzicht in het aanbod</a:t>
            </a:r>
          </a:p>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Onvoldoende toegankelijkheid tot keuzehulpen, apps en formulieren</a:t>
            </a:r>
          </a:p>
          <a:p>
            <a:pPr marL="180000" indent="-180000">
              <a:spcAft>
                <a:spcPts val="400"/>
              </a:spcAft>
              <a:buSzPts val="900"/>
              <a:buFont typeface="Segoe UI" panose="020B0502040204020203" pitchFamily="34" charset="0"/>
              <a:buChar char="-"/>
              <a:defRPr/>
            </a:pPr>
            <a:r>
              <a:rPr lang="nl-NL" sz="1200">
                <a:solidFill>
                  <a:prstClr val="black"/>
                </a:solidFill>
                <a:latin typeface="Verdana" panose="020B0604030504040204" pitchFamily="34" charset="0"/>
                <a:ea typeface="Verdana" panose="020B0604030504040204" pitchFamily="34" charset="0"/>
                <a:cs typeface="Segoe UI" panose="020B0502040204020203" pitchFamily="34" charset="0"/>
              </a:rPr>
              <a:t>Onvoldoende ervaren eigen regie</a:t>
            </a:r>
          </a:p>
        </p:txBody>
      </p:sp>
      <p:sp>
        <p:nvSpPr>
          <p:cNvPr id="6" name="Rechthoek 5">
            <a:extLst>
              <a:ext uri="{FF2B5EF4-FFF2-40B4-BE49-F238E27FC236}">
                <a16:creationId xmlns:a16="http://schemas.microsoft.com/office/drawing/2014/main" id="{C4D7BD3E-CDC1-7EE7-2FE9-D98687889EF3}"/>
              </a:ext>
            </a:extLst>
          </p:cNvPr>
          <p:cNvSpPr/>
          <p:nvPr/>
        </p:nvSpPr>
        <p:spPr>
          <a:xfrm>
            <a:off x="521147" y="3332178"/>
            <a:ext cx="5400000" cy="362641"/>
          </a:xfrm>
          <a:prstGeom prst="rect">
            <a:avLst/>
          </a:prstGeom>
          <a:solidFill>
            <a:srgbClr val="8C95CD"/>
          </a:solidFill>
          <a:ln>
            <a:solidFill>
              <a:srgbClr val="8C95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90000"/>
              </a:lnSpc>
              <a:spcBef>
                <a:spcPts val="600"/>
              </a:spcBef>
              <a:spcAft>
                <a:spcPts val="0"/>
              </a:spcAft>
              <a:buClrTx/>
              <a:buSzPts val="900"/>
              <a:buFontTx/>
              <a:buNone/>
              <a:tabLst/>
              <a:defRPr/>
            </a:pPr>
            <a:r>
              <a:rPr kumimoji="0" lang="nl-NL"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Segoe UI" panose="020B0502040204020203" pitchFamily="34" charset="0"/>
              </a:rPr>
              <a:t>Voor de professional</a:t>
            </a:r>
          </a:p>
        </p:txBody>
      </p:sp>
      <p:sp>
        <p:nvSpPr>
          <p:cNvPr id="7" name="Rechthoek 6">
            <a:extLst>
              <a:ext uri="{FF2B5EF4-FFF2-40B4-BE49-F238E27FC236}">
                <a16:creationId xmlns:a16="http://schemas.microsoft.com/office/drawing/2014/main" id="{6CB7030F-9613-53A3-CAEA-E4989B1F21C1}"/>
              </a:ext>
            </a:extLst>
          </p:cNvPr>
          <p:cNvSpPr/>
          <p:nvPr/>
        </p:nvSpPr>
        <p:spPr>
          <a:xfrm>
            <a:off x="6191696" y="3332178"/>
            <a:ext cx="5400000" cy="362641"/>
          </a:xfrm>
          <a:prstGeom prst="rect">
            <a:avLst/>
          </a:prstGeom>
          <a:solidFill>
            <a:srgbClr val="0E9D90"/>
          </a:solidFill>
          <a:ln>
            <a:solidFill>
              <a:srgbClr val="0E9D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90000"/>
              </a:lnSpc>
              <a:spcBef>
                <a:spcPts val="600"/>
              </a:spcBef>
              <a:spcAft>
                <a:spcPts val="0"/>
              </a:spcAft>
              <a:buClrTx/>
              <a:buSzPts val="900"/>
              <a:buFontTx/>
              <a:buNone/>
              <a:tabLst/>
              <a:defRPr/>
            </a:pPr>
            <a:r>
              <a:rPr kumimoji="0" lang="nl-NL"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Segoe UI" panose="020B0502040204020203" pitchFamily="34" charset="0"/>
              </a:rPr>
              <a:t>Voor de inwoner</a:t>
            </a:r>
          </a:p>
        </p:txBody>
      </p:sp>
      <p:sp>
        <p:nvSpPr>
          <p:cNvPr id="36" name="Slide Number Placeholder 64">
            <a:extLst>
              <a:ext uri="{FF2B5EF4-FFF2-40B4-BE49-F238E27FC236}">
                <a16:creationId xmlns:a16="http://schemas.microsoft.com/office/drawing/2014/main" id="{3BB0C251-F743-A161-6C1F-98A7792A24A5}"/>
              </a:ext>
            </a:extLst>
          </p:cNvPr>
          <p:cNvSpPr>
            <a:spLocks noGrp="1"/>
          </p:cNvSpPr>
          <p:nvPr>
            <p:ph type="sldNum" sz="quarter" idx="4"/>
          </p:nvPr>
        </p:nvSpPr>
        <p:spPr>
          <a:xfrm>
            <a:off x="5957275" y="6551983"/>
            <a:ext cx="287338" cy="287338"/>
          </a:xfrm>
        </p:spPr>
        <p:txBody>
          <a:bodyPr/>
          <a:lstStyle/>
          <a:p>
            <a:fld id="{C698A4D3-8B34-4F59-BA76-BF518A49D96C}" type="slidenum">
              <a:rPr lang="nl-NL" smtClean="0"/>
              <a:pPr/>
              <a:t>7</a:t>
            </a:fld>
            <a:endParaRPr lang="nl-NL"/>
          </a:p>
        </p:txBody>
      </p:sp>
      <p:sp>
        <p:nvSpPr>
          <p:cNvPr id="2" name="Rectangle: Top Corners Rounded 38">
            <a:hlinkClick r:id="rId4" action="ppaction://hlinksldjump"/>
            <a:extLst>
              <a:ext uri="{FF2B5EF4-FFF2-40B4-BE49-F238E27FC236}">
                <a16:creationId xmlns:a16="http://schemas.microsoft.com/office/drawing/2014/main" id="{24CE59B0-DA54-0E68-FCBF-2997E38CA38F}"/>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8" name="Graphic 7" descr="Introductiepagina silhouet">
            <a:hlinkClick r:id="rId5" action="ppaction://hlinksldjump"/>
            <a:extLst>
              <a:ext uri="{FF2B5EF4-FFF2-40B4-BE49-F238E27FC236}">
                <a16:creationId xmlns:a16="http://schemas.microsoft.com/office/drawing/2014/main" id="{CE03ED06-9E67-D270-8CD5-C3B9CEAEFB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9" name="Rectangle: Top Corners Rounded 1">
            <a:hlinkClick r:id="rId8" action="ppaction://hlinksldjump"/>
            <a:extLst>
              <a:ext uri="{FF2B5EF4-FFF2-40B4-BE49-F238E27FC236}">
                <a16:creationId xmlns:a16="http://schemas.microsoft.com/office/drawing/2014/main" id="{5884C1B9-85DE-C281-F086-F82C0EFEC0A7}"/>
              </a:ext>
            </a:extLst>
          </p:cNvPr>
          <p:cNvSpPr/>
          <p:nvPr/>
        </p:nvSpPr>
        <p:spPr>
          <a:xfrm>
            <a:off x="120718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Achtergrond en aanleiding</a:t>
            </a:r>
          </a:p>
        </p:txBody>
      </p:sp>
      <p:sp>
        <p:nvSpPr>
          <p:cNvPr id="10" name="Rectangle: Top Corners Rounded 1">
            <a:hlinkClick r:id="rId9" action="ppaction://hlinksldjump"/>
            <a:extLst>
              <a:ext uri="{FF2B5EF4-FFF2-40B4-BE49-F238E27FC236}">
                <a16:creationId xmlns:a16="http://schemas.microsoft.com/office/drawing/2014/main" id="{5E3DCB99-0B80-A93C-1F94-F81FFF330687}"/>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1" name="Rectangle: Top Corners Rounded 1">
            <a:hlinkClick r:id="rId10" action="ppaction://hlinksldjump"/>
            <a:extLst>
              <a:ext uri="{FF2B5EF4-FFF2-40B4-BE49-F238E27FC236}">
                <a16:creationId xmlns:a16="http://schemas.microsoft.com/office/drawing/2014/main" id="{BB35332F-8994-7010-CE97-6C2D62F07057}"/>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2" name="Rectangle: Top Corners Rounded 1">
            <a:hlinkClick r:id="rId11" action="ppaction://hlinksldjump"/>
            <a:extLst>
              <a:ext uri="{FF2B5EF4-FFF2-40B4-BE49-F238E27FC236}">
                <a16:creationId xmlns:a16="http://schemas.microsoft.com/office/drawing/2014/main" id="{B6374E98-0F76-7148-44B5-1431199FDBE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2" action="ppaction://hlinksldjump"/>
            <a:extLst>
              <a:ext uri="{FF2B5EF4-FFF2-40B4-BE49-F238E27FC236}">
                <a16:creationId xmlns:a16="http://schemas.microsoft.com/office/drawing/2014/main" id="{2DD7F079-6D15-1D30-C7F8-12A56B3B799F}"/>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3" action="ppaction://hlinksldjump"/>
            <a:extLst>
              <a:ext uri="{FF2B5EF4-FFF2-40B4-BE49-F238E27FC236}">
                <a16:creationId xmlns:a16="http://schemas.microsoft.com/office/drawing/2014/main" id="{1765E09B-3028-1814-0BAD-FE9C63C8863C}"/>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4" action="ppaction://hlinksldjump"/>
            <a:extLst>
              <a:ext uri="{FF2B5EF4-FFF2-40B4-BE49-F238E27FC236}">
                <a16:creationId xmlns:a16="http://schemas.microsoft.com/office/drawing/2014/main" id="{6E57D559-2834-AB31-8AF6-8E8B28A07F1D}"/>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5" action="ppaction://hlinksldjump"/>
            <a:extLst>
              <a:ext uri="{FF2B5EF4-FFF2-40B4-BE49-F238E27FC236}">
                <a16:creationId xmlns:a16="http://schemas.microsoft.com/office/drawing/2014/main" id="{985436F0-0277-CA76-C90C-49DB91989C2F}"/>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6" action="ppaction://hlinksldjump"/>
            <a:extLst>
              <a:ext uri="{FF2B5EF4-FFF2-40B4-BE49-F238E27FC236}">
                <a16:creationId xmlns:a16="http://schemas.microsoft.com/office/drawing/2014/main" id="{5ECD3090-196E-6374-1274-114C773848A1}"/>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7" action="ppaction://hlinksldjump"/>
            <a:extLst>
              <a:ext uri="{FF2B5EF4-FFF2-40B4-BE49-F238E27FC236}">
                <a16:creationId xmlns:a16="http://schemas.microsoft.com/office/drawing/2014/main" id="{4652A0F7-BE32-D392-ED6C-4CC45565D77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9" name="Rectangle: Top Corners Rounded 1">
            <a:hlinkClick r:id="rId18" action="ppaction://hlinksldjump"/>
            <a:extLst>
              <a:ext uri="{FF2B5EF4-FFF2-40B4-BE49-F238E27FC236}">
                <a16:creationId xmlns:a16="http://schemas.microsoft.com/office/drawing/2014/main" id="{9EDA1186-16CE-568E-E265-CCD034C5E587}"/>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2424284498"/>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jl: vijfhoek 5">
            <a:extLst>
              <a:ext uri="{FF2B5EF4-FFF2-40B4-BE49-F238E27FC236}">
                <a16:creationId xmlns:a16="http://schemas.microsoft.com/office/drawing/2014/main" id="{3B782703-083B-2916-B4A0-8FE39DB3E199}"/>
              </a:ext>
            </a:extLst>
          </p:cNvPr>
          <p:cNvSpPr/>
          <p:nvPr/>
        </p:nvSpPr>
        <p:spPr>
          <a:xfrm>
            <a:off x="6437123" y="3659445"/>
            <a:ext cx="308033" cy="2016991"/>
          </a:xfrm>
          <a:prstGeom prst="homePlate">
            <a:avLst/>
          </a:prstGeom>
          <a:solidFill>
            <a:srgbClr val="F7F7F7"/>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10090298" cy="504000"/>
          </a:xfrm>
        </p:spPr>
        <p:txBody>
          <a:bodyPr>
            <a:noAutofit/>
          </a:bodyPr>
          <a:lstStyle/>
          <a:p>
            <a:r>
              <a:rPr lang="nl-NL"/>
              <a:t>De digitaliseringsopgave in de regio is omvangrijk en grijpt terug op landelijke thema’s</a:t>
            </a:r>
          </a:p>
        </p:txBody>
      </p:sp>
      <p:sp>
        <p:nvSpPr>
          <p:cNvPr id="31" name="Content Placeholder 30">
            <a:extLst>
              <a:ext uri="{FF2B5EF4-FFF2-40B4-BE49-F238E27FC236}">
                <a16:creationId xmlns:a16="http://schemas.microsoft.com/office/drawing/2014/main" id="{16F3C74A-E242-7CFC-150F-D565D4A13653}"/>
              </a:ext>
            </a:extLst>
          </p:cNvPr>
          <p:cNvSpPr>
            <a:spLocks noGrp="1"/>
          </p:cNvSpPr>
          <p:nvPr>
            <p:ph idx="1"/>
          </p:nvPr>
        </p:nvSpPr>
        <p:spPr>
          <a:xfrm>
            <a:off x="425302" y="1473998"/>
            <a:ext cx="11233171" cy="4693530"/>
          </a:xfrm>
        </p:spPr>
        <p:txBody>
          <a:bodyPr/>
          <a:lstStyle/>
          <a:p>
            <a:pPr algn="just"/>
            <a:r>
              <a:rPr lang="nl-NL" sz="1400" b="1"/>
              <a:t>In de komende jaren werken we als regio enerzijds aan een gezonde en passende leefomgeving en anderzijds aan vernieuwing binnen het medische en sociaal domein, gericht op integrale (</a:t>
            </a:r>
            <a:r>
              <a:rPr lang="nl-NL" sz="1400" b="1" err="1"/>
              <a:t>gezondheids</a:t>
            </a:r>
            <a:r>
              <a:rPr lang="nl-NL" sz="1400" b="1"/>
              <a:t>)zorg. Het welbevinden van mensen staat hierin centraal. Ons uitgangspunt is het belang van de algehele gezondheid en ieders vermogen om met levensuitdagingen om te gaan.</a:t>
            </a:r>
          </a:p>
          <a:p>
            <a:pPr algn="just"/>
            <a:r>
              <a:rPr lang="nl-NL"/>
              <a:t>Het fundament digitalisering en gegevensuitwisseling sluit aan bij de inhoudelijke opgaven beschreven in het IZA regioplan Midden-Nederland. Vanuit het eerste thema in de (</a:t>
            </a:r>
            <a:r>
              <a:rPr lang="nl-NL" err="1"/>
              <a:t>inter</a:t>
            </a:r>
            <a:r>
              <a:rPr lang="nl-NL"/>
              <a:t>)regionale fundamentopgave, elektronische gegevensuitwisseling, toegankelijkheid en registratie, wordt toegewerkt naar meer standaardisatie van gegevensuitwisseling, een verbeterde toegankelijkheid van informatie en éénmalige, gestandaardiseerde verslaglegging. Deze opgaven zijn voorwaardelijk voor de regionale, domein overstijgende samenwerking en het optimaal benutten van beschikbaar personeel en expertise. Er wordt gebouwd op een drietal (3) pijlers</a:t>
            </a:r>
            <a:r>
              <a:rPr lang="nl-NL" baseline="30000"/>
              <a:t>1</a:t>
            </a:r>
            <a:r>
              <a:rPr lang="nl-NL"/>
              <a:t>:</a:t>
            </a:r>
          </a:p>
          <a:p>
            <a:endParaRPr lang="en-GB"/>
          </a:p>
        </p:txBody>
      </p:sp>
      <p:sp>
        <p:nvSpPr>
          <p:cNvPr id="14" name="Tijdelijke aanduiding voor inhoud 4">
            <a:extLst>
              <a:ext uri="{FF2B5EF4-FFF2-40B4-BE49-F238E27FC236}">
                <a16:creationId xmlns:a16="http://schemas.microsoft.com/office/drawing/2014/main" id="{8DBDA332-C952-78CC-4E35-8D6983FB7C4A}"/>
              </a:ext>
            </a:extLst>
          </p:cNvPr>
          <p:cNvSpPr txBox="1">
            <a:spLocks/>
          </p:cNvSpPr>
          <p:nvPr/>
        </p:nvSpPr>
        <p:spPr>
          <a:xfrm>
            <a:off x="6604145" y="3659445"/>
            <a:ext cx="4951696" cy="198625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3895" marR="0" lvl="1" indent="-342900" algn="l" defTabSz="914400" rtl="0" eaLnBrk="1" fontAlgn="auto" latinLnBrk="0" hangingPunct="1">
              <a:lnSpc>
                <a:spcPct val="100000"/>
              </a:lnSpc>
              <a:spcBef>
                <a:spcPts val="0"/>
              </a:spcBef>
              <a:spcAft>
                <a:spcPts val="600"/>
              </a:spcAft>
              <a:buClrTx/>
              <a:buSzTx/>
              <a:buFont typeface="+mj-lt"/>
              <a:buAutoNum type="arabicParenR"/>
              <a:tabLst/>
              <a:defRPr/>
            </a:pPr>
            <a:r>
              <a:rPr kumimoji="0" lang="nl-NL" sz="1200" b="1" i="0" u="none" strike="noStrike" kern="1200" cap="none" spc="0" normalizeH="0" baseline="0" noProof="0">
                <a:ln>
                  <a:noFill/>
                </a:ln>
                <a:solidFill>
                  <a:prstClr val="black"/>
                </a:solidFill>
                <a:effectLst/>
                <a:uLnTx/>
                <a:uFillTx/>
                <a:latin typeface="Verdana"/>
                <a:ea typeface="Verdana"/>
                <a:cs typeface="Calibri"/>
              </a:rPr>
              <a:t>Netwerkzorg</a:t>
            </a:r>
            <a:r>
              <a:rPr kumimoji="0" lang="nl-NL" sz="1200" b="0" i="0" u="none" strike="noStrike" kern="1200" cap="none" spc="0" normalizeH="0" baseline="0" noProof="0">
                <a:ln>
                  <a:noFill/>
                </a:ln>
                <a:solidFill>
                  <a:prstClr val="black"/>
                </a:solidFill>
                <a:effectLst/>
                <a:uLnTx/>
                <a:uFillTx/>
                <a:latin typeface="Verdana"/>
                <a:ea typeface="Verdana"/>
                <a:cs typeface="Calibri"/>
              </a:rPr>
              <a:t> </a:t>
            </a:r>
            <a:endParaRPr lang="nl-NL">
              <a:solidFill>
                <a:prstClr val="black"/>
              </a:solidFill>
              <a:latin typeface="Verdana"/>
              <a:ea typeface="Verdana"/>
            </a:endParaRPr>
          </a:p>
          <a:p>
            <a:pPr marL="1025525" lvl="1" indent="-342900">
              <a:lnSpc>
                <a:spcPct val="100000"/>
              </a:lnSpc>
              <a:spcBef>
                <a:spcPts val="0"/>
              </a:spcBef>
              <a:spcAft>
                <a:spcPts val="600"/>
              </a:spcAft>
              <a:defRPr/>
            </a:pPr>
            <a:r>
              <a:rPr kumimoji="0" lang="nl-NL" sz="1200" b="0" i="0" u="none" strike="noStrike" kern="1200" cap="none" spc="0" normalizeH="0" baseline="0" noProof="0">
                <a:ln>
                  <a:noFill/>
                </a:ln>
                <a:solidFill>
                  <a:prstClr val="black"/>
                </a:solidFill>
                <a:effectLst/>
                <a:uLnTx/>
                <a:uFillTx/>
                <a:latin typeface="Verdana"/>
                <a:ea typeface="Verdana"/>
                <a:cs typeface="Calibri"/>
              </a:rPr>
              <a:t>Vanuit het perspectief van inwoners </a:t>
            </a:r>
            <a:endParaRPr lang="nl-NL" sz="1200">
              <a:solidFill>
                <a:prstClr val="black"/>
              </a:solidFill>
              <a:latin typeface="Verdana"/>
              <a:ea typeface="Verdana"/>
              <a:cs typeface="Calibri"/>
            </a:endParaRPr>
          </a:p>
          <a:p>
            <a:pPr marL="1025525" lvl="1" indent="-342900">
              <a:lnSpc>
                <a:spcPct val="100000"/>
              </a:lnSpc>
              <a:spcBef>
                <a:spcPts val="0"/>
              </a:spcBef>
              <a:spcAft>
                <a:spcPts val="600"/>
              </a:spcAft>
              <a:defRPr/>
            </a:pPr>
            <a:r>
              <a:rPr kumimoji="0" lang="nl-NL" sz="1200" b="0" i="0" u="none" strike="noStrike" kern="1200" cap="none" spc="0" normalizeH="0" baseline="0" noProof="0">
                <a:ln>
                  <a:noFill/>
                </a:ln>
                <a:solidFill>
                  <a:prstClr val="black"/>
                </a:solidFill>
                <a:effectLst/>
                <a:uLnTx/>
                <a:uFillTx/>
                <a:latin typeface="Verdana"/>
                <a:ea typeface="Verdana"/>
                <a:cs typeface="Calibri"/>
              </a:rPr>
              <a:t>Vanuit het perspectief van professionals</a:t>
            </a:r>
            <a:endParaRPr lang="nl-NL" sz="1200" b="0" i="0" u="none" strike="noStrike" kern="1200" cap="none" spc="0" normalizeH="0" baseline="0" noProof="0">
              <a:ln>
                <a:noFill/>
              </a:ln>
              <a:solidFill>
                <a:prstClr val="black"/>
              </a:solidFill>
              <a:effectLst/>
              <a:uLnTx/>
              <a:uFillTx/>
              <a:latin typeface="Verdana"/>
              <a:ea typeface="Verdana"/>
              <a:cs typeface="Calibri"/>
            </a:endParaRPr>
          </a:p>
          <a:p>
            <a:pPr marL="340995" lvl="1" indent="0">
              <a:lnSpc>
                <a:spcPct val="100000"/>
              </a:lnSpc>
              <a:spcBef>
                <a:spcPts val="0"/>
              </a:spcBef>
              <a:spcAft>
                <a:spcPts val="600"/>
              </a:spcAft>
              <a:buNone/>
              <a:defRPr/>
            </a:pPr>
            <a:r>
              <a:rPr lang="nl-NL" sz="1200" b="1">
                <a:solidFill>
                  <a:prstClr val="black"/>
                </a:solidFill>
                <a:latin typeface="Verdana"/>
                <a:ea typeface="Verdana"/>
                <a:cs typeface="Calibri"/>
              </a:rPr>
              <a:t>2) </a:t>
            </a:r>
            <a:r>
              <a:rPr kumimoji="0" lang="nl-NL" sz="1200" b="1" i="0" u="none" strike="noStrike" kern="1200" cap="none" spc="0" normalizeH="0" baseline="0" noProof="0">
                <a:ln>
                  <a:noFill/>
                </a:ln>
                <a:solidFill>
                  <a:prstClr val="black"/>
                </a:solidFill>
                <a:effectLst/>
                <a:uLnTx/>
                <a:uFillTx/>
                <a:latin typeface="Verdana"/>
                <a:ea typeface="Verdana"/>
                <a:cs typeface="Calibri"/>
              </a:rPr>
              <a:t>Basis op orde</a:t>
            </a:r>
            <a:endParaRPr lang="nl-NL" sz="1200" b="1" i="0" u="none" strike="noStrike" kern="1200" cap="none" spc="0" normalizeH="0" baseline="0" noProof="0">
              <a:ln>
                <a:noFill/>
              </a:ln>
              <a:solidFill>
                <a:prstClr val="black"/>
              </a:solidFill>
              <a:effectLst/>
              <a:uLnTx/>
              <a:uFillTx/>
              <a:latin typeface="Verdana"/>
              <a:ea typeface="Verdana"/>
              <a:cs typeface="Calibri"/>
            </a:endParaRPr>
          </a:p>
          <a:p>
            <a:pPr marL="340995" lvl="1" indent="0">
              <a:lnSpc>
                <a:spcPct val="100000"/>
              </a:lnSpc>
              <a:spcBef>
                <a:spcPts val="0"/>
              </a:spcBef>
              <a:spcAft>
                <a:spcPts val="600"/>
              </a:spcAft>
              <a:buNone/>
              <a:defRPr/>
            </a:pPr>
            <a:r>
              <a:rPr lang="nl-NL" sz="1200" b="1">
                <a:solidFill>
                  <a:prstClr val="black"/>
                </a:solidFill>
                <a:latin typeface="Verdana"/>
                <a:ea typeface="Verdana"/>
                <a:cs typeface="Calibri"/>
              </a:rPr>
              <a:t>3) Regionale</a:t>
            </a:r>
            <a:r>
              <a:rPr kumimoji="0" lang="nl-NL" sz="1200" b="1" i="0" u="none" strike="noStrike" kern="1200" cap="none" spc="0" normalizeH="0" baseline="0" noProof="0">
                <a:ln>
                  <a:noFill/>
                </a:ln>
                <a:solidFill>
                  <a:prstClr val="black"/>
                </a:solidFill>
                <a:effectLst/>
                <a:uLnTx/>
                <a:uFillTx/>
                <a:latin typeface="Verdana"/>
                <a:ea typeface="Verdana"/>
                <a:cs typeface="Calibri"/>
              </a:rPr>
              <a:t> data- en </a:t>
            </a:r>
            <a:r>
              <a:rPr kumimoji="0" lang="nl-NL" sz="1200" b="1" i="0" u="none" strike="noStrike" kern="1200" cap="none" spc="0" normalizeH="0" baseline="0" noProof="0" err="1">
                <a:ln>
                  <a:noFill/>
                </a:ln>
                <a:solidFill>
                  <a:prstClr val="black"/>
                </a:solidFill>
                <a:effectLst/>
                <a:uLnTx/>
                <a:uFillTx/>
                <a:latin typeface="Verdana"/>
                <a:ea typeface="Verdana"/>
                <a:cs typeface="Calibri"/>
              </a:rPr>
              <a:t>applicatieitectitectuur</a:t>
            </a:r>
            <a:endParaRPr lang="nl-NL" sz="1200" b="0" i="0" u="none" strike="noStrike" kern="1200" cap="none" spc="0" normalizeH="0" baseline="0" noProof="0">
              <a:ln>
                <a:noFill/>
              </a:ln>
              <a:solidFill>
                <a:prstClr val="black"/>
              </a:solidFill>
              <a:effectLst/>
              <a:uLnTx/>
              <a:uFillTx/>
              <a:latin typeface="Verdana"/>
              <a:ea typeface="Verdana"/>
              <a:cs typeface="Calibri"/>
            </a:endParaRPr>
          </a:p>
        </p:txBody>
      </p:sp>
      <p:sp>
        <p:nvSpPr>
          <p:cNvPr id="5" name="Tijdelijke aanduiding voor inhoud 1">
            <a:extLst>
              <a:ext uri="{FF2B5EF4-FFF2-40B4-BE49-F238E27FC236}">
                <a16:creationId xmlns:a16="http://schemas.microsoft.com/office/drawing/2014/main" id="{142FD9B3-59D9-7001-39BD-9042ADC7C600}"/>
              </a:ext>
            </a:extLst>
          </p:cNvPr>
          <p:cNvSpPr txBox="1">
            <a:spLocks/>
          </p:cNvSpPr>
          <p:nvPr/>
        </p:nvSpPr>
        <p:spPr>
          <a:xfrm>
            <a:off x="6939994" y="5044924"/>
            <a:ext cx="4538252" cy="61333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SzPts val="900"/>
              <a:buFont typeface="Arial" panose="020B0604020202020204" pitchFamily="34" charset="0"/>
              <a:buNone/>
            </a:pPr>
            <a:r>
              <a:rPr lang="nl-NL" sz="1200" i="1">
                <a:latin typeface="Verdana"/>
                <a:ea typeface="Verdana"/>
              </a:rPr>
              <a:t>Digitalisering is </a:t>
            </a:r>
            <a:r>
              <a:rPr lang="nl-NL" sz="1200" i="1" u="sng">
                <a:latin typeface="Verdana"/>
                <a:ea typeface="Verdana"/>
              </a:rPr>
              <a:t>voorwaardelijk</a:t>
            </a:r>
            <a:r>
              <a:rPr lang="nl-NL" sz="1200" i="1">
                <a:latin typeface="Verdana"/>
                <a:ea typeface="Verdana"/>
              </a:rPr>
              <a:t> voor het transformeren van de zorg.</a:t>
            </a:r>
          </a:p>
        </p:txBody>
      </p:sp>
      <p:sp>
        <p:nvSpPr>
          <p:cNvPr id="24" name="TextBox 23">
            <a:extLst>
              <a:ext uri="{FF2B5EF4-FFF2-40B4-BE49-F238E27FC236}">
                <a16:creationId xmlns:a16="http://schemas.microsoft.com/office/drawing/2014/main" id="{CDB8F881-2E4B-ED0A-92C4-90D6DFDB7F91}"/>
              </a:ext>
            </a:extLst>
          </p:cNvPr>
          <p:cNvSpPr txBox="1"/>
          <p:nvPr/>
        </p:nvSpPr>
        <p:spPr>
          <a:xfrm>
            <a:off x="425450" y="5787715"/>
            <a:ext cx="10856590" cy="230832"/>
          </a:xfrm>
          <a:prstGeom prst="rect">
            <a:avLst/>
          </a:prstGeom>
          <a:noFill/>
        </p:spPr>
        <p:txBody>
          <a:bodyPr wrap="square" rtlCol="0">
            <a:spAutoFit/>
          </a:bodyPr>
          <a:lstStyle/>
          <a:p>
            <a:r>
              <a:rPr lang="nl-NL" sz="900">
                <a:latin typeface="Verdana" panose="020B0604030504040204" pitchFamily="34" charset="0"/>
                <a:ea typeface="Verdana" panose="020B0604030504040204" pitchFamily="34" charset="0"/>
              </a:rPr>
              <a:t>1. Klik </a:t>
            </a:r>
            <a:r>
              <a:rPr lang="nl-NL" sz="900">
                <a:latin typeface="Verdana" panose="020B0604030504040204" pitchFamily="34" charset="0"/>
                <a:ea typeface="Verdana" panose="020B0604030504040204" pitchFamily="34" charset="0"/>
                <a:hlinkClick r:id="rId4"/>
              </a:rPr>
              <a:t>hier</a:t>
            </a:r>
            <a:r>
              <a:rPr lang="nl-NL" sz="900">
                <a:latin typeface="Verdana" panose="020B0604030504040204" pitchFamily="34" charset="0"/>
                <a:ea typeface="Verdana" panose="020B0604030504040204" pitchFamily="34" charset="0"/>
              </a:rPr>
              <a:t> voor de interactieve samenvatting van het fundament digitalisering en gegevensuitwisseling uit het IZA regioplan Midden-Nederland</a:t>
            </a:r>
          </a:p>
        </p:txBody>
      </p:sp>
      <p:pic>
        <p:nvPicPr>
          <p:cNvPr id="26" name="Picture 25">
            <a:extLst>
              <a:ext uri="{FF2B5EF4-FFF2-40B4-BE49-F238E27FC236}">
                <a16:creationId xmlns:a16="http://schemas.microsoft.com/office/drawing/2014/main" id="{02F3923E-AC53-6028-B12B-598EAB6BA17C}"/>
              </a:ext>
            </a:extLst>
          </p:cNvPr>
          <p:cNvPicPr>
            <a:picLocks noChangeAspect="1"/>
          </p:cNvPicPr>
          <p:nvPr/>
        </p:nvPicPr>
        <p:blipFill>
          <a:blip r:embed="rId5"/>
          <a:stretch>
            <a:fillRect/>
          </a:stretch>
        </p:blipFill>
        <p:spPr>
          <a:xfrm>
            <a:off x="697952" y="3659445"/>
            <a:ext cx="5578323" cy="2030144"/>
          </a:xfrm>
          <a:prstGeom prst="rect">
            <a:avLst/>
          </a:prstGeom>
        </p:spPr>
      </p:pic>
      <p:sp>
        <p:nvSpPr>
          <p:cNvPr id="36" name="Slide Number Placeholder 64">
            <a:extLst>
              <a:ext uri="{FF2B5EF4-FFF2-40B4-BE49-F238E27FC236}">
                <a16:creationId xmlns:a16="http://schemas.microsoft.com/office/drawing/2014/main" id="{A8E5E532-7786-0525-90EB-EF54E7FA4CA9}"/>
              </a:ext>
            </a:extLst>
          </p:cNvPr>
          <p:cNvSpPr>
            <a:spLocks noGrp="1"/>
          </p:cNvSpPr>
          <p:nvPr>
            <p:ph type="sldNum" sz="quarter" idx="4"/>
          </p:nvPr>
        </p:nvSpPr>
        <p:spPr>
          <a:xfrm>
            <a:off x="5898218" y="6555980"/>
            <a:ext cx="287338" cy="287338"/>
          </a:xfrm>
        </p:spPr>
        <p:txBody>
          <a:bodyPr/>
          <a:lstStyle/>
          <a:p>
            <a:fld id="{C698A4D3-8B34-4F59-BA76-BF518A49D96C}" type="slidenum">
              <a:rPr lang="nl-NL" sz="900" smtClean="0"/>
              <a:pPr/>
              <a:t>8</a:t>
            </a:fld>
            <a:endParaRPr lang="nl-NL" sz="900"/>
          </a:p>
        </p:txBody>
      </p:sp>
      <p:sp>
        <p:nvSpPr>
          <p:cNvPr id="2" name="Rectangle: Top Corners Rounded 38">
            <a:hlinkClick r:id="rId6" action="ppaction://hlinksldjump"/>
            <a:extLst>
              <a:ext uri="{FF2B5EF4-FFF2-40B4-BE49-F238E27FC236}">
                <a16:creationId xmlns:a16="http://schemas.microsoft.com/office/drawing/2014/main" id="{B6118D07-8DC7-3459-335F-F9F995E2BBD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7" name="Graphic 6" descr="Introductiepagina silhouet">
            <a:hlinkClick r:id="rId7" action="ppaction://hlinksldjump"/>
            <a:extLst>
              <a:ext uri="{FF2B5EF4-FFF2-40B4-BE49-F238E27FC236}">
                <a16:creationId xmlns:a16="http://schemas.microsoft.com/office/drawing/2014/main" id="{92958585-DBD1-2F69-C884-4E561932A03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6" y="147223"/>
            <a:ext cx="144000" cy="144000"/>
          </a:xfrm>
          <a:prstGeom prst="rect">
            <a:avLst/>
          </a:prstGeom>
        </p:spPr>
      </p:pic>
      <p:sp>
        <p:nvSpPr>
          <p:cNvPr id="8" name="Rectangle: Top Corners Rounded 1">
            <a:hlinkClick r:id="rId10" action="ppaction://hlinksldjump"/>
            <a:extLst>
              <a:ext uri="{FF2B5EF4-FFF2-40B4-BE49-F238E27FC236}">
                <a16:creationId xmlns:a16="http://schemas.microsoft.com/office/drawing/2014/main" id="{5499CF4A-D523-0C53-7E79-3516026E43AB}"/>
              </a:ext>
            </a:extLst>
          </p:cNvPr>
          <p:cNvSpPr/>
          <p:nvPr/>
        </p:nvSpPr>
        <p:spPr>
          <a:xfrm>
            <a:off x="120718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Achtergrond en aanleiding</a:t>
            </a:r>
          </a:p>
        </p:txBody>
      </p:sp>
      <p:sp>
        <p:nvSpPr>
          <p:cNvPr id="11" name="Rectangle: Top Corners Rounded 1">
            <a:hlinkClick r:id="rId11" action="ppaction://hlinksldjump"/>
            <a:extLst>
              <a:ext uri="{FF2B5EF4-FFF2-40B4-BE49-F238E27FC236}">
                <a16:creationId xmlns:a16="http://schemas.microsoft.com/office/drawing/2014/main" id="{54E54945-BBE3-BD29-FE2A-5D60E5D4704B}"/>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3" name="Rectangle: Top Corners Rounded 1">
            <a:hlinkClick r:id="rId12" action="ppaction://hlinksldjump"/>
            <a:extLst>
              <a:ext uri="{FF2B5EF4-FFF2-40B4-BE49-F238E27FC236}">
                <a16:creationId xmlns:a16="http://schemas.microsoft.com/office/drawing/2014/main" id="{04A93BFC-300C-FB19-9451-74E907A772C1}"/>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5" name="Rectangle: Top Corners Rounded 1">
            <a:hlinkClick r:id="rId13" action="ppaction://hlinksldjump"/>
            <a:extLst>
              <a:ext uri="{FF2B5EF4-FFF2-40B4-BE49-F238E27FC236}">
                <a16:creationId xmlns:a16="http://schemas.microsoft.com/office/drawing/2014/main" id="{C4404071-5D66-5AD1-BE73-6CD724BDBD13}"/>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6" name="Rectangle: Top Corners Rounded 1">
            <a:hlinkClick r:id="rId14" action="ppaction://hlinksldjump"/>
            <a:extLst>
              <a:ext uri="{FF2B5EF4-FFF2-40B4-BE49-F238E27FC236}">
                <a16:creationId xmlns:a16="http://schemas.microsoft.com/office/drawing/2014/main" id="{3DBB463F-D2A6-AFFC-0CF4-9FB98C7F31CA}"/>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7" name="Rectangle: Top Corners Rounded 1">
            <a:hlinkClick r:id="rId15" action="ppaction://hlinksldjump"/>
            <a:extLst>
              <a:ext uri="{FF2B5EF4-FFF2-40B4-BE49-F238E27FC236}">
                <a16:creationId xmlns:a16="http://schemas.microsoft.com/office/drawing/2014/main" id="{FE9B387B-0165-2A7D-B2FE-A9EC9FA553DC}"/>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8" name="Rectangle: Top Corners Rounded 1">
            <a:hlinkClick r:id="rId16" action="ppaction://hlinksldjump"/>
            <a:extLst>
              <a:ext uri="{FF2B5EF4-FFF2-40B4-BE49-F238E27FC236}">
                <a16:creationId xmlns:a16="http://schemas.microsoft.com/office/drawing/2014/main" id="{860AE316-EACF-20B6-5674-18E118FCE890}"/>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9" name="Rectangle: Top Corners Rounded 1">
            <a:hlinkClick r:id="rId17" action="ppaction://hlinksldjump"/>
            <a:extLst>
              <a:ext uri="{FF2B5EF4-FFF2-40B4-BE49-F238E27FC236}">
                <a16:creationId xmlns:a16="http://schemas.microsoft.com/office/drawing/2014/main" id="{B0E3D4BA-98F8-9067-AC5F-B8A87346B226}"/>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0" name="Rectangle: Top Corners Rounded 1">
            <a:hlinkClick r:id="rId18" action="ppaction://hlinksldjump"/>
            <a:extLst>
              <a:ext uri="{FF2B5EF4-FFF2-40B4-BE49-F238E27FC236}">
                <a16:creationId xmlns:a16="http://schemas.microsoft.com/office/drawing/2014/main" id="{56FCED05-03E1-1EA3-3AED-4E11985578C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1" name="Rectangle: Top Corners Rounded 1">
            <a:hlinkClick r:id="rId19" action="ppaction://hlinksldjump"/>
            <a:extLst>
              <a:ext uri="{FF2B5EF4-FFF2-40B4-BE49-F238E27FC236}">
                <a16:creationId xmlns:a16="http://schemas.microsoft.com/office/drawing/2014/main" id="{688E85CF-3218-D5CC-CEFB-4745655CB175}"/>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2" name="Rectangle: Top Corners Rounded 1">
            <a:hlinkClick r:id="rId20" action="ppaction://hlinksldjump"/>
            <a:extLst>
              <a:ext uri="{FF2B5EF4-FFF2-40B4-BE49-F238E27FC236}">
                <a16:creationId xmlns:a16="http://schemas.microsoft.com/office/drawing/2014/main" id="{2B6AFAEA-6952-E7FB-FF0B-5A562413C889}"/>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889490769"/>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rmAutofit fontScale="90000"/>
          </a:bodyPr>
          <a:lstStyle/>
          <a:p>
            <a:pPr algn="l"/>
            <a:r>
              <a:rPr lang="nl-NL" sz="3200" b="1">
                <a:solidFill>
                  <a:srgbClr val="8C95CD"/>
                </a:solidFill>
                <a:latin typeface="Verdana Pro" panose="020B0604030504040204" pitchFamily="34" charset="0"/>
              </a:rPr>
              <a:t>…</a:t>
            </a:r>
          </a:p>
        </p:txBody>
      </p:sp>
      <p:sp>
        <p:nvSpPr>
          <p:cNvPr id="3" name="Tijdelijke aanduiding voor inhoud 2">
            <a:extLst>
              <a:ext uri="{FF2B5EF4-FFF2-40B4-BE49-F238E27FC236}">
                <a16:creationId xmlns:a16="http://schemas.microsoft.com/office/drawing/2014/main" id="{FE87F43F-A23F-7D2F-4D7F-443C970B1CE1}"/>
              </a:ext>
            </a:extLst>
          </p:cNvPr>
          <p:cNvSpPr>
            <a:spLocks noGrp="1"/>
          </p:cNvSpPr>
          <p:nvPr>
            <p:ph idx="1"/>
          </p:nvPr>
        </p:nvSpPr>
        <p:spPr/>
        <p:txBody>
          <a:bodyPr vert="horz" lIns="91440" tIns="45720" rIns="91440" bIns="45720" rtlCol="0" anchor="t">
            <a:noAutofit/>
          </a:bodyPr>
          <a:lstStyle/>
          <a:p>
            <a:pPr marL="0" lvl="1" indent="0" algn="just">
              <a:lnSpc>
                <a:spcPct val="110000"/>
              </a:lnSpc>
              <a:spcBef>
                <a:spcPts val="0"/>
              </a:spcBef>
              <a:buNone/>
            </a:pPr>
            <a:r>
              <a:rPr lang="nl-NL" sz="1800">
                <a:latin typeface="Verdana"/>
                <a:ea typeface="Verdana"/>
              </a:rPr>
              <a:t>[</a:t>
            </a:r>
            <a:r>
              <a:rPr lang="nl-NL" sz="1800" err="1">
                <a:latin typeface="Verdana"/>
                <a:ea typeface="Verdana"/>
              </a:rPr>
              <a:t>Placeholder</a:t>
            </a:r>
            <a:r>
              <a:rPr lang="nl-NL" sz="1800">
                <a:latin typeface="Verdana"/>
                <a:ea typeface="Verdana"/>
              </a:rPr>
              <a:t> illustratie netwerk samenwerking, inwoner centraal]</a:t>
            </a:r>
          </a:p>
          <a:p>
            <a:pPr marL="0" lvl="1" indent="0" algn="just">
              <a:lnSpc>
                <a:spcPct val="110000"/>
              </a:lnSpc>
              <a:spcBef>
                <a:spcPts val="0"/>
              </a:spcBef>
              <a:buNone/>
            </a:pPr>
            <a:endParaRPr lang="nl-NL" sz="1800">
              <a:latin typeface="Verdana"/>
              <a:ea typeface="Verdana"/>
            </a:endParaRPr>
          </a:p>
          <a:p>
            <a:pPr marL="342900" lvl="1" indent="-342900" algn="just">
              <a:lnSpc>
                <a:spcPct val="110000"/>
              </a:lnSpc>
              <a:spcBef>
                <a:spcPts val="0"/>
              </a:spcBef>
              <a:buAutoNum type="arabicPeriod"/>
            </a:pPr>
            <a:endParaRPr lang="nl-NL" sz="1800">
              <a:latin typeface="Verdana"/>
              <a:ea typeface="Verdana"/>
            </a:endParaRPr>
          </a:p>
          <a:p>
            <a:pPr marL="342900" lvl="1" indent="-342900" algn="just">
              <a:lnSpc>
                <a:spcPct val="110000"/>
              </a:lnSpc>
              <a:spcBef>
                <a:spcPts val="0"/>
              </a:spcBef>
              <a:buAutoNum type="arabicPeriod"/>
            </a:pPr>
            <a:endParaRPr lang="nl-NL" sz="1600" b="1" i="1">
              <a:latin typeface="Verdana"/>
              <a:ea typeface="Verdana"/>
            </a:endParaRPr>
          </a:p>
        </p:txBody>
      </p:sp>
      <p:sp>
        <p:nvSpPr>
          <p:cNvPr id="6" name="Text Placeholder 5">
            <a:extLst>
              <a:ext uri="{FF2B5EF4-FFF2-40B4-BE49-F238E27FC236}">
                <a16:creationId xmlns:a16="http://schemas.microsoft.com/office/drawing/2014/main" id="{5EB4590F-59F1-38DD-9D6C-B0F052E330CA}"/>
              </a:ext>
            </a:extLst>
          </p:cNvPr>
          <p:cNvSpPr>
            <a:spLocks noGrp="1"/>
          </p:cNvSpPr>
          <p:nvPr>
            <p:ph type="body" sz="quarter" idx="10"/>
          </p:nvPr>
        </p:nvSpPr>
        <p:spPr/>
        <p:txBody>
          <a:bodyPr/>
          <a:lstStyle/>
          <a:p>
            <a:endParaRPr lang="en-GB"/>
          </a:p>
        </p:txBody>
      </p:sp>
      <p:sp>
        <p:nvSpPr>
          <p:cNvPr id="2" name="Rechthoek 1">
            <a:extLst>
              <a:ext uri="{FF2B5EF4-FFF2-40B4-BE49-F238E27FC236}">
                <a16:creationId xmlns:a16="http://schemas.microsoft.com/office/drawing/2014/main" id="{1E5A5C06-06D7-91B5-7326-FA843C6B9F97}"/>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E6272525-382C-0B04-EE69-2103F86EA8A4}"/>
              </a:ext>
            </a:extLst>
          </p:cNvPr>
          <p:cNvSpPr/>
          <p:nvPr/>
        </p:nvSpPr>
        <p:spPr>
          <a:xfrm>
            <a:off x="11221643" y="6376589"/>
            <a:ext cx="965408" cy="473008"/>
          </a:xfrm>
          <a:prstGeom prst="rect">
            <a:avLst/>
          </a:prstGeom>
          <a:blipFill dpi="0" rotWithShape="1">
            <a:blip r:embed="rId4"/>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 name="Afbeelding 9" descr="Afbeelding met tekst, cirkel, diagram, kaart&#10;&#10;Automatisch gegenereerde beschrijving">
            <a:extLst>
              <a:ext uri="{FF2B5EF4-FFF2-40B4-BE49-F238E27FC236}">
                <a16:creationId xmlns:a16="http://schemas.microsoft.com/office/drawing/2014/main" id="{4E7D7260-ADEE-C369-5FD3-B041C29B8F38}"/>
              </a:ext>
            </a:extLst>
          </p:cNvPr>
          <p:cNvPicPr>
            <a:picLocks noChangeAspect="1"/>
          </p:cNvPicPr>
          <p:nvPr/>
        </p:nvPicPr>
        <p:blipFill>
          <a:blip r:embed="rId5"/>
          <a:stretch>
            <a:fillRect/>
          </a:stretch>
        </p:blipFill>
        <p:spPr>
          <a:xfrm>
            <a:off x="3386593" y="1972849"/>
            <a:ext cx="4237079" cy="3709170"/>
          </a:xfrm>
          <a:prstGeom prst="rect">
            <a:avLst/>
          </a:prstGeom>
        </p:spPr>
      </p:pic>
      <p:sp>
        <p:nvSpPr>
          <p:cNvPr id="20" name="Rectangle: Top Corners Rounded 38">
            <a:hlinkClick r:id="rId6" action="ppaction://hlinksldjump"/>
            <a:extLst>
              <a:ext uri="{FF2B5EF4-FFF2-40B4-BE49-F238E27FC236}">
                <a16:creationId xmlns:a16="http://schemas.microsoft.com/office/drawing/2014/main" id="{EE83A909-EBB0-BAD4-EF38-CB335B148325}"/>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21" name="Graphic 20" descr="Introductiepagina silhouet">
            <a:hlinkClick r:id="rId7" action="ppaction://hlinksldjump"/>
            <a:extLst>
              <a:ext uri="{FF2B5EF4-FFF2-40B4-BE49-F238E27FC236}">
                <a16:creationId xmlns:a16="http://schemas.microsoft.com/office/drawing/2014/main" id="{7450C4A6-8F32-7801-749D-47A202F7D26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6" y="147223"/>
            <a:ext cx="144000" cy="144000"/>
          </a:xfrm>
          <a:prstGeom prst="rect">
            <a:avLst/>
          </a:prstGeom>
        </p:spPr>
      </p:pic>
      <p:sp>
        <p:nvSpPr>
          <p:cNvPr id="22" name="Rectangle: Top Corners Rounded 1">
            <a:hlinkClick r:id="rId10" action="ppaction://hlinksldjump"/>
            <a:extLst>
              <a:ext uri="{FF2B5EF4-FFF2-40B4-BE49-F238E27FC236}">
                <a16:creationId xmlns:a16="http://schemas.microsoft.com/office/drawing/2014/main" id="{87F171AC-0067-3657-9F1D-CC1F343F3608}"/>
              </a:ext>
            </a:extLst>
          </p:cNvPr>
          <p:cNvSpPr/>
          <p:nvPr/>
        </p:nvSpPr>
        <p:spPr>
          <a:xfrm>
            <a:off x="120718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Achtergrond en aanleiding</a:t>
            </a:r>
          </a:p>
        </p:txBody>
      </p:sp>
      <p:sp>
        <p:nvSpPr>
          <p:cNvPr id="23" name="Rectangle: Top Corners Rounded 1">
            <a:hlinkClick r:id="rId11" action="ppaction://hlinksldjump"/>
            <a:extLst>
              <a:ext uri="{FF2B5EF4-FFF2-40B4-BE49-F238E27FC236}">
                <a16:creationId xmlns:a16="http://schemas.microsoft.com/office/drawing/2014/main" id="{3E17FDA3-4E70-24B2-6A20-23E1ACD52C82}"/>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4" name="Rectangle: Top Corners Rounded 1">
            <a:hlinkClick r:id="rId12" action="ppaction://hlinksldjump"/>
            <a:extLst>
              <a:ext uri="{FF2B5EF4-FFF2-40B4-BE49-F238E27FC236}">
                <a16:creationId xmlns:a16="http://schemas.microsoft.com/office/drawing/2014/main" id="{B36C2929-9809-30C7-28B2-8CC46941A847}"/>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5" name="Rectangle: Top Corners Rounded 1">
            <a:hlinkClick r:id="rId13" action="ppaction://hlinksldjump"/>
            <a:extLst>
              <a:ext uri="{FF2B5EF4-FFF2-40B4-BE49-F238E27FC236}">
                <a16:creationId xmlns:a16="http://schemas.microsoft.com/office/drawing/2014/main" id="{BA078D38-2F15-1A8E-ECFD-EFA19E9DB093}"/>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6" name="Rectangle: Top Corners Rounded 1">
            <a:hlinkClick r:id="rId14" action="ppaction://hlinksldjump"/>
            <a:extLst>
              <a:ext uri="{FF2B5EF4-FFF2-40B4-BE49-F238E27FC236}">
                <a16:creationId xmlns:a16="http://schemas.microsoft.com/office/drawing/2014/main" id="{086B381E-08B7-D9FD-7A9E-031A235B7ED7}"/>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7" name="Rectangle: Top Corners Rounded 1">
            <a:hlinkClick r:id="rId15" action="ppaction://hlinksldjump"/>
            <a:extLst>
              <a:ext uri="{FF2B5EF4-FFF2-40B4-BE49-F238E27FC236}">
                <a16:creationId xmlns:a16="http://schemas.microsoft.com/office/drawing/2014/main" id="{98D1967D-4A24-CAB3-68FB-5EF7070D775A}"/>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8" name="Rectangle: Top Corners Rounded 1">
            <a:hlinkClick r:id="rId16" action="ppaction://hlinksldjump"/>
            <a:extLst>
              <a:ext uri="{FF2B5EF4-FFF2-40B4-BE49-F238E27FC236}">
                <a16:creationId xmlns:a16="http://schemas.microsoft.com/office/drawing/2014/main" id="{AA61832F-7430-3E6E-BCD2-7F2CFD61AD5B}"/>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9" name="Rectangle: Top Corners Rounded 1">
            <a:hlinkClick r:id="rId17" action="ppaction://hlinksldjump"/>
            <a:extLst>
              <a:ext uri="{FF2B5EF4-FFF2-40B4-BE49-F238E27FC236}">
                <a16:creationId xmlns:a16="http://schemas.microsoft.com/office/drawing/2014/main" id="{B0C01B4B-E3F2-4C5C-1E24-8B3795ADEB1C}"/>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0" name="Rectangle: Top Corners Rounded 1">
            <a:hlinkClick r:id="rId18" action="ppaction://hlinksldjump"/>
            <a:extLst>
              <a:ext uri="{FF2B5EF4-FFF2-40B4-BE49-F238E27FC236}">
                <a16:creationId xmlns:a16="http://schemas.microsoft.com/office/drawing/2014/main" id="{E9F20692-3559-82D8-4889-60432BF1281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1" name="Rectangle: Top Corners Rounded 1">
            <a:hlinkClick r:id="rId19" action="ppaction://hlinksldjump"/>
            <a:extLst>
              <a:ext uri="{FF2B5EF4-FFF2-40B4-BE49-F238E27FC236}">
                <a16:creationId xmlns:a16="http://schemas.microsoft.com/office/drawing/2014/main" id="{5B1DEF14-3D74-8CA6-173F-E77A960AD30F}"/>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2" name="Rectangle: Top Corners Rounded 1">
            <a:hlinkClick r:id="rId20" action="ppaction://hlinksldjump"/>
            <a:extLst>
              <a:ext uri="{FF2B5EF4-FFF2-40B4-BE49-F238E27FC236}">
                <a16:creationId xmlns:a16="http://schemas.microsoft.com/office/drawing/2014/main" id="{BFC1239E-0E67-1B9C-C969-95518A85995A}"/>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4270988633"/>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a:bodyPr>
          <a:lstStyle/>
          <a:p>
            <a:pPr algn="ctr"/>
            <a:r>
              <a:rPr lang="nl-NL" sz="3600">
                <a:latin typeface="Verdana Pro"/>
                <a:cs typeface="Helvetica"/>
              </a:rPr>
              <a:t>Visie &amp; ambitie voor de transformatie opgaven in de regio Midden-Nederland</a:t>
            </a:r>
            <a:endParaRPr lang="nl-NL"/>
          </a:p>
        </p:txBody>
      </p:sp>
    </p:spTree>
    <p:extLst>
      <p:ext uri="{BB962C8B-B14F-4D97-AF65-F5344CB8AC3E}">
        <p14:creationId xmlns:p14="http://schemas.microsoft.com/office/powerpoint/2010/main" val="2043101848"/>
      </p:ext>
    </p:extLst>
  </p:cSld>
  <p:clrMapOvr>
    <a:masterClrMapping/>
  </p:clrMapOvr>
  <p:extLst>
    <p:ext uri="{6950BFC3-D8DA-4A85-94F7-54DA5524770B}">
      <p188:commentRel xmlns:p188="http://schemas.microsoft.com/office/powerpoint/2018/8/main" r:id="rId4"/>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9087-DF0B-0185-8671-4B2EF2FAF2CD}"/>
              </a:ext>
            </a:extLst>
          </p:cNvPr>
          <p:cNvSpPr>
            <a:spLocks noGrp="1"/>
          </p:cNvSpPr>
          <p:nvPr>
            <p:ph type="title"/>
          </p:nvPr>
        </p:nvSpPr>
        <p:spPr/>
        <p:txBody>
          <a:bodyPr>
            <a:noAutofit/>
          </a:bodyPr>
          <a:lstStyle/>
          <a:p>
            <a:r>
              <a:rPr lang="nl-NL"/>
              <a:t>Vergezicht</a:t>
            </a:r>
          </a:p>
        </p:txBody>
      </p:sp>
      <p:sp>
        <p:nvSpPr>
          <p:cNvPr id="3" name="Content Placeholder 2">
            <a:extLst>
              <a:ext uri="{FF2B5EF4-FFF2-40B4-BE49-F238E27FC236}">
                <a16:creationId xmlns:a16="http://schemas.microsoft.com/office/drawing/2014/main" id="{585CE1AC-6376-50E4-09E0-9C691F4EE201}"/>
              </a:ext>
            </a:extLst>
          </p:cNvPr>
          <p:cNvSpPr>
            <a:spLocks noGrp="1"/>
          </p:cNvSpPr>
          <p:nvPr>
            <p:ph idx="1"/>
          </p:nvPr>
        </p:nvSpPr>
        <p:spPr>
          <a:xfrm>
            <a:off x="425302" y="1320262"/>
            <a:ext cx="11449198" cy="5481146"/>
          </a:xfrm>
        </p:spPr>
        <p:txBody>
          <a:bodyPr vert="horz" lIns="91440" tIns="45720" rIns="91440" bIns="45720" rtlCol="0" anchor="t">
            <a:noAutofit/>
          </a:bodyPr>
          <a:lstStyle/>
          <a:p>
            <a:pPr marL="0" indent="0" algn="just">
              <a:buNone/>
            </a:pPr>
            <a:r>
              <a:rPr lang="nl-NL" dirty="0" err="1">
                <a:latin typeface="Verdana"/>
                <a:ea typeface="Verdana"/>
              </a:rPr>
              <a:t>Rifa</a:t>
            </a:r>
            <a:r>
              <a:rPr lang="nl-NL" dirty="0">
                <a:latin typeface="Verdana"/>
                <a:ea typeface="Verdana"/>
              </a:rPr>
              <a:t>, een vrouw van 27 jaar, ervaart veel stress door financiële problemen, druk vanuit </a:t>
            </a:r>
            <a:r>
              <a:rPr lang="nl-NL" dirty="0" err="1">
                <a:latin typeface="Verdana"/>
                <a:ea typeface="Verdana"/>
              </a:rPr>
              <a:t>social</a:t>
            </a:r>
            <a:r>
              <a:rPr lang="nl-NL" dirty="0">
                <a:latin typeface="Verdana"/>
                <a:ea typeface="Verdana"/>
              </a:rPr>
              <a:t> media en zit in sociale isolatie door schaamte. Door gebrek aan geld heeft ze een ongezond eetpatroon en overgewicht. Soms heeft ze last van spontane benauwdheid en lijkt het alsof ze hartkloppingen heeft. Na lang wikken en wegen heeft ze besloten om over een drempel van schaamte heen te stappen en hulp te zoeken in de buurt. Via het buurtcentrum komt ze in contact met een buurtteam.</a:t>
            </a:r>
          </a:p>
          <a:p>
            <a:pPr marL="0" indent="0" algn="just">
              <a:buNone/>
            </a:pPr>
            <a:r>
              <a:rPr lang="nl-NL" dirty="0">
                <a:latin typeface="Verdana"/>
                <a:ea typeface="Verdana"/>
              </a:rPr>
              <a:t>Tijdens de kennismaking met </a:t>
            </a:r>
            <a:r>
              <a:rPr lang="nl-NL" dirty="0" err="1">
                <a:latin typeface="Verdana"/>
                <a:ea typeface="Verdana"/>
              </a:rPr>
              <a:t>Rifa</a:t>
            </a:r>
            <a:r>
              <a:rPr lang="nl-NL" dirty="0">
                <a:latin typeface="Verdana"/>
                <a:ea typeface="Verdana"/>
              </a:rPr>
              <a:t> heeft de buurtverbinder (na toestemming van </a:t>
            </a:r>
            <a:r>
              <a:rPr lang="nl-NL" dirty="0" err="1">
                <a:latin typeface="Verdana"/>
                <a:ea typeface="Verdana"/>
              </a:rPr>
              <a:t>Rifa</a:t>
            </a:r>
            <a:r>
              <a:rPr lang="nl-NL" dirty="0">
                <a:latin typeface="Verdana"/>
                <a:ea typeface="Verdana"/>
              </a:rPr>
              <a:t>) inzage in haar digitale dossier. De buurtverbinder voegt het verslag van hun kennismaking toe aan het dossier en meldt haar aan voor het eerstvolgende multidisciplinaire overleg binnen het buurtteam. Het buurtteam schakelt met de praktijkondersteuner van de huisarts (POH). De POH voert een ECG uit en brengt </a:t>
            </a:r>
            <a:r>
              <a:rPr lang="nl-NL" dirty="0" err="1">
                <a:latin typeface="Verdana"/>
                <a:ea typeface="Verdana"/>
              </a:rPr>
              <a:t>Rifa’s</a:t>
            </a:r>
            <a:r>
              <a:rPr lang="nl-NL" dirty="0">
                <a:latin typeface="Verdana"/>
                <a:ea typeface="Verdana"/>
              </a:rPr>
              <a:t> huisarts op de hoogte. De huisarts verwijst </a:t>
            </a:r>
            <a:r>
              <a:rPr lang="nl-NL" dirty="0" err="1">
                <a:latin typeface="Verdana"/>
                <a:ea typeface="Verdana"/>
              </a:rPr>
              <a:t>Rifa</a:t>
            </a:r>
            <a:r>
              <a:rPr lang="nl-NL" dirty="0">
                <a:latin typeface="Verdana"/>
                <a:ea typeface="Verdana"/>
              </a:rPr>
              <a:t> door naar de cardioloog. De cardioloog besluit na triage van de verwijzing deze casus via een meedenkconsult (via zorgviewer) met de huisarts te bespreken. De cardioloog bevestigt via het meedenkconsult dat er geen medische oorzaak is voor de hartkloppingen en adviseert dat behandeling via 1</a:t>
            </a:r>
            <a:r>
              <a:rPr lang="nl-NL" baseline="30000" dirty="0">
                <a:latin typeface="Verdana"/>
                <a:ea typeface="Verdana"/>
              </a:rPr>
              <a:t>e</a:t>
            </a:r>
            <a:r>
              <a:rPr lang="nl-NL" dirty="0">
                <a:latin typeface="Verdana"/>
                <a:ea typeface="Verdana"/>
              </a:rPr>
              <a:t> </a:t>
            </a:r>
            <a:r>
              <a:rPr lang="nl-NL" dirty="0" err="1">
                <a:latin typeface="Verdana"/>
                <a:ea typeface="Verdana"/>
              </a:rPr>
              <a:t>lijns</a:t>
            </a:r>
            <a:r>
              <a:rPr lang="nl-NL" dirty="0">
                <a:latin typeface="Verdana"/>
                <a:ea typeface="Verdana"/>
              </a:rPr>
              <a:t> zorg voldoende is. De huisarts bespreekt deze uitkomst met </a:t>
            </a:r>
            <a:r>
              <a:rPr lang="nl-NL" dirty="0" err="1">
                <a:latin typeface="Verdana"/>
                <a:ea typeface="Verdana"/>
              </a:rPr>
              <a:t>Rifa</a:t>
            </a:r>
            <a:r>
              <a:rPr lang="nl-NL" dirty="0">
                <a:latin typeface="Verdana"/>
                <a:ea typeface="Verdana"/>
              </a:rPr>
              <a:t> en het multidisciplinaire verslag van het gesprek komt in </a:t>
            </a:r>
            <a:r>
              <a:rPr lang="nl-NL" dirty="0" err="1">
                <a:latin typeface="Verdana"/>
                <a:ea typeface="Verdana"/>
              </a:rPr>
              <a:t>Rifa’s</a:t>
            </a:r>
            <a:r>
              <a:rPr lang="nl-NL" dirty="0">
                <a:latin typeface="Verdana"/>
                <a:ea typeface="Verdana"/>
              </a:rPr>
              <a:t> dossier.</a:t>
            </a:r>
          </a:p>
          <a:p>
            <a:pPr algn="just"/>
            <a:r>
              <a:rPr lang="nl-NL" sz="1200" kern="100" dirty="0">
                <a:effectLst/>
                <a:latin typeface="Verdana"/>
                <a:ea typeface="Aptos" panose="020B0004020202020204" pitchFamily="34" charset="0"/>
                <a:cs typeface="Times New Roman"/>
              </a:rPr>
              <a:t>Daarna bespreekt de POH met het buurtteam andere factoren van </a:t>
            </a:r>
            <a:r>
              <a:rPr lang="nl-NL" sz="1200" kern="100" dirty="0" err="1">
                <a:effectLst/>
                <a:latin typeface="Verdana"/>
                <a:ea typeface="Aptos" panose="020B0004020202020204" pitchFamily="34" charset="0"/>
                <a:cs typeface="Times New Roman"/>
              </a:rPr>
              <a:t>Rifa’s</a:t>
            </a:r>
            <a:r>
              <a:rPr lang="nl-NL" sz="1200" kern="100" dirty="0">
                <a:effectLst/>
                <a:latin typeface="Verdana"/>
                <a:ea typeface="Aptos" panose="020B0004020202020204" pitchFamily="34" charset="0"/>
                <a:cs typeface="Times New Roman"/>
              </a:rPr>
              <a:t> situatie. </a:t>
            </a:r>
            <a:r>
              <a:rPr lang="nl-NL" kern="100" dirty="0">
                <a:latin typeface="Verdana"/>
                <a:ea typeface="Aptos" panose="020B0004020202020204" pitchFamily="34" charset="0"/>
                <a:cs typeface="Times New Roman"/>
              </a:rPr>
              <a:t>H</a:t>
            </a:r>
            <a:r>
              <a:rPr lang="nl-NL" sz="1200" kern="100" dirty="0">
                <a:effectLst/>
                <a:latin typeface="Verdana"/>
                <a:ea typeface="Aptos" panose="020B0004020202020204" pitchFamily="34" charset="0"/>
                <a:cs typeface="Times New Roman"/>
              </a:rPr>
              <a:t>aar overgewicht draagt mogelijk bij aan haar klachten en zij stellen, na kort overleg met haar huisarts, een traject voor binnen het Gecombineerd Leefstijl Interventie (GLI)-programma, samen met een leefstijlcoach. </a:t>
            </a:r>
            <a:r>
              <a:rPr lang="nl-NL" sz="1200" kern="100" dirty="0" err="1">
                <a:effectLst/>
                <a:latin typeface="Verdana"/>
                <a:ea typeface="Aptos" panose="020B0004020202020204" pitchFamily="34" charset="0"/>
                <a:cs typeface="Times New Roman"/>
              </a:rPr>
              <a:t>Rifa</a:t>
            </a:r>
            <a:r>
              <a:rPr lang="nl-NL" sz="1200" kern="100" dirty="0">
                <a:effectLst/>
                <a:latin typeface="Verdana"/>
                <a:ea typeface="Aptos" panose="020B0004020202020204" pitchFamily="34" charset="0"/>
                <a:cs typeface="Times New Roman"/>
              </a:rPr>
              <a:t> geeft aan dat haar stress vooral voortkomt uit financiële problemen. Met </a:t>
            </a:r>
            <a:r>
              <a:rPr lang="nl-NL" sz="1200" kern="100" dirty="0" err="1">
                <a:effectLst/>
                <a:latin typeface="Verdana"/>
                <a:ea typeface="Aptos" panose="020B0004020202020204" pitchFamily="34" charset="0"/>
                <a:cs typeface="Times New Roman"/>
              </a:rPr>
              <a:t>Rifa’s</a:t>
            </a:r>
            <a:r>
              <a:rPr lang="nl-NL" sz="1200" kern="100" dirty="0">
                <a:effectLst/>
                <a:latin typeface="Verdana"/>
                <a:ea typeface="Aptos" panose="020B0004020202020204" pitchFamily="34" charset="0"/>
                <a:cs typeface="Times New Roman"/>
              </a:rPr>
              <a:t> toestemming schakelt het buurtteam de schuldhulpverlening in en bekijkt mogelijkheden om </a:t>
            </a:r>
            <a:r>
              <a:rPr lang="nl-NL" sz="1200" kern="100" dirty="0" err="1">
                <a:effectLst/>
                <a:latin typeface="Verdana"/>
                <a:ea typeface="Aptos" panose="020B0004020202020204" pitchFamily="34" charset="0"/>
                <a:cs typeface="Times New Roman"/>
              </a:rPr>
              <a:t>Rifa</a:t>
            </a:r>
            <a:r>
              <a:rPr lang="nl-NL" kern="100" dirty="0" err="1">
                <a:latin typeface="Verdana"/>
                <a:ea typeface="Aptos" panose="020B0004020202020204" pitchFamily="34" charset="0"/>
                <a:cs typeface="Times New Roman"/>
              </a:rPr>
              <a:t>’s</a:t>
            </a:r>
            <a:r>
              <a:rPr lang="nl-NL" kern="100" dirty="0">
                <a:latin typeface="Verdana"/>
                <a:ea typeface="Aptos" panose="020B0004020202020204" pitchFamily="34" charset="0"/>
                <a:cs typeface="Times New Roman"/>
              </a:rPr>
              <a:t> sociale netwerk te versterken, </a:t>
            </a:r>
            <a:r>
              <a:rPr lang="nl-NL" sz="1200" kern="100" dirty="0">
                <a:effectLst/>
                <a:latin typeface="Verdana"/>
                <a:ea typeface="Aptos" panose="020B0004020202020204" pitchFamily="34" charset="0"/>
                <a:cs typeface="Times New Roman"/>
              </a:rPr>
              <a:t>bijvoorbeeld via vrijwilligersorganisaties of lotgenotengroepen. </a:t>
            </a:r>
          </a:p>
          <a:p>
            <a:pPr algn="just"/>
            <a:r>
              <a:rPr lang="nl-NL" dirty="0">
                <a:latin typeface="Verdana"/>
                <a:ea typeface="Verdana"/>
              </a:rPr>
              <a:t>De samenwerking tussen de huisarts, het buurtteam en andere relevante (zorg)professionals vindt plaats via één digitale overlegomgeving. Hier loggen </a:t>
            </a:r>
            <a:r>
              <a:rPr kumimoji="0" lang="nl-NL" sz="1200" b="0" i="0" u="none" strike="noStrike" kern="1200" cap="none" spc="0" normalizeH="0" baseline="0" noProof="0" dirty="0">
                <a:ln>
                  <a:noFill/>
                </a:ln>
                <a:effectLst/>
                <a:uLnTx/>
                <a:uFillTx/>
                <a:latin typeface="Verdana"/>
                <a:ea typeface="Verdana"/>
                <a:cs typeface="+mn-cs"/>
              </a:rPr>
              <a:t>professionals via hun eigen systeem in op een netwerkzorg viewer. Via deze omgeving hebben zij, met toestemming van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direct inzage in de (medische) gegevens van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en kunnen zij gemakkelijk met elkaar communiceren.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en haar naasten kunnen zelf het dossier van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ook inzien via één digitale voordeur, namelijk via een app. Vanuit hier kan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ook contact leggen met de zorgprofessionals via telefoon, chat of mail. Ze kan zelf haar gegevens aanpassen indien nodig en krijgt via het portaal meldingen.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kan zelf bepalen wie ze toegang verleent tot deze omgeving, om zo bijvoorbeeld een mantelzorger mee te laten kijken in haar dossier. </a:t>
            </a:r>
          </a:p>
          <a:p>
            <a:pPr algn="just"/>
            <a:r>
              <a:rPr kumimoji="0" lang="nl-NL" sz="1200" b="0" i="0" u="none" strike="noStrike" kern="1200" cap="none" spc="0" normalizeH="0" baseline="0" noProof="0" dirty="0">
                <a:ln>
                  <a:noFill/>
                </a:ln>
                <a:effectLst/>
                <a:uLnTx/>
                <a:uFillTx/>
                <a:latin typeface="Verdana"/>
                <a:ea typeface="Verdana"/>
                <a:cs typeface="+mn-cs"/>
              </a:rPr>
              <a:t>De (medische) gegevens van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worden middels koppelvlakken met bronsystemen real-time opgehaald uit de verschillende bronsystemen binnen het netwerk en samen op een overzichtelijke wijze gepresenteerd. Voorbeelden van deze gegevens zijn basisgegevens, zoals contacten, adressen, diagnoses, problemen en allergieën. Ook overzichten van medicatie, onderzoeksresultaten en/of overdrachten zoals huisartsenbrieven, verpleegkundige overdrachten of andere documenten. Gelijk wordt duidelijk bij wie of welke (zorg)professional </a:t>
            </a:r>
            <a:r>
              <a:rPr kumimoji="0" lang="nl-NL" sz="1200" b="0" i="0" u="none" strike="noStrike" kern="1200" cap="none" spc="0" normalizeH="0" baseline="0" noProof="0" dirty="0" err="1">
                <a:ln>
                  <a:noFill/>
                </a:ln>
                <a:effectLst/>
                <a:uLnTx/>
                <a:uFillTx/>
                <a:latin typeface="Verdana"/>
                <a:ea typeface="Verdana"/>
                <a:cs typeface="+mn-cs"/>
              </a:rPr>
              <a:t>Rifa</a:t>
            </a:r>
            <a:r>
              <a:rPr kumimoji="0" lang="nl-NL" sz="1200" b="0" i="0" u="none" strike="noStrike" kern="1200" cap="none" spc="0" normalizeH="0" baseline="0" noProof="0" dirty="0">
                <a:ln>
                  <a:noFill/>
                </a:ln>
                <a:effectLst/>
                <a:uLnTx/>
                <a:uFillTx/>
                <a:latin typeface="Verdana"/>
                <a:ea typeface="Verdana"/>
                <a:cs typeface="+mn-cs"/>
              </a:rPr>
              <a:t> bekend is, of eerder contact mee is geweest. Hierdoor kunnen zorg-</a:t>
            </a:r>
            <a:r>
              <a:rPr lang="nl-NL" dirty="0">
                <a:latin typeface="Verdana"/>
                <a:ea typeface="Verdana"/>
              </a:rPr>
              <a:t> en hulpverleners </a:t>
            </a:r>
            <a:r>
              <a:rPr lang="nl-NL" dirty="0" err="1">
                <a:latin typeface="Verdana"/>
                <a:ea typeface="Verdana"/>
              </a:rPr>
              <a:t>Rifa</a:t>
            </a:r>
            <a:r>
              <a:rPr lang="nl-NL" dirty="0">
                <a:latin typeface="Verdana"/>
                <a:ea typeface="Verdana"/>
              </a:rPr>
              <a:t> op een holistische manier triëren</a:t>
            </a:r>
            <a:r>
              <a:rPr kumimoji="0" lang="nl-NL" sz="1200" b="0" i="0" u="none" strike="noStrike" kern="1200" cap="none" spc="0" normalizeH="0" baseline="0" noProof="0" dirty="0">
                <a:ln>
                  <a:noFill/>
                </a:ln>
                <a:effectLst/>
                <a:uLnTx/>
                <a:uFillTx/>
                <a:latin typeface="Verdana"/>
                <a:ea typeface="Verdana"/>
                <a:cs typeface="+mn-cs"/>
              </a:rPr>
              <a:t>. </a:t>
            </a:r>
          </a:p>
          <a:p>
            <a:pPr marL="0" indent="0" algn="just">
              <a:buNone/>
            </a:pPr>
            <a:endParaRPr lang="nl-NL" dirty="0">
              <a:latin typeface="Verdana"/>
              <a:ea typeface="Verdana"/>
            </a:endParaRPr>
          </a:p>
          <a:p>
            <a:pPr marL="0" indent="0" algn="just">
              <a:buNone/>
            </a:pPr>
            <a:endParaRPr lang="nl-NL" dirty="0">
              <a:latin typeface="Verdana"/>
              <a:ea typeface="Verdana"/>
            </a:endParaRPr>
          </a:p>
        </p:txBody>
      </p:sp>
      <p:sp>
        <p:nvSpPr>
          <p:cNvPr id="4" name="Text Placeholder 3">
            <a:extLst>
              <a:ext uri="{FF2B5EF4-FFF2-40B4-BE49-F238E27FC236}">
                <a16:creationId xmlns:a16="http://schemas.microsoft.com/office/drawing/2014/main" id="{8F2BB92F-DDBC-64FC-71AA-DD49978CF244}"/>
              </a:ext>
            </a:extLst>
          </p:cNvPr>
          <p:cNvSpPr>
            <a:spLocks noGrp="1"/>
          </p:cNvSpPr>
          <p:nvPr>
            <p:ph type="body" sz="quarter" idx="10"/>
          </p:nvPr>
        </p:nvSpPr>
        <p:spPr/>
        <p:txBody>
          <a:bodyPr/>
          <a:lstStyle/>
          <a:p>
            <a:r>
              <a:rPr lang="nl-NL"/>
              <a:t>Het is maart 2027 …</a:t>
            </a:r>
          </a:p>
        </p:txBody>
      </p:sp>
      <p:sp>
        <p:nvSpPr>
          <p:cNvPr id="5" name="Slide Number Placeholder 64">
            <a:extLst>
              <a:ext uri="{FF2B5EF4-FFF2-40B4-BE49-F238E27FC236}">
                <a16:creationId xmlns:a16="http://schemas.microsoft.com/office/drawing/2014/main" id="{4CA26C4F-4C49-D628-2965-18F6DC195819}"/>
              </a:ext>
            </a:extLst>
          </p:cNvPr>
          <p:cNvSpPr>
            <a:spLocks noGrp="1"/>
          </p:cNvSpPr>
          <p:nvPr>
            <p:ph type="sldNum" sz="quarter" idx="4"/>
          </p:nvPr>
        </p:nvSpPr>
        <p:spPr>
          <a:xfrm>
            <a:off x="5957275" y="6551983"/>
            <a:ext cx="287338" cy="28733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9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nl-NL" sz="900" b="0" i="0" u="none" strike="noStrike" kern="1200" cap="none" spc="0" normalizeH="0" baseline="0" noProof="0" dirty="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7" name="Rectangle: Top Corners Rounded 38">
            <a:hlinkClick r:id="rId3" action="ppaction://hlinksldjump"/>
            <a:extLst>
              <a:ext uri="{FF2B5EF4-FFF2-40B4-BE49-F238E27FC236}">
                <a16:creationId xmlns:a16="http://schemas.microsoft.com/office/drawing/2014/main" id="{D10DFBC5-E1BA-6933-FEFB-0A45FD553CDF}"/>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20" name="Graphic 19" descr="Introductiepagina silhouet">
            <a:hlinkClick r:id="rId4" action="ppaction://hlinksldjump"/>
            <a:extLst>
              <a:ext uri="{FF2B5EF4-FFF2-40B4-BE49-F238E27FC236}">
                <a16:creationId xmlns:a16="http://schemas.microsoft.com/office/drawing/2014/main" id="{D7A86735-E507-FC55-82D8-5C51B36708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21" name="Rectangle: Top Corners Rounded 1">
            <a:hlinkClick r:id="rId7" action="ppaction://hlinksldjump"/>
            <a:extLst>
              <a:ext uri="{FF2B5EF4-FFF2-40B4-BE49-F238E27FC236}">
                <a16:creationId xmlns:a16="http://schemas.microsoft.com/office/drawing/2014/main" id="{92EEC2E3-94AC-7075-E083-D85D71218A6E}"/>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22" name="Rectangle: Top Corners Rounded 1">
            <a:hlinkClick r:id="rId8" action="ppaction://hlinksldjump"/>
            <a:extLst>
              <a:ext uri="{FF2B5EF4-FFF2-40B4-BE49-F238E27FC236}">
                <a16:creationId xmlns:a16="http://schemas.microsoft.com/office/drawing/2014/main" id="{9D5F1AD4-783E-8721-5E69-08C4BAA32174}"/>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Visie en ambitie</a:t>
            </a:r>
          </a:p>
        </p:txBody>
      </p:sp>
      <p:sp>
        <p:nvSpPr>
          <p:cNvPr id="23" name="Rectangle: Top Corners Rounded 1">
            <a:hlinkClick r:id="rId9" action="ppaction://hlinksldjump"/>
            <a:extLst>
              <a:ext uri="{FF2B5EF4-FFF2-40B4-BE49-F238E27FC236}">
                <a16:creationId xmlns:a16="http://schemas.microsoft.com/office/drawing/2014/main" id="{5E4B370D-DFF1-E2DC-A6CE-EB97382612C9}"/>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24" name="Rectangle: Top Corners Rounded 1">
            <a:hlinkClick r:id="rId10" action="ppaction://hlinksldjump"/>
            <a:extLst>
              <a:ext uri="{FF2B5EF4-FFF2-40B4-BE49-F238E27FC236}">
                <a16:creationId xmlns:a16="http://schemas.microsoft.com/office/drawing/2014/main" id="{C1492299-7F7A-DFEB-E657-DA1A37D1E46E}"/>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Digitale (zorg) communicatie</a:t>
            </a:r>
          </a:p>
        </p:txBody>
      </p:sp>
      <p:sp>
        <p:nvSpPr>
          <p:cNvPr id="25" name="Rectangle: Top Corners Rounded 1">
            <a:hlinkClick r:id="rId11" action="ppaction://hlinksldjump"/>
            <a:extLst>
              <a:ext uri="{FF2B5EF4-FFF2-40B4-BE49-F238E27FC236}">
                <a16:creationId xmlns:a16="http://schemas.microsoft.com/office/drawing/2014/main" id="{A97AA6C6-0761-DEF3-00AD-7BB407689AE0}"/>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26" name="Rectangle: Top Corners Rounded 1">
            <a:hlinkClick r:id="rId12" action="ppaction://hlinksldjump"/>
            <a:extLst>
              <a:ext uri="{FF2B5EF4-FFF2-40B4-BE49-F238E27FC236}">
                <a16:creationId xmlns:a16="http://schemas.microsoft.com/office/drawing/2014/main" id="{68591EE3-D8FB-D3AB-4449-BBDA1664FF2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27" name="Rectangle: Top Corners Rounded 1">
            <a:hlinkClick r:id="rId13" action="ppaction://hlinksldjump"/>
            <a:extLst>
              <a:ext uri="{FF2B5EF4-FFF2-40B4-BE49-F238E27FC236}">
                <a16:creationId xmlns:a16="http://schemas.microsoft.com/office/drawing/2014/main" id="{5B1A34FB-2115-71FC-9587-88385ECD4354}"/>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28" name="Rectangle: Top Corners Rounded 1">
            <a:hlinkClick r:id="rId14" action="ppaction://hlinksldjump"/>
            <a:extLst>
              <a:ext uri="{FF2B5EF4-FFF2-40B4-BE49-F238E27FC236}">
                <a16:creationId xmlns:a16="http://schemas.microsoft.com/office/drawing/2014/main" id="{4D0D7D55-33CB-2A35-0D65-9B7518B41BE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29" name="Rectangle: Top Corners Rounded 1">
            <a:hlinkClick r:id="rId15" action="ppaction://hlinksldjump"/>
            <a:extLst>
              <a:ext uri="{FF2B5EF4-FFF2-40B4-BE49-F238E27FC236}">
                <a16:creationId xmlns:a16="http://schemas.microsoft.com/office/drawing/2014/main" id="{D999158D-1D74-0D11-0D4A-0C7595DEA89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30" name="Rectangle: Top Corners Rounded 1">
            <a:hlinkClick r:id="rId16" action="ppaction://hlinksldjump"/>
            <a:extLst>
              <a:ext uri="{FF2B5EF4-FFF2-40B4-BE49-F238E27FC236}">
                <a16:creationId xmlns:a16="http://schemas.microsoft.com/office/drawing/2014/main" id="{4D4499DD-59BF-465B-E208-EE1D983C430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31" name="Rectangle: Top Corners Rounded 1">
            <a:hlinkClick r:id="rId17" action="ppaction://hlinksldjump"/>
            <a:extLst>
              <a:ext uri="{FF2B5EF4-FFF2-40B4-BE49-F238E27FC236}">
                <a16:creationId xmlns:a16="http://schemas.microsoft.com/office/drawing/2014/main" id="{200C32A6-BE06-F9E3-BCC2-EE48A7E12865}"/>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sp>
        <p:nvSpPr>
          <p:cNvPr id="6" name="TextBox 5">
            <a:extLst>
              <a:ext uri="{FF2B5EF4-FFF2-40B4-BE49-F238E27FC236}">
                <a16:creationId xmlns:a16="http://schemas.microsoft.com/office/drawing/2014/main" id="{4E34E61D-AB70-C4E7-F542-7EE493A1AA8D}"/>
              </a:ext>
            </a:extLst>
          </p:cNvPr>
          <p:cNvSpPr txBox="1"/>
          <p:nvPr/>
        </p:nvSpPr>
        <p:spPr>
          <a:xfrm>
            <a:off x="425450" y="6617351"/>
            <a:ext cx="10856590" cy="230832"/>
          </a:xfrm>
          <a:prstGeom prst="rect">
            <a:avLst/>
          </a:prstGeom>
          <a:noFill/>
        </p:spPr>
        <p:txBody>
          <a:bodyPr wrap="square" rtlCol="0">
            <a:spAutoFit/>
          </a:bodyPr>
          <a:lstStyle/>
          <a:p>
            <a:r>
              <a:rPr lang="nl-NL" sz="900" dirty="0">
                <a:latin typeface="Verdana" panose="020B0604030504040204" pitchFamily="34" charset="0"/>
                <a:ea typeface="Verdana" panose="020B0604030504040204" pitchFamily="34" charset="0"/>
              </a:rPr>
              <a:t>* Buurtverbinder kan ook de wijkcoördinator zijn</a:t>
            </a:r>
          </a:p>
        </p:txBody>
      </p:sp>
    </p:spTree>
    <p:extLst>
      <p:ext uri="{BB962C8B-B14F-4D97-AF65-F5344CB8AC3E}">
        <p14:creationId xmlns:p14="http://schemas.microsoft.com/office/powerpoint/2010/main" val="3576170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DF459A3A-C8E2-B2B2-833B-A2B9A9009058}"/>
              </a:ext>
            </a:extLst>
          </p:cNvPr>
          <p:cNvSpPr/>
          <p:nvPr/>
        </p:nvSpPr>
        <p:spPr>
          <a:xfrm>
            <a:off x="712874" y="4547225"/>
            <a:ext cx="10917562" cy="1800000"/>
          </a:xfrm>
          <a:prstGeom prst="rect">
            <a:avLst/>
          </a:prstGeom>
          <a:solidFill>
            <a:schemeClr val="bg1">
              <a:lumMod val="95000"/>
            </a:schemeClr>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70" name="Rectangle 69">
            <a:extLst>
              <a:ext uri="{FF2B5EF4-FFF2-40B4-BE49-F238E27FC236}">
                <a16:creationId xmlns:a16="http://schemas.microsoft.com/office/drawing/2014/main" id="{2D2C5E90-4661-03E2-825A-74B71CB208EB}"/>
              </a:ext>
            </a:extLst>
          </p:cNvPr>
          <p:cNvSpPr/>
          <p:nvPr/>
        </p:nvSpPr>
        <p:spPr>
          <a:xfrm>
            <a:off x="1206418" y="1482540"/>
            <a:ext cx="9969634" cy="1831206"/>
          </a:xfrm>
          <a:prstGeom prst="rect">
            <a:avLst/>
          </a:prstGeom>
          <a:solidFill>
            <a:schemeClr val="bg2">
              <a:lumMod val="20000"/>
              <a:lumOff val="80000"/>
            </a:schemeClr>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a:p>
            <a:pPr algn="ctr"/>
            <a:endParaRPr lang="nl-NL"/>
          </a:p>
          <a:p>
            <a:pPr algn="ctr"/>
            <a:endParaRPr lang="nl-NL"/>
          </a:p>
          <a:p>
            <a:pPr algn="ctr"/>
            <a:endParaRPr lang="nl-NL"/>
          </a:p>
          <a:p>
            <a:pPr algn="ctr"/>
            <a:endParaRPr lang="nl-NL"/>
          </a:p>
        </p:txBody>
      </p:sp>
      <p:sp>
        <p:nvSpPr>
          <p:cNvPr id="73" name="Arrow: Right 72">
            <a:extLst>
              <a:ext uri="{FF2B5EF4-FFF2-40B4-BE49-F238E27FC236}">
                <a16:creationId xmlns:a16="http://schemas.microsoft.com/office/drawing/2014/main" id="{7D4AA200-154F-5292-B2F0-E2446DD6BD48}"/>
              </a:ext>
            </a:extLst>
          </p:cNvPr>
          <p:cNvSpPr/>
          <p:nvPr/>
        </p:nvSpPr>
        <p:spPr>
          <a:xfrm>
            <a:off x="1328274" y="3041210"/>
            <a:ext cx="10295299" cy="270945"/>
          </a:xfrm>
          <a:prstGeom prst="rightArrow">
            <a:avLst/>
          </a:prstGeom>
          <a:solidFill>
            <a:schemeClr val="tx2"/>
          </a:solidFill>
          <a:ln>
            <a:solidFill>
              <a:schemeClr val="tx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74" name="TextBox 73">
            <a:extLst>
              <a:ext uri="{FF2B5EF4-FFF2-40B4-BE49-F238E27FC236}">
                <a16:creationId xmlns:a16="http://schemas.microsoft.com/office/drawing/2014/main" id="{11BE25C5-8F9C-A939-9170-D6C3DAA24E6B}"/>
              </a:ext>
            </a:extLst>
          </p:cNvPr>
          <p:cNvSpPr txBox="1"/>
          <p:nvPr/>
        </p:nvSpPr>
        <p:spPr>
          <a:xfrm>
            <a:off x="1328274" y="2733773"/>
            <a:ext cx="709356" cy="369332"/>
          </a:xfrm>
          <a:prstGeom prst="rect">
            <a:avLst/>
          </a:prstGeom>
          <a:noFill/>
        </p:spPr>
        <p:txBody>
          <a:bodyPr wrap="square" rtlCol="0">
            <a:spAutoFit/>
          </a:bodyPr>
          <a:lstStyle/>
          <a:p>
            <a:pPr algn="ctr"/>
            <a:r>
              <a:rPr lang="nl-NL" sz="900"/>
              <a:t>Opname op de SEH</a:t>
            </a:r>
          </a:p>
        </p:txBody>
      </p:sp>
      <p:sp>
        <p:nvSpPr>
          <p:cNvPr id="75" name="TextBox 74">
            <a:extLst>
              <a:ext uri="{FF2B5EF4-FFF2-40B4-BE49-F238E27FC236}">
                <a16:creationId xmlns:a16="http://schemas.microsoft.com/office/drawing/2014/main" id="{46353D50-D2F4-74FB-FC58-9712329C322C}"/>
              </a:ext>
            </a:extLst>
          </p:cNvPr>
          <p:cNvSpPr txBox="1"/>
          <p:nvPr/>
        </p:nvSpPr>
        <p:spPr>
          <a:xfrm>
            <a:off x="1567664" y="3302578"/>
            <a:ext cx="1059906" cy="369332"/>
          </a:xfrm>
          <a:prstGeom prst="rect">
            <a:avLst/>
          </a:prstGeom>
          <a:noFill/>
        </p:spPr>
        <p:txBody>
          <a:bodyPr wrap="none" rtlCol="0">
            <a:spAutoFit/>
          </a:bodyPr>
          <a:lstStyle/>
          <a:p>
            <a:pPr algn="ctr"/>
            <a:r>
              <a:rPr lang="nl-NL" sz="900"/>
              <a:t>Scan op de </a:t>
            </a:r>
            <a:br>
              <a:rPr lang="nl-NL" sz="900"/>
            </a:br>
            <a:r>
              <a:rPr lang="nl-NL" sz="900"/>
              <a:t>radiologie afdeling</a:t>
            </a:r>
          </a:p>
        </p:txBody>
      </p:sp>
      <p:sp>
        <p:nvSpPr>
          <p:cNvPr id="76" name="TextBox 75">
            <a:extLst>
              <a:ext uri="{FF2B5EF4-FFF2-40B4-BE49-F238E27FC236}">
                <a16:creationId xmlns:a16="http://schemas.microsoft.com/office/drawing/2014/main" id="{80ED06E7-4897-74BF-1EA3-15CB8299C3B7}"/>
              </a:ext>
            </a:extLst>
          </p:cNvPr>
          <p:cNvSpPr txBox="1"/>
          <p:nvPr/>
        </p:nvSpPr>
        <p:spPr>
          <a:xfrm>
            <a:off x="3885897" y="2743561"/>
            <a:ext cx="1082348" cy="369332"/>
          </a:xfrm>
          <a:prstGeom prst="rect">
            <a:avLst/>
          </a:prstGeom>
          <a:noFill/>
        </p:spPr>
        <p:txBody>
          <a:bodyPr wrap="none" rtlCol="0">
            <a:spAutoFit/>
          </a:bodyPr>
          <a:lstStyle/>
          <a:p>
            <a:pPr algn="ctr"/>
            <a:r>
              <a:rPr lang="nl-NL" sz="900"/>
              <a:t>Overdracht naar</a:t>
            </a:r>
            <a:br>
              <a:rPr lang="nl-NL" sz="900"/>
            </a:br>
            <a:r>
              <a:rPr lang="nl-NL" sz="900"/>
              <a:t>revalidatiecentrum</a:t>
            </a:r>
          </a:p>
        </p:txBody>
      </p:sp>
      <p:sp>
        <p:nvSpPr>
          <p:cNvPr id="77" name="TextBox 76">
            <a:extLst>
              <a:ext uri="{FF2B5EF4-FFF2-40B4-BE49-F238E27FC236}">
                <a16:creationId xmlns:a16="http://schemas.microsoft.com/office/drawing/2014/main" id="{0054A281-E524-E370-A076-1DF93BE8309B}"/>
              </a:ext>
            </a:extLst>
          </p:cNvPr>
          <p:cNvSpPr txBox="1"/>
          <p:nvPr/>
        </p:nvSpPr>
        <p:spPr>
          <a:xfrm>
            <a:off x="4213576" y="3298848"/>
            <a:ext cx="1647422" cy="369332"/>
          </a:xfrm>
          <a:prstGeom prst="rect">
            <a:avLst/>
          </a:prstGeom>
          <a:noFill/>
        </p:spPr>
        <p:txBody>
          <a:bodyPr wrap="square" rtlCol="0">
            <a:spAutoFit/>
          </a:bodyPr>
          <a:lstStyle/>
          <a:p>
            <a:pPr algn="ctr"/>
            <a:r>
              <a:rPr lang="nl-NL" sz="900"/>
              <a:t>Overplaatsing naar verpleeghuis</a:t>
            </a:r>
            <a:endParaRPr lang="nl-NL" sz="900" strike="sngStrike">
              <a:solidFill>
                <a:srgbClr val="00B0F0"/>
              </a:solidFill>
            </a:endParaRPr>
          </a:p>
        </p:txBody>
      </p:sp>
      <p:sp>
        <p:nvSpPr>
          <p:cNvPr id="78" name="TextBox 77">
            <a:extLst>
              <a:ext uri="{FF2B5EF4-FFF2-40B4-BE49-F238E27FC236}">
                <a16:creationId xmlns:a16="http://schemas.microsoft.com/office/drawing/2014/main" id="{0BC2133F-218C-EFF3-55AB-ADF254BBE07B}"/>
              </a:ext>
            </a:extLst>
          </p:cNvPr>
          <p:cNvSpPr txBox="1"/>
          <p:nvPr/>
        </p:nvSpPr>
        <p:spPr>
          <a:xfrm>
            <a:off x="5879897" y="3312756"/>
            <a:ext cx="1350549" cy="369332"/>
          </a:xfrm>
          <a:prstGeom prst="rect">
            <a:avLst/>
          </a:prstGeom>
          <a:noFill/>
        </p:spPr>
        <p:txBody>
          <a:bodyPr wrap="square" rtlCol="0">
            <a:spAutoFit/>
          </a:bodyPr>
          <a:lstStyle/>
          <a:p>
            <a:pPr algn="ctr"/>
            <a:r>
              <a:rPr lang="nl-NL" sz="900"/>
              <a:t>Start gebruik thuismonitoring</a:t>
            </a:r>
          </a:p>
        </p:txBody>
      </p:sp>
      <p:sp>
        <p:nvSpPr>
          <p:cNvPr id="79" name="TextBox 78">
            <a:extLst>
              <a:ext uri="{FF2B5EF4-FFF2-40B4-BE49-F238E27FC236}">
                <a16:creationId xmlns:a16="http://schemas.microsoft.com/office/drawing/2014/main" id="{A639A133-9535-918B-DE47-5624BBE5C2B7}"/>
              </a:ext>
            </a:extLst>
          </p:cNvPr>
          <p:cNvSpPr txBox="1"/>
          <p:nvPr/>
        </p:nvSpPr>
        <p:spPr>
          <a:xfrm>
            <a:off x="6210274" y="2558088"/>
            <a:ext cx="2209599" cy="507831"/>
          </a:xfrm>
          <a:prstGeom prst="rect">
            <a:avLst/>
          </a:prstGeom>
          <a:noFill/>
        </p:spPr>
        <p:txBody>
          <a:bodyPr wrap="square" rtlCol="0">
            <a:spAutoFit/>
          </a:bodyPr>
          <a:lstStyle/>
          <a:p>
            <a:pPr algn="ctr"/>
            <a:r>
              <a:rPr lang="nl-NL" sz="900"/>
              <a:t>Wijkverpleegkundige controleert afwijkende waarden bij </a:t>
            </a:r>
            <a:br>
              <a:rPr lang="nl-NL" sz="900"/>
            </a:br>
            <a:r>
              <a:rPr lang="nl-NL" sz="900"/>
              <a:t>meneer Jansen thuis</a:t>
            </a:r>
            <a:r>
              <a:rPr kumimoji="0" lang="nl-NL" sz="900" b="0" i="0" u="none" strike="noStrike" kern="1200" cap="none" spc="0" normalizeH="0" baseline="30000" noProof="0">
                <a:ln>
                  <a:noFill/>
                </a:ln>
                <a:solidFill>
                  <a:prstClr val="black"/>
                </a:solidFill>
                <a:effectLst/>
                <a:uLnTx/>
                <a:uFillTx/>
                <a:ea typeface="+mn-ea"/>
                <a:cs typeface="HelveticaNowDisplay Bold" panose="020B0804030202020204" pitchFamily="34" charset="0"/>
              </a:rPr>
              <a:t>1 </a:t>
            </a:r>
            <a:endParaRPr lang="nl-NL" sz="900"/>
          </a:p>
        </p:txBody>
      </p:sp>
      <p:sp>
        <p:nvSpPr>
          <p:cNvPr id="80" name="TextBox 79">
            <a:extLst>
              <a:ext uri="{FF2B5EF4-FFF2-40B4-BE49-F238E27FC236}">
                <a16:creationId xmlns:a16="http://schemas.microsoft.com/office/drawing/2014/main" id="{8539F64B-220F-E17C-8F21-E81DF5D80BF7}"/>
              </a:ext>
            </a:extLst>
          </p:cNvPr>
          <p:cNvSpPr txBox="1"/>
          <p:nvPr/>
        </p:nvSpPr>
        <p:spPr>
          <a:xfrm>
            <a:off x="7341358" y="3331621"/>
            <a:ext cx="1666732" cy="369332"/>
          </a:xfrm>
          <a:prstGeom prst="rect">
            <a:avLst/>
          </a:prstGeom>
          <a:noFill/>
        </p:spPr>
        <p:txBody>
          <a:bodyPr wrap="square" rtlCol="0">
            <a:spAutoFit/>
          </a:bodyPr>
          <a:lstStyle/>
          <a:p>
            <a:pPr algn="ctr"/>
            <a:r>
              <a:rPr lang="nl-NL" sz="900"/>
              <a:t>Indien nodig (digitale) supervisie door cardioloog </a:t>
            </a:r>
          </a:p>
        </p:txBody>
      </p:sp>
      <p:sp>
        <p:nvSpPr>
          <p:cNvPr id="81" name="TextBox 80">
            <a:extLst>
              <a:ext uri="{FF2B5EF4-FFF2-40B4-BE49-F238E27FC236}">
                <a16:creationId xmlns:a16="http://schemas.microsoft.com/office/drawing/2014/main" id="{40EEE563-3F7C-C85D-A596-2B648E733508}"/>
              </a:ext>
            </a:extLst>
          </p:cNvPr>
          <p:cNvSpPr txBox="1"/>
          <p:nvPr/>
        </p:nvSpPr>
        <p:spPr>
          <a:xfrm>
            <a:off x="2420612" y="3277903"/>
            <a:ext cx="1792964" cy="369332"/>
          </a:xfrm>
          <a:prstGeom prst="rect">
            <a:avLst/>
          </a:prstGeom>
          <a:noFill/>
        </p:spPr>
        <p:txBody>
          <a:bodyPr wrap="square" rtlCol="0">
            <a:spAutoFit/>
          </a:bodyPr>
          <a:lstStyle/>
          <a:p>
            <a:pPr algn="ctr"/>
            <a:r>
              <a:rPr lang="nl-NL" sz="900"/>
              <a:t>Opname op de</a:t>
            </a:r>
            <a:br>
              <a:rPr lang="nl-NL" sz="900"/>
            </a:br>
            <a:r>
              <a:rPr lang="nl-NL" sz="900"/>
              <a:t>verpleegafdeling</a:t>
            </a:r>
          </a:p>
        </p:txBody>
      </p:sp>
      <p:grpSp>
        <p:nvGrpSpPr>
          <p:cNvPr id="82" name="Group 81">
            <a:extLst>
              <a:ext uri="{FF2B5EF4-FFF2-40B4-BE49-F238E27FC236}">
                <a16:creationId xmlns:a16="http://schemas.microsoft.com/office/drawing/2014/main" id="{4250D7C8-D77D-CEDB-69B0-C724341D4FE5}"/>
              </a:ext>
            </a:extLst>
          </p:cNvPr>
          <p:cNvGrpSpPr/>
          <p:nvPr/>
        </p:nvGrpSpPr>
        <p:grpSpPr>
          <a:xfrm>
            <a:off x="7009051" y="3033339"/>
            <a:ext cx="540001" cy="431998"/>
            <a:chOff x="5762830" y="3135313"/>
            <a:chExt cx="623985" cy="607781"/>
          </a:xfrm>
          <a:solidFill>
            <a:schemeClr val="bg2"/>
          </a:solidFill>
        </p:grpSpPr>
        <p:sp>
          <p:nvSpPr>
            <p:cNvPr id="83" name="Freeform: Shape 82">
              <a:extLst>
                <a:ext uri="{FF2B5EF4-FFF2-40B4-BE49-F238E27FC236}">
                  <a16:creationId xmlns:a16="http://schemas.microsoft.com/office/drawing/2014/main" id="{C9E0AB9B-AFEF-3E6A-8D15-BBCD1A036848}"/>
                </a:ext>
              </a:extLst>
            </p:cNvPr>
            <p:cNvSpPr/>
            <p:nvPr/>
          </p:nvSpPr>
          <p:spPr>
            <a:xfrm>
              <a:off x="5762830" y="3308250"/>
              <a:ext cx="313165" cy="394879"/>
            </a:xfrm>
            <a:custGeom>
              <a:avLst/>
              <a:gdLst>
                <a:gd name="connsiteX0" fmla="*/ 112761 w 313165"/>
                <a:gd name="connsiteY0" fmla="*/ 98585 h 394879"/>
                <a:gd name="connsiteX1" fmla="*/ 138783 w 313165"/>
                <a:gd name="connsiteY1" fmla="*/ 105562 h 394879"/>
                <a:gd name="connsiteX2" fmla="*/ 141441 w 313165"/>
                <a:gd name="connsiteY2" fmla="*/ 103710 h 394879"/>
                <a:gd name="connsiteX3" fmla="*/ 145251 w 313165"/>
                <a:gd name="connsiteY3" fmla="*/ 78621 h 394879"/>
                <a:gd name="connsiteX4" fmla="*/ 105341 w 313165"/>
                <a:gd name="connsiteY4" fmla="*/ 9536 h 394879"/>
                <a:gd name="connsiteX5" fmla="*/ 79322 w 313165"/>
                <a:gd name="connsiteY5" fmla="*/ 2551 h 394879"/>
                <a:gd name="connsiteX6" fmla="*/ 79300 w 313165"/>
                <a:gd name="connsiteY6" fmla="*/ 2564 h 394879"/>
                <a:gd name="connsiteX7" fmla="*/ 10272 w 313165"/>
                <a:gd name="connsiteY7" fmla="*/ 42445 h 394879"/>
                <a:gd name="connsiteX8" fmla="*/ 1462 w 313165"/>
                <a:gd name="connsiteY8" fmla="*/ 67276 h 394879"/>
                <a:gd name="connsiteX9" fmla="*/ 26637 w 313165"/>
                <a:gd name="connsiteY9" fmla="*/ 76868 h 394879"/>
                <a:gd name="connsiteX10" fmla="*/ 28370 w 313165"/>
                <a:gd name="connsiteY10" fmla="*/ 75982 h 394879"/>
                <a:gd name="connsiteX11" fmla="*/ 56993 w 313165"/>
                <a:gd name="connsiteY11" fmla="*/ 59380 h 394879"/>
                <a:gd name="connsiteX12" fmla="*/ 57363 w 313165"/>
                <a:gd name="connsiteY12" fmla="*/ 59449 h 394879"/>
                <a:gd name="connsiteX13" fmla="*/ 57402 w 313165"/>
                <a:gd name="connsiteY13" fmla="*/ 59666 h 394879"/>
                <a:gd name="connsiteX14" fmla="*/ 284802 w 313165"/>
                <a:gd name="connsiteY14" fmla="*/ 393530 h 394879"/>
                <a:gd name="connsiteX15" fmla="*/ 290927 w 313165"/>
                <a:gd name="connsiteY15" fmla="*/ 394622 h 394879"/>
                <a:gd name="connsiteX16" fmla="*/ 294070 w 313165"/>
                <a:gd name="connsiteY16" fmla="*/ 394879 h 394879"/>
                <a:gd name="connsiteX17" fmla="*/ 313166 w 313165"/>
                <a:gd name="connsiteY17" fmla="*/ 375875 h 394879"/>
                <a:gd name="connsiteX18" fmla="*/ 313120 w 313165"/>
                <a:gd name="connsiteY18" fmla="*/ 374505 h 394879"/>
                <a:gd name="connsiteX19" fmla="*/ 296242 w 313165"/>
                <a:gd name="connsiteY19" fmla="*/ 356875 h 394879"/>
                <a:gd name="connsiteX20" fmla="*/ 94104 w 313165"/>
                <a:gd name="connsiteY20" fmla="*/ 70783 h 394879"/>
                <a:gd name="connsiteX21" fmla="*/ 94426 w 313165"/>
                <a:gd name="connsiteY21" fmla="*/ 68953 h 394879"/>
                <a:gd name="connsiteX22" fmla="*/ 94767 w 313165"/>
                <a:gd name="connsiteY22" fmla="*/ 68711 h 394879"/>
                <a:gd name="connsiteX23" fmla="*/ 94969 w 313165"/>
                <a:gd name="connsiteY23" fmla="*/ 68848 h 394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3165" h="394879">
                  <a:moveTo>
                    <a:pt x="112761" y="98585"/>
                  </a:moveTo>
                  <a:cubicBezTo>
                    <a:pt x="118020" y="107698"/>
                    <a:pt x="129671" y="110821"/>
                    <a:pt x="138783" y="105562"/>
                  </a:cubicBezTo>
                  <a:cubicBezTo>
                    <a:pt x="139720" y="105021"/>
                    <a:pt x="140610" y="104401"/>
                    <a:pt x="141441" y="103710"/>
                  </a:cubicBezTo>
                  <a:cubicBezTo>
                    <a:pt x="148621" y="97374"/>
                    <a:pt x="150227" y="86803"/>
                    <a:pt x="145251" y="78621"/>
                  </a:cubicBezTo>
                  <a:lnTo>
                    <a:pt x="105341" y="9536"/>
                  </a:lnTo>
                  <a:cubicBezTo>
                    <a:pt x="100086" y="422"/>
                    <a:pt x="88436" y="-2706"/>
                    <a:pt x="79322" y="2551"/>
                  </a:cubicBezTo>
                  <a:cubicBezTo>
                    <a:pt x="79314" y="2555"/>
                    <a:pt x="79308" y="2560"/>
                    <a:pt x="79300" y="2564"/>
                  </a:cubicBezTo>
                  <a:lnTo>
                    <a:pt x="10272" y="42445"/>
                  </a:lnTo>
                  <a:cubicBezTo>
                    <a:pt x="1463" y="47290"/>
                    <a:pt x="-2323" y="57963"/>
                    <a:pt x="1462" y="67276"/>
                  </a:cubicBezTo>
                  <a:cubicBezTo>
                    <a:pt x="5765" y="76877"/>
                    <a:pt x="17037" y="81172"/>
                    <a:pt x="26637" y="76868"/>
                  </a:cubicBezTo>
                  <a:cubicBezTo>
                    <a:pt x="27230" y="76602"/>
                    <a:pt x="27808" y="76307"/>
                    <a:pt x="28370" y="75982"/>
                  </a:cubicBezTo>
                  <a:lnTo>
                    <a:pt x="56993" y="59380"/>
                  </a:lnTo>
                  <a:cubicBezTo>
                    <a:pt x="57114" y="59296"/>
                    <a:pt x="57280" y="59328"/>
                    <a:pt x="57363" y="59449"/>
                  </a:cubicBezTo>
                  <a:cubicBezTo>
                    <a:pt x="57407" y="59513"/>
                    <a:pt x="57421" y="59592"/>
                    <a:pt x="57402" y="59666"/>
                  </a:cubicBezTo>
                  <a:cubicBezTo>
                    <a:pt x="28003" y="214655"/>
                    <a:pt x="129813" y="364131"/>
                    <a:pt x="284802" y="393530"/>
                  </a:cubicBezTo>
                  <a:cubicBezTo>
                    <a:pt x="286839" y="393915"/>
                    <a:pt x="288882" y="394280"/>
                    <a:pt x="290927" y="394622"/>
                  </a:cubicBezTo>
                  <a:cubicBezTo>
                    <a:pt x="291966" y="394792"/>
                    <a:pt x="293017" y="394877"/>
                    <a:pt x="294070" y="394879"/>
                  </a:cubicBezTo>
                  <a:cubicBezTo>
                    <a:pt x="304591" y="394905"/>
                    <a:pt x="313141" y="386396"/>
                    <a:pt x="313166" y="375875"/>
                  </a:cubicBezTo>
                  <a:cubicBezTo>
                    <a:pt x="313166" y="375419"/>
                    <a:pt x="313151" y="374962"/>
                    <a:pt x="313120" y="374505"/>
                  </a:cubicBezTo>
                  <a:cubicBezTo>
                    <a:pt x="312255" y="365429"/>
                    <a:pt x="305271" y="358135"/>
                    <a:pt x="296242" y="356875"/>
                  </a:cubicBezTo>
                  <a:cubicBezTo>
                    <a:pt x="161421" y="333691"/>
                    <a:pt x="70921" y="205603"/>
                    <a:pt x="94104" y="70783"/>
                  </a:cubicBezTo>
                  <a:cubicBezTo>
                    <a:pt x="94209" y="70172"/>
                    <a:pt x="94316" y="69562"/>
                    <a:pt x="94426" y="68953"/>
                  </a:cubicBezTo>
                  <a:cubicBezTo>
                    <a:pt x="94453" y="68792"/>
                    <a:pt x="94606" y="68684"/>
                    <a:pt x="94767" y="68711"/>
                  </a:cubicBezTo>
                  <a:cubicBezTo>
                    <a:pt x="94851" y="68725"/>
                    <a:pt x="94924" y="68776"/>
                    <a:pt x="94969" y="68848"/>
                  </a:cubicBezTo>
                  <a:close/>
                </a:path>
              </a:pathLst>
            </a:custGeom>
            <a:grpFill/>
            <a:ln w="9525" cap="flat">
              <a:noFill/>
              <a:prstDash val="solid"/>
              <a:miter/>
            </a:ln>
          </p:spPr>
          <p:txBody>
            <a:bodyPr rtlCol="0" anchor="ctr"/>
            <a:lstStyle/>
            <a:p>
              <a:endParaRPr lang="nl-NL"/>
            </a:p>
          </p:txBody>
        </p:sp>
        <p:sp>
          <p:nvSpPr>
            <p:cNvPr id="84" name="Freeform: Shape 83">
              <a:extLst>
                <a:ext uri="{FF2B5EF4-FFF2-40B4-BE49-F238E27FC236}">
                  <a16:creationId xmlns:a16="http://schemas.microsoft.com/office/drawing/2014/main" id="{BFAB7869-C425-6306-2109-47FDA4000C3B}"/>
                </a:ext>
              </a:extLst>
            </p:cNvPr>
            <p:cNvSpPr/>
            <p:nvPr/>
          </p:nvSpPr>
          <p:spPr>
            <a:xfrm>
              <a:off x="6126220" y="3309123"/>
              <a:ext cx="260595" cy="433971"/>
            </a:xfrm>
            <a:custGeom>
              <a:avLst/>
              <a:gdLst>
                <a:gd name="connsiteX0" fmla="*/ 75669 w 260595"/>
                <a:gd name="connsiteY0" fmla="*/ 314329 h 433971"/>
                <a:gd name="connsiteX1" fmla="*/ 68547 w 260595"/>
                <a:gd name="connsiteY1" fmla="*/ 288347 h 433971"/>
                <a:gd name="connsiteX2" fmla="*/ 66782 w 260595"/>
                <a:gd name="connsiteY2" fmla="*/ 287459 h 433971"/>
                <a:gd name="connsiteX3" fmla="*/ 42017 w 260595"/>
                <a:gd name="connsiteY3" fmla="*/ 296403 h 433971"/>
                <a:gd name="connsiteX4" fmla="*/ 2508 w 260595"/>
                <a:gd name="connsiteY4" fmla="*/ 365621 h 433971"/>
                <a:gd name="connsiteX5" fmla="*/ 9612 w 260595"/>
                <a:gd name="connsiteY5" fmla="*/ 391608 h 433971"/>
                <a:gd name="connsiteX6" fmla="*/ 9623 w 260595"/>
                <a:gd name="connsiteY6" fmla="*/ 391615 h 433971"/>
                <a:gd name="connsiteX7" fmla="*/ 78946 w 260595"/>
                <a:gd name="connsiteY7" fmla="*/ 431153 h 433971"/>
                <a:gd name="connsiteX8" fmla="*/ 104025 w 260595"/>
                <a:gd name="connsiteY8" fmla="*/ 427191 h 433971"/>
                <a:gd name="connsiteX9" fmla="*/ 101394 w 260595"/>
                <a:gd name="connsiteY9" fmla="*/ 400379 h 433971"/>
                <a:gd name="connsiteX10" fmla="*/ 98720 w 260595"/>
                <a:gd name="connsiteY10" fmla="*/ 398540 h 433971"/>
                <a:gd name="connsiteX11" fmla="*/ 69592 w 260595"/>
                <a:gd name="connsiteY11" fmla="*/ 382004 h 433971"/>
                <a:gd name="connsiteX12" fmla="*/ 69483 w 260595"/>
                <a:gd name="connsiteY12" fmla="*/ 381629 h 433971"/>
                <a:gd name="connsiteX13" fmla="*/ 69640 w 260595"/>
                <a:gd name="connsiteY13" fmla="*/ 381499 h 433971"/>
                <a:gd name="connsiteX14" fmla="*/ 244262 w 260595"/>
                <a:gd name="connsiteY14" fmla="*/ 16810 h 433971"/>
                <a:gd name="connsiteX15" fmla="*/ 242919 w 260595"/>
                <a:gd name="connsiteY15" fmla="*/ 13082 h 433971"/>
                <a:gd name="connsiteX16" fmla="*/ 219906 w 260595"/>
                <a:gd name="connsiteY16" fmla="*/ 518 h 433971"/>
                <a:gd name="connsiteX17" fmla="*/ 206394 w 260595"/>
                <a:gd name="connsiteY17" fmla="*/ 23825 h 433971"/>
                <a:gd name="connsiteX18" fmla="*/ 206952 w 260595"/>
                <a:gd name="connsiteY18" fmla="*/ 25579 h 433971"/>
                <a:gd name="connsiteX19" fmla="*/ 60923 w 260595"/>
                <a:gd name="connsiteY19" fmla="*/ 344209 h 433971"/>
                <a:gd name="connsiteX20" fmla="*/ 59315 w 260595"/>
                <a:gd name="connsiteY20" fmla="*/ 344799 h 433971"/>
                <a:gd name="connsiteX21" fmla="*/ 58935 w 260595"/>
                <a:gd name="connsiteY21" fmla="*/ 344626 h 433971"/>
                <a:gd name="connsiteX22" fmla="*/ 58953 w 260595"/>
                <a:gd name="connsiteY22" fmla="*/ 344380 h 43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0595" h="433971">
                  <a:moveTo>
                    <a:pt x="75669" y="314329"/>
                  </a:moveTo>
                  <a:cubicBezTo>
                    <a:pt x="80878" y="305188"/>
                    <a:pt x="77689" y="293555"/>
                    <a:pt x="68547" y="288347"/>
                  </a:cubicBezTo>
                  <a:cubicBezTo>
                    <a:pt x="67975" y="288020"/>
                    <a:pt x="67385" y="287724"/>
                    <a:pt x="66782" y="287459"/>
                  </a:cubicBezTo>
                  <a:cubicBezTo>
                    <a:pt x="57454" y="283725"/>
                    <a:pt x="46808" y="287570"/>
                    <a:pt x="42017" y="296403"/>
                  </a:cubicBezTo>
                  <a:lnTo>
                    <a:pt x="2508" y="365621"/>
                  </a:lnTo>
                  <a:cubicBezTo>
                    <a:pt x="-2707" y="374759"/>
                    <a:pt x="474" y="386394"/>
                    <a:pt x="9612" y="391608"/>
                  </a:cubicBezTo>
                  <a:cubicBezTo>
                    <a:pt x="9615" y="391611"/>
                    <a:pt x="9619" y="391613"/>
                    <a:pt x="9623" y="391615"/>
                  </a:cubicBezTo>
                  <a:lnTo>
                    <a:pt x="78946" y="431153"/>
                  </a:lnTo>
                  <a:cubicBezTo>
                    <a:pt x="87161" y="436082"/>
                    <a:pt x="97729" y="434413"/>
                    <a:pt x="104025" y="427191"/>
                  </a:cubicBezTo>
                  <a:cubicBezTo>
                    <a:pt x="110703" y="419060"/>
                    <a:pt x="109525" y="407056"/>
                    <a:pt x="101394" y="400379"/>
                  </a:cubicBezTo>
                  <a:cubicBezTo>
                    <a:pt x="100557" y="399691"/>
                    <a:pt x="99662" y="399076"/>
                    <a:pt x="98720" y="398540"/>
                  </a:cubicBezTo>
                  <a:lnTo>
                    <a:pt x="69592" y="382004"/>
                  </a:lnTo>
                  <a:cubicBezTo>
                    <a:pt x="69459" y="381931"/>
                    <a:pt x="69409" y="381763"/>
                    <a:pt x="69483" y="381629"/>
                  </a:cubicBezTo>
                  <a:cubicBezTo>
                    <a:pt x="69517" y="381568"/>
                    <a:pt x="69573" y="381521"/>
                    <a:pt x="69640" y="381499"/>
                  </a:cubicBezTo>
                  <a:cubicBezTo>
                    <a:pt x="218567" y="329014"/>
                    <a:pt x="296747" y="165736"/>
                    <a:pt x="244262" y="16810"/>
                  </a:cubicBezTo>
                  <a:cubicBezTo>
                    <a:pt x="243823" y="15564"/>
                    <a:pt x="243375" y="14321"/>
                    <a:pt x="242919" y="13082"/>
                  </a:cubicBezTo>
                  <a:cubicBezTo>
                    <a:pt x="239561" y="3650"/>
                    <a:pt x="229656" y="-1758"/>
                    <a:pt x="219906" y="518"/>
                  </a:cubicBezTo>
                  <a:cubicBezTo>
                    <a:pt x="209739" y="3223"/>
                    <a:pt x="203689" y="13658"/>
                    <a:pt x="206394" y="23825"/>
                  </a:cubicBezTo>
                  <a:cubicBezTo>
                    <a:pt x="206551" y="24418"/>
                    <a:pt x="206738" y="25003"/>
                    <a:pt x="206952" y="25579"/>
                  </a:cubicBezTo>
                  <a:cubicBezTo>
                    <a:pt x="254615" y="153891"/>
                    <a:pt x="189235" y="296547"/>
                    <a:pt x="60923" y="344209"/>
                  </a:cubicBezTo>
                  <a:cubicBezTo>
                    <a:pt x="60387" y="344407"/>
                    <a:pt x="59851" y="344604"/>
                    <a:pt x="59315" y="344799"/>
                  </a:cubicBezTo>
                  <a:cubicBezTo>
                    <a:pt x="59162" y="344857"/>
                    <a:pt x="58992" y="344779"/>
                    <a:pt x="58935" y="344626"/>
                  </a:cubicBezTo>
                  <a:cubicBezTo>
                    <a:pt x="58904" y="344545"/>
                    <a:pt x="58911" y="344456"/>
                    <a:pt x="58953" y="344380"/>
                  </a:cubicBezTo>
                  <a:close/>
                </a:path>
              </a:pathLst>
            </a:custGeom>
            <a:grpFill/>
            <a:ln w="9525" cap="flat">
              <a:noFill/>
              <a:prstDash val="solid"/>
              <a:miter/>
            </a:ln>
          </p:spPr>
          <p:txBody>
            <a:bodyPr rtlCol="0" anchor="ctr"/>
            <a:lstStyle/>
            <a:p>
              <a:endParaRPr lang="nl-NL"/>
            </a:p>
          </p:txBody>
        </p:sp>
        <p:sp>
          <p:nvSpPr>
            <p:cNvPr id="85" name="Freeform: Shape 84">
              <a:extLst>
                <a:ext uri="{FF2B5EF4-FFF2-40B4-BE49-F238E27FC236}">
                  <a16:creationId xmlns:a16="http://schemas.microsoft.com/office/drawing/2014/main" id="{4BD41627-6D40-F584-4CD8-673DC06EAFB1}"/>
                </a:ext>
              </a:extLst>
            </p:cNvPr>
            <p:cNvSpPr/>
            <p:nvPr/>
          </p:nvSpPr>
          <p:spPr>
            <a:xfrm>
              <a:off x="5877844" y="3135313"/>
              <a:ext cx="446760" cy="133382"/>
            </a:xfrm>
            <a:custGeom>
              <a:avLst/>
              <a:gdLst>
                <a:gd name="connsiteX0" fmla="*/ 408493 w 446760"/>
                <a:gd name="connsiteY0" fmla="*/ 67716 h 133382"/>
                <a:gd name="connsiteX1" fmla="*/ 408196 w 446760"/>
                <a:gd name="connsiteY1" fmla="*/ 67990 h 133382"/>
                <a:gd name="connsiteX2" fmla="*/ 408026 w 446760"/>
                <a:gd name="connsiteY2" fmla="*/ 67925 h 133382"/>
                <a:gd name="connsiteX3" fmla="*/ 5412 w 446760"/>
                <a:gd name="connsiteY3" fmla="*/ 100744 h 133382"/>
                <a:gd name="connsiteX4" fmla="*/ 4795 w 446760"/>
                <a:gd name="connsiteY4" fmla="*/ 101472 h 133382"/>
                <a:gd name="connsiteX5" fmla="*/ 4414 w 446760"/>
                <a:gd name="connsiteY5" fmla="*/ 126723 h 133382"/>
                <a:gd name="connsiteX6" fmla="*/ 31275 w 446760"/>
                <a:gd name="connsiteY6" fmla="*/ 128802 h 133382"/>
                <a:gd name="connsiteX7" fmla="*/ 33475 w 446760"/>
                <a:gd name="connsiteY7" fmla="*/ 126580 h 133382"/>
                <a:gd name="connsiteX8" fmla="*/ 380185 w 446760"/>
                <a:gd name="connsiteY8" fmla="*/ 94414 h 133382"/>
                <a:gd name="connsiteX9" fmla="*/ 380216 w 446760"/>
                <a:gd name="connsiteY9" fmla="*/ 94898 h 133382"/>
                <a:gd name="connsiteX10" fmla="*/ 379975 w 446760"/>
                <a:gd name="connsiteY10" fmla="*/ 95014 h 133382"/>
                <a:gd name="connsiteX11" fmla="*/ 346895 w 446760"/>
                <a:gd name="connsiteY11" fmla="*/ 95014 h 133382"/>
                <a:gd name="connsiteX12" fmla="*/ 327837 w 446760"/>
                <a:gd name="connsiteY12" fmla="*/ 114057 h 133382"/>
                <a:gd name="connsiteX13" fmla="*/ 328112 w 446760"/>
                <a:gd name="connsiteY13" fmla="*/ 117284 h 133382"/>
                <a:gd name="connsiteX14" fmla="*/ 347933 w 446760"/>
                <a:gd name="connsiteY14" fmla="*/ 133133 h 133382"/>
                <a:gd name="connsiteX15" fmla="*/ 425238 w 446760"/>
                <a:gd name="connsiteY15" fmla="*/ 133133 h 133382"/>
                <a:gd name="connsiteX16" fmla="*/ 427400 w 446760"/>
                <a:gd name="connsiteY16" fmla="*/ 133371 h 133382"/>
                <a:gd name="connsiteX17" fmla="*/ 437754 w 446760"/>
                <a:gd name="connsiteY17" fmla="*/ 130228 h 133382"/>
                <a:gd name="connsiteX18" fmla="*/ 439021 w 446760"/>
                <a:gd name="connsiteY18" fmla="*/ 129342 h 133382"/>
                <a:gd name="connsiteX19" fmla="*/ 439649 w 446760"/>
                <a:gd name="connsiteY19" fmla="*/ 128904 h 133382"/>
                <a:gd name="connsiteX20" fmla="*/ 440021 w 446760"/>
                <a:gd name="connsiteY20" fmla="*/ 128523 h 133382"/>
                <a:gd name="connsiteX21" fmla="*/ 441202 w 446760"/>
                <a:gd name="connsiteY21" fmla="*/ 127571 h 133382"/>
                <a:gd name="connsiteX22" fmla="*/ 446755 w 446760"/>
                <a:gd name="connsiteY22" fmla="*/ 114074 h 133382"/>
                <a:gd name="connsiteX23" fmla="*/ 446755 w 446760"/>
                <a:gd name="connsiteY23" fmla="*/ 34273 h 133382"/>
                <a:gd name="connsiteX24" fmla="*/ 430896 w 446760"/>
                <a:gd name="connsiteY24" fmla="*/ 14452 h 133382"/>
                <a:gd name="connsiteX25" fmla="*/ 408925 w 446760"/>
                <a:gd name="connsiteY25" fmla="*/ 30041 h 133382"/>
                <a:gd name="connsiteX26" fmla="*/ 408655 w 446760"/>
                <a:gd name="connsiteY26" fmla="*/ 33254 h 13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6760" h="133382">
                  <a:moveTo>
                    <a:pt x="408493" y="67716"/>
                  </a:moveTo>
                  <a:cubicBezTo>
                    <a:pt x="408487" y="67874"/>
                    <a:pt x="408354" y="67996"/>
                    <a:pt x="408196" y="67990"/>
                  </a:cubicBezTo>
                  <a:cubicBezTo>
                    <a:pt x="408134" y="67987"/>
                    <a:pt x="408074" y="67964"/>
                    <a:pt x="408026" y="67925"/>
                  </a:cubicBezTo>
                  <a:cubicBezTo>
                    <a:pt x="287785" y="-34191"/>
                    <a:pt x="107528" y="-19498"/>
                    <a:pt x="5412" y="100744"/>
                  </a:cubicBezTo>
                  <a:cubicBezTo>
                    <a:pt x="5206" y="100986"/>
                    <a:pt x="5000" y="101229"/>
                    <a:pt x="4795" y="101472"/>
                  </a:cubicBezTo>
                  <a:cubicBezTo>
                    <a:pt x="-1451" y="108678"/>
                    <a:pt x="-1612" y="119332"/>
                    <a:pt x="4414" y="126723"/>
                  </a:cubicBezTo>
                  <a:cubicBezTo>
                    <a:pt x="11257" y="134714"/>
                    <a:pt x="23283" y="135645"/>
                    <a:pt x="31275" y="128802"/>
                  </a:cubicBezTo>
                  <a:cubicBezTo>
                    <a:pt x="32068" y="128123"/>
                    <a:pt x="32803" y="127380"/>
                    <a:pt x="33475" y="126580"/>
                  </a:cubicBezTo>
                  <a:cubicBezTo>
                    <a:pt x="120659" y="22575"/>
                    <a:pt x="275356" y="8223"/>
                    <a:pt x="380185" y="94414"/>
                  </a:cubicBezTo>
                  <a:cubicBezTo>
                    <a:pt x="380327" y="94539"/>
                    <a:pt x="380341" y="94756"/>
                    <a:pt x="380216" y="94898"/>
                  </a:cubicBezTo>
                  <a:cubicBezTo>
                    <a:pt x="380154" y="94968"/>
                    <a:pt x="380068" y="95010"/>
                    <a:pt x="379975" y="95014"/>
                  </a:cubicBezTo>
                  <a:lnTo>
                    <a:pt x="346895" y="95014"/>
                  </a:lnTo>
                  <a:cubicBezTo>
                    <a:pt x="336374" y="95010"/>
                    <a:pt x="327842" y="103536"/>
                    <a:pt x="327837" y="114057"/>
                  </a:cubicBezTo>
                  <a:cubicBezTo>
                    <a:pt x="327837" y="115139"/>
                    <a:pt x="327929" y="116218"/>
                    <a:pt x="328112" y="117284"/>
                  </a:cubicBezTo>
                  <a:cubicBezTo>
                    <a:pt x="330010" y="126670"/>
                    <a:pt x="338360" y="133347"/>
                    <a:pt x="347933" y="133133"/>
                  </a:cubicBezTo>
                  <a:lnTo>
                    <a:pt x="425238" y="133133"/>
                  </a:lnTo>
                  <a:cubicBezTo>
                    <a:pt x="425953" y="133255"/>
                    <a:pt x="426675" y="133334"/>
                    <a:pt x="427400" y="133371"/>
                  </a:cubicBezTo>
                  <a:cubicBezTo>
                    <a:pt x="431084" y="133352"/>
                    <a:pt x="434681" y="132260"/>
                    <a:pt x="437754" y="130228"/>
                  </a:cubicBezTo>
                  <a:cubicBezTo>
                    <a:pt x="438192" y="129952"/>
                    <a:pt x="438602" y="129647"/>
                    <a:pt x="439021" y="129342"/>
                  </a:cubicBezTo>
                  <a:cubicBezTo>
                    <a:pt x="439230" y="129180"/>
                    <a:pt x="439449" y="129066"/>
                    <a:pt x="439649" y="128904"/>
                  </a:cubicBezTo>
                  <a:cubicBezTo>
                    <a:pt x="439850" y="128742"/>
                    <a:pt x="439888" y="128638"/>
                    <a:pt x="440021" y="128523"/>
                  </a:cubicBezTo>
                  <a:cubicBezTo>
                    <a:pt x="440411" y="128190"/>
                    <a:pt x="440840" y="127923"/>
                    <a:pt x="441202" y="127571"/>
                  </a:cubicBezTo>
                  <a:cubicBezTo>
                    <a:pt x="444767" y="123985"/>
                    <a:pt x="446764" y="119131"/>
                    <a:pt x="446755" y="114074"/>
                  </a:cubicBezTo>
                  <a:lnTo>
                    <a:pt x="446755" y="34273"/>
                  </a:lnTo>
                  <a:cubicBezTo>
                    <a:pt x="446968" y="24697"/>
                    <a:pt x="440286" y="16345"/>
                    <a:pt x="430896" y="14452"/>
                  </a:cubicBezTo>
                  <a:cubicBezTo>
                    <a:pt x="420523" y="12690"/>
                    <a:pt x="410687" y="19670"/>
                    <a:pt x="408925" y="30041"/>
                  </a:cubicBezTo>
                  <a:cubicBezTo>
                    <a:pt x="408744" y="31103"/>
                    <a:pt x="408654" y="32178"/>
                    <a:pt x="408655" y="33254"/>
                  </a:cubicBezTo>
                  <a:close/>
                </a:path>
              </a:pathLst>
            </a:custGeom>
            <a:grpFill/>
            <a:ln w="9525" cap="flat">
              <a:noFill/>
              <a:prstDash val="solid"/>
              <a:miter/>
            </a:ln>
          </p:spPr>
          <p:txBody>
            <a:bodyPr rtlCol="0" anchor="ctr"/>
            <a:lstStyle/>
            <a:p>
              <a:endParaRPr lang="nl-NL"/>
            </a:p>
          </p:txBody>
        </p:sp>
      </p:grpSp>
      <p:sp>
        <p:nvSpPr>
          <p:cNvPr id="86" name="TextBox 85">
            <a:extLst>
              <a:ext uri="{FF2B5EF4-FFF2-40B4-BE49-F238E27FC236}">
                <a16:creationId xmlns:a16="http://schemas.microsoft.com/office/drawing/2014/main" id="{852CC636-AEE4-89C3-8D9A-73AA51651038}"/>
              </a:ext>
            </a:extLst>
          </p:cNvPr>
          <p:cNvSpPr txBox="1"/>
          <p:nvPr/>
        </p:nvSpPr>
        <p:spPr>
          <a:xfrm>
            <a:off x="261574" y="2844591"/>
            <a:ext cx="1159292" cy="784830"/>
          </a:xfrm>
          <a:prstGeom prst="rect">
            <a:avLst/>
          </a:prstGeom>
          <a:noFill/>
        </p:spPr>
        <p:txBody>
          <a:bodyPr wrap="square" lIns="91440" tIns="45720" rIns="91440" bIns="45720" rtlCol="0" anchor="t">
            <a:spAutoFit/>
          </a:bodyPr>
          <a:lstStyle/>
          <a:p>
            <a:pPr algn="ctr"/>
            <a:r>
              <a:rPr lang="nl-NL" sz="900"/>
              <a:t>Theo heeft een hersenbloeding en komt met de ambulance in het ziekenhuis terecht</a:t>
            </a:r>
          </a:p>
        </p:txBody>
      </p:sp>
      <p:sp>
        <p:nvSpPr>
          <p:cNvPr id="87" name="TextBox 86">
            <a:extLst>
              <a:ext uri="{FF2B5EF4-FFF2-40B4-BE49-F238E27FC236}">
                <a16:creationId xmlns:a16="http://schemas.microsoft.com/office/drawing/2014/main" id="{6B807996-6DDE-67C7-0182-07AE8A7ABDF2}"/>
              </a:ext>
            </a:extLst>
          </p:cNvPr>
          <p:cNvSpPr txBox="1"/>
          <p:nvPr/>
        </p:nvSpPr>
        <p:spPr>
          <a:xfrm>
            <a:off x="9286538" y="3295730"/>
            <a:ext cx="1494455" cy="507831"/>
          </a:xfrm>
          <a:prstGeom prst="rect">
            <a:avLst/>
          </a:prstGeom>
          <a:noFill/>
        </p:spPr>
        <p:txBody>
          <a:bodyPr wrap="square" rtlCol="0">
            <a:spAutoFit/>
          </a:bodyPr>
          <a:lstStyle/>
          <a:p>
            <a:pPr algn="ctr"/>
            <a:r>
              <a:rPr lang="nl-NL" sz="900"/>
              <a:t>Meneer Jansen krijgt een tweede ACP gesprek met wijkverpleegkundige</a:t>
            </a:r>
          </a:p>
        </p:txBody>
      </p:sp>
      <p:sp>
        <p:nvSpPr>
          <p:cNvPr id="88" name="TextBox 87">
            <a:extLst>
              <a:ext uri="{FF2B5EF4-FFF2-40B4-BE49-F238E27FC236}">
                <a16:creationId xmlns:a16="http://schemas.microsoft.com/office/drawing/2014/main" id="{94A4B503-CEC4-DA45-4DD8-4922ADB1B4F8}"/>
              </a:ext>
            </a:extLst>
          </p:cNvPr>
          <p:cNvSpPr txBox="1"/>
          <p:nvPr/>
        </p:nvSpPr>
        <p:spPr>
          <a:xfrm>
            <a:off x="4901254" y="4739616"/>
            <a:ext cx="2160546" cy="592470"/>
          </a:xfrm>
          <a:prstGeom prst="rect">
            <a:avLst/>
          </a:prstGeom>
          <a:noFill/>
        </p:spPr>
        <p:txBody>
          <a:bodyPr wrap="square" rtlCol="0">
            <a:spAutoFit/>
          </a:bodyPr>
          <a:lstStyle/>
          <a:p>
            <a:pPr algn="ctr"/>
            <a:r>
              <a:rPr lang="nl-NL" sz="1100" b="1"/>
              <a:t>Gegevensuitwisseling Medicatieoverdracht</a:t>
            </a:r>
          </a:p>
          <a:p>
            <a:pPr algn="ctr"/>
            <a:r>
              <a:rPr lang="nl-NL" sz="1050"/>
              <a:t>….</a:t>
            </a:r>
          </a:p>
        </p:txBody>
      </p:sp>
      <p:sp>
        <p:nvSpPr>
          <p:cNvPr id="89" name="TextBox 88">
            <a:extLst>
              <a:ext uri="{FF2B5EF4-FFF2-40B4-BE49-F238E27FC236}">
                <a16:creationId xmlns:a16="http://schemas.microsoft.com/office/drawing/2014/main" id="{C7FD19E4-BA1F-D4B9-671C-A7FB5A0CB50C}"/>
              </a:ext>
            </a:extLst>
          </p:cNvPr>
          <p:cNvSpPr txBox="1"/>
          <p:nvPr/>
        </p:nvSpPr>
        <p:spPr>
          <a:xfrm>
            <a:off x="9339392" y="4739616"/>
            <a:ext cx="2176654" cy="592470"/>
          </a:xfrm>
          <a:prstGeom prst="rect">
            <a:avLst/>
          </a:prstGeom>
          <a:noFill/>
        </p:spPr>
        <p:txBody>
          <a:bodyPr wrap="square" rtlCol="0">
            <a:spAutoFit/>
          </a:bodyPr>
          <a:lstStyle/>
          <a:p>
            <a:pPr algn="ctr"/>
            <a:r>
              <a:rPr lang="nl-NL" sz="1100" b="1"/>
              <a:t>Gegevensuitwisseling </a:t>
            </a:r>
          </a:p>
          <a:p>
            <a:pPr algn="ctr"/>
            <a:r>
              <a:rPr lang="nl-NL" sz="1100" b="1"/>
              <a:t>Overdracht acute zorg</a:t>
            </a:r>
          </a:p>
          <a:p>
            <a:pPr algn="ctr"/>
            <a:r>
              <a:rPr lang="nl-NL" sz="1050"/>
              <a:t>…</a:t>
            </a:r>
          </a:p>
        </p:txBody>
      </p:sp>
      <p:sp>
        <p:nvSpPr>
          <p:cNvPr id="90" name="TextBox 89">
            <a:extLst>
              <a:ext uri="{FF2B5EF4-FFF2-40B4-BE49-F238E27FC236}">
                <a16:creationId xmlns:a16="http://schemas.microsoft.com/office/drawing/2014/main" id="{BA679D93-7908-D3A2-0A68-26215AE50DDE}"/>
              </a:ext>
            </a:extLst>
          </p:cNvPr>
          <p:cNvSpPr txBox="1"/>
          <p:nvPr/>
        </p:nvSpPr>
        <p:spPr>
          <a:xfrm>
            <a:off x="2983974" y="4739616"/>
            <a:ext cx="1858756" cy="754053"/>
          </a:xfrm>
          <a:prstGeom prst="rect">
            <a:avLst/>
          </a:prstGeom>
          <a:noFill/>
        </p:spPr>
        <p:txBody>
          <a:bodyPr wrap="square" rtlCol="0">
            <a:spAutoFit/>
          </a:bodyPr>
          <a:lstStyle/>
          <a:p>
            <a:pPr algn="ctr"/>
            <a:r>
              <a:rPr lang="nl-NL" sz="1100" b="1"/>
              <a:t>Gegevensuitwisseling </a:t>
            </a:r>
          </a:p>
          <a:p>
            <a:pPr algn="ctr"/>
            <a:r>
              <a:rPr lang="nl-NL" sz="1100" b="1"/>
              <a:t>Medische overdracht</a:t>
            </a:r>
          </a:p>
          <a:p>
            <a:pPr algn="ctr"/>
            <a:r>
              <a:rPr lang="nl-NL" sz="1050"/>
              <a:t>…</a:t>
            </a:r>
          </a:p>
          <a:p>
            <a:pPr algn="ctr"/>
            <a:endParaRPr lang="nl-NL" sz="1050"/>
          </a:p>
        </p:txBody>
      </p:sp>
      <p:sp>
        <p:nvSpPr>
          <p:cNvPr id="91" name="TextBox 90">
            <a:extLst>
              <a:ext uri="{FF2B5EF4-FFF2-40B4-BE49-F238E27FC236}">
                <a16:creationId xmlns:a16="http://schemas.microsoft.com/office/drawing/2014/main" id="{0CBD3CF1-9CCC-B131-2560-8FF908E5C976}"/>
              </a:ext>
            </a:extLst>
          </p:cNvPr>
          <p:cNvSpPr txBox="1"/>
          <p:nvPr/>
        </p:nvSpPr>
        <p:spPr>
          <a:xfrm>
            <a:off x="7120323" y="4739616"/>
            <a:ext cx="2160545" cy="592470"/>
          </a:xfrm>
          <a:prstGeom prst="rect">
            <a:avLst/>
          </a:prstGeom>
          <a:noFill/>
        </p:spPr>
        <p:txBody>
          <a:bodyPr wrap="square" rtlCol="0">
            <a:spAutoFit/>
          </a:bodyPr>
          <a:lstStyle/>
          <a:p>
            <a:pPr algn="ctr"/>
            <a:r>
              <a:rPr lang="nl-NL" sz="1100" b="1"/>
              <a:t>Gegevensuitwisseling Verpleegkundige overdracht</a:t>
            </a:r>
            <a:br>
              <a:rPr lang="nl-NL" sz="1100" b="1"/>
            </a:br>
            <a:r>
              <a:rPr lang="nl-NL" sz="1050"/>
              <a:t>…</a:t>
            </a:r>
          </a:p>
        </p:txBody>
      </p:sp>
      <p:sp>
        <p:nvSpPr>
          <p:cNvPr id="93" name="TextBox 92">
            <a:extLst>
              <a:ext uri="{FF2B5EF4-FFF2-40B4-BE49-F238E27FC236}">
                <a16:creationId xmlns:a16="http://schemas.microsoft.com/office/drawing/2014/main" id="{85D672E5-7869-DEDD-4312-E7B9AE0239BE}"/>
              </a:ext>
            </a:extLst>
          </p:cNvPr>
          <p:cNvSpPr txBox="1"/>
          <p:nvPr/>
        </p:nvSpPr>
        <p:spPr>
          <a:xfrm>
            <a:off x="5123814" y="2745139"/>
            <a:ext cx="1350549" cy="230832"/>
          </a:xfrm>
          <a:prstGeom prst="rect">
            <a:avLst/>
          </a:prstGeom>
          <a:noFill/>
        </p:spPr>
        <p:txBody>
          <a:bodyPr wrap="square" rtlCol="0">
            <a:spAutoFit/>
          </a:bodyPr>
          <a:lstStyle/>
          <a:p>
            <a:pPr algn="ctr"/>
            <a:r>
              <a:rPr lang="nl-NL" sz="900"/>
              <a:t>Terug naar huis</a:t>
            </a:r>
          </a:p>
        </p:txBody>
      </p:sp>
      <p:sp>
        <p:nvSpPr>
          <p:cNvPr id="94" name="TextBox 93">
            <a:extLst>
              <a:ext uri="{FF2B5EF4-FFF2-40B4-BE49-F238E27FC236}">
                <a16:creationId xmlns:a16="http://schemas.microsoft.com/office/drawing/2014/main" id="{70576F02-2EDA-DF9C-A1C7-ABE6AA90DE15}"/>
              </a:ext>
            </a:extLst>
          </p:cNvPr>
          <p:cNvSpPr txBox="1"/>
          <p:nvPr/>
        </p:nvSpPr>
        <p:spPr>
          <a:xfrm>
            <a:off x="2320992" y="2739607"/>
            <a:ext cx="995785" cy="230832"/>
          </a:xfrm>
          <a:prstGeom prst="rect">
            <a:avLst/>
          </a:prstGeom>
          <a:noFill/>
        </p:spPr>
        <p:txBody>
          <a:bodyPr wrap="none" rtlCol="0">
            <a:spAutoFit/>
          </a:bodyPr>
          <a:lstStyle/>
          <a:p>
            <a:pPr algn="ctr"/>
            <a:r>
              <a:rPr lang="nl-NL" sz="900"/>
              <a:t>Opname op de IC</a:t>
            </a:r>
          </a:p>
        </p:txBody>
      </p:sp>
      <p:sp>
        <p:nvSpPr>
          <p:cNvPr id="95" name="TextBox 94">
            <a:extLst>
              <a:ext uri="{FF2B5EF4-FFF2-40B4-BE49-F238E27FC236}">
                <a16:creationId xmlns:a16="http://schemas.microsoft.com/office/drawing/2014/main" id="{B417EB4A-5670-752F-8307-E06942F245C9}"/>
              </a:ext>
            </a:extLst>
          </p:cNvPr>
          <p:cNvSpPr txBox="1"/>
          <p:nvPr/>
        </p:nvSpPr>
        <p:spPr>
          <a:xfrm>
            <a:off x="8343166" y="2589112"/>
            <a:ext cx="1576106" cy="507831"/>
          </a:xfrm>
          <a:prstGeom prst="rect">
            <a:avLst/>
          </a:prstGeom>
          <a:noFill/>
        </p:spPr>
        <p:txBody>
          <a:bodyPr wrap="square" rtlCol="0">
            <a:spAutoFit/>
          </a:bodyPr>
          <a:lstStyle/>
          <a:p>
            <a:pPr algn="ctr"/>
            <a:r>
              <a:rPr lang="nl-NL" sz="900"/>
              <a:t>Medicatie wordt aangepast – apotheek bereidt nieuw medicatie </a:t>
            </a:r>
          </a:p>
        </p:txBody>
      </p:sp>
      <p:sp>
        <p:nvSpPr>
          <p:cNvPr id="96" name="TextBox 95">
            <a:extLst>
              <a:ext uri="{FF2B5EF4-FFF2-40B4-BE49-F238E27FC236}">
                <a16:creationId xmlns:a16="http://schemas.microsoft.com/office/drawing/2014/main" id="{250E31DA-713D-B313-6EBC-58C53812F022}"/>
              </a:ext>
            </a:extLst>
          </p:cNvPr>
          <p:cNvSpPr txBox="1"/>
          <p:nvPr/>
        </p:nvSpPr>
        <p:spPr>
          <a:xfrm>
            <a:off x="9995061" y="2728918"/>
            <a:ext cx="1514332" cy="369332"/>
          </a:xfrm>
          <a:prstGeom prst="rect">
            <a:avLst/>
          </a:prstGeom>
          <a:noFill/>
        </p:spPr>
        <p:txBody>
          <a:bodyPr wrap="square" rtlCol="0">
            <a:spAutoFit/>
          </a:bodyPr>
          <a:lstStyle/>
          <a:p>
            <a:pPr algn="ctr"/>
            <a:r>
              <a:rPr lang="nl-NL" sz="900"/>
              <a:t>Wijkverpleging wordt structureel gestart</a:t>
            </a:r>
          </a:p>
        </p:txBody>
      </p:sp>
      <p:pic>
        <p:nvPicPr>
          <p:cNvPr id="97" name="Graphic 96" descr="Marker with solid fill">
            <a:extLst>
              <a:ext uri="{FF2B5EF4-FFF2-40B4-BE49-F238E27FC236}">
                <a16:creationId xmlns:a16="http://schemas.microsoft.com/office/drawing/2014/main" id="{E80FAB39-4CE8-3DCC-218E-95BE7948770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8389" y="3092414"/>
            <a:ext cx="190500" cy="190500"/>
          </a:xfrm>
          <a:prstGeom prst="rect">
            <a:avLst/>
          </a:prstGeom>
        </p:spPr>
      </p:pic>
      <p:pic>
        <p:nvPicPr>
          <p:cNvPr id="98" name="Graphic 97" descr="Marker with solid fill">
            <a:extLst>
              <a:ext uri="{FF2B5EF4-FFF2-40B4-BE49-F238E27FC236}">
                <a16:creationId xmlns:a16="http://schemas.microsoft.com/office/drawing/2014/main" id="{82D04DA6-B52B-83DF-815C-D86B048E05A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25906" y="3092414"/>
            <a:ext cx="190500" cy="190500"/>
          </a:xfrm>
          <a:prstGeom prst="rect">
            <a:avLst/>
          </a:prstGeom>
        </p:spPr>
      </p:pic>
      <p:pic>
        <p:nvPicPr>
          <p:cNvPr id="99" name="Graphic 98" descr="Marker with solid fill">
            <a:extLst>
              <a:ext uri="{FF2B5EF4-FFF2-40B4-BE49-F238E27FC236}">
                <a16:creationId xmlns:a16="http://schemas.microsoft.com/office/drawing/2014/main" id="{263F7E7D-BE1B-30A7-06B6-D43AA6E109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03460" y="3092414"/>
            <a:ext cx="190500" cy="190500"/>
          </a:xfrm>
          <a:prstGeom prst="rect">
            <a:avLst/>
          </a:prstGeom>
        </p:spPr>
      </p:pic>
      <p:pic>
        <p:nvPicPr>
          <p:cNvPr id="100" name="Graphic 99" descr="Marker with solid fill">
            <a:extLst>
              <a:ext uri="{FF2B5EF4-FFF2-40B4-BE49-F238E27FC236}">
                <a16:creationId xmlns:a16="http://schemas.microsoft.com/office/drawing/2014/main" id="{33120283-757C-80D8-1592-E849BBEF6B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41189" y="3092414"/>
            <a:ext cx="190500" cy="190500"/>
          </a:xfrm>
          <a:prstGeom prst="rect">
            <a:avLst/>
          </a:prstGeom>
        </p:spPr>
      </p:pic>
      <p:pic>
        <p:nvPicPr>
          <p:cNvPr id="101" name="Graphic 100" descr="Marker with solid fill">
            <a:extLst>
              <a:ext uri="{FF2B5EF4-FFF2-40B4-BE49-F238E27FC236}">
                <a16:creationId xmlns:a16="http://schemas.microsoft.com/office/drawing/2014/main" id="{85141A8F-57EF-677B-3EB2-C6EAFBFE7D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8104" y="3092414"/>
            <a:ext cx="190500" cy="190500"/>
          </a:xfrm>
          <a:prstGeom prst="rect">
            <a:avLst/>
          </a:prstGeom>
        </p:spPr>
      </p:pic>
      <p:pic>
        <p:nvPicPr>
          <p:cNvPr id="102" name="Graphic 101" descr="Marker with solid fill">
            <a:extLst>
              <a:ext uri="{FF2B5EF4-FFF2-40B4-BE49-F238E27FC236}">
                <a16:creationId xmlns:a16="http://schemas.microsoft.com/office/drawing/2014/main" id="{E80FB31F-41B5-1398-CFD1-6B40038857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20597" y="3092414"/>
            <a:ext cx="190500" cy="190500"/>
          </a:xfrm>
          <a:prstGeom prst="rect">
            <a:avLst/>
          </a:prstGeom>
        </p:spPr>
      </p:pic>
      <p:pic>
        <p:nvPicPr>
          <p:cNvPr id="103" name="Graphic 102" descr="Marker with solid fill">
            <a:extLst>
              <a:ext uri="{FF2B5EF4-FFF2-40B4-BE49-F238E27FC236}">
                <a16:creationId xmlns:a16="http://schemas.microsoft.com/office/drawing/2014/main" id="{EA59C601-201A-AFF5-6AA7-38261F7447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03838" y="3092414"/>
            <a:ext cx="190500" cy="190500"/>
          </a:xfrm>
          <a:prstGeom prst="rect">
            <a:avLst/>
          </a:prstGeom>
        </p:spPr>
      </p:pic>
      <p:pic>
        <p:nvPicPr>
          <p:cNvPr id="104" name="Graphic 103" descr="Marker with solid fill">
            <a:extLst>
              <a:ext uri="{FF2B5EF4-FFF2-40B4-BE49-F238E27FC236}">
                <a16:creationId xmlns:a16="http://schemas.microsoft.com/office/drawing/2014/main" id="{C82026B9-9C93-BED5-64D3-79109A96CBF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46175" y="3092414"/>
            <a:ext cx="190500" cy="190500"/>
          </a:xfrm>
          <a:prstGeom prst="rect">
            <a:avLst/>
          </a:prstGeom>
        </p:spPr>
      </p:pic>
      <p:pic>
        <p:nvPicPr>
          <p:cNvPr id="105" name="Graphic 104" descr="Marker with solid fill">
            <a:extLst>
              <a:ext uri="{FF2B5EF4-FFF2-40B4-BE49-F238E27FC236}">
                <a16:creationId xmlns:a16="http://schemas.microsoft.com/office/drawing/2014/main" id="{456CD5DC-D600-50C7-C216-8F990E9A55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72108" y="3092414"/>
            <a:ext cx="190500" cy="190500"/>
          </a:xfrm>
          <a:prstGeom prst="rect">
            <a:avLst/>
          </a:prstGeom>
        </p:spPr>
      </p:pic>
      <p:pic>
        <p:nvPicPr>
          <p:cNvPr id="106" name="Graphic 105" descr="Marker with solid fill">
            <a:extLst>
              <a:ext uri="{FF2B5EF4-FFF2-40B4-BE49-F238E27FC236}">
                <a16:creationId xmlns:a16="http://schemas.microsoft.com/office/drawing/2014/main" id="{FE32D149-C4D1-C3FC-A80F-B0242BB9A0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33584" y="3092414"/>
            <a:ext cx="190500" cy="190500"/>
          </a:xfrm>
          <a:prstGeom prst="rect">
            <a:avLst/>
          </a:prstGeom>
        </p:spPr>
      </p:pic>
      <p:pic>
        <p:nvPicPr>
          <p:cNvPr id="107" name="Graphic 106" descr="Marker with solid fill">
            <a:extLst>
              <a:ext uri="{FF2B5EF4-FFF2-40B4-BE49-F238E27FC236}">
                <a16:creationId xmlns:a16="http://schemas.microsoft.com/office/drawing/2014/main" id="{535B3E53-BA1B-B0A7-02F7-D99EDA23B7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38515" y="3092414"/>
            <a:ext cx="190500" cy="190500"/>
          </a:xfrm>
          <a:prstGeom prst="rect">
            <a:avLst/>
          </a:prstGeom>
        </p:spPr>
      </p:pic>
      <p:pic>
        <p:nvPicPr>
          <p:cNvPr id="108" name="Graphic 107" descr="Marker with solid fill">
            <a:extLst>
              <a:ext uri="{FF2B5EF4-FFF2-40B4-BE49-F238E27FC236}">
                <a16:creationId xmlns:a16="http://schemas.microsoft.com/office/drawing/2014/main" id="{07653AB0-9E39-34F6-3D9F-842DD05330A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92280" y="3092414"/>
            <a:ext cx="190500" cy="190500"/>
          </a:xfrm>
          <a:prstGeom prst="rect">
            <a:avLst/>
          </a:prstGeom>
        </p:spPr>
      </p:pic>
      <p:sp>
        <p:nvSpPr>
          <p:cNvPr id="109" name="Rectangle: Rounded Corners 108">
            <a:extLst>
              <a:ext uri="{FF2B5EF4-FFF2-40B4-BE49-F238E27FC236}">
                <a16:creationId xmlns:a16="http://schemas.microsoft.com/office/drawing/2014/main" id="{E3390BCB-3F11-CAC8-7773-1AF0595EDD6D}"/>
              </a:ext>
            </a:extLst>
          </p:cNvPr>
          <p:cNvSpPr/>
          <p:nvPr/>
        </p:nvSpPr>
        <p:spPr>
          <a:xfrm>
            <a:off x="834437" y="3978568"/>
            <a:ext cx="10736763" cy="589882"/>
          </a:xfrm>
          <a:prstGeom prst="roundRect">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ctr"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110" name="Arrow: Down 109">
            <a:extLst>
              <a:ext uri="{FF2B5EF4-FFF2-40B4-BE49-F238E27FC236}">
                <a16:creationId xmlns:a16="http://schemas.microsoft.com/office/drawing/2014/main" id="{0FB70174-CAAA-F24E-D27F-B8CA1BAB4242}"/>
              </a:ext>
            </a:extLst>
          </p:cNvPr>
          <p:cNvSpPr/>
          <p:nvPr/>
        </p:nvSpPr>
        <p:spPr>
          <a:xfrm>
            <a:off x="2008673" y="3777175"/>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1" name="Arrow: Down 110">
            <a:extLst>
              <a:ext uri="{FF2B5EF4-FFF2-40B4-BE49-F238E27FC236}">
                <a16:creationId xmlns:a16="http://schemas.microsoft.com/office/drawing/2014/main" id="{0A5E821E-646E-F421-EEA5-848E026CF805}"/>
              </a:ext>
            </a:extLst>
          </p:cNvPr>
          <p:cNvSpPr/>
          <p:nvPr/>
        </p:nvSpPr>
        <p:spPr>
          <a:xfrm>
            <a:off x="4153011" y="3777175"/>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2" name="Arrow: Down 111">
            <a:extLst>
              <a:ext uri="{FF2B5EF4-FFF2-40B4-BE49-F238E27FC236}">
                <a16:creationId xmlns:a16="http://schemas.microsoft.com/office/drawing/2014/main" id="{F4BB3F81-36D0-610E-E864-9FC7577282DF}"/>
              </a:ext>
            </a:extLst>
          </p:cNvPr>
          <p:cNvSpPr/>
          <p:nvPr/>
        </p:nvSpPr>
        <p:spPr>
          <a:xfrm>
            <a:off x="6300992" y="3778010"/>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3" name="Arrow: Down 112">
            <a:extLst>
              <a:ext uri="{FF2B5EF4-FFF2-40B4-BE49-F238E27FC236}">
                <a16:creationId xmlns:a16="http://schemas.microsoft.com/office/drawing/2014/main" id="{26270CD4-9868-8121-49BE-EA7F6C1A05D9}"/>
              </a:ext>
            </a:extLst>
          </p:cNvPr>
          <p:cNvSpPr/>
          <p:nvPr/>
        </p:nvSpPr>
        <p:spPr>
          <a:xfrm>
            <a:off x="8286945" y="3771719"/>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4" name="Arrow: Down 113">
            <a:extLst>
              <a:ext uri="{FF2B5EF4-FFF2-40B4-BE49-F238E27FC236}">
                <a16:creationId xmlns:a16="http://schemas.microsoft.com/office/drawing/2014/main" id="{4EBC31BC-9751-5B5A-3E18-7F7F3B719D6E}"/>
              </a:ext>
            </a:extLst>
          </p:cNvPr>
          <p:cNvSpPr/>
          <p:nvPr/>
        </p:nvSpPr>
        <p:spPr>
          <a:xfrm>
            <a:off x="10750465" y="3772554"/>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5" name="Arrow: Down 114">
            <a:extLst>
              <a:ext uri="{FF2B5EF4-FFF2-40B4-BE49-F238E27FC236}">
                <a16:creationId xmlns:a16="http://schemas.microsoft.com/office/drawing/2014/main" id="{E328164E-67D6-DF2D-FE82-36E3A9C89450}"/>
              </a:ext>
            </a:extLst>
          </p:cNvPr>
          <p:cNvSpPr/>
          <p:nvPr/>
        </p:nvSpPr>
        <p:spPr>
          <a:xfrm rot="10800000">
            <a:off x="2265349" y="3757959"/>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6" name="Arrow: Down 115">
            <a:extLst>
              <a:ext uri="{FF2B5EF4-FFF2-40B4-BE49-F238E27FC236}">
                <a16:creationId xmlns:a16="http://schemas.microsoft.com/office/drawing/2014/main" id="{ED3A1D42-CAEC-FF21-4C4E-877A0401844F}"/>
              </a:ext>
            </a:extLst>
          </p:cNvPr>
          <p:cNvSpPr/>
          <p:nvPr/>
        </p:nvSpPr>
        <p:spPr>
          <a:xfrm rot="10800000">
            <a:off x="4410825" y="3757959"/>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7" name="Arrow: Down 116">
            <a:extLst>
              <a:ext uri="{FF2B5EF4-FFF2-40B4-BE49-F238E27FC236}">
                <a16:creationId xmlns:a16="http://schemas.microsoft.com/office/drawing/2014/main" id="{313CB75F-7D35-B34F-A37C-8CC50209AFDB}"/>
              </a:ext>
            </a:extLst>
          </p:cNvPr>
          <p:cNvSpPr/>
          <p:nvPr/>
        </p:nvSpPr>
        <p:spPr>
          <a:xfrm rot="10800000">
            <a:off x="6561565" y="3757959"/>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8" name="Arrow: Down 117">
            <a:extLst>
              <a:ext uri="{FF2B5EF4-FFF2-40B4-BE49-F238E27FC236}">
                <a16:creationId xmlns:a16="http://schemas.microsoft.com/office/drawing/2014/main" id="{65574D8E-5D5D-8069-8B2D-654AC839D42D}"/>
              </a:ext>
            </a:extLst>
          </p:cNvPr>
          <p:cNvSpPr/>
          <p:nvPr/>
        </p:nvSpPr>
        <p:spPr>
          <a:xfrm rot="10800000">
            <a:off x="8037923" y="3769292"/>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19" name="Arrow: Down 118">
            <a:extLst>
              <a:ext uri="{FF2B5EF4-FFF2-40B4-BE49-F238E27FC236}">
                <a16:creationId xmlns:a16="http://schemas.microsoft.com/office/drawing/2014/main" id="{DFF54456-9137-A9E8-8D11-A52E00A2DA22}"/>
              </a:ext>
            </a:extLst>
          </p:cNvPr>
          <p:cNvSpPr/>
          <p:nvPr/>
        </p:nvSpPr>
        <p:spPr>
          <a:xfrm rot="10800000">
            <a:off x="10493820" y="3767477"/>
            <a:ext cx="230420" cy="466756"/>
          </a:xfrm>
          <a:prstGeom prst="downArrow">
            <a:avLst/>
          </a:prstGeom>
          <a:solidFill>
            <a:schemeClr val="bg1">
              <a:lumMod val="65000"/>
            </a:schemeClr>
          </a:solidFill>
          <a:ln>
            <a:solidFill>
              <a:schemeClr val="bg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NL"/>
          </a:p>
        </p:txBody>
      </p:sp>
      <p:sp>
        <p:nvSpPr>
          <p:cNvPr id="123" name="TextBox 122">
            <a:extLst>
              <a:ext uri="{FF2B5EF4-FFF2-40B4-BE49-F238E27FC236}">
                <a16:creationId xmlns:a16="http://schemas.microsoft.com/office/drawing/2014/main" id="{A84F8102-F1EC-2DE4-EAF8-479D86BAD7F4}"/>
              </a:ext>
            </a:extLst>
          </p:cNvPr>
          <p:cNvSpPr txBox="1"/>
          <p:nvPr/>
        </p:nvSpPr>
        <p:spPr>
          <a:xfrm rot="16200000">
            <a:off x="-124360" y="5380331"/>
            <a:ext cx="1656000" cy="288000"/>
          </a:xfrm>
          <a:prstGeom prst="roundRect">
            <a:avLst/>
          </a:prstGeom>
          <a:solidFill>
            <a:schemeClr val="accent6">
              <a:lumMod val="50000"/>
            </a:schemeClr>
          </a:solidFill>
        </p:spPr>
        <p:txBody>
          <a:bodyPr wrap="square">
            <a:spAutoFit/>
          </a:bodyPr>
          <a:lstStyle/>
          <a:p>
            <a:pPr marL="0" marR="0" indent="0" algn="ctr" defTabSz="914400" rtl="0" eaLnBrk="1" fontAlgn="auto" latinLnBrk="0" hangingPunct="1">
              <a:lnSpc>
                <a:spcPct val="100000"/>
              </a:lnSpc>
              <a:spcBef>
                <a:spcPts val="0"/>
              </a:spcBef>
              <a:spcAft>
                <a:spcPts val="600"/>
              </a:spcAft>
              <a:buClrTx/>
              <a:buSzTx/>
              <a:buFontTx/>
              <a:buNone/>
              <a:tabLst/>
            </a:pPr>
            <a:r>
              <a:rPr lang="nl-NL" sz="1200" b="1" err="1">
                <a:solidFill>
                  <a:schemeClr val="bg1"/>
                </a:solidFill>
                <a:latin typeface="+mj-lt"/>
              </a:rPr>
              <a:t>Use</a:t>
            </a:r>
            <a:r>
              <a:rPr lang="nl-NL" sz="1200" b="1">
                <a:solidFill>
                  <a:schemeClr val="bg1"/>
                </a:solidFill>
                <a:latin typeface="+mj-lt"/>
              </a:rPr>
              <a:t> cases</a:t>
            </a:r>
          </a:p>
        </p:txBody>
      </p:sp>
      <p:sp>
        <p:nvSpPr>
          <p:cNvPr id="124" name="TextBox 43">
            <a:extLst>
              <a:ext uri="{FF2B5EF4-FFF2-40B4-BE49-F238E27FC236}">
                <a16:creationId xmlns:a16="http://schemas.microsoft.com/office/drawing/2014/main" id="{C163FDC2-DDC3-BFED-52E2-7E2FD5080523}"/>
              </a:ext>
            </a:extLst>
          </p:cNvPr>
          <p:cNvSpPr txBox="1"/>
          <p:nvPr/>
        </p:nvSpPr>
        <p:spPr>
          <a:xfrm>
            <a:off x="438420" y="4041898"/>
            <a:ext cx="1738135" cy="600164"/>
          </a:xfrm>
          <a:prstGeom prst="rect">
            <a:avLst/>
          </a:prstGeom>
          <a:noFill/>
        </p:spPr>
        <p:txBody>
          <a:bodyPr wrap="square">
            <a:spAutoFit/>
          </a:bodyPr>
          <a:lstStyle/>
          <a:p>
            <a:pPr marL="0" marR="0" indent="0" algn="ctr" defTabSz="914400" rtl="0" eaLnBrk="1" fontAlgn="auto" latinLnBrk="0" hangingPunct="1">
              <a:lnSpc>
                <a:spcPct val="100000"/>
              </a:lnSpc>
              <a:spcBef>
                <a:spcPts val="0"/>
              </a:spcBef>
              <a:spcAft>
                <a:spcPts val="600"/>
              </a:spcAft>
              <a:buClrTx/>
              <a:buSzTx/>
              <a:buFontTx/>
              <a:buNone/>
              <a:tabLst/>
            </a:pPr>
            <a:r>
              <a:rPr lang="nl-NL" sz="1100" b="1">
                <a:solidFill>
                  <a:schemeClr val="tx1"/>
                </a:solidFill>
                <a:latin typeface="+mj-lt"/>
              </a:rPr>
              <a:t>Het fundament faciliteert gegevensuitwisseling</a:t>
            </a:r>
          </a:p>
        </p:txBody>
      </p:sp>
      <p:sp>
        <p:nvSpPr>
          <p:cNvPr id="5" name="TextBox 5">
            <a:extLst>
              <a:ext uri="{FF2B5EF4-FFF2-40B4-BE49-F238E27FC236}">
                <a16:creationId xmlns:a16="http://schemas.microsoft.com/office/drawing/2014/main" id="{A9731930-A1C8-4D5A-8C3E-0A460FCF2A74}"/>
              </a:ext>
            </a:extLst>
          </p:cNvPr>
          <p:cNvSpPr txBox="1"/>
          <p:nvPr/>
        </p:nvSpPr>
        <p:spPr>
          <a:xfrm>
            <a:off x="438421" y="1509998"/>
            <a:ext cx="11015554" cy="994055"/>
          </a:xfrm>
          <a:prstGeom prst="rect">
            <a:avLst/>
          </a:prstGeom>
          <a:noFill/>
        </p:spPr>
        <p:txBody>
          <a:bodyPr wrap="square" lIns="91440" tIns="45720" rIns="91440" bIns="45720" anchor="t">
            <a:spAutoFit/>
          </a:bodyPr>
          <a:lstStyle/>
          <a:p>
            <a:pPr algn="just">
              <a:lnSpc>
                <a:spcPct val="107000"/>
              </a:lnSpc>
              <a:spcAft>
                <a:spcPts val="800"/>
              </a:spcAft>
              <a:defRPr/>
            </a:pPr>
            <a:r>
              <a:rPr kumimoji="0" lang="nl-NL" sz="1400" b="1" i="0" u="none" strike="noStrike" kern="1200" cap="none" spc="0" normalizeH="0" baseline="0" noProof="0">
                <a:ln>
                  <a:noFill/>
                </a:ln>
                <a:solidFill>
                  <a:prstClr val="black"/>
                </a:solidFill>
                <a:effectLst/>
                <a:uLnTx/>
                <a:uFillTx/>
                <a:latin typeface="Verdana"/>
                <a:ea typeface="Calibri"/>
                <a:cs typeface="Arial"/>
              </a:rPr>
              <a:t>Digitalisering en gegevensbeschikbaarheid zorgen voor een transformatie in de hele keten, met de </a:t>
            </a:r>
            <a:r>
              <a:rPr kumimoji="0" lang="nl-NL" sz="1400" b="1" i="0" u="none" strike="noStrike" kern="1200" cap="none" spc="0" normalizeH="0" baseline="0" noProof="0" err="1">
                <a:ln>
                  <a:noFill/>
                </a:ln>
                <a:solidFill>
                  <a:prstClr val="black"/>
                </a:solidFill>
                <a:effectLst/>
                <a:uLnTx/>
                <a:uFillTx/>
                <a:latin typeface="Verdana"/>
                <a:ea typeface="Calibri"/>
                <a:cs typeface="Arial"/>
              </a:rPr>
              <a:t>use</a:t>
            </a:r>
            <a:r>
              <a:rPr kumimoji="0" lang="nl-NL" sz="1400" b="1" i="0" u="none" strike="noStrike" kern="1200" cap="none" spc="0" normalizeH="0" baseline="0" noProof="0">
                <a:ln>
                  <a:noFill/>
                </a:ln>
                <a:solidFill>
                  <a:prstClr val="black"/>
                </a:solidFill>
                <a:effectLst/>
                <a:uLnTx/>
                <a:uFillTx/>
                <a:latin typeface="Verdana"/>
                <a:ea typeface="Calibri"/>
                <a:cs typeface="Arial"/>
              </a:rPr>
              <a:t> cases in dit transformatieplan als eerste aanzet. Zorgprofessionals hebben inzicht in de juiste data van Theo op de juiste plek in het zorgproces, en gegevens worden gedurende de reis digitaal uitgewisseld. Theo </a:t>
            </a:r>
            <a:r>
              <a:rPr lang="nl-NL" sz="1400" b="1">
                <a:solidFill>
                  <a:prstClr val="black"/>
                </a:solidFill>
                <a:latin typeface="Verdana"/>
                <a:ea typeface="Calibri"/>
                <a:cs typeface="Arial"/>
              </a:rPr>
              <a:t>(en zijn omgeving) heeft</a:t>
            </a:r>
            <a:r>
              <a:rPr kumimoji="0" lang="nl-NL" sz="1400" b="1" i="0" u="none" strike="noStrike" kern="1200" cap="none" spc="0" normalizeH="0" baseline="0" noProof="0">
                <a:ln>
                  <a:noFill/>
                </a:ln>
                <a:solidFill>
                  <a:prstClr val="black"/>
                </a:solidFill>
                <a:effectLst/>
                <a:uLnTx/>
                <a:uFillTx/>
                <a:latin typeface="Verdana"/>
                <a:ea typeface="Calibri"/>
                <a:cs typeface="Arial"/>
              </a:rPr>
              <a:t> op deze manier ook inzicht in en zelf (meer) grip op zijn patiëntreis</a:t>
            </a:r>
            <a:r>
              <a:rPr lang="nl-NL" sz="1400" b="1">
                <a:solidFill>
                  <a:prstClr val="black"/>
                </a:solidFill>
                <a:latin typeface="Verdana"/>
                <a:ea typeface="Calibri"/>
                <a:cs typeface="Arial"/>
              </a:rPr>
              <a:t>.</a:t>
            </a:r>
            <a:endParaRPr kumimoji="0" lang="nl-NL" sz="1400" b="1"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endParaRPr>
          </a:p>
        </p:txBody>
      </p:sp>
      <p:sp>
        <p:nvSpPr>
          <p:cNvPr id="2" name="Rechthoek 1">
            <a:extLst>
              <a:ext uri="{FF2B5EF4-FFF2-40B4-BE49-F238E27FC236}">
                <a16:creationId xmlns:a16="http://schemas.microsoft.com/office/drawing/2014/main" id="{020AC3C1-0306-7E58-5FE4-E2207E0A0F51}"/>
              </a:ext>
            </a:extLst>
          </p:cNvPr>
          <p:cNvSpPr/>
          <p:nvPr/>
        </p:nvSpPr>
        <p:spPr>
          <a:xfrm>
            <a:off x="9008090" y="789939"/>
            <a:ext cx="1219200" cy="635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Title 8">
            <a:extLst>
              <a:ext uri="{FF2B5EF4-FFF2-40B4-BE49-F238E27FC236}">
                <a16:creationId xmlns:a16="http://schemas.microsoft.com/office/drawing/2014/main" id="{F3FC86CE-B712-F477-B88A-1052AA805B3F}"/>
              </a:ext>
            </a:extLst>
          </p:cNvPr>
          <p:cNvSpPr>
            <a:spLocks noGrp="1"/>
          </p:cNvSpPr>
          <p:nvPr>
            <p:ph type="title"/>
          </p:nvPr>
        </p:nvSpPr>
        <p:spPr/>
        <p:txBody>
          <a:bodyPr>
            <a:noAutofit/>
          </a:bodyPr>
          <a:lstStyle/>
          <a:p>
            <a:r>
              <a:rPr lang="nl-NL"/>
              <a:t>Digitalisering en databeschikbaarheid als basis voor de transformatie in het netwerk van zorg</a:t>
            </a:r>
            <a:endParaRPr lang="en-GB"/>
          </a:p>
        </p:txBody>
      </p:sp>
      <p:sp>
        <p:nvSpPr>
          <p:cNvPr id="31" name="Slide Number Placeholder 64">
            <a:extLst>
              <a:ext uri="{FF2B5EF4-FFF2-40B4-BE49-F238E27FC236}">
                <a16:creationId xmlns:a16="http://schemas.microsoft.com/office/drawing/2014/main" id="{9874037E-FA09-4200-EC30-EAB5EB5C0D8B}"/>
              </a:ext>
            </a:extLst>
          </p:cNvPr>
          <p:cNvSpPr>
            <a:spLocks noGrp="1"/>
          </p:cNvSpPr>
          <p:nvPr>
            <p:ph type="sldNum" sz="quarter" idx="4"/>
          </p:nvPr>
        </p:nvSpPr>
        <p:spPr>
          <a:xfrm>
            <a:off x="5957275" y="6551983"/>
            <a:ext cx="287338" cy="287338"/>
          </a:xfrm>
        </p:spPr>
        <p:txBody>
          <a:bodyPr/>
          <a:lstStyle/>
          <a:p>
            <a:fld id="{C698A4D3-8B34-4F59-BA76-BF518A49D96C}" type="slidenum">
              <a:rPr lang="nl-NL" sz="900" smtClean="0"/>
              <a:pPr/>
              <a:t>12</a:t>
            </a:fld>
            <a:endParaRPr lang="nl-NL" sz="900"/>
          </a:p>
        </p:txBody>
      </p:sp>
      <p:sp>
        <p:nvSpPr>
          <p:cNvPr id="3" name="Rechthoek: afgeronde hoeken 2">
            <a:extLst>
              <a:ext uri="{FF2B5EF4-FFF2-40B4-BE49-F238E27FC236}">
                <a16:creationId xmlns:a16="http://schemas.microsoft.com/office/drawing/2014/main" id="{ED2AE132-BC94-7AD2-918D-3E4D40C848B5}"/>
              </a:ext>
            </a:extLst>
          </p:cNvPr>
          <p:cNvSpPr/>
          <p:nvPr/>
        </p:nvSpPr>
        <p:spPr>
          <a:xfrm>
            <a:off x="-1" y="6598974"/>
            <a:ext cx="10145303"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Top Corners Rounded 38">
            <a:hlinkClick r:id="rId5" action="ppaction://hlinksldjump"/>
            <a:extLst>
              <a:ext uri="{FF2B5EF4-FFF2-40B4-BE49-F238E27FC236}">
                <a16:creationId xmlns:a16="http://schemas.microsoft.com/office/drawing/2014/main" id="{464D8007-1FC9-58DF-A61D-A5861E613367}"/>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6" name="Graphic 5" descr="Introductiepagina silhouet">
            <a:hlinkClick r:id="rId6" action="ppaction://hlinksldjump"/>
            <a:extLst>
              <a:ext uri="{FF2B5EF4-FFF2-40B4-BE49-F238E27FC236}">
                <a16:creationId xmlns:a16="http://schemas.microsoft.com/office/drawing/2014/main" id="{369A2BE6-60A8-F1CC-4145-1C7A6D46953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7" name="Rectangle: Top Corners Rounded 1">
            <a:hlinkClick r:id="rId9" action="ppaction://hlinksldjump"/>
            <a:extLst>
              <a:ext uri="{FF2B5EF4-FFF2-40B4-BE49-F238E27FC236}">
                <a16:creationId xmlns:a16="http://schemas.microsoft.com/office/drawing/2014/main" id="{96CD773B-3B48-D500-566C-E66B3BDB8A15}"/>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0" name="Rectangle: Top Corners Rounded 1">
            <a:hlinkClick r:id="rId10" action="ppaction://hlinksldjump"/>
            <a:extLst>
              <a:ext uri="{FF2B5EF4-FFF2-40B4-BE49-F238E27FC236}">
                <a16:creationId xmlns:a16="http://schemas.microsoft.com/office/drawing/2014/main" id="{800A69CA-6DE2-AEF5-7270-0C5CC32DB5DA}"/>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11" name="Rectangle: Top Corners Rounded 1">
            <a:hlinkClick r:id="rId11" action="ppaction://hlinksldjump"/>
            <a:extLst>
              <a:ext uri="{FF2B5EF4-FFF2-40B4-BE49-F238E27FC236}">
                <a16:creationId xmlns:a16="http://schemas.microsoft.com/office/drawing/2014/main" id="{AD6F5961-E3BC-A226-313A-A70277447262}"/>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2" name="Rectangle: Top Corners Rounded 1">
            <a:hlinkClick r:id="rId12" action="ppaction://hlinksldjump"/>
            <a:extLst>
              <a:ext uri="{FF2B5EF4-FFF2-40B4-BE49-F238E27FC236}">
                <a16:creationId xmlns:a16="http://schemas.microsoft.com/office/drawing/2014/main" id="{19C5772B-4466-0486-B47A-0E3CDD319DB6}"/>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3" action="ppaction://hlinksldjump"/>
            <a:extLst>
              <a:ext uri="{FF2B5EF4-FFF2-40B4-BE49-F238E27FC236}">
                <a16:creationId xmlns:a16="http://schemas.microsoft.com/office/drawing/2014/main" id="{D3337D32-739A-323A-AC63-26FF3AF734E7}"/>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4" action="ppaction://hlinksldjump"/>
            <a:extLst>
              <a:ext uri="{FF2B5EF4-FFF2-40B4-BE49-F238E27FC236}">
                <a16:creationId xmlns:a16="http://schemas.microsoft.com/office/drawing/2014/main" id="{599B1DF7-084C-3507-8C66-611430726031}"/>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5" action="ppaction://hlinksldjump"/>
            <a:extLst>
              <a:ext uri="{FF2B5EF4-FFF2-40B4-BE49-F238E27FC236}">
                <a16:creationId xmlns:a16="http://schemas.microsoft.com/office/drawing/2014/main" id="{448F86A8-CC9A-E3EB-D4FA-590790BA8DD5}"/>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6" action="ppaction://hlinksldjump"/>
            <a:extLst>
              <a:ext uri="{FF2B5EF4-FFF2-40B4-BE49-F238E27FC236}">
                <a16:creationId xmlns:a16="http://schemas.microsoft.com/office/drawing/2014/main" id="{36B5643E-0EDC-F9B0-A5F1-A2E77C7E7D13}"/>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7" action="ppaction://hlinksldjump"/>
            <a:extLst>
              <a:ext uri="{FF2B5EF4-FFF2-40B4-BE49-F238E27FC236}">
                <a16:creationId xmlns:a16="http://schemas.microsoft.com/office/drawing/2014/main" id="{01AC436E-E093-0729-EB46-BE6C72C896BE}"/>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8" action="ppaction://hlinksldjump"/>
            <a:extLst>
              <a:ext uri="{FF2B5EF4-FFF2-40B4-BE49-F238E27FC236}">
                <a16:creationId xmlns:a16="http://schemas.microsoft.com/office/drawing/2014/main" id="{F1854D37-D39B-ECE0-6064-43CA2CD2D6A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2" name="Rectangle: Top Corners Rounded 1">
            <a:hlinkClick r:id="rId19" action="ppaction://hlinksldjump"/>
            <a:extLst>
              <a:ext uri="{FF2B5EF4-FFF2-40B4-BE49-F238E27FC236}">
                <a16:creationId xmlns:a16="http://schemas.microsoft.com/office/drawing/2014/main" id="{87A06802-D73E-63D5-1EC3-1247967D1F25}"/>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39999830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10188000" cy="504000"/>
          </a:xfrm>
        </p:spPr>
        <p:txBody>
          <a:bodyPr>
            <a:noAutofit/>
          </a:bodyPr>
          <a:lstStyle/>
          <a:p>
            <a:pPr algn="l"/>
            <a:r>
              <a:rPr lang="nl-NL" b="1">
                <a:solidFill>
                  <a:srgbClr val="8C95CD"/>
                </a:solidFill>
              </a:rPr>
              <a:t>Scope aanvraag fundament digitalisering en gegevensuitwisseling Midden-Nederland</a:t>
            </a:r>
          </a:p>
        </p:txBody>
      </p:sp>
      <p:sp>
        <p:nvSpPr>
          <p:cNvPr id="15" name="Tijdelijke aanduiding voor inhoud 2">
            <a:extLst>
              <a:ext uri="{FF2B5EF4-FFF2-40B4-BE49-F238E27FC236}">
                <a16:creationId xmlns:a16="http://schemas.microsoft.com/office/drawing/2014/main" id="{5AEE9368-32CA-B0C9-28F2-EB43E1B1ADD3}"/>
              </a:ext>
            </a:extLst>
          </p:cNvPr>
          <p:cNvSpPr txBox="1">
            <a:spLocks/>
          </p:cNvSpPr>
          <p:nvPr/>
        </p:nvSpPr>
        <p:spPr>
          <a:xfrm>
            <a:off x="2166257" y="1883659"/>
            <a:ext cx="11178447" cy="50818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a:t> </a:t>
            </a:r>
          </a:p>
        </p:txBody>
      </p:sp>
      <p:sp>
        <p:nvSpPr>
          <p:cNvPr id="16" name="TextBox 6">
            <a:extLst>
              <a:ext uri="{FF2B5EF4-FFF2-40B4-BE49-F238E27FC236}">
                <a16:creationId xmlns:a16="http://schemas.microsoft.com/office/drawing/2014/main" id="{A004AE9F-4417-2A04-ED84-CBC62C901F61}"/>
              </a:ext>
            </a:extLst>
          </p:cNvPr>
          <p:cNvSpPr txBox="1"/>
          <p:nvPr/>
        </p:nvSpPr>
        <p:spPr>
          <a:xfrm>
            <a:off x="425302" y="1450330"/>
            <a:ext cx="11276053" cy="2018694"/>
          </a:xfrm>
          <a:prstGeom prst="rect">
            <a:avLst/>
          </a:prstGeom>
          <a:noFill/>
        </p:spPr>
        <p:txBody>
          <a:bodyPr wrap="square" lIns="91440" tIns="45720" rIns="91440" bIns="45720" anchor="t">
            <a:spAutoFit/>
          </a:bodyPr>
          <a:lstStyle/>
          <a:p>
            <a:pPr algn="just">
              <a:lnSpc>
                <a:spcPct val="107000"/>
              </a:lnSpc>
              <a:spcAft>
                <a:spcPts val="800"/>
              </a:spcAft>
            </a:pPr>
            <a:r>
              <a:rPr lang="nl-NL" sz="1400" b="1">
                <a:effectLst/>
                <a:latin typeface="Verdana"/>
                <a:ea typeface="Calibri"/>
                <a:cs typeface="Arial"/>
              </a:rPr>
              <a:t>Deze aanvraag richt zich 1) op het leggen van het fundament voor digitalisering &amp; gegevenstuitwisseling in de regio MNL. Dit fundament wordt domein overstijgend gelegd voor de </a:t>
            </a:r>
            <a:r>
              <a:rPr lang="nl-NL" sz="1400" b="1" err="1">
                <a:latin typeface="Verdana"/>
                <a:ea typeface="Calibri"/>
                <a:cs typeface="Arial"/>
              </a:rPr>
              <a:t>Z</a:t>
            </a:r>
            <a:r>
              <a:rPr lang="nl-NL" sz="1400" b="1" err="1">
                <a:effectLst/>
                <a:latin typeface="Verdana"/>
                <a:ea typeface="Calibri"/>
                <a:cs typeface="Arial"/>
              </a:rPr>
              <a:t>vW</a:t>
            </a:r>
            <a:r>
              <a:rPr lang="nl-NL" sz="1400" b="1">
                <a:effectLst/>
                <a:latin typeface="Verdana"/>
                <a:ea typeface="Calibri"/>
                <a:cs typeface="Arial"/>
              </a:rPr>
              <a:t>, WLZ en sociaal domein. Op dit fundament kunnen in de regio </a:t>
            </a:r>
            <a:r>
              <a:rPr lang="nl-NL" sz="1400" b="1" err="1">
                <a:effectLst/>
                <a:latin typeface="Verdana"/>
                <a:ea typeface="Calibri"/>
                <a:cs typeface="Arial"/>
              </a:rPr>
              <a:t>usecases</a:t>
            </a:r>
            <a:r>
              <a:rPr lang="nl-NL" sz="1400" b="1">
                <a:effectLst/>
                <a:latin typeface="Verdana"/>
                <a:ea typeface="Calibri"/>
                <a:cs typeface="Arial"/>
              </a:rPr>
              <a:t> worden aangesloten. 2) op de implementatie van 2 thema’s gericht op digitale (zorg)communicatie én dossier inzage en digitale overdracht (thema 2a en 2b). </a:t>
            </a:r>
          </a:p>
          <a:p>
            <a:pPr algn="just">
              <a:lnSpc>
                <a:spcPct val="107000"/>
              </a:lnSpc>
              <a:spcAft>
                <a:spcPts val="800"/>
              </a:spcAft>
            </a:pPr>
            <a:r>
              <a:rPr lang="nl-NL" sz="1400">
                <a:effectLst/>
                <a:latin typeface="Verdana"/>
                <a:ea typeface="Calibri"/>
                <a:cs typeface="Arial"/>
              </a:rPr>
              <a:t>Overige thema’s en </a:t>
            </a:r>
            <a:r>
              <a:rPr lang="nl-NL" sz="1400" err="1">
                <a:effectLst/>
                <a:latin typeface="Verdana"/>
                <a:ea typeface="Calibri"/>
                <a:cs typeface="Arial"/>
              </a:rPr>
              <a:t>usecases</a:t>
            </a:r>
            <a:r>
              <a:rPr lang="nl-NL" sz="1400">
                <a:effectLst/>
                <a:latin typeface="Verdana"/>
                <a:ea typeface="Calibri"/>
                <a:cs typeface="Arial"/>
              </a:rPr>
              <a:t> worden op een andere manier opgepakt, bijv. in een separaat transformatieplan zoals het NAZMN transformatieplan voor de acute zorg en/of MGMN voor de mentale gezondheid in de regio. Deze </a:t>
            </a:r>
            <a:r>
              <a:rPr lang="nl-NL" sz="1400" err="1">
                <a:effectLst/>
                <a:latin typeface="Verdana"/>
                <a:ea typeface="Calibri"/>
                <a:cs typeface="Arial"/>
              </a:rPr>
              <a:t>usecases</a:t>
            </a:r>
            <a:r>
              <a:rPr lang="nl-NL" sz="1400">
                <a:effectLst/>
                <a:latin typeface="Verdana"/>
                <a:ea typeface="Calibri"/>
                <a:cs typeface="Arial"/>
              </a:rPr>
              <a:t> maken in principe wel gebruik van het fundament wat wordt gelegd binnen deze transformatieaanvraag, maar de uitvoering en impact worden niet in dit plan meegenomen. </a:t>
            </a:r>
          </a:p>
        </p:txBody>
      </p:sp>
      <p:sp>
        <p:nvSpPr>
          <p:cNvPr id="3" name="Rectangle 33">
            <a:extLst>
              <a:ext uri="{FF2B5EF4-FFF2-40B4-BE49-F238E27FC236}">
                <a16:creationId xmlns:a16="http://schemas.microsoft.com/office/drawing/2014/main" id="{E7263784-E978-E64B-1F76-821FBE4744F9}"/>
              </a:ext>
            </a:extLst>
          </p:cNvPr>
          <p:cNvSpPr txBox="1">
            <a:spLocks/>
          </p:cNvSpPr>
          <p:nvPr/>
        </p:nvSpPr>
        <p:spPr>
          <a:xfrm>
            <a:off x="490644" y="3463030"/>
            <a:ext cx="11125011" cy="508536"/>
          </a:xfrm>
          <a:prstGeom prst="rect">
            <a:avLst/>
          </a:prstGeom>
          <a:solidFill>
            <a:srgbClr val="0E9D90">
              <a:alpha val="90000"/>
            </a:srgbClr>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solidFill>
                  <a:schemeClr val="bg1"/>
                </a:solidFill>
                <a:latin typeface="Verdana" panose="020B0604030504040204" pitchFamily="34" charset="0"/>
                <a:ea typeface="Verdana" panose="020B0604030504040204" pitchFamily="34" charset="0"/>
                <a:cs typeface="Calibri"/>
              </a:rPr>
              <a:t>In de </a:t>
            </a:r>
            <a:r>
              <a:rPr lang="en-US" sz="1000" err="1">
                <a:solidFill>
                  <a:schemeClr val="bg1"/>
                </a:solidFill>
                <a:latin typeface="Verdana" panose="020B0604030504040204" pitchFamily="34" charset="0"/>
                <a:ea typeface="Verdana" panose="020B0604030504040204" pitchFamily="34" charset="0"/>
                <a:cs typeface="Calibri"/>
              </a:rPr>
              <a:t>usecases</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worden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zorginhoudelijke</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veranderingen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geïmplementeerd</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waarbij</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gegevens</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uitgewisseld</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worden</a:t>
            </a:r>
            <a:endParaRPr lang="en-US" sz="1000">
              <a:solidFill>
                <a:schemeClr val="bg1"/>
              </a:solidFill>
              <a:latin typeface="Verdana" panose="020B0604030504040204" pitchFamily="34" charset="0"/>
              <a:ea typeface="Verdana" panose="020B0604030504040204" pitchFamily="34" charset="0"/>
              <a:cs typeface="Calibri"/>
            </a:endParaRPr>
          </a:p>
        </p:txBody>
      </p:sp>
      <p:sp>
        <p:nvSpPr>
          <p:cNvPr id="18" name="Rectangle 29">
            <a:extLst>
              <a:ext uri="{FF2B5EF4-FFF2-40B4-BE49-F238E27FC236}">
                <a16:creationId xmlns:a16="http://schemas.microsoft.com/office/drawing/2014/main" id="{D12CCFBD-1DE7-B503-C9C6-0A3EA5DC4F2B}"/>
              </a:ext>
            </a:extLst>
          </p:cNvPr>
          <p:cNvSpPr/>
          <p:nvPr/>
        </p:nvSpPr>
        <p:spPr>
          <a:xfrm>
            <a:off x="623864" y="4223401"/>
            <a:ext cx="2129926" cy="107869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00" b="1">
                <a:solidFill>
                  <a:schemeClr val="tx1"/>
                </a:solidFill>
                <a:latin typeface="Verdana" panose="020B0604030504040204" pitchFamily="34" charset="0"/>
                <a:ea typeface="Verdana" panose="020B0604030504040204" pitchFamily="34" charset="0"/>
              </a:rPr>
              <a:t>Thema</a:t>
            </a:r>
          </a:p>
          <a:p>
            <a:pPr algn="ctr"/>
            <a:r>
              <a:rPr lang="nl-NL" sz="1000">
                <a:solidFill>
                  <a:schemeClr val="tx1"/>
                </a:solidFill>
                <a:latin typeface="Verdana" panose="020B0604030504040204" pitchFamily="34" charset="0"/>
                <a:ea typeface="Verdana" panose="020B0604030504040204" pitchFamily="34" charset="0"/>
              </a:rPr>
              <a:t>Digitale (zorg)communicatie met inwoners en patiënten, en professionals onderling ter ondersteuning van netwerkzorg</a:t>
            </a:r>
          </a:p>
        </p:txBody>
      </p:sp>
      <p:sp>
        <p:nvSpPr>
          <p:cNvPr id="19" name="Rectangle 30">
            <a:extLst>
              <a:ext uri="{FF2B5EF4-FFF2-40B4-BE49-F238E27FC236}">
                <a16:creationId xmlns:a16="http://schemas.microsoft.com/office/drawing/2014/main" id="{01FFAA72-E194-A30D-C267-77F76C6A8C8A}"/>
              </a:ext>
            </a:extLst>
          </p:cNvPr>
          <p:cNvSpPr/>
          <p:nvPr/>
        </p:nvSpPr>
        <p:spPr>
          <a:xfrm>
            <a:off x="2833202" y="4223401"/>
            <a:ext cx="1590323" cy="106331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00" b="1">
                <a:solidFill>
                  <a:schemeClr val="tx1"/>
                </a:solidFill>
                <a:latin typeface="Verdana" panose="020B0604030504040204" pitchFamily="34" charset="0"/>
                <a:ea typeface="Verdana" panose="020B0604030504040204" pitchFamily="34" charset="0"/>
              </a:rPr>
              <a:t>Thema</a:t>
            </a:r>
            <a:r>
              <a:rPr lang="nl-NL" sz="1000">
                <a:solidFill>
                  <a:schemeClr val="tx1"/>
                </a:solidFill>
                <a:latin typeface="Verdana" panose="020B0604030504040204" pitchFamily="34" charset="0"/>
                <a:ea typeface="Verdana" panose="020B0604030504040204" pitchFamily="34" charset="0"/>
              </a:rPr>
              <a:t> </a:t>
            </a:r>
          </a:p>
          <a:p>
            <a:pPr algn="ctr"/>
            <a:r>
              <a:rPr lang="nl-NL" sz="1000">
                <a:solidFill>
                  <a:schemeClr val="tx1"/>
                </a:solidFill>
                <a:latin typeface="Verdana" panose="020B0604030504040204" pitchFamily="34" charset="0"/>
                <a:ea typeface="Verdana" panose="020B0604030504040204" pitchFamily="34" charset="0"/>
              </a:rPr>
              <a:t>Dossier Inzage en Digitale Overdracht van (Acute) Zorg</a:t>
            </a:r>
          </a:p>
        </p:txBody>
      </p:sp>
      <p:sp>
        <p:nvSpPr>
          <p:cNvPr id="21" name="Rectangle 30">
            <a:extLst>
              <a:ext uri="{FF2B5EF4-FFF2-40B4-BE49-F238E27FC236}">
                <a16:creationId xmlns:a16="http://schemas.microsoft.com/office/drawing/2014/main" id="{05B33C2C-4444-E066-9D1D-A4C2245ECBEC}"/>
              </a:ext>
            </a:extLst>
          </p:cNvPr>
          <p:cNvSpPr/>
          <p:nvPr/>
        </p:nvSpPr>
        <p:spPr>
          <a:xfrm>
            <a:off x="6098851" y="4223401"/>
            <a:ext cx="1516502" cy="1063314"/>
          </a:xfrm>
          <a:prstGeom prst="rect">
            <a:avLst/>
          </a:prstGeom>
          <a:pattFill prst="dkUpDiag">
            <a:fgClr>
              <a:schemeClr val="accent6">
                <a:lumMod val="20000"/>
                <a:lumOff val="8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00" b="1">
                <a:solidFill>
                  <a:schemeClr val="tx1">
                    <a:lumMod val="50000"/>
                    <a:lumOff val="50000"/>
                  </a:schemeClr>
                </a:solidFill>
                <a:latin typeface="Verdana" panose="020B0604030504040204" pitchFamily="34" charset="0"/>
                <a:ea typeface="Verdana" panose="020B0604030504040204" pitchFamily="34" charset="0"/>
              </a:rPr>
              <a:t>Overig </a:t>
            </a:r>
          </a:p>
          <a:p>
            <a:pPr algn="ctr"/>
            <a:r>
              <a:rPr lang="nl-NL" sz="1000">
                <a:solidFill>
                  <a:schemeClr val="tx1">
                    <a:lumMod val="50000"/>
                    <a:lumOff val="50000"/>
                  </a:schemeClr>
                </a:solidFill>
                <a:latin typeface="Verdana" panose="020B0604030504040204" pitchFamily="34" charset="0"/>
                <a:ea typeface="Verdana" panose="020B0604030504040204" pitchFamily="34" charset="0"/>
              </a:rPr>
              <a:t>Hybride Zorg en Telemonitoring </a:t>
            </a:r>
            <a:r>
              <a:rPr lang="nl-NL" sz="1000" i="1">
                <a:solidFill>
                  <a:schemeClr val="tx1">
                    <a:lumMod val="50000"/>
                    <a:lumOff val="50000"/>
                  </a:schemeClr>
                </a:solidFill>
                <a:latin typeface="Verdana" panose="020B0604030504040204" pitchFamily="34" charset="0"/>
                <a:ea typeface="Verdana" panose="020B0604030504040204" pitchFamily="34" charset="0"/>
              </a:rPr>
              <a:t> (RMSC)</a:t>
            </a:r>
          </a:p>
        </p:txBody>
      </p:sp>
      <p:sp>
        <p:nvSpPr>
          <p:cNvPr id="25" name="Rectangle: Single Corner Snipped 17">
            <a:extLst>
              <a:ext uri="{FF2B5EF4-FFF2-40B4-BE49-F238E27FC236}">
                <a16:creationId xmlns:a16="http://schemas.microsoft.com/office/drawing/2014/main" id="{875C0B9C-7FFA-F75B-65AD-CEEAD7A3B026}"/>
              </a:ext>
            </a:extLst>
          </p:cNvPr>
          <p:cNvSpPr/>
          <p:nvPr/>
        </p:nvSpPr>
        <p:spPr>
          <a:xfrm>
            <a:off x="2135450" y="4051430"/>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t>2a</a:t>
            </a:r>
            <a:endParaRPr lang="en-NL" sz="1400" b="1"/>
          </a:p>
        </p:txBody>
      </p:sp>
      <p:sp>
        <p:nvSpPr>
          <p:cNvPr id="26" name="Rectangle: Single Corner Snipped 18">
            <a:extLst>
              <a:ext uri="{FF2B5EF4-FFF2-40B4-BE49-F238E27FC236}">
                <a16:creationId xmlns:a16="http://schemas.microsoft.com/office/drawing/2014/main" id="{847D9601-4017-4B35-D778-BE6372B89FA5}"/>
              </a:ext>
            </a:extLst>
          </p:cNvPr>
          <p:cNvSpPr/>
          <p:nvPr/>
        </p:nvSpPr>
        <p:spPr>
          <a:xfrm>
            <a:off x="3805515" y="4051430"/>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t>2b</a:t>
            </a:r>
            <a:endParaRPr lang="en-NL" sz="1400" b="1"/>
          </a:p>
        </p:txBody>
      </p:sp>
      <p:sp>
        <p:nvSpPr>
          <p:cNvPr id="6" name="Rectangle 30">
            <a:extLst>
              <a:ext uri="{FF2B5EF4-FFF2-40B4-BE49-F238E27FC236}">
                <a16:creationId xmlns:a16="http://schemas.microsoft.com/office/drawing/2014/main" id="{723B2A92-EB19-6A25-20DE-9244C54E8471}"/>
              </a:ext>
            </a:extLst>
          </p:cNvPr>
          <p:cNvSpPr/>
          <p:nvPr/>
        </p:nvSpPr>
        <p:spPr>
          <a:xfrm>
            <a:off x="7694765" y="4223401"/>
            <a:ext cx="1516502" cy="1063314"/>
          </a:xfrm>
          <a:prstGeom prst="rect">
            <a:avLst/>
          </a:prstGeom>
          <a:pattFill prst="dkUpDiag">
            <a:fgClr>
              <a:schemeClr val="accent6">
                <a:lumMod val="20000"/>
                <a:lumOff val="8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00" b="1">
                <a:solidFill>
                  <a:schemeClr val="tx1">
                    <a:lumMod val="50000"/>
                    <a:lumOff val="50000"/>
                  </a:schemeClr>
                </a:solidFill>
                <a:latin typeface="Verdana" panose="020B0604030504040204" pitchFamily="34" charset="0"/>
                <a:ea typeface="Verdana" panose="020B0604030504040204" pitchFamily="34" charset="0"/>
              </a:rPr>
              <a:t>Overig </a:t>
            </a:r>
            <a:endParaRPr lang="nl-NL" sz="1000">
              <a:solidFill>
                <a:schemeClr val="tx1">
                  <a:lumMod val="50000"/>
                  <a:lumOff val="50000"/>
                </a:schemeClr>
              </a:solidFill>
              <a:latin typeface="Verdana" panose="020B0604030504040204" pitchFamily="34" charset="0"/>
              <a:ea typeface="Verdana" panose="020B0604030504040204" pitchFamily="34" charset="0"/>
            </a:endParaRPr>
          </a:p>
          <a:p>
            <a:pPr algn="ctr"/>
            <a:r>
              <a:rPr lang="nl-NL" sz="1000" i="1">
                <a:solidFill>
                  <a:schemeClr val="tx1">
                    <a:lumMod val="50000"/>
                    <a:lumOff val="50000"/>
                  </a:schemeClr>
                </a:solidFill>
                <a:latin typeface="Verdana" panose="020B0604030504040204" pitchFamily="34" charset="0"/>
                <a:ea typeface="Verdana" panose="020B0604030504040204" pitchFamily="34" charset="0"/>
              </a:rPr>
              <a:t>Bijv. in de regio wordt gewerkt aan PZP met digitale ondersteuning</a:t>
            </a:r>
          </a:p>
        </p:txBody>
      </p:sp>
      <p:sp>
        <p:nvSpPr>
          <p:cNvPr id="7" name="Rectangle 30">
            <a:extLst>
              <a:ext uri="{FF2B5EF4-FFF2-40B4-BE49-F238E27FC236}">
                <a16:creationId xmlns:a16="http://schemas.microsoft.com/office/drawing/2014/main" id="{F31A738A-E0FF-A437-501A-43DEF633C903}"/>
              </a:ext>
            </a:extLst>
          </p:cNvPr>
          <p:cNvSpPr/>
          <p:nvPr/>
        </p:nvSpPr>
        <p:spPr>
          <a:xfrm>
            <a:off x="4502937" y="4223401"/>
            <a:ext cx="1516502" cy="1063314"/>
          </a:xfrm>
          <a:prstGeom prst="rect">
            <a:avLst/>
          </a:prstGeom>
          <a:pattFill prst="dkUpDiag">
            <a:fgClr>
              <a:schemeClr val="accent6">
                <a:lumMod val="20000"/>
                <a:lumOff val="8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00" b="1">
                <a:solidFill>
                  <a:schemeClr val="tx1">
                    <a:lumMod val="50000"/>
                    <a:lumOff val="50000"/>
                  </a:schemeClr>
                </a:solidFill>
                <a:latin typeface="Verdana" panose="020B0604030504040204" pitchFamily="34" charset="0"/>
                <a:ea typeface="Verdana" panose="020B0604030504040204" pitchFamily="34" charset="0"/>
              </a:rPr>
              <a:t>Overig </a:t>
            </a:r>
          </a:p>
          <a:p>
            <a:pPr algn="ctr"/>
            <a:r>
              <a:rPr lang="nl-NL" sz="1000" i="1">
                <a:solidFill>
                  <a:schemeClr val="tx1">
                    <a:lumMod val="50000"/>
                    <a:lumOff val="50000"/>
                  </a:schemeClr>
                </a:solidFill>
                <a:latin typeface="Verdana" panose="020B0604030504040204" pitchFamily="34" charset="0"/>
                <a:ea typeface="Verdana" panose="020B0604030504040204" pitchFamily="34" charset="0"/>
              </a:rPr>
              <a:t>Sociaal domein: overdracht SD en HA digitaal en monitoring</a:t>
            </a:r>
          </a:p>
        </p:txBody>
      </p:sp>
      <p:sp>
        <p:nvSpPr>
          <p:cNvPr id="12" name="Rectangle 30">
            <a:extLst>
              <a:ext uri="{FF2B5EF4-FFF2-40B4-BE49-F238E27FC236}">
                <a16:creationId xmlns:a16="http://schemas.microsoft.com/office/drawing/2014/main" id="{25905784-F1A3-7DC0-1142-1C062901831B}"/>
              </a:ext>
            </a:extLst>
          </p:cNvPr>
          <p:cNvSpPr/>
          <p:nvPr/>
        </p:nvSpPr>
        <p:spPr>
          <a:xfrm>
            <a:off x="9290679" y="4223401"/>
            <a:ext cx="1236953" cy="1063314"/>
          </a:xfrm>
          <a:prstGeom prst="rect">
            <a:avLst/>
          </a:prstGeom>
          <a:pattFill prst="dkUpDiag">
            <a:fgClr>
              <a:schemeClr val="accent6">
                <a:lumMod val="20000"/>
                <a:lumOff val="8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00" b="1">
                <a:solidFill>
                  <a:schemeClr val="tx1">
                    <a:lumMod val="50000"/>
                    <a:lumOff val="50000"/>
                  </a:schemeClr>
                </a:solidFill>
                <a:latin typeface="Verdana" panose="020B0604030504040204" pitchFamily="34" charset="0"/>
                <a:ea typeface="Verdana" panose="020B0604030504040204" pitchFamily="34" charset="0"/>
              </a:rPr>
              <a:t>Overig </a:t>
            </a:r>
          </a:p>
          <a:p>
            <a:pPr algn="ctr"/>
            <a:r>
              <a:rPr lang="nl-NL" sz="1000" i="1">
                <a:solidFill>
                  <a:schemeClr val="tx1">
                    <a:lumMod val="50000"/>
                    <a:lumOff val="50000"/>
                  </a:schemeClr>
                </a:solidFill>
                <a:latin typeface="Verdana" panose="020B0604030504040204" pitchFamily="34" charset="0"/>
                <a:ea typeface="Verdana" panose="020B0604030504040204" pitchFamily="34" charset="0"/>
              </a:rPr>
              <a:t>Bijv. mentaal gezondheidscentrum</a:t>
            </a:r>
          </a:p>
        </p:txBody>
      </p:sp>
      <p:sp>
        <p:nvSpPr>
          <p:cNvPr id="14" name="Rectangle 30">
            <a:extLst>
              <a:ext uri="{FF2B5EF4-FFF2-40B4-BE49-F238E27FC236}">
                <a16:creationId xmlns:a16="http://schemas.microsoft.com/office/drawing/2014/main" id="{B723B5D3-501D-75D9-F327-0D499C7F905B}"/>
              </a:ext>
            </a:extLst>
          </p:cNvPr>
          <p:cNvSpPr/>
          <p:nvPr/>
        </p:nvSpPr>
        <p:spPr>
          <a:xfrm>
            <a:off x="10611493" y="4223401"/>
            <a:ext cx="1004163" cy="1063314"/>
          </a:xfrm>
          <a:prstGeom prst="rect">
            <a:avLst/>
          </a:prstGeom>
          <a:pattFill prst="dkUpDiag">
            <a:fgClr>
              <a:schemeClr val="accent6">
                <a:lumMod val="20000"/>
                <a:lumOff val="8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00" b="1">
                <a:solidFill>
                  <a:schemeClr val="tx1">
                    <a:lumMod val="50000"/>
                    <a:lumOff val="50000"/>
                  </a:schemeClr>
                </a:solidFill>
                <a:latin typeface="Verdana" panose="020B0604030504040204" pitchFamily="34" charset="0"/>
                <a:ea typeface="Verdana" panose="020B0604030504040204" pitchFamily="34" charset="0"/>
              </a:rPr>
              <a:t>Enz.</a:t>
            </a:r>
            <a:endParaRPr lang="nl-NL" sz="1000" i="1">
              <a:solidFill>
                <a:schemeClr val="tx1">
                  <a:lumMod val="50000"/>
                  <a:lumOff val="50000"/>
                </a:schemeClr>
              </a:solidFill>
              <a:latin typeface="Verdana" panose="020B0604030504040204" pitchFamily="34" charset="0"/>
              <a:ea typeface="Verdana" panose="020B0604030504040204" pitchFamily="34" charset="0"/>
            </a:endParaRPr>
          </a:p>
        </p:txBody>
      </p:sp>
      <p:sp>
        <p:nvSpPr>
          <p:cNvPr id="20" name="Rectangle 33">
            <a:extLst>
              <a:ext uri="{FF2B5EF4-FFF2-40B4-BE49-F238E27FC236}">
                <a16:creationId xmlns:a16="http://schemas.microsoft.com/office/drawing/2014/main" id="{3524C9DF-34EE-430A-3068-4162C2C0706C}"/>
              </a:ext>
            </a:extLst>
          </p:cNvPr>
          <p:cNvSpPr/>
          <p:nvPr/>
        </p:nvSpPr>
        <p:spPr>
          <a:xfrm>
            <a:off x="490645" y="5361235"/>
            <a:ext cx="11125012" cy="1000294"/>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nl-NL" sz="1500" b="1"/>
          </a:p>
          <a:p>
            <a:pPr algn="ctr"/>
            <a:endParaRPr lang="nl-NL" sz="1500" b="1"/>
          </a:p>
          <a:p>
            <a:pPr algn="ctr"/>
            <a:endParaRPr lang="nl-NL" sz="1500" b="1"/>
          </a:p>
          <a:p>
            <a:pPr algn="ctr"/>
            <a:r>
              <a:rPr lang="nl-NL" sz="1500" b="1"/>
              <a:t>Fundament </a:t>
            </a:r>
            <a:r>
              <a:rPr lang="nl-NL" sz="1500" b="1">
                <a:cs typeface="Calibri"/>
              </a:rPr>
              <a:t>Digitalisering &amp; Gegevensuitwisseling </a:t>
            </a:r>
            <a:endParaRPr lang="nl-NL" sz="1500" b="1"/>
          </a:p>
        </p:txBody>
      </p:sp>
      <p:sp>
        <p:nvSpPr>
          <p:cNvPr id="2" name="Rectangle: Single Corner Snipped 18">
            <a:extLst>
              <a:ext uri="{FF2B5EF4-FFF2-40B4-BE49-F238E27FC236}">
                <a16:creationId xmlns:a16="http://schemas.microsoft.com/office/drawing/2014/main" id="{E68239B7-0A97-C4C7-482D-EFBF986809D8}"/>
              </a:ext>
            </a:extLst>
          </p:cNvPr>
          <p:cNvSpPr/>
          <p:nvPr/>
        </p:nvSpPr>
        <p:spPr>
          <a:xfrm>
            <a:off x="630413" y="5463626"/>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t>1</a:t>
            </a:r>
            <a:endParaRPr lang="en-NL" sz="1400" b="1"/>
          </a:p>
        </p:txBody>
      </p:sp>
      <p:sp>
        <p:nvSpPr>
          <p:cNvPr id="28" name="Rectangle 33">
            <a:extLst>
              <a:ext uri="{FF2B5EF4-FFF2-40B4-BE49-F238E27FC236}">
                <a16:creationId xmlns:a16="http://schemas.microsoft.com/office/drawing/2014/main" id="{16A7DC3A-175B-0DB3-74F7-95BBCDF15593}"/>
              </a:ext>
            </a:extLst>
          </p:cNvPr>
          <p:cNvSpPr txBox="1">
            <a:spLocks/>
          </p:cNvSpPr>
          <p:nvPr/>
        </p:nvSpPr>
        <p:spPr>
          <a:xfrm>
            <a:off x="1191126" y="5525323"/>
            <a:ext cx="10039123" cy="508536"/>
          </a:xfrm>
          <a:prstGeom prst="rect">
            <a:avLst/>
          </a:prstGeom>
          <a:solidFill>
            <a:srgbClr val="0E9D90">
              <a:alpha val="90000"/>
            </a:srgbClr>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lnSpcReduction="10000"/>
          </a:bodyP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solidFill>
                  <a:schemeClr val="bg1"/>
                </a:solidFill>
                <a:latin typeface="Verdana" panose="020B0604030504040204" pitchFamily="34" charset="0"/>
                <a:ea typeface="Verdana" panose="020B0604030504040204" pitchFamily="34" charset="0"/>
                <a:cs typeface="Calibri"/>
              </a:rPr>
              <a:t>Het fundament </a:t>
            </a:r>
            <a:r>
              <a:rPr lang="en-US" sz="1000" err="1">
                <a:solidFill>
                  <a:schemeClr val="bg1"/>
                </a:solidFill>
                <a:latin typeface="Verdana" panose="020B0604030504040204" pitchFamily="34" charset="0"/>
                <a:ea typeface="Verdana" panose="020B0604030504040204" pitchFamily="34" charset="0"/>
                <a:cs typeface="Calibri"/>
              </a:rPr>
              <a:t>maakt</a:t>
            </a:r>
            <a:r>
              <a:rPr lang="en-US" sz="1000">
                <a:solidFill>
                  <a:schemeClr val="bg1"/>
                </a:solidFill>
                <a:latin typeface="Verdana" panose="020B0604030504040204" pitchFamily="34" charset="0"/>
                <a:ea typeface="Verdana" panose="020B0604030504040204" pitchFamily="34" charset="0"/>
                <a:cs typeface="Calibri"/>
              </a:rPr>
              <a:t> het </a:t>
            </a:r>
            <a:r>
              <a:rPr lang="en-US" sz="1000" err="1">
                <a:solidFill>
                  <a:schemeClr val="bg1"/>
                </a:solidFill>
                <a:latin typeface="Verdana" panose="020B0604030504040204" pitchFamily="34" charset="0"/>
                <a:ea typeface="Verdana" panose="020B0604030504040204" pitchFamily="34" charset="0"/>
                <a:cs typeface="Calibri"/>
              </a:rPr>
              <a:t>mogelijk</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dat</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gegevens</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uitgewisseld</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kunnen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worden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en</a:t>
            </a:r>
            <a:r>
              <a:rPr lang="en-US" sz="1000">
                <a:solidFill>
                  <a:schemeClr val="bg1"/>
                </a:solidFill>
                <a:latin typeface="Verdana" panose="020B0604030504040204" pitchFamily="34" charset="0"/>
                <a:ea typeface="Verdana" panose="020B0604030504040204" pitchFamily="34" charset="0"/>
                <a:cs typeface="Calibri"/>
              </a:rPr>
              <a:t> data </a:t>
            </a:r>
            <a:r>
              <a:rPr lang="en-US" sz="1000" err="1">
                <a:solidFill>
                  <a:schemeClr val="bg1"/>
                </a:solidFill>
                <a:latin typeface="Verdana" panose="020B0604030504040204" pitchFamily="34" charset="0"/>
                <a:ea typeface="Verdana" panose="020B0604030504040204" pitchFamily="34" charset="0"/>
                <a:cs typeface="Calibri"/>
              </a:rPr>
              <a:t>beschikbaar</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kan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worden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gesteld</a:t>
            </a:r>
            <a:r>
              <a:rPr lang="en-US" sz="1000">
                <a:solidFill>
                  <a:schemeClr val="bg1"/>
                </a:solidFill>
                <a:latin typeface="Verdana" panose="020B0604030504040204" pitchFamily="34" charset="0"/>
                <a:ea typeface="Verdana" panose="020B0604030504040204" pitchFamily="34" charset="0"/>
                <a:cs typeface="Calibri"/>
              </a:rPr>
              <a:t>. De </a:t>
            </a:r>
            <a:r>
              <a:rPr lang="en-US" sz="1000" err="1">
                <a:solidFill>
                  <a:schemeClr val="bg1"/>
                </a:solidFill>
                <a:latin typeface="Verdana" panose="020B0604030504040204" pitchFamily="34" charset="0"/>
                <a:ea typeface="Verdana" panose="020B0604030504040204" pitchFamily="34" charset="0"/>
                <a:cs typeface="Calibri"/>
              </a:rPr>
              <a:t>volgende</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functionaliteiten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worden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gerealiseerd</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aansluiting</a:t>
            </a:r>
            <a:r>
              <a:rPr lang="en-US" sz="1000">
                <a:solidFill>
                  <a:schemeClr val="bg1"/>
                </a:solidFill>
                <a:latin typeface="Verdana" panose="020B0604030504040204" pitchFamily="34" charset="0"/>
                <a:ea typeface="Verdana" panose="020B0604030504040204" pitchFamily="34" charset="0"/>
                <a:cs typeface="Calibri"/>
              </a:rPr>
              <a:t> op </a:t>
            </a:r>
            <a:r>
              <a:rPr lang="en-US" sz="1000" err="1">
                <a:solidFill>
                  <a:schemeClr val="bg1"/>
                </a:solidFill>
                <a:latin typeface="Verdana" panose="020B0604030504040204" pitchFamily="34" charset="0"/>
                <a:ea typeface="Verdana" panose="020B0604030504040204" pitchFamily="34" charset="0"/>
                <a:cs typeface="Calibri"/>
              </a:rPr>
              <a:t>gemeenschappelijke</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generieke</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voorzieningen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Mitz</a:t>
            </a:r>
            <a:r>
              <a:rPr lang="en-US" sz="1000">
                <a:solidFill>
                  <a:schemeClr val="bg1"/>
                </a:solidFill>
                <a:latin typeface="Verdana" panose="020B0604030504040204" pitchFamily="34" charset="0"/>
                <a:ea typeface="Verdana" panose="020B0604030504040204" pitchFamily="34" charset="0"/>
                <a:cs typeface="Calibri"/>
              </a:rPr>
              <a:t>, Zorg-AB, Zorg ID etc.), </a:t>
            </a:r>
            <a:r>
              <a:rPr lang="en-US" sz="1000" err="1">
                <a:solidFill>
                  <a:schemeClr val="bg1"/>
                </a:solidFill>
                <a:latin typeface="Verdana" panose="020B0604030504040204" pitchFamily="34" charset="0"/>
                <a:ea typeface="Verdana" panose="020B0604030504040204" pitchFamily="34" charset="0"/>
                <a:cs typeface="Calibri"/>
              </a:rPr>
              <a:t>aansluiting</a:t>
            </a:r>
            <a:r>
              <a:rPr lang="en-US" sz="1000">
                <a:solidFill>
                  <a:schemeClr val="bg1"/>
                </a:solidFill>
                <a:latin typeface="Verdana" panose="020B0604030504040204" pitchFamily="34" charset="0"/>
                <a:ea typeface="Verdana" panose="020B0604030504040204" pitchFamily="34" charset="0"/>
                <a:cs typeface="Calibri"/>
              </a:rPr>
              <a:t> op </a:t>
            </a:r>
            <a:r>
              <a:rPr lang="en-US" sz="1000" err="1">
                <a:solidFill>
                  <a:schemeClr val="bg1"/>
                </a:solidFill>
                <a:latin typeface="Verdana" panose="020B0604030504040204" pitchFamily="34" charset="0"/>
                <a:ea typeface="Verdana" panose="020B0604030504040204" pitchFamily="34" charset="0"/>
                <a:cs typeface="Calibri"/>
              </a:rPr>
              <a:t>landelijk</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netwerk</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eenheid</a:t>
            </a:r>
            <a:r>
              <a:rPr lang="en-US" sz="1000">
                <a:solidFill>
                  <a:schemeClr val="bg1"/>
                </a:solidFill>
                <a:latin typeface="Verdana" panose="020B0604030504040204" pitchFamily="34" charset="0"/>
                <a:ea typeface="Verdana" panose="020B0604030504040204" pitchFamily="34" charset="0"/>
                <a:cs typeface="Calibri"/>
              </a:rPr>
              <a:t> van taal </a:t>
            </a:r>
            <a:r>
              <a:rPr lang="en-US" sz="1000" err="1">
                <a:solidFill>
                  <a:schemeClr val="bg1"/>
                </a:solidFill>
                <a:latin typeface="Verdana" panose="020B0604030504040204" pitchFamily="34" charset="0"/>
                <a:ea typeface="Verdana" panose="020B0604030504040204" pitchFamily="34" charset="0"/>
                <a:cs typeface="Calibri"/>
              </a:rPr>
              <a:t>en</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techniek</a:t>
            </a:r>
            <a:r>
              <a:rPr lang="en-US" sz="1000">
                <a:solidFill>
                  <a:schemeClr val="bg1"/>
                </a:solidFill>
                <a:latin typeface="Verdana" panose="020B0604030504040204" pitchFamily="34" charset="0"/>
                <a:ea typeface="Verdana" panose="020B0604030504040204" pitchFamily="34" charset="0"/>
                <a:cs typeface="Calibri"/>
              </a:rPr>
              <a:t> (</a:t>
            </a:r>
            <a:r>
              <a:rPr lang="en-US" sz="1000" err="1">
                <a:solidFill>
                  <a:schemeClr val="bg1"/>
                </a:solidFill>
                <a:latin typeface="Verdana" panose="020B0604030504040204" pitchFamily="34" charset="0"/>
                <a:ea typeface="Verdana" panose="020B0604030504040204" pitchFamily="34" charset="0"/>
                <a:cs typeface="Calibri"/>
              </a:rPr>
              <a:t>Snomed</a:t>
            </a:r>
            <a:r>
              <a:rPr lang="en-US" sz="1000">
                <a:solidFill>
                  <a:schemeClr val="bg1"/>
                </a:solidFill>
                <a:latin typeface="Verdana" panose="020B0604030504040204" pitchFamily="34" charset="0"/>
                <a:ea typeface="Verdana" panose="020B0604030504040204" pitchFamily="34" charset="0"/>
                <a:cs typeface="Calibri"/>
              </a:rPr>
              <a:t> &amp; FHIR)</a:t>
            </a:r>
          </a:p>
        </p:txBody>
      </p:sp>
      <p:sp>
        <p:nvSpPr>
          <p:cNvPr id="5" name="Rectangle: Top Corners Rounded 7">
            <a:hlinkClick r:id="rId4" action="ppaction://hlinksldjump"/>
            <a:extLst>
              <a:ext uri="{FF2B5EF4-FFF2-40B4-BE49-F238E27FC236}">
                <a16:creationId xmlns:a16="http://schemas.microsoft.com/office/drawing/2014/main" id="{B96C8510-296A-82DB-4612-8B1DEDB14DC0}"/>
              </a:ext>
            </a:extLst>
          </p:cNvPr>
          <p:cNvSpPr/>
          <p:nvPr/>
        </p:nvSpPr>
        <p:spPr>
          <a:xfrm>
            <a:off x="289703"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8" name="Graphic 7" descr="Introductiepagina silhouet">
            <a:hlinkClick r:id="rId5" action="ppaction://hlinksldjump"/>
            <a:extLst>
              <a:ext uri="{FF2B5EF4-FFF2-40B4-BE49-F238E27FC236}">
                <a16:creationId xmlns:a16="http://schemas.microsoft.com/office/drawing/2014/main" id="{AF632F64-C933-7286-4C66-EF68AC6F0C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33593"/>
            <a:ext cx="144000" cy="144000"/>
          </a:xfrm>
          <a:prstGeom prst="rect">
            <a:avLst/>
          </a:prstGeom>
        </p:spPr>
      </p:pic>
      <p:sp>
        <p:nvSpPr>
          <p:cNvPr id="9" name="Rectangle: Top Corners Rounded 1">
            <a:hlinkClick r:id="rId8" action="ppaction://hlinksldjump"/>
            <a:extLst>
              <a:ext uri="{FF2B5EF4-FFF2-40B4-BE49-F238E27FC236}">
                <a16:creationId xmlns:a16="http://schemas.microsoft.com/office/drawing/2014/main" id="{374CA2B2-DA3B-27DD-7A6C-8D45ED3E7AAF}"/>
              </a:ext>
            </a:extLst>
          </p:cNvPr>
          <p:cNvSpPr/>
          <p:nvPr/>
        </p:nvSpPr>
        <p:spPr>
          <a:xfrm>
            <a:off x="1207188"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0" name="Rectangle: Top Corners Rounded 1">
            <a:hlinkClick r:id="rId9" action="ppaction://hlinksldjump"/>
            <a:extLst>
              <a:ext uri="{FF2B5EF4-FFF2-40B4-BE49-F238E27FC236}">
                <a16:creationId xmlns:a16="http://schemas.microsoft.com/office/drawing/2014/main" id="{86B28518-3CAC-DF8D-C992-025952655581}"/>
              </a:ext>
            </a:extLst>
          </p:cNvPr>
          <p:cNvSpPr/>
          <p:nvPr/>
        </p:nvSpPr>
        <p:spPr>
          <a:xfrm>
            <a:off x="2124673" y="1756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11" name="Rectangle: Top Corners Rounded 1">
            <a:hlinkClick r:id="rId10" action="ppaction://hlinksldjump"/>
            <a:extLst>
              <a:ext uri="{FF2B5EF4-FFF2-40B4-BE49-F238E27FC236}">
                <a16:creationId xmlns:a16="http://schemas.microsoft.com/office/drawing/2014/main" id="{ECCA42AB-743C-084C-8970-4E907F9799CA}"/>
              </a:ext>
            </a:extLst>
          </p:cNvPr>
          <p:cNvSpPr/>
          <p:nvPr/>
        </p:nvSpPr>
        <p:spPr>
          <a:xfrm>
            <a:off x="3042158"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3" name="Rectangle: Top Corners Rounded 1">
            <a:hlinkClick r:id="rId11" action="ppaction://hlinksldjump"/>
            <a:extLst>
              <a:ext uri="{FF2B5EF4-FFF2-40B4-BE49-F238E27FC236}">
                <a16:creationId xmlns:a16="http://schemas.microsoft.com/office/drawing/2014/main" id="{0EF0239F-BB85-939B-D9F5-F2C93429D5EE}"/>
              </a:ext>
            </a:extLst>
          </p:cNvPr>
          <p:cNvSpPr/>
          <p:nvPr/>
        </p:nvSpPr>
        <p:spPr>
          <a:xfrm>
            <a:off x="3959643"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29" name="Rectangle: Top Corners Rounded 1">
            <a:hlinkClick r:id="rId12" action="ppaction://hlinksldjump"/>
            <a:extLst>
              <a:ext uri="{FF2B5EF4-FFF2-40B4-BE49-F238E27FC236}">
                <a16:creationId xmlns:a16="http://schemas.microsoft.com/office/drawing/2014/main" id="{5AEAC962-E7B3-2D10-D8E8-4F4017CC6CEE}"/>
              </a:ext>
            </a:extLst>
          </p:cNvPr>
          <p:cNvSpPr/>
          <p:nvPr/>
        </p:nvSpPr>
        <p:spPr>
          <a:xfrm>
            <a:off x="4877128"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0" name="Rectangle: Top Corners Rounded 1">
            <a:hlinkClick r:id="rId13" action="ppaction://hlinksldjump"/>
            <a:extLst>
              <a:ext uri="{FF2B5EF4-FFF2-40B4-BE49-F238E27FC236}">
                <a16:creationId xmlns:a16="http://schemas.microsoft.com/office/drawing/2014/main" id="{DEFF048E-A703-4803-69FF-9587F325A570}"/>
              </a:ext>
            </a:extLst>
          </p:cNvPr>
          <p:cNvSpPr/>
          <p:nvPr/>
        </p:nvSpPr>
        <p:spPr>
          <a:xfrm>
            <a:off x="5794613"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8" name="Rectangle: Top Corners Rounded 1">
            <a:hlinkClick r:id="rId14" action="ppaction://hlinksldjump"/>
            <a:extLst>
              <a:ext uri="{FF2B5EF4-FFF2-40B4-BE49-F238E27FC236}">
                <a16:creationId xmlns:a16="http://schemas.microsoft.com/office/drawing/2014/main" id="{D57052B1-DBB4-B8D7-7B06-107057CD7A3C}"/>
              </a:ext>
            </a:extLst>
          </p:cNvPr>
          <p:cNvSpPr/>
          <p:nvPr/>
        </p:nvSpPr>
        <p:spPr>
          <a:xfrm>
            <a:off x="6712098"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9" name="Rectangle: Top Corners Rounded 1">
            <a:hlinkClick r:id="rId15" action="ppaction://hlinksldjump"/>
            <a:extLst>
              <a:ext uri="{FF2B5EF4-FFF2-40B4-BE49-F238E27FC236}">
                <a16:creationId xmlns:a16="http://schemas.microsoft.com/office/drawing/2014/main" id="{AA90F15C-4189-AFA3-6FB0-4D1FA92A267A}"/>
              </a:ext>
            </a:extLst>
          </p:cNvPr>
          <p:cNvSpPr/>
          <p:nvPr/>
        </p:nvSpPr>
        <p:spPr>
          <a:xfrm>
            <a:off x="7629583"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0" name="Rectangle: Top Corners Rounded 1">
            <a:hlinkClick r:id="rId16" action="ppaction://hlinksldjump"/>
            <a:extLst>
              <a:ext uri="{FF2B5EF4-FFF2-40B4-BE49-F238E27FC236}">
                <a16:creationId xmlns:a16="http://schemas.microsoft.com/office/drawing/2014/main" id="{6145BA36-53F9-E8D7-F7CA-8DE1EE6D1A2F}"/>
              </a:ext>
            </a:extLst>
          </p:cNvPr>
          <p:cNvSpPr/>
          <p:nvPr/>
        </p:nvSpPr>
        <p:spPr>
          <a:xfrm>
            <a:off x="8547068"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1" name="Rectangle: Top Corners Rounded 1">
            <a:hlinkClick r:id="rId17" action="ppaction://hlinksldjump"/>
            <a:extLst>
              <a:ext uri="{FF2B5EF4-FFF2-40B4-BE49-F238E27FC236}">
                <a16:creationId xmlns:a16="http://schemas.microsoft.com/office/drawing/2014/main" id="{1647FAD5-61A0-7B32-E530-A5434D53791D}"/>
              </a:ext>
            </a:extLst>
          </p:cNvPr>
          <p:cNvSpPr/>
          <p:nvPr/>
        </p:nvSpPr>
        <p:spPr>
          <a:xfrm>
            <a:off x="9464553"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2" name="Rectangle: Top Corners Rounded 1">
            <a:hlinkClick r:id="rId18" action="ppaction://hlinksldjump"/>
            <a:extLst>
              <a:ext uri="{FF2B5EF4-FFF2-40B4-BE49-F238E27FC236}">
                <a16:creationId xmlns:a16="http://schemas.microsoft.com/office/drawing/2014/main" id="{C5587CC8-FB9D-0B48-D6B7-15E265486099}"/>
              </a:ext>
            </a:extLst>
          </p:cNvPr>
          <p:cNvSpPr/>
          <p:nvPr/>
        </p:nvSpPr>
        <p:spPr>
          <a:xfrm>
            <a:off x="10382040" y="1756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3" name="Slide Number Placeholder 64">
            <a:extLst>
              <a:ext uri="{FF2B5EF4-FFF2-40B4-BE49-F238E27FC236}">
                <a16:creationId xmlns:a16="http://schemas.microsoft.com/office/drawing/2014/main" id="{82B6D9F0-570F-9176-336C-9A19CC579E96}"/>
              </a:ext>
            </a:extLst>
          </p:cNvPr>
          <p:cNvSpPr>
            <a:spLocks noGrp="1"/>
          </p:cNvSpPr>
          <p:nvPr>
            <p:ph type="sldNum" sz="quarter" idx="4"/>
          </p:nvPr>
        </p:nvSpPr>
        <p:spPr>
          <a:xfrm>
            <a:off x="5957275" y="6551983"/>
            <a:ext cx="287338" cy="287338"/>
          </a:xfrm>
        </p:spPr>
        <p:txBody>
          <a:bodyPr/>
          <a:lstStyle/>
          <a:p>
            <a:fld id="{C698A4D3-8B34-4F59-BA76-BF518A49D96C}" type="slidenum">
              <a:rPr lang="nl-NL" sz="900" smtClean="0"/>
              <a:pPr/>
              <a:t>13</a:t>
            </a:fld>
            <a:endParaRPr lang="nl-NL" sz="900"/>
          </a:p>
        </p:txBody>
      </p:sp>
    </p:spTree>
    <p:extLst>
      <p:ext uri="{BB962C8B-B14F-4D97-AF65-F5344CB8AC3E}">
        <p14:creationId xmlns:p14="http://schemas.microsoft.com/office/powerpoint/2010/main" val="2569657608"/>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19B4AC65-3B6C-FA92-C89D-4F1AE15B439F}"/>
              </a:ext>
            </a:extLst>
          </p:cNvPr>
          <p:cNvSpPr>
            <a:spLocks noGrp="1"/>
          </p:cNvSpPr>
          <p:nvPr>
            <p:ph type="title"/>
          </p:nvPr>
        </p:nvSpPr>
        <p:spPr>
          <a:xfrm>
            <a:off x="425302" y="465998"/>
            <a:ext cx="10548000" cy="504000"/>
          </a:xfrm>
        </p:spPr>
        <p:txBody>
          <a:bodyPr>
            <a:noAutofit/>
          </a:bodyPr>
          <a:lstStyle/>
          <a:p>
            <a:r>
              <a:rPr lang="nl-NL" b="1">
                <a:solidFill>
                  <a:srgbClr val="8C95CD"/>
                </a:solidFill>
              </a:rPr>
              <a:t>Het </a:t>
            </a:r>
            <a:r>
              <a:rPr lang="nl-NL" b="1" err="1">
                <a:solidFill>
                  <a:srgbClr val="8C95CD"/>
                </a:solidFill>
              </a:rPr>
              <a:t>Nictiz</a:t>
            </a:r>
            <a:r>
              <a:rPr lang="nl-NL" b="1">
                <a:solidFill>
                  <a:srgbClr val="8C95CD"/>
                </a:solidFill>
              </a:rPr>
              <a:t> model laat zien wat in scope van dit transformatieplan valt, voor welke </a:t>
            </a:r>
            <a:r>
              <a:rPr lang="nl-NL" b="1" err="1">
                <a:solidFill>
                  <a:srgbClr val="8C95CD"/>
                </a:solidFill>
              </a:rPr>
              <a:t>usecases</a:t>
            </a:r>
            <a:r>
              <a:rPr lang="nl-NL" b="1">
                <a:solidFill>
                  <a:srgbClr val="8C95CD"/>
                </a:solidFill>
              </a:rPr>
              <a:t> </a:t>
            </a:r>
          </a:p>
        </p:txBody>
      </p:sp>
      <p:sp>
        <p:nvSpPr>
          <p:cNvPr id="15" name="Tijdelijke aanduiding voor inhoud 2">
            <a:extLst>
              <a:ext uri="{FF2B5EF4-FFF2-40B4-BE49-F238E27FC236}">
                <a16:creationId xmlns:a16="http://schemas.microsoft.com/office/drawing/2014/main" id="{5AEE9368-32CA-B0C9-28F2-EB43E1B1ADD3}"/>
              </a:ext>
            </a:extLst>
          </p:cNvPr>
          <p:cNvSpPr txBox="1">
            <a:spLocks/>
          </p:cNvSpPr>
          <p:nvPr/>
        </p:nvSpPr>
        <p:spPr>
          <a:xfrm>
            <a:off x="2166257" y="1883659"/>
            <a:ext cx="11178447" cy="50818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a:t> </a:t>
            </a:r>
          </a:p>
        </p:txBody>
      </p:sp>
      <p:sp>
        <p:nvSpPr>
          <p:cNvPr id="33" name="Rechthoek 32">
            <a:extLst>
              <a:ext uri="{FF2B5EF4-FFF2-40B4-BE49-F238E27FC236}">
                <a16:creationId xmlns:a16="http://schemas.microsoft.com/office/drawing/2014/main" id="{7BCDB595-48D6-4F26-239E-FE06FB886415}"/>
              </a:ext>
            </a:extLst>
          </p:cNvPr>
          <p:cNvSpPr/>
          <p:nvPr/>
        </p:nvSpPr>
        <p:spPr>
          <a:xfrm>
            <a:off x="0" y="4480794"/>
            <a:ext cx="12192000" cy="1868823"/>
          </a:xfrm>
          <a:prstGeom prst="rect">
            <a:avLst/>
          </a:prstGeom>
          <a:solidFill>
            <a:srgbClr val="F2F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nl-NL" sz="1200" b="1">
                <a:solidFill>
                  <a:schemeClr val="tx1"/>
                </a:solidFill>
              </a:rPr>
              <a:t>Voor </a:t>
            </a:r>
            <a:r>
              <a:rPr lang="nl-NL" sz="1200" b="1" err="1">
                <a:solidFill>
                  <a:schemeClr val="tx1"/>
                </a:solidFill>
              </a:rPr>
              <a:t>usecases</a:t>
            </a:r>
            <a:r>
              <a:rPr lang="nl-NL" sz="1200" b="1">
                <a:solidFill>
                  <a:schemeClr val="tx1"/>
                </a:solidFill>
              </a:rPr>
              <a:t> die </a:t>
            </a:r>
            <a:r>
              <a:rPr lang="nl-NL" sz="1200" b="1" u="sng">
                <a:solidFill>
                  <a:schemeClr val="tx1"/>
                </a:solidFill>
              </a:rPr>
              <a:t>wel</a:t>
            </a:r>
            <a:r>
              <a:rPr lang="nl-NL" sz="1200" b="1">
                <a:solidFill>
                  <a:schemeClr val="tx1"/>
                </a:solidFill>
              </a:rPr>
              <a:t> in dit transformatieplan worden meegenomen </a:t>
            </a:r>
            <a:r>
              <a:rPr lang="nl-NL" sz="1200">
                <a:solidFill>
                  <a:schemeClr val="tx1"/>
                </a:solidFill>
              </a:rPr>
              <a:t>worden alle lagen van het  </a:t>
            </a:r>
            <a:r>
              <a:rPr lang="nl-NL" sz="1200" err="1">
                <a:solidFill>
                  <a:schemeClr val="tx1"/>
                </a:solidFill>
              </a:rPr>
              <a:t>Nictiz</a:t>
            </a:r>
            <a:r>
              <a:rPr lang="nl-NL" sz="1200">
                <a:solidFill>
                  <a:schemeClr val="tx1"/>
                </a:solidFill>
              </a:rPr>
              <a:t> model meegenomen. Het gaat hier zowel om de technische kant als de zorginhoudelijke en implementatie kant van een </a:t>
            </a:r>
            <a:r>
              <a:rPr lang="nl-NL" sz="1200" err="1">
                <a:solidFill>
                  <a:schemeClr val="tx1"/>
                </a:solidFill>
              </a:rPr>
              <a:t>usecase</a:t>
            </a:r>
            <a:r>
              <a:rPr lang="nl-NL" sz="1200">
                <a:solidFill>
                  <a:schemeClr val="tx1"/>
                </a:solidFill>
              </a:rPr>
              <a:t>. Met deze </a:t>
            </a:r>
            <a:r>
              <a:rPr lang="nl-NL" sz="1200" err="1">
                <a:solidFill>
                  <a:schemeClr val="tx1"/>
                </a:solidFill>
              </a:rPr>
              <a:t>usecases</a:t>
            </a:r>
            <a:r>
              <a:rPr lang="nl-NL" sz="1200">
                <a:solidFill>
                  <a:schemeClr val="tx1"/>
                </a:solidFill>
              </a:rPr>
              <a:t> maken we binnen dit transformatieplan impact op zorggebruik in de </a:t>
            </a:r>
            <a:r>
              <a:rPr lang="nl-NL" sz="1200" err="1">
                <a:solidFill>
                  <a:schemeClr val="tx1"/>
                </a:solidFill>
              </a:rPr>
              <a:t>Zvw</a:t>
            </a:r>
            <a:r>
              <a:rPr lang="nl-NL" sz="1200">
                <a:solidFill>
                  <a:schemeClr val="tx1"/>
                </a:solidFill>
              </a:rPr>
              <a:t> en/of inzet van personeel. </a:t>
            </a:r>
          </a:p>
          <a:p>
            <a:pPr>
              <a:spcAft>
                <a:spcPts val="600"/>
              </a:spcAft>
            </a:pPr>
            <a:r>
              <a:rPr lang="nl-NL" sz="1200" b="1" err="1">
                <a:solidFill>
                  <a:schemeClr val="tx1"/>
                </a:solidFill>
              </a:rPr>
              <a:t>Usecases</a:t>
            </a:r>
            <a:r>
              <a:rPr lang="nl-NL" sz="1200" b="1">
                <a:solidFill>
                  <a:schemeClr val="tx1"/>
                </a:solidFill>
              </a:rPr>
              <a:t> die </a:t>
            </a:r>
            <a:r>
              <a:rPr lang="nl-NL" sz="1200" b="1" u="sng">
                <a:solidFill>
                  <a:schemeClr val="tx1"/>
                </a:solidFill>
              </a:rPr>
              <a:t>niet</a:t>
            </a:r>
            <a:r>
              <a:rPr lang="nl-NL" sz="1200" b="1">
                <a:solidFill>
                  <a:schemeClr val="tx1"/>
                </a:solidFill>
              </a:rPr>
              <a:t> in dit transformatieplan worden meegenomen </a:t>
            </a:r>
            <a:r>
              <a:rPr lang="nl-NL" sz="1200">
                <a:solidFill>
                  <a:schemeClr val="tx1"/>
                </a:solidFill>
              </a:rPr>
              <a:t>maken wel gebruik van de informatie en IT-infrastructuur laag die in dit transformatieplan wordt gelegd. Partijen committeren zich hiermee om bij nieuwe </a:t>
            </a:r>
            <a:r>
              <a:rPr lang="nl-NL" sz="1200" err="1">
                <a:solidFill>
                  <a:schemeClr val="tx1"/>
                </a:solidFill>
              </a:rPr>
              <a:t>usecases</a:t>
            </a:r>
            <a:r>
              <a:rPr lang="nl-NL" sz="1200">
                <a:solidFill>
                  <a:schemeClr val="tx1"/>
                </a:solidFill>
              </a:rPr>
              <a:t> altijd gebruik te maken van de gekozen gemeenschappelijke voorzieningen, de gekozen eenheid van taal en aansluiting bij het landelijk netwerk. Op deze manier zorgen we ervoor dat stapsgewijs gebouwd kan worden aan regionale en landelijke gegevensuitwisseling. </a:t>
            </a:r>
          </a:p>
          <a:p>
            <a:pPr>
              <a:spcAft>
                <a:spcPts val="600"/>
              </a:spcAft>
            </a:pPr>
            <a:r>
              <a:rPr lang="nl-NL" sz="1200">
                <a:solidFill>
                  <a:schemeClr val="tx1"/>
                </a:solidFill>
              </a:rPr>
              <a:t>De overige lagen van het model, die de zorginhoudelijke invulling en </a:t>
            </a:r>
            <a:r>
              <a:rPr lang="nl-NL" sz="1200" err="1">
                <a:solidFill>
                  <a:schemeClr val="tx1"/>
                </a:solidFill>
              </a:rPr>
              <a:t>applicatielaag</a:t>
            </a:r>
            <a:r>
              <a:rPr lang="nl-NL" sz="1200">
                <a:solidFill>
                  <a:schemeClr val="tx1"/>
                </a:solidFill>
              </a:rPr>
              <a:t> beschrijven, worden apart opgepakt. Dit bevat bijvoorbeeld de beschrijving van het nieuwe zorgpad, eventuele aanvullende apps/</a:t>
            </a:r>
            <a:r>
              <a:rPr lang="nl-NL" sz="1200" err="1">
                <a:solidFill>
                  <a:schemeClr val="tx1"/>
                </a:solidFill>
              </a:rPr>
              <a:t>devices</a:t>
            </a:r>
            <a:r>
              <a:rPr lang="nl-NL" sz="1200">
                <a:solidFill>
                  <a:schemeClr val="tx1"/>
                </a:solidFill>
              </a:rPr>
              <a:t>/afspraken die nodig zijn naast het fundament en de benodigde koppelingen tussen bv HIS/ZIC/CIS en de applicatie om data te kunnen uitwisselen en registreren. Verder wordt daar ook de implementatie opgepakt en de impact op zorggebruik.</a:t>
            </a:r>
          </a:p>
        </p:txBody>
      </p:sp>
      <p:pic>
        <p:nvPicPr>
          <p:cNvPr id="2" name="Afbeelding 1">
            <a:extLst>
              <a:ext uri="{FF2B5EF4-FFF2-40B4-BE49-F238E27FC236}">
                <a16:creationId xmlns:a16="http://schemas.microsoft.com/office/drawing/2014/main" id="{BF953A2C-2E66-B3C1-BD15-8E337483F6CC}"/>
              </a:ext>
            </a:extLst>
          </p:cNvPr>
          <p:cNvPicPr>
            <a:picLocks noChangeAspect="1"/>
          </p:cNvPicPr>
          <p:nvPr/>
        </p:nvPicPr>
        <p:blipFill>
          <a:blip r:embed="rId4"/>
          <a:stretch>
            <a:fillRect/>
          </a:stretch>
        </p:blipFill>
        <p:spPr>
          <a:xfrm>
            <a:off x="375150" y="2055043"/>
            <a:ext cx="5857637" cy="2350371"/>
          </a:xfrm>
          <a:prstGeom prst="rect">
            <a:avLst/>
          </a:prstGeom>
        </p:spPr>
      </p:pic>
      <p:pic>
        <p:nvPicPr>
          <p:cNvPr id="3" name="Afbeelding 2">
            <a:extLst>
              <a:ext uri="{FF2B5EF4-FFF2-40B4-BE49-F238E27FC236}">
                <a16:creationId xmlns:a16="http://schemas.microsoft.com/office/drawing/2014/main" id="{E55ED1D6-5233-ECFB-BAB0-714CA97FA215}"/>
              </a:ext>
            </a:extLst>
          </p:cNvPr>
          <p:cNvPicPr>
            <a:picLocks noChangeAspect="1"/>
          </p:cNvPicPr>
          <p:nvPr/>
        </p:nvPicPr>
        <p:blipFill>
          <a:blip r:embed="rId5"/>
          <a:stretch>
            <a:fillRect/>
          </a:stretch>
        </p:blipFill>
        <p:spPr>
          <a:xfrm>
            <a:off x="6270428" y="2055043"/>
            <a:ext cx="5610447" cy="2320304"/>
          </a:xfrm>
          <a:prstGeom prst="rect">
            <a:avLst/>
          </a:prstGeom>
        </p:spPr>
      </p:pic>
      <p:sp>
        <p:nvSpPr>
          <p:cNvPr id="45" name="Tijdelijke aanduiding voor tekst 23">
            <a:extLst>
              <a:ext uri="{FF2B5EF4-FFF2-40B4-BE49-F238E27FC236}">
                <a16:creationId xmlns:a16="http://schemas.microsoft.com/office/drawing/2014/main" id="{FD9E96BA-4BB2-9D1E-2D16-C1F16F0EF737}"/>
              </a:ext>
            </a:extLst>
          </p:cNvPr>
          <p:cNvSpPr txBox="1">
            <a:spLocks/>
          </p:cNvSpPr>
          <p:nvPr/>
        </p:nvSpPr>
        <p:spPr>
          <a:xfrm>
            <a:off x="6420891" y="1524000"/>
            <a:ext cx="5183188" cy="502444"/>
          </a:xfrm>
          <a:prstGeom prst="rect">
            <a:avLst/>
          </a:prstGeom>
        </p:spPr>
        <p:txBody>
          <a:bodyPr/>
          <a:lstStyle>
            <a:lvl1pPr marL="180000" indent="-180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1pPr>
            <a:lvl2pPr marL="360000" indent="-180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2pPr>
            <a:lvl3pPr marL="540000" indent="-180000" algn="l" defTabSz="914400"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mn-cs"/>
              </a:defRPr>
            </a:lvl3pPr>
            <a:lvl4pPr marL="720000" indent="-180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2400" b="1" i="0" u="none" strike="noStrike" kern="1200" cap="none" spc="0" normalizeH="0" baseline="0" noProof="0" err="1">
                <a:ln>
                  <a:noFill/>
                </a:ln>
                <a:solidFill>
                  <a:prstClr val="black"/>
                </a:solidFill>
                <a:effectLst/>
                <a:uLnTx/>
                <a:uFillTx/>
                <a:latin typeface="Calibri" panose="020F0502020204030204"/>
                <a:ea typeface="+mn-ea"/>
                <a:cs typeface="+mn-cs"/>
              </a:rPr>
              <a:t>Use</a:t>
            </a:r>
            <a:r>
              <a:rPr kumimoji="0" lang="nl-NL" sz="2400" b="1" i="0" u="none" strike="noStrike" kern="1200" cap="none" spc="0" normalizeH="0" baseline="0" noProof="0">
                <a:ln>
                  <a:noFill/>
                </a:ln>
                <a:solidFill>
                  <a:prstClr val="black"/>
                </a:solidFill>
                <a:effectLst/>
                <a:uLnTx/>
                <a:uFillTx/>
                <a:latin typeface="Calibri" panose="020F0502020204030204"/>
                <a:ea typeface="+mn-ea"/>
                <a:cs typeface="+mn-cs"/>
              </a:rPr>
              <a:t> cases </a:t>
            </a:r>
            <a:r>
              <a:rPr kumimoji="0" lang="nl-NL" sz="2400" b="1" i="0" u="sng" strike="noStrike" kern="1200" cap="none" spc="0" normalizeH="0" baseline="0" noProof="0">
                <a:ln>
                  <a:noFill/>
                </a:ln>
                <a:solidFill>
                  <a:prstClr val="black"/>
                </a:solidFill>
                <a:effectLst/>
                <a:uLnTx/>
                <a:uFillTx/>
                <a:latin typeface="Calibri" panose="020F0502020204030204"/>
                <a:ea typeface="+mn-ea"/>
                <a:cs typeface="+mn-cs"/>
              </a:rPr>
              <a:t>niet</a:t>
            </a:r>
            <a:r>
              <a:rPr kumimoji="0" lang="nl-NL" sz="2400" b="1" i="0" u="none" strike="noStrike" kern="1200" cap="none" spc="0" normalizeH="0" baseline="0" noProof="0">
                <a:ln>
                  <a:noFill/>
                </a:ln>
                <a:solidFill>
                  <a:prstClr val="black"/>
                </a:solidFill>
                <a:effectLst/>
                <a:uLnTx/>
                <a:uFillTx/>
                <a:latin typeface="Calibri" panose="020F0502020204030204"/>
                <a:ea typeface="+mn-ea"/>
                <a:cs typeface="+mn-cs"/>
              </a:rPr>
              <a:t> in dit transformatieplan</a:t>
            </a:r>
          </a:p>
          <a:p>
            <a:pPr marL="0" indent="0">
              <a:buNone/>
            </a:pPr>
            <a:endParaRPr lang="nl-NL"/>
          </a:p>
        </p:txBody>
      </p:sp>
      <p:sp>
        <p:nvSpPr>
          <p:cNvPr id="50" name="Tijdelijke aanduiding voor tekst 23">
            <a:extLst>
              <a:ext uri="{FF2B5EF4-FFF2-40B4-BE49-F238E27FC236}">
                <a16:creationId xmlns:a16="http://schemas.microsoft.com/office/drawing/2014/main" id="{B3848302-7CBB-E5EE-5A11-8E96FD2787C6}"/>
              </a:ext>
            </a:extLst>
          </p:cNvPr>
          <p:cNvSpPr txBox="1">
            <a:spLocks/>
          </p:cNvSpPr>
          <p:nvPr/>
        </p:nvSpPr>
        <p:spPr>
          <a:xfrm>
            <a:off x="375150" y="1524000"/>
            <a:ext cx="5183188" cy="502444"/>
          </a:xfrm>
          <a:prstGeom prst="rect">
            <a:avLst/>
          </a:prstGeom>
        </p:spPr>
        <p:txBody>
          <a:bodyPr/>
          <a:lstStyle>
            <a:lvl1pPr marL="180000" indent="-1800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1pPr>
            <a:lvl2pPr marL="360000" indent="-180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2pPr>
            <a:lvl3pPr marL="540000" indent="-180000" algn="l" defTabSz="914400"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mn-cs"/>
              </a:defRPr>
            </a:lvl3pPr>
            <a:lvl4pPr marL="720000" indent="-180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2400" b="1" i="0" u="none" strike="noStrike" kern="1200" cap="none" spc="0" normalizeH="0" baseline="0" noProof="0" err="1">
                <a:ln>
                  <a:noFill/>
                </a:ln>
                <a:solidFill>
                  <a:prstClr val="black"/>
                </a:solidFill>
                <a:effectLst/>
                <a:uLnTx/>
                <a:uFillTx/>
                <a:latin typeface="Calibri" panose="020F0502020204030204"/>
                <a:ea typeface="+mn-ea"/>
                <a:cs typeface="+mn-cs"/>
              </a:rPr>
              <a:t>Use</a:t>
            </a:r>
            <a:r>
              <a:rPr kumimoji="0" lang="nl-NL" sz="2400" b="1" i="0" u="none" strike="noStrike" kern="1200" cap="none" spc="0" normalizeH="0" baseline="0" noProof="0">
                <a:ln>
                  <a:noFill/>
                </a:ln>
                <a:solidFill>
                  <a:prstClr val="black"/>
                </a:solidFill>
                <a:effectLst/>
                <a:uLnTx/>
                <a:uFillTx/>
                <a:latin typeface="Calibri" panose="020F0502020204030204"/>
                <a:ea typeface="+mn-ea"/>
                <a:cs typeface="+mn-cs"/>
              </a:rPr>
              <a:t> cases </a:t>
            </a:r>
            <a:r>
              <a:rPr kumimoji="0" lang="nl-NL" sz="2400" b="1" i="0" u="sng" strike="noStrike" kern="1200" cap="none" spc="0" normalizeH="0" baseline="0" noProof="0">
                <a:ln>
                  <a:noFill/>
                </a:ln>
                <a:solidFill>
                  <a:prstClr val="black"/>
                </a:solidFill>
                <a:effectLst/>
                <a:uLnTx/>
                <a:uFillTx/>
                <a:latin typeface="Calibri" panose="020F0502020204030204"/>
                <a:ea typeface="+mn-ea"/>
                <a:cs typeface="+mn-cs"/>
              </a:rPr>
              <a:t>wel</a:t>
            </a:r>
            <a:r>
              <a:rPr kumimoji="0" lang="nl-NL" sz="2400" b="1" i="0" u="none" strike="noStrike" kern="1200" cap="none" spc="0" normalizeH="0" baseline="0" noProof="0">
                <a:ln>
                  <a:noFill/>
                </a:ln>
                <a:solidFill>
                  <a:prstClr val="black"/>
                </a:solidFill>
                <a:effectLst/>
                <a:uLnTx/>
                <a:uFillTx/>
                <a:latin typeface="Calibri" panose="020F0502020204030204"/>
                <a:ea typeface="+mn-ea"/>
                <a:cs typeface="+mn-cs"/>
              </a:rPr>
              <a:t> in dit transformatieplan</a:t>
            </a:r>
          </a:p>
          <a:p>
            <a:pPr marL="0" indent="0">
              <a:buNone/>
            </a:pPr>
            <a:endParaRPr lang="nl-NL"/>
          </a:p>
        </p:txBody>
      </p:sp>
      <p:sp>
        <p:nvSpPr>
          <p:cNvPr id="31" name="Slide Number Placeholder 64">
            <a:extLst>
              <a:ext uri="{FF2B5EF4-FFF2-40B4-BE49-F238E27FC236}">
                <a16:creationId xmlns:a16="http://schemas.microsoft.com/office/drawing/2014/main" id="{76337665-12AA-321B-151C-2961F3F9E4E6}"/>
              </a:ext>
            </a:extLst>
          </p:cNvPr>
          <p:cNvSpPr>
            <a:spLocks noGrp="1"/>
          </p:cNvSpPr>
          <p:nvPr>
            <p:ph type="sldNum" sz="quarter" idx="4"/>
          </p:nvPr>
        </p:nvSpPr>
        <p:spPr>
          <a:xfrm>
            <a:off x="5957275" y="6551983"/>
            <a:ext cx="287338" cy="287338"/>
          </a:xfrm>
        </p:spPr>
        <p:txBody>
          <a:bodyPr/>
          <a:lstStyle/>
          <a:p>
            <a:fld id="{C698A4D3-8B34-4F59-BA76-BF518A49D96C}" type="slidenum">
              <a:rPr lang="nl-NL" sz="900" smtClean="0"/>
              <a:pPr/>
              <a:t>14</a:t>
            </a:fld>
            <a:endParaRPr lang="nl-NL" sz="900"/>
          </a:p>
        </p:txBody>
      </p:sp>
      <p:sp>
        <p:nvSpPr>
          <p:cNvPr id="7" name="Rectangle: Top Corners Rounded 38">
            <a:hlinkClick r:id="rId6" action="ppaction://hlinksldjump"/>
            <a:extLst>
              <a:ext uri="{FF2B5EF4-FFF2-40B4-BE49-F238E27FC236}">
                <a16:creationId xmlns:a16="http://schemas.microsoft.com/office/drawing/2014/main" id="{2CDB5FE5-AC18-396E-D61E-B4EBECAF8FFE}"/>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2" name="Graphic 11" descr="Introductiepagina silhouet">
            <a:hlinkClick r:id="rId7" action="ppaction://hlinksldjump"/>
            <a:extLst>
              <a:ext uri="{FF2B5EF4-FFF2-40B4-BE49-F238E27FC236}">
                <a16:creationId xmlns:a16="http://schemas.microsoft.com/office/drawing/2014/main" id="{577DEA15-DC66-4D0B-0D02-BBB04BC8A33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6" y="147223"/>
            <a:ext cx="144000" cy="144000"/>
          </a:xfrm>
          <a:prstGeom prst="rect">
            <a:avLst/>
          </a:prstGeom>
        </p:spPr>
      </p:pic>
      <p:sp>
        <p:nvSpPr>
          <p:cNvPr id="14" name="Rectangle: Top Corners Rounded 1">
            <a:hlinkClick r:id="rId10" action="ppaction://hlinksldjump"/>
            <a:extLst>
              <a:ext uri="{FF2B5EF4-FFF2-40B4-BE49-F238E27FC236}">
                <a16:creationId xmlns:a16="http://schemas.microsoft.com/office/drawing/2014/main" id="{4E0D7714-2F1A-730E-E427-66974FC5BBF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6" name="Rectangle: Top Corners Rounded 1">
            <a:hlinkClick r:id="rId11" action="ppaction://hlinksldjump"/>
            <a:extLst>
              <a:ext uri="{FF2B5EF4-FFF2-40B4-BE49-F238E27FC236}">
                <a16:creationId xmlns:a16="http://schemas.microsoft.com/office/drawing/2014/main" id="{0487A052-D4D5-AF54-C285-0B44BDBE000B}"/>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17" name="Rectangle: Top Corners Rounded 1">
            <a:hlinkClick r:id="rId12" action="ppaction://hlinksldjump"/>
            <a:extLst>
              <a:ext uri="{FF2B5EF4-FFF2-40B4-BE49-F238E27FC236}">
                <a16:creationId xmlns:a16="http://schemas.microsoft.com/office/drawing/2014/main" id="{FD9D72AE-EEA3-0293-6014-7300526D2519}"/>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8" name="Rectangle: Top Corners Rounded 1">
            <a:hlinkClick r:id="rId13" action="ppaction://hlinksldjump"/>
            <a:extLst>
              <a:ext uri="{FF2B5EF4-FFF2-40B4-BE49-F238E27FC236}">
                <a16:creationId xmlns:a16="http://schemas.microsoft.com/office/drawing/2014/main" id="{E5DB64A1-4AAF-A162-920D-C87087C0BC5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9" name="Rectangle: Top Corners Rounded 1">
            <a:hlinkClick r:id="rId14" action="ppaction://hlinksldjump"/>
            <a:extLst>
              <a:ext uri="{FF2B5EF4-FFF2-40B4-BE49-F238E27FC236}">
                <a16:creationId xmlns:a16="http://schemas.microsoft.com/office/drawing/2014/main" id="{7BC2E2E6-09DD-AC1A-8D02-275620BB9AD2}"/>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0" name="Rectangle: Top Corners Rounded 1">
            <a:hlinkClick r:id="rId15" action="ppaction://hlinksldjump"/>
            <a:extLst>
              <a:ext uri="{FF2B5EF4-FFF2-40B4-BE49-F238E27FC236}">
                <a16:creationId xmlns:a16="http://schemas.microsoft.com/office/drawing/2014/main" id="{793893AD-C1D7-2594-9F08-68D4BFDF3BF0}"/>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1" name="Rectangle: Top Corners Rounded 1">
            <a:hlinkClick r:id="rId16" action="ppaction://hlinksldjump"/>
            <a:extLst>
              <a:ext uri="{FF2B5EF4-FFF2-40B4-BE49-F238E27FC236}">
                <a16:creationId xmlns:a16="http://schemas.microsoft.com/office/drawing/2014/main" id="{DAF99738-D861-C5AF-4082-97D8FEC5419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3" name="Rectangle: Top Corners Rounded 1">
            <a:hlinkClick r:id="rId17" action="ppaction://hlinksldjump"/>
            <a:extLst>
              <a:ext uri="{FF2B5EF4-FFF2-40B4-BE49-F238E27FC236}">
                <a16:creationId xmlns:a16="http://schemas.microsoft.com/office/drawing/2014/main" id="{524710DC-C29B-6D7B-41B5-33DA753C9CE6}"/>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5" name="Rectangle: Top Corners Rounded 1">
            <a:hlinkClick r:id="rId18" action="ppaction://hlinksldjump"/>
            <a:extLst>
              <a:ext uri="{FF2B5EF4-FFF2-40B4-BE49-F238E27FC236}">
                <a16:creationId xmlns:a16="http://schemas.microsoft.com/office/drawing/2014/main" id="{AD659843-3E5D-FDBC-E978-657FF71A8EB6}"/>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6" name="Rectangle: Top Corners Rounded 1">
            <a:hlinkClick r:id="rId19" action="ppaction://hlinksldjump"/>
            <a:extLst>
              <a:ext uri="{FF2B5EF4-FFF2-40B4-BE49-F238E27FC236}">
                <a16:creationId xmlns:a16="http://schemas.microsoft.com/office/drawing/2014/main" id="{4A5CBA2C-1005-7207-8EBF-24BA20061EA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2" name="Rectangle: Top Corners Rounded 1">
            <a:hlinkClick r:id="rId20" action="ppaction://hlinksldjump"/>
            <a:extLst>
              <a:ext uri="{FF2B5EF4-FFF2-40B4-BE49-F238E27FC236}">
                <a16:creationId xmlns:a16="http://schemas.microsoft.com/office/drawing/2014/main" id="{6A7E0115-7DAE-3472-2AAE-A4D6AE985AAA}"/>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077507216"/>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5464B-2FF2-A413-FDDD-6852A278280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2A02981B-6304-26DC-DA55-8F0DC307E930}"/>
              </a:ext>
            </a:extLst>
          </p:cNvPr>
          <p:cNvSpPr>
            <a:spLocks noGrp="1"/>
          </p:cNvSpPr>
          <p:nvPr>
            <p:ph type="title"/>
          </p:nvPr>
        </p:nvSpPr>
        <p:spPr/>
        <p:txBody>
          <a:bodyPr>
            <a:noAutofit/>
          </a:bodyPr>
          <a:lstStyle/>
          <a:p>
            <a:r>
              <a:rPr lang="nl-NL" b="1">
                <a:solidFill>
                  <a:srgbClr val="8C95CD"/>
                </a:solidFill>
              </a:rPr>
              <a:t>Samenhang activiteiten en IZA-opgaven</a:t>
            </a:r>
          </a:p>
        </p:txBody>
      </p:sp>
      <p:sp>
        <p:nvSpPr>
          <p:cNvPr id="52" name="Slide Number Placeholder 64">
            <a:extLst>
              <a:ext uri="{FF2B5EF4-FFF2-40B4-BE49-F238E27FC236}">
                <a16:creationId xmlns:a16="http://schemas.microsoft.com/office/drawing/2014/main" id="{EF9D409E-14F3-A358-FFC0-EC2EF26B61A9}"/>
              </a:ext>
            </a:extLst>
          </p:cNvPr>
          <p:cNvSpPr>
            <a:spLocks noGrp="1"/>
          </p:cNvSpPr>
          <p:nvPr>
            <p:ph type="sldNum" sz="quarter" idx="4"/>
          </p:nvPr>
        </p:nvSpPr>
        <p:spPr>
          <a:xfrm>
            <a:off x="5957275" y="6551983"/>
            <a:ext cx="287338" cy="287338"/>
          </a:xfrm>
        </p:spPr>
        <p:txBody>
          <a:bodyPr/>
          <a:lstStyle/>
          <a:p>
            <a:fld id="{C698A4D3-8B34-4F59-BA76-BF518A49D96C}" type="slidenum">
              <a:rPr lang="nl-NL" sz="900" smtClean="0"/>
              <a:pPr/>
              <a:t>15</a:t>
            </a:fld>
            <a:endParaRPr lang="nl-NL" sz="900"/>
          </a:p>
        </p:txBody>
      </p:sp>
      <p:sp>
        <p:nvSpPr>
          <p:cNvPr id="69" name="Rechthoek: afgeronde hoeken 68">
            <a:extLst>
              <a:ext uri="{FF2B5EF4-FFF2-40B4-BE49-F238E27FC236}">
                <a16:creationId xmlns:a16="http://schemas.microsoft.com/office/drawing/2014/main" id="{B98CA0B9-1E27-E662-5D92-B3A179ACD74C}"/>
              </a:ext>
            </a:extLst>
          </p:cNvPr>
          <p:cNvSpPr/>
          <p:nvPr/>
        </p:nvSpPr>
        <p:spPr>
          <a:xfrm>
            <a:off x="411271" y="2245706"/>
            <a:ext cx="2030819" cy="2338841"/>
          </a:xfrm>
          <a:prstGeom prst="roundRect">
            <a:avLst/>
          </a:prstGeom>
          <a:solidFill>
            <a:srgbClr val="ED7D31">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prstClr val="black"/>
                </a:solidFill>
                <a:effectLst/>
                <a:uLnTx/>
                <a:uFillTx/>
                <a:latin typeface="Calibri" panose="020F0502020204030204"/>
                <a:ea typeface="+mn-ea"/>
                <a:cs typeface="+mn-cs"/>
              </a:rPr>
              <a:t>Zorgproces</a:t>
            </a:r>
          </a:p>
        </p:txBody>
      </p:sp>
      <p:sp>
        <p:nvSpPr>
          <p:cNvPr id="70" name="Rechthoek: afgeronde hoeken 69">
            <a:extLst>
              <a:ext uri="{FF2B5EF4-FFF2-40B4-BE49-F238E27FC236}">
                <a16:creationId xmlns:a16="http://schemas.microsoft.com/office/drawing/2014/main" id="{2411760D-B507-065A-BEA2-97E6DD32F9AA}"/>
              </a:ext>
            </a:extLst>
          </p:cNvPr>
          <p:cNvSpPr/>
          <p:nvPr/>
        </p:nvSpPr>
        <p:spPr>
          <a:xfrm>
            <a:off x="411271" y="1638321"/>
            <a:ext cx="2030819" cy="514327"/>
          </a:xfrm>
          <a:prstGeom prst="roundRect">
            <a:avLst/>
          </a:prstGeom>
          <a:solidFill>
            <a:srgbClr val="ED7D3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prstClr val="black"/>
                </a:solidFill>
                <a:effectLst/>
                <a:uLnTx/>
                <a:uFillTx/>
                <a:latin typeface="Calibri" panose="020F0502020204030204"/>
                <a:ea typeface="+mn-ea"/>
                <a:cs typeface="+mn-cs"/>
              </a:rPr>
              <a:t>Organisatiebeleid</a:t>
            </a:r>
          </a:p>
        </p:txBody>
      </p:sp>
      <p:sp>
        <p:nvSpPr>
          <p:cNvPr id="71" name="Rechthoek: afgeronde hoeken 70">
            <a:extLst>
              <a:ext uri="{FF2B5EF4-FFF2-40B4-BE49-F238E27FC236}">
                <a16:creationId xmlns:a16="http://schemas.microsoft.com/office/drawing/2014/main" id="{94BF5CB1-B351-B6D1-9230-5EBF47264D19}"/>
              </a:ext>
            </a:extLst>
          </p:cNvPr>
          <p:cNvSpPr/>
          <p:nvPr/>
        </p:nvSpPr>
        <p:spPr>
          <a:xfrm>
            <a:off x="444690" y="4705352"/>
            <a:ext cx="2030819" cy="514327"/>
          </a:xfrm>
          <a:prstGeom prst="roundRect">
            <a:avLst/>
          </a:prstGeom>
          <a:solidFill>
            <a:srgbClr val="FFFF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prstClr val="black"/>
                </a:solidFill>
                <a:effectLst/>
                <a:uLnTx/>
                <a:uFillTx/>
                <a:latin typeface="Calibri" panose="020F0502020204030204"/>
                <a:ea typeface="+mn-ea"/>
                <a:cs typeface="+mn-cs"/>
              </a:rPr>
              <a:t>Informatie</a:t>
            </a:r>
          </a:p>
        </p:txBody>
      </p:sp>
      <p:sp>
        <p:nvSpPr>
          <p:cNvPr id="72" name="Rechthoek: afgeronde hoeken 71">
            <a:extLst>
              <a:ext uri="{FF2B5EF4-FFF2-40B4-BE49-F238E27FC236}">
                <a16:creationId xmlns:a16="http://schemas.microsoft.com/office/drawing/2014/main" id="{87973992-897F-EA0B-A05F-0A4A11074896}"/>
              </a:ext>
            </a:extLst>
          </p:cNvPr>
          <p:cNvSpPr/>
          <p:nvPr/>
        </p:nvSpPr>
        <p:spPr>
          <a:xfrm>
            <a:off x="444691" y="5310920"/>
            <a:ext cx="2030819" cy="514327"/>
          </a:xfrm>
          <a:prstGeom prst="roundRect">
            <a:avLst/>
          </a:prstGeom>
          <a:solidFill>
            <a:srgbClr val="92D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prstClr val="black"/>
                </a:solidFill>
                <a:effectLst/>
                <a:uLnTx/>
                <a:uFillTx/>
                <a:latin typeface="Calibri" panose="020F0502020204030204"/>
                <a:ea typeface="+mn-ea"/>
                <a:cs typeface="+mn-cs"/>
              </a:rPr>
              <a:t>Applicatie</a:t>
            </a:r>
          </a:p>
        </p:txBody>
      </p:sp>
      <p:sp>
        <p:nvSpPr>
          <p:cNvPr id="73" name="Rechthoek: afgeronde hoeken 72">
            <a:extLst>
              <a:ext uri="{FF2B5EF4-FFF2-40B4-BE49-F238E27FC236}">
                <a16:creationId xmlns:a16="http://schemas.microsoft.com/office/drawing/2014/main" id="{E117FED1-B9A1-3C35-32B7-ED8B965BA7AB}"/>
              </a:ext>
            </a:extLst>
          </p:cNvPr>
          <p:cNvSpPr/>
          <p:nvPr/>
        </p:nvSpPr>
        <p:spPr>
          <a:xfrm>
            <a:off x="411271" y="5946052"/>
            <a:ext cx="2030819" cy="514327"/>
          </a:xfrm>
          <a:prstGeom prst="roundRect">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prstClr val="black"/>
                </a:solidFill>
                <a:effectLst/>
                <a:uLnTx/>
                <a:uFillTx/>
                <a:latin typeface="Calibri" panose="020F0502020204030204"/>
                <a:ea typeface="+mn-ea"/>
                <a:cs typeface="+mn-cs"/>
              </a:rPr>
              <a:t>IT-infrastructuur</a:t>
            </a:r>
          </a:p>
        </p:txBody>
      </p:sp>
      <p:sp>
        <p:nvSpPr>
          <p:cNvPr id="74" name="Rechthoek: afgeronde hoeken 73">
            <a:extLst>
              <a:ext uri="{FF2B5EF4-FFF2-40B4-BE49-F238E27FC236}">
                <a16:creationId xmlns:a16="http://schemas.microsoft.com/office/drawing/2014/main" id="{1B571241-F3F8-9E92-F4FF-F1A10054A7C0}"/>
              </a:ext>
            </a:extLst>
          </p:cNvPr>
          <p:cNvSpPr/>
          <p:nvPr/>
        </p:nvSpPr>
        <p:spPr>
          <a:xfrm>
            <a:off x="2655065" y="1040586"/>
            <a:ext cx="6698255" cy="514327"/>
          </a:xfrm>
          <a:prstGeom prst="roundRect">
            <a:avLst/>
          </a:prstGeom>
          <a:solidFill>
            <a:srgbClr val="B9B9B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800" b="1" i="0" u="none" strike="noStrike" kern="0" cap="none" spc="0" normalizeH="0" baseline="0" noProof="0" err="1">
                <a:ln>
                  <a:noFill/>
                </a:ln>
                <a:solidFill>
                  <a:prstClr val="black"/>
                </a:solidFill>
                <a:effectLst/>
                <a:uLnTx/>
                <a:uFillTx/>
                <a:latin typeface="Calibri" panose="020F0502020204030204"/>
                <a:ea typeface="+mn-ea"/>
                <a:cs typeface="+mn-cs"/>
              </a:rPr>
              <a:t>Usecases</a:t>
            </a:r>
            <a:endParaRPr kumimoji="0" lang="nl-NL" sz="18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75" name="Rechthoek: afgeronde hoeken 74">
            <a:extLst>
              <a:ext uri="{FF2B5EF4-FFF2-40B4-BE49-F238E27FC236}">
                <a16:creationId xmlns:a16="http://schemas.microsoft.com/office/drawing/2014/main" id="{78FE997C-CB4B-75C9-4580-7ED32261E881}"/>
              </a:ext>
            </a:extLst>
          </p:cNvPr>
          <p:cNvSpPr/>
          <p:nvPr/>
        </p:nvSpPr>
        <p:spPr>
          <a:xfrm>
            <a:off x="2655067" y="1638321"/>
            <a:ext cx="6698255" cy="514327"/>
          </a:xfrm>
          <a:prstGeom prst="roundRect">
            <a:avLst/>
          </a:prstGeom>
          <a:solidFill>
            <a:srgbClr val="ED7D31">
              <a:lumMod val="60000"/>
              <a:lumOff val="4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400" b="0" i="0" u="none" strike="noStrike" kern="0" cap="none" spc="0" normalizeH="0" baseline="0" noProof="0">
                <a:ln>
                  <a:noFill/>
                </a:ln>
                <a:solidFill>
                  <a:prstClr val="black"/>
                </a:solidFill>
                <a:effectLst/>
                <a:uLnTx/>
                <a:uFillTx/>
                <a:latin typeface="Calibri" panose="020F0502020204030204"/>
                <a:ea typeface="+mn-ea"/>
                <a:cs typeface="+mn-cs"/>
              </a:rPr>
              <a:t>Professionele</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richtlijnen, regioplan IZA MNL </a:t>
            </a:r>
          </a:p>
        </p:txBody>
      </p:sp>
      <p:sp>
        <p:nvSpPr>
          <p:cNvPr id="76" name="Rechthoek: afgeronde hoeken 75">
            <a:extLst>
              <a:ext uri="{FF2B5EF4-FFF2-40B4-BE49-F238E27FC236}">
                <a16:creationId xmlns:a16="http://schemas.microsoft.com/office/drawing/2014/main" id="{40F6DB3A-7A10-8142-E8DD-2BD8C29E9866}"/>
              </a:ext>
            </a:extLst>
          </p:cNvPr>
          <p:cNvSpPr/>
          <p:nvPr/>
        </p:nvSpPr>
        <p:spPr>
          <a:xfrm>
            <a:off x="2655067" y="2233035"/>
            <a:ext cx="6698255" cy="2354419"/>
          </a:xfrm>
          <a:prstGeom prst="roundRect">
            <a:avLst/>
          </a:prstGeom>
          <a:solidFill>
            <a:srgbClr val="ED7D31">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RTA’s</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werkafspraken en digitale zorgpaden:</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Werkafspraak gezamenlijke dossiervoering</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Werkafspraak gezamenlijke triage</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RTA GGZ ouderen / verslaving</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RTA palliatieve zorg</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RTA wondzorg</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Werkafspraak meedenkconsult</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Werkafspraak kort overleg</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Werkafspraak digitaal (ombuigen) verwijzen</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RTA verwijzen</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Werkafspraak overdracht</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RTA acute zorg</a:t>
            </a:r>
          </a:p>
        </p:txBody>
      </p:sp>
      <p:sp>
        <p:nvSpPr>
          <p:cNvPr id="77" name="Rechthoek: afgeronde hoeken 76">
            <a:extLst>
              <a:ext uri="{FF2B5EF4-FFF2-40B4-BE49-F238E27FC236}">
                <a16:creationId xmlns:a16="http://schemas.microsoft.com/office/drawing/2014/main" id="{3DBA6B83-A212-309E-CDF2-78E796DB3EAC}"/>
              </a:ext>
            </a:extLst>
          </p:cNvPr>
          <p:cNvSpPr/>
          <p:nvPr/>
        </p:nvSpPr>
        <p:spPr>
          <a:xfrm>
            <a:off x="2655065" y="4678867"/>
            <a:ext cx="6698255" cy="519943"/>
          </a:xfrm>
          <a:prstGeom prst="roundRect">
            <a:avLst/>
          </a:prstGeom>
          <a:solidFill>
            <a:srgbClr val="FFFF0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400" b="0" i="0" u="none" strike="noStrike" kern="0" cap="none" spc="0" normalizeH="0" baseline="0" noProof="0" err="1">
                <a:ln>
                  <a:noFill/>
                </a:ln>
                <a:solidFill>
                  <a:prstClr val="black"/>
                </a:solidFill>
                <a:effectLst/>
                <a:uLnTx/>
                <a:uFillTx/>
                <a:latin typeface="Calibri" panose="020F0502020204030204"/>
                <a:ea typeface="+mn-ea"/>
                <a:cs typeface="+mn-cs"/>
              </a:rPr>
              <a:t>Usecase</a:t>
            </a:r>
            <a:r>
              <a:rPr kumimoji="0" lang="nl-NL" sz="1400" b="0" i="0" u="none" strike="noStrike" kern="0" cap="none" spc="0" normalizeH="0" baseline="0" noProof="0">
                <a:ln>
                  <a:noFill/>
                </a:ln>
                <a:solidFill>
                  <a:prstClr val="black"/>
                </a:solidFill>
                <a:effectLst/>
                <a:uLnTx/>
                <a:uFillTx/>
                <a:latin typeface="Calibri" panose="020F0502020204030204"/>
                <a:ea typeface="+mn-ea"/>
                <a:cs typeface="+mn-cs"/>
              </a:rPr>
              <a:t> BGZ 2.1, MP9.0 incl. lab en CIO 2.2, </a:t>
            </a:r>
            <a:r>
              <a:rPr kumimoji="0" lang="nl-NL" sz="1400" b="0" i="0" u="none" strike="noStrike" kern="0" cap="none" spc="0" normalizeH="0" baseline="0" noProof="0" err="1">
                <a:ln>
                  <a:noFill/>
                </a:ln>
                <a:solidFill>
                  <a:prstClr val="black"/>
                </a:solidFill>
                <a:effectLst/>
                <a:uLnTx/>
                <a:uFillTx/>
                <a:latin typeface="Calibri" panose="020F0502020204030204"/>
                <a:ea typeface="+mn-ea"/>
                <a:cs typeface="+mn-cs"/>
              </a:rPr>
              <a:t>eOverdracht</a:t>
            </a:r>
            <a:r>
              <a:rPr kumimoji="0" lang="nl-NL" sz="1400" b="0" i="0" u="none" strike="noStrike" kern="0" cap="none" spc="0" normalizeH="0" baseline="0" noProof="0">
                <a:ln>
                  <a:noFill/>
                </a:ln>
                <a:solidFill>
                  <a:prstClr val="black"/>
                </a:solidFill>
                <a:effectLst/>
                <a:uLnTx/>
                <a:uFillTx/>
                <a:latin typeface="Calibri" panose="020F0502020204030204"/>
                <a:ea typeface="+mn-ea"/>
                <a:cs typeface="+mn-cs"/>
              </a:rPr>
              <a:t> 2.3, acute zorg 2.4</a:t>
            </a:r>
          </a:p>
        </p:txBody>
      </p:sp>
      <p:sp>
        <p:nvSpPr>
          <p:cNvPr id="78" name="Rechthoek: afgeronde hoeken 77">
            <a:extLst>
              <a:ext uri="{FF2B5EF4-FFF2-40B4-BE49-F238E27FC236}">
                <a16:creationId xmlns:a16="http://schemas.microsoft.com/office/drawing/2014/main" id="{D4AAF398-1357-BA10-AE08-0CE238842BD0}"/>
              </a:ext>
            </a:extLst>
          </p:cNvPr>
          <p:cNvSpPr/>
          <p:nvPr/>
        </p:nvSpPr>
        <p:spPr>
          <a:xfrm>
            <a:off x="2655066" y="5310920"/>
            <a:ext cx="6698255" cy="514327"/>
          </a:xfrm>
          <a:prstGeom prst="roundRect">
            <a:avLst/>
          </a:prstGeom>
          <a:solidFill>
            <a:srgbClr val="92D05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Harmonisatie van toepassingen via tussen-</a:t>
            </a:r>
          </a:p>
          <a:p>
            <a:pPr marL="0" marR="0" lvl="0" indent="0"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Stations naar Zorgviewer en </a:t>
            </a: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Digizorg</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App</a:t>
            </a:r>
          </a:p>
        </p:txBody>
      </p:sp>
      <p:sp>
        <p:nvSpPr>
          <p:cNvPr id="79" name="Rechthoek: afgeronde hoeken 78">
            <a:extLst>
              <a:ext uri="{FF2B5EF4-FFF2-40B4-BE49-F238E27FC236}">
                <a16:creationId xmlns:a16="http://schemas.microsoft.com/office/drawing/2014/main" id="{15F823D6-3C4B-8B71-A622-A53F5E499E19}"/>
              </a:ext>
            </a:extLst>
          </p:cNvPr>
          <p:cNvSpPr/>
          <p:nvPr/>
        </p:nvSpPr>
        <p:spPr>
          <a:xfrm>
            <a:off x="2655065" y="5940437"/>
            <a:ext cx="6698255" cy="519943"/>
          </a:xfrm>
          <a:prstGeom prst="roundRect">
            <a:avLst/>
          </a:prstGeom>
          <a:solidFill>
            <a:srgbClr val="00B050"/>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Gefedereerde infra, </a:t>
            </a: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CumuluZ</a:t>
            </a:r>
            <a:endParaRPr kumimoji="0" lang="nl-NL" sz="14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80" name="Rechthoek: afgeronde hoeken 79">
            <a:extLst>
              <a:ext uri="{FF2B5EF4-FFF2-40B4-BE49-F238E27FC236}">
                <a16:creationId xmlns:a16="http://schemas.microsoft.com/office/drawing/2014/main" id="{48AF0315-32B3-A014-A659-DB5A0A433E0F}"/>
              </a:ext>
            </a:extLst>
          </p:cNvPr>
          <p:cNvSpPr/>
          <p:nvPr/>
        </p:nvSpPr>
        <p:spPr>
          <a:xfrm>
            <a:off x="9521136" y="1042933"/>
            <a:ext cx="2524759" cy="511980"/>
          </a:xfrm>
          <a:prstGeom prst="roundRect">
            <a:avLst/>
          </a:prstGeom>
          <a:solidFill>
            <a:srgbClr val="B9B9B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800" b="1" i="0" u="none" strike="noStrike" kern="0" cap="none" spc="0" normalizeH="0" baseline="0" noProof="0">
                <a:ln>
                  <a:noFill/>
                </a:ln>
                <a:solidFill>
                  <a:prstClr val="black"/>
                </a:solidFill>
                <a:effectLst/>
                <a:uLnTx/>
                <a:uFillTx/>
                <a:latin typeface="Calibri" panose="020F0502020204030204"/>
                <a:ea typeface="+mn-ea"/>
                <a:cs typeface="+mn-cs"/>
              </a:rPr>
              <a:t>Standaarden en eisen</a:t>
            </a:r>
          </a:p>
        </p:txBody>
      </p:sp>
      <p:sp>
        <p:nvSpPr>
          <p:cNvPr id="81" name="Rechthoek: afgeronde hoeken 80">
            <a:extLst>
              <a:ext uri="{FF2B5EF4-FFF2-40B4-BE49-F238E27FC236}">
                <a16:creationId xmlns:a16="http://schemas.microsoft.com/office/drawing/2014/main" id="{92C0B964-22A0-F11A-9F67-58392086DA5D}"/>
              </a:ext>
            </a:extLst>
          </p:cNvPr>
          <p:cNvSpPr/>
          <p:nvPr/>
        </p:nvSpPr>
        <p:spPr>
          <a:xfrm>
            <a:off x="9521136" y="1660848"/>
            <a:ext cx="2524759" cy="4799532"/>
          </a:xfrm>
          <a:prstGeom prst="roundRect">
            <a:avLst/>
          </a:prstGeom>
          <a:solidFill>
            <a:srgbClr val="B9B9B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82" name="Rechthoek: afgeronde hoeken 81">
            <a:extLst>
              <a:ext uri="{FF2B5EF4-FFF2-40B4-BE49-F238E27FC236}">
                <a16:creationId xmlns:a16="http://schemas.microsoft.com/office/drawing/2014/main" id="{87396ECA-2437-CB79-70F5-EB6B7DDE3E48}"/>
              </a:ext>
            </a:extLst>
          </p:cNvPr>
          <p:cNvSpPr/>
          <p:nvPr/>
        </p:nvSpPr>
        <p:spPr>
          <a:xfrm>
            <a:off x="9611688" y="1719774"/>
            <a:ext cx="2373292" cy="1398852"/>
          </a:xfrm>
          <a:prstGeom prst="roundRect">
            <a:avLst/>
          </a:prstGeom>
          <a:solidFill>
            <a:srgbClr val="A5A5A5">
              <a:lumMod val="20000"/>
              <a:lumOff val="8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Kwaliteitsstandaarden </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Acute zorg</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Verpleegkundige Overdracht</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Medicatieoverdracht in de keten</a:t>
            </a:r>
          </a:p>
        </p:txBody>
      </p:sp>
      <p:sp>
        <p:nvSpPr>
          <p:cNvPr id="83" name="Rechthoek: afgeronde hoeken 82">
            <a:extLst>
              <a:ext uri="{FF2B5EF4-FFF2-40B4-BE49-F238E27FC236}">
                <a16:creationId xmlns:a16="http://schemas.microsoft.com/office/drawing/2014/main" id="{30221C1B-D2F3-E9AA-85B5-A63E732E8AE0}"/>
              </a:ext>
            </a:extLst>
          </p:cNvPr>
          <p:cNvSpPr/>
          <p:nvPr/>
        </p:nvSpPr>
        <p:spPr>
          <a:xfrm>
            <a:off x="9611688" y="4678868"/>
            <a:ext cx="2373292" cy="578666"/>
          </a:xfrm>
          <a:prstGeom prst="roundRect">
            <a:avLst/>
          </a:prstGeom>
          <a:solidFill>
            <a:srgbClr val="A5A5A5">
              <a:lumMod val="20000"/>
              <a:lumOff val="80000"/>
            </a:srgbClr>
          </a:solidFill>
          <a:ln w="12700" cap="flat" cmpd="sng" algn="ctr">
            <a:noFill/>
            <a:prstDash val="solid"/>
            <a:miter lim="800000"/>
          </a:ln>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Snomed</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CT</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Zibs</a:t>
            </a:r>
            <a:endParaRPr kumimoji="0" lang="nl-NL" sz="1200" b="0" i="0" u="none" strike="noStrike" kern="0" cap="none" spc="0" normalizeH="0" baseline="0" noProof="0">
              <a:ln>
                <a:noFill/>
              </a:ln>
              <a:solidFill>
                <a:prstClr val="black"/>
              </a:solidFill>
              <a:effectLst/>
              <a:uLnTx/>
              <a:uFillTx/>
              <a:latin typeface="Calibri" panose="020F050202020403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FHIR</a:t>
            </a:r>
          </a:p>
        </p:txBody>
      </p:sp>
      <p:sp>
        <p:nvSpPr>
          <p:cNvPr id="84" name="Rechthoek: afgeronde hoeken 83">
            <a:extLst>
              <a:ext uri="{FF2B5EF4-FFF2-40B4-BE49-F238E27FC236}">
                <a16:creationId xmlns:a16="http://schemas.microsoft.com/office/drawing/2014/main" id="{0F0D211E-4D35-8A3A-6A0D-DED4E1F9E863}"/>
              </a:ext>
            </a:extLst>
          </p:cNvPr>
          <p:cNvSpPr/>
          <p:nvPr/>
        </p:nvSpPr>
        <p:spPr>
          <a:xfrm>
            <a:off x="9611688" y="5646569"/>
            <a:ext cx="2373292" cy="745434"/>
          </a:xfrm>
          <a:prstGeom prst="roundRect">
            <a:avLst/>
          </a:prstGeom>
          <a:solidFill>
            <a:srgbClr val="A5A5A5">
              <a:lumMod val="20000"/>
              <a:lumOff val="80000"/>
            </a:srgbClr>
          </a:solidFill>
          <a:ln w="12700" cap="flat" cmpd="sng" algn="ctr">
            <a:noFill/>
            <a:prstDash val="solid"/>
            <a:miter lim="800000"/>
          </a:ln>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Twiin</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a:t>
            </a: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MedMij</a:t>
            </a:r>
            <a:endParaRPr kumimoji="0" lang="nl-NL" sz="1200" b="0" i="0" u="none" strike="noStrike" kern="0" cap="none" spc="0" normalizeH="0" baseline="0" noProof="0">
              <a:ln>
                <a:noFill/>
              </a:ln>
              <a:solidFill>
                <a:prstClr val="black"/>
              </a:solidFill>
              <a:effectLst/>
              <a:uLnTx/>
              <a:uFillTx/>
              <a:latin typeface="Calibri" panose="020F0502020204030204"/>
              <a:ea typeface="+mn-ea"/>
              <a:cs typeface="+mn-cs"/>
            </a:endParaRP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Zorg-AB, </a:t>
            </a: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Mitz</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Nuts</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FHIR</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Open EHR</a:t>
            </a:r>
          </a:p>
        </p:txBody>
      </p:sp>
      <p:sp>
        <p:nvSpPr>
          <p:cNvPr id="85" name="Rechthoek: afgeronde hoeken 84">
            <a:extLst>
              <a:ext uri="{FF2B5EF4-FFF2-40B4-BE49-F238E27FC236}">
                <a16:creationId xmlns:a16="http://schemas.microsoft.com/office/drawing/2014/main" id="{7746E48E-AE19-BD41-D869-B5DB7493BDE1}"/>
              </a:ext>
            </a:extLst>
          </p:cNvPr>
          <p:cNvSpPr/>
          <p:nvPr/>
        </p:nvSpPr>
        <p:spPr>
          <a:xfrm rot="16200000">
            <a:off x="-2639124" y="3813874"/>
            <a:ext cx="5544000" cy="288000"/>
          </a:xfrm>
          <a:prstGeom prst="roundRect">
            <a:avLst/>
          </a:prstGeom>
          <a:solidFill>
            <a:srgbClr val="4472C4">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prstClr val="black"/>
                </a:solidFill>
                <a:effectLst/>
                <a:uLnTx/>
                <a:uFillTx/>
                <a:latin typeface="Calibri" panose="020F0502020204030204"/>
                <a:ea typeface="+mn-ea"/>
                <a:cs typeface="+mn-cs"/>
              </a:rPr>
              <a:t>Wet- en regelgeving</a:t>
            </a:r>
          </a:p>
        </p:txBody>
      </p:sp>
      <p:sp>
        <p:nvSpPr>
          <p:cNvPr id="86" name="Rechthoek: afgeronde hoeken 85">
            <a:extLst>
              <a:ext uri="{FF2B5EF4-FFF2-40B4-BE49-F238E27FC236}">
                <a16:creationId xmlns:a16="http://schemas.microsoft.com/office/drawing/2014/main" id="{414EF70A-6DA8-CE78-307F-221E67720E11}"/>
              </a:ext>
            </a:extLst>
          </p:cNvPr>
          <p:cNvSpPr/>
          <p:nvPr/>
        </p:nvSpPr>
        <p:spPr>
          <a:xfrm rot="16200000">
            <a:off x="-2297360" y="3802299"/>
            <a:ext cx="5544000" cy="288000"/>
          </a:xfrm>
          <a:prstGeom prst="roundRect">
            <a:avLst/>
          </a:prstGeom>
          <a:solidFill>
            <a:srgbClr val="5B9BD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600" b="0" i="0" u="none" strike="noStrike" kern="0" cap="none" spc="0" normalizeH="0" baseline="0" noProof="0">
                <a:ln>
                  <a:noFill/>
                </a:ln>
                <a:solidFill>
                  <a:prstClr val="black"/>
                </a:solidFill>
                <a:effectLst/>
                <a:uLnTx/>
                <a:uFillTx/>
                <a:latin typeface="Calibri" panose="020F0502020204030204"/>
                <a:ea typeface="+mn-ea"/>
                <a:cs typeface="+mn-cs"/>
              </a:rPr>
              <a:t>Privacy, informatiebeveiliging</a:t>
            </a:r>
          </a:p>
        </p:txBody>
      </p:sp>
      <p:sp>
        <p:nvSpPr>
          <p:cNvPr id="87" name="Rechthoek: afgeronde hoeken 86">
            <a:extLst>
              <a:ext uri="{FF2B5EF4-FFF2-40B4-BE49-F238E27FC236}">
                <a16:creationId xmlns:a16="http://schemas.microsoft.com/office/drawing/2014/main" id="{C6EF18F2-1E32-A15E-B8CF-529557603F51}"/>
              </a:ext>
            </a:extLst>
          </p:cNvPr>
          <p:cNvSpPr/>
          <p:nvPr/>
        </p:nvSpPr>
        <p:spPr>
          <a:xfrm>
            <a:off x="6096000" y="3398762"/>
            <a:ext cx="3083372" cy="612248"/>
          </a:xfrm>
          <a:prstGeom prst="roundRect">
            <a:avLst/>
          </a:prstGeom>
          <a:solidFill>
            <a:srgbClr val="ED7D3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400" b="0" i="0" u="none" strike="noStrike" kern="0" cap="none" spc="0" normalizeH="0" baseline="0" noProof="0" err="1">
                <a:ln>
                  <a:noFill/>
                </a:ln>
                <a:solidFill>
                  <a:prstClr val="white"/>
                </a:solidFill>
                <a:effectLst/>
                <a:uLnTx/>
                <a:uFillTx/>
                <a:latin typeface="Calibri" panose="020F0502020204030204"/>
                <a:ea typeface="+mn-ea"/>
                <a:cs typeface="+mn-cs"/>
              </a:rPr>
              <a:t>Usecase</a:t>
            </a:r>
            <a:r>
              <a:rPr kumimoji="0" lang="nl-NL" sz="1400" b="0" i="0" u="none" strike="noStrike" kern="0" cap="none" spc="0" normalizeH="0" baseline="0" noProof="0">
                <a:ln>
                  <a:noFill/>
                </a:ln>
                <a:solidFill>
                  <a:prstClr val="white"/>
                </a:solidFill>
                <a:effectLst/>
                <a:uLnTx/>
                <a:uFillTx/>
                <a:latin typeface="Calibri" panose="020F0502020204030204"/>
                <a:ea typeface="+mn-ea"/>
                <a:cs typeface="+mn-cs"/>
              </a:rPr>
              <a:t> 1.1-1.2</a:t>
            </a:r>
          </a:p>
        </p:txBody>
      </p:sp>
      <p:sp>
        <p:nvSpPr>
          <p:cNvPr id="88" name="Rechthoek: afgeronde hoeken 87">
            <a:extLst>
              <a:ext uri="{FF2B5EF4-FFF2-40B4-BE49-F238E27FC236}">
                <a16:creationId xmlns:a16="http://schemas.microsoft.com/office/drawing/2014/main" id="{2706020E-AB44-24E4-13E4-EC7C9AEE04BD}"/>
              </a:ext>
            </a:extLst>
          </p:cNvPr>
          <p:cNvSpPr/>
          <p:nvPr/>
        </p:nvSpPr>
        <p:spPr>
          <a:xfrm>
            <a:off x="6096000" y="2460786"/>
            <a:ext cx="3083372" cy="911373"/>
          </a:xfrm>
          <a:prstGeom prst="roundRect">
            <a:avLst/>
          </a:prstGeom>
          <a:solidFill>
            <a:srgbClr val="ED7D3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400" b="0" i="0" u="none" strike="noStrike" kern="0" cap="none" spc="0" normalizeH="0" baseline="0" noProof="0" err="1">
                <a:ln>
                  <a:noFill/>
                </a:ln>
                <a:solidFill>
                  <a:prstClr val="white"/>
                </a:solidFill>
                <a:effectLst/>
                <a:uLnTx/>
                <a:uFillTx/>
                <a:latin typeface="Calibri" panose="020F0502020204030204"/>
                <a:ea typeface="+mn-ea"/>
                <a:cs typeface="+mn-cs"/>
              </a:rPr>
              <a:t>Usecase</a:t>
            </a:r>
            <a:r>
              <a:rPr kumimoji="0" lang="nl-NL" sz="1400" b="0" i="0" u="none" strike="noStrike" kern="0" cap="none" spc="0" normalizeH="0" baseline="0" noProof="0">
                <a:ln>
                  <a:noFill/>
                </a:ln>
                <a:solidFill>
                  <a:prstClr val="white"/>
                </a:solidFill>
                <a:effectLst/>
                <a:uLnTx/>
                <a:uFillTx/>
                <a:latin typeface="Calibri" panose="020F0502020204030204"/>
                <a:ea typeface="+mn-ea"/>
                <a:cs typeface="+mn-cs"/>
              </a:rPr>
              <a:t> 1.3-2.5</a:t>
            </a:r>
          </a:p>
        </p:txBody>
      </p:sp>
      <p:sp>
        <p:nvSpPr>
          <p:cNvPr id="89" name="Rechthoek: afgeronde hoeken 88">
            <a:extLst>
              <a:ext uri="{FF2B5EF4-FFF2-40B4-BE49-F238E27FC236}">
                <a16:creationId xmlns:a16="http://schemas.microsoft.com/office/drawing/2014/main" id="{C0575C77-9FFB-DB6D-F9D5-8988AE1D2155}"/>
              </a:ext>
            </a:extLst>
          </p:cNvPr>
          <p:cNvSpPr/>
          <p:nvPr/>
        </p:nvSpPr>
        <p:spPr>
          <a:xfrm>
            <a:off x="6096000" y="4026759"/>
            <a:ext cx="3083372" cy="208537"/>
          </a:xfrm>
          <a:prstGeom prst="roundRect">
            <a:avLst/>
          </a:prstGeom>
          <a:solidFill>
            <a:srgbClr val="ED7D3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400" b="0" i="0" u="none" strike="noStrike" kern="0" cap="none" spc="0" normalizeH="0" baseline="0" noProof="0" err="1">
                <a:ln>
                  <a:noFill/>
                </a:ln>
                <a:solidFill>
                  <a:prstClr val="white"/>
                </a:solidFill>
                <a:effectLst/>
                <a:uLnTx/>
                <a:uFillTx/>
                <a:latin typeface="Calibri" panose="020F0502020204030204"/>
                <a:ea typeface="+mn-ea"/>
                <a:cs typeface="+mn-cs"/>
              </a:rPr>
              <a:t>Usecase</a:t>
            </a:r>
            <a:r>
              <a:rPr kumimoji="0" lang="nl-NL" sz="1800" b="0" i="0" u="none" strike="noStrike" kern="0" cap="none" spc="0" normalizeH="0" baseline="0" noProof="0">
                <a:ln>
                  <a:noFill/>
                </a:ln>
                <a:solidFill>
                  <a:prstClr val="white"/>
                </a:solidFill>
                <a:effectLst/>
                <a:uLnTx/>
                <a:uFillTx/>
                <a:latin typeface="Calibri" panose="020F0502020204030204"/>
                <a:ea typeface="+mn-ea"/>
                <a:cs typeface="+mn-cs"/>
              </a:rPr>
              <a:t> </a:t>
            </a:r>
            <a:r>
              <a:rPr kumimoji="0" lang="nl-NL" sz="1400" b="0" i="0" u="none" strike="noStrike" kern="0" cap="none" spc="0" normalizeH="0" baseline="0" noProof="0">
                <a:ln>
                  <a:noFill/>
                </a:ln>
                <a:solidFill>
                  <a:prstClr val="white"/>
                </a:solidFill>
                <a:effectLst/>
                <a:uLnTx/>
                <a:uFillTx/>
                <a:latin typeface="Calibri" panose="020F0502020204030204"/>
                <a:ea typeface="+mn-ea"/>
                <a:cs typeface="+mn-cs"/>
              </a:rPr>
              <a:t>2.3</a:t>
            </a:r>
          </a:p>
        </p:txBody>
      </p:sp>
      <p:sp>
        <p:nvSpPr>
          <p:cNvPr id="90" name="Rechthoek: afgeronde hoeken 89">
            <a:extLst>
              <a:ext uri="{FF2B5EF4-FFF2-40B4-BE49-F238E27FC236}">
                <a16:creationId xmlns:a16="http://schemas.microsoft.com/office/drawing/2014/main" id="{5AD48E11-20F4-0FDE-7F6D-1CD2C967E84F}"/>
              </a:ext>
            </a:extLst>
          </p:cNvPr>
          <p:cNvSpPr/>
          <p:nvPr/>
        </p:nvSpPr>
        <p:spPr>
          <a:xfrm>
            <a:off x="6096000" y="4264311"/>
            <a:ext cx="3083372" cy="208537"/>
          </a:xfrm>
          <a:prstGeom prst="roundRect">
            <a:avLst/>
          </a:prstGeom>
          <a:solidFill>
            <a:srgbClr val="ED7D3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400" b="0" i="0" u="none" strike="noStrike" kern="0" cap="none" spc="0" normalizeH="0" baseline="0" noProof="0" err="1">
                <a:ln>
                  <a:noFill/>
                </a:ln>
                <a:solidFill>
                  <a:prstClr val="white"/>
                </a:solidFill>
                <a:effectLst/>
                <a:uLnTx/>
                <a:uFillTx/>
                <a:latin typeface="Calibri" panose="020F0502020204030204"/>
                <a:ea typeface="+mn-ea"/>
                <a:cs typeface="+mn-cs"/>
              </a:rPr>
              <a:t>Usecase</a:t>
            </a:r>
            <a:r>
              <a:rPr kumimoji="0" lang="nl-NL" sz="1800" b="0" i="0" u="none" strike="noStrike" kern="0" cap="none" spc="0" normalizeH="0" baseline="0" noProof="0">
                <a:ln>
                  <a:noFill/>
                </a:ln>
                <a:solidFill>
                  <a:prstClr val="white"/>
                </a:solidFill>
                <a:effectLst/>
                <a:uLnTx/>
                <a:uFillTx/>
                <a:latin typeface="Calibri" panose="020F0502020204030204"/>
                <a:ea typeface="+mn-ea"/>
                <a:cs typeface="+mn-cs"/>
              </a:rPr>
              <a:t> </a:t>
            </a:r>
            <a:r>
              <a:rPr kumimoji="0" lang="nl-NL" sz="1400" b="0" i="0" u="none" strike="noStrike" kern="0" cap="none" spc="0" normalizeH="0" baseline="0" noProof="0">
                <a:ln>
                  <a:noFill/>
                </a:ln>
                <a:solidFill>
                  <a:prstClr val="white"/>
                </a:solidFill>
                <a:effectLst/>
                <a:uLnTx/>
                <a:uFillTx/>
                <a:latin typeface="Calibri" panose="020F0502020204030204"/>
                <a:ea typeface="+mn-ea"/>
                <a:cs typeface="+mn-cs"/>
              </a:rPr>
              <a:t>2.4</a:t>
            </a:r>
          </a:p>
        </p:txBody>
      </p:sp>
      <p:sp>
        <p:nvSpPr>
          <p:cNvPr id="91" name="Rechthoek: afgeronde hoeken 90">
            <a:extLst>
              <a:ext uri="{FF2B5EF4-FFF2-40B4-BE49-F238E27FC236}">
                <a16:creationId xmlns:a16="http://schemas.microsoft.com/office/drawing/2014/main" id="{DF1DF7DB-F613-135E-55DE-B6AE1A01322E}"/>
              </a:ext>
            </a:extLst>
          </p:cNvPr>
          <p:cNvSpPr/>
          <p:nvPr/>
        </p:nvSpPr>
        <p:spPr>
          <a:xfrm>
            <a:off x="9611688" y="5310920"/>
            <a:ext cx="2373292" cy="287946"/>
          </a:xfrm>
          <a:prstGeom prst="roundRect">
            <a:avLst/>
          </a:prstGeom>
          <a:solidFill>
            <a:srgbClr val="A5A5A5">
              <a:lumMod val="20000"/>
              <a:lumOff val="80000"/>
            </a:srgbClr>
          </a:solidFill>
          <a:ln w="12700" cap="flat" cmpd="sng" algn="ctr">
            <a:noFill/>
            <a:prstDash val="solid"/>
            <a:miter lim="800000"/>
          </a:ln>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PvE</a:t>
            </a:r>
            <a:endParaRPr kumimoji="0" lang="nl-NL"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92" name="Rechthoek: afgeronde hoeken 91">
            <a:extLst>
              <a:ext uri="{FF2B5EF4-FFF2-40B4-BE49-F238E27FC236}">
                <a16:creationId xmlns:a16="http://schemas.microsoft.com/office/drawing/2014/main" id="{53566914-D8A6-A0A9-65F0-551F44FBA429}"/>
              </a:ext>
            </a:extLst>
          </p:cNvPr>
          <p:cNvSpPr/>
          <p:nvPr/>
        </p:nvSpPr>
        <p:spPr>
          <a:xfrm>
            <a:off x="6156001" y="6060455"/>
            <a:ext cx="3083372" cy="208537"/>
          </a:xfrm>
          <a:prstGeom prst="roundRect">
            <a:avLst/>
          </a:prstGeom>
          <a:solidFill>
            <a:srgbClr val="D1FFE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Usecase</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0.0</a:t>
            </a:r>
          </a:p>
        </p:txBody>
      </p:sp>
      <p:sp>
        <p:nvSpPr>
          <p:cNvPr id="93" name="Rechthoek: afgeronde hoeken 92">
            <a:extLst>
              <a:ext uri="{FF2B5EF4-FFF2-40B4-BE49-F238E27FC236}">
                <a16:creationId xmlns:a16="http://schemas.microsoft.com/office/drawing/2014/main" id="{246D74AD-D165-AE20-F02D-5934922FC79A}"/>
              </a:ext>
            </a:extLst>
          </p:cNvPr>
          <p:cNvSpPr/>
          <p:nvPr/>
        </p:nvSpPr>
        <p:spPr>
          <a:xfrm>
            <a:off x="6156001" y="5454893"/>
            <a:ext cx="3083372" cy="208537"/>
          </a:xfrm>
          <a:prstGeom prst="roundRect">
            <a:avLst/>
          </a:prstGeom>
          <a:solidFill>
            <a:srgbClr val="70AD47">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err="1">
                <a:ln>
                  <a:noFill/>
                </a:ln>
                <a:solidFill>
                  <a:prstClr val="black"/>
                </a:solidFill>
                <a:effectLst/>
                <a:uLnTx/>
                <a:uFillTx/>
                <a:latin typeface="Calibri" panose="020F0502020204030204"/>
                <a:ea typeface="+mn-ea"/>
                <a:cs typeface="+mn-cs"/>
              </a:rPr>
              <a:t>Usecase</a:t>
            </a:r>
            <a:r>
              <a:rPr kumimoji="0" lang="nl-NL" sz="1200" b="0" i="0" u="none" strike="noStrike" kern="0" cap="none" spc="0" normalizeH="0" baseline="0" noProof="0">
                <a:ln>
                  <a:noFill/>
                </a:ln>
                <a:solidFill>
                  <a:prstClr val="black"/>
                </a:solidFill>
                <a:effectLst/>
                <a:uLnTx/>
                <a:uFillTx/>
                <a:latin typeface="Calibri" panose="020F0502020204030204"/>
                <a:ea typeface="+mn-ea"/>
                <a:cs typeface="+mn-cs"/>
              </a:rPr>
              <a:t> 0.0</a:t>
            </a:r>
          </a:p>
        </p:txBody>
      </p:sp>
      <p:sp>
        <p:nvSpPr>
          <p:cNvPr id="2" name="Rectangle: Top Corners Rounded 38">
            <a:hlinkClick r:id="rId3" action="ppaction://hlinksldjump"/>
            <a:extLst>
              <a:ext uri="{FF2B5EF4-FFF2-40B4-BE49-F238E27FC236}">
                <a16:creationId xmlns:a16="http://schemas.microsoft.com/office/drawing/2014/main" id="{CB46FF2F-342B-CAA9-0718-CAEE89DD0FC7}"/>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 name="Graphic 2" descr="Introductiepagina silhouet">
            <a:hlinkClick r:id="rId4" action="ppaction://hlinksldjump"/>
            <a:extLst>
              <a:ext uri="{FF2B5EF4-FFF2-40B4-BE49-F238E27FC236}">
                <a16:creationId xmlns:a16="http://schemas.microsoft.com/office/drawing/2014/main" id="{AD7FA17E-9CB2-F341-A3AC-99F2773B5E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11" name="Rectangle: Top Corners Rounded 1">
            <a:hlinkClick r:id="rId7" action="ppaction://hlinksldjump"/>
            <a:extLst>
              <a:ext uri="{FF2B5EF4-FFF2-40B4-BE49-F238E27FC236}">
                <a16:creationId xmlns:a16="http://schemas.microsoft.com/office/drawing/2014/main" id="{83CE64A8-B0F3-2B04-714A-0EEA5E8EE88C}"/>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2" name="Rectangle: Top Corners Rounded 1">
            <a:hlinkClick r:id="rId8" action="ppaction://hlinksldjump"/>
            <a:extLst>
              <a:ext uri="{FF2B5EF4-FFF2-40B4-BE49-F238E27FC236}">
                <a16:creationId xmlns:a16="http://schemas.microsoft.com/office/drawing/2014/main" id="{E31206EB-764E-7D4C-4F2D-1CFDFE79D53C}"/>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14" name="Rectangle: Top Corners Rounded 1">
            <a:hlinkClick r:id="rId9" action="ppaction://hlinksldjump"/>
            <a:extLst>
              <a:ext uri="{FF2B5EF4-FFF2-40B4-BE49-F238E27FC236}">
                <a16:creationId xmlns:a16="http://schemas.microsoft.com/office/drawing/2014/main" id="{DA10EAEA-56A9-FC51-593A-F8868EE2EEFE}"/>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5" name="Rectangle: Top Corners Rounded 1">
            <a:hlinkClick r:id="rId10" action="ppaction://hlinksldjump"/>
            <a:extLst>
              <a:ext uri="{FF2B5EF4-FFF2-40B4-BE49-F238E27FC236}">
                <a16:creationId xmlns:a16="http://schemas.microsoft.com/office/drawing/2014/main" id="{54446AF5-E773-2348-6462-1BC104D8FCDF}"/>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6" name="Rectangle: Top Corners Rounded 1">
            <a:hlinkClick r:id="rId11" action="ppaction://hlinksldjump"/>
            <a:extLst>
              <a:ext uri="{FF2B5EF4-FFF2-40B4-BE49-F238E27FC236}">
                <a16:creationId xmlns:a16="http://schemas.microsoft.com/office/drawing/2014/main" id="{28823BA0-2A31-8CDA-0A6C-25E0C8026765}"/>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7" name="Rectangle: Top Corners Rounded 1">
            <a:hlinkClick r:id="rId12" action="ppaction://hlinksldjump"/>
            <a:extLst>
              <a:ext uri="{FF2B5EF4-FFF2-40B4-BE49-F238E27FC236}">
                <a16:creationId xmlns:a16="http://schemas.microsoft.com/office/drawing/2014/main" id="{43DB868D-2C1E-4AC0-732D-504D96D89F1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8" name="Rectangle: Top Corners Rounded 1">
            <a:hlinkClick r:id="rId13" action="ppaction://hlinksldjump"/>
            <a:extLst>
              <a:ext uri="{FF2B5EF4-FFF2-40B4-BE49-F238E27FC236}">
                <a16:creationId xmlns:a16="http://schemas.microsoft.com/office/drawing/2014/main" id="{C81F0966-2F39-C144-92AF-DC0F6118FEE6}"/>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9" name="Rectangle: Top Corners Rounded 1">
            <a:hlinkClick r:id="rId14" action="ppaction://hlinksldjump"/>
            <a:extLst>
              <a:ext uri="{FF2B5EF4-FFF2-40B4-BE49-F238E27FC236}">
                <a16:creationId xmlns:a16="http://schemas.microsoft.com/office/drawing/2014/main" id="{94E0AE05-4381-EBCC-428A-72E33E38B6D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0" name="Rectangle: Top Corners Rounded 1">
            <a:hlinkClick r:id="rId15" action="ppaction://hlinksldjump"/>
            <a:extLst>
              <a:ext uri="{FF2B5EF4-FFF2-40B4-BE49-F238E27FC236}">
                <a16:creationId xmlns:a16="http://schemas.microsoft.com/office/drawing/2014/main" id="{2EAA352C-657A-D9F0-8C2B-D22B9A554E32}"/>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1" name="Rectangle: Top Corners Rounded 1">
            <a:hlinkClick r:id="rId16" action="ppaction://hlinksldjump"/>
            <a:extLst>
              <a:ext uri="{FF2B5EF4-FFF2-40B4-BE49-F238E27FC236}">
                <a16:creationId xmlns:a16="http://schemas.microsoft.com/office/drawing/2014/main" id="{8FB30B18-E00C-81FE-7598-606C43E4FC4C}"/>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2" name="Rectangle: Top Corners Rounded 1">
            <a:hlinkClick r:id="rId17" action="ppaction://hlinksldjump"/>
            <a:extLst>
              <a:ext uri="{FF2B5EF4-FFF2-40B4-BE49-F238E27FC236}">
                <a16:creationId xmlns:a16="http://schemas.microsoft.com/office/drawing/2014/main" id="{E38677E7-28DD-928B-B5F8-DA9E1EB7BAC2}"/>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933539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CFF94-25E8-F550-12A4-BBAC37B755AF}"/>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783E030-3BAD-00A4-2E04-C99B9D721B27}"/>
              </a:ext>
            </a:extLst>
          </p:cNvPr>
          <p:cNvSpPr>
            <a:spLocks noGrp="1"/>
          </p:cNvSpPr>
          <p:nvPr>
            <p:ph type="title"/>
          </p:nvPr>
        </p:nvSpPr>
        <p:spPr/>
        <p:txBody>
          <a:bodyPr>
            <a:noAutofit/>
          </a:bodyPr>
          <a:lstStyle/>
          <a:p>
            <a:pPr algn="l"/>
            <a:r>
              <a:rPr lang="nl-NL" b="1" dirty="0">
                <a:solidFill>
                  <a:srgbClr val="8C95CD"/>
                </a:solidFill>
              </a:rPr>
              <a:t>Concretisering samenhang met andere transformatieplannen in de regio</a:t>
            </a:r>
          </a:p>
        </p:txBody>
      </p:sp>
      <p:sp>
        <p:nvSpPr>
          <p:cNvPr id="11" name="Rechthoek 77">
            <a:extLst>
              <a:ext uri="{FF2B5EF4-FFF2-40B4-BE49-F238E27FC236}">
                <a16:creationId xmlns:a16="http://schemas.microsoft.com/office/drawing/2014/main" id="{2A2E5BE5-21EC-209F-0CD5-37F1C7AE10B0}"/>
              </a:ext>
            </a:extLst>
          </p:cNvPr>
          <p:cNvSpPr/>
          <p:nvPr/>
        </p:nvSpPr>
        <p:spPr>
          <a:xfrm>
            <a:off x="8193741" y="2055399"/>
            <a:ext cx="3143652" cy="707516"/>
          </a:xfrm>
          <a:prstGeom prst="rect">
            <a:avLst/>
          </a:prstGeom>
          <a:solidFill>
            <a:srgbClr val="8C95CD">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kstvak 85">
            <a:extLst>
              <a:ext uri="{FF2B5EF4-FFF2-40B4-BE49-F238E27FC236}">
                <a16:creationId xmlns:a16="http://schemas.microsoft.com/office/drawing/2014/main" id="{C3893B41-885E-A0B9-1FFC-94294E8E286B}"/>
              </a:ext>
            </a:extLst>
          </p:cNvPr>
          <p:cNvSpPr txBox="1"/>
          <p:nvPr/>
        </p:nvSpPr>
        <p:spPr>
          <a:xfrm>
            <a:off x="873902" y="2147004"/>
            <a:ext cx="2859490"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Relevante Transformatieplannen</a:t>
            </a:r>
            <a:endParaRPr kumimoji="0" lang="nl-NL" sz="1000" i="1" u="none" strike="noStrike" kern="1200" cap="none" spc="0" normalizeH="0" baseline="0" noProof="0">
              <a:ln>
                <a:noFill/>
              </a:ln>
              <a:solidFill>
                <a:prstClr val="black"/>
              </a:solidFill>
              <a:effectLst/>
              <a:uLnTx/>
              <a:uFillTx/>
              <a:latin typeface="Lato regular" panose="020F0502020204030203" pitchFamily="34" charset="0"/>
              <a:ea typeface="Lato regular" panose="020F0502020204030203" pitchFamily="34" charset="0"/>
              <a:cs typeface="Lato regular" panose="020F0502020204030203" pitchFamily="34" charset="0"/>
            </a:endParaRPr>
          </a:p>
        </p:txBody>
      </p:sp>
      <p:sp>
        <p:nvSpPr>
          <p:cNvPr id="23" name="Tekstvak 85">
            <a:extLst>
              <a:ext uri="{FF2B5EF4-FFF2-40B4-BE49-F238E27FC236}">
                <a16:creationId xmlns:a16="http://schemas.microsoft.com/office/drawing/2014/main" id="{A0B60DB8-B30A-4AFF-1615-B8634B96FB3A}"/>
              </a:ext>
            </a:extLst>
          </p:cNvPr>
          <p:cNvSpPr txBox="1"/>
          <p:nvPr/>
        </p:nvSpPr>
        <p:spPr>
          <a:xfrm>
            <a:off x="8945828" y="2147004"/>
            <a:ext cx="195839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Transformatieplan</a:t>
            </a:r>
          </a:p>
        </p:txBody>
      </p:sp>
      <p:sp>
        <p:nvSpPr>
          <p:cNvPr id="27" name="Tekstvak 85">
            <a:extLst>
              <a:ext uri="{FF2B5EF4-FFF2-40B4-BE49-F238E27FC236}">
                <a16:creationId xmlns:a16="http://schemas.microsoft.com/office/drawing/2014/main" id="{3D70735E-DF39-9961-EB3C-7288400A4333}"/>
              </a:ext>
            </a:extLst>
          </p:cNvPr>
          <p:cNvSpPr txBox="1"/>
          <p:nvPr/>
        </p:nvSpPr>
        <p:spPr>
          <a:xfrm>
            <a:off x="5088876" y="2147004"/>
            <a:ext cx="2859490" cy="253916"/>
          </a:xfrm>
          <a:prstGeom prst="rect">
            <a:avLst/>
          </a:prstGeom>
          <a:noFill/>
        </p:spPr>
        <p:txBody>
          <a:bodyPr wrap="square" lIns="91440" tIns="45720" rIns="91440" bIns="45720" rtlCol="0" anchor="t">
            <a:spAutoFit/>
          </a:bodyPr>
          <a:lstStyle/>
          <a:p>
            <a:pPr>
              <a:defRPr/>
            </a:pPr>
            <a:r>
              <a:rPr lang="nl-NL" sz="1050" b="1">
                <a:solidFill>
                  <a:prstClr val="black"/>
                </a:solidFill>
                <a:latin typeface="Raleway"/>
                <a:ea typeface="Lato regular"/>
                <a:cs typeface="Lato regular"/>
              </a:rPr>
              <a:t>Samenhang tussen</a:t>
            </a:r>
            <a:r>
              <a:rPr kumimoji="0" lang="nl-NL" sz="1050" b="1" i="0" u="none" strike="noStrike" kern="1200" cap="none" spc="0" normalizeH="0" baseline="0" noProof="0">
                <a:ln>
                  <a:noFill/>
                </a:ln>
                <a:solidFill>
                  <a:prstClr val="black"/>
                </a:solidFill>
                <a:effectLst/>
                <a:uLnTx/>
                <a:uFillTx/>
                <a:latin typeface="Raleway"/>
                <a:ea typeface="Lato regular"/>
                <a:cs typeface="Lato regular"/>
              </a:rPr>
              <a:t> beide plannen</a:t>
            </a:r>
            <a:endParaRPr kumimoji="0" lang="nl-NL" sz="1000" i="1" u="none" strike="noStrike" kern="1200" cap="none" spc="0" normalizeH="0" baseline="0" noProof="0">
              <a:ln>
                <a:noFill/>
              </a:ln>
              <a:solidFill>
                <a:prstClr val="black"/>
              </a:solidFill>
              <a:effectLst/>
              <a:uLnTx/>
              <a:uFillTx/>
              <a:latin typeface="Raleway"/>
              <a:ea typeface="Lato regular"/>
              <a:cs typeface="Lato regular"/>
            </a:endParaRPr>
          </a:p>
        </p:txBody>
      </p:sp>
      <p:grpSp>
        <p:nvGrpSpPr>
          <p:cNvPr id="12" name="Group 11">
            <a:extLst>
              <a:ext uri="{FF2B5EF4-FFF2-40B4-BE49-F238E27FC236}">
                <a16:creationId xmlns:a16="http://schemas.microsoft.com/office/drawing/2014/main" id="{A0E5664F-28E6-F1BA-2C9B-D1765C27A478}"/>
              </a:ext>
            </a:extLst>
          </p:cNvPr>
          <p:cNvGrpSpPr/>
          <p:nvPr/>
        </p:nvGrpSpPr>
        <p:grpSpPr>
          <a:xfrm>
            <a:off x="683666" y="2593588"/>
            <a:ext cx="10998162" cy="1569660"/>
            <a:chOff x="683666" y="2593588"/>
            <a:chExt cx="10998162" cy="1569660"/>
          </a:xfrm>
        </p:grpSpPr>
        <p:sp>
          <p:nvSpPr>
            <p:cNvPr id="5" name="Rechthoek 77">
              <a:extLst>
                <a:ext uri="{FF2B5EF4-FFF2-40B4-BE49-F238E27FC236}">
                  <a16:creationId xmlns:a16="http://schemas.microsoft.com/office/drawing/2014/main" id="{72AC8C21-C4E2-3EB4-62DC-9B55A817EFD2}"/>
                </a:ext>
              </a:extLst>
            </p:cNvPr>
            <p:cNvSpPr/>
            <p:nvPr/>
          </p:nvSpPr>
          <p:spPr>
            <a:xfrm>
              <a:off x="683666" y="2841744"/>
              <a:ext cx="3990616" cy="1099245"/>
            </a:xfrm>
            <a:prstGeom prst="rect">
              <a:avLst/>
            </a:prstGeom>
            <a:solidFill>
              <a:srgbClr val="F2F8E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hthoek 77">
              <a:extLst>
                <a:ext uri="{FF2B5EF4-FFF2-40B4-BE49-F238E27FC236}">
                  <a16:creationId xmlns:a16="http://schemas.microsoft.com/office/drawing/2014/main" id="{63C93F1A-0916-C12E-B984-DDCAEE4295DF}"/>
                </a:ext>
              </a:extLst>
            </p:cNvPr>
            <p:cNvSpPr/>
            <p:nvPr/>
          </p:nvSpPr>
          <p:spPr>
            <a:xfrm>
              <a:off x="8193741" y="2841744"/>
              <a:ext cx="3143652" cy="1099245"/>
            </a:xfrm>
            <a:prstGeom prst="rect">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hthoek 5">
              <a:extLst>
                <a:ext uri="{FF2B5EF4-FFF2-40B4-BE49-F238E27FC236}">
                  <a16:creationId xmlns:a16="http://schemas.microsoft.com/office/drawing/2014/main" id="{D1E94897-12D7-EB0F-A931-9BBC181AAE79}"/>
                </a:ext>
              </a:extLst>
            </p:cNvPr>
            <p:cNvSpPr/>
            <p:nvPr/>
          </p:nvSpPr>
          <p:spPr>
            <a:xfrm>
              <a:off x="4864519" y="2593588"/>
              <a:ext cx="3143652" cy="1569660"/>
            </a:xfrm>
            <a:prstGeom prst="rect">
              <a:avLst/>
            </a:prstGeom>
            <a:noFill/>
          </p:spPr>
          <p:txBody>
            <a:bodyPr wrap="square" lIns="91440" tIns="45720" rIns="91440" bIns="45720" rtlCol="0" anchor="t">
              <a:spAutoFit/>
            </a:bodyPr>
            <a:lstStyle/>
            <a:p>
              <a:pPr algn="just">
                <a:spcAft>
                  <a:spcPts val="600"/>
                </a:spcAft>
                <a:defRPr/>
              </a:pPr>
              <a:r>
                <a:rPr lang="nl-NL" sz="800">
                  <a:solidFill>
                    <a:prstClr val="black"/>
                  </a:solidFill>
                  <a:latin typeface="Verdana" panose="020B0604030504040204" pitchFamily="34" charset="0"/>
                  <a:ea typeface="Verdana" panose="020B0604030504040204" pitchFamily="34" charset="0"/>
                  <a:cs typeface="Lato regular"/>
                </a:rPr>
                <a:t>Het ROAZ-plan richt zich op vier onderdelen gerelateerd aan zorgcoördinatie. Voor de onderdelen 'inzicht in patiëntgegevens', 'capaciteit' en 'technische infrastructuur', stelt het NAZW de regionale kaders vast. De implementatie digitale ondersteuning van de zorgprocessen, volgt (lokaal) in de </a:t>
              </a:r>
              <a:r>
                <a:rPr lang="nl-NL" sz="800" err="1">
                  <a:solidFill>
                    <a:prstClr val="black"/>
                  </a:solidFill>
                  <a:latin typeface="Verdana" panose="020B0604030504040204" pitchFamily="34" charset="0"/>
                  <a:ea typeface="Verdana" panose="020B0604030504040204" pitchFamily="34" charset="0"/>
                  <a:cs typeface="Lato regular"/>
                </a:rPr>
                <a:t>subregio’s</a:t>
              </a:r>
              <a:r>
                <a:rPr lang="nl-NL" sz="800">
                  <a:solidFill>
                    <a:prstClr val="black"/>
                  </a:solidFill>
                  <a:latin typeface="Verdana" panose="020B0604030504040204" pitchFamily="34" charset="0"/>
                  <a:ea typeface="Verdana" panose="020B0604030504040204" pitchFamily="34" charset="0"/>
                  <a:cs typeface="Lato regular"/>
                </a:rPr>
                <a:t>. Deze onderdelen zijn opgenomen in het transformatieplan van Trijn, regio Midden-Nederland, zoals databeschikbaarheid voor de acute zorgketen.. Het onderdeel 'personeel, competenties en opleiden' richt zich op het scholen van personeel voor zorgcoördinatie en wordt meegenomen in het ROAZ-plan. Dit is geen onderdeel van het TP Trijn.</a:t>
              </a:r>
            </a:p>
          </p:txBody>
        </p:sp>
        <p:sp>
          <p:nvSpPr>
            <p:cNvPr id="32" name="Pijl-omlaag 78">
              <a:extLst>
                <a:ext uri="{FF2B5EF4-FFF2-40B4-BE49-F238E27FC236}">
                  <a16:creationId xmlns:a16="http://schemas.microsoft.com/office/drawing/2014/main" id="{B0DD6A9D-F4B0-4ED5-5CAB-EA4280524CEB}"/>
                </a:ext>
              </a:extLst>
            </p:cNvPr>
            <p:cNvSpPr/>
            <p:nvPr/>
          </p:nvSpPr>
          <p:spPr>
            <a:xfrm rot="16200000" flipH="1" flipV="1">
              <a:off x="7730384" y="3258048"/>
              <a:ext cx="660861" cy="266637"/>
            </a:xfrm>
            <a:prstGeom prst="downArrow">
              <a:avLst>
                <a:gd name="adj1" fmla="val 50000"/>
                <a:gd name="adj2" fmla="val 100000"/>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33" name="Pijl-omlaag 78">
              <a:extLst>
                <a:ext uri="{FF2B5EF4-FFF2-40B4-BE49-F238E27FC236}">
                  <a16:creationId xmlns:a16="http://schemas.microsoft.com/office/drawing/2014/main" id="{A2B3E55D-77BB-B1F9-518D-10EED2450BF7}"/>
                </a:ext>
              </a:extLst>
            </p:cNvPr>
            <p:cNvSpPr/>
            <p:nvPr/>
          </p:nvSpPr>
          <p:spPr>
            <a:xfrm rot="16200000">
              <a:off x="4439070" y="3258047"/>
              <a:ext cx="660861" cy="266637"/>
            </a:xfrm>
            <a:prstGeom prst="downArrow">
              <a:avLst>
                <a:gd name="adj1" fmla="val 50000"/>
                <a:gd name="adj2" fmla="val 100000"/>
              </a:avLst>
            </a:prstGeom>
            <a:solidFill>
              <a:srgbClr val="F2F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Pijl-omlaag 78">
              <a:extLst>
                <a:ext uri="{FF2B5EF4-FFF2-40B4-BE49-F238E27FC236}">
                  <a16:creationId xmlns:a16="http://schemas.microsoft.com/office/drawing/2014/main" id="{5D3FC4E6-802E-2333-9FDD-1AF3853A9395}"/>
                </a:ext>
              </a:extLst>
            </p:cNvPr>
            <p:cNvSpPr/>
            <p:nvPr/>
          </p:nvSpPr>
          <p:spPr>
            <a:xfrm rot="16200000">
              <a:off x="8012915" y="3258048"/>
              <a:ext cx="660861" cy="266637"/>
            </a:xfrm>
            <a:prstGeom prst="downArrow">
              <a:avLst>
                <a:gd name="adj1" fmla="val 50000"/>
                <a:gd name="adj2"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Pijl-omlaag 78">
              <a:extLst>
                <a:ext uri="{FF2B5EF4-FFF2-40B4-BE49-F238E27FC236}">
                  <a16:creationId xmlns:a16="http://schemas.microsoft.com/office/drawing/2014/main" id="{E088AEB2-0CBE-7EE9-0DF0-830E04B799A8}"/>
                </a:ext>
              </a:extLst>
            </p:cNvPr>
            <p:cNvSpPr/>
            <p:nvPr/>
          </p:nvSpPr>
          <p:spPr>
            <a:xfrm rot="16200000" flipH="1" flipV="1">
              <a:off x="4172433" y="3258048"/>
              <a:ext cx="660861" cy="266637"/>
            </a:xfrm>
            <a:prstGeom prst="downArrow">
              <a:avLst>
                <a:gd name="adj1" fmla="val 50000"/>
                <a:gd name="adj2" fmla="val 100000"/>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62" name="TextBox 28">
              <a:extLst>
                <a:ext uri="{FF2B5EF4-FFF2-40B4-BE49-F238E27FC236}">
                  <a16:creationId xmlns:a16="http://schemas.microsoft.com/office/drawing/2014/main" id="{2236C3C6-CD32-1B98-DC8B-0C4FCBBAC8A3}"/>
                </a:ext>
              </a:extLst>
            </p:cNvPr>
            <p:cNvSpPr txBox="1"/>
            <p:nvPr/>
          </p:nvSpPr>
          <p:spPr>
            <a:xfrm>
              <a:off x="850086" y="2928137"/>
              <a:ext cx="3557559" cy="9387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Netwerk Acute Zorg Midden-Nederland (NAZMN)</a:t>
              </a:r>
            </a:p>
            <a:p>
              <a:pPr marL="92075" marR="0" lvl="0" algn="just"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Lato regular"/>
                </a:rPr>
                <a:t>De regionale plannen voor Midden-Nederland voor zorgcoördinatie in de acute zorg, worden in het ROAZ-transformatieplan meegenomen. Op deze manier sluit men aan bij de Leidraad Transformatieplannen Zorgcoördinatie.</a:t>
              </a:r>
            </a:p>
          </p:txBody>
        </p:sp>
        <p:sp>
          <p:nvSpPr>
            <p:cNvPr id="63" name="TextBox 30">
              <a:extLst>
                <a:ext uri="{FF2B5EF4-FFF2-40B4-BE49-F238E27FC236}">
                  <a16:creationId xmlns:a16="http://schemas.microsoft.com/office/drawing/2014/main" id="{69EC540A-7334-315C-7EFB-231A8C86B66E}"/>
                </a:ext>
              </a:extLst>
            </p:cNvPr>
            <p:cNvSpPr txBox="1"/>
            <p:nvPr/>
          </p:nvSpPr>
          <p:spPr>
            <a:xfrm>
              <a:off x="8538176" y="3193419"/>
              <a:ext cx="3143652" cy="246221"/>
            </a:xfrm>
            <a:prstGeom prst="rect">
              <a:avLst/>
            </a:prstGeom>
            <a:noFill/>
          </p:spPr>
          <p:txBody>
            <a:bodyPr wrap="square">
              <a:spAutoFit/>
            </a:bodyPr>
            <a:lstStyle/>
            <a:p>
              <a:pPr>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Databeschikbaarheid Acute Zorg</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grpSp>
      <p:grpSp>
        <p:nvGrpSpPr>
          <p:cNvPr id="7" name="Group 6">
            <a:extLst>
              <a:ext uri="{FF2B5EF4-FFF2-40B4-BE49-F238E27FC236}">
                <a16:creationId xmlns:a16="http://schemas.microsoft.com/office/drawing/2014/main" id="{1FB07F09-F8EE-03B2-223C-339E1A44EF5D}"/>
              </a:ext>
            </a:extLst>
          </p:cNvPr>
          <p:cNvGrpSpPr/>
          <p:nvPr/>
        </p:nvGrpSpPr>
        <p:grpSpPr>
          <a:xfrm>
            <a:off x="683666" y="4088947"/>
            <a:ext cx="10952544" cy="1203610"/>
            <a:chOff x="683666" y="4203966"/>
            <a:chExt cx="10952544" cy="1203610"/>
          </a:xfrm>
        </p:grpSpPr>
        <p:sp>
          <p:nvSpPr>
            <p:cNvPr id="35" name="Rechthoek 77">
              <a:extLst>
                <a:ext uri="{FF2B5EF4-FFF2-40B4-BE49-F238E27FC236}">
                  <a16:creationId xmlns:a16="http://schemas.microsoft.com/office/drawing/2014/main" id="{A9ED7E97-EE58-4538-D9F2-2F9B6F9EF010}"/>
                </a:ext>
              </a:extLst>
            </p:cNvPr>
            <p:cNvSpPr/>
            <p:nvPr/>
          </p:nvSpPr>
          <p:spPr>
            <a:xfrm>
              <a:off x="683666" y="4203966"/>
              <a:ext cx="3990616" cy="1099245"/>
            </a:xfrm>
            <a:prstGeom prst="rect">
              <a:avLst/>
            </a:prstGeom>
            <a:solidFill>
              <a:srgbClr val="F2F8E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Pijl-omlaag 78">
              <a:extLst>
                <a:ext uri="{FF2B5EF4-FFF2-40B4-BE49-F238E27FC236}">
                  <a16:creationId xmlns:a16="http://schemas.microsoft.com/office/drawing/2014/main" id="{B99AB547-4CA0-3952-29FC-7702D3E7E006}"/>
                </a:ext>
              </a:extLst>
            </p:cNvPr>
            <p:cNvSpPr/>
            <p:nvPr/>
          </p:nvSpPr>
          <p:spPr>
            <a:xfrm rot="16200000">
              <a:off x="4439070" y="4620270"/>
              <a:ext cx="660861" cy="266637"/>
            </a:xfrm>
            <a:prstGeom prst="downArrow">
              <a:avLst>
                <a:gd name="adj1" fmla="val 50000"/>
                <a:gd name="adj2" fmla="val 100000"/>
              </a:avLst>
            </a:prstGeom>
            <a:solidFill>
              <a:srgbClr val="F2F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Pijl-omlaag 78">
              <a:extLst>
                <a:ext uri="{FF2B5EF4-FFF2-40B4-BE49-F238E27FC236}">
                  <a16:creationId xmlns:a16="http://schemas.microsoft.com/office/drawing/2014/main" id="{D2B67071-0FC3-44AA-A774-167EE9276162}"/>
                </a:ext>
              </a:extLst>
            </p:cNvPr>
            <p:cNvSpPr/>
            <p:nvPr/>
          </p:nvSpPr>
          <p:spPr>
            <a:xfrm rot="16200000" flipH="1" flipV="1">
              <a:off x="7730384" y="4620270"/>
              <a:ext cx="660861" cy="266637"/>
            </a:xfrm>
            <a:prstGeom prst="downArrow">
              <a:avLst>
                <a:gd name="adj1" fmla="val 50000"/>
                <a:gd name="adj2" fmla="val 100000"/>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52" name="Rechthoek 77">
              <a:extLst>
                <a:ext uri="{FF2B5EF4-FFF2-40B4-BE49-F238E27FC236}">
                  <a16:creationId xmlns:a16="http://schemas.microsoft.com/office/drawing/2014/main" id="{6156723C-2AF6-1D1B-0167-164F9D11987C}"/>
                </a:ext>
              </a:extLst>
            </p:cNvPr>
            <p:cNvSpPr/>
            <p:nvPr/>
          </p:nvSpPr>
          <p:spPr>
            <a:xfrm>
              <a:off x="8193741" y="4203966"/>
              <a:ext cx="3143652" cy="1099245"/>
            </a:xfrm>
            <a:prstGeom prst="rect">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Pijl-omlaag 78">
              <a:extLst>
                <a:ext uri="{FF2B5EF4-FFF2-40B4-BE49-F238E27FC236}">
                  <a16:creationId xmlns:a16="http://schemas.microsoft.com/office/drawing/2014/main" id="{5917EFE0-FD6F-2ACA-6203-5D2CFDB83ED8}"/>
                </a:ext>
              </a:extLst>
            </p:cNvPr>
            <p:cNvSpPr/>
            <p:nvPr/>
          </p:nvSpPr>
          <p:spPr>
            <a:xfrm rot="16200000">
              <a:off x="8012915" y="4620270"/>
              <a:ext cx="660861" cy="266637"/>
            </a:xfrm>
            <a:prstGeom prst="downArrow">
              <a:avLst>
                <a:gd name="adj1" fmla="val 50000"/>
                <a:gd name="adj2"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Pijl-omlaag 78">
              <a:extLst>
                <a:ext uri="{FF2B5EF4-FFF2-40B4-BE49-F238E27FC236}">
                  <a16:creationId xmlns:a16="http://schemas.microsoft.com/office/drawing/2014/main" id="{814851C9-4BA8-9096-0923-3D27CBA4EBAA}"/>
                </a:ext>
              </a:extLst>
            </p:cNvPr>
            <p:cNvSpPr/>
            <p:nvPr/>
          </p:nvSpPr>
          <p:spPr>
            <a:xfrm rot="16200000" flipH="1" flipV="1">
              <a:off x="4172433" y="4620270"/>
              <a:ext cx="660861" cy="266637"/>
            </a:xfrm>
            <a:prstGeom prst="downArrow">
              <a:avLst>
                <a:gd name="adj1" fmla="val 50000"/>
                <a:gd name="adj2" fmla="val 100000"/>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64" name="TextBox 31">
              <a:extLst>
                <a:ext uri="{FF2B5EF4-FFF2-40B4-BE49-F238E27FC236}">
                  <a16:creationId xmlns:a16="http://schemas.microsoft.com/office/drawing/2014/main" id="{742DE9B1-C7AF-DCCF-4C4C-F5FD26CCC6EA}"/>
                </a:ext>
              </a:extLst>
            </p:cNvPr>
            <p:cNvSpPr txBox="1"/>
            <p:nvPr/>
          </p:nvSpPr>
          <p:spPr>
            <a:xfrm>
              <a:off x="873902" y="4307275"/>
              <a:ext cx="3533743" cy="800219"/>
            </a:xfrm>
            <a:prstGeom prst="rect">
              <a:avLst/>
            </a:prstGeom>
            <a:noFill/>
          </p:spPr>
          <p:txBody>
            <a:bodyPr wrap="square" lIns="91440" tIns="45720" rIns="91440" bIns="45720" anchor="t">
              <a:spAutoFit/>
            </a:bodyPr>
            <a:lstStyle/>
            <a:p>
              <a:pPr>
                <a:defRPr/>
              </a:pPr>
              <a:r>
                <a:rPr kumimoji="0" lang="nl-NL" sz="1000" b="1" i="0" u="none" strike="noStrike" kern="1200" cap="none" spc="0" normalizeH="0" baseline="0" noProof="0">
                  <a:ln>
                    <a:noFill/>
                  </a:ln>
                  <a:solidFill>
                    <a:prstClr val="black"/>
                  </a:solidFill>
                  <a:effectLst/>
                  <a:uLnTx/>
                  <a:uFillTx/>
                  <a:latin typeface="Raleway"/>
                  <a:ea typeface="Lato regular"/>
                  <a:cs typeface="Lato regular"/>
                </a:rPr>
                <a:t>Zorgcoördinatiecentrum </a:t>
              </a:r>
              <a:r>
                <a:rPr lang="nl-NL" sz="1000" b="1">
                  <a:solidFill>
                    <a:prstClr val="black"/>
                  </a:solidFill>
                  <a:latin typeface="Raleway"/>
                  <a:ea typeface="Lato regular"/>
                  <a:cs typeface="Lato regular"/>
                </a:rPr>
                <a:t>Midden-Nederland</a:t>
              </a:r>
              <a:endParaRPr kumimoji="0" lang="nl-NL" sz="1000" b="1" i="0" u="none" strike="noStrike" kern="1200" cap="none" spc="0" normalizeH="0" baseline="0" noProof="0">
                <a:ln>
                  <a:noFill/>
                </a:ln>
                <a:solidFill>
                  <a:prstClr val="black"/>
                </a:solidFill>
                <a:effectLst/>
                <a:uLnTx/>
                <a:uFillTx/>
                <a:latin typeface="Raleway"/>
                <a:ea typeface="Lato regular"/>
                <a:cs typeface="Lato regular"/>
              </a:endParaRPr>
            </a:p>
            <a:p>
              <a:pPr marL="92075">
                <a:defRPr/>
              </a:pPr>
              <a:r>
                <a:rPr lang="nl-NL" sz="900">
                  <a:solidFill>
                    <a:prstClr val="black"/>
                  </a:solidFill>
                  <a:latin typeface="Verdana" panose="020B0604030504040204" pitchFamily="34" charset="0"/>
                  <a:ea typeface="Verdana" panose="020B0604030504040204" pitchFamily="34" charset="0"/>
                </a:rPr>
                <a:t>Transformatieplan van het Zorgcoördinatiecentrum Midden-Nederland  om zorgcoördinatie in de periode van 2024 tot en met 2027 mogelijk te maken en door te ontwikkelen.</a:t>
              </a:r>
            </a:p>
          </p:txBody>
        </p:sp>
        <p:sp>
          <p:nvSpPr>
            <p:cNvPr id="67" name="Rechthoek 5">
              <a:extLst>
                <a:ext uri="{FF2B5EF4-FFF2-40B4-BE49-F238E27FC236}">
                  <a16:creationId xmlns:a16="http://schemas.microsoft.com/office/drawing/2014/main" id="{EB987521-3187-073C-3A21-7EFEF5F86227}"/>
                </a:ext>
              </a:extLst>
            </p:cNvPr>
            <p:cNvSpPr/>
            <p:nvPr/>
          </p:nvSpPr>
          <p:spPr>
            <a:xfrm>
              <a:off x="4864519" y="4253414"/>
              <a:ext cx="3062585" cy="1154162"/>
            </a:xfrm>
            <a:prstGeom prst="rect">
              <a:avLst/>
            </a:prstGeom>
            <a:noFill/>
          </p:spPr>
          <p:txBody>
            <a:bodyPr wrap="square" lIns="91440" tIns="45720" rIns="91440" bIns="45720" rtlCol="0" anchor="t">
              <a:spAutoFit/>
            </a:bodyPr>
            <a:lstStyle/>
            <a:p>
              <a:pPr>
                <a:spcAft>
                  <a:spcPts val="600"/>
                </a:spcAft>
                <a:defRPr/>
              </a:pPr>
              <a:r>
                <a:rPr lang="nl-NL" sz="8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rPr>
                <a:t>Beide plannen beschrijven verschillende aspecten van MSB 2.0, betrekken van de acute VVT en GGZ en digitale zelftriage, waarbij </a:t>
              </a:r>
              <a:r>
                <a:rPr lang="nl-NL" sz="800">
                  <a:solidFill>
                    <a:srgbClr val="000000"/>
                  </a:solidFill>
                  <a:latin typeface="Verdana" panose="020B0604030504040204" pitchFamily="34" charset="0"/>
                  <a:ea typeface="Verdana" panose="020B0604030504040204" pitchFamily="34" charset="0"/>
                  <a:cs typeface="Verdana" panose="020B0604030504040204" pitchFamily="34" charset="0"/>
                </a:rPr>
                <a:t>Trijn zich richt op </a:t>
              </a:r>
              <a:r>
                <a:rPr lang="nl-NL" sz="8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rPr>
                <a:t>de implementatie en betrokkenheid van acute zorgverleners benadrukt. Beide vullen </a:t>
              </a:r>
              <a:r>
                <a:rPr lang="nl-NL" sz="800">
                  <a:solidFill>
                    <a:srgbClr val="000000"/>
                  </a:solidFill>
                  <a:latin typeface="Verdana" panose="020B0604030504040204" pitchFamily="34" charset="0"/>
                  <a:ea typeface="Verdana" panose="020B0604030504040204" pitchFamily="34" charset="0"/>
                  <a:cs typeface="Verdana" panose="020B0604030504040204" pitchFamily="34" charset="0"/>
                </a:rPr>
                <a:t>transformatieplannen </a:t>
              </a:r>
              <a:r>
                <a:rPr lang="nl-NL" sz="800" b="0" i="0" u="none" strike="noStrike">
                  <a:solidFill>
                    <a:srgbClr val="000000"/>
                  </a:solidFill>
                  <a:effectLst/>
                  <a:latin typeface="Verdana" panose="020B0604030504040204" pitchFamily="34" charset="0"/>
                  <a:ea typeface="Verdana" panose="020B0604030504040204" pitchFamily="34" charset="0"/>
                  <a:cs typeface="Verdana" panose="020B0604030504040204" pitchFamily="34" charset="0"/>
                </a:rPr>
                <a:t>elkaar aan en versterken de regionale aanpak van acute zorg.</a:t>
              </a:r>
              <a:endParaRPr lang="nl-NL" sz="800">
                <a:solidFill>
                  <a:prstClr val="black"/>
                </a:solidFill>
                <a:latin typeface="Verdana" panose="020B0604030504040204" pitchFamily="34" charset="0"/>
                <a:ea typeface="Verdana" panose="020B0604030504040204" pitchFamily="34" charset="0"/>
                <a:cs typeface="Verdana" panose="020B0604030504040204" pitchFamily="34" charset="0"/>
              </a:endParaRPr>
            </a:p>
            <a:p>
              <a:pPr>
                <a:spcAft>
                  <a:spcPts val="600"/>
                </a:spcAft>
                <a:defRPr/>
              </a:pPr>
              <a:endParaRPr lang="nl-NL" sz="80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70" name="TextBox 46">
              <a:extLst>
                <a:ext uri="{FF2B5EF4-FFF2-40B4-BE49-F238E27FC236}">
                  <a16:creationId xmlns:a16="http://schemas.microsoft.com/office/drawing/2014/main" id="{2E0C5F7F-4EC2-1442-2D70-1A240D196ECE}"/>
                </a:ext>
              </a:extLst>
            </p:cNvPr>
            <p:cNvSpPr txBox="1"/>
            <p:nvPr/>
          </p:nvSpPr>
          <p:spPr>
            <a:xfrm>
              <a:off x="8492558" y="4388569"/>
              <a:ext cx="3143652" cy="246221"/>
            </a:xfrm>
            <a:prstGeom prst="rect">
              <a:avLst/>
            </a:prstGeom>
            <a:noFill/>
          </p:spPr>
          <p:txBody>
            <a:bodyPr wrap="square">
              <a:spAutoFit/>
            </a:bodyPr>
            <a:lstStyle/>
            <a:p>
              <a:pPr>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Databeschikbaarheid Acute Zorg</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71" name="TextBox 48">
              <a:extLst>
                <a:ext uri="{FF2B5EF4-FFF2-40B4-BE49-F238E27FC236}">
                  <a16:creationId xmlns:a16="http://schemas.microsoft.com/office/drawing/2014/main" id="{C6642EF9-B81C-CC0F-9136-4CA41ED70FA5}"/>
                </a:ext>
              </a:extLst>
            </p:cNvPr>
            <p:cNvSpPr txBox="1"/>
            <p:nvPr/>
          </p:nvSpPr>
          <p:spPr>
            <a:xfrm>
              <a:off x="8492558" y="4894298"/>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Netwerkzorg Viewer</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72" name="TextBox 49">
              <a:extLst>
                <a:ext uri="{FF2B5EF4-FFF2-40B4-BE49-F238E27FC236}">
                  <a16:creationId xmlns:a16="http://schemas.microsoft.com/office/drawing/2014/main" id="{C6DA5421-A235-F023-9DE7-5CBD46BCCB6C}"/>
                </a:ext>
              </a:extLst>
            </p:cNvPr>
            <p:cNvSpPr txBox="1"/>
            <p:nvPr/>
          </p:nvSpPr>
          <p:spPr>
            <a:xfrm>
              <a:off x="8492558" y="4641158"/>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Gegevensbeschikbaarheid </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grpSp>
      <p:pic>
        <p:nvPicPr>
          <p:cNvPr id="81" name="Afbeelding 80">
            <a:extLst>
              <a:ext uri="{FF2B5EF4-FFF2-40B4-BE49-F238E27FC236}">
                <a16:creationId xmlns:a16="http://schemas.microsoft.com/office/drawing/2014/main" id="{E072A22E-C5AC-D079-D104-4483A866BC68}"/>
              </a:ext>
            </a:extLst>
          </p:cNvPr>
          <p:cNvPicPr>
            <a:picLocks noChangeAspect="1"/>
          </p:cNvPicPr>
          <p:nvPr/>
        </p:nvPicPr>
        <p:blipFill>
          <a:blip r:embed="rId4"/>
          <a:stretch>
            <a:fillRect/>
          </a:stretch>
        </p:blipFill>
        <p:spPr>
          <a:xfrm>
            <a:off x="8370325" y="2091995"/>
            <a:ext cx="509876" cy="286805"/>
          </a:xfrm>
          <a:prstGeom prst="rect">
            <a:avLst/>
          </a:prstGeom>
        </p:spPr>
      </p:pic>
      <p:grpSp>
        <p:nvGrpSpPr>
          <p:cNvPr id="6" name="Group 5">
            <a:extLst>
              <a:ext uri="{FF2B5EF4-FFF2-40B4-BE49-F238E27FC236}">
                <a16:creationId xmlns:a16="http://schemas.microsoft.com/office/drawing/2014/main" id="{21A12951-60DD-0A19-2976-D2B9FDF5526C}"/>
              </a:ext>
            </a:extLst>
          </p:cNvPr>
          <p:cNvGrpSpPr/>
          <p:nvPr/>
        </p:nvGrpSpPr>
        <p:grpSpPr>
          <a:xfrm>
            <a:off x="683666" y="5336151"/>
            <a:ext cx="10998162" cy="1099245"/>
            <a:chOff x="683666" y="5563270"/>
            <a:chExt cx="10998162" cy="1099245"/>
          </a:xfrm>
        </p:grpSpPr>
        <p:sp>
          <p:nvSpPr>
            <p:cNvPr id="56" name="Rechthoek 77">
              <a:extLst>
                <a:ext uri="{FF2B5EF4-FFF2-40B4-BE49-F238E27FC236}">
                  <a16:creationId xmlns:a16="http://schemas.microsoft.com/office/drawing/2014/main" id="{7FC4B338-A787-DDBA-357C-EF565A9B28BE}"/>
                </a:ext>
              </a:extLst>
            </p:cNvPr>
            <p:cNvSpPr/>
            <p:nvPr/>
          </p:nvSpPr>
          <p:spPr>
            <a:xfrm>
              <a:off x="683666" y="5563270"/>
              <a:ext cx="3990616" cy="1099245"/>
            </a:xfrm>
            <a:prstGeom prst="rect">
              <a:avLst/>
            </a:prstGeom>
            <a:solidFill>
              <a:srgbClr val="F2F8E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hthoek 77">
              <a:extLst>
                <a:ext uri="{FF2B5EF4-FFF2-40B4-BE49-F238E27FC236}">
                  <a16:creationId xmlns:a16="http://schemas.microsoft.com/office/drawing/2014/main" id="{6518B5A9-A21E-DA06-525A-2D8032DD095C}"/>
                </a:ext>
              </a:extLst>
            </p:cNvPr>
            <p:cNvSpPr/>
            <p:nvPr/>
          </p:nvSpPr>
          <p:spPr>
            <a:xfrm>
              <a:off x="8193741" y="5563270"/>
              <a:ext cx="3143652" cy="1099245"/>
            </a:xfrm>
            <a:prstGeom prst="rect">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Pijl-omlaag 78">
              <a:extLst>
                <a:ext uri="{FF2B5EF4-FFF2-40B4-BE49-F238E27FC236}">
                  <a16:creationId xmlns:a16="http://schemas.microsoft.com/office/drawing/2014/main" id="{9CCB020F-FC82-AA73-99EE-AA7A4E0944CD}"/>
                </a:ext>
              </a:extLst>
            </p:cNvPr>
            <p:cNvSpPr/>
            <p:nvPr/>
          </p:nvSpPr>
          <p:spPr>
            <a:xfrm rot="16200000" flipH="1" flipV="1">
              <a:off x="7730383" y="5979574"/>
              <a:ext cx="660861" cy="266637"/>
            </a:xfrm>
            <a:prstGeom prst="downArrow">
              <a:avLst>
                <a:gd name="adj1" fmla="val 50000"/>
                <a:gd name="adj2" fmla="val 100000"/>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59" name="Pijl-omlaag 78">
              <a:extLst>
                <a:ext uri="{FF2B5EF4-FFF2-40B4-BE49-F238E27FC236}">
                  <a16:creationId xmlns:a16="http://schemas.microsoft.com/office/drawing/2014/main" id="{6E4A402F-95B3-D5D2-4411-A4D940F74668}"/>
                </a:ext>
              </a:extLst>
            </p:cNvPr>
            <p:cNvSpPr/>
            <p:nvPr/>
          </p:nvSpPr>
          <p:spPr>
            <a:xfrm rot="16200000">
              <a:off x="4439070" y="5979574"/>
              <a:ext cx="660861" cy="266637"/>
            </a:xfrm>
            <a:prstGeom prst="downArrow">
              <a:avLst>
                <a:gd name="adj1" fmla="val 50000"/>
                <a:gd name="adj2" fmla="val 100000"/>
              </a:avLst>
            </a:prstGeom>
            <a:solidFill>
              <a:srgbClr val="F2F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Pijl-omlaag 78">
              <a:extLst>
                <a:ext uri="{FF2B5EF4-FFF2-40B4-BE49-F238E27FC236}">
                  <a16:creationId xmlns:a16="http://schemas.microsoft.com/office/drawing/2014/main" id="{520B40C4-9C2A-33FA-14C3-7B095986487D}"/>
                </a:ext>
              </a:extLst>
            </p:cNvPr>
            <p:cNvSpPr/>
            <p:nvPr/>
          </p:nvSpPr>
          <p:spPr>
            <a:xfrm rot="16200000">
              <a:off x="8012915" y="5979574"/>
              <a:ext cx="660861" cy="266637"/>
            </a:xfrm>
            <a:prstGeom prst="downArrow">
              <a:avLst>
                <a:gd name="adj1" fmla="val 50000"/>
                <a:gd name="adj2"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Pijl-omlaag 78">
              <a:extLst>
                <a:ext uri="{FF2B5EF4-FFF2-40B4-BE49-F238E27FC236}">
                  <a16:creationId xmlns:a16="http://schemas.microsoft.com/office/drawing/2014/main" id="{1BA26C29-E85C-499E-14B6-D8B9E3CEE06D}"/>
                </a:ext>
              </a:extLst>
            </p:cNvPr>
            <p:cNvSpPr/>
            <p:nvPr/>
          </p:nvSpPr>
          <p:spPr>
            <a:xfrm rot="16200000" flipH="1" flipV="1">
              <a:off x="4172433" y="5979574"/>
              <a:ext cx="660861" cy="266637"/>
            </a:xfrm>
            <a:prstGeom prst="downArrow">
              <a:avLst>
                <a:gd name="adj1" fmla="val 50000"/>
                <a:gd name="adj2" fmla="val 100000"/>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66" name="TextBox 36">
              <a:extLst>
                <a:ext uri="{FF2B5EF4-FFF2-40B4-BE49-F238E27FC236}">
                  <a16:creationId xmlns:a16="http://schemas.microsoft.com/office/drawing/2014/main" id="{C1AF60A5-D2D1-95B1-7A83-2B8A8788D310}"/>
                </a:ext>
              </a:extLst>
            </p:cNvPr>
            <p:cNvSpPr txBox="1"/>
            <p:nvPr/>
          </p:nvSpPr>
          <p:spPr>
            <a:xfrm>
              <a:off x="8525007" y="5745107"/>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Digitale (zorg)communicatie </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68" name="Rechthoek 5">
              <a:extLst>
                <a:ext uri="{FF2B5EF4-FFF2-40B4-BE49-F238E27FC236}">
                  <a16:creationId xmlns:a16="http://schemas.microsoft.com/office/drawing/2014/main" id="{EA9F0531-E97A-4EB8-7B87-2F077B9D77F7}"/>
                </a:ext>
              </a:extLst>
            </p:cNvPr>
            <p:cNvSpPr/>
            <p:nvPr/>
          </p:nvSpPr>
          <p:spPr>
            <a:xfrm>
              <a:off x="4904624" y="5650651"/>
              <a:ext cx="3022480" cy="861774"/>
            </a:xfrm>
            <a:prstGeom prst="rect">
              <a:avLst/>
            </a:prstGeom>
            <a:noFill/>
          </p:spPr>
          <p:txBody>
            <a:bodyPr wrap="square" lIns="91440" tIns="45720" rIns="91440" bIns="45720" rtlCol="0" anchor="t">
              <a:spAutoFit/>
            </a:bodyPr>
            <a:lstStyle/>
            <a:p>
              <a:pPr algn="just">
                <a:defRPr/>
              </a:pPr>
              <a:r>
                <a:rPr lang="nl-NL" sz="800">
                  <a:solidFill>
                    <a:prstClr val="black"/>
                  </a:solidFill>
                  <a:latin typeface="Verdana" panose="020B0604030504040204" pitchFamily="34" charset="0"/>
                  <a:ea typeface="Verdana" panose="020B0604030504040204" pitchFamily="34" charset="0"/>
                  <a:cs typeface="Lato regular"/>
                </a:rPr>
                <a:t>…………………………</a:t>
              </a:r>
            </a:p>
            <a:p>
              <a:pPr>
                <a:defRPr/>
              </a:pPr>
              <a:endParaRPr lang="nl-NL" sz="1000">
                <a:solidFill>
                  <a:prstClr val="black"/>
                </a:solidFill>
                <a:latin typeface="Lato regular"/>
                <a:ea typeface="Lato regular"/>
                <a:cs typeface="Lato regular"/>
              </a:endParaRPr>
            </a:p>
            <a:p>
              <a:pPr>
                <a:defRPr/>
              </a:pPr>
              <a:endParaRPr lang="nl-NL" sz="1000">
                <a:solidFill>
                  <a:prstClr val="black"/>
                </a:solidFill>
                <a:latin typeface="Lato regular"/>
                <a:ea typeface="Lato regular"/>
                <a:cs typeface="Lato regular"/>
              </a:endParaRPr>
            </a:p>
            <a:p>
              <a:pPr>
                <a:defRPr/>
              </a:pPr>
              <a:endParaRPr lang="nl-NL" sz="1000">
                <a:solidFill>
                  <a:prstClr val="black"/>
                </a:solidFill>
                <a:latin typeface="Lato regular"/>
                <a:ea typeface="Lato regular"/>
                <a:cs typeface="Lato regular"/>
              </a:endParaRPr>
            </a:p>
            <a:p>
              <a:pPr>
                <a:defRPr/>
              </a:pPr>
              <a:endParaRPr lang="nl-NL" sz="1000">
                <a:solidFill>
                  <a:prstClr val="black"/>
                </a:solidFill>
                <a:latin typeface="Lato regular"/>
                <a:ea typeface="Lato regular"/>
                <a:cs typeface="Lato regular"/>
              </a:endParaRPr>
            </a:p>
          </p:txBody>
        </p:sp>
        <p:sp>
          <p:nvSpPr>
            <p:cNvPr id="83" name="TextBox 48">
              <a:extLst>
                <a:ext uri="{FF2B5EF4-FFF2-40B4-BE49-F238E27FC236}">
                  <a16:creationId xmlns:a16="http://schemas.microsoft.com/office/drawing/2014/main" id="{1FB6F7F7-0ED7-8244-6625-E4C8019773D7}"/>
                </a:ext>
              </a:extLst>
            </p:cNvPr>
            <p:cNvSpPr txBox="1"/>
            <p:nvPr/>
          </p:nvSpPr>
          <p:spPr>
            <a:xfrm>
              <a:off x="8538176" y="6263062"/>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84" name="TextBox 49">
              <a:extLst>
                <a:ext uri="{FF2B5EF4-FFF2-40B4-BE49-F238E27FC236}">
                  <a16:creationId xmlns:a16="http://schemas.microsoft.com/office/drawing/2014/main" id="{0B6F6E8A-40A6-7251-1DB0-CD4D700AC8F5}"/>
                </a:ext>
              </a:extLst>
            </p:cNvPr>
            <p:cNvSpPr txBox="1"/>
            <p:nvPr/>
          </p:nvSpPr>
          <p:spPr>
            <a:xfrm>
              <a:off x="8538176" y="6009922"/>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Netwerkzorg Viewer</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grpSp>
      <p:sp>
        <p:nvSpPr>
          <p:cNvPr id="85" name="Tekstvak 85">
            <a:extLst>
              <a:ext uri="{FF2B5EF4-FFF2-40B4-BE49-F238E27FC236}">
                <a16:creationId xmlns:a16="http://schemas.microsoft.com/office/drawing/2014/main" id="{6AA88FA0-82E4-4E61-E936-F225C866E0A9}"/>
              </a:ext>
            </a:extLst>
          </p:cNvPr>
          <p:cNvSpPr txBox="1"/>
          <p:nvPr/>
        </p:nvSpPr>
        <p:spPr>
          <a:xfrm>
            <a:off x="8389620" y="2387034"/>
            <a:ext cx="292847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a:effectLst/>
                <a:latin typeface="+mn-lt"/>
                <a:ea typeface="Corbel" panose="020B0503020204020204" pitchFamily="34" charset="0"/>
                <a:cs typeface="Times New Roman" panose="02020603050405020304" pitchFamily="18" charset="0"/>
              </a:rPr>
              <a:t>‘Digitalisering en Databeschikbaarheid als drijvende kracht voor Netwerkzorg in Midden-Nederland</a:t>
            </a:r>
            <a:r>
              <a:rPr lang="nl-NL" sz="1000" b="1">
                <a:solidFill>
                  <a:schemeClr val="bg1"/>
                </a:solidFill>
                <a:latin typeface="Verdana Pro"/>
                <a:cs typeface="Helvetica"/>
              </a:rPr>
              <a:t>’</a:t>
            </a:r>
            <a:endParaRPr kumimoji="0" lang="nl-NL" sz="1000" i="1" u="none" strike="noStrike" kern="1200" cap="none" spc="0" normalizeH="0" baseline="0" noProof="0">
              <a:ln>
                <a:noFill/>
              </a:ln>
              <a:solidFill>
                <a:prstClr val="black"/>
              </a:solidFill>
              <a:effectLst/>
              <a:uLnTx/>
              <a:uFillTx/>
              <a:latin typeface="Lato regular" panose="020F0502020204030203" pitchFamily="34" charset="0"/>
              <a:ea typeface="Lato regular" panose="020F0502020204030203" pitchFamily="34" charset="0"/>
              <a:cs typeface="Lato regular" panose="020F0502020204030203" pitchFamily="34" charset="0"/>
            </a:endParaRPr>
          </a:p>
        </p:txBody>
      </p:sp>
      <p:sp>
        <p:nvSpPr>
          <p:cNvPr id="43" name="Rechthoek: afgeronde hoeken 2">
            <a:extLst>
              <a:ext uri="{FF2B5EF4-FFF2-40B4-BE49-F238E27FC236}">
                <a16:creationId xmlns:a16="http://schemas.microsoft.com/office/drawing/2014/main" id="{E17E4B09-7E5D-26EC-6917-EAD91B2BA06B}"/>
              </a:ext>
            </a:extLst>
          </p:cNvPr>
          <p:cNvSpPr/>
          <p:nvPr/>
        </p:nvSpPr>
        <p:spPr>
          <a:xfrm>
            <a:off x="-1" y="6598974"/>
            <a:ext cx="10145303"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Top Corners Rounded 38">
            <a:hlinkClick r:id="rId5" action="ppaction://hlinksldjump"/>
            <a:extLst>
              <a:ext uri="{FF2B5EF4-FFF2-40B4-BE49-F238E27FC236}">
                <a16:creationId xmlns:a16="http://schemas.microsoft.com/office/drawing/2014/main" id="{536FA6D2-70C1-1020-9E01-20581C60DC39}"/>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5" name="Graphic 14" descr="Introductiepagina silhouet">
            <a:hlinkClick r:id="rId6" action="ppaction://hlinksldjump"/>
            <a:extLst>
              <a:ext uri="{FF2B5EF4-FFF2-40B4-BE49-F238E27FC236}">
                <a16:creationId xmlns:a16="http://schemas.microsoft.com/office/drawing/2014/main" id="{B4273E5A-107D-895E-2434-A1A7EF1431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18" name="Rectangle: Top Corners Rounded 1">
            <a:hlinkClick r:id="rId9" action="ppaction://hlinksldjump"/>
            <a:extLst>
              <a:ext uri="{FF2B5EF4-FFF2-40B4-BE49-F238E27FC236}">
                <a16:creationId xmlns:a16="http://schemas.microsoft.com/office/drawing/2014/main" id="{975A2FBA-1CE4-E1B8-4495-C15AFB3377A5}"/>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9" name="Rectangle: Top Corners Rounded 1">
            <a:hlinkClick r:id="rId10" action="ppaction://hlinksldjump"/>
            <a:extLst>
              <a:ext uri="{FF2B5EF4-FFF2-40B4-BE49-F238E27FC236}">
                <a16:creationId xmlns:a16="http://schemas.microsoft.com/office/drawing/2014/main" id="{F3554126-F3F4-DB22-6E47-B1DA31EA73A9}"/>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20" name="Rectangle: Top Corners Rounded 1">
            <a:hlinkClick r:id="rId11" action="ppaction://hlinksldjump"/>
            <a:extLst>
              <a:ext uri="{FF2B5EF4-FFF2-40B4-BE49-F238E27FC236}">
                <a16:creationId xmlns:a16="http://schemas.microsoft.com/office/drawing/2014/main" id="{7B79F232-38C8-BA6D-FBB9-C0A37EC0209A}"/>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1" name="Rectangle: Top Corners Rounded 1">
            <a:hlinkClick r:id="rId12" action="ppaction://hlinksldjump"/>
            <a:extLst>
              <a:ext uri="{FF2B5EF4-FFF2-40B4-BE49-F238E27FC236}">
                <a16:creationId xmlns:a16="http://schemas.microsoft.com/office/drawing/2014/main" id="{9E4EBB4E-FDB0-78A0-A0AD-DA2636D2B44C}"/>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4" name="Rectangle: Top Corners Rounded 1">
            <a:hlinkClick r:id="rId13" action="ppaction://hlinksldjump"/>
            <a:extLst>
              <a:ext uri="{FF2B5EF4-FFF2-40B4-BE49-F238E27FC236}">
                <a16:creationId xmlns:a16="http://schemas.microsoft.com/office/drawing/2014/main" id="{A2E603C5-237F-6E83-25AA-C9A4DDDC5649}"/>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5" name="Rectangle: Top Corners Rounded 1">
            <a:hlinkClick r:id="rId14" action="ppaction://hlinksldjump"/>
            <a:extLst>
              <a:ext uri="{FF2B5EF4-FFF2-40B4-BE49-F238E27FC236}">
                <a16:creationId xmlns:a16="http://schemas.microsoft.com/office/drawing/2014/main" id="{2492DE24-A820-82CF-AD3C-F5D03466A7FA}"/>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6" name="Rectangle: Top Corners Rounded 1">
            <a:hlinkClick r:id="rId15" action="ppaction://hlinksldjump"/>
            <a:extLst>
              <a:ext uri="{FF2B5EF4-FFF2-40B4-BE49-F238E27FC236}">
                <a16:creationId xmlns:a16="http://schemas.microsoft.com/office/drawing/2014/main" id="{81465DE1-8648-A0B1-455F-4DF25E78DBDD}"/>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8" name="Rectangle: Top Corners Rounded 1">
            <a:hlinkClick r:id="rId16" action="ppaction://hlinksldjump"/>
            <a:extLst>
              <a:ext uri="{FF2B5EF4-FFF2-40B4-BE49-F238E27FC236}">
                <a16:creationId xmlns:a16="http://schemas.microsoft.com/office/drawing/2014/main" id="{1A169A3F-B5F4-F42A-40AB-3A63A3EA2EE9}"/>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4" name="Rectangle: Top Corners Rounded 1">
            <a:hlinkClick r:id="rId17" action="ppaction://hlinksldjump"/>
            <a:extLst>
              <a:ext uri="{FF2B5EF4-FFF2-40B4-BE49-F238E27FC236}">
                <a16:creationId xmlns:a16="http://schemas.microsoft.com/office/drawing/2014/main" id="{06F33FE1-BECA-D4A1-B84C-94206AEBFD43}"/>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5" name="Rectangle: Top Corners Rounded 1">
            <a:hlinkClick r:id="rId18" action="ppaction://hlinksldjump"/>
            <a:extLst>
              <a:ext uri="{FF2B5EF4-FFF2-40B4-BE49-F238E27FC236}">
                <a16:creationId xmlns:a16="http://schemas.microsoft.com/office/drawing/2014/main" id="{076FA955-EEF1-BC1B-D36E-4CF94B01236E}"/>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6" name="Rectangle: Top Corners Rounded 1">
            <a:hlinkClick r:id="rId19" action="ppaction://hlinksldjump"/>
            <a:extLst>
              <a:ext uri="{FF2B5EF4-FFF2-40B4-BE49-F238E27FC236}">
                <a16:creationId xmlns:a16="http://schemas.microsoft.com/office/drawing/2014/main" id="{1D664700-D243-970B-7DA6-D96013827164}"/>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2" name="TextBox 49">
            <a:extLst>
              <a:ext uri="{FF2B5EF4-FFF2-40B4-BE49-F238E27FC236}">
                <a16:creationId xmlns:a16="http://schemas.microsoft.com/office/drawing/2014/main" id="{2E2954F6-4E94-070A-2E1B-A8E12BE67E9A}"/>
              </a:ext>
            </a:extLst>
          </p:cNvPr>
          <p:cNvSpPr txBox="1"/>
          <p:nvPr/>
        </p:nvSpPr>
        <p:spPr>
          <a:xfrm>
            <a:off x="8525007" y="3409661"/>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Netwerkzorg Viewer</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8" name="TextBox 31">
            <a:extLst>
              <a:ext uri="{FF2B5EF4-FFF2-40B4-BE49-F238E27FC236}">
                <a16:creationId xmlns:a16="http://schemas.microsoft.com/office/drawing/2014/main" id="{34A5158E-FFE2-D4A8-CDA0-D4A4996FA9F6}"/>
              </a:ext>
            </a:extLst>
          </p:cNvPr>
          <p:cNvSpPr txBox="1"/>
          <p:nvPr/>
        </p:nvSpPr>
        <p:spPr>
          <a:xfrm>
            <a:off x="873902" y="5511672"/>
            <a:ext cx="3533743" cy="384721"/>
          </a:xfrm>
          <a:prstGeom prst="rect">
            <a:avLst/>
          </a:prstGeom>
          <a:noFill/>
        </p:spPr>
        <p:txBody>
          <a:bodyPr wrap="square" lIns="91440" tIns="45720" rIns="91440" bIns="45720" anchor="t">
            <a:spAutoFit/>
          </a:bodyPr>
          <a:lstStyle/>
          <a:p>
            <a:pPr>
              <a:defRPr/>
            </a:pPr>
            <a:r>
              <a:rPr kumimoji="0" lang="nl-NL" sz="1000" b="1" i="0" u="none" strike="noStrike" kern="1200" cap="none" spc="0" normalizeH="0" baseline="0" noProof="0">
                <a:ln>
                  <a:noFill/>
                </a:ln>
                <a:solidFill>
                  <a:prstClr val="black"/>
                </a:solidFill>
                <a:effectLst/>
                <a:uLnTx/>
                <a:uFillTx/>
                <a:latin typeface="Raleway"/>
                <a:ea typeface="Lato regular"/>
                <a:cs typeface="Lato regular"/>
              </a:rPr>
              <a:t>Mentale Gezondheid Midden-Nederland</a:t>
            </a:r>
          </a:p>
          <a:p>
            <a:pPr marL="92075" algn="just">
              <a:defRPr/>
            </a:pPr>
            <a:r>
              <a:rPr lang="nl-NL" sz="900">
                <a:solidFill>
                  <a:prstClr val="black"/>
                </a:solidFill>
                <a:latin typeface="Verdana" panose="020B0604030504040204" pitchFamily="34" charset="0"/>
                <a:ea typeface="Verdana" panose="020B0604030504040204" pitchFamily="34" charset="0"/>
              </a:rPr>
              <a:t>………….. </a:t>
            </a:r>
          </a:p>
        </p:txBody>
      </p:sp>
      <p:sp>
        <p:nvSpPr>
          <p:cNvPr id="3" name="TextBox 6">
            <a:extLst>
              <a:ext uri="{FF2B5EF4-FFF2-40B4-BE49-F238E27FC236}">
                <a16:creationId xmlns:a16="http://schemas.microsoft.com/office/drawing/2014/main" id="{1785F5D6-C60C-A8DD-11FB-7C4BE2CE3157}"/>
              </a:ext>
            </a:extLst>
          </p:cNvPr>
          <p:cNvSpPr txBox="1"/>
          <p:nvPr/>
        </p:nvSpPr>
        <p:spPr>
          <a:xfrm>
            <a:off x="518759" y="1360281"/>
            <a:ext cx="10906161" cy="470129"/>
          </a:xfrm>
          <a:prstGeom prst="rect">
            <a:avLst/>
          </a:prstGeom>
          <a:noFill/>
        </p:spPr>
        <p:txBody>
          <a:bodyPr wrap="square" lIns="91440" tIns="45720" rIns="91440" bIns="45720" anchor="t">
            <a:spAutoFit/>
          </a:bodyPr>
          <a:lstStyle/>
          <a:p>
            <a:pPr algn="just">
              <a:lnSpc>
                <a:spcPct val="107000"/>
              </a:lnSpc>
              <a:spcAft>
                <a:spcPts val="800"/>
              </a:spcAft>
            </a:pPr>
            <a:r>
              <a:rPr lang="nl-NL" sz="1200" b="1" dirty="0">
                <a:effectLst/>
                <a:latin typeface="Verdana Pro" panose="020B0604030504040204" pitchFamily="34" charset="0"/>
                <a:ea typeface="Calibri"/>
                <a:cs typeface="Arial"/>
              </a:rPr>
              <a:t>Op verschillende onderdelen van de domein overstijgende transformatieopgaven, wordt samengewerkt in de regio. De belangrijkste in relatie tot het fundament digitalisering en de samenhang worden hier weergegeven.</a:t>
            </a:r>
          </a:p>
        </p:txBody>
      </p:sp>
    </p:spTree>
    <p:extLst>
      <p:ext uri="{BB962C8B-B14F-4D97-AF65-F5344CB8AC3E}">
        <p14:creationId xmlns:p14="http://schemas.microsoft.com/office/powerpoint/2010/main" val="3274563715"/>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B91FE-46D6-1123-7487-264E4A835DA7}"/>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D2B9CEDB-BC8D-F3C5-A458-609881D9DCEB}"/>
              </a:ext>
            </a:extLst>
          </p:cNvPr>
          <p:cNvSpPr>
            <a:spLocks noGrp="1"/>
          </p:cNvSpPr>
          <p:nvPr>
            <p:ph type="title"/>
          </p:nvPr>
        </p:nvSpPr>
        <p:spPr/>
        <p:txBody>
          <a:bodyPr>
            <a:noAutofit/>
          </a:bodyPr>
          <a:lstStyle/>
          <a:p>
            <a:pPr algn="l"/>
            <a:r>
              <a:rPr lang="nl-NL" b="1">
                <a:solidFill>
                  <a:srgbClr val="8C95CD"/>
                </a:solidFill>
              </a:rPr>
              <a:t>Concretisering samenhang met andere programma’s en projecten in de regio</a:t>
            </a:r>
          </a:p>
        </p:txBody>
      </p:sp>
      <p:sp>
        <p:nvSpPr>
          <p:cNvPr id="16" name="TextBox 6">
            <a:extLst>
              <a:ext uri="{FF2B5EF4-FFF2-40B4-BE49-F238E27FC236}">
                <a16:creationId xmlns:a16="http://schemas.microsoft.com/office/drawing/2014/main" id="{5712D891-604E-91C2-0B5E-9E61E02115DF}"/>
              </a:ext>
            </a:extLst>
          </p:cNvPr>
          <p:cNvSpPr txBox="1"/>
          <p:nvPr/>
        </p:nvSpPr>
        <p:spPr>
          <a:xfrm>
            <a:off x="518759" y="1360281"/>
            <a:ext cx="10906161" cy="470129"/>
          </a:xfrm>
          <a:prstGeom prst="rect">
            <a:avLst/>
          </a:prstGeom>
          <a:noFill/>
        </p:spPr>
        <p:txBody>
          <a:bodyPr wrap="square" lIns="91440" tIns="45720" rIns="91440" bIns="45720" anchor="t">
            <a:spAutoFit/>
          </a:bodyPr>
          <a:lstStyle/>
          <a:p>
            <a:pPr algn="just">
              <a:lnSpc>
                <a:spcPct val="107000"/>
              </a:lnSpc>
              <a:spcAft>
                <a:spcPts val="800"/>
              </a:spcAft>
            </a:pPr>
            <a:r>
              <a:rPr lang="nl-NL" sz="1200" b="1" dirty="0">
                <a:effectLst/>
                <a:latin typeface="Verdana Pro" panose="020B0604030504040204" pitchFamily="34" charset="0"/>
                <a:ea typeface="Calibri"/>
                <a:cs typeface="Arial"/>
              </a:rPr>
              <a:t>Op verschillende onderdelen van de domein overstijgende transformatieopgaven, wordt samengewerkt in de regio. De belangrijkste in relatie tot het fundament digitalisering en de samenhang worden hier weergegeven.</a:t>
            </a:r>
          </a:p>
        </p:txBody>
      </p:sp>
      <p:sp>
        <p:nvSpPr>
          <p:cNvPr id="11" name="Rechthoek 77">
            <a:extLst>
              <a:ext uri="{FF2B5EF4-FFF2-40B4-BE49-F238E27FC236}">
                <a16:creationId xmlns:a16="http://schemas.microsoft.com/office/drawing/2014/main" id="{C961B0CA-49B8-B417-80E6-EAC1AA0B3E9A}"/>
              </a:ext>
            </a:extLst>
          </p:cNvPr>
          <p:cNvSpPr/>
          <p:nvPr/>
        </p:nvSpPr>
        <p:spPr>
          <a:xfrm>
            <a:off x="8193741" y="2066829"/>
            <a:ext cx="3143652" cy="707516"/>
          </a:xfrm>
          <a:prstGeom prst="rect">
            <a:avLst/>
          </a:prstGeom>
          <a:solidFill>
            <a:srgbClr val="8C95CD">
              <a:alpha val="4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kstvak 85">
            <a:extLst>
              <a:ext uri="{FF2B5EF4-FFF2-40B4-BE49-F238E27FC236}">
                <a16:creationId xmlns:a16="http://schemas.microsoft.com/office/drawing/2014/main" id="{EDE81416-1459-0A2F-51CD-C05139DD5AF6}"/>
              </a:ext>
            </a:extLst>
          </p:cNvPr>
          <p:cNvSpPr txBox="1"/>
          <p:nvPr/>
        </p:nvSpPr>
        <p:spPr>
          <a:xfrm>
            <a:off x="873902" y="2147004"/>
            <a:ext cx="2859490"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dirty="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Relevante Programma’s en Projecten </a:t>
            </a:r>
            <a:endParaRPr kumimoji="0" lang="nl-NL" sz="1000" i="1" u="none" strike="noStrike" kern="1200" cap="none" spc="0" normalizeH="0" baseline="0" noProof="0" dirty="0">
              <a:ln>
                <a:noFill/>
              </a:ln>
              <a:solidFill>
                <a:prstClr val="black"/>
              </a:solidFill>
              <a:effectLst/>
              <a:uLnTx/>
              <a:uFillTx/>
              <a:latin typeface="Lato regular" panose="020F0502020204030203" pitchFamily="34" charset="0"/>
              <a:ea typeface="Lato regular" panose="020F0502020204030203" pitchFamily="34" charset="0"/>
              <a:cs typeface="Lato regular" panose="020F0502020204030203" pitchFamily="34" charset="0"/>
            </a:endParaRPr>
          </a:p>
        </p:txBody>
      </p:sp>
      <p:sp>
        <p:nvSpPr>
          <p:cNvPr id="23" name="Tekstvak 85">
            <a:extLst>
              <a:ext uri="{FF2B5EF4-FFF2-40B4-BE49-F238E27FC236}">
                <a16:creationId xmlns:a16="http://schemas.microsoft.com/office/drawing/2014/main" id="{DF70F49E-7202-F3A4-73AD-1BB8E3A822B7}"/>
              </a:ext>
            </a:extLst>
          </p:cNvPr>
          <p:cNvSpPr txBox="1"/>
          <p:nvPr/>
        </p:nvSpPr>
        <p:spPr>
          <a:xfrm>
            <a:off x="8945828" y="2147004"/>
            <a:ext cx="195839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Transformatieplan</a:t>
            </a:r>
          </a:p>
        </p:txBody>
      </p:sp>
      <p:sp>
        <p:nvSpPr>
          <p:cNvPr id="27" name="Tekstvak 85">
            <a:extLst>
              <a:ext uri="{FF2B5EF4-FFF2-40B4-BE49-F238E27FC236}">
                <a16:creationId xmlns:a16="http://schemas.microsoft.com/office/drawing/2014/main" id="{1487E6E4-F64F-7C7B-D0C1-D980A086C18B}"/>
              </a:ext>
            </a:extLst>
          </p:cNvPr>
          <p:cNvSpPr txBox="1"/>
          <p:nvPr/>
        </p:nvSpPr>
        <p:spPr>
          <a:xfrm>
            <a:off x="5088876" y="2147004"/>
            <a:ext cx="2859490" cy="253916"/>
          </a:xfrm>
          <a:prstGeom prst="rect">
            <a:avLst/>
          </a:prstGeom>
          <a:noFill/>
        </p:spPr>
        <p:txBody>
          <a:bodyPr wrap="square" lIns="91440" tIns="45720" rIns="91440" bIns="45720" rtlCol="0" anchor="t">
            <a:spAutoFit/>
          </a:bodyPr>
          <a:lstStyle/>
          <a:p>
            <a:pPr>
              <a:defRPr/>
            </a:pPr>
            <a:r>
              <a:rPr lang="nl-NL" sz="1050" b="1">
                <a:solidFill>
                  <a:prstClr val="black"/>
                </a:solidFill>
                <a:latin typeface="Raleway"/>
                <a:ea typeface="Lato regular"/>
                <a:cs typeface="Lato regular"/>
              </a:rPr>
              <a:t>Samenhang tussen</a:t>
            </a:r>
            <a:r>
              <a:rPr kumimoji="0" lang="nl-NL" sz="1050" b="1" i="0" u="none" strike="noStrike" kern="1200" cap="none" spc="0" normalizeH="0" baseline="0" noProof="0">
                <a:ln>
                  <a:noFill/>
                </a:ln>
                <a:solidFill>
                  <a:prstClr val="black"/>
                </a:solidFill>
                <a:effectLst/>
                <a:uLnTx/>
                <a:uFillTx/>
                <a:latin typeface="Raleway"/>
                <a:ea typeface="Lato regular"/>
                <a:cs typeface="Lato regular"/>
              </a:rPr>
              <a:t> beide plannen</a:t>
            </a:r>
            <a:endParaRPr kumimoji="0" lang="nl-NL" sz="1000" i="1" u="none" strike="noStrike" kern="1200" cap="none" spc="0" normalizeH="0" baseline="0" noProof="0">
              <a:ln>
                <a:noFill/>
              </a:ln>
              <a:solidFill>
                <a:prstClr val="black"/>
              </a:solidFill>
              <a:effectLst/>
              <a:uLnTx/>
              <a:uFillTx/>
              <a:latin typeface="Raleway"/>
              <a:ea typeface="Lato regular"/>
              <a:cs typeface="Lato regular"/>
            </a:endParaRPr>
          </a:p>
        </p:txBody>
      </p:sp>
      <p:sp>
        <p:nvSpPr>
          <p:cNvPr id="5" name="Rechthoek 77">
            <a:extLst>
              <a:ext uri="{FF2B5EF4-FFF2-40B4-BE49-F238E27FC236}">
                <a16:creationId xmlns:a16="http://schemas.microsoft.com/office/drawing/2014/main" id="{5C2D33EA-3A56-6624-FD1A-FAE4C1BD172A}"/>
              </a:ext>
            </a:extLst>
          </p:cNvPr>
          <p:cNvSpPr/>
          <p:nvPr/>
        </p:nvSpPr>
        <p:spPr>
          <a:xfrm>
            <a:off x="683666" y="2841744"/>
            <a:ext cx="3990616" cy="1099245"/>
          </a:xfrm>
          <a:prstGeom prst="rect">
            <a:avLst/>
          </a:prstGeom>
          <a:solidFill>
            <a:srgbClr val="F2F8E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hthoek 77">
            <a:extLst>
              <a:ext uri="{FF2B5EF4-FFF2-40B4-BE49-F238E27FC236}">
                <a16:creationId xmlns:a16="http://schemas.microsoft.com/office/drawing/2014/main" id="{BDA260C9-77DF-2ADD-0FFE-E20E4368D0DD}"/>
              </a:ext>
            </a:extLst>
          </p:cNvPr>
          <p:cNvSpPr/>
          <p:nvPr/>
        </p:nvSpPr>
        <p:spPr>
          <a:xfrm>
            <a:off x="8193741" y="2841744"/>
            <a:ext cx="3143652" cy="1099245"/>
          </a:xfrm>
          <a:prstGeom prst="rect">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hthoek 5">
            <a:extLst>
              <a:ext uri="{FF2B5EF4-FFF2-40B4-BE49-F238E27FC236}">
                <a16:creationId xmlns:a16="http://schemas.microsoft.com/office/drawing/2014/main" id="{CD47BAA8-E4B4-EBE4-E87A-5DF4A9A9D52A}"/>
              </a:ext>
            </a:extLst>
          </p:cNvPr>
          <p:cNvSpPr/>
          <p:nvPr/>
        </p:nvSpPr>
        <p:spPr>
          <a:xfrm>
            <a:off x="4864519" y="2919589"/>
            <a:ext cx="3308204" cy="1354217"/>
          </a:xfrm>
          <a:prstGeom prst="rect">
            <a:avLst/>
          </a:prstGeom>
          <a:noFill/>
        </p:spPr>
        <p:txBody>
          <a:bodyPr wrap="square" lIns="91440" tIns="45720" rIns="91440" bIns="45720" rtlCol="0" anchor="t">
            <a:spAutoFit/>
          </a:bodyPr>
          <a:lstStyle/>
          <a:p>
            <a:pPr algn="just">
              <a:spcAft>
                <a:spcPts val="600"/>
              </a:spcAft>
              <a:defRPr/>
            </a:pPr>
            <a:r>
              <a:rPr lang="nl-NL" sz="800">
                <a:solidFill>
                  <a:prstClr val="black"/>
                </a:solidFill>
                <a:latin typeface="Verdana" panose="020B0604030504040204" pitchFamily="34" charset="0"/>
                <a:ea typeface="Verdana" panose="020B0604030504040204" pitchFamily="34" charset="0"/>
                <a:cs typeface="Lato regular"/>
              </a:rPr>
              <a:t>Aangezien er momenteel een gecombineerde werkafspraak in wording is, zijn de </a:t>
            </a:r>
            <a:r>
              <a:rPr lang="nl-NL" sz="800" err="1">
                <a:solidFill>
                  <a:prstClr val="black"/>
                </a:solidFill>
                <a:latin typeface="Verdana" panose="020B0604030504040204" pitchFamily="34" charset="0"/>
                <a:ea typeface="Verdana" panose="020B0604030504040204" pitchFamily="34" charset="0"/>
                <a:cs typeface="Lato regular"/>
              </a:rPr>
              <a:t>use</a:t>
            </a:r>
            <a:r>
              <a:rPr lang="nl-NL" sz="800">
                <a:solidFill>
                  <a:prstClr val="black"/>
                </a:solidFill>
                <a:latin typeface="Verdana" panose="020B0604030504040204" pitchFamily="34" charset="0"/>
                <a:ea typeface="Verdana" panose="020B0604030504040204" pitchFamily="34" charset="0"/>
                <a:cs typeface="Lato regular"/>
              </a:rPr>
              <a:t>-cases meedenkconsult &amp; kort overleg (1.1) en digitaal verwijzen (1.2) gecombineerd in het transformatieplan. Op deze manier is er een logische aansluiting op de voortgang van de bestaande werkgroep ‘digitale communicatie huisarts-specialist’ en kan er een versnelling worden ingezet i.p.v. een mogelijke vertraging. </a:t>
            </a:r>
          </a:p>
          <a:p>
            <a:pPr algn="just">
              <a:spcAft>
                <a:spcPts val="600"/>
              </a:spcAft>
              <a:defRPr/>
            </a:pPr>
            <a:endParaRPr lang="nl-NL" sz="800">
              <a:solidFill>
                <a:prstClr val="black"/>
              </a:solidFill>
              <a:latin typeface="Verdana" panose="020B0604030504040204" pitchFamily="34" charset="0"/>
              <a:ea typeface="Verdana" panose="020B0604030504040204" pitchFamily="34" charset="0"/>
              <a:cs typeface="Lato regular"/>
            </a:endParaRPr>
          </a:p>
          <a:p>
            <a:pPr algn="just">
              <a:spcAft>
                <a:spcPts val="600"/>
              </a:spcAft>
              <a:defRPr/>
            </a:pPr>
            <a:endParaRPr lang="nl-NL" sz="800">
              <a:solidFill>
                <a:prstClr val="black"/>
              </a:solidFill>
              <a:latin typeface="Verdana" panose="020B0604030504040204" pitchFamily="34" charset="0"/>
              <a:ea typeface="Verdana" panose="020B0604030504040204" pitchFamily="34" charset="0"/>
              <a:cs typeface="Lato regular"/>
            </a:endParaRPr>
          </a:p>
        </p:txBody>
      </p:sp>
      <p:sp>
        <p:nvSpPr>
          <p:cNvPr id="32" name="Pijl-omlaag 78">
            <a:extLst>
              <a:ext uri="{FF2B5EF4-FFF2-40B4-BE49-F238E27FC236}">
                <a16:creationId xmlns:a16="http://schemas.microsoft.com/office/drawing/2014/main" id="{59869B3B-1874-32DB-C511-852FECD57DC0}"/>
              </a:ext>
            </a:extLst>
          </p:cNvPr>
          <p:cNvSpPr/>
          <p:nvPr/>
        </p:nvSpPr>
        <p:spPr>
          <a:xfrm rot="16200000" flipH="1" flipV="1">
            <a:off x="7730384" y="3258048"/>
            <a:ext cx="660861" cy="266637"/>
          </a:xfrm>
          <a:prstGeom prst="downArrow">
            <a:avLst>
              <a:gd name="adj1" fmla="val 50000"/>
              <a:gd name="adj2" fmla="val 100000"/>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33" name="Pijl-omlaag 78">
            <a:extLst>
              <a:ext uri="{FF2B5EF4-FFF2-40B4-BE49-F238E27FC236}">
                <a16:creationId xmlns:a16="http://schemas.microsoft.com/office/drawing/2014/main" id="{98358698-3830-2AA7-F6F8-1C9BEE3B58D5}"/>
              </a:ext>
            </a:extLst>
          </p:cNvPr>
          <p:cNvSpPr/>
          <p:nvPr/>
        </p:nvSpPr>
        <p:spPr>
          <a:xfrm rot="16200000">
            <a:off x="4439070" y="3258047"/>
            <a:ext cx="660861" cy="266637"/>
          </a:xfrm>
          <a:prstGeom prst="downArrow">
            <a:avLst>
              <a:gd name="adj1" fmla="val 50000"/>
              <a:gd name="adj2" fmla="val 100000"/>
            </a:avLst>
          </a:prstGeom>
          <a:solidFill>
            <a:srgbClr val="F2F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Pijl-omlaag 78">
            <a:extLst>
              <a:ext uri="{FF2B5EF4-FFF2-40B4-BE49-F238E27FC236}">
                <a16:creationId xmlns:a16="http://schemas.microsoft.com/office/drawing/2014/main" id="{0C981054-BC6E-CFF9-4421-0526171A8806}"/>
              </a:ext>
            </a:extLst>
          </p:cNvPr>
          <p:cNvSpPr/>
          <p:nvPr/>
        </p:nvSpPr>
        <p:spPr>
          <a:xfrm rot="16200000">
            <a:off x="8012915" y="3258048"/>
            <a:ext cx="660861" cy="266637"/>
          </a:xfrm>
          <a:prstGeom prst="downArrow">
            <a:avLst>
              <a:gd name="adj1" fmla="val 50000"/>
              <a:gd name="adj2"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Pijl-omlaag 78">
            <a:extLst>
              <a:ext uri="{FF2B5EF4-FFF2-40B4-BE49-F238E27FC236}">
                <a16:creationId xmlns:a16="http://schemas.microsoft.com/office/drawing/2014/main" id="{BC5E9E47-D8E5-9264-2CDC-F08477671F26}"/>
              </a:ext>
            </a:extLst>
          </p:cNvPr>
          <p:cNvSpPr/>
          <p:nvPr/>
        </p:nvSpPr>
        <p:spPr>
          <a:xfrm rot="16200000" flipH="1" flipV="1">
            <a:off x="4172433" y="3258048"/>
            <a:ext cx="660861" cy="266637"/>
          </a:xfrm>
          <a:prstGeom prst="downArrow">
            <a:avLst>
              <a:gd name="adj1" fmla="val 50000"/>
              <a:gd name="adj2" fmla="val 100000"/>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62" name="TextBox 28">
            <a:extLst>
              <a:ext uri="{FF2B5EF4-FFF2-40B4-BE49-F238E27FC236}">
                <a16:creationId xmlns:a16="http://schemas.microsoft.com/office/drawing/2014/main" id="{8472D710-4867-DCCC-995F-83F49CEFA7A0}"/>
              </a:ext>
            </a:extLst>
          </p:cNvPr>
          <p:cNvSpPr txBox="1"/>
          <p:nvPr/>
        </p:nvSpPr>
        <p:spPr>
          <a:xfrm>
            <a:off x="1219657" y="3055357"/>
            <a:ext cx="3187988" cy="8002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Digitale (Zorg)Communicatie</a:t>
            </a:r>
          </a:p>
          <a:p>
            <a:pPr marR="0" lvl="0" algn="l" defTabSz="914400" rtl="0" eaLnBrk="1" fontAlgn="auto" latinLnBrk="0" hangingPunct="1">
              <a:lnSpc>
                <a:spcPct val="100000"/>
              </a:lnSpc>
              <a:spcBef>
                <a:spcPts val="0"/>
              </a:spcBef>
              <a:spcAft>
                <a:spcPts val="0"/>
              </a:spcAft>
              <a:buClrTx/>
              <a:buSzTx/>
              <a:tabLst/>
              <a:defRPr/>
            </a:pPr>
            <a:r>
              <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rPr>
              <a:t>In de regio loopt al een bestaande werkgroep  ‘digitale communicatie huisarts-specialist’ die eind 2024 werkt aan gecombineerde werkafspraak voor meedenkconsult &amp; kort overleg en digitaal verwijzen.</a:t>
            </a:r>
          </a:p>
        </p:txBody>
      </p:sp>
      <p:sp>
        <p:nvSpPr>
          <p:cNvPr id="63" name="TextBox 30">
            <a:extLst>
              <a:ext uri="{FF2B5EF4-FFF2-40B4-BE49-F238E27FC236}">
                <a16:creationId xmlns:a16="http://schemas.microsoft.com/office/drawing/2014/main" id="{ED8F188C-5531-E9D1-18ED-68A94332A641}"/>
              </a:ext>
            </a:extLst>
          </p:cNvPr>
          <p:cNvSpPr txBox="1"/>
          <p:nvPr/>
        </p:nvSpPr>
        <p:spPr>
          <a:xfrm>
            <a:off x="8530658" y="2873379"/>
            <a:ext cx="3143652" cy="246221"/>
          </a:xfrm>
          <a:prstGeom prst="rect">
            <a:avLst/>
          </a:prstGeom>
          <a:noFill/>
        </p:spPr>
        <p:txBody>
          <a:bodyPr wrap="square">
            <a:spAutoFit/>
          </a:bodyPr>
          <a:lstStyle/>
          <a:p>
            <a:pPr>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Meedenkconsult </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grpSp>
        <p:nvGrpSpPr>
          <p:cNvPr id="7" name="Group 6">
            <a:extLst>
              <a:ext uri="{FF2B5EF4-FFF2-40B4-BE49-F238E27FC236}">
                <a16:creationId xmlns:a16="http://schemas.microsoft.com/office/drawing/2014/main" id="{C69CEE6A-D45C-0C37-01F2-7BA2F38B885E}"/>
              </a:ext>
            </a:extLst>
          </p:cNvPr>
          <p:cNvGrpSpPr/>
          <p:nvPr/>
        </p:nvGrpSpPr>
        <p:grpSpPr>
          <a:xfrm>
            <a:off x="683666" y="4088947"/>
            <a:ext cx="10952544" cy="1203610"/>
            <a:chOff x="683666" y="4203966"/>
            <a:chExt cx="10952544" cy="1203610"/>
          </a:xfrm>
        </p:grpSpPr>
        <p:sp>
          <p:nvSpPr>
            <p:cNvPr id="35" name="Rechthoek 77">
              <a:extLst>
                <a:ext uri="{FF2B5EF4-FFF2-40B4-BE49-F238E27FC236}">
                  <a16:creationId xmlns:a16="http://schemas.microsoft.com/office/drawing/2014/main" id="{0FF32644-85CC-82AC-D216-D9211A62D362}"/>
                </a:ext>
              </a:extLst>
            </p:cNvPr>
            <p:cNvSpPr/>
            <p:nvPr/>
          </p:nvSpPr>
          <p:spPr>
            <a:xfrm>
              <a:off x="683666" y="4239195"/>
              <a:ext cx="3990616" cy="1099245"/>
            </a:xfrm>
            <a:prstGeom prst="rect">
              <a:avLst/>
            </a:prstGeom>
            <a:solidFill>
              <a:srgbClr val="F2F8E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Pijl-omlaag 78">
              <a:extLst>
                <a:ext uri="{FF2B5EF4-FFF2-40B4-BE49-F238E27FC236}">
                  <a16:creationId xmlns:a16="http://schemas.microsoft.com/office/drawing/2014/main" id="{D4147A61-CDCC-83CF-44C1-7DEBEF89BADE}"/>
                </a:ext>
              </a:extLst>
            </p:cNvPr>
            <p:cNvSpPr/>
            <p:nvPr/>
          </p:nvSpPr>
          <p:spPr>
            <a:xfrm rot="16200000">
              <a:off x="4439070" y="4620270"/>
              <a:ext cx="660861" cy="266637"/>
            </a:xfrm>
            <a:prstGeom prst="downArrow">
              <a:avLst>
                <a:gd name="adj1" fmla="val 50000"/>
                <a:gd name="adj2" fmla="val 100000"/>
              </a:avLst>
            </a:prstGeom>
            <a:solidFill>
              <a:srgbClr val="F2F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Pijl-omlaag 78">
              <a:extLst>
                <a:ext uri="{FF2B5EF4-FFF2-40B4-BE49-F238E27FC236}">
                  <a16:creationId xmlns:a16="http://schemas.microsoft.com/office/drawing/2014/main" id="{C87E36B9-A1D4-7446-3E5B-D85FC8F69D78}"/>
                </a:ext>
              </a:extLst>
            </p:cNvPr>
            <p:cNvSpPr/>
            <p:nvPr/>
          </p:nvSpPr>
          <p:spPr>
            <a:xfrm rot="16200000" flipH="1" flipV="1">
              <a:off x="7730384" y="4620270"/>
              <a:ext cx="660861" cy="266637"/>
            </a:xfrm>
            <a:prstGeom prst="downArrow">
              <a:avLst>
                <a:gd name="adj1" fmla="val 50000"/>
                <a:gd name="adj2" fmla="val 100000"/>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52" name="Rechthoek 77">
              <a:extLst>
                <a:ext uri="{FF2B5EF4-FFF2-40B4-BE49-F238E27FC236}">
                  <a16:creationId xmlns:a16="http://schemas.microsoft.com/office/drawing/2014/main" id="{A643F2EC-94B9-6C83-FE7F-23C615AD6888}"/>
                </a:ext>
              </a:extLst>
            </p:cNvPr>
            <p:cNvSpPr/>
            <p:nvPr/>
          </p:nvSpPr>
          <p:spPr>
            <a:xfrm>
              <a:off x="8193741" y="4203966"/>
              <a:ext cx="3143652" cy="1099245"/>
            </a:xfrm>
            <a:prstGeom prst="rect">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Pijl-omlaag 78">
              <a:extLst>
                <a:ext uri="{FF2B5EF4-FFF2-40B4-BE49-F238E27FC236}">
                  <a16:creationId xmlns:a16="http://schemas.microsoft.com/office/drawing/2014/main" id="{13423B42-62B5-5F48-5ECC-11F966E312A7}"/>
                </a:ext>
              </a:extLst>
            </p:cNvPr>
            <p:cNvSpPr/>
            <p:nvPr/>
          </p:nvSpPr>
          <p:spPr>
            <a:xfrm rot="16200000">
              <a:off x="8012915" y="4620270"/>
              <a:ext cx="660861" cy="266637"/>
            </a:xfrm>
            <a:prstGeom prst="downArrow">
              <a:avLst>
                <a:gd name="adj1" fmla="val 50000"/>
                <a:gd name="adj2"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Pijl-omlaag 78">
              <a:extLst>
                <a:ext uri="{FF2B5EF4-FFF2-40B4-BE49-F238E27FC236}">
                  <a16:creationId xmlns:a16="http://schemas.microsoft.com/office/drawing/2014/main" id="{88CA8202-1793-4E62-E9D8-FFA945D492F0}"/>
                </a:ext>
              </a:extLst>
            </p:cNvPr>
            <p:cNvSpPr/>
            <p:nvPr/>
          </p:nvSpPr>
          <p:spPr>
            <a:xfrm rot="16200000" flipH="1" flipV="1">
              <a:off x="4172433" y="4620270"/>
              <a:ext cx="660861" cy="266637"/>
            </a:xfrm>
            <a:prstGeom prst="downArrow">
              <a:avLst>
                <a:gd name="adj1" fmla="val 50000"/>
                <a:gd name="adj2" fmla="val 100000"/>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64" name="TextBox 31">
              <a:extLst>
                <a:ext uri="{FF2B5EF4-FFF2-40B4-BE49-F238E27FC236}">
                  <a16:creationId xmlns:a16="http://schemas.microsoft.com/office/drawing/2014/main" id="{83AE81B4-8FED-1A73-081F-524EEAD23EA3}"/>
                </a:ext>
              </a:extLst>
            </p:cNvPr>
            <p:cNvSpPr txBox="1"/>
            <p:nvPr/>
          </p:nvSpPr>
          <p:spPr>
            <a:xfrm>
              <a:off x="1219657" y="4307275"/>
              <a:ext cx="3187988" cy="1077218"/>
            </a:xfrm>
            <a:prstGeom prst="rect">
              <a:avLst/>
            </a:prstGeom>
            <a:noFill/>
          </p:spPr>
          <p:txBody>
            <a:bodyPr wrap="square" lIns="91440" tIns="45720" rIns="91440" bIns="45720" anchor="t">
              <a:spAutoFit/>
            </a:bodyPr>
            <a:lstStyle/>
            <a:p>
              <a:pPr>
                <a:defRPr/>
              </a:pPr>
              <a:r>
                <a:rPr kumimoji="0" lang="nl-NL" sz="1000" b="1" i="0" u="none" strike="noStrike" kern="1200" cap="none" spc="0" normalizeH="0" baseline="0" noProof="0">
                  <a:ln>
                    <a:noFill/>
                  </a:ln>
                  <a:solidFill>
                    <a:prstClr val="black"/>
                  </a:solidFill>
                  <a:effectLst/>
                  <a:uLnTx/>
                  <a:uFillTx/>
                  <a:latin typeface="Raleway"/>
                  <a:ea typeface="Lato regular"/>
                  <a:cs typeface="Lato regular"/>
                </a:rPr>
                <a:t>Met Spoed Beschikbaar 2.0</a:t>
              </a:r>
            </a:p>
            <a:p>
              <a:pPr>
                <a:defRPr/>
              </a:pPr>
              <a:r>
                <a:rPr lang="nl-NL" sz="900">
                  <a:solidFill>
                    <a:prstClr val="black"/>
                  </a:solidFill>
                  <a:latin typeface="Raleway" pitchFamily="2" charset="0"/>
                  <a:ea typeface="Lato regular" panose="020F0502020204030203" pitchFamily="34" charset="0"/>
                  <a:cs typeface="Lato regular" panose="020F0502020204030203" pitchFamily="34" charset="0"/>
                </a:rPr>
                <a:t>Dit landelijke programma helpt regio’s </a:t>
              </a:r>
              <a:r>
                <a:rPr kumimoji="0" lang="nl-NL" sz="900"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met de implementatie van de digitale uitwisseling van </a:t>
              </a:r>
              <a:r>
                <a:rPr lang="nl-NL" sz="900">
                  <a:solidFill>
                    <a:prstClr val="black"/>
                  </a:solidFill>
                  <a:latin typeface="Raleway" pitchFamily="2" charset="0"/>
                  <a:ea typeface="Lato regular" panose="020F0502020204030203" pitchFamily="34" charset="0"/>
                  <a:cs typeface="Lato regular" panose="020F0502020204030203" pitchFamily="34" charset="0"/>
                </a:rPr>
                <a:t>gegevens in de acute zorg</a:t>
              </a:r>
              <a:r>
                <a:rPr kumimoji="0" lang="nl-NL" sz="900"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 Het programma wordt regionaal </a:t>
              </a:r>
              <a:r>
                <a:rPr kumimoji="0" lang="nl-NL" sz="900" i="0" u="none" strike="noStrike" kern="1200" cap="none" spc="0" normalizeH="0" baseline="0" noProof="0" err="1">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uitgero</a:t>
              </a:r>
              <a:r>
                <a:rPr lang="nl-NL" sz="900">
                  <a:solidFill>
                    <a:prstClr val="black"/>
                  </a:solidFill>
                  <a:latin typeface="Raleway" pitchFamily="2" charset="0"/>
                  <a:ea typeface="Lato regular" panose="020F0502020204030203" pitchFamily="34" charset="0"/>
                  <a:cs typeface="Lato regular" panose="020F0502020204030203" pitchFamily="34" charset="0"/>
                </a:rPr>
                <a:t>ld. In de ROAZ-regio Midden-Nederland wordt dit gecoördineerd door Trijn. </a:t>
              </a:r>
              <a:r>
                <a:rPr kumimoji="0" lang="nl-NL" sz="900"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rPr>
                <a:t> </a:t>
              </a:r>
            </a:p>
            <a:p>
              <a:pPr>
                <a:defRPr/>
              </a:pPr>
              <a:endParaRPr kumimoji="0" lang="nl-NL" sz="900" b="1" i="0" u="none" strike="noStrike" kern="1200" cap="none" spc="0" normalizeH="0" baseline="0" noProof="0">
                <a:ln>
                  <a:noFill/>
                </a:ln>
                <a:solidFill>
                  <a:prstClr val="black"/>
                </a:solidFill>
                <a:effectLst/>
                <a:uLnTx/>
                <a:uFillTx/>
                <a:latin typeface="Raleway" pitchFamily="2" charset="0"/>
                <a:ea typeface="Lato regular" panose="020F0502020204030203" pitchFamily="34" charset="0"/>
                <a:cs typeface="Lato regular" panose="020F0502020204030203" pitchFamily="34" charset="0"/>
              </a:endParaRPr>
            </a:p>
          </p:txBody>
        </p:sp>
        <p:sp>
          <p:nvSpPr>
            <p:cNvPr id="67" name="Rechthoek 5">
              <a:extLst>
                <a:ext uri="{FF2B5EF4-FFF2-40B4-BE49-F238E27FC236}">
                  <a16:creationId xmlns:a16="http://schemas.microsoft.com/office/drawing/2014/main" id="{EE1364A6-B21A-F28E-7E52-7D0DDF4580E7}"/>
                </a:ext>
              </a:extLst>
            </p:cNvPr>
            <p:cNvSpPr/>
            <p:nvPr/>
          </p:nvSpPr>
          <p:spPr>
            <a:xfrm>
              <a:off x="4864519" y="4253414"/>
              <a:ext cx="3308204" cy="1154162"/>
            </a:xfrm>
            <a:prstGeom prst="rect">
              <a:avLst/>
            </a:prstGeom>
            <a:noFill/>
          </p:spPr>
          <p:txBody>
            <a:bodyPr wrap="square" lIns="91440" tIns="45720" rIns="91440" bIns="45720" rtlCol="0" anchor="t">
              <a:spAutoFit/>
            </a:bodyPr>
            <a:lstStyle/>
            <a:p>
              <a:pPr algn="just">
                <a:spcAft>
                  <a:spcPts val="600"/>
                </a:spcAft>
                <a:defRPr/>
              </a:pPr>
              <a:r>
                <a:rPr lang="nl-NL" sz="800">
                  <a:solidFill>
                    <a:prstClr val="black"/>
                  </a:solidFill>
                  <a:latin typeface="Verdana" panose="020B0604030504040204" pitchFamily="34" charset="0"/>
                  <a:ea typeface="Verdana" panose="020B0604030504040204" pitchFamily="34" charset="0"/>
                </a:rPr>
                <a:t>Transformatieplan van RSO Trijn richt zich op de verdere implementatie van de berichtnummers die vanuit landelijk én de regio Midden-Nederland prioriteit hebben gekregen. </a:t>
              </a:r>
            </a:p>
            <a:p>
              <a:pPr algn="just">
                <a:spcAft>
                  <a:spcPts val="600"/>
                </a:spcAft>
                <a:defRPr/>
              </a:pPr>
              <a:r>
                <a:rPr lang="nl-NL" sz="800">
                  <a:solidFill>
                    <a:prstClr val="black"/>
                  </a:solidFill>
                  <a:latin typeface="Verdana" panose="020B0604030504040204" pitchFamily="34" charset="0"/>
                  <a:ea typeface="Verdana" panose="020B0604030504040204" pitchFamily="34" charset="0"/>
                </a:rPr>
                <a:t>De acute VVT en GGZ zijn (nog) geen onderdeel van de </a:t>
              </a:r>
              <a:r>
                <a:rPr lang="nl-NL" sz="800" err="1">
                  <a:solidFill>
                    <a:prstClr val="black"/>
                  </a:solidFill>
                  <a:latin typeface="Verdana" panose="020B0604030504040204" pitchFamily="34" charset="0"/>
                  <a:ea typeface="Verdana" panose="020B0604030504040204" pitchFamily="34" charset="0"/>
                </a:rPr>
                <a:t>eSpoedstandaard</a:t>
              </a:r>
              <a:r>
                <a:rPr lang="nl-NL" sz="800">
                  <a:solidFill>
                    <a:prstClr val="black"/>
                  </a:solidFill>
                  <a:latin typeface="Verdana" panose="020B0604030504040204" pitchFamily="34" charset="0"/>
                  <a:ea typeface="Verdana" panose="020B0604030504040204" pitchFamily="34" charset="0"/>
                </a:rPr>
                <a:t> en niet in scope van MSB 2.0. Onder het transformatieplan wordt onderzocht hoe de acute VVT en acute GGZ onderdeel kan worden van de uitwisseling in de acute keten. </a:t>
              </a:r>
              <a:endParaRPr lang="nl-NL" sz="10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70" name="TextBox 46">
              <a:extLst>
                <a:ext uri="{FF2B5EF4-FFF2-40B4-BE49-F238E27FC236}">
                  <a16:creationId xmlns:a16="http://schemas.microsoft.com/office/drawing/2014/main" id="{4BA09C5D-3251-511A-EC08-E4237118A1F9}"/>
                </a:ext>
              </a:extLst>
            </p:cNvPr>
            <p:cNvSpPr txBox="1"/>
            <p:nvPr/>
          </p:nvSpPr>
          <p:spPr>
            <a:xfrm>
              <a:off x="8492558" y="4388569"/>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Databeschikbaarheid Acute Zorg</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71" name="TextBox 48">
              <a:extLst>
                <a:ext uri="{FF2B5EF4-FFF2-40B4-BE49-F238E27FC236}">
                  <a16:creationId xmlns:a16="http://schemas.microsoft.com/office/drawing/2014/main" id="{8BA1EAA7-BCF1-120F-E365-90D9665F0243}"/>
                </a:ext>
              </a:extLst>
            </p:cNvPr>
            <p:cNvSpPr txBox="1"/>
            <p:nvPr/>
          </p:nvSpPr>
          <p:spPr>
            <a:xfrm>
              <a:off x="8492558" y="4894298"/>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72" name="TextBox 49">
              <a:extLst>
                <a:ext uri="{FF2B5EF4-FFF2-40B4-BE49-F238E27FC236}">
                  <a16:creationId xmlns:a16="http://schemas.microsoft.com/office/drawing/2014/main" id="{4C475116-F1CA-FAB2-738F-E2B4E7C1B19D}"/>
                </a:ext>
              </a:extLst>
            </p:cNvPr>
            <p:cNvSpPr txBox="1"/>
            <p:nvPr/>
          </p:nvSpPr>
          <p:spPr>
            <a:xfrm>
              <a:off x="8492558" y="4641158"/>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Netwerkzorg Viewer</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grpSp>
      <p:pic>
        <p:nvPicPr>
          <p:cNvPr id="81" name="Afbeelding 80">
            <a:extLst>
              <a:ext uri="{FF2B5EF4-FFF2-40B4-BE49-F238E27FC236}">
                <a16:creationId xmlns:a16="http://schemas.microsoft.com/office/drawing/2014/main" id="{5F6677A6-7D4C-CE77-B83F-742DE002A818}"/>
              </a:ext>
            </a:extLst>
          </p:cNvPr>
          <p:cNvPicPr>
            <a:picLocks noChangeAspect="1"/>
          </p:cNvPicPr>
          <p:nvPr/>
        </p:nvPicPr>
        <p:blipFill>
          <a:blip r:embed="rId4"/>
          <a:stretch>
            <a:fillRect/>
          </a:stretch>
        </p:blipFill>
        <p:spPr>
          <a:xfrm>
            <a:off x="8370325" y="2091995"/>
            <a:ext cx="509876" cy="286805"/>
          </a:xfrm>
          <a:prstGeom prst="rect">
            <a:avLst/>
          </a:prstGeom>
        </p:spPr>
      </p:pic>
      <p:grpSp>
        <p:nvGrpSpPr>
          <p:cNvPr id="6" name="Group 5">
            <a:extLst>
              <a:ext uri="{FF2B5EF4-FFF2-40B4-BE49-F238E27FC236}">
                <a16:creationId xmlns:a16="http://schemas.microsoft.com/office/drawing/2014/main" id="{F55B0D10-63D9-2798-122F-5949DE4B0EE0}"/>
              </a:ext>
            </a:extLst>
          </p:cNvPr>
          <p:cNvGrpSpPr/>
          <p:nvPr/>
        </p:nvGrpSpPr>
        <p:grpSpPr>
          <a:xfrm>
            <a:off x="683666" y="5336151"/>
            <a:ext cx="10998162" cy="1099245"/>
            <a:chOff x="683666" y="5563270"/>
            <a:chExt cx="10998162" cy="1099245"/>
          </a:xfrm>
        </p:grpSpPr>
        <p:sp>
          <p:nvSpPr>
            <p:cNvPr id="56" name="Rechthoek 77">
              <a:extLst>
                <a:ext uri="{FF2B5EF4-FFF2-40B4-BE49-F238E27FC236}">
                  <a16:creationId xmlns:a16="http://schemas.microsoft.com/office/drawing/2014/main" id="{03C70331-CD43-00F2-A46A-9681C611FDAE}"/>
                </a:ext>
              </a:extLst>
            </p:cNvPr>
            <p:cNvSpPr/>
            <p:nvPr/>
          </p:nvSpPr>
          <p:spPr>
            <a:xfrm>
              <a:off x="683666" y="5563270"/>
              <a:ext cx="3990616" cy="1099245"/>
            </a:xfrm>
            <a:prstGeom prst="rect">
              <a:avLst/>
            </a:prstGeom>
            <a:solidFill>
              <a:srgbClr val="F2F8E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hthoek 77">
              <a:extLst>
                <a:ext uri="{FF2B5EF4-FFF2-40B4-BE49-F238E27FC236}">
                  <a16:creationId xmlns:a16="http://schemas.microsoft.com/office/drawing/2014/main" id="{BC3EF616-F310-1C67-68F2-406588199153}"/>
                </a:ext>
              </a:extLst>
            </p:cNvPr>
            <p:cNvSpPr/>
            <p:nvPr/>
          </p:nvSpPr>
          <p:spPr>
            <a:xfrm>
              <a:off x="8193741" y="5563270"/>
              <a:ext cx="3143652" cy="1099245"/>
            </a:xfrm>
            <a:prstGeom prst="rect">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Pijl-omlaag 78">
              <a:extLst>
                <a:ext uri="{FF2B5EF4-FFF2-40B4-BE49-F238E27FC236}">
                  <a16:creationId xmlns:a16="http://schemas.microsoft.com/office/drawing/2014/main" id="{E31087FC-69B7-E1DC-1733-48A3BDDCB750}"/>
                </a:ext>
              </a:extLst>
            </p:cNvPr>
            <p:cNvSpPr/>
            <p:nvPr/>
          </p:nvSpPr>
          <p:spPr>
            <a:xfrm rot="16200000" flipH="1" flipV="1">
              <a:off x="7730383" y="5979574"/>
              <a:ext cx="660861" cy="266637"/>
            </a:xfrm>
            <a:prstGeom prst="downArrow">
              <a:avLst>
                <a:gd name="adj1" fmla="val 50000"/>
                <a:gd name="adj2" fmla="val 100000"/>
              </a:avLst>
            </a:prstGeom>
            <a:solidFill>
              <a:schemeClr val="accent2">
                <a:lumMod val="20000"/>
                <a:lumOff val="80000"/>
                <a:alpha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59" name="Pijl-omlaag 78">
              <a:extLst>
                <a:ext uri="{FF2B5EF4-FFF2-40B4-BE49-F238E27FC236}">
                  <a16:creationId xmlns:a16="http://schemas.microsoft.com/office/drawing/2014/main" id="{A72682E4-35B6-1DDE-33EF-6890A80E10DF}"/>
                </a:ext>
              </a:extLst>
            </p:cNvPr>
            <p:cNvSpPr/>
            <p:nvPr/>
          </p:nvSpPr>
          <p:spPr>
            <a:xfrm rot="16200000">
              <a:off x="4439070" y="5979574"/>
              <a:ext cx="660861" cy="266637"/>
            </a:xfrm>
            <a:prstGeom prst="downArrow">
              <a:avLst>
                <a:gd name="adj1" fmla="val 50000"/>
                <a:gd name="adj2" fmla="val 100000"/>
              </a:avLst>
            </a:prstGeom>
            <a:solidFill>
              <a:srgbClr val="F2F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Pijl-omlaag 78">
              <a:extLst>
                <a:ext uri="{FF2B5EF4-FFF2-40B4-BE49-F238E27FC236}">
                  <a16:creationId xmlns:a16="http://schemas.microsoft.com/office/drawing/2014/main" id="{B1F8900A-17E0-05B4-F1D1-28082F6D03DB}"/>
                </a:ext>
              </a:extLst>
            </p:cNvPr>
            <p:cNvSpPr/>
            <p:nvPr/>
          </p:nvSpPr>
          <p:spPr>
            <a:xfrm rot="16200000">
              <a:off x="8012915" y="5979574"/>
              <a:ext cx="660861" cy="266637"/>
            </a:xfrm>
            <a:prstGeom prst="downArrow">
              <a:avLst>
                <a:gd name="adj1" fmla="val 50000"/>
                <a:gd name="adj2"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Pijl-omlaag 78">
              <a:extLst>
                <a:ext uri="{FF2B5EF4-FFF2-40B4-BE49-F238E27FC236}">
                  <a16:creationId xmlns:a16="http://schemas.microsoft.com/office/drawing/2014/main" id="{34C9EEEB-DB2B-AB6F-E592-109CDF33B358}"/>
                </a:ext>
              </a:extLst>
            </p:cNvPr>
            <p:cNvSpPr/>
            <p:nvPr/>
          </p:nvSpPr>
          <p:spPr>
            <a:xfrm rot="16200000" flipH="1" flipV="1">
              <a:off x="4172433" y="5979574"/>
              <a:ext cx="660861" cy="266637"/>
            </a:xfrm>
            <a:prstGeom prst="downArrow">
              <a:avLst>
                <a:gd name="adj1" fmla="val 50000"/>
                <a:gd name="adj2" fmla="val 100000"/>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prstClr val="white"/>
                </a:solidFill>
                <a:latin typeface="Calibri" panose="020F0502020204030204"/>
              </a:endParaRPr>
            </a:p>
          </p:txBody>
        </p:sp>
        <p:sp>
          <p:nvSpPr>
            <p:cNvPr id="65" name="TextBox 34">
              <a:extLst>
                <a:ext uri="{FF2B5EF4-FFF2-40B4-BE49-F238E27FC236}">
                  <a16:creationId xmlns:a16="http://schemas.microsoft.com/office/drawing/2014/main" id="{5F0260A0-A2DB-0FD8-D44D-CF1D37EBA985}"/>
                </a:ext>
              </a:extLst>
            </p:cNvPr>
            <p:cNvSpPr txBox="1"/>
            <p:nvPr/>
          </p:nvSpPr>
          <p:spPr>
            <a:xfrm>
              <a:off x="1219657" y="5713532"/>
              <a:ext cx="3187988" cy="3847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Raleway"/>
                  <a:ea typeface="Lato regular"/>
                  <a:cs typeface="Lato regular"/>
                </a:rPr>
                <a:t>Minimale </a:t>
              </a:r>
              <a:r>
                <a:rPr kumimoji="0" lang="nl-NL" sz="1000" b="1" i="0" u="none" strike="noStrike" kern="1200" cap="none" spc="0" normalizeH="0" baseline="0" noProof="0" err="1">
                  <a:ln>
                    <a:noFill/>
                  </a:ln>
                  <a:solidFill>
                    <a:prstClr val="black"/>
                  </a:solidFill>
                  <a:effectLst/>
                  <a:uLnTx/>
                  <a:uFillTx/>
                  <a:latin typeface="Raleway"/>
                  <a:ea typeface="Lato regular"/>
                  <a:cs typeface="Lato regular"/>
                </a:rPr>
                <a:t>eOverdracht</a:t>
              </a:r>
              <a:r>
                <a:rPr kumimoji="0" lang="nl-NL" sz="1000" b="1" i="0" u="none" strike="noStrike" kern="1200" cap="none" spc="0" normalizeH="0" baseline="0" noProof="0">
                  <a:ln>
                    <a:noFill/>
                  </a:ln>
                  <a:solidFill>
                    <a:prstClr val="black"/>
                  </a:solidFill>
                  <a:effectLst/>
                  <a:uLnTx/>
                  <a:uFillTx/>
                  <a:latin typeface="Raleway"/>
                  <a:ea typeface="Lato regular"/>
                  <a:cs typeface="Lato regular"/>
                </a:rPr>
                <a:t> (</a:t>
              </a:r>
              <a:r>
                <a:rPr kumimoji="0" lang="nl-NL" sz="1000" b="1" i="0" u="none" strike="noStrike" kern="1200" cap="none" spc="0" normalizeH="0" baseline="0" noProof="0" err="1">
                  <a:ln>
                    <a:noFill/>
                  </a:ln>
                  <a:solidFill>
                    <a:prstClr val="black"/>
                  </a:solidFill>
                  <a:effectLst/>
                  <a:uLnTx/>
                  <a:uFillTx/>
                  <a:latin typeface="Raleway"/>
                  <a:ea typeface="Lato regular"/>
                  <a:cs typeface="Lato regular"/>
                </a:rPr>
                <a:t>MeO</a:t>
              </a:r>
              <a:r>
                <a:rPr kumimoji="0" lang="nl-NL" sz="1000" b="1" i="0" u="none" strike="noStrike" kern="1200" cap="none" spc="0" normalizeH="0" baseline="0" noProof="0">
                  <a:ln>
                    <a:noFill/>
                  </a:ln>
                  <a:solidFill>
                    <a:prstClr val="black"/>
                  </a:solidFill>
                  <a:effectLst/>
                  <a:uLnTx/>
                  <a:uFillTx/>
                  <a:latin typeface="Raleway"/>
                  <a:ea typeface="Lato regular"/>
                  <a:cs typeface="Lato regular"/>
                </a:rPr>
                <a:t>) MNL</a:t>
              </a:r>
            </a:p>
            <a:p>
              <a:pPr marR="0" lvl="0" algn="l" defTabSz="914400" rtl="0" eaLnBrk="1" fontAlgn="auto" latinLnBrk="0" hangingPunct="1">
                <a:lnSpc>
                  <a:spcPct val="100000"/>
                </a:lnSpc>
                <a:spcBef>
                  <a:spcPts val="0"/>
                </a:spcBef>
                <a:spcAft>
                  <a:spcPts val="0"/>
                </a:spcAft>
                <a:buClrTx/>
                <a:buSzTx/>
                <a:tabLst/>
                <a:defRPr/>
              </a:pPr>
              <a:r>
                <a:rPr lang="nl-NL" sz="900">
                  <a:solidFill>
                    <a:prstClr val="black"/>
                  </a:solidFill>
                  <a:latin typeface="Lato regular"/>
                  <a:ea typeface="Lato regular"/>
                  <a:cs typeface="Lato regular"/>
                </a:rPr>
                <a:t>…………</a:t>
              </a:r>
            </a:p>
          </p:txBody>
        </p:sp>
        <p:sp>
          <p:nvSpPr>
            <p:cNvPr id="66" name="TextBox 36">
              <a:extLst>
                <a:ext uri="{FF2B5EF4-FFF2-40B4-BE49-F238E27FC236}">
                  <a16:creationId xmlns:a16="http://schemas.microsoft.com/office/drawing/2014/main" id="{2D8A479A-920E-FE29-B9EE-B9F7BF7CCB82}"/>
                </a:ext>
              </a:extLst>
            </p:cNvPr>
            <p:cNvSpPr txBox="1"/>
            <p:nvPr/>
          </p:nvSpPr>
          <p:spPr>
            <a:xfrm>
              <a:off x="8525007" y="5745107"/>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Verpleegkundige Overdracht</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68" name="Rechthoek 5">
              <a:extLst>
                <a:ext uri="{FF2B5EF4-FFF2-40B4-BE49-F238E27FC236}">
                  <a16:creationId xmlns:a16="http://schemas.microsoft.com/office/drawing/2014/main" id="{07EFFFBE-27A4-3F45-80B0-6313DEAC6E82}"/>
                </a:ext>
              </a:extLst>
            </p:cNvPr>
            <p:cNvSpPr/>
            <p:nvPr/>
          </p:nvSpPr>
          <p:spPr>
            <a:xfrm>
              <a:off x="4904624" y="5650651"/>
              <a:ext cx="3308204" cy="861774"/>
            </a:xfrm>
            <a:prstGeom prst="rect">
              <a:avLst/>
            </a:prstGeom>
            <a:noFill/>
          </p:spPr>
          <p:txBody>
            <a:bodyPr wrap="square" lIns="91440" tIns="45720" rIns="91440" bIns="45720" rtlCol="0" anchor="t">
              <a:spAutoFit/>
            </a:bodyPr>
            <a:lstStyle/>
            <a:p>
              <a:pPr algn="just">
                <a:defRPr/>
              </a:pPr>
              <a:r>
                <a:rPr lang="nl-NL" sz="800">
                  <a:solidFill>
                    <a:prstClr val="black"/>
                  </a:solidFill>
                  <a:latin typeface="Verdana" panose="020B0604030504040204" pitchFamily="34" charset="0"/>
                  <a:ea typeface="Verdana" panose="020B0604030504040204" pitchFamily="34" charset="0"/>
                </a:rPr>
                <a:t>…………………………</a:t>
              </a:r>
            </a:p>
            <a:p>
              <a:pPr>
                <a:defRPr/>
              </a:pPr>
              <a:endParaRPr lang="nl-NL" sz="1000">
                <a:solidFill>
                  <a:prstClr val="black"/>
                </a:solidFill>
                <a:latin typeface="Lato regular"/>
                <a:ea typeface="Lato regular"/>
                <a:cs typeface="Lato regular"/>
              </a:endParaRPr>
            </a:p>
            <a:p>
              <a:pPr>
                <a:defRPr/>
              </a:pPr>
              <a:endParaRPr lang="nl-NL" sz="1000">
                <a:solidFill>
                  <a:prstClr val="black"/>
                </a:solidFill>
                <a:latin typeface="Lato regular"/>
                <a:ea typeface="Lato regular"/>
                <a:cs typeface="Lato regular"/>
              </a:endParaRPr>
            </a:p>
            <a:p>
              <a:pPr>
                <a:defRPr/>
              </a:pPr>
              <a:endParaRPr lang="nl-NL" sz="1000">
                <a:solidFill>
                  <a:prstClr val="black"/>
                </a:solidFill>
                <a:latin typeface="Lato regular"/>
                <a:ea typeface="Lato regular"/>
                <a:cs typeface="Lato regular"/>
              </a:endParaRPr>
            </a:p>
            <a:p>
              <a:pPr>
                <a:defRPr/>
              </a:pPr>
              <a:endParaRPr lang="nl-NL" sz="1000">
                <a:solidFill>
                  <a:prstClr val="black"/>
                </a:solidFill>
                <a:latin typeface="Lato regular"/>
                <a:ea typeface="Lato regular"/>
                <a:cs typeface="Lato regular"/>
              </a:endParaRPr>
            </a:p>
          </p:txBody>
        </p:sp>
        <p:sp>
          <p:nvSpPr>
            <p:cNvPr id="83" name="TextBox 48">
              <a:extLst>
                <a:ext uri="{FF2B5EF4-FFF2-40B4-BE49-F238E27FC236}">
                  <a16:creationId xmlns:a16="http://schemas.microsoft.com/office/drawing/2014/main" id="{303F7A22-1608-2879-F763-F488F26A7B49}"/>
                </a:ext>
              </a:extLst>
            </p:cNvPr>
            <p:cNvSpPr txBox="1"/>
            <p:nvPr/>
          </p:nvSpPr>
          <p:spPr>
            <a:xfrm>
              <a:off x="8538176" y="6263062"/>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84" name="TextBox 49">
              <a:extLst>
                <a:ext uri="{FF2B5EF4-FFF2-40B4-BE49-F238E27FC236}">
                  <a16:creationId xmlns:a16="http://schemas.microsoft.com/office/drawing/2014/main" id="{6F8FF641-9686-8E85-AE09-8A656EC1BAE9}"/>
                </a:ext>
              </a:extLst>
            </p:cNvPr>
            <p:cNvSpPr txBox="1"/>
            <p:nvPr/>
          </p:nvSpPr>
          <p:spPr>
            <a:xfrm>
              <a:off x="8538176" y="6009922"/>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Netwerkzorg Viewer</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grpSp>
      <p:sp>
        <p:nvSpPr>
          <p:cNvPr id="85" name="Tekstvak 85">
            <a:extLst>
              <a:ext uri="{FF2B5EF4-FFF2-40B4-BE49-F238E27FC236}">
                <a16:creationId xmlns:a16="http://schemas.microsoft.com/office/drawing/2014/main" id="{731D5DE4-7EB0-3C5A-1897-FA9A7E1C9426}"/>
              </a:ext>
            </a:extLst>
          </p:cNvPr>
          <p:cNvSpPr txBox="1"/>
          <p:nvPr/>
        </p:nvSpPr>
        <p:spPr>
          <a:xfrm>
            <a:off x="8389620" y="2387034"/>
            <a:ext cx="292847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a:effectLst/>
                <a:latin typeface="+mn-lt"/>
                <a:ea typeface="Corbel" panose="020B0503020204020204" pitchFamily="34" charset="0"/>
                <a:cs typeface="Times New Roman" panose="02020603050405020304" pitchFamily="18" charset="0"/>
              </a:rPr>
              <a:t>‘Digitalisering en Databeschikbaarheid als drijvende kracht voor Netwerkzorg in Midden-Nederland</a:t>
            </a:r>
            <a:r>
              <a:rPr lang="nl-NL" sz="1000" b="1">
                <a:solidFill>
                  <a:schemeClr val="bg1"/>
                </a:solidFill>
                <a:latin typeface="Verdana Pro"/>
                <a:cs typeface="Helvetica"/>
              </a:rPr>
              <a:t>’</a:t>
            </a:r>
            <a:endParaRPr kumimoji="0" lang="nl-NL" sz="1000" i="1" u="none" strike="noStrike" kern="1200" cap="none" spc="0" normalizeH="0" baseline="0" noProof="0">
              <a:ln>
                <a:noFill/>
              </a:ln>
              <a:solidFill>
                <a:prstClr val="black"/>
              </a:solidFill>
              <a:effectLst/>
              <a:uLnTx/>
              <a:uFillTx/>
              <a:latin typeface="Lato regular" panose="020F0502020204030203" pitchFamily="34" charset="0"/>
              <a:ea typeface="Lato regular" panose="020F0502020204030203" pitchFamily="34" charset="0"/>
              <a:cs typeface="Lato regular" panose="020F0502020204030203" pitchFamily="34" charset="0"/>
            </a:endParaRPr>
          </a:p>
        </p:txBody>
      </p:sp>
      <p:sp>
        <p:nvSpPr>
          <p:cNvPr id="43" name="Rechthoek: afgeronde hoeken 2">
            <a:extLst>
              <a:ext uri="{FF2B5EF4-FFF2-40B4-BE49-F238E27FC236}">
                <a16:creationId xmlns:a16="http://schemas.microsoft.com/office/drawing/2014/main" id="{951FA51E-9F8E-B4ED-0B33-C99527EA61FE}"/>
              </a:ext>
            </a:extLst>
          </p:cNvPr>
          <p:cNvSpPr/>
          <p:nvPr/>
        </p:nvSpPr>
        <p:spPr>
          <a:xfrm>
            <a:off x="-1" y="6598974"/>
            <a:ext cx="10145303"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Top Corners Rounded 38">
            <a:hlinkClick r:id="rId5" action="ppaction://hlinksldjump"/>
            <a:extLst>
              <a:ext uri="{FF2B5EF4-FFF2-40B4-BE49-F238E27FC236}">
                <a16:creationId xmlns:a16="http://schemas.microsoft.com/office/drawing/2014/main" id="{CC0FDC99-9651-DFE9-BEDA-0E03A44A133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5" name="Graphic 14" descr="Introductiepagina silhouet">
            <a:hlinkClick r:id="rId6" action="ppaction://hlinksldjump"/>
            <a:extLst>
              <a:ext uri="{FF2B5EF4-FFF2-40B4-BE49-F238E27FC236}">
                <a16:creationId xmlns:a16="http://schemas.microsoft.com/office/drawing/2014/main" id="{A2EC947A-41AA-1E67-9A70-F50502E29B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18" name="Rectangle: Top Corners Rounded 1">
            <a:hlinkClick r:id="rId9" action="ppaction://hlinksldjump"/>
            <a:extLst>
              <a:ext uri="{FF2B5EF4-FFF2-40B4-BE49-F238E27FC236}">
                <a16:creationId xmlns:a16="http://schemas.microsoft.com/office/drawing/2014/main" id="{8652BE79-D4EF-8D41-24C5-D9889F469675}"/>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9" name="Rectangle: Top Corners Rounded 1">
            <a:hlinkClick r:id="rId10" action="ppaction://hlinksldjump"/>
            <a:extLst>
              <a:ext uri="{FF2B5EF4-FFF2-40B4-BE49-F238E27FC236}">
                <a16:creationId xmlns:a16="http://schemas.microsoft.com/office/drawing/2014/main" id="{B2D547A8-CC5F-BEC1-0769-13D3F400E84E}"/>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20" name="Rectangle: Top Corners Rounded 1">
            <a:hlinkClick r:id="rId11" action="ppaction://hlinksldjump"/>
            <a:extLst>
              <a:ext uri="{FF2B5EF4-FFF2-40B4-BE49-F238E27FC236}">
                <a16:creationId xmlns:a16="http://schemas.microsoft.com/office/drawing/2014/main" id="{85ED59C3-6969-F19B-4CB8-43098CB16E4C}"/>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1" name="Rectangle: Top Corners Rounded 1">
            <a:hlinkClick r:id="rId12" action="ppaction://hlinksldjump"/>
            <a:extLst>
              <a:ext uri="{FF2B5EF4-FFF2-40B4-BE49-F238E27FC236}">
                <a16:creationId xmlns:a16="http://schemas.microsoft.com/office/drawing/2014/main" id="{37651B7E-B299-D0D6-CDA6-30B8F153F97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4" name="Rectangle: Top Corners Rounded 1">
            <a:hlinkClick r:id="rId13" action="ppaction://hlinksldjump"/>
            <a:extLst>
              <a:ext uri="{FF2B5EF4-FFF2-40B4-BE49-F238E27FC236}">
                <a16:creationId xmlns:a16="http://schemas.microsoft.com/office/drawing/2014/main" id="{980DE6EB-D1AC-214D-B317-DF02093A1A3B}"/>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5" name="Rectangle: Top Corners Rounded 1">
            <a:hlinkClick r:id="rId14" action="ppaction://hlinksldjump"/>
            <a:extLst>
              <a:ext uri="{FF2B5EF4-FFF2-40B4-BE49-F238E27FC236}">
                <a16:creationId xmlns:a16="http://schemas.microsoft.com/office/drawing/2014/main" id="{1930A1C6-C5A4-C14B-C672-0F6B0887A737}"/>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6" name="Rectangle: Top Corners Rounded 1">
            <a:hlinkClick r:id="rId15" action="ppaction://hlinksldjump"/>
            <a:extLst>
              <a:ext uri="{FF2B5EF4-FFF2-40B4-BE49-F238E27FC236}">
                <a16:creationId xmlns:a16="http://schemas.microsoft.com/office/drawing/2014/main" id="{684ED9A7-FA14-4955-86F3-20A297B2179F}"/>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8" name="Rectangle: Top Corners Rounded 1">
            <a:hlinkClick r:id="rId16" action="ppaction://hlinksldjump"/>
            <a:extLst>
              <a:ext uri="{FF2B5EF4-FFF2-40B4-BE49-F238E27FC236}">
                <a16:creationId xmlns:a16="http://schemas.microsoft.com/office/drawing/2014/main" id="{372CAA99-E27C-FF4A-5F06-528670246C9C}"/>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4" name="Rectangle: Top Corners Rounded 1">
            <a:hlinkClick r:id="rId17" action="ppaction://hlinksldjump"/>
            <a:extLst>
              <a:ext uri="{FF2B5EF4-FFF2-40B4-BE49-F238E27FC236}">
                <a16:creationId xmlns:a16="http://schemas.microsoft.com/office/drawing/2014/main" id="{96E90F62-BC08-0351-D8D5-681B04D7A796}"/>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5" name="Rectangle: Top Corners Rounded 1">
            <a:hlinkClick r:id="rId18" action="ppaction://hlinksldjump"/>
            <a:extLst>
              <a:ext uri="{FF2B5EF4-FFF2-40B4-BE49-F238E27FC236}">
                <a16:creationId xmlns:a16="http://schemas.microsoft.com/office/drawing/2014/main" id="{2E6B1AEE-C6FD-956A-8FC2-4D8EAA2B46FE}"/>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6" name="Rectangle: Top Corners Rounded 1">
            <a:hlinkClick r:id="rId19" action="ppaction://hlinksldjump"/>
            <a:extLst>
              <a:ext uri="{FF2B5EF4-FFF2-40B4-BE49-F238E27FC236}">
                <a16:creationId xmlns:a16="http://schemas.microsoft.com/office/drawing/2014/main" id="{5C160FD1-BF23-30B6-F85F-0E53EFC32010}"/>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9" name="TextBox 46">
            <a:extLst>
              <a:ext uri="{FF2B5EF4-FFF2-40B4-BE49-F238E27FC236}">
                <a16:creationId xmlns:a16="http://schemas.microsoft.com/office/drawing/2014/main" id="{F8C313E8-2CD1-AB12-034D-ED7CF18F23B1}"/>
              </a:ext>
            </a:extLst>
          </p:cNvPr>
          <p:cNvSpPr txBox="1"/>
          <p:nvPr/>
        </p:nvSpPr>
        <p:spPr>
          <a:xfrm>
            <a:off x="8530658" y="3145790"/>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Digitaal Verwijzen </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10" name="TextBox 48">
            <a:extLst>
              <a:ext uri="{FF2B5EF4-FFF2-40B4-BE49-F238E27FC236}">
                <a16:creationId xmlns:a16="http://schemas.microsoft.com/office/drawing/2014/main" id="{27F1BC77-4327-4A90-161B-6EBA014408BE}"/>
              </a:ext>
            </a:extLst>
          </p:cNvPr>
          <p:cNvSpPr txBox="1"/>
          <p:nvPr/>
        </p:nvSpPr>
        <p:spPr>
          <a:xfrm>
            <a:off x="8530658" y="3651519"/>
            <a:ext cx="3143652" cy="246221"/>
          </a:xfrm>
          <a:prstGeom prst="rect">
            <a:avLst/>
          </a:prstGeom>
          <a:noFill/>
        </p:spPr>
        <p:txBody>
          <a:bodyPr wrap="square">
            <a:spAutoFit/>
          </a:bodyPr>
          <a:lstStyle/>
          <a:p>
            <a:pPr>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Netwerkzorg Viewer</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
        <p:nvSpPr>
          <p:cNvPr id="13" name="TextBox 49">
            <a:extLst>
              <a:ext uri="{FF2B5EF4-FFF2-40B4-BE49-F238E27FC236}">
                <a16:creationId xmlns:a16="http://schemas.microsoft.com/office/drawing/2014/main" id="{C01655A0-1C3D-AE29-21AA-F1FB606CC26F}"/>
              </a:ext>
            </a:extLst>
          </p:cNvPr>
          <p:cNvSpPr txBox="1"/>
          <p:nvPr/>
        </p:nvSpPr>
        <p:spPr>
          <a:xfrm>
            <a:off x="8530658" y="3398379"/>
            <a:ext cx="314365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a:solidFill>
                  <a:prstClr val="black"/>
                </a:solidFill>
                <a:latin typeface="Raleway" pitchFamily="2" charset="0"/>
                <a:ea typeface="Lato regular" panose="020F0502020204030203" pitchFamily="34" charset="0"/>
                <a:cs typeface="Lato regular" panose="020F0502020204030203" pitchFamily="34" charset="0"/>
              </a:rPr>
              <a:t>Tweewegcommunicatie</a:t>
            </a:r>
            <a:endParaRPr lang="nl-NL" sz="900">
              <a:solidFill>
                <a:prstClr val="black"/>
              </a:solidFill>
              <a:latin typeface="Lato regular" panose="020F0502020204030203" pitchFamily="34" charset="0"/>
              <a:ea typeface="Lato regular" panose="020F0502020204030203" pitchFamily="34" charset="0"/>
              <a:cs typeface="Lato regular" panose="020F0502020204030203" pitchFamily="34" charset="0"/>
            </a:endParaRPr>
          </a:p>
        </p:txBody>
      </p:sp>
    </p:spTree>
    <p:extLst>
      <p:ext uri="{BB962C8B-B14F-4D97-AF65-F5344CB8AC3E}">
        <p14:creationId xmlns:p14="http://schemas.microsoft.com/office/powerpoint/2010/main" val="3785167054"/>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3D8E7EB7-E5B1-7413-CA94-4ECC43FDAAA9}"/>
              </a:ext>
            </a:extLst>
          </p:cNvPr>
          <p:cNvSpPr/>
          <p:nvPr/>
        </p:nvSpPr>
        <p:spPr>
          <a:xfrm>
            <a:off x="10496508" y="5257800"/>
            <a:ext cx="1524000" cy="14992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3" name="Rechthoek 22">
            <a:extLst>
              <a:ext uri="{FF2B5EF4-FFF2-40B4-BE49-F238E27FC236}">
                <a16:creationId xmlns:a16="http://schemas.microsoft.com/office/drawing/2014/main" id="{6A769C4C-3669-597B-09B5-EE3A9EABC554}"/>
              </a:ext>
            </a:extLst>
          </p:cNvPr>
          <p:cNvSpPr/>
          <p:nvPr/>
        </p:nvSpPr>
        <p:spPr>
          <a:xfrm>
            <a:off x="1239540" y="2283382"/>
            <a:ext cx="3631741" cy="4010072"/>
          </a:xfrm>
          <a:prstGeom prst="rect">
            <a:avLst/>
          </a:prstGeom>
          <a:solidFill>
            <a:srgbClr val="D7D2C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a:ln>
                <a:noFill/>
              </a:ln>
              <a:solidFill>
                <a:prstClr val="white"/>
              </a:solidFill>
              <a:effectLst/>
              <a:uLnTx/>
              <a:uFillTx/>
              <a:latin typeface="Source Sans Pro Light"/>
              <a:ea typeface="+mn-ea"/>
              <a:cs typeface="+mn-cs"/>
            </a:endParaRPr>
          </a:p>
        </p:txBody>
      </p:sp>
      <p:sp>
        <p:nvSpPr>
          <p:cNvPr id="24" name="Tekstvak 23">
            <a:extLst>
              <a:ext uri="{FF2B5EF4-FFF2-40B4-BE49-F238E27FC236}">
                <a16:creationId xmlns:a16="http://schemas.microsoft.com/office/drawing/2014/main" id="{9F083622-761E-FDBC-5E66-3EE64749546F}"/>
              </a:ext>
            </a:extLst>
          </p:cNvPr>
          <p:cNvSpPr txBox="1"/>
          <p:nvPr/>
        </p:nvSpPr>
        <p:spPr>
          <a:xfrm>
            <a:off x="1239346" y="5867339"/>
            <a:ext cx="3631711" cy="338554"/>
          </a:xfrm>
          <a:prstGeom prst="rect">
            <a:avLst/>
          </a:prstGeom>
          <a:noFill/>
        </p:spPr>
        <p:txBody>
          <a:bodyPr wrap="square" rtlCol="0">
            <a:spAutoFit/>
          </a:bodyPr>
          <a:lstStyle/>
          <a:p>
            <a:pPr algn="ctr"/>
            <a:r>
              <a:rPr lang="nl-NL" sz="1600">
                <a:solidFill>
                  <a:srgbClr val="6E6259"/>
                </a:solidFill>
                <a:latin typeface="Source Sans Pro" panose="020B0503030403020204" pitchFamily="34" charset="0"/>
                <a:ea typeface="Source Sans Pro" panose="020B0503030403020204" pitchFamily="34" charset="0"/>
              </a:rPr>
              <a:t>Organisatorische eenheid</a:t>
            </a:r>
          </a:p>
        </p:txBody>
      </p:sp>
      <p:pic>
        <p:nvPicPr>
          <p:cNvPr id="25" name="Afbeelding 24">
            <a:extLst>
              <a:ext uri="{FF2B5EF4-FFF2-40B4-BE49-F238E27FC236}">
                <a16:creationId xmlns:a16="http://schemas.microsoft.com/office/drawing/2014/main" id="{E6601FFC-41BB-6641-512E-A4C2D32928A8}"/>
              </a:ext>
            </a:extLst>
          </p:cNvPr>
          <p:cNvPicPr>
            <a:picLocks noChangeAspect="1"/>
          </p:cNvPicPr>
          <p:nvPr/>
        </p:nvPicPr>
        <p:blipFill rotWithShape="1">
          <a:blip r:embed="rId4">
            <a:clrChange>
              <a:clrFrom>
                <a:srgbClr val="D7D2CB"/>
              </a:clrFrom>
              <a:clrTo>
                <a:srgbClr val="D7D2CB">
                  <a:alpha val="0"/>
                </a:srgbClr>
              </a:clrTo>
            </a:clrChange>
            <a:extLst>
              <a:ext uri="{28A0092B-C50C-407E-A947-70E740481C1C}">
                <a14:useLocalDpi xmlns:a14="http://schemas.microsoft.com/office/drawing/2010/main" val="0"/>
              </a:ext>
            </a:extLst>
          </a:blip>
          <a:srcRect l="34179" t="842" r="61609" b="89582"/>
          <a:stretch/>
        </p:blipFill>
        <p:spPr>
          <a:xfrm>
            <a:off x="4217389" y="2316570"/>
            <a:ext cx="515977" cy="458685"/>
          </a:xfrm>
          <a:prstGeom prst="rect">
            <a:avLst/>
          </a:prstGeom>
        </p:spPr>
      </p:pic>
      <p:sp>
        <p:nvSpPr>
          <p:cNvPr id="31" name="TextBox 5">
            <a:extLst>
              <a:ext uri="{FF2B5EF4-FFF2-40B4-BE49-F238E27FC236}">
                <a16:creationId xmlns:a16="http://schemas.microsoft.com/office/drawing/2014/main" id="{B6239CFB-007B-184C-641A-90C53A69EC9B}"/>
              </a:ext>
            </a:extLst>
          </p:cNvPr>
          <p:cNvSpPr txBox="1"/>
          <p:nvPr/>
        </p:nvSpPr>
        <p:spPr>
          <a:xfrm>
            <a:off x="437589" y="1350405"/>
            <a:ext cx="10998751" cy="865365"/>
          </a:xfrm>
          <a:prstGeom prst="rect">
            <a:avLst/>
          </a:prstGeom>
          <a:noFill/>
        </p:spPr>
        <p:txBody>
          <a:bodyPr wrap="square">
            <a:spAutoFit/>
          </a:bodyPr>
          <a:lstStyle/>
          <a:p>
            <a:pPr algn="just">
              <a:lnSpc>
                <a:spcPct val="107000"/>
              </a:lnSpc>
              <a:spcAft>
                <a:spcPts val="800"/>
              </a:spcAft>
            </a:pPr>
            <a:r>
              <a:rPr lang="nl-NL" sz="1200" b="1">
                <a:latin typeface="Verdana" panose="020B0604030504040204" pitchFamily="34" charset="0"/>
                <a:ea typeface="Calibri" panose="020F0502020204030204" pitchFamily="34" charset="0"/>
                <a:cs typeface="Arial" panose="020B0604020202020204" pitchFamily="34" charset="0"/>
              </a:rPr>
              <a:t>Met de o</a:t>
            </a:r>
            <a:r>
              <a:rPr lang="nl-NL" sz="1200" b="1">
                <a:effectLst/>
                <a:latin typeface="Verdana" panose="020B0604030504040204" pitchFamily="34" charset="0"/>
                <a:ea typeface="Calibri" panose="020F0502020204030204" pitchFamily="34" charset="0"/>
                <a:cs typeface="Arial" panose="020B0604020202020204" pitchFamily="34" charset="0"/>
              </a:rPr>
              <a:t>ntwikkeling van de regionale data &amp; applicatiearchitectuur en toepassingen (business- functionaliteiten) op basis van de </a:t>
            </a:r>
            <a:r>
              <a:rPr lang="nl-NL" sz="1200" b="1">
                <a:latin typeface="Verdana" panose="020B0604030504040204" pitchFamily="34" charset="0"/>
                <a:ea typeface="Calibri" panose="020F0502020204030204" pitchFamily="34" charset="0"/>
                <a:cs typeface="Arial" panose="020B0604020202020204" pitchFamily="34" charset="0"/>
              </a:rPr>
              <a:t>twee thema’s</a:t>
            </a:r>
            <a:r>
              <a:rPr lang="nl-NL" sz="1200" b="1">
                <a:effectLst/>
                <a:latin typeface="Verdana" panose="020B0604030504040204" pitchFamily="34" charset="0"/>
                <a:ea typeface="Calibri" panose="020F0502020204030204" pitchFamily="34" charset="0"/>
                <a:cs typeface="Arial" panose="020B0604020202020204" pitchFamily="34" charset="0"/>
              </a:rPr>
              <a:t> voor regio Midden-Nederland, worden de landelijke afspraken over interoperabiliteit gevolgd</a:t>
            </a:r>
            <a:r>
              <a:rPr lang="nl-NL" sz="1200" b="1">
                <a:latin typeface="Verdana" panose="020B0604030504040204" pitchFamily="34" charset="0"/>
                <a:ea typeface="Calibri" panose="020F0502020204030204" pitchFamily="34" charset="0"/>
                <a:cs typeface="Arial" panose="020B0604020202020204" pitchFamily="34" charset="0"/>
              </a:rPr>
              <a:t>. Dit draagt direct bij aan </a:t>
            </a:r>
            <a:r>
              <a:rPr lang="nl-NL" sz="1200" b="1">
                <a:effectLst/>
                <a:latin typeface="Verdana" panose="020B0604030504040204" pitchFamily="34" charset="0"/>
                <a:ea typeface="Calibri" panose="020F0502020204030204" pitchFamily="34" charset="0"/>
                <a:cs typeface="Arial" panose="020B0604020202020204" pitchFamily="34" charset="0"/>
              </a:rPr>
              <a:t>meer, herbruikbare, goedkopere en opschaalbare gegevensuitwisseling en databeschikbaarheid in het (zorg-)netwerk en met patiënten. </a:t>
            </a:r>
          </a:p>
        </p:txBody>
      </p:sp>
      <p:sp>
        <p:nvSpPr>
          <p:cNvPr id="32" name="Rechthoek 31">
            <a:extLst>
              <a:ext uri="{FF2B5EF4-FFF2-40B4-BE49-F238E27FC236}">
                <a16:creationId xmlns:a16="http://schemas.microsoft.com/office/drawing/2014/main" id="{210F08C3-B2AD-DE3D-BB9A-0038EC00C0AB}"/>
              </a:ext>
            </a:extLst>
          </p:cNvPr>
          <p:cNvSpPr/>
          <p:nvPr/>
        </p:nvSpPr>
        <p:spPr>
          <a:xfrm>
            <a:off x="4994681" y="2781217"/>
            <a:ext cx="6538585" cy="541176"/>
          </a:xfrm>
          <a:prstGeom prst="rect">
            <a:avLst/>
          </a:prstGeom>
          <a:noFill/>
          <a:ln w="12700" cap="flat" cmpd="sng" algn="ctr">
            <a:no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Beleidsafstemming vindt plaats op regionaal niveau met leden van </a:t>
            </a:r>
            <a:r>
              <a:rPr kumimoji="0" lang="nl-NL" sz="1200" b="0" i="0" u="none" strike="noStrike" kern="0" cap="none" spc="0" normalizeH="0" baseline="0" noProof="0" err="1">
                <a:ln>
                  <a:noFill/>
                </a:ln>
                <a:effectLst/>
                <a:uLnTx/>
                <a:uFillTx/>
                <a:latin typeface="Verdana" panose="020B0604030504040204" pitchFamily="34" charset="0"/>
                <a:ea typeface="Verdana" panose="020B0604030504040204" pitchFamily="34" charset="0"/>
              </a:rPr>
              <a:t>Trijn</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 en regiopartners en (data-)</a:t>
            </a:r>
            <a:r>
              <a:rPr kumimoji="0" lang="nl-NL" sz="1200" b="0" i="0" u="none" strike="noStrike" kern="0" cap="none" spc="0" normalizeH="0" baseline="0" noProof="0" err="1">
                <a:ln>
                  <a:noFill/>
                </a:ln>
                <a:effectLst/>
                <a:uLnTx/>
                <a:uFillTx/>
                <a:latin typeface="Verdana" panose="020B0604030504040204" pitchFamily="34" charset="0"/>
                <a:ea typeface="Verdana" panose="020B0604030504040204" pitchFamily="34" charset="0"/>
              </a:rPr>
              <a:t>governance</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 wordt ook in de regio vormgegeven om afspraken rondom </a:t>
            </a:r>
            <a:r>
              <a:rPr lang="nl-NL" sz="1200">
                <a:latin typeface="Verdana" panose="020B0604030504040204" pitchFamily="34" charset="0"/>
                <a:ea typeface="Verdana" panose="020B0604030504040204" pitchFamily="34" charset="0"/>
              </a:rPr>
              <a:t>één regionale netwerkzorgtoepassing te integreren.</a:t>
            </a:r>
            <a:endPar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endParaRPr>
          </a:p>
        </p:txBody>
      </p:sp>
      <p:sp>
        <p:nvSpPr>
          <p:cNvPr id="33" name="Rechthoek 32">
            <a:extLst>
              <a:ext uri="{FF2B5EF4-FFF2-40B4-BE49-F238E27FC236}">
                <a16:creationId xmlns:a16="http://schemas.microsoft.com/office/drawing/2014/main" id="{7FEF35F5-75AA-C3BB-1AA8-7D61059A3FD9}"/>
              </a:ext>
            </a:extLst>
          </p:cNvPr>
          <p:cNvSpPr/>
          <p:nvPr/>
        </p:nvSpPr>
        <p:spPr>
          <a:xfrm>
            <a:off x="4994888" y="3389420"/>
            <a:ext cx="6538585" cy="541176"/>
          </a:xfrm>
          <a:prstGeom prst="rect">
            <a:avLst/>
          </a:prstGeom>
          <a:noFill/>
          <a:ln w="12700" cap="flat" cmpd="sng" algn="ctr">
            <a:noFill/>
            <a:prstDash val="solid"/>
            <a:miter lim="800000"/>
          </a:ln>
          <a:effectLst/>
        </p:spPr>
        <p:txBody>
          <a:bodyPr rtlCol="0" anchor="ctr"/>
          <a:lstStyle/>
          <a:p>
            <a:pPr algn="just"/>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Beleids- en procesafstemming vindt o.a. plaats in de vorm van </a:t>
            </a:r>
            <a:r>
              <a:rPr lang="nl-NL" sz="1200" b="1">
                <a:latin typeface="Verdana" panose="020B0604030504040204" pitchFamily="34" charset="0"/>
                <a:ea typeface="Verdana" panose="020B0604030504040204" pitchFamily="34" charset="0"/>
              </a:rPr>
              <a:t>Regionale Transmurale- en werkafspraken (</a:t>
            </a:r>
            <a:r>
              <a:rPr lang="nl-NL" sz="1200" b="1" err="1">
                <a:latin typeface="Verdana" panose="020B0604030504040204" pitchFamily="34" charset="0"/>
                <a:ea typeface="Verdana" panose="020B0604030504040204" pitchFamily="34" charset="0"/>
              </a:rPr>
              <a:t>RTA’s</a:t>
            </a:r>
            <a:r>
              <a:rPr lang="nl-NL" sz="1200" b="1">
                <a:latin typeface="Verdana" panose="020B0604030504040204" pitchFamily="34" charset="0"/>
                <a:ea typeface="Verdana" panose="020B0604030504040204" pitchFamily="34" charset="0"/>
              </a:rPr>
              <a:t>)</a:t>
            </a:r>
            <a:r>
              <a:rPr lang="nl-NL" sz="1200">
                <a:latin typeface="Verdana" panose="020B0604030504040204" pitchFamily="34" charset="0"/>
                <a:ea typeface="Verdana" panose="020B0604030504040204" pitchFamily="34" charset="0"/>
              </a:rPr>
              <a:t>. De basis wordt gelegd met de ontwikkeling en implementatie van 9 extra </a:t>
            </a:r>
            <a:r>
              <a:rPr lang="nl-NL" sz="1200" err="1">
                <a:latin typeface="Verdana" panose="020B0604030504040204" pitchFamily="34" charset="0"/>
                <a:ea typeface="Verdana" panose="020B0604030504040204" pitchFamily="34" charset="0"/>
              </a:rPr>
              <a:t>RTA’s</a:t>
            </a:r>
            <a:r>
              <a:rPr lang="nl-NL" sz="1200">
                <a:latin typeface="Verdana" panose="020B0604030504040204" pitchFamily="34" charset="0"/>
                <a:ea typeface="Verdana" panose="020B0604030504040204" pitchFamily="34" charset="0"/>
              </a:rPr>
              <a:t>, naast processen voor Wet </a:t>
            </a:r>
            <a:r>
              <a:rPr lang="nl-NL" sz="1200" err="1">
                <a:latin typeface="Verdana" panose="020B0604030504040204" pitchFamily="34" charset="0"/>
                <a:ea typeface="Verdana" panose="020B0604030504040204" pitchFamily="34" charset="0"/>
              </a:rPr>
              <a:t>Egiz</a:t>
            </a:r>
            <a:r>
              <a:rPr lang="nl-NL" sz="1200">
                <a:latin typeface="Verdana" panose="020B0604030504040204" pitchFamily="34" charset="0"/>
                <a:ea typeface="Verdana" panose="020B0604030504040204" pitchFamily="34" charset="0"/>
              </a:rPr>
              <a:t>.</a:t>
            </a:r>
            <a:endPar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endParaRPr>
          </a:p>
        </p:txBody>
      </p:sp>
      <p:sp>
        <p:nvSpPr>
          <p:cNvPr id="34" name="Rechthoek 33">
            <a:extLst>
              <a:ext uri="{FF2B5EF4-FFF2-40B4-BE49-F238E27FC236}">
                <a16:creationId xmlns:a16="http://schemas.microsoft.com/office/drawing/2014/main" id="{5591EE9A-E034-AE43-A2B5-E0237A41CD8D}"/>
              </a:ext>
            </a:extLst>
          </p:cNvPr>
          <p:cNvSpPr/>
          <p:nvPr/>
        </p:nvSpPr>
        <p:spPr>
          <a:xfrm>
            <a:off x="4994681" y="3975039"/>
            <a:ext cx="6538585" cy="541176"/>
          </a:xfrm>
          <a:prstGeom prst="rect">
            <a:avLst/>
          </a:prstGeom>
          <a:noFill/>
          <a:ln w="12700" cap="flat" cmpd="sng" algn="ctr">
            <a:noFill/>
            <a:prstDash val="solid"/>
            <a:miter lim="800000"/>
          </a:ln>
          <a:effectLst/>
        </p:spPr>
        <p:txBody>
          <a:bodyPr rtlCol="0" anchor="ctr"/>
          <a:lstStyle/>
          <a:p>
            <a:pPr lvl="0" algn="just"/>
            <a:r>
              <a:rPr lang="nl-NL" sz="1200" kern="0">
                <a:latin typeface="Verdana" panose="020B0604030504040204" pitchFamily="34" charset="0"/>
                <a:ea typeface="Verdana" panose="020B0604030504040204" pitchFamily="34" charset="0"/>
              </a:rPr>
              <a:t>De </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geprioriteerde gegevensdiensten onder de Wet </a:t>
            </a:r>
            <a:r>
              <a:rPr lang="nl-NL" sz="1200" kern="0">
                <a:latin typeface="Verdana" panose="020B0604030504040204" pitchFamily="34" charset="0"/>
                <a:ea typeface="Verdana" panose="020B0604030504040204" pitchFamily="34" charset="0"/>
              </a:rPr>
              <a:t>E</a:t>
            </a:r>
            <a:r>
              <a:rPr kumimoji="0" lang="nl-NL" sz="1200" b="0" i="0" u="none" strike="noStrike" kern="0" cap="none" spc="0" normalizeH="0" baseline="0" noProof="0" err="1">
                <a:ln>
                  <a:noFill/>
                </a:ln>
                <a:effectLst/>
                <a:uLnTx/>
                <a:uFillTx/>
                <a:latin typeface="Verdana" panose="020B0604030504040204" pitchFamily="34" charset="0"/>
                <a:ea typeface="Verdana" panose="020B0604030504040204" pitchFamily="34" charset="0"/>
              </a:rPr>
              <a:t>giz</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 worden geïmplementeerd en </a:t>
            </a:r>
            <a:r>
              <a:rPr lang="nl-NL" sz="1200" kern="0">
                <a:latin typeface="Verdana" panose="020B0604030504040204" pitchFamily="34" charset="0"/>
                <a:ea typeface="Verdana" panose="020B0604030504040204" pitchFamily="34" charset="0"/>
              </a:rPr>
              <a:t>er wordt gestuurd op </a:t>
            </a:r>
            <a:r>
              <a:rPr lang="nl-NL" sz="1200">
                <a:latin typeface="Verdana" panose="020B0604030504040204" pitchFamily="34" charset="0"/>
                <a:ea typeface="Verdana" panose="020B0604030504040204" pitchFamily="34" charset="0"/>
              </a:rPr>
              <a:t>het belang van en het stimuleren van </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eenheid van taal met o.a. </a:t>
            </a:r>
            <a:r>
              <a:rPr kumimoji="0" lang="nl-NL" sz="1200" b="0" i="0" u="none" strike="noStrike" kern="0" cap="none" spc="0" normalizeH="0" baseline="0" noProof="0" err="1">
                <a:ln>
                  <a:noFill/>
                </a:ln>
                <a:effectLst/>
                <a:uLnTx/>
                <a:uFillTx/>
                <a:latin typeface="Verdana" panose="020B0604030504040204" pitchFamily="34" charset="0"/>
                <a:ea typeface="Verdana" panose="020B0604030504040204" pitchFamily="34" charset="0"/>
              </a:rPr>
              <a:t>Snomed</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 CT</a:t>
            </a:r>
            <a:r>
              <a:rPr lang="nl-NL" sz="1200" kern="0">
                <a:latin typeface="Verdana" panose="020B0604030504040204" pitchFamily="34" charset="0"/>
                <a:ea typeface="Verdana" panose="020B0604030504040204" pitchFamily="34" charset="0"/>
              </a:rPr>
              <a:t> e</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n de informatiestandaarden.</a:t>
            </a:r>
          </a:p>
        </p:txBody>
      </p:sp>
      <p:sp>
        <p:nvSpPr>
          <p:cNvPr id="35" name="Rechthoek 34">
            <a:extLst>
              <a:ext uri="{FF2B5EF4-FFF2-40B4-BE49-F238E27FC236}">
                <a16:creationId xmlns:a16="http://schemas.microsoft.com/office/drawing/2014/main" id="{79009BEF-04C7-69BA-FDB8-07D3E1F13B4E}"/>
              </a:ext>
            </a:extLst>
          </p:cNvPr>
          <p:cNvSpPr/>
          <p:nvPr/>
        </p:nvSpPr>
        <p:spPr>
          <a:xfrm>
            <a:off x="4994681" y="4595389"/>
            <a:ext cx="6538585" cy="541176"/>
          </a:xfrm>
          <a:prstGeom prst="rect">
            <a:avLst/>
          </a:prstGeom>
          <a:noFill/>
          <a:ln w="12700" cap="flat" cmpd="sng" algn="ctr">
            <a:noFill/>
            <a:prstDash val="solid"/>
            <a:miter lim="800000"/>
          </a:ln>
          <a:effectLst/>
        </p:spPr>
        <p:txBody>
          <a:bodyPr rtlCol="0" anchor="ctr"/>
          <a:lstStyle/>
          <a:p>
            <a:pPr algn="just"/>
            <a:r>
              <a:rPr lang="nl-NL" sz="1200">
                <a:latin typeface="Verdana" panose="020B0604030504040204" pitchFamily="34" charset="0"/>
                <a:ea typeface="Verdana" panose="020B0604030504040204" pitchFamily="34" charset="0"/>
              </a:rPr>
              <a:t>Er wordt een regionale applicatie- en data-architectuur vastgesteld en gerealiseerd, een federatief systeem welke zorgt voor interoperabiliteit tussen toepassingen en data (plateau 1 NVS, voorbereiding plateau 2 NVS).</a:t>
            </a:r>
          </a:p>
        </p:txBody>
      </p:sp>
      <p:sp>
        <p:nvSpPr>
          <p:cNvPr id="36" name="Rechthoek 35">
            <a:extLst>
              <a:ext uri="{FF2B5EF4-FFF2-40B4-BE49-F238E27FC236}">
                <a16:creationId xmlns:a16="http://schemas.microsoft.com/office/drawing/2014/main" id="{1821F542-9C0F-D0A6-2D67-222DB63A2DD2}"/>
              </a:ext>
            </a:extLst>
          </p:cNvPr>
          <p:cNvSpPr/>
          <p:nvPr/>
        </p:nvSpPr>
        <p:spPr>
          <a:xfrm>
            <a:off x="4994681" y="5115869"/>
            <a:ext cx="6538585" cy="1126781"/>
          </a:xfrm>
          <a:prstGeom prst="rect">
            <a:avLst/>
          </a:prstGeom>
          <a:noFill/>
          <a:ln w="12700" cap="flat" cmpd="sng" algn="ctr">
            <a:noFill/>
            <a:prstDash val="solid"/>
            <a:miter lim="800000"/>
          </a:ln>
          <a:effectLst/>
        </p:spPr>
        <p:txBody>
          <a:bodyPr rtlCol="0" anchor="ctr"/>
          <a:lstStyle/>
          <a:p>
            <a:pPr algn="just">
              <a:defRPr/>
            </a:pPr>
            <a:r>
              <a:rPr kumimoji="0" lang="nl-NL" sz="1200" b="1" i="0" u="none" strike="noStrike" kern="0" cap="none" spc="0" normalizeH="0" baseline="0" noProof="0">
                <a:ln>
                  <a:noFill/>
                </a:ln>
                <a:effectLst/>
                <a:uLnTx/>
                <a:uFillTx/>
                <a:latin typeface="Verdana" panose="020B0604030504040204" pitchFamily="34" charset="0"/>
                <a:ea typeface="Verdana" panose="020B0604030504040204" pitchFamily="34" charset="0"/>
              </a:rPr>
              <a:t>Digitale zorg en communicatie:</a:t>
            </a:r>
            <a:r>
              <a:rPr kumimoji="0" lang="nl-NL" sz="1200" b="0" i="0" u="none" strike="noStrike" kern="0" cap="none" spc="0" normalizeH="0" baseline="0" noProof="0">
                <a:ln>
                  <a:noFill/>
                </a:ln>
                <a:effectLst/>
                <a:uLnTx/>
                <a:uFillTx/>
                <a:latin typeface="Verdana" panose="020B0604030504040204" pitchFamily="34" charset="0"/>
                <a:ea typeface="Verdana" panose="020B0604030504040204" pitchFamily="34" charset="0"/>
              </a:rPr>
              <a:t> Uniforme, regionale basisinfrastructuur voor digitale communicatie binnen het totale (zorg)netwerk, met directe koppelingen met de dossiers. </a:t>
            </a:r>
            <a:r>
              <a:rPr lang="nl-NL" sz="1200" b="1">
                <a:latin typeface="Verdana" panose="020B0604030504040204" pitchFamily="34" charset="0"/>
                <a:ea typeface="Verdana" panose="020B0604030504040204" pitchFamily="34" charset="0"/>
              </a:rPr>
              <a:t>Infrastructuur en koppelingen</a:t>
            </a:r>
            <a:r>
              <a:rPr lang="nl-NL" sz="1200">
                <a:latin typeface="Verdana" panose="020B0604030504040204" pitchFamily="34" charset="0"/>
                <a:ea typeface="Verdana" panose="020B0604030504040204" pitchFamily="34" charset="0"/>
              </a:rPr>
              <a:t>:  Informatie beschikbaar, </a:t>
            </a:r>
            <a:r>
              <a:rPr lang="nl-NL" sz="1200" err="1">
                <a:latin typeface="Verdana" panose="020B0604030504040204" pitchFamily="34" charset="0"/>
                <a:ea typeface="Verdana" panose="020B0604030504040204" pitchFamily="34" charset="0"/>
              </a:rPr>
              <a:t>interpreteerbaar</a:t>
            </a:r>
            <a:r>
              <a:rPr lang="nl-NL" sz="1200">
                <a:latin typeface="Verdana" panose="020B0604030504040204" pitchFamily="34" charset="0"/>
                <a:ea typeface="Verdana" panose="020B0604030504040204" pitchFamily="34" charset="0"/>
              </a:rPr>
              <a:t>, deelbaar en uitwisselbaar met behulp van implementatie van standaarden en inzet gemeenschappelijke voorzieningen voor generieke functies.</a:t>
            </a:r>
          </a:p>
        </p:txBody>
      </p:sp>
      <p:sp>
        <p:nvSpPr>
          <p:cNvPr id="50" name="Tekstvak 49">
            <a:extLst>
              <a:ext uri="{FF2B5EF4-FFF2-40B4-BE49-F238E27FC236}">
                <a16:creationId xmlns:a16="http://schemas.microsoft.com/office/drawing/2014/main" id="{EA3C10D3-0B7D-3440-D7B0-6D18AF45F586}"/>
              </a:ext>
            </a:extLst>
          </p:cNvPr>
          <p:cNvSpPr txBox="1"/>
          <p:nvPr/>
        </p:nvSpPr>
        <p:spPr>
          <a:xfrm>
            <a:off x="838199" y="6331189"/>
            <a:ext cx="9539804" cy="461665"/>
          </a:xfrm>
          <a:prstGeom prst="rect">
            <a:avLst/>
          </a:prstGeom>
          <a:noFill/>
        </p:spPr>
        <p:txBody>
          <a:bodyPr wrap="square">
            <a:spAutoFit/>
          </a:bodyPr>
          <a:lstStyle/>
          <a:p>
            <a:pPr>
              <a:defRPr/>
            </a:pPr>
            <a:r>
              <a:rPr lang="nl-NL" sz="1200" b="1">
                <a:latin typeface="Verdana" panose="020B0604030504040204" pitchFamily="34" charset="0"/>
                <a:ea typeface="Verdana" panose="020B0604030504040204" pitchFamily="34" charset="0"/>
              </a:rPr>
              <a:t>Generieke functies</a:t>
            </a:r>
            <a:r>
              <a:rPr lang="nl-NL" sz="1200">
                <a:latin typeface="Verdana" panose="020B0604030504040204" pitchFamily="34" charset="0"/>
                <a:ea typeface="Verdana" panose="020B0604030504040204" pitchFamily="34" charset="0"/>
              </a:rPr>
              <a:t>: adressering, toestemmingenregister, identificatie, authenticatie, autorisatie, lokalisatie en </a:t>
            </a:r>
            <a:r>
              <a:rPr lang="nl-NL" sz="1200" err="1">
                <a:latin typeface="Verdana" panose="020B0604030504040204" pitchFamily="34" charset="0"/>
                <a:ea typeface="Verdana" panose="020B0604030504040204" pitchFamily="34" charset="0"/>
              </a:rPr>
              <a:t>logging</a:t>
            </a:r>
            <a:r>
              <a:rPr lang="nl-NL" sz="1200">
                <a:latin typeface="Verdana" panose="020B0604030504040204" pitchFamily="34" charset="0"/>
                <a:ea typeface="Verdana" panose="020B0604030504040204" pitchFamily="34" charset="0"/>
              </a:rPr>
              <a:t>. In onze regio starten we met adressering en toestemming.</a:t>
            </a:r>
          </a:p>
        </p:txBody>
      </p:sp>
      <p:sp>
        <p:nvSpPr>
          <p:cNvPr id="3" name="Rechthoek 8">
            <a:extLst>
              <a:ext uri="{FF2B5EF4-FFF2-40B4-BE49-F238E27FC236}">
                <a16:creationId xmlns:a16="http://schemas.microsoft.com/office/drawing/2014/main" id="{3942147C-14CF-68F5-B0ED-5E0C3CB8ACCB}"/>
              </a:ext>
            </a:extLst>
          </p:cNvPr>
          <p:cNvSpPr/>
          <p:nvPr/>
        </p:nvSpPr>
        <p:spPr>
          <a:xfrm>
            <a:off x="11036300" y="6242289"/>
            <a:ext cx="1125351" cy="581908"/>
          </a:xfrm>
          <a:prstGeom prst="rect">
            <a:avLst/>
          </a:prstGeom>
          <a:blipFill dpi="0" rotWithShape="1">
            <a:blip r:embed="rId5"/>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Autofit/>
          </a:bodyPr>
          <a:lstStyle/>
          <a:p>
            <a:pPr algn="l"/>
            <a:r>
              <a:rPr lang="nl-NL" sz="2800" b="1">
                <a:solidFill>
                  <a:srgbClr val="8C95CD"/>
                </a:solidFill>
                <a:latin typeface="Verdana Pro" panose="020B0604030504040204" pitchFamily="34" charset="0"/>
              </a:rPr>
              <a:t>Landelijke afspraken over interoperabiliteit als leidraad ter ondersteuning van netwerkzorg</a:t>
            </a:r>
          </a:p>
        </p:txBody>
      </p:sp>
      <p:sp>
        <p:nvSpPr>
          <p:cNvPr id="60" name="Slide Number Placeholder 64">
            <a:extLst>
              <a:ext uri="{FF2B5EF4-FFF2-40B4-BE49-F238E27FC236}">
                <a16:creationId xmlns:a16="http://schemas.microsoft.com/office/drawing/2014/main" id="{CB674031-D107-F93A-E28F-5C8ACA8C9EA5}"/>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18</a:t>
            </a:fld>
            <a:endParaRPr lang="nl-NL" sz="900"/>
          </a:p>
        </p:txBody>
      </p:sp>
      <p:sp>
        <p:nvSpPr>
          <p:cNvPr id="5" name="Rectangle: Top Corners Rounded 38">
            <a:hlinkClick r:id="rId6" action="ppaction://hlinksldjump"/>
            <a:extLst>
              <a:ext uri="{FF2B5EF4-FFF2-40B4-BE49-F238E27FC236}">
                <a16:creationId xmlns:a16="http://schemas.microsoft.com/office/drawing/2014/main" id="{EC92E1CB-80CE-14B7-D5F5-252784EA3CA3}"/>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6" name="Graphic 5" descr="Introductiepagina silhouet">
            <a:hlinkClick r:id="rId7" action="ppaction://hlinksldjump"/>
            <a:extLst>
              <a:ext uri="{FF2B5EF4-FFF2-40B4-BE49-F238E27FC236}">
                <a16:creationId xmlns:a16="http://schemas.microsoft.com/office/drawing/2014/main" id="{83AF1421-E5D7-F86D-FDC2-956F858A250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6" y="147223"/>
            <a:ext cx="144000" cy="144000"/>
          </a:xfrm>
          <a:prstGeom prst="rect">
            <a:avLst/>
          </a:prstGeom>
        </p:spPr>
      </p:pic>
      <p:sp>
        <p:nvSpPr>
          <p:cNvPr id="7" name="Rectangle: Top Corners Rounded 1">
            <a:hlinkClick r:id="rId10" action="ppaction://hlinksldjump"/>
            <a:extLst>
              <a:ext uri="{FF2B5EF4-FFF2-40B4-BE49-F238E27FC236}">
                <a16:creationId xmlns:a16="http://schemas.microsoft.com/office/drawing/2014/main" id="{101F04A2-A371-6869-DD1C-571D65004D3A}"/>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8" name="Rectangle: Top Corners Rounded 1">
            <a:hlinkClick r:id="rId11" action="ppaction://hlinksldjump"/>
            <a:extLst>
              <a:ext uri="{FF2B5EF4-FFF2-40B4-BE49-F238E27FC236}">
                <a16:creationId xmlns:a16="http://schemas.microsoft.com/office/drawing/2014/main" id="{15E152E9-68BA-3F65-522D-3C46B349AE1E}"/>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9" name="Rectangle: Top Corners Rounded 1">
            <a:hlinkClick r:id="rId12" action="ppaction://hlinksldjump"/>
            <a:extLst>
              <a:ext uri="{FF2B5EF4-FFF2-40B4-BE49-F238E27FC236}">
                <a16:creationId xmlns:a16="http://schemas.microsoft.com/office/drawing/2014/main" id="{6B3C3A43-D43F-C38E-BDF4-3FCBC6791B0B}"/>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0" name="Rectangle: Top Corners Rounded 1">
            <a:hlinkClick r:id="rId13" action="ppaction://hlinksldjump"/>
            <a:extLst>
              <a:ext uri="{FF2B5EF4-FFF2-40B4-BE49-F238E27FC236}">
                <a16:creationId xmlns:a16="http://schemas.microsoft.com/office/drawing/2014/main" id="{1895AB6C-4BDE-ACD2-7847-17BDB1C882E6}"/>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4" action="ppaction://hlinksldjump"/>
            <a:extLst>
              <a:ext uri="{FF2B5EF4-FFF2-40B4-BE49-F238E27FC236}">
                <a16:creationId xmlns:a16="http://schemas.microsoft.com/office/drawing/2014/main" id="{FB60CB17-FC2D-C9D1-1CEC-55A72ADA3024}"/>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15" action="ppaction://hlinksldjump"/>
            <a:extLst>
              <a:ext uri="{FF2B5EF4-FFF2-40B4-BE49-F238E27FC236}">
                <a16:creationId xmlns:a16="http://schemas.microsoft.com/office/drawing/2014/main" id="{E645E99C-C668-8BF9-7E16-C6F6F038C4D6}"/>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0" name="Rectangle: Top Corners Rounded 1">
            <a:hlinkClick r:id="rId16" action="ppaction://hlinksldjump"/>
            <a:extLst>
              <a:ext uri="{FF2B5EF4-FFF2-40B4-BE49-F238E27FC236}">
                <a16:creationId xmlns:a16="http://schemas.microsoft.com/office/drawing/2014/main" id="{68B8C1AF-099F-C784-4E2A-64AEAF17133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7" name="Rectangle: Top Corners Rounded 1">
            <a:hlinkClick r:id="rId17" action="ppaction://hlinksldjump"/>
            <a:extLst>
              <a:ext uri="{FF2B5EF4-FFF2-40B4-BE49-F238E27FC236}">
                <a16:creationId xmlns:a16="http://schemas.microsoft.com/office/drawing/2014/main" id="{AC936A00-4B7E-4132-6E3C-3DC279BC84B9}"/>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8" name="Rectangle: Top Corners Rounded 1">
            <a:hlinkClick r:id="rId18" action="ppaction://hlinksldjump"/>
            <a:extLst>
              <a:ext uri="{FF2B5EF4-FFF2-40B4-BE49-F238E27FC236}">
                <a16:creationId xmlns:a16="http://schemas.microsoft.com/office/drawing/2014/main" id="{DB8BAF9C-03D5-6AF2-763A-86676E708024}"/>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9" name="Rectangle: Top Corners Rounded 1">
            <a:hlinkClick r:id="rId19" action="ppaction://hlinksldjump"/>
            <a:extLst>
              <a:ext uri="{FF2B5EF4-FFF2-40B4-BE49-F238E27FC236}">
                <a16:creationId xmlns:a16="http://schemas.microsoft.com/office/drawing/2014/main" id="{B9ECFECE-D2D3-11BC-C010-AD3B410A864A}"/>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0" name="Rectangle: Top Corners Rounded 1">
            <a:hlinkClick r:id="rId20" action="ppaction://hlinksldjump"/>
            <a:extLst>
              <a:ext uri="{FF2B5EF4-FFF2-40B4-BE49-F238E27FC236}">
                <a16:creationId xmlns:a16="http://schemas.microsoft.com/office/drawing/2014/main" id="{47EE5ED6-611E-30DF-A09B-AA3911E880A0}"/>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53" name="Rechthoek 20">
            <a:extLst>
              <a:ext uri="{FF2B5EF4-FFF2-40B4-BE49-F238E27FC236}">
                <a16:creationId xmlns:a16="http://schemas.microsoft.com/office/drawing/2014/main" id="{FDF16ACE-1C4D-7DD8-5ED3-BE6FF2743FB1}"/>
              </a:ext>
            </a:extLst>
          </p:cNvPr>
          <p:cNvSpPr/>
          <p:nvPr/>
        </p:nvSpPr>
        <p:spPr>
          <a:xfrm>
            <a:off x="647160" y="2793328"/>
            <a:ext cx="538065" cy="2914518"/>
          </a:xfrm>
          <a:prstGeom prst="rect">
            <a:avLst/>
          </a:prstGeom>
          <a:solidFill>
            <a:srgbClr val="4472C4">
              <a:lumMod val="20000"/>
              <a:lumOff val="80000"/>
            </a:srgbClr>
          </a:solidFill>
          <a:ln w="12700" cap="flat" cmpd="sng" algn="ctr">
            <a:noFill/>
            <a:prstDash val="solid"/>
            <a:miter lim="800000"/>
          </a:ln>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800" b="0" i="0" u="none" strike="noStrike" kern="0" cap="none" spc="0" normalizeH="0" baseline="0" noProof="0">
                <a:ln>
                  <a:noFill/>
                </a:ln>
                <a:solidFill>
                  <a:prstClr val="white"/>
                </a:solidFill>
                <a:effectLst/>
                <a:uLnTx/>
                <a:uFillTx/>
                <a:latin typeface="Source Sans Pro" panose="020B0503030403020204" pitchFamily="34" charset="0"/>
                <a:ea typeface="Source Sans Pro" panose="020B0503030403020204" pitchFamily="34" charset="0"/>
              </a:rPr>
              <a:t>Wet- en regelgeving</a:t>
            </a:r>
          </a:p>
        </p:txBody>
      </p:sp>
      <p:sp>
        <p:nvSpPr>
          <p:cNvPr id="54" name="Rechthoek 21">
            <a:extLst>
              <a:ext uri="{FF2B5EF4-FFF2-40B4-BE49-F238E27FC236}">
                <a16:creationId xmlns:a16="http://schemas.microsoft.com/office/drawing/2014/main" id="{726C3207-E231-1098-958A-5BE5CA61617E}"/>
              </a:ext>
            </a:extLst>
          </p:cNvPr>
          <p:cNvSpPr/>
          <p:nvPr/>
        </p:nvSpPr>
        <p:spPr>
          <a:xfrm>
            <a:off x="60630" y="2793328"/>
            <a:ext cx="538065" cy="2914518"/>
          </a:xfrm>
          <a:prstGeom prst="rect">
            <a:avLst/>
          </a:prstGeom>
          <a:solidFill>
            <a:srgbClr val="4472C4">
              <a:lumMod val="40000"/>
              <a:lumOff val="60000"/>
            </a:srgbClr>
          </a:solidFill>
          <a:ln w="12700" cap="flat" cmpd="sng" algn="ctr">
            <a:noFill/>
            <a:prstDash val="solid"/>
            <a:miter lim="800000"/>
          </a:ln>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800" b="0" i="0" u="none" strike="noStrike" kern="0" cap="none" spc="0" normalizeH="0" baseline="0" noProof="0">
                <a:ln>
                  <a:noFill/>
                </a:ln>
                <a:solidFill>
                  <a:prstClr val="white"/>
                </a:solidFill>
                <a:effectLst/>
                <a:uLnTx/>
                <a:uFillTx/>
                <a:latin typeface="Source Sans Pro" panose="020B0503030403020204" pitchFamily="34" charset="0"/>
                <a:ea typeface="Source Sans Pro" panose="020B0503030403020204" pitchFamily="34" charset="0"/>
              </a:rPr>
              <a:t>Beveiliging</a:t>
            </a:r>
          </a:p>
        </p:txBody>
      </p:sp>
      <p:sp>
        <p:nvSpPr>
          <p:cNvPr id="55" name="Rechthoek 25">
            <a:extLst>
              <a:ext uri="{FF2B5EF4-FFF2-40B4-BE49-F238E27FC236}">
                <a16:creationId xmlns:a16="http://schemas.microsoft.com/office/drawing/2014/main" id="{CCA42B20-D93C-8B81-6903-1C6A2B739A22}"/>
              </a:ext>
            </a:extLst>
          </p:cNvPr>
          <p:cNvSpPr/>
          <p:nvPr/>
        </p:nvSpPr>
        <p:spPr>
          <a:xfrm>
            <a:off x="1464540" y="2793917"/>
            <a:ext cx="3181739" cy="541176"/>
          </a:xfrm>
          <a:prstGeom prst="rect">
            <a:avLst/>
          </a:prstGeom>
          <a:solidFill>
            <a:srgbClr val="ED7D31">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800" b="0" i="0" u="none" strike="noStrike" kern="0" cap="none" spc="0" normalizeH="0" baseline="0" noProof="0">
                <a:ln>
                  <a:noFill/>
                </a:ln>
                <a:solidFill>
                  <a:prstClr val="white"/>
                </a:solidFill>
                <a:effectLst/>
                <a:uLnTx/>
                <a:uFillTx/>
                <a:latin typeface="Source Sans Pro" panose="020B0503030403020204" pitchFamily="34" charset="0"/>
                <a:ea typeface="Source Sans Pro" panose="020B0503030403020204" pitchFamily="34" charset="0"/>
              </a:rPr>
              <a:t>Organisatiebeleid</a:t>
            </a:r>
          </a:p>
        </p:txBody>
      </p:sp>
      <p:sp>
        <p:nvSpPr>
          <p:cNvPr id="56" name="Rechthoek 26">
            <a:extLst>
              <a:ext uri="{FF2B5EF4-FFF2-40B4-BE49-F238E27FC236}">
                <a16:creationId xmlns:a16="http://schemas.microsoft.com/office/drawing/2014/main" id="{6E461668-733A-3DAD-0C94-6EC207A2575E}"/>
              </a:ext>
            </a:extLst>
          </p:cNvPr>
          <p:cNvSpPr/>
          <p:nvPr/>
        </p:nvSpPr>
        <p:spPr>
          <a:xfrm>
            <a:off x="1464747" y="3389420"/>
            <a:ext cx="3181739" cy="541176"/>
          </a:xfrm>
          <a:prstGeom prst="rect">
            <a:avLst/>
          </a:prstGeom>
          <a:solidFill>
            <a:srgbClr val="ED7D31">
              <a:lumMod val="40000"/>
              <a:lumOff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800" b="0" i="0" u="none" strike="noStrike" kern="0" cap="none" spc="0" normalizeH="0" baseline="0" noProof="0">
                <a:ln>
                  <a:noFill/>
                </a:ln>
                <a:solidFill>
                  <a:prstClr val="white"/>
                </a:solidFill>
                <a:effectLst/>
                <a:uLnTx/>
                <a:uFillTx/>
                <a:latin typeface="Source Sans Pro" panose="020B0503030403020204" pitchFamily="34" charset="0"/>
                <a:ea typeface="Source Sans Pro" panose="020B0503030403020204" pitchFamily="34" charset="0"/>
              </a:rPr>
              <a:t>Zorgproces</a:t>
            </a:r>
          </a:p>
        </p:txBody>
      </p:sp>
      <p:sp>
        <p:nvSpPr>
          <p:cNvPr id="57" name="Rechthoek 27">
            <a:extLst>
              <a:ext uri="{FF2B5EF4-FFF2-40B4-BE49-F238E27FC236}">
                <a16:creationId xmlns:a16="http://schemas.microsoft.com/office/drawing/2014/main" id="{8BD0E9A5-271D-A8F3-C0ED-AF6774EB636A}"/>
              </a:ext>
            </a:extLst>
          </p:cNvPr>
          <p:cNvSpPr/>
          <p:nvPr/>
        </p:nvSpPr>
        <p:spPr>
          <a:xfrm>
            <a:off x="1464540" y="3975039"/>
            <a:ext cx="3181739" cy="541176"/>
          </a:xfrm>
          <a:prstGeom prst="rect">
            <a:avLst/>
          </a:prstGeom>
          <a:solidFill>
            <a:srgbClr val="FFFF00"/>
          </a:solidFill>
          <a:ln w="12700" cap="flat" cmpd="sng" algn="ctr">
            <a:noFill/>
            <a:prstDash val="solid"/>
            <a:miter lim="800000"/>
          </a:ln>
          <a:effectLst/>
        </p:spPr>
        <p:txBody>
          <a:bodyPr rtlCol="0" anchor="ctr"/>
          <a:lstStyle/>
          <a:p>
            <a:pPr algn="ctr">
              <a:defRPr/>
            </a:pPr>
            <a:r>
              <a:rPr lang="nl-NL" kern="0">
                <a:solidFill>
                  <a:prstClr val="white"/>
                </a:solidFill>
                <a:latin typeface="Source Sans Pro" panose="020B0503030403020204" pitchFamily="34" charset="0"/>
                <a:ea typeface="Source Sans Pro" panose="020B0503030403020204" pitchFamily="34" charset="0"/>
              </a:rPr>
              <a:t>Informatie</a:t>
            </a:r>
            <a:endParaRPr lang="nl-NL" kern="0">
              <a:solidFill>
                <a:prstClr val="white"/>
              </a:solidFill>
              <a:latin typeface="Source Sans Pro Light"/>
            </a:endParaRPr>
          </a:p>
        </p:txBody>
      </p:sp>
      <p:sp>
        <p:nvSpPr>
          <p:cNvPr id="58" name="Rechthoek 28">
            <a:extLst>
              <a:ext uri="{FF2B5EF4-FFF2-40B4-BE49-F238E27FC236}">
                <a16:creationId xmlns:a16="http://schemas.microsoft.com/office/drawing/2014/main" id="{B9F81273-A63C-33C6-7788-39AC929A9358}"/>
              </a:ext>
            </a:extLst>
          </p:cNvPr>
          <p:cNvSpPr/>
          <p:nvPr/>
        </p:nvSpPr>
        <p:spPr>
          <a:xfrm>
            <a:off x="1464540" y="4569989"/>
            <a:ext cx="3181739" cy="541176"/>
          </a:xfrm>
          <a:prstGeom prst="rect">
            <a:avLst/>
          </a:prstGeom>
          <a:solidFill>
            <a:srgbClr val="92D050"/>
          </a:solidFill>
          <a:ln w="12700" cap="flat" cmpd="sng" algn="ctr">
            <a:noFill/>
            <a:prstDash val="solid"/>
            <a:miter lim="800000"/>
          </a:ln>
          <a:effectLst/>
        </p:spPr>
        <p:txBody>
          <a:bodyPr rtlCol="0" anchor="ctr"/>
          <a:lstStyle/>
          <a:p>
            <a:pPr algn="ctr">
              <a:defRPr/>
            </a:pPr>
            <a:r>
              <a:rPr lang="nl-NL" kern="0">
                <a:solidFill>
                  <a:prstClr val="white"/>
                </a:solidFill>
                <a:latin typeface="Source Sans Pro" panose="020B0503030403020204" pitchFamily="34" charset="0"/>
                <a:ea typeface="Source Sans Pro" panose="020B0503030403020204" pitchFamily="34" charset="0"/>
              </a:rPr>
              <a:t>Applicatie</a:t>
            </a:r>
          </a:p>
        </p:txBody>
      </p:sp>
      <p:sp>
        <p:nvSpPr>
          <p:cNvPr id="59" name="Rechthoek 29">
            <a:extLst>
              <a:ext uri="{FF2B5EF4-FFF2-40B4-BE49-F238E27FC236}">
                <a16:creationId xmlns:a16="http://schemas.microsoft.com/office/drawing/2014/main" id="{DE473ABB-7F43-306B-D3BD-37959763C676}"/>
              </a:ext>
            </a:extLst>
          </p:cNvPr>
          <p:cNvSpPr/>
          <p:nvPr/>
        </p:nvSpPr>
        <p:spPr>
          <a:xfrm>
            <a:off x="1464540" y="5166670"/>
            <a:ext cx="3181739" cy="541176"/>
          </a:xfrm>
          <a:prstGeom prst="rect">
            <a:avLst/>
          </a:prstGeom>
          <a:solidFill>
            <a:srgbClr val="00B050"/>
          </a:solidFill>
          <a:ln w="12700" cap="flat" cmpd="sng" algn="ctr">
            <a:noFill/>
            <a:prstDash val="solid"/>
            <a:miter lim="800000"/>
          </a:ln>
          <a:effectLst/>
        </p:spPr>
        <p:txBody>
          <a:bodyPr rtlCol="0" anchor="ctr"/>
          <a:lstStyle/>
          <a:p>
            <a:pPr algn="ctr">
              <a:defRPr/>
            </a:pPr>
            <a:r>
              <a:rPr lang="nl-NL" kern="0">
                <a:solidFill>
                  <a:prstClr val="white"/>
                </a:solidFill>
                <a:latin typeface="Source Sans Pro" panose="020B0503030403020204" pitchFamily="34" charset="0"/>
                <a:ea typeface="Source Sans Pro" panose="020B0503030403020204" pitchFamily="34" charset="0"/>
              </a:rPr>
              <a:t>IT-infrastructuur</a:t>
            </a:r>
          </a:p>
        </p:txBody>
      </p:sp>
      <p:cxnSp>
        <p:nvCxnSpPr>
          <p:cNvPr id="67" name="Rechte verbindingslijn 13">
            <a:extLst>
              <a:ext uri="{FF2B5EF4-FFF2-40B4-BE49-F238E27FC236}">
                <a16:creationId xmlns:a16="http://schemas.microsoft.com/office/drawing/2014/main" id="{D57F0CA0-8BF3-708F-C9DA-1BAC99656721}"/>
              </a:ext>
            </a:extLst>
          </p:cNvPr>
          <p:cNvCxnSpPr>
            <a:cxnSpLocks/>
          </p:cNvCxnSpPr>
          <p:nvPr/>
        </p:nvCxnSpPr>
        <p:spPr>
          <a:xfrm>
            <a:off x="4927932" y="3371537"/>
            <a:ext cx="6516000" cy="0"/>
          </a:xfrm>
          <a:prstGeom prst="line">
            <a:avLst/>
          </a:prstGeom>
          <a:noFill/>
          <a:ln w="19050" cap="flat" cmpd="sng" algn="ctr">
            <a:solidFill>
              <a:srgbClr val="ED7D31">
                <a:lumMod val="60000"/>
                <a:lumOff val="40000"/>
              </a:srgbClr>
            </a:solidFill>
            <a:prstDash val="solid"/>
            <a:miter lim="800000"/>
          </a:ln>
          <a:effectLst/>
        </p:spPr>
      </p:cxnSp>
      <p:cxnSp>
        <p:nvCxnSpPr>
          <p:cNvPr id="68" name="Rechte verbindingslijn 14">
            <a:extLst>
              <a:ext uri="{FF2B5EF4-FFF2-40B4-BE49-F238E27FC236}">
                <a16:creationId xmlns:a16="http://schemas.microsoft.com/office/drawing/2014/main" id="{B20B68F5-658F-AE5C-F3C3-30C2DDB597EA}"/>
              </a:ext>
            </a:extLst>
          </p:cNvPr>
          <p:cNvCxnSpPr>
            <a:cxnSpLocks/>
          </p:cNvCxnSpPr>
          <p:nvPr/>
        </p:nvCxnSpPr>
        <p:spPr>
          <a:xfrm>
            <a:off x="4927932" y="3957450"/>
            <a:ext cx="6516000" cy="0"/>
          </a:xfrm>
          <a:prstGeom prst="line">
            <a:avLst/>
          </a:prstGeom>
          <a:noFill/>
          <a:ln w="19050" cap="flat" cmpd="sng" algn="ctr">
            <a:solidFill>
              <a:srgbClr val="ED7D31">
                <a:lumMod val="20000"/>
                <a:lumOff val="80000"/>
              </a:srgbClr>
            </a:solidFill>
            <a:prstDash val="solid"/>
            <a:miter lim="800000"/>
          </a:ln>
          <a:effectLst/>
        </p:spPr>
      </p:cxnSp>
      <p:cxnSp>
        <p:nvCxnSpPr>
          <p:cNvPr id="69" name="Rechte verbindingslijn 15">
            <a:extLst>
              <a:ext uri="{FF2B5EF4-FFF2-40B4-BE49-F238E27FC236}">
                <a16:creationId xmlns:a16="http://schemas.microsoft.com/office/drawing/2014/main" id="{EFCEBCDE-7814-0517-F634-7B27D0816973}"/>
              </a:ext>
            </a:extLst>
          </p:cNvPr>
          <p:cNvCxnSpPr>
            <a:cxnSpLocks/>
          </p:cNvCxnSpPr>
          <p:nvPr/>
        </p:nvCxnSpPr>
        <p:spPr>
          <a:xfrm>
            <a:off x="4920340" y="2746084"/>
            <a:ext cx="6516000" cy="0"/>
          </a:xfrm>
          <a:prstGeom prst="line">
            <a:avLst/>
          </a:prstGeom>
          <a:noFill/>
          <a:ln w="19050" cap="flat" cmpd="sng" algn="ctr">
            <a:solidFill>
              <a:srgbClr val="D7D2CB"/>
            </a:solidFill>
            <a:prstDash val="solid"/>
            <a:miter lim="800000"/>
          </a:ln>
          <a:effectLst/>
        </p:spPr>
      </p:cxnSp>
      <p:cxnSp>
        <p:nvCxnSpPr>
          <p:cNvPr id="70" name="Rechte verbindingslijn 16">
            <a:extLst>
              <a:ext uri="{FF2B5EF4-FFF2-40B4-BE49-F238E27FC236}">
                <a16:creationId xmlns:a16="http://schemas.microsoft.com/office/drawing/2014/main" id="{5B914935-0012-EC1E-92EC-806C577D191C}"/>
              </a:ext>
            </a:extLst>
          </p:cNvPr>
          <p:cNvCxnSpPr>
            <a:cxnSpLocks/>
          </p:cNvCxnSpPr>
          <p:nvPr/>
        </p:nvCxnSpPr>
        <p:spPr>
          <a:xfrm>
            <a:off x="4927932" y="5174665"/>
            <a:ext cx="6516000" cy="0"/>
          </a:xfrm>
          <a:prstGeom prst="line">
            <a:avLst/>
          </a:prstGeom>
          <a:noFill/>
          <a:ln w="19050" cap="flat" cmpd="sng" algn="ctr">
            <a:solidFill>
              <a:srgbClr val="97BE0D"/>
            </a:solidFill>
            <a:prstDash val="solid"/>
            <a:miter lim="800000"/>
          </a:ln>
          <a:effectLst/>
        </p:spPr>
      </p:cxnSp>
      <p:cxnSp>
        <p:nvCxnSpPr>
          <p:cNvPr id="71" name="Rechte verbindingslijn 17">
            <a:extLst>
              <a:ext uri="{FF2B5EF4-FFF2-40B4-BE49-F238E27FC236}">
                <a16:creationId xmlns:a16="http://schemas.microsoft.com/office/drawing/2014/main" id="{A0C270E2-32E4-BBA5-72FF-9F06BDA846BB}"/>
              </a:ext>
            </a:extLst>
          </p:cNvPr>
          <p:cNvCxnSpPr>
            <a:cxnSpLocks/>
          </p:cNvCxnSpPr>
          <p:nvPr/>
        </p:nvCxnSpPr>
        <p:spPr>
          <a:xfrm>
            <a:off x="4927932" y="4554315"/>
            <a:ext cx="6516000" cy="0"/>
          </a:xfrm>
          <a:prstGeom prst="line">
            <a:avLst/>
          </a:prstGeom>
          <a:noFill/>
          <a:ln w="19050" cap="flat" cmpd="sng" algn="ctr">
            <a:solidFill>
              <a:srgbClr val="FFFF00"/>
            </a:solidFill>
            <a:prstDash val="solid"/>
            <a:miter lim="800000"/>
          </a:ln>
          <a:effectLst/>
        </p:spPr>
      </p:cxnSp>
      <p:cxnSp>
        <p:nvCxnSpPr>
          <p:cNvPr id="72" name="Rechte verbindingslijn 18">
            <a:extLst>
              <a:ext uri="{FF2B5EF4-FFF2-40B4-BE49-F238E27FC236}">
                <a16:creationId xmlns:a16="http://schemas.microsoft.com/office/drawing/2014/main" id="{4BD8C243-26E8-964E-3223-9FA924DBDAC3}"/>
              </a:ext>
            </a:extLst>
          </p:cNvPr>
          <p:cNvCxnSpPr>
            <a:cxnSpLocks/>
          </p:cNvCxnSpPr>
          <p:nvPr/>
        </p:nvCxnSpPr>
        <p:spPr>
          <a:xfrm>
            <a:off x="4927932" y="6181115"/>
            <a:ext cx="6516000" cy="0"/>
          </a:xfrm>
          <a:prstGeom prst="line">
            <a:avLst/>
          </a:prstGeom>
          <a:noFill/>
          <a:ln w="19050" cap="flat" cmpd="sng" algn="ctr">
            <a:solidFill>
              <a:srgbClr val="009D45"/>
            </a:solidFill>
            <a:prstDash val="solid"/>
            <a:miter lim="800000"/>
          </a:ln>
          <a:effectLst/>
        </p:spPr>
      </p:cxnSp>
    </p:spTree>
    <p:extLst>
      <p:ext uri="{BB962C8B-B14F-4D97-AF65-F5344CB8AC3E}">
        <p14:creationId xmlns:p14="http://schemas.microsoft.com/office/powerpoint/2010/main" val="1892382880"/>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7"/>
            <a:ext cx="9720000" cy="906867"/>
          </a:xfrm>
        </p:spPr>
        <p:txBody>
          <a:bodyPr>
            <a:noAutofit/>
          </a:bodyPr>
          <a:lstStyle/>
          <a:p>
            <a:r>
              <a:rPr lang="nl-NL"/>
              <a:t>Netwerkzorg vraagt om </a:t>
            </a:r>
            <a:r>
              <a:rPr lang="nl-NL" err="1"/>
              <a:t>domeinoverstijgende</a:t>
            </a:r>
            <a:r>
              <a:rPr lang="nl-NL"/>
              <a:t> samenwerking en data beschikbaarheid</a:t>
            </a:r>
          </a:p>
        </p:txBody>
      </p:sp>
      <p:sp>
        <p:nvSpPr>
          <p:cNvPr id="9" name="TextBox 5">
            <a:extLst>
              <a:ext uri="{FF2B5EF4-FFF2-40B4-BE49-F238E27FC236}">
                <a16:creationId xmlns:a16="http://schemas.microsoft.com/office/drawing/2014/main" id="{3FBF55F3-DF0C-8A1F-8D33-56C8D929A825}"/>
              </a:ext>
            </a:extLst>
          </p:cNvPr>
          <p:cNvSpPr txBox="1"/>
          <p:nvPr/>
        </p:nvSpPr>
        <p:spPr>
          <a:xfrm>
            <a:off x="425451" y="1330045"/>
            <a:ext cx="11023944" cy="994055"/>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In de komende jaren werken we als regio enerzijds aan een </a:t>
            </a:r>
            <a:r>
              <a:rPr kumimoji="0" lang="nl-NL" sz="1400" b="1" i="1"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gezonde en passende leefomgeving </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en anderzijds aan vernieuwing binnen het medische en sociaal domein, gericht op </a:t>
            </a:r>
            <a:r>
              <a:rPr kumimoji="0" lang="nl-NL" sz="1400" b="1" i="1"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integrale (</a:t>
            </a:r>
            <a:r>
              <a:rPr kumimoji="0" lang="nl-NL" sz="1400" b="1" i="1" u="none" strike="noStrike" kern="1200" cap="none" spc="0" normalizeH="0" baseline="0" noProof="0" err="1">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gezondheids</a:t>
            </a:r>
            <a:r>
              <a:rPr kumimoji="0" lang="nl-NL" sz="1400" b="1" i="1"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)zorg</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 Om </a:t>
            </a:r>
            <a:r>
              <a:rPr kumimoji="0" lang="nl-NL" sz="1400" b="1" i="0" u="none" strike="noStrike" kern="1200" cap="none" spc="0" normalizeH="0" baseline="0" noProof="0" err="1">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domeinoverstijgend</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rPr>
              <a:t> te werken en te komen tot integrale gezondheidszorg is er een tweede casus beschikbaar voor de regio Midden-Nederland namelijk casus </a:t>
            </a:r>
            <a:r>
              <a:rPr lang="nl-NL" sz="1400" b="1">
                <a:solidFill>
                  <a:prstClr val="black"/>
                </a:solidFill>
                <a:latin typeface="Verdana" panose="020B0604030504040204" pitchFamily="34" charset="0"/>
                <a:ea typeface="Calibri" panose="020F0502020204030204" pitchFamily="34" charset="0"/>
                <a:cs typeface="Arial" panose="020B0604020202020204" pitchFamily="34" charset="0"/>
              </a:rPr>
              <a:t>Theo.</a:t>
            </a:r>
            <a:endParaRPr kumimoji="0" lang="nl-NL" sz="1400" b="1"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endParaRPr>
          </a:p>
        </p:txBody>
      </p:sp>
      <p:sp>
        <p:nvSpPr>
          <p:cNvPr id="12" name="Tijdelijke aanduiding voor inhoud 2">
            <a:extLst>
              <a:ext uri="{FF2B5EF4-FFF2-40B4-BE49-F238E27FC236}">
                <a16:creationId xmlns:a16="http://schemas.microsoft.com/office/drawing/2014/main" id="{80F734FB-CB45-806C-EBC5-535F55973ACA}"/>
              </a:ext>
            </a:extLst>
          </p:cNvPr>
          <p:cNvSpPr txBox="1">
            <a:spLocks/>
          </p:cNvSpPr>
          <p:nvPr/>
        </p:nvSpPr>
        <p:spPr>
          <a:xfrm>
            <a:off x="4639233" y="3598614"/>
            <a:ext cx="6692900" cy="28086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200" b="1" i="0" u="none" strike="noStrike" kern="1200" cap="none" spc="0" normalizeH="0" baseline="0" noProof="0">
                <a:ln>
                  <a:noFill/>
                </a:ln>
                <a:solidFill>
                  <a:srgbClr val="21BBEF"/>
                </a:solidFill>
                <a:effectLst/>
                <a:uLnTx/>
                <a:uFillTx/>
                <a:latin typeface="Calibri" panose="020F0502020204030204"/>
                <a:ea typeface="+mn-ea"/>
                <a:cs typeface="+mn-cs"/>
              </a:rPr>
              <a:t>Reis van Theo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200" b="0" i="0" u="none" strike="noStrike" kern="1200" cap="none" spc="0" normalizeH="0" baseline="0" noProof="0">
                <a:ln>
                  <a:noFill/>
                </a:ln>
                <a:solidFill>
                  <a:sysClr val="windowText" lastClr="000000"/>
                </a:solidFill>
                <a:effectLst/>
                <a:uLnTx/>
                <a:uFillTx/>
                <a:latin typeface="Calibri" panose="020F0502020204030204"/>
                <a:ea typeface="+mn-ea"/>
                <a:cs typeface="+mn-cs"/>
              </a:rPr>
              <a:t>Theo wordt overvallen door een hersenbloeding. Na de eerste opvang in het ziekenhuis, wordt hij tijdelijk opgenomen in een revalidatiecentrum. Tijdens zijn revalidatietraject wordt er medicatie voorgeschreven en er wordt overleg gepleegd met de behandelend arts uit het ziekenhuis. Later komt Theo toch tijdelijk in een verpleeghuis terecht.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200" b="0" i="0" u="none" strike="noStrike" kern="1200" cap="none" spc="0" normalizeH="0" baseline="0" noProof="0">
                <a:ln>
                  <a:noFill/>
                </a:ln>
                <a:solidFill>
                  <a:sysClr val="windowText" lastClr="000000"/>
                </a:solidFill>
                <a:effectLst/>
                <a:uLnTx/>
                <a:uFillTx/>
                <a:latin typeface="Calibri" panose="020F0502020204030204"/>
                <a:ea typeface="+mn-ea"/>
                <a:cs typeface="+mn-cs"/>
              </a:rPr>
              <a:t>Na zijn revalidatie en verblijf in een verpleeghuis, gaat Theo weer thuis wonen. Hij wordt hierbij ondersteund door een wijkverpleegkundige. Zijn huisarts of het verpleeghuis schakelt de wijkverpleegkundige in. De wijkverpleegkundige, huisarts, zijn familie en hijzelf merken na verloop van tijd op dat thuis wonen niet meer gaat. Theo verhuist naar een verpleeg- en verzorgingshuis waar hij de rest van zijn leven zal wonen.</a:t>
            </a:r>
            <a:endParaRPr kumimoji="0" lang="nl-NL" sz="1200" b="0" i="0" u="none" strike="noStrike" kern="1200" cap="none" spc="0" normalizeH="0" baseline="0" noProof="0">
              <a:ln>
                <a:noFill/>
              </a:ln>
              <a:solidFill>
                <a:sysClr val="windowText" lastClr="000000"/>
              </a:solidFill>
              <a:effectLst/>
              <a:uLnTx/>
              <a:uFillTx/>
              <a:latin typeface="+mn-ea"/>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200" b="0" i="0" u="none" strike="noStrike" kern="1200" cap="none" spc="0" normalizeH="0" baseline="0" noProof="0">
                <a:ln>
                  <a:noFill/>
                </a:ln>
                <a:solidFill>
                  <a:sysClr val="windowText" lastClr="000000"/>
                </a:solidFill>
                <a:effectLst/>
                <a:uLnTx/>
                <a:uFillTx/>
                <a:latin typeface="Calibri" panose="020F0502020204030204"/>
                <a:ea typeface="+mn-ea"/>
                <a:cs typeface="+mn-cs"/>
              </a:rPr>
              <a:t>Tijdens zijn verblijf in het verpleeghuis vertoont Theo agressief gedrag. De hulp van een gespecialiseerde ggz-instelling wordt ingeschakeld. Daarbij krijgt Theo last van een hoge bloeddruk, waarvoor de specialist ouderengeneeskunde medicatie voorschrijft. Theo’s zicht vermindert. Hij ondergaat hiervoor een staarbehandeling in het ziekenhuis, waarna hij weer terugkeert naar het verpleeghuis.</a:t>
            </a:r>
            <a:endParaRPr kumimoji="0" lang="nl-NL" sz="1200" b="0" i="1"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3" name="Tekstvak 6">
            <a:extLst>
              <a:ext uri="{FF2B5EF4-FFF2-40B4-BE49-F238E27FC236}">
                <a16:creationId xmlns:a16="http://schemas.microsoft.com/office/drawing/2014/main" id="{4DCF15C7-A564-5819-85C6-E3DC820822A4}"/>
              </a:ext>
            </a:extLst>
          </p:cNvPr>
          <p:cNvSpPr txBox="1"/>
          <p:nvPr/>
        </p:nvSpPr>
        <p:spPr>
          <a:xfrm>
            <a:off x="4639233" y="2442957"/>
            <a:ext cx="4635500" cy="1051570"/>
          </a:xfrm>
          <a:prstGeom prst="rect">
            <a:avLst/>
          </a:prstGeom>
          <a:noFill/>
        </p:spPr>
        <p:txBody>
          <a:bodyPr wrap="square" rtlCol="0">
            <a:spAutoFit/>
          </a:bodyPr>
          <a:lstStyle/>
          <a:p>
            <a:pPr marL="0" marR="0" lvl="0" indent="0" defTabSz="91440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200" b="1" i="0" u="none" strike="noStrike" kern="0" cap="none" spc="0" normalizeH="0" baseline="0" noProof="0">
                <a:ln>
                  <a:noFill/>
                </a:ln>
                <a:solidFill>
                  <a:srgbClr val="21BBEF"/>
                </a:solidFill>
                <a:effectLst/>
                <a:uLnTx/>
                <a:uFillTx/>
              </a:rPr>
              <a:t>Persona Theo</a:t>
            </a:r>
          </a:p>
          <a:p>
            <a:pPr marL="0" marR="0" lvl="0" indent="0" defTabSz="91440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200" b="0" i="0" u="none" strike="noStrike" kern="0" cap="none" spc="0" normalizeH="0" baseline="0" noProof="0">
                <a:ln>
                  <a:noFill/>
                </a:ln>
                <a:solidFill>
                  <a:prstClr val="black"/>
                </a:solidFill>
                <a:effectLst/>
                <a:uLnTx/>
                <a:uFillTx/>
              </a:rPr>
              <a:t>Theo is 82 en houdt van vissen. Theo was getrouwd met Greet, maar Greet is een jaar geleden overleden. Theo is in slechte conditie, licht dementerend en heeft thuiszorg. Hij is dol op het contact met zijn kinderen en kleinkinderen.</a:t>
            </a:r>
          </a:p>
        </p:txBody>
      </p:sp>
      <p:pic>
        <p:nvPicPr>
          <p:cNvPr id="14" name="Afbeelding 5">
            <a:extLst>
              <a:ext uri="{FF2B5EF4-FFF2-40B4-BE49-F238E27FC236}">
                <a16:creationId xmlns:a16="http://schemas.microsoft.com/office/drawing/2014/main" id="{C642DB67-3061-1E5B-0B54-964CF97193B9}"/>
              </a:ext>
            </a:extLst>
          </p:cNvPr>
          <p:cNvPicPr>
            <a:picLocks noChangeAspect="1"/>
          </p:cNvPicPr>
          <p:nvPr/>
        </p:nvPicPr>
        <p:blipFill>
          <a:blip r:embed="rId4"/>
          <a:stretch>
            <a:fillRect/>
          </a:stretch>
        </p:blipFill>
        <p:spPr>
          <a:xfrm>
            <a:off x="9981331" y="2442957"/>
            <a:ext cx="1214923" cy="1185292"/>
          </a:xfrm>
          <a:prstGeom prst="rect">
            <a:avLst/>
          </a:prstGeom>
        </p:spPr>
      </p:pic>
      <p:sp>
        <p:nvSpPr>
          <p:cNvPr id="16" name="Rectangle 15">
            <a:extLst>
              <a:ext uri="{FF2B5EF4-FFF2-40B4-BE49-F238E27FC236}">
                <a16:creationId xmlns:a16="http://schemas.microsoft.com/office/drawing/2014/main" id="{DFE1B2C9-23FA-FECD-1047-C5E6A18DFC62}"/>
              </a:ext>
            </a:extLst>
          </p:cNvPr>
          <p:cNvSpPr/>
          <p:nvPr/>
        </p:nvSpPr>
        <p:spPr>
          <a:xfrm>
            <a:off x="4639232" y="2324100"/>
            <a:ext cx="6768000" cy="4104000"/>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TextBox 5">
            <a:extLst>
              <a:ext uri="{FF2B5EF4-FFF2-40B4-BE49-F238E27FC236}">
                <a16:creationId xmlns:a16="http://schemas.microsoft.com/office/drawing/2014/main" id="{75BE15F6-F7DD-809E-6CC0-C551CD3E64E4}"/>
              </a:ext>
            </a:extLst>
          </p:cNvPr>
          <p:cNvSpPr txBox="1"/>
          <p:nvPr/>
        </p:nvSpPr>
        <p:spPr>
          <a:xfrm>
            <a:off x="425451" y="2376144"/>
            <a:ext cx="3755153" cy="2607637"/>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lang="nl-NL" sz="1400">
                <a:solidFill>
                  <a:prstClr val="black"/>
                </a:solidFill>
                <a:latin typeface="Verdana" panose="020B0604030504040204" pitchFamily="34" charset="0"/>
                <a:ea typeface="Verdana" panose="020B0604030504040204" pitchFamily="34" charset="0"/>
                <a:cs typeface="Calibri"/>
              </a:rPr>
              <a:t>Met Theo als persona in een casus </a:t>
            </a:r>
            <a:r>
              <a:rPr kumimoji="0" lang="nl-NL" sz="14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wordt op een eenduidige manier de toekomstige patiëntreis van een typische inwoner </a:t>
            </a:r>
            <a:r>
              <a:rPr lang="nl-NL" sz="1400">
                <a:solidFill>
                  <a:prstClr val="black"/>
                </a:solidFill>
                <a:latin typeface="Verdana" panose="020B0604030504040204" pitchFamily="34" charset="0"/>
                <a:ea typeface="Verdana" panose="020B0604030504040204" pitchFamily="34" charset="0"/>
                <a:cs typeface="Calibri"/>
              </a:rPr>
              <a:t>geschetst</a:t>
            </a:r>
            <a:r>
              <a:rPr kumimoji="0" lang="nl-NL" sz="14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 Hierbij </a:t>
            </a:r>
            <a:r>
              <a:rPr lang="nl-NL" sz="1400">
                <a:solidFill>
                  <a:prstClr val="black"/>
                </a:solidFill>
                <a:latin typeface="Verdana" panose="020B0604030504040204" pitchFamily="34" charset="0"/>
                <a:ea typeface="Verdana" panose="020B0604030504040204" pitchFamily="34" charset="0"/>
                <a:cs typeface="Calibri"/>
              </a:rPr>
              <a:t>raakt de patiëntreis van Theo zowel de 1</a:t>
            </a:r>
            <a:r>
              <a:rPr lang="nl-NL" sz="1400" baseline="30000">
                <a:solidFill>
                  <a:prstClr val="black"/>
                </a:solidFill>
                <a:latin typeface="Verdana" panose="020B0604030504040204" pitchFamily="34" charset="0"/>
                <a:ea typeface="Verdana" panose="020B0604030504040204" pitchFamily="34" charset="0"/>
                <a:cs typeface="Calibri"/>
              </a:rPr>
              <a:t>e</a:t>
            </a:r>
            <a:r>
              <a:rPr lang="nl-NL" sz="1400">
                <a:solidFill>
                  <a:prstClr val="black"/>
                </a:solidFill>
                <a:latin typeface="Verdana" panose="020B0604030504040204" pitchFamily="34" charset="0"/>
                <a:ea typeface="Verdana" panose="020B0604030504040204" pitchFamily="34" charset="0"/>
                <a:cs typeface="Calibri"/>
              </a:rPr>
              <a:t> als 2</a:t>
            </a:r>
            <a:r>
              <a:rPr lang="nl-NL" sz="1400" baseline="30000">
                <a:solidFill>
                  <a:prstClr val="black"/>
                </a:solidFill>
                <a:latin typeface="Verdana" panose="020B0604030504040204" pitchFamily="34" charset="0"/>
                <a:ea typeface="Verdana" panose="020B0604030504040204" pitchFamily="34" charset="0"/>
                <a:cs typeface="Calibri"/>
              </a:rPr>
              <a:t>e</a:t>
            </a:r>
            <a:r>
              <a:rPr lang="nl-NL" sz="1400">
                <a:solidFill>
                  <a:prstClr val="black"/>
                </a:solidFill>
                <a:latin typeface="Verdana" panose="020B0604030504040204" pitchFamily="34" charset="0"/>
                <a:ea typeface="Verdana" panose="020B0604030504040204" pitchFamily="34" charset="0"/>
                <a:cs typeface="Calibri"/>
              </a:rPr>
              <a:t> </a:t>
            </a:r>
            <a:r>
              <a:rPr lang="nl-NL" sz="1400" err="1">
                <a:solidFill>
                  <a:prstClr val="black"/>
                </a:solidFill>
                <a:latin typeface="Verdana" panose="020B0604030504040204" pitchFamily="34" charset="0"/>
                <a:ea typeface="Verdana" panose="020B0604030504040204" pitchFamily="34" charset="0"/>
                <a:cs typeface="Calibri"/>
              </a:rPr>
              <a:t>lijnszorg</a:t>
            </a:r>
            <a:r>
              <a:rPr lang="nl-NL" sz="1400">
                <a:solidFill>
                  <a:prstClr val="black"/>
                </a:solidFill>
                <a:latin typeface="Verdana" panose="020B0604030504040204" pitchFamily="34" charset="0"/>
                <a:ea typeface="Verdana" panose="020B0604030504040204" pitchFamily="34" charset="0"/>
                <a:cs typeface="Calibri"/>
              </a:rPr>
              <a:t>. Daarnaast ook de thuissituatie als binnen de muren van een zorginstelling. Ook omvat deze casus enkele veelvoorkomende overdrachten waarbij er gewisseld wordt van (type) zorgverlener. </a:t>
            </a:r>
          </a:p>
        </p:txBody>
      </p:sp>
      <p:sp>
        <p:nvSpPr>
          <p:cNvPr id="35" name="Slide Number Placeholder 64">
            <a:extLst>
              <a:ext uri="{FF2B5EF4-FFF2-40B4-BE49-F238E27FC236}">
                <a16:creationId xmlns:a16="http://schemas.microsoft.com/office/drawing/2014/main" id="{59099AB0-F123-CD54-F1AD-69718D93866E}"/>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19</a:t>
            </a:fld>
            <a:endParaRPr lang="nl-NL" sz="900"/>
          </a:p>
        </p:txBody>
      </p:sp>
      <p:sp>
        <p:nvSpPr>
          <p:cNvPr id="3" name="Rectangle: Top Corners Rounded 38">
            <a:hlinkClick r:id="rId5" action="ppaction://hlinksldjump"/>
            <a:extLst>
              <a:ext uri="{FF2B5EF4-FFF2-40B4-BE49-F238E27FC236}">
                <a16:creationId xmlns:a16="http://schemas.microsoft.com/office/drawing/2014/main" id="{419A3D08-792F-0217-C39C-00C765DC8D58}"/>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6" name="Graphic 5" descr="Introductiepagina silhouet">
            <a:hlinkClick r:id="rId6" action="ppaction://hlinksldjump"/>
            <a:extLst>
              <a:ext uri="{FF2B5EF4-FFF2-40B4-BE49-F238E27FC236}">
                <a16:creationId xmlns:a16="http://schemas.microsoft.com/office/drawing/2014/main" id="{91702AF9-5BA3-37A3-3FC7-D4476FDD7D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7" name="Rectangle: Top Corners Rounded 1">
            <a:hlinkClick r:id="rId9" action="ppaction://hlinksldjump"/>
            <a:extLst>
              <a:ext uri="{FF2B5EF4-FFF2-40B4-BE49-F238E27FC236}">
                <a16:creationId xmlns:a16="http://schemas.microsoft.com/office/drawing/2014/main" id="{B59597AC-FE77-A913-1524-CCB0D378A9A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8" name="Rectangle: Top Corners Rounded 1">
            <a:hlinkClick r:id="rId10" action="ppaction://hlinksldjump"/>
            <a:extLst>
              <a:ext uri="{FF2B5EF4-FFF2-40B4-BE49-F238E27FC236}">
                <a16:creationId xmlns:a16="http://schemas.microsoft.com/office/drawing/2014/main" id="{87E38AE4-8E17-E4CA-B7F1-D7B92267541A}"/>
              </a:ext>
            </a:extLst>
          </p:cNvPr>
          <p:cNvSpPr/>
          <p:nvPr/>
        </p:nvSpPr>
        <p:spPr>
          <a:xfrm>
            <a:off x="212467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11" action="ppaction://hlinksldjump"/>
            <a:extLst>
              <a:ext uri="{FF2B5EF4-FFF2-40B4-BE49-F238E27FC236}">
                <a16:creationId xmlns:a16="http://schemas.microsoft.com/office/drawing/2014/main" id="{51AC2EB4-2FFA-ED9D-DEEE-94013E195BDC}"/>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2" action="ppaction://hlinksldjump"/>
            <a:extLst>
              <a:ext uri="{FF2B5EF4-FFF2-40B4-BE49-F238E27FC236}">
                <a16:creationId xmlns:a16="http://schemas.microsoft.com/office/drawing/2014/main" id="{AA75292F-183B-3106-BA60-C9213E4C48E2}"/>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5" name="Rectangle: Top Corners Rounded 1">
            <a:hlinkClick r:id="rId13" action="ppaction://hlinksldjump"/>
            <a:extLst>
              <a:ext uri="{FF2B5EF4-FFF2-40B4-BE49-F238E27FC236}">
                <a16:creationId xmlns:a16="http://schemas.microsoft.com/office/drawing/2014/main" id="{5DB1B14E-FA90-743A-2405-63B859979863}"/>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8" name="Rectangle: Top Corners Rounded 1">
            <a:hlinkClick r:id="rId14" action="ppaction://hlinksldjump"/>
            <a:extLst>
              <a:ext uri="{FF2B5EF4-FFF2-40B4-BE49-F238E27FC236}">
                <a16:creationId xmlns:a16="http://schemas.microsoft.com/office/drawing/2014/main" id="{14A28265-829A-6DC9-1D7B-ED62DBF7D87E}"/>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9" name="Rectangle: Top Corners Rounded 1">
            <a:hlinkClick r:id="rId15" action="ppaction://hlinksldjump"/>
            <a:extLst>
              <a:ext uri="{FF2B5EF4-FFF2-40B4-BE49-F238E27FC236}">
                <a16:creationId xmlns:a16="http://schemas.microsoft.com/office/drawing/2014/main" id="{8A3E7B9F-AA88-BBCD-7709-7FD46F53036B}"/>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0" name="Rectangle: Top Corners Rounded 1">
            <a:hlinkClick r:id="rId16" action="ppaction://hlinksldjump"/>
            <a:extLst>
              <a:ext uri="{FF2B5EF4-FFF2-40B4-BE49-F238E27FC236}">
                <a16:creationId xmlns:a16="http://schemas.microsoft.com/office/drawing/2014/main" id="{BCA50A2E-7763-2C9B-DCFB-491932AC477A}"/>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1" name="Rectangle: Top Corners Rounded 1">
            <a:hlinkClick r:id="rId17" action="ppaction://hlinksldjump"/>
            <a:extLst>
              <a:ext uri="{FF2B5EF4-FFF2-40B4-BE49-F238E27FC236}">
                <a16:creationId xmlns:a16="http://schemas.microsoft.com/office/drawing/2014/main" id="{7827632C-DCD4-9840-E714-4CE339814C09}"/>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2" name="Rectangle: Top Corners Rounded 1">
            <a:hlinkClick r:id="rId18" action="ppaction://hlinksldjump"/>
            <a:extLst>
              <a:ext uri="{FF2B5EF4-FFF2-40B4-BE49-F238E27FC236}">
                <a16:creationId xmlns:a16="http://schemas.microsoft.com/office/drawing/2014/main" id="{9CC1350A-E688-8652-A0D1-DAFED7C7EF6E}"/>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3" name="Rectangle: Top Corners Rounded 1">
            <a:hlinkClick r:id="rId19" action="ppaction://hlinksldjump"/>
            <a:extLst>
              <a:ext uri="{FF2B5EF4-FFF2-40B4-BE49-F238E27FC236}">
                <a16:creationId xmlns:a16="http://schemas.microsoft.com/office/drawing/2014/main" id="{F1CCD2E6-E2F4-2306-2835-1DAA15DB36EB}"/>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3472051317"/>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a:bodyPr>
          <a:lstStyle/>
          <a:p>
            <a:pPr algn="ctr"/>
            <a:r>
              <a:rPr lang="nl-NL" sz="3600">
                <a:latin typeface="Verdana Pro"/>
                <a:cs typeface="Helvetica"/>
              </a:rPr>
              <a:t>Veranderopgave &amp; verwachte impact</a:t>
            </a:r>
            <a:endParaRPr lang="nl-NL">
              <a:highlight>
                <a:srgbClr val="FFFF00"/>
              </a:highlight>
            </a:endParaRPr>
          </a:p>
        </p:txBody>
      </p:sp>
    </p:spTree>
    <p:extLst>
      <p:ext uri="{BB962C8B-B14F-4D97-AF65-F5344CB8AC3E}">
        <p14:creationId xmlns:p14="http://schemas.microsoft.com/office/powerpoint/2010/main" val="2346472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Autofit/>
          </a:bodyPr>
          <a:lstStyle/>
          <a:p>
            <a:pPr algn="l"/>
            <a:r>
              <a:rPr lang="nl-NL" b="1">
                <a:solidFill>
                  <a:srgbClr val="8C95CD"/>
                </a:solidFill>
              </a:rPr>
              <a:t>Overzicht aanvraag fundament digitalisering en gegevensuitwisseling Midden-Nederland</a:t>
            </a:r>
          </a:p>
        </p:txBody>
      </p:sp>
      <p:sp>
        <p:nvSpPr>
          <p:cNvPr id="37" name="Content Placeholder 36">
            <a:extLst>
              <a:ext uri="{FF2B5EF4-FFF2-40B4-BE49-F238E27FC236}">
                <a16:creationId xmlns:a16="http://schemas.microsoft.com/office/drawing/2014/main" id="{E4DAF2F8-B5E2-8D98-6DD5-06D1EFBB2D57}"/>
              </a:ext>
            </a:extLst>
          </p:cNvPr>
          <p:cNvSpPr>
            <a:spLocks noGrp="1"/>
          </p:cNvSpPr>
          <p:nvPr>
            <p:ph idx="1"/>
          </p:nvPr>
        </p:nvSpPr>
        <p:spPr/>
        <p:txBody>
          <a:bodyPr/>
          <a:lstStyle/>
          <a:p>
            <a:pPr algn="just"/>
            <a:r>
              <a:rPr lang="nl-NL" sz="1400" b="1"/>
              <a:t>Vanuit de regio zijn binnen de drie (3) pijlers Netwerkzorg, Basis op orde en de Regionale data- en applicatiearchitectuur, drie (3) thema’s voor de digitale transformatie in de regio geïdentificeerd. In dit transformatieplan worden de eerste stappen (prioritering) beschreven aan de hand van de thema’s, die direct impact maken op zorg en ondersteuning in de regio. </a:t>
            </a:r>
          </a:p>
          <a:p>
            <a:pPr algn="just"/>
            <a:r>
              <a:rPr lang="nl-NL"/>
              <a:t>Deze aanvraag betreft thema’s 1, 2 én onderdelen van de grijze laag, namelijk het fundament Digitalisering &amp; Gegevensuitwisseling, die onlosmakelijk verbonden zijn met de realisatie van deze thema’s.</a:t>
            </a:r>
          </a:p>
          <a:p>
            <a:endParaRPr lang="en-GB"/>
          </a:p>
        </p:txBody>
      </p:sp>
      <p:sp>
        <p:nvSpPr>
          <p:cNvPr id="15" name="Tijdelijke aanduiding voor inhoud 2">
            <a:extLst>
              <a:ext uri="{FF2B5EF4-FFF2-40B4-BE49-F238E27FC236}">
                <a16:creationId xmlns:a16="http://schemas.microsoft.com/office/drawing/2014/main" id="{5AEE9368-32CA-B0C9-28F2-EB43E1B1ADD3}"/>
              </a:ext>
            </a:extLst>
          </p:cNvPr>
          <p:cNvSpPr txBox="1">
            <a:spLocks/>
          </p:cNvSpPr>
          <p:nvPr/>
        </p:nvSpPr>
        <p:spPr>
          <a:xfrm>
            <a:off x="425302" y="1095154"/>
            <a:ext cx="11178447" cy="508181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a:t> </a:t>
            </a:r>
          </a:p>
        </p:txBody>
      </p:sp>
      <p:grpSp>
        <p:nvGrpSpPr>
          <p:cNvPr id="17" name="Groep 16">
            <a:extLst>
              <a:ext uri="{FF2B5EF4-FFF2-40B4-BE49-F238E27FC236}">
                <a16:creationId xmlns:a16="http://schemas.microsoft.com/office/drawing/2014/main" id="{49F167AD-0FA4-F452-C70C-29C03CBBA1BB}"/>
              </a:ext>
            </a:extLst>
          </p:cNvPr>
          <p:cNvGrpSpPr/>
          <p:nvPr/>
        </p:nvGrpSpPr>
        <p:grpSpPr>
          <a:xfrm>
            <a:off x="854937" y="2944559"/>
            <a:ext cx="10482126" cy="3533395"/>
            <a:chOff x="925648" y="2705533"/>
            <a:chExt cx="10482126" cy="3533395"/>
          </a:xfrm>
        </p:grpSpPr>
        <p:sp>
          <p:nvSpPr>
            <p:cNvPr id="18" name="Rectangle 29">
              <a:extLst>
                <a:ext uri="{FF2B5EF4-FFF2-40B4-BE49-F238E27FC236}">
                  <a16:creationId xmlns:a16="http://schemas.microsoft.com/office/drawing/2014/main" id="{D12CCFBD-1DE7-B503-C9C6-0A3EA5DC4F2B}"/>
                </a:ext>
              </a:extLst>
            </p:cNvPr>
            <p:cNvSpPr/>
            <p:nvPr/>
          </p:nvSpPr>
          <p:spPr>
            <a:xfrm>
              <a:off x="925648" y="2846178"/>
              <a:ext cx="3312000" cy="128120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solidFill>
                    <a:schemeClr val="tx1"/>
                  </a:solidFill>
                  <a:latin typeface="Verdana" panose="020B0604030504040204" pitchFamily="34" charset="0"/>
                  <a:ea typeface="Verdana" panose="020B0604030504040204" pitchFamily="34" charset="0"/>
                </a:rPr>
                <a:t>Thema</a:t>
              </a:r>
            </a:p>
            <a:p>
              <a:pPr algn="ctr"/>
              <a:r>
                <a:rPr lang="nl-NL" sz="1400">
                  <a:solidFill>
                    <a:schemeClr val="tx1"/>
                  </a:solidFill>
                  <a:latin typeface="Verdana" panose="020B0604030504040204" pitchFamily="34" charset="0"/>
                  <a:ea typeface="Verdana" panose="020B0604030504040204" pitchFamily="34" charset="0"/>
                </a:rPr>
                <a:t>Digitale (zorg)communicatie met inwoners en patiënten, en professionals onderling ter ondersteuning van netwerkzorg</a:t>
              </a:r>
            </a:p>
          </p:txBody>
        </p:sp>
        <p:sp>
          <p:nvSpPr>
            <p:cNvPr id="19" name="Rectangle 30">
              <a:extLst>
                <a:ext uri="{FF2B5EF4-FFF2-40B4-BE49-F238E27FC236}">
                  <a16:creationId xmlns:a16="http://schemas.microsoft.com/office/drawing/2014/main" id="{01FFAA72-E194-A30D-C267-77F76C6A8C8A}"/>
                </a:ext>
              </a:extLst>
            </p:cNvPr>
            <p:cNvSpPr/>
            <p:nvPr/>
          </p:nvSpPr>
          <p:spPr>
            <a:xfrm>
              <a:off x="4517061" y="2846178"/>
              <a:ext cx="3312000" cy="128120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solidFill>
                    <a:schemeClr val="tx1"/>
                  </a:solidFill>
                  <a:latin typeface="Verdana" panose="020B0604030504040204" pitchFamily="34" charset="0"/>
                  <a:ea typeface="Verdana" panose="020B0604030504040204" pitchFamily="34" charset="0"/>
                </a:rPr>
                <a:t>Thema</a:t>
              </a:r>
              <a:r>
                <a:rPr lang="nl-NL" sz="1400">
                  <a:solidFill>
                    <a:schemeClr val="tx1"/>
                  </a:solidFill>
                  <a:latin typeface="Verdana" panose="020B0604030504040204" pitchFamily="34" charset="0"/>
                  <a:ea typeface="Verdana" panose="020B0604030504040204" pitchFamily="34" charset="0"/>
                </a:rPr>
                <a:t> </a:t>
              </a:r>
            </a:p>
            <a:p>
              <a:pPr algn="ctr"/>
              <a:r>
                <a:rPr lang="nl-NL" sz="1400">
                  <a:solidFill>
                    <a:schemeClr val="tx1"/>
                  </a:solidFill>
                  <a:latin typeface="Verdana" panose="020B0604030504040204" pitchFamily="34" charset="0"/>
                  <a:ea typeface="Verdana" panose="020B0604030504040204" pitchFamily="34" charset="0"/>
                </a:rPr>
                <a:t>Dossier Inzage en Digitale Overdracht van (Acute) Zorg</a:t>
              </a:r>
            </a:p>
          </p:txBody>
        </p:sp>
        <p:sp>
          <p:nvSpPr>
            <p:cNvPr id="20" name="Rectangle 33">
              <a:extLst>
                <a:ext uri="{FF2B5EF4-FFF2-40B4-BE49-F238E27FC236}">
                  <a16:creationId xmlns:a16="http://schemas.microsoft.com/office/drawing/2014/main" id="{3524C9DF-34EE-430A-3068-4162C2C0706C}"/>
                </a:ext>
              </a:extLst>
            </p:cNvPr>
            <p:cNvSpPr/>
            <p:nvPr/>
          </p:nvSpPr>
          <p:spPr>
            <a:xfrm>
              <a:off x="925648" y="4211929"/>
              <a:ext cx="10482126" cy="2026999"/>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nl-NL" b="1"/>
                <a:t>Fundament </a:t>
              </a:r>
              <a:r>
                <a:rPr lang="nl-NL" b="1">
                  <a:cs typeface="Calibri"/>
                </a:rPr>
                <a:t>Digitalisering &amp; Gegevensuitwisseling </a:t>
              </a:r>
              <a:endParaRPr lang="nl-NL" b="1"/>
            </a:p>
          </p:txBody>
        </p:sp>
        <p:sp>
          <p:nvSpPr>
            <p:cNvPr id="21" name="Rectangle 30">
              <a:extLst>
                <a:ext uri="{FF2B5EF4-FFF2-40B4-BE49-F238E27FC236}">
                  <a16:creationId xmlns:a16="http://schemas.microsoft.com/office/drawing/2014/main" id="{05B33C2C-4444-E066-9D1D-A4C2245ECBEC}"/>
                </a:ext>
              </a:extLst>
            </p:cNvPr>
            <p:cNvSpPr/>
            <p:nvPr/>
          </p:nvSpPr>
          <p:spPr>
            <a:xfrm>
              <a:off x="8095774" y="2843022"/>
              <a:ext cx="3312000" cy="1281209"/>
            </a:xfrm>
            <a:prstGeom prst="rect">
              <a:avLst/>
            </a:prstGeom>
            <a:pattFill prst="dkUpDiag">
              <a:fgClr>
                <a:schemeClr val="accent6">
                  <a:lumMod val="20000"/>
                  <a:lumOff val="8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solidFill>
                    <a:schemeClr val="tx1">
                      <a:lumMod val="50000"/>
                      <a:lumOff val="50000"/>
                    </a:schemeClr>
                  </a:solidFill>
                  <a:latin typeface="Verdana" panose="020B0604030504040204" pitchFamily="34" charset="0"/>
                  <a:ea typeface="Verdana" panose="020B0604030504040204" pitchFamily="34" charset="0"/>
                </a:rPr>
                <a:t>Thema </a:t>
              </a:r>
            </a:p>
            <a:p>
              <a:pPr algn="ctr"/>
              <a:r>
                <a:rPr lang="nl-NL" sz="1400">
                  <a:solidFill>
                    <a:schemeClr val="tx1">
                      <a:lumMod val="50000"/>
                      <a:lumOff val="50000"/>
                    </a:schemeClr>
                  </a:solidFill>
                  <a:latin typeface="Verdana" panose="020B0604030504040204" pitchFamily="34" charset="0"/>
                  <a:ea typeface="Verdana" panose="020B0604030504040204" pitchFamily="34" charset="0"/>
                </a:rPr>
                <a:t>Hybride Zorg en </a:t>
              </a:r>
              <a:r>
                <a:rPr lang="nl-NL" sz="1400" err="1">
                  <a:solidFill>
                    <a:schemeClr val="tx1">
                      <a:lumMod val="50000"/>
                      <a:lumOff val="50000"/>
                    </a:schemeClr>
                  </a:solidFill>
                  <a:latin typeface="Verdana" panose="020B0604030504040204" pitchFamily="34" charset="0"/>
                  <a:ea typeface="Verdana" panose="020B0604030504040204" pitchFamily="34" charset="0"/>
                </a:rPr>
                <a:t>Telemonitoring</a:t>
              </a:r>
              <a:r>
                <a:rPr lang="nl-NL" sz="1400">
                  <a:solidFill>
                    <a:schemeClr val="tx1">
                      <a:lumMod val="50000"/>
                      <a:lumOff val="50000"/>
                    </a:schemeClr>
                  </a:solidFill>
                  <a:latin typeface="Verdana" panose="020B0604030504040204" pitchFamily="34" charset="0"/>
                  <a:ea typeface="Verdana" panose="020B0604030504040204" pitchFamily="34" charset="0"/>
                </a:rPr>
                <a:t> </a:t>
              </a:r>
              <a:r>
                <a:rPr lang="nl-NL" sz="1100" i="1">
                  <a:solidFill>
                    <a:schemeClr val="tx1">
                      <a:lumMod val="50000"/>
                      <a:lumOff val="50000"/>
                    </a:schemeClr>
                  </a:solidFill>
                  <a:latin typeface="Verdana" panose="020B0604030504040204" pitchFamily="34" charset="0"/>
                  <a:ea typeface="Verdana" panose="020B0604030504040204" pitchFamily="34" charset="0"/>
                </a:rPr>
                <a:t>(volgt uit de separate aanvraag Regionaal Medisch Service Centrum (RMSC))</a:t>
              </a:r>
              <a:endParaRPr lang="nl-NL" sz="1200" i="1">
                <a:solidFill>
                  <a:schemeClr val="tx1">
                    <a:lumMod val="50000"/>
                    <a:lumOff val="50000"/>
                  </a:schemeClr>
                </a:solidFill>
                <a:latin typeface="Verdana" panose="020B0604030504040204" pitchFamily="34" charset="0"/>
                <a:ea typeface="Verdana" panose="020B0604030504040204" pitchFamily="34" charset="0"/>
              </a:endParaRPr>
            </a:p>
          </p:txBody>
        </p:sp>
        <p:sp>
          <p:nvSpPr>
            <p:cNvPr id="22" name="Rectangle 29">
              <a:extLst>
                <a:ext uri="{FF2B5EF4-FFF2-40B4-BE49-F238E27FC236}">
                  <a16:creationId xmlns:a16="http://schemas.microsoft.com/office/drawing/2014/main" id="{2D5DCC84-1235-B479-DA28-736C8C93429E}"/>
                </a:ext>
              </a:extLst>
            </p:cNvPr>
            <p:cNvSpPr/>
            <p:nvPr/>
          </p:nvSpPr>
          <p:spPr>
            <a:xfrm>
              <a:off x="1033126" y="4618063"/>
              <a:ext cx="3306852" cy="579369"/>
            </a:xfrm>
            <a:prstGeom prst="rect">
              <a:avLst/>
            </a:prstGeom>
            <a:solidFill>
              <a:srgbClr val="B9B9B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solidFill>
                    <a:schemeClr val="tx1"/>
                  </a:solidFill>
                  <a:latin typeface="Verdana" panose="020B0604030504040204" pitchFamily="34" charset="0"/>
                  <a:ea typeface="Verdana" panose="020B0604030504040204" pitchFamily="34" charset="0"/>
                </a:rPr>
                <a:t>Duurzame regionale data- &amp; applicatiearchitectuur</a:t>
              </a:r>
            </a:p>
          </p:txBody>
        </p:sp>
        <p:sp>
          <p:nvSpPr>
            <p:cNvPr id="23" name="Rectangle 29">
              <a:extLst>
                <a:ext uri="{FF2B5EF4-FFF2-40B4-BE49-F238E27FC236}">
                  <a16:creationId xmlns:a16="http://schemas.microsoft.com/office/drawing/2014/main" id="{CB104B55-0C46-83B8-35F6-F7A0104F2DBD}"/>
                </a:ext>
              </a:extLst>
            </p:cNvPr>
            <p:cNvSpPr/>
            <p:nvPr/>
          </p:nvSpPr>
          <p:spPr>
            <a:xfrm>
              <a:off x="4519340" y="4618063"/>
              <a:ext cx="3306852" cy="579369"/>
            </a:xfrm>
            <a:prstGeom prst="rect">
              <a:avLst/>
            </a:prstGeom>
            <a:solidFill>
              <a:srgbClr val="B9B9B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solidFill>
                    <a:schemeClr val="tx1"/>
                  </a:solidFill>
                  <a:latin typeface="Verdana" panose="020B0604030504040204" pitchFamily="34" charset="0"/>
                  <a:ea typeface="Verdana" panose="020B0604030504040204" pitchFamily="34" charset="0"/>
                </a:rPr>
                <a:t>Basis op orde</a:t>
              </a:r>
            </a:p>
          </p:txBody>
        </p:sp>
        <p:sp>
          <p:nvSpPr>
            <p:cNvPr id="24" name="Rectangle 29">
              <a:extLst>
                <a:ext uri="{FF2B5EF4-FFF2-40B4-BE49-F238E27FC236}">
                  <a16:creationId xmlns:a16="http://schemas.microsoft.com/office/drawing/2014/main" id="{F9F66CBE-7D20-39E0-957A-6C05D52F382B}"/>
                </a:ext>
              </a:extLst>
            </p:cNvPr>
            <p:cNvSpPr/>
            <p:nvPr/>
          </p:nvSpPr>
          <p:spPr>
            <a:xfrm>
              <a:off x="8005553" y="4618063"/>
              <a:ext cx="3306852" cy="579369"/>
            </a:xfrm>
            <a:prstGeom prst="rect">
              <a:avLst/>
            </a:prstGeom>
            <a:solidFill>
              <a:srgbClr val="B9B9B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a:solidFill>
                    <a:schemeClr val="tx1"/>
                  </a:solidFill>
                  <a:latin typeface="Verdana" panose="020B0604030504040204" pitchFamily="34" charset="0"/>
                  <a:ea typeface="Verdana" panose="020B0604030504040204" pitchFamily="34" charset="0"/>
                </a:rPr>
                <a:t>Netwerkzorg</a:t>
              </a:r>
            </a:p>
          </p:txBody>
        </p:sp>
        <p:sp>
          <p:nvSpPr>
            <p:cNvPr id="25" name="Rectangle: Single Corner Snipped 17">
              <a:extLst>
                <a:ext uri="{FF2B5EF4-FFF2-40B4-BE49-F238E27FC236}">
                  <a16:creationId xmlns:a16="http://schemas.microsoft.com/office/drawing/2014/main" id="{875C0B9C-7FFA-F75B-65AD-CEEAD7A3B026}"/>
                </a:ext>
              </a:extLst>
            </p:cNvPr>
            <p:cNvSpPr/>
            <p:nvPr/>
          </p:nvSpPr>
          <p:spPr>
            <a:xfrm>
              <a:off x="1020732" y="2720911"/>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a:t>1</a:t>
              </a:r>
              <a:endParaRPr lang="en-NL" b="1"/>
            </a:p>
          </p:txBody>
        </p:sp>
        <p:sp>
          <p:nvSpPr>
            <p:cNvPr id="26" name="Rectangle: Single Corner Snipped 18">
              <a:extLst>
                <a:ext uri="{FF2B5EF4-FFF2-40B4-BE49-F238E27FC236}">
                  <a16:creationId xmlns:a16="http://schemas.microsoft.com/office/drawing/2014/main" id="{847D9601-4017-4B35-D778-BE6372B89FA5}"/>
                </a:ext>
              </a:extLst>
            </p:cNvPr>
            <p:cNvSpPr/>
            <p:nvPr/>
          </p:nvSpPr>
          <p:spPr>
            <a:xfrm>
              <a:off x="4609793" y="2705533"/>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a:t>2</a:t>
              </a:r>
              <a:endParaRPr lang="en-NL" b="1"/>
            </a:p>
          </p:txBody>
        </p:sp>
        <p:sp>
          <p:nvSpPr>
            <p:cNvPr id="27" name="Rectangle: Single Corner Snipped 19">
              <a:extLst>
                <a:ext uri="{FF2B5EF4-FFF2-40B4-BE49-F238E27FC236}">
                  <a16:creationId xmlns:a16="http://schemas.microsoft.com/office/drawing/2014/main" id="{B4CD29D0-883B-F87B-1874-6F98F9D9828C}"/>
                </a:ext>
              </a:extLst>
            </p:cNvPr>
            <p:cNvSpPr/>
            <p:nvPr/>
          </p:nvSpPr>
          <p:spPr>
            <a:xfrm>
              <a:off x="8193342" y="2720911"/>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a:t>3</a:t>
              </a:r>
              <a:endParaRPr lang="en-NL" b="1"/>
            </a:p>
          </p:txBody>
        </p:sp>
        <p:sp>
          <p:nvSpPr>
            <p:cNvPr id="28" name="Rectangle 33">
              <a:extLst>
                <a:ext uri="{FF2B5EF4-FFF2-40B4-BE49-F238E27FC236}">
                  <a16:creationId xmlns:a16="http://schemas.microsoft.com/office/drawing/2014/main" id="{16A7DC3A-175B-0DB3-74F7-95BBCDF15593}"/>
                </a:ext>
              </a:extLst>
            </p:cNvPr>
            <p:cNvSpPr txBox="1">
              <a:spLocks/>
            </p:cNvSpPr>
            <p:nvPr/>
          </p:nvSpPr>
          <p:spPr>
            <a:xfrm>
              <a:off x="1020732" y="5284086"/>
              <a:ext cx="10291673" cy="857287"/>
            </a:xfrm>
            <a:prstGeom prst="rect">
              <a:avLst/>
            </a:prstGeom>
            <a:solidFill>
              <a:srgbClr val="0E9D90">
                <a:alpha val="90000"/>
              </a:srgbClr>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fontScale="92500"/>
            </a:bodyPr>
            <a:lstStyle>
              <a:defPPr>
                <a:defRPr lang="nl-N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NL" sz="1400">
                  <a:solidFill>
                    <a:schemeClr val="bg1"/>
                  </a:solidFill>
                  <a:latin typeface="Verdana"/>
                  <a:ea typeface="Verdana"/>
                </a:rPr>
                <a:t>Voor het fundament wordt gebruik gemaakt van bestaande en reeds ingezette ontwikkelingen ‘</a:t>
              </a:r>
              <a:r>
                <a:rPr lang="nl-NL" sz="1400" err="1">
                  <a:solidFill>
                    <a:schemeClr val="bg1"/>
                  </a:solidFill>
                  <a:latin typeface="Verdana"/>
                  <a:ea typeface="Verdana"/>
                </a:rPr>
                <a:t>proudly</a:t>
              </a:r>
              <a:r>
                <a:rPr lang="nl-NL" sz="1400">
                  <a:solidFill>
                    <a:schemeClr val="bg1"/>
                  </a:solidFill>
                  <a:latin typeface="Verdana"/>
                  <a:ea typeface="Verdana"/>
                </a:rPr>
                <a:t> </a:t>
              </a:r>
              <a:r>
                <a:rPr lang="nl-NL" sz="1400" err="1">
                  <a:solidFill>
                    <a:schemeClr val="bg1"/>
                  </a:solidFill>
                  <a:latin typeface="Verdana"/>
                  <a:ea typeface="Verdana"/>
                </a:rPr>
                <a:t>copied</a:t>
              </a:r>
              <a:r>
                <a:rPr lang="nl-NL" sz="1400">
                  <a:solidFill>
                    <a:schemeClr val="bg1"/>
                  </a:solidFill>
                  <a:latin typeface="Verdana"/>
                  <a:ea typeface="Verdana"/>
                </a:rPr>
                <a:t>’, zoals de ontsluiting via een </a:t>
              </a:r>
              <a:r>
                <a:rPr lang="nl-NL" sz="1400" b="1">
                  <a:solidFill>
                    <a:schemeClr val="bg1"/>
                  </a:solidFill>
                  <a:latin typeface="Verdana"/>
                  <a:ea typeface="Verdana"/>
                </a:rPr>
                <a:t>zorgnetwerkomgeving</a:t>
              </a:r>
              <a:r>
                <a:rPr lang="nl-NL" sz="1400">
                  <a:solidFill>
                    <a:schemeClr val="bg1"/>
                  </a:solidFill>
                  <a:latin typeface="Verdana"/>
                  <a:ea typeface="Verdana"/>
                </a:rPr>
                <a:t> (verkennen inzet </a:t>
              </a:r>
              <a:r>
                <a:rPr lang="nl-NL" sz="1400" b="1" err="1">
                  <a:solidFill>
                    <a:schemeClr val="bg1"/>
                  </a:solidFill>
                  <a:latin typeface="Verdana"/>
                  <a:ea typeface="Verdana"/>
                </a:rPr>
                <a:t>Digizorg</a:t>
              </a:r>
              <a:r>
                <a:rPr lang="nl-NL" sz="1400" b="1">
                  <a:solidFill>
                    <a:schemeClr val="bg1"/>
                  </a:solidFill>
                  <a:latin typeface="Verdana"/>
                  <a:ea typeface="Verdana"/>
                </a:rPr>
                <a:t> 2.0 </a:t>
              </a:r>
              <a:r>
                <a:rPr lang="nl-NL" sz="1400">
                  <a:solidFill>
                    <a:schemeClr val="bg1"/>
                  </a:solidFill>
                  <a:latin typeface="Verdana"/>
                  <a:ea typeface="Verdana"/>
                </a:rPr>
                <a:t>voor inwoners/ patiënten en een </a:t>
              </a:r>
            </a:p>
            <a:p>
              <a:pPr algn="ctr"/>
              <a:r>
                <a:rPr lang="nl-NL" sz="1400" b="1">
                  <a:solidFill>
                    <a:schemeClr val="bg1"/>
                  </a:solidFill>
                  <a:latin typeface="Verdana"/>
                  <a:ea typeface="Verdana"/>
                </a:rPr>
                <a:t>zorgviewer  </a:t>
              </a:r>
              <a:r>
                <a:rPr lang="nl-NL" sz="1400">
                  <a:solidFill>
                    <a:schemeClr val="bg1"/>
                  </a:solidFill>
                  <a:latin typeface="Verdana"/>
                  <a:ea typeface="Verdana"/>
                </a:rPr>
                <a:t>voor professionals), </a:t>
              </a:r>
              <a:r>
                <a:rPr lang="nl-NL" sz="1400" b="1" err="1">
                  <a:solidFill>
                    <a:schemeClr val="bg1"/>
                  </a:solidFill>
                  <a:latin typeface="Verdana"/>
                  <a:ea typeface="Verdana"/>
                </a:rPr>
                <a:t>CumuluZ</a:t>
              </a:r>
              <a:r>
                <a:rPr lang="nl-NL" sz="1400">
                  <a:solidFill>
                    <a:schemeClr val="bg1"/>
                  </a:solidFill>
                  <a:latin typeface="Verdana"/>
                  <a:ea typeface="Verdana"/>
                </a:rPr>
                <a:t> Architectuur en </a:t>
              </a:r>
              <a:r>
                <a:rPr lang="nl-NL" sz="1400" b="1">
                  <a:solidFill>
                    <a:schemeClr val="bg1"/>
                  </a:solidFill>
                  <a:latin typeface="Verdana"/>
                  <a:ea typeface="Verdana"/>
                </a:rPr>
                <a:t>Zorg bij jou</a:t>
              </a:r>
              <a:r>
                <a:rPr lang="nl-NL" sz="1400">
                  <a:solidFill>
                    <a:schemeClr val="bg1"/>
                  </a:solidFill>
                  <a:latin typeface="Verdana"/>
                  <a:ea typeface="Verdana"/>
                </a:rPr>
                <a:t>.</a:t>
              </a:r>
              <a:endParaRPr lang="en-US">
                <a:solidFill>
                  <a:schemeClr val="bg1"/>
                </a:solidFill>
                <a:ea typeface="Calibri"/>
                <a:cs typeface="Calibri"/>
              </a:endParaRPr>
            </a:p>
          </p:txBody>
        </p:sp>
      </p:grpSp>
      <p:sp>
        <p:nvSpPr>
          <p:cNvPr id="2" name="Slide Number Placeholder 64">
            <a:extLst>
              <a:ext uri="{FF2B5EF4-FFF2-40B4-BE49-F238E27FC236}">
                <a16:creationId xmlns:a16="http://schemas.microsoft.com/office/drawing/2014/main" id="{8655E416-1835-66EF-A01D-D7BF8C589389}"/>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21</a:t>
            </a:fld>
            <a:endParaRPr lang="nl-NL" sz="900"/>
          </a:p>
        </p:txBody>
      </p:sp>
      <p:sp>
        <p:nvSpPr>
          <p:cNvPr id="3" name="Rectangle: Top Corners Rounded 38">
            <a:hlinkClick r:id="rId3" action="ppaction://hlinksldjump"/>
            <a:extLst>
              <a:ext uri="{FF2B5EF4-FFF2-40B4-BE49-F238E27FC236}">
                <a16:creationId xmlns:a16="http://schemas.microsoft.com/office/drawing/2014/main" id="{199D477A-00E6-F427-1D2D-1D085BEA8357}"/>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5" name="Graphic 4" descr="Introductiepagina silhouet">
            <a:hlinkClick r:id="rId4" action="ppaction://hlinksldjump"/>
            <a:extLst>
              <a:ext uri="{FF2B5EF4-FFF2-40B4-BE49-F238E27FC236}">
                <a16:creationId xmlns:a16="http://schemas.microsoft.com/office/drawing/2014/main" id="{E5B173A8-071B-15CB-2869-3D770D4F9C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6" name="Rectangle: Top Corners Rounded 1">
            <a:hlinkClick r:id="rId7" action="ppaction://hlinksldjump"/>
            <a:extLst>
              <a:ext uri="{FF2B5EF4-FFF2-40B4-BE49-F238E27FC236}">
                <a16:creationId xmlns:a16="http://schemas.microsoft.com/office/drawing/2014/main" id="{770E6B09-D8F2-4249-B98F-EA0C601CE93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8" action="ppaction://hlinksldjump"/>
            <a:extLst>
              <a:ext uri="{FF2B5EF4-FFF2-40B4-BE49-F238E27FC236}">
                <a16:creationId xmlns:a16="http://schemas.microsoft.com/office/drawing/2014/main" id="{288ED559-734E-518B-5E0D-CAA3F017473E}"/>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8" name="Rectangle: Top Corners Rounded 1">
            <a:hlinkClick r:id="rId9" action="ppaction://hlinksldjump"/>
            <a:extLst>
              <a:ext uri="{FF2B5EF4-FFF2-40B4-BE49-F238E27FC236}">
                <a16:creationId xmlns:a16="http://schemas.microsoft.com/office/drawing/2014/main" id="{749FDC11-7F11-7D23-0A09-0A057255E62F}"/>
              </a:ext>
            </a:extLst>
          </p:cNvPr>
          <p:cNvSpPr/>
          <p:nvPr/>
        </p:nvSpPr>
        <p:spPr>
          <a:xfrm>
            <a:off x="304215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Veranderopgaven en verwachte impact</a:t>
            </a:r>
          </a:p>
        </p:txBody>
      </p:sp>
      <p:sp>
        <p:nvSpPr>
          <p:cNvPr id="9" name="Rectangle: Top Corners Rounded 1">
            <a:hlinkClick r:id="rId10" action="ppaction://hlinksldjump"/>
            <a:extLst>
              <a:ext uri="{FF2B5EF4-FFF2-40B4-BE49-F238E27FC236}">
                <a16:creationId xmlns:a16="http://schemas.microsoft.com/office/drawing/2014/main" id="{E6ED5B0E-DE1E-08EE-FB18-483B0D7051B7}"/>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0" name="Rectangle: Top Corners Rounded 1">
            <a:hlinkClick r:id="rId11" action="ppaction://hlinksldjump"/>
            <a:extLst>
              <a:ext uri="{FF2B5EF4-FFF2-40B4-BE49-F238E27FC236}">
                <a16:creationId xmlns:a16="http://schemas.microsoft.com/office/drawing/2014/main" id="{CB0CD226-80B5-65B2-3D99-7A1204C4EB0B}"/>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1" name="Rectangle: Top Corners Rounded 1">
            <a:hlinkClick r:id="rId12" action="ppaction://hlinksldjump"/>
            <a:extLst>
              <a:ext uri="{FF2B5EF4-FFF2-40B4-BE49-F238E27FC236}">
                <a16:creationId xmlns:a16="http://schemas.microsoft.com/office/drawing/2014/main" id="{BF8F3C1C-4BEF-B01E-AE1C-55F40632BF76}"/>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2" name="Rectangle: Top Corners Rounded 1">
            <a:hlinkClick r:id="rId13" action="ppaction://hlinksldjump"/>
            <a:extLst>
              <a:ext uri="{FF2B5EF4-FFF2-40B4-BE49-F238E27FC236}">
                <a16:creationId xmlns:a16="http://schemas.microsoft.com/office/drawing/2014/main" id="{7A13125A-164F-E94D-1F22-A467A67FD1C3}"/>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3" name="Rectangle: Top Corners Rounded 1">
            <a:hlinkClick r:id="rId14" action="ppaction://hlinksldjump"/>
            <a:extLst>
              <a:ext uri="{FF2B5EF4-FFF2-40B4-BE49-F238E27FC236}">
                <a16:creationId xmlns:a16="http://schemas.microsoft.com/office/drawing/2014/main" id="{544579BC-674E-4335-D1BB-0009102E69ED}"/>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4" name="Rectangle: Top Corners Rounded 1">
            <a:hlinkClick r:id="rId15" action="ppaction://hlinksldjump"/>
            <a:extLst>
              <a:ext uri="{FF2B5EF4-FFF2-40B4-BE49-F238E27FC236}">
                <a16:creationId xmlns:a16="http://schemas.microsoft.com/office/drawing/2014/main" id="{853CF3A8-13AA-195A-6518-388E530D7E2D}"/>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6" name="Rectangle: Top Corners Rounded 1">
            <a:hlinkClick r:id="rId16" action="ppaction://hlinksldjump"/>
            <a:extLst>
              <a:ext uri="{FF2B5EF4-FFF2-40B4-BE49-F238E27FC236}">
                <a16:creationId xmlns:a16="http://schemas.microsoft.com/office/drawing/2014/main" id="{D969725A-DD86-BFDF-F008-30792DC52225}"/>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9" name="Rectangle: Top Corners Rounded 1">
            <a:hlinkClick r:id="rId17" action="ppaction://hlinksldjump"/>
            <a:extLst>
              <a:ext uri="{FF2B5EF4-FFF2-40B4-BE49-F238E27FC236}">
                <a16:creationId xmlns:a16="http://schemas.microsoft.com/office/drawing/2014/main" id="{5D66AD8C-0337-360E-F334-ECF2C769D2D1}"/>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54963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9">
            <a:extLst>
              <a:ext uri="{FF2B5EF4-FFF2-40B4-BE49-F238E27FC236}">
                <a16:creationId xmlns:a16="http://schemas.microsoft.com/office/drawing/2014/main" id="{2B29DFA1-C8D7-DFFF-6913-A7CBA3B0730B}"/>
              </a:ext>
            </a:extLst>
          </p:cNvPr>
          <p:cNvSpPr/>
          <p:nvPr/>
        </p:nvSpPr>
        <p:spPr>
          <a:xfrm>
            <a:off x="788987" y="2921990"/>
            <a:ext cx="5170352" cy="792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sz="1200" b="1">
                <a:solidFill>
                  <a:schemeClr val="tx1"/>
                </a:solidFill>
                <a:latin typeface="Verdana"/>
                <a:ea typeface="Verdana"/>
              </a:rPr>
              <a:t>Thema 1.0</a:t>
            </a:r>
          </a:p>
          <a:p>
            <a:pPr algn="ctr"/>
            <a:r>
              <a:rPr lang="nl-NL" sz="1200">
                <a:solidFill>
                  <a:schemeClr val="tx1"/>
                </a:solidFill>
                <a:latin typeface="Verdana"/>
                <a:ea typeface="Verdana"/>
              </a:rPr>
              <a:t>Digitale (zorg)communicatie met inwoners en patiënten, en professionals onderling ter ondersteuning van netwerkzorg</a:t>
            </a:r>
          </a:p>
        </p:txBody>
      </p:sp>
      <p:sp>
        <p:nvSpPr>
          <p:cNvPr id="14" name="Rectangle 30">
            <a:extLst>
              <a:ext uri="{FF2B5EF4-FFF2-40B4-BE49-F238E27FC236}">
                <a16:creationId xmlns:a16="http://schemas.microsoft.com/office/drawing/2014/main" id="{126DDA68-0514-31CC-3C35-1C70CF74DEBB}"/>
              </a:ext>
            </a:extLst>
          </p:cNvPr>
          <p:cNvSpPr/>
          <p:nvPr/>
        </p:nvSpPr>
        <p:spPr>
          <a:xfrm>
            <a:off x="6110941" y="2918575"/>
            <a:ext cx="5170352" cy="792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b="1">
                <a:solidFill>
                  <a:schemeClr val="tx1"/>
                </a:solidFill>
                <a:latin typeface="Verdana" panose="020B0604030504040204" pitchFamily="34" charset="0"/>
                <a:ea typeface="Verdana" panose="020B0604030504040204" pitchFamily="34" charset="0"/>
              </a:rPr>
              <a:t>Thema 2.0</a:t>
            </a:r>
            <a:r>
              <a:rPr lang="nl-NL" sz="1200">
                <a:solidFill>
                  <a:schemeClr val="tx1"/>
                </a:solidFill>
                <a:latin typeface="Verdana" panose="020B0604030504040204" pitchFamily="34" charset="0"/>
                <a:ea typeface="Verdana" panose="020B0604030504040204" pitchFamily="34" charset="0"/>
              </a:rPr>
              <a:t> </a:t>
            </a:r>
          </a:p>
          <a:p>
            <a:pPr algn="ctr"/>
            <a:r>
              <a:rPr lang="nl-NL" sz="1200">
                <a:solidFill>
                  <a:schemeClr val="tx1"/>
                </a:solidFill>
                <a:latin typeface="Verdana" panose="020B0604030504040204" pitchFamily="34" charset="0"/>
                <a:ea typeface="Verdana" panose="020B0604030504040204" pitchFamily="34" charset="0"/>
              </a:rPr>
              <a:t>Dossier Inzage en Digitale Overdracht van (Acute) Zorg</a:t>
            </a:r>
          </a:p>
        </p:txBody>
      </p:sp>
      <p:sp>
        <p:nvSpPr>
          <p:cNvPr id="20" name="Rectangle: Single Corner Snipped 17">
            <a:extLst>
              <a:ext uri="{FF2B5EF4-FFF2-40B4-BE49-F238E27FC236}">
                <a16:creationId xmlns:a16="http://schemas.microsoft.com/office/drawing/2014/main" id="{8F006376-E1BB-D94A-C445-7B677AD8A8A9}"/>
              </a:ext>
            </a:extLst>
          </p:cNvPr>
          <p:cNvSpPr/>
          <p:nvPr/>
        </p:nvSpPr>
        <p:spPr>
          <a:xfrm>
            <a:off x="884071" y="2833298"/>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a:t>1</a:t>
            </a:r>
            <a:endParaRPr lang="en-NL" b="1"/>
          </a:p>
        </p:txBody>
      </p:sp>
      <p:sp>
        <p:nvSpPr>
          <p:cNvPr id="21" name="Rectangle: Single Corner Snipped 18">
            <a:extLst>
              <a:ext uri="{FF2B5EF4-FFF2-40B4-BE49-F238E27FC236}">
                <a16:creationId xmlns:a16="http://schemas.microsoft.com/office/drawing/2014/main" id="{59B78573-380F-627D-2D1D-479B7030855F}"/>
              </a:ext>
            </a:extLst>
          </p:cNvPr>
          <p:cNvSpPr/>
          <p:nvPr/>
        </p:nvSpPr>
        <p:spPr>
          <a:xfrm>
            <a:off x="6203673" y="2833298"/>
            <a:ext cx="432000" cy="343162"/>
          </a:xfrm>
          <a:prstGeom prst="snip1Rect">
            <a:avLst/>
          </a:prstGeom>
          <a:solidFill>
            <a:srgbClr val="0E9D90"/>
          </a:solidFill>
          <a:ln>
            <a:solidFill>
              <a:srgbClr val="7581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a:t>2</a:t>
            </a:r>
            <a:endParaRPr lang="en-NL" b="1"/>
          </a:p>
        </p:txBody>
      </p:sp>
      <p:sp>
        <p:nvSpPr>
          <p:cNvPr id="24" name="Rectangle 29">
            <a:extLst>
              <a:ext uri="{FF2B5EF4-FFF2-40B4-BE49-F238E27FC236}">
                <a16:creationId xmlns:a16="http://schemas.microsoft.com/office/drawing/2014/main" id="{C91586D1-9633-EC48-7A5B-31244590FE46}"/>
              </a:ext>
            </a:extLst>
          </p:cNvPr>
          <p:cNvSpPr/>
          <p:nvPr/>
        </p:nvSpPr>
        <p:spPr>
          <a:xfrm>
            <a:off x="788987" y="3791897"/>
            <a:ext cx="5184000"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1.1 Meedenkconsult</a:t>
            </a:r>
          </a:p>
          <a:p>
            <a:pPr algn="ctr"/>
            <a:r>
              <a:rPr lang="nl-NL" sz="1000">
                <a:solidFill>
                  <a:schemeClr val="tx1"/>
                </a:solidFill>
                <a:latin typeface="Verdana" panose="020B0604030504040204" pitchFamily="34" charset="0"/>
                <a:ea typeface="Verdana" panose="020B0604030504040204" pitchFamily="34" charset="0"/>
              </a:rPr>
              <a:t>Faciliteren collegiaal overleg ter vermindering onnodig doorsturen. </a:t>
            </a:r>
            <a:endParaRPr lang="nl-NL" sz="900">
              <a:solidFill>
                <a:schemeClr val="tx1"/>
              </a:solidFill>
              <a:latin typeface="Verdana" panose="020B0604030504040204" pitchFamily="34" charset="0"/>
              <a:ea typeface="Verdana" panose="020B0604030504040204" pitchFamily="34" charset="0"/>
            </a:endParaRPr>
          </a:p>
        </p:txBody>
      </p:sp>
      <p:sp>
        <p:nvSpPr>
          <p:cNvPr id="15" name="Rectangle 29">
            <a:extLst>
              <a:ext uri="{FF2B5EF4-FFF2-40B4-BE49-F238E27FC236}">
                <a16:creationId xmlns:a16="http://schemas.microsoft.com/office/drawing/2014/main" id="{6E6344F8-C597-1013-3D10-1F765943A5D1}"/>
              </a:ext>
            </a:extLst>
          </p:cNvPr>
          <p:cNvSpPr/>
          <p:nvPr/>
        </p:nvSpPr>
        <p:spPr>
          <a:xfrm>
            <a:off x="788987" y="4269219"/>
            <a:ext cx="5184000"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1.2 Digitaal verwijzen</a:t>
            </a:r>
          </a:p>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a:solidFill>
                  <a:prstClr val="black"/>
                </a:solidFill>
                <a:latin typeface="Verdana" panose="020B0604030504040204" pitchFamily="34" charset="0"/>
                <a:ea typeface="Verdana" panose="020B0604030504040204" pitchFamily="34" charset="0"/>
              </a:rPr>
              <a:t>Digitale transmurale verwijzing en dossier informatie bij overdracht. </a:t>
            </a:r>
            <a:endParaRPr lang="nl-NL" sz="1100" b="1">
              <a:solidFill>
                <a:schemeClr val="tx1"/>
              </a:solidFill>
              <a:latin typeface="Verdana" panose="020B0604030504040204" pitchFamily="34" charset="0"/>
              <a:ea typeface="Verdana" panose="020B0604030504040204" pitchFamily="34" charset="0"/>
            </a:endParaRPr>
          </a:p>
        </p:txBody>
      </p:sp>
      <p:sp>
        <p:nvSpPr>
          <p:cNvPr id="17" name="Rectangle 29">
            <a:extLst>
              <a:ext uri="{FF2B5EF4-FFF2-40B4-BE49-F238E27FC236}">
                <a16:creationId xmlns:a16="http://schemas.microsoft.com/office/drawing/2014/main" id="{1CDD5274-66A6-2AA6-9D04-8FADF277467E}"/>
              </a:ext>
            </a:extLst>
          </p:cNvPr>
          <p:cNvSpPr/>
          <p:nvPr/>
        </p:nvSpPr>
        <p:spPr>
          <a:xfrm>
            <a:off x="788987" y="4746541"/>
            <a:ext cx="5184000"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50" b="1">
                <a:solidFill>
                  <a:schemeClr val="tx1"/>
                </a:solidFill>
                <a:latin typeface="Verdana" panose="020B0604030504040204" pitchFamily="34" charset="0"/>
                <a:ea typeface="Verdana" panose="020B0604030504040204" pitchFamily="34" charset="0"/>
              </a:rPr>
              <a:t>1.3 Tweewegcommunicatie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Zorgnetwerkomgeving gebruikt door inwoner en zorgprofessionals.  </a:t>
            </a:r>
            <a:endParaRPr lang="nl-NL" sz="1100" b="1">
              <a:solidFill>
                <a:schemeClr val="tx1"/>
              </a:solidFill>
              <a:latin typeface="Verdana" panose="020B0604030504040204" pitchFamily="34" charset="0"/>
              <a:ea typeface="Verdana" panose="020B0604030504040204" pitchFamily="34" charset="0"/>
            </a:endParaRPr>
          </a:p>
        </p:txBody>
      </p:sp>
      <p:sp>
        <p:nvSpPr>
          <p:cNvPr id="25" name="Rectangle 29">
            <a:extLst>
              <a:ext uri="{FF2B5EF4-FFF2-40B4-BE49-F238E27FC236}">
                <a16:creationId xmlns:a16="http://schemas.microsoft.com/office/drawing/2014/main" id="{7509C3EF-1847-545E-6B22-9184D5BF0E16}"/>
              </a:ext>
            </a:extLst>
          </p:cNvPr>
          <p:cNvSpPr/>
          <p:nvPr/>
        </p:nvSpPr>
        <p:spPr>
          <a:xfrm>
            <a:off x="6110941" y="3791897"/>
            <a:ext cx="5170352"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2.1 </a:t>
            </a:r>
            <a:r>
              <a:rPr lang="nl-NL" sz="1050" b="1" err="1">
                <a:solidFill>
                  <a:schemeClr val="tx1"/>
                </a:solidFill>
                <a:latin typeface="Verdana" panose="020B0604030504040204" pitchFamily="34" charset="0"/>
                <a:ea typeface="Verdana" panose="020B0604030504040204" pitchFamily="34" charset="0"/>
              </a:rPr>
              <a:t>Basisgegevensset</a:t>
            </a:r>
            <a:r>
              <a:rPr lang="nl-NL" sz="1050" b="1">
                <a:solidFill>
                  <a:schemeClr val="tx1"/>
                </a:solidFill>
                <a:latin typeface="Verdana" panose="020B0604030504040204" pitchFamily="34" charset="0"/>
                <a:ea typeface="Verdana" panose="020B0604030504040204" pitchFamily="34" charset="0"/>
              </a:rPr>
              <a:t> Zorg Medisch Specialistische Zorg </a:t>
            </a:r>
          </a:p>
          <a:p>
            <a:pPr algn="ctr"/>
            <a:r>
              <a:rPr lang="nl-NL" sz="1000">
                <a:solidFill>
                  <a:schemeClr val="tx1"/>
                </a:solidFill>
                <a:latin typeface="Verdana" panose="020B0604030504040204" pitchFamily="34" charset="0"/>
                <a:ea typeface="Verdana" panose="020B0604030504040204" pitchFamily="34" charset="0"/>
              </a:rPr>
              <a:t>Realiseren van de </a:t>
            </a:r>
            <a:r>
              <a:rPr lang="nl-NL" sz="1000" err="1">
                <a:solidFill>
                  <a:schemeClr val="tx1"/>
                </a:solidFill>
                <a:latin typeface="Verdana" panose="020B0604030504040204" pitchFamily="34" charset="0"/>
                <a:ea typeface="Verdana" panose="020B0604030504040204" pitchFamily="34" charset="0"/>
              </a:rPr>
              <a:t>BgZ</a:t>
            </a:r>
            <a:r>
              <a:rPr lang="nl-NL" sz="1000">
                <a:solidFill>
                  <a:schemeClr val="tx1"/>
                </a:solidFill>
                <a:latin typeface="Verdana" panose="020B0604030504040204" pitchFamily="34" charset="0"/>
                <a:ea typeface="Verdana" panose="020B0604030504040204" pitchFamily="34" charset="0"/>
              </a:rPr>
              <a:t> gegevensuitwisseling voor MSZ.</a:t>
            </a:r>
            <a:endParaRPr lang="nl-NL" sz="900">
              <a:solidFill>
                <a:schemeClr val="tx1"/>
              </a:solidFill>
              <a:latin typeface="Verdana" panose="020B0604030504040204" pitchFamily="34" charset="0"/>
              <a:ea typeface="Verdana" panose="020B0604030504040204" pitchFamily="34" charset="0"/>
            </a:endParaRPr>
          </a:p>
        </p:txBody>
      </p:sp>
      <p:sp>
        <p:nvSpPr>
          <p:cNvPr id="26" name="Rectangle 29">
            <a:extLst>
              <a:ext uri="{FF2B5EF4-FFF2-40B4-BE49-F238E27FC236}">
                <a16:creationId xmlns:a16="http://schemas.microsoft.com/office/drawing/2014/main" id="{2F6C916C-4343-5D42-BD62-9E2A2C5633C5}"/>
              </a:ext>
            </a:extLst>
          </p:cNvPr>
          <p:cNvSpPr/>
          <p:nvPr/>
        </p:nvSpPr>
        <p:spPr>
          <a:xfrm>
            <a:off x="6110941" y="4269219"/>
            <a:ext cx="5170352"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sz="1050" b="1">
                <a:solidFill>
                  <a:schemeClr val="tx1"/>
                </a:solidFill>
                <a:latin typeface="Verdana"/>
                <a:ea typeface="Verdana"/>
              </a:rPr>
              <a:t>2.2 Medicatieoverdracht</a:t>
            </a:r>
            <a:endParaRPr lang="nl-NL" sz="1050" b="1">
              <a:solidFill>
                <a:schemeClr val="tx1"/>
              </a:solidFill>
              <a:latin typeface="Verdana" panose="020B0604030504040204" pitchFamily="34" charset="0"/>
              <a:ea typeface="Verdan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i="0" u="none" strike="noStrike" kern="1200" cap="none" spc="0" normalizeH="0" baseline="0" noProof="0">
                <a:ln>
                  <a:noFill/>
                </a:ln>
                <a:solidFill>
                  <a:prstClr val="black"/>
                </a:solidFill>
                <a:effectLst/>
                <a:uLnTx/>
                <a:uFillTx/>
                <a:latin typeface="Verdana"/>
                <a:ea typeface="Verdana"/>
              </a:rPr>
              <a:t>Realiseren van medicatie</a:t>
            </a:r>
            <a:r>
              <a:rPr lang="nl-NL" sz="1000">
                <a:solidFill>
                  <a:prstClr val="black"/>
                </a:solidFill>
                <a:latin typeface="Verdana"/>
                <a:ea typeface="Verdana"/>
              </a:rPr>
              <a:t>- en </a:t>
            </a:r>
            <a:r>
              <a:rPr lang="nl-NL" sz="1000" err="1">
                <a:solidFill>
                  <a:prstClr val="black"/>
                </a:solidFill>
                <a:latin typeface="Verdana"/>
                <a:ea typeface="Verdana"/>
              </a:rPr>
              <a:t>lab</a:t>
            </a:r>
            <a:r>
              <a:rPr kumimoji="0" lang="nl-NL" sz="1000" i="0" u="none" strike="noStrike" kern="1200" cap="none" spc="0" normalizeH="0" baseline="0" noProof="0" err="1">
                <a:ln>
                  <a:noFill/>
                </a:ln>
                <a:solidFill>
                  <a:prstClr val="black"/>
                </a:solidFill>
                <a:effectLst/>
                <a:uLnTx/>
                <a:uFillTx/>
                <a:latin typeface="Verdana"/>
                <a:ea typeface="Verdana"/>
              </a:rPr>
              <a:t>gegevensuitwisseling</a:t>
            </a:r>
            <a:r>
              <a:rPr kumimoji="0" lang="nl-NL" sz="1000" i="0" u="none" strike="noStrike" kern="1200" cap="none" spc="0" normalizeH="0" baseline="0" noProof="0">
                <a:ln>
                  <a:noFill/>
                </a:ln>
                <a:solidFill>
                  <a:prstClr val="black"/>
                </a:solidFill>
                <a:effectLst/>
                <a:uLnTx/>
                <a:uFillTx/>
                <a:latin typeface="Verdana"/>
                <a:ea typeface="Verdana"/>
              </a:rPr>
              <a:t>.</a:t>
            </a:r>
            <a:endParaRPr lang="nl-NL" sz="1100" b="1">
              <a:solidFill>
                <a:prstClr val="black"/>
              </a:solidFill>
              <a:latin typeface="Verdana"/>
              <a:ea typeface="Verdana"/>
            </a:endParaRPr>
          </a:p>
        </p:txBody>
      </p:sp>
      <p:sp>
        <p:nvSpPr>
          <p:cNvPr id="27" name="Rectangle 29">
            <a:extLst>
              <a:ext uri="{FF2B5EF4-FFF2-40B4-BE49-F238E27FC236}">
                <a16:creationId xmlns:a16="http://schemas.microsoft.com/office/drawing/2014/main" id="{6F071FDE-4A46-7F25-C53F-B316C2B7A885}"/>
              </a:ext>
            </a:extLst>
          </p:cNvPr>
          <p:cNvSpPr/>
          <p:nvPr/>
        </p:nvSpPr>
        <p:spPr>
          <a:xfrm>
            <a:off x="6110941" y="4746541"/>
            <a:ext cx="5170352"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50" b="1">
                <a:solidFill>
                  <a:schemeClr val="tx1"/>
                </a:solidFill>
                <a:latin typeface="Verdana" panose="020B0604030504040204" pitchFamily="34" charset="0"/>
                <a:ea typeface="Verdana" panose="020B0604030504040204" pitchFamily="34" charset="0"/>
              </a:rPr>
              <a:t>2.3 Verpleegkundige Overdracht (eOverdracht)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Realiseren van de eOverdracht gegevensuitwisseling.</a:t>
            </a:r>
          </a:p>
        </p:txBody>
      </p:sp>
      <p:sp>
        <p:nvSpPr>
          <p:cNvPr id="28" name="Rectangle 29">
            <a:extLst>
              <a:ext uri="{FF2B5EF4-FFF2-40B4-BE49-F238E27FC236}">
                <a16:creationId xmlns:a16="http://schemas.microsoft.com/office/drawing/2014/main" id="{75643427-757F-A9AA-31BF-AE55F67E178D}"/>
              </a:ext>
            </a:extLst>
          </p:cNvPr>
          <p:cNvSpPr/>
          <p:nvPr/>
        </p:nvSpPr>
        <p:spPr>
          <a:xfrm>
            <a:off x="6124810" y="5223863"/>
            <a:ext cx="5170352"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2.4 Acute zorg</a:t>
            </a:r>
          </a:p>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a:solidFill>
                  <a:prstClr val="black"/>
                </a:solidFill>
                <a:latin typeface="Verdana" panose="020B0604030504040204" pitchFamily="34" charset="0"/>
                <a:ea typeface="Verdana" panose="020B0604030504040204" pitchFamily="34" charset="0"/>
              </a:rPr>
              <a:t>Gefaseerde realisatie</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van gegevensuitwisselingen uit de richtlijn Acute Zorg. </a:t>
            </a:r>
            <a:endParaRPr lang="nl-NL" sz="1100" b="1">
              <a:solidFill>
                <a:schemeClr val="tx1"/>
              </a:solidFill>
              <a:latin typeface="Verdana" panose="020B0604030504040204" pitchFamily="34" charset="0"/>
              <a:ea typeface="Verdana" panose="020B0604030504040204" pitchFamily="34" charset="0"/>
            </a:endParaRPr>
          </a:p>
        </p:txBody>
      </p:sp>
      <p:sp>
        <p:nvSpPr>
          <p:cNvPr id="29" name="Rectangle 29">
            <a:extLst>
              <a:ext uri="{FF2B5EF4-FFF2-40B4-BE49-F238E27FC236}">
                <a16:creationId xmlns:a16="http://schemas.microsoft.com/office/drawing/2014/main" id="{0E9B2D47-2C0E-06AF-430B-D3808DDA9A95}"/>
              </a:ext>
            </a:extLst>
          </p:cNvPr>
          <p:cNvSpPr/>
          <p:nvPr/>
        </p:nvSpPr>
        <p:spPr>
          <a:xfrm>
            <a:off x="6124810" y="5701185"/>
            <a:ext cx="5170352" cy="396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50" b="1">
                <a:solidFill>
                  <a:schemeClr val="tx1"/>
                </a:solidFill>
                <a:latin typeface="Verdana"/>
                <a:ea typeface="Verdana"/>
              </a:rPr>
              <a:t>2.5 Netwerkzorg viewer voor Multidisciplinaire inzage </a:t>
            </a:r>
            <a:r>
              <a:rPr lang="nl-NL" sz="1050" baseline="30000">
                <a:solidFill>
                  <a:schemeClr val="tx1"/>
                </a:solidFill>
                <a:latin typeface="Verdana"/>
                <a:ea typeface="Verdana"/>
                <a:cs typeface="Calibri"/>
              </a:rPr>
              <a:t>1</a:t>
            </a:r>
            <a:endParaRPr lang="nl-NL" sz="1050" b="1">
              <a:solidFill>
                <a:schemeClr val="tx1"/>
              </a:solidFill>
              <a:latin typeface="Verdana"/>
              <a:ea typeface="Verdan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a:ea typeface="Verdana"/>
              </a:rPr>
              <a:t>Uitwerken randvoorwaarden, selectie en implementatie gedeelde viewer.</a:t>
            </a:r>
            <a:endParaRPr lang="nl-NL" sz="1000" b="0" i="0" u="none" strike="noStrike" kern="1200" cap="none" spc="0" normalizeH="0" baseline="0" noProof="0">
              <a:ln>
                <a:noFill/>
              </a:ln>
              <a:solidFill>
                <a:prstClr val="black"/>
              </a:solidFill>
              <a:effectLst/>
              <a:uLnTx/>
              <a:uFillTx/>
              <a:latin typeface="Verdana"/>
              <a:ea typeface="Verdana"/>
            </a:endParaRPr>
          </a:p>
        </p:txBody>
      </p:sp>
      <p:sp>
        <p:nvSpPr>
          <p:cNvPr id="7" name="Rectangle 33">
            <a:extLst>
              <a:ext uri="{FF2B5EF4-FFF2-40B4-BE49-F238E27FC236}">
                <a16:creationId xmlns:a16="http://schemas.microsoft.com/office/drawing/2014/main" id="{B0BB920B-0034-4483-7053-9E7F5563F965}"/>
              </a:ext>
            </a:extLst>
          </p:cNvPr>
          <p:cNvSpPr/>
          <p:nvPr/>
        </p:nvSpPr>
        <p:spPr>
          <a:xfrm>
            <a:off x="788987" y="6178505"/>
            <a:ext cx="10502884" cy="468000"/>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nl-NL" sz="1200" b="1">
                <a:latin typeface="Verdana" panose="020B0604030504040204" pitchFamily="34" charset="0"/>
                <a:ea typeface="Verdana" panose="020B0604030504040204" pitchFamily="34" charset="0"/>
              </a:rPr>
              <a:t>0.0 Fundament </a:t>
            </a:r>
            <a:r>
              <a:rPr lang="nl-NL" sz="1200" b="1">
                <a:latin typeface="Verdana" panose="020B0604030504040204" pitchFamily="34" charset="0"/>
                <a:ea typeface="Verdana" panose="020B0604030504040204" pitchFamily="34" charset="0"/>
                <a:cs typeface="Calibri"/>
              </a:rPr>
              <a:t>Digitalisering &amp; Gegevensuitwisseling</a:t>
            </a:r>
          </a:p>
          <a:p>
            <a:pPr algn="ctr"/>
            <a:r>
              <a:rPr lang="nl-NL" sz="1200">
                <a:latin typeface="Verdana" panose="020B0604030504040204" pitchFamily="34" charset="0"/>
                <a:ea typeface="Verdana" panose="020B0604030504040204" pitchFamily="34" charset="0"/>
                <a:cs typeface="Calibri"/>
              </a:rPr>
              <a:t>Concretiseren ontwerp regionale Data &amp; Applicatie Architectuur en </a:t>
            </a:r>
            <a:r>
              <a:rPr lang="nl-NL" sz="1200" err="1">
                <a:latin typeface="Verdana" panose="020B0604030504040204" pitchFamily="34" charset="0"/>
                <a:ea typeface="Verdana" panose="020B0604030504040204" pitchFamily="34" charset="0"/>
                <a:cs typeface="Calibri"/>
              </a:rPr>
              <a:t>roadmap</a:t>
            </a:r>
            <a:r>
              <a:rPr lang="nl-NL" sz="1200">
                <a:latin typeface="Verdana" panose="020B0604030504040204" pitchFamily="34" charset="0"/>
                <a:ea typeface="Verdana" panose="020B0604030504040204" pitchFamily="34" charset="0"/>
                <a:cs typeface="Calibri"/>
              </a:rPr>
              <a:t>/ planning om deze technische zaken in te richten </a:t>
            </a:r>
            <a:r>
              <a:rPr lang="nl-NL" sz="1200" baseline="30000">
                <a:latin typeface="Verdana" panose="020B0604030504040204" pitchFamily="34" charset="0"/>
                <a:ea typeface="Verdana" panose="020B0604030504040204" pitchFamily="34" charset="0"/>
                <a:cs typeface="Calibri"/>
              </a:rPr>
              <a:t>1</a:t>
            </a:r>
            <a:endParaRPr lang="nl-NL" sz="1200" baseline="30000">
              <a:latin typeface="Verdana" panose="020B0604030504040204" pitchFamily="34" charset="0"/>
              <a:ea typeface="Verdana" panose="020B0604030504040204" pitchFamily="34" charset="0"/>
            </a:endParaRPr>
          </a:p>
        </p:txBody>
      </p:sp>
      <p:sp>
        <p:nvSpPr>
          <p:cNvPr id="16" name="Titel 3">
            <a:extLst>
              <a:ext uri="{FF2B5EF4-FFF2-40B4-BE49-F238E27FC236}">
                <a16:creationId xmlns:a16="http://schemas.microsoft.com/office/drawing/2014/main" id="{13905522-F562-7795-6EB1-8664A0392673}"/>
              </a:ext>
            </a:extLst>
          </p:cNvPr>
          <p:cNvSpPr>
            <a:spLocks noGrp="1"/>
          </p:cNvSpPr>
          <p:nvPr>
            <p:ph type="title"/>
          </p:nvPr>
        </p:nvSpPr>
        <p:spPr>
          <a:xfrm>
            <a:off x="425301" y="465998"/>
            <a:ext cx="10866569" cy="485084"/>
          </a:xfrm>
        </p:spPr>
        <p:txBody>
          <a:bodyPr>
            <a:noAutofit/>
          </a:bodyPr>
          <a:lstStyle/>
          <a:p>
            <a:pPr algn="l"/>
            <a:r>
              <a:rPr lang="nl-NL" b="1">
                <a:solidFill>
                  <a:srgbClr val="8C95CD"/>
                </a:solidFill>
              </a:rPr>
              <a:t>Scope Transformatieplan – Regionaal en wettelijk bepaalde prioritering van thema’s en </a:t>
            </a:r>
            <a:r>
              <a:rPr lang="nl-NL" b="1" err="1">
                <a:solidFill>
                  <a:srgbClr val="8C95CD"/>
                </a:solidFill>
              </a:rPr>
              <a:t>use</a:t>
            </a:r>
            <a:r>
              <a:rPr lang="nl-NL" b="1">
                <a:solidFill>
                  <a:srgbClr val="8C95CD"/>
                </a:solidFill>
              </a:rPr>
              <a:t> cases</a:t>
            </a:r>
          </a:p>
        </p:txBody>
      </p:sp>
      <p:sp>
        <p:nvSpPr>
          <p:cNvPr id="2" name="Content Placeholder 1">
            <a:extLst>
              <a:ext uri="{FF2B5EF4-FFF2-40B4-BE49-F238E27FC236}">
                <a16:creationId xmlns:a16="http://schemas.microsoft.com/office/drawing/2014/main" id="{3D271605-1F87-D98D-4257-2D8AC2A0649B}"/>
              </a:ext>
            </a:extLst>
          </p:cNvPr>
          <p:cNvSpPr>
            <a:spLocks noGrp="1"/>
          </p:cNvSpPr>
          <p:nvPr>
            <p:ph idx="1"/>
          </p:nvPr>
        </p:nvSpPr>
        <p:spPr/>
        <p:txBody>
          <a:bodyPr/>
          <a:lstStyle/>
          <a:p>
            <a:pPr algn="just"/>
            <a:r>
              <a:rPr lang="nl-NL" sz="1400" b="1"/>
              <a:t>De regionale transformatieopgave bestaat uit acht (8) </a:t>
            </a:r>
            <a:r>
              <a:rPr lang="nl-NL" sz="1400" b="1" err="1"/>
              <a:t>usecases</a:t>
            </a:r>
            <a:r>
              <a:rPr lang="nl-NL" sz="1400" b="1"/>
              <a:t> die binnen de twee thema’s vallen. Het thema “Digitale (zorg)communicatie” omvat het procesontwerp, selectie en implementatie van digitale zorgtoepassingen (applicaties). De </a:t>
            </a:r>
            <a:r>
              <a:rPr lang="nl-NL" sz="1400" b="1" err="1"/>
              <a:t>usecases</a:t>
            </a:r>
            <a:r>
              <a:rPr lang="nl-NL" sz="1400" b="1"/>
              <a:t> zijn geprioriteerd vanuit regio beleid, in samenspraak met de leden en partners van </a:t>
            </a:r>
            <a:r>
              <a:rPr lang="nl-NL" sz="1400" b="1" err="1"/>
              <a:t>Trijn</a:t>
            </a:r>
            <a:r>
              <a:rPr lang="nl-NL" sz="1400" b="1"/>
              <a:t>. Het thema “Dossier inzage en digitale overdracht” bestaat uit het realiseren van gegevensuitwisselingen en databeschikbaarheid middels een netwerkzorg viewer. De </a:t>
            </a:r>
            <a:r>
              <a:rPr lang="nl-NL" sz="1400" b="1" err="1"/>
              <a:t>usecases</a:t>
            </a:r>
            <a:r>
              <a:rPr lang="nl-NL" sz="1400" b="1"/>
              <a:t> hierbij zijn primair ingegeven vanuit wetgeving (Wet EGIZ).</a:t>
            </a:r>
          </a:p>
          <a:p>
            <a:endParaRPr lang="en-GB"/>
          </a:p>
        </p:txBody>
      </p:sp>
      <p:sp>
        <p:nvSpPr>
          <p:cNvPr id="30" name="Tekstvak 2">
            <a:extLst>
              <a:ext uri="{FF2B5EF4-FFF2-40B4-BE49-F238E27FC236}">
                <a16:creationId xmlns:a16="http://schemas.microsoft.com/office/drawing/2014/main" id="{D8C7257A-37A4-28BF-2D77-D3E2EEB92219}"/>
              </a:ext>
            </a:extLst>
          </p:cNvPr>
          <p:cNvSpPr txBox="1"/>
          <p:nvPr/>
        </p:nvSpPr>
        <p:spPr>
          <a:xfrm>
            <a:off x="839787" y="6671605"/>
            <a:ext cx="7960048" cy="2524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30000" noProof="0">
                <a:ln>
                  <a:noFill/>
                </a:ln>
                <a:solidFill>
                  <a:prstClr val="black"/>
                </a:solidFill>
                <a:effectLst/>
                <a:uLnTx/>
                <a:uFillTx/>
                <a:latin typeface="Verdana" panose="020B0604030504040204" pitchFamily="34" charset="0"/>
                <a:ea typeface="Verdana" panose="020B0604030504040204" pitchFamily="34" charset="0"/>
                <a:cs typeface="Angsana New" panose="020B0502040204020203" pitchFamily="18" charset="-34"/>
              </a:rPr>
              <a:t>1  </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ngsana New" panose="020B0502040204020203" pitchFamily="18" charset="-34"/>
              </a:rPr>
              <a:t>Is </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onderdeel van het transformatieplan en ontwikkeling vindt parallel plaats met de realisatie van de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usecases</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 </a:t>
            </a:r>
            <a:endParaRPr kumimoji="0" lang="en-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ngsana New" panose="020B0502040204020203" pitchFamily="18" charset="-34"/>
            </a:endParaRPr>
          </a:p>
        </p:txBody>
      </p:sp>
      <p:sp>
        <p:nvSpPr>
          <p:cNvPr id="31" name="Rectangle: Top Corners Rounded 38">
            <a:hlinkClick r:id="rId4" action="ppaction://hlinksldjump"/>
            <a:extLst>
              <a:ext uri="{FF2B5EF4-FFF2-40B4-BE49-F238E27FC236}">
                <a16:creationId xmlns:a16="http://schemas.microsoft.com/office/drawing/2014/main" id="{2954CB1F-FBBE-5457-0377-D007D191FB16}"/>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2" name="Graphic 31" descr="Introductiepagina silhouet">
            <a:hlinkClick r:id="rId5" action="ppaction://hlinksldjump"/>
            <a:extLst>
              <a:ext uri="{FF2B5EF4-FFF2-40B4-BE49-F238E27FC236}">
                <a16:creationId xmlns:a16="http://schemas.microsoft.com/office/drawing/2014/main" id="{D5D45D32-B9B7-53E8-46EF-DFBB0262A18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33" name="Rectangle: Top Corners Rounded 1">
            <a:hlinkClick r:id="rId8" action="ppaction://hlinksldjump"/>
            <a:extLst>
              <a:ext uri="{FF2B5EF4-FFF2-40B4-BE49-F238E27FC236}">
                <a16:creationId xmlns:a16="http://schemas.microsoft.com/office/drawing/2014/main" id="{E93D2B8C-7E9A-CB5D-8B89-C33953CCB1DE}"/>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4" name="Rectangle: Top Corners Rounded 1">
            <a:hlinkClick r:id="rId9" action="ppaction://hlinksldjump"/>
            <a:extLst>
              <a:ext uri="{FF2B5EF4-FFF2-40B4-BE49-F238E27FC236}">
                <a16:creationId xmlns:a16="http://schemas.microsoft.com/office/drawing/2014/main" id="{03709083-B964-551A-9D59-1AE867824058}"/>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5" name="Rectangle: Top Corners Rounded 1">
            <a:hlinkClick r:id="rId10" action="ppaction://hlinksldjump"/>
            <a:extLst>
              <a:ext uri="{FF2B5EF4-FFF2-40B4-BE49-F238E27FC236}">
                <a16:creationId xmlns:a16="http://schemas.microsoft.com/office/drawing/2014/main" id="{4CD5FA7A-3ACA-5973-FDDC-8C3C0CD40683}"/>
              </a:ext>
            </a:extLst>
          </p:cNvPr>
          <p:cNvSpPr/>
          <p:nvPr/>
        </p:nvSpPr>
        <p:spPr>
          <a:xfrm>
            <a:off x="304215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Veranderopgaven en verwachte impact</a:t>
            </a:r>
          </a:p>
        </p:txBody>
      </p:sp>
      <p:sp>
        <p:nvSpPr>
          <p:cNvPr id="36" name="Rectangle: Top Corners Rounded 1">
            <a:hlinkClick r:id="rId11" action="ppaction://hlinksldjump"/>
            <a:extLst>
              <a:ext uri="{FF2B5EF4-FFF2-40B4-BE49-F238E27FC236}">
                <a16:creationId xmlns:a16="http://schemas.microsoft.com/office/drawing/2014/main" id="{84CE3F7B-E1CF-803A-319A-4483D4C386D0}"/>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7" name="Rectangle: Top Corners Rounded 1">
            <a:hlinkClick r:id="rId12" action="ppaction://hlinksldjump"/>
            <a:extLst>
              <a:ext uri="{FF2B5EF4-FFF2-40B4-BE49-F238E27FC236}">
                <a16:creationId xmlns:a16="http://schemas.microsoft.com/office/drawing/2014/main" id="{7D24907B-4868-1E3E-4E9C-A2E803E05824}"/>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8" name="Rectangle: Top Corners Rounded 1">
            <a:hlinkClick r:id="rId13" action="ppaction://hlinksldjump"/>
            <a:extLst>
              <a:ext uri="{FF2B5EF4-FFF2-40B4-BE49-F238E27FC236}">
                <a16:creationId xmlns:a16="http://schemas.microsoft.com/office/drawing/2014/main" id="{DDDB3A55-4BF9-96B5-37EC-13CEA99BE408}"/>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9" name="Rectangle: Top Corners Rounded 1">
            <a:hlinkClick r:id="rId14" action="ppaction://hlinksldjump"/>
            <a:extLst>
              <a:ext uri="{FF2B5EF4-FFF2-40B4-BE49-F238E27FC236}">
                <a16:creationId xmlns:a16="http://schemas.microsoft.com/office/drawing/2014/main" id="{4569B479-4169-D2E3-6DCB-837A278FA559}"/>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0" name="Rectangle: Top Corners Rounded 1">
            <a:hlinkClick r:id="rId15" action="ppaction://hlinksldjump"/>
            <a:extLst>
              <a:ext uri="{FF2B5EF4-FFF2-40B4-BE49-F238E27FC236}">
                <a16:creationId xmlns:a16="http://schemas.microsoft.com/office/drawing/2014/main" id="{660B4ED1-80B7-2C9E-3D51-2003128ACEC4}"/>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1" name="Rectangle: Top Corners Rounded 1">
            <a:hlinkClick r:id="rId16" action="ppaction://hlinksldjump"/>
            <a:extLst>
              <a:ext uri="{FF2B5EF4-FFF2-40B4-BE49-F238E27FC236}">
                <a16:creationId xmlns:a16="http://schemas.microsoft.com/office/drawing/2014/main" id="{4189FB37-B3B0-A4F4-A739-0FC72DFFC48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2" name="Rectangle: Top Corners Rounded 1">
            <a:hlinkClick r:id="rId17" action="ppaction://hlinksldjump"/>
            <a:extLst>
              <a:ext uri="{FF2B5EF4-FFF2-40B4-BE49-F238E27FC236}">
                <a16:creationId xmlns:a16="http://schemas.microsoft.com/office/drawing/2014/main" id="{F391ED7B-ED28-6E1C-5390-4E5C3F55212A}"/>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3" name="Rectangle: Top Corners Rounded 1">
            <a:hlinkClick r:id="rId18" action="ppaction://hlinksldjump"/>
            <a:extLst>
              <a:ext uri="{FF2B5EF4-FFF2-40B4-BE49-F238E27FC236}">
                <a16:creationId xmlns:a16="http://schemas.microsoft.com/office/drawing/2014/main" id="{DBE764CB-7A0A-FBE8-EC5A-54BF04D1C532}"/>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125933652"/>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719C3-8658-1998-445F-5F11C80E0FC6}"/>
            </a:ext>
          </a:extLst>
        </p:cNvPr>
        <p:cNvGrpSpPr/>
        <p:nvPr/>
      </p:nvGrpSpPr>
      <p:grpSpPr>
        <a:xfrm>
          <a:off x="0" y="0"/>
          <a:ext cx="0" cy="0"/>
          <a:chOff x="0" y="0"/>
          <a:chExt cx="0" cy="0"/>
        </a:xfrm>
      </p:grpSpPr>
      <p:sp>
        <p:nvSpPr>
          <p:cNvPr id="2" name="Rechthoek 1">
            <a:extLst>
              <a:ext uri="{FF2B5EF4-FFF2-40B4-BE49-F238E27FC236}">
                <a16:creationId xmlns:a16="http://schemas.microsoft.com/office/drawing/2014/main" id="{A68F3883-1501-3A8D-4C3E-1EAC943ADB76}"/>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208BE561-6236-113F-F5AD-D2A188F113F0}"/>
              </a:ext>
            </a:extLst>
          </p:cNvPr>
          <p:cNvSpPr/>
          <p:nvPr/>
        </p:nvSpPr>
        <p:spPr>
          <a:xfrm>
            <a:off x="11221643" y="6376589"/>
            <a:ext cx="965408" cy="473008"/>
          </a:xfrm>
          <a:prstGeom prst="rect">
            <a:avLst/>
          </a:prstGeom>
          <a:blipFill dpi="0" rotWithShape="1">
            <a:blip r:embed="rId3"/>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itle 7">
            <a:extLst>
              <a:ext uri="{FF2B5EF4-FFF2-40B4-BE49-F238E27FC236}">
                <a16:creationId xmlns:a16="http://schemas.microsoft.com/office/drawing/2014/main" id="{2FA1BC6E-7EE3-0FEF-72FF-FABD22BAE2FE}"/>
              </a:ext>
            </a:extLst>
          </p:cNvPr>
          <p:cNvSpPr>
            <a:spLocks noGrp="1"/>
          </p:cNvSpPr>
          <p:nvPr>
            <p:ph type="title"/>
          </p:nvPr>
        </p:nvSpPr>
        <p:spPr/>
        <p:txBody>
          <a:bodyPr/>
          <a:lstStyle/>
          <a:p>
            <a:r>
              <a:rPr lang="en-GB" err="1"/>
              <a:t>Zorgtransformatie</a:t>
            </a:r>
            <a:r>
              <a:rPr lang="en-GB"/>
              <a:t> </a:t>
            </a:r>
            <a:r>
              <a:rPr lang="en-GB" err="1"/>
              <a:t>en</a:t>
            </a:r>
            <a:r>
              <a:rPr lang="en-GB"/>
              <a:t> impact op </a:t>
            </a:r>
            <a:r>
              <a:rPr lang="en-GB" err="1"/>
              <a:t>inwoners</a:t>
            </a:r>
            <a:r>
              <a:rPr lang="en-GB"/>
              <a:t> </a:t>
            </a:r>
            <a:r>
              <a:rPr lang="en-GB" err="1"/>
              <a:t>en</a:t>
            </a:r>
            <a:r>
              <a:rPr lang="en-GB"/>
              <a:t> professionals in de regio Midden-Nederland</a:t>
            </a:r>
          </a:p>
        </p:txBody>
      </p:sp>
      <p:sp>
        <p:nvSpPr>
          <p:cNvPr id="3" name="Tijdelijke aanduiding voor inhoud 2">
            <a:extLst>
              <a:ext uri="{FF2B5EF4-FFF2-40B4-BE49-F238E27FC236}">
                <a16:creationId xmlns:a16="http://schemas.microsoft.com/office/drawing/2014/main" id="{762E58DD-3F21-2270-CDF2-DE12575E75C0}"/>
              </a:ext>
            </a:extLst>
          </p:cNvPr>
          <p:cNvSpPr>
            <a:spLocks noGrp="1"/>
          </p:cNvSpPr>
          <p:nvPr>
            <p:ph idx="1"/>
          </p:nvPr>
        </p:nvSpPr>
        <p:spPr>
          <a:xfrm>
            <a:off x="425302" y="1919768"/>
            <a:ext cx="11233171" cy="4456821"/>
          </a:xfrm>
        </p:spPr>
        <p:txBody>
          <a:bodyPr vert="horz" lIns="91440" tIns="45720" rIns="91440" bIns="45720" rtlCol="0" anchor="t">
            <a:noAutofit/>
          </a:bodyPr>
          <a:lstStyle/>
          <a:p>
            <a:pPr marL="0" lvl="1" indent="0" algn="just">
              <a:lnSpc>
                <a:spcPct val="110000"/>
              </a:lnSpc>
              <a:spcBef>
                <a:spcPts val="0"/>
              </a:spcBef>
              <a:buNone/>
            </a:pPr>
            <a:r>
              <a:rPr lang="nl-NL" sz="1800">
                <a:latin typeface="Verdana"/>
                <a:ea typeface="Verdana"/>
              </a:rPr>
              <a:t>[</a:t>
            </a:r>
            <a:r>
              <a:rPr lang="nl-NL" sz="1800" err="1">
                <a:latin typeface="Verdana"/>
                <a:ea typeface="Verdana"/>
              </a:rPr>
              <a:t>Placeholder</a:t>
            </a:r>
            <a:r>
              <a:rPr lang="nl-NL" sz="1800">
                <a:latin typeface="Verdana"/>
                <a:ea typeface="Verdana"/>
              </a:rPr>
              <a:t>]</a:t>
            </a:r>
          </a:p>
          <a:p>
            <a:pPr marL="0" lvl="1" indent="0" algn="just">
              <a:lnSpc>
                <a:spcPct val="110000"/>
              </a:lnSpc>
              <a:spcBef>
                <a:spcPts val="0"/>
              </a:spcBef>
              <a:buNone/>
            </a:pPr>
            <a:endParaRPr lang="nl-NL" sz="1800">
              <a:latin typeface="Verdana"/>
              <a:ea typeface="Verdana"/>
            </a:endParaRPr>
          </a:p>
          <a:p>
            <a:pPr marL="0" lvl="1" indent="0" algn="just">
              <a:lnSpc>
                <a:spcPct val="110000"/>
              </a:lnSpc>
              <a:spcBef>
                <a:spcPts val="0"/>
              </a:spcBef>
              <a:buNone/>
            </a:pPr>
            <a:r>
              <a:rPr lang="nl-NL" sz="1800">
                <a:latin typeface="Verdana"/>
                <a:ea typeface="Verdana"/>
              </a:rPr>
              <a:t>…</a:t>
            </a:r>
          </a:p>
          <a:p>
            <a:pPr marL="342900" lvl="1" indent="-342900" algn="just">
              <a:lnSpc>
                <a:spcPct val="110000"/>
              </a:lnSpc>
              <a:spcBef>
                <a:spcPts val="0"/>
              </a:spcBef>
              <a:buAutoNum type="arabicPeriod"/>
            </a:pPr>
            <a:endParaRPr lang="nl-NL" sz="1800">
              <a:latin typeface="Verdana"/>
              <a:ea typeface="Verdana"/>
            </a:endParaRPr>
          </a:p>
        </p:txBody>
      </p:sp>
      <p:sp>
        <p:nvSpPr>
          <p:cNvPr id="9" name="Text Placeholder 8">
            <a:extLst>
              <a:ext uri="{FF2B5EF4-FFF2-40B4-BE49-F238E27FC236}">
                <a16:creationId xmlns:a16="http://schemas.microsoft.com/office/drawing/2014/main" id="{A032D7C4-0D4F-BF63-E90A-9BE11CCBCD69}"/>
              </a:ext>
            </a:extLst>
          </p:cNvPr>
          <p:cNvSpPr>
            <a:spLocks noGrp="1"/>
          </p:cNvSpPr>
          <p:nvPr>
            <p:ph type="body" sz="quarter" idx="10"/>
          </p:nvPr>
        </p:nvSpPr>
        <p:spPr>
          <a:xfrm>
            <a:off x="425302" y="1415768"/>
            <a:ext cx="10544967" cy="504000"/>
          </a:xfrm>
        </p:spPr>
        <p:txBody>
          <a:bodyPr/>
          <a:lstStyle/>
          <a:p>
            <a:endParaRPr lang="en-GB"/>
          </a:p>
        </p:txBody>
      </p:sp>
      <p:sp>
        <p:nvSpPr>
          <p:cNvPr id="29" name="Slide Number Placeholder 64">
            <a:extLst>
              <a:ext uri="{FF2B5EF4-FFF2-40B4-BE49-F238E27FC236}">
                <a16:creationId xmlns:a16="http://schemas.microsoft.com/office/drawing/2014/main" id="{F2DB65F9-2FE9-47B3-A646-BF739F5F4CFB}"/>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23</a:t>
            </a:fld>
            <a:endParaRPr lang="nl-NL" sz="900"/>
          </a:p>
        </p:txBody>
      </p:sp>
      <p:sp>
        <p:nvSpPr>
          <p:cNvPr id="10" name="Rectangle: Top Corners Rounded 38">
            <a:hlinkClick r:id="rId4" action="ppaction://hlinksldjump"/>
            <a:extLst>
              <a:ext uri="{FF2B5EF4-FFF2-40B4-BE49-F238E27FC236}">
                <a16:creationId xmlns:a16="http://schemas.microsoft.com/office/drawing/2014/main" id="{53D22201-AC04-68DF-8D2E-4B6FB023A297}"/>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1" name="Graphic 10" descr="Introductiepagina silhouet">
            <a:hlinkClick r:id="rId5" action="ppaction://hlinksldjump"/>
            <a:extLst>
              <a:ext uri="{FF2B5EF4-FFF2-40B4-BE49-F238E27FC236}">
                <a16:creationId xmlns:a16="http://schemas.microsoft.com/office/drawing/2014/main" id="{714D6336-4A6B-F859-B5AA-231DBB54A8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12" name="Rectangle: Top Corners Rounded 1">
            <a:hlinkClick r:id="rId8" action="ppaction://hlinksldjump"/>
            <a:extLst>
              <a:ext uri="{FF2B5EF4-FFF2-40B4-BE49-F238E27FC236}">
                <a16:creationId xmlns:a16="http://schemas.microsoft.com/office/drawing/2014/main" id="{97D37455-ED27-E25C-D0A7-7A2DFC947C8A}"/>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3" name="Rectangle: Top Corners Rounded 1">
            <a:hlinkClick r:id="rId9" action="ppaction://hlinksldjump"/>
            <a:extLst>
              <a:ext uri="{FF2B5EF4-FFF2-40B4-BE49-F238E27FC236}">
                <a16:creationId xmlns:a16="http://schemas.microsoft.com/office/drawing/2014/main" id="{0153B7B9-BCDE-1D85-0E15-19CB7B7A2B85}"/>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4" name="Rectangle: Top Corners Rounded 1">
            <a:hlinkClick r:id="rId10" action="ppaction://hlinksldjump"/>
            <a:extLst>
              <a:ext uri="{FF2B5EF4-FFF2-40B4-BE49-F238E27FC236}">
                <a16:creationId xmlns:a16="http://schemas.microsoft.com/office/drawing/2014/main" id="{BA6E547A-8EE3-6068-DBA8-5132E32EFC11}"/>
              </a:ext>
            </a:extLst>
          </p:cNvPr>
          <p:cNvSpPr/>
          <p:nvPr/>
        </p:nvSpPr>
        <p:spPr>
          <a:xfrm>
            <a:off x="304215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Veranderopgaven en verwachte impact</a:t>
            </a:r>
          </a:p>
        </p:txBody>
      </p:sp>
      <p:sp>
        <p:nvSpPr>
          <p:cNvPr id="15" name="Rectangle: Top Corners Rounded 1">
            <a:hlinkClick r:id="rId11" action="ppaction://hlinksldjump"/>
            <a:extLst>
              <a:ext uri="{FF2B5EF4-FFF2-40B4-BE49-F238E27FC236}">
                <a16:creationId xmlns:a16="http://schemas.microsoft.com/office/drawing/2014/main" id="{6BBCCA6C-B46C-BC52-11B2-A1715697DA6F}"/>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6" name="Rectangle: Top Corners Rounded 1">
            <a:hlinkClick r:id="rId12" action="ppaction://hlinksldjump"/>
            <a:extLst>
              <a:ext uri="{FF2B5EF4-FFF2-40B4-BE49-F238E27FC236}">
                <a16:creationId xmlns:a16="http://schemas.microsoft.com/office/drawing/2014/main" id="{6DC0C28C-D082-A668-69D1-DE619A080BCA}"/>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7" name="Rectangle: Top Corners Rounded 1">
            <a:hlinkClick r:id="rId13" action="ppaction://hlinksldjump"/>
            <a:extLst>
              <a:ext uri="{FF2B5EF4-FFF2-40B4-BE49-F238E27FC236}">
                <a16:creationId xmlns:a16="http://schemas.microsoft.com/office/drawing/2014/main" id="{BB89D9B3-3944-E235-9F6D-9D26EC9F513B}"/>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8" name="Rectangle: Top Corners Rounded 1">
            <a:hlinkClick r:id="rId14" action="ppaction://hlinksldjump"/>
            <a:extLst>
              <a:ext uri="{FF2B5EF4-FFF2-40B4-BE49-F238E27FC236}">
                <a16:creationId xmlns:a16="http://schemas.microsoft.com/office/drawing/2014/main" id="{B169E787-A131-3974-DBAA-D71E72A86BE8}"/>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0" name="Rectangle: Top Corners Rounded 1">
            <a:hlinkClick r:id="rId15" action="ppaction://hlinksldjump"/>
            <a:extLst>
              <a:ext uri="{FF2B5EF4-FFF2-40B4-BE49-F238E27FC236}">
                <a16:creationId xmlns:a16="http://schemas.microsoft.com/office/drawing/2014/main" id="{F03C5937-B610-B073-49D3-77B6C6832BDF}"/>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1" name="Rectangle: Top Corners Rounded 1">
            <a:hlinkClick r:id="rId16" action="ppaction://hlinksldjump"/>
            <a:extLst>
              <a:ext uri="{FF2B5EF4-FFF2-40B4-BE49-F238E27FC236}">
                <a16:creationId xmlns:a16="http://schemas.microsoft.com/office/drawing/2014/main" id="{5817893C-C35F-5041-EB33-5135E8CAA31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2" name="Rectangle: Top Corners Rounded 1">
            <a:hlinkClick r:id="rId17" action="ppaction://hlinksldjump"/>
            <a:extLst>
              <a:ext uri="{FF2B5EF4-FFF2-40B4-BE49-F238E27FC236}">
                <a16:creationId xmlns:a16="http://schemas.microsoft.com/office/drawing/2014/main" id="{23CD9928-C250-42E6-C008-0186D971AA07}"/>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3" name="Rectangle: Top Corners Rounded 1">
            <a:hlinkClick r:id="rId18" action="ppaction://hlinksldjump"/>
            <a:extLst>
              <a:ext uri="{FF2B5EF4-FFF2-40B4-BE49-F238E27FC236}">
                <a16:creationId xmlns:a16="http://schemas.microsoft.com/office/drawing/2014/main" id="{CE1C299E-2F84-9FD6-4090-7CE31B39A80E}"/>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4" name="Rechthoek: afgeronde hoeken 3">
            <a:extLst>
              <a:ext uri="{FF2B5EF4-FFF2-40B4-BE49-F238E27FC236}">
                <a16:creationId xmlns:a16="http://schemas.microsoft.com/office/drawing/2014/main" id="{B2202D23-DE79-5CD4-FBC6-629FA1C1B740}"/>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42565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1E5A5C06-06D7-91B5-7326-FA843C6B9F97}"/>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E6272525-382C-0B04-EE69-2103F86EA8A4}"/>
              </a:ext>
            </a:extLst>
          </p:cNvPr>
          <p:cNvSpPr/>
          <p:nvPr/>
        </p:nvSpPr>
        <p:spPr>
          <a:xfrm>
            <a:off x="11221643" y="6376589"/>
            <a:ext cx="965408" cy="473008"/>
          </a:xfrm>
          <a:prstGeom prst="rect">
            <a:avLst/>
          </a:prstGeom>
          <a:blipFill dpi="0" rotWithShape="1">
            <a:blip r:embed="rId3"/>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itle 7">
            <a:extLst>
              <a:ext uri="{FF2B5EF4-FFF2-40B4-BE49-F238E27FC236}">
                <a16:creationId xmlns:a16="http://schemas.microsoft.com/office/drawing/2014/main" id="{5F535457-F527-0D3C-2EF7-42CFCCB5A293}"/>
              </a:ext>
            </a:extLst>
          </p:cNvPr>
          <p:cNvSpPr>
            <a:spLocks noGrp="1"/>
          </p:cNvSpPr>
          <p:nvPr>
            <p:ph type="title"/>
          </p:nvPr>
        </p:nvSpPr>
        <p:spPr/>
        <p:txBody>
          <a:bodyPr/>
          <a:lstStyle/>
          <a:p>
            <a:r>
              <a:rPr lang="en-GB" err="1"/>
              <a:t>Verwachte</a:t>
            </a:r>
            <a:r>
              <a:rPr lang="en-GB"/>
              <a:t> </a:t>
            </a:r>
            <a:r>
              <a:rPr lang="en-GB" err="1"/>
              <a:t>domeinoverstijgende</a:t>
            </a:r>
            <a:r>
              <a:rPr lang="en-GB"/>
              <a:t> impact op </a:t>
            </a:r>
            <a:r>
              <a:rPr lang="en-GB" err="1"/>
              <a:t>zorg</a:t>
            </a:r>
            <a:r>
              <a:rPr lang="en-GB"/>
              <a:t>- </a:t>
            </a:r>
            <a:r>
              <a:rPr lang="en-GB" err="1"/>
              <a:t>en</a:t>
            </a:r>
            <a:r>
              <a:rPr lang="en-GB"/>
              <a:t> </a:t>
            </a:r>
            <a:r>
              <a:rPr lang="en-GB" err="1"/>
              <a:t>welzijns</a:t>
            </a:r>
            <a:r>
              <a:rPr lang="en-GB"/>
              <a:t> </a:t>
            </a:r>
            <a:r>
              <a:rPr lang="en-GB" err="1"/>
              <a:t>aanbieders</a:t>
            </a:r>
            <a:endParaRPr lang="en-GB"/>
          </a:p>
        </p:txBody>
      </p:sp>
      <p:sp>
        <p:nvSpPr>
          <p:cNvPr id="29" name="Slide Number Placeholder 64">
            <a:extLst>
              <a:ext uri="{FF2B5EF4-FFF2-40B4-BE49-F238E27FC236}">
                <a16:creationId xmlns:a16="http://schemas.microsoft.com/office/drawing/2014/main" id="{D989C24D-0BFD-8A2D-A5D4-5868A2593841}"/>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24</a:t>
            </a:fld>
            <a:endParaRPr lang="nl-NL" sz="900"/>
          </a:p>
        </p:txBody>
      </p:sp>
      <p:sp>
        <p:nvSpPr>
          <p:cNvPr id="14" name="Tijdelijke aanduiding voor inhoud 2">
            <a:extLst>
              <a:ext uri="{FF2B5EF4-FFF2-40B4-BE49-F238E27FC236}">
                <a16:creationId xmlns:a16="http://schemas.microsoft.com/office/drawing/2014/main" id="{5D122E52-D27F-1249-6A1F-5C896EC6E875}"/>
              </a:ext>
            </a:extLst>
          </p:cNvPr>
          <p:cNvSpPr>
            <a:spLocks noGrp="1"/>
          </p:cNvSpPr>
          <p:nvPr>
            <p:ph idx="1"/>
          </p:nvPr>
        </p:nvSpPr>
        <p:spPr>
          <a:xfrm>
            <a:off x="425302" y="1919768"/>
            <a:ext cx="11233171" cy="4456821"/>
          </a:xfrm>
        </p:spPr>
        <p:txBody>
          <a:bodyPr vert="horz" lIns="91440" tIns="45720" rIns="91440" bIns="45720" rtlCol="0" anchor="t">
            <a:noAutofit/>
          </a:bodyPr>
          <a:lstStyle/>
          <a:p>
            <a:pPr marL="0" lvl="1" indent="0" algn="just">
              <a:lnSpc>
                <a:spcPct val="110000"/>
              </a:lnSpc>
              <a:spcBef>
                <a:spcPts val="0"/>
              </a:spcBef>
              <a:buNone/>
            </a:pPr>
            <a:r>
              <a:rPr lang="nl-NL" sz="1800">
                <a:latin typeface="Verdana"/>
                <a:ea typeface="Verdana"/>
              </a:rPr>
              <a:t>[</a:t>
            </a:r>
            <a:r>
              <a:rPr lang="nl-NL" sz="1800" err="1">
                <a:latin typeface="Verdana"/>
                <a:ea typeface="Verdana"/>
              </a:rPr>
              <a:t>Placeholder</a:t>
            </a:r>
            <a:r>
              <a:rPr lang="nl-NL" sz="1800">
                <a:latin typeface="Verdana"/>
                <a:ea typeface="Verdana"/>
              </a:rPr>
              <a:t>]</a:t>
            </a:r>
          </a:p>
          <a:p>
            <a:pPr marL="0" lvl="1" indent="0" algn="just">
              <a:lnSpc>
                <a:spcPct val="110000"/>
              </a:lnSpc>
              <a:spcBef>
                <a:spcPts val="0"/>
              </a:spcBef>
              <a:buNone/>
            </a:pPr>
            <a:endParaRPr lang="nl-NL" sz="1800">
              <a:latin typeface="Verdana"/>
              <a:ea typeface="Verdana"/>
            </a:endParaRPr>
          </a:p>
          <a:p>
            <a:pPr marL="0" lvl="1" indent="0" algn="just">
              <a:lnSpc>
                <a:spcPct val="110000"/>
              </a:lnSpc>
              <a:spcBef>
                <a:spcPts val="0"/>
              </a:spcBef>
              <a:buNone/>
            </a:pPr>
            <a:r>
              <a:rPr lang="nl-NL" sz="1800">
                <a:latin typeface="Verdana"/>
                <a:ea typeface="Verdana"/>
              </a:rPr>
              <a:t>…</a:t>
            </a:r>
          </a:p>
          <a:p>
            <a:pPr marL="342900" lvl="1" indent="-342900" algn="just">
              <a:lnSpc>
                <a:spcPct val="110000"/>
              </a:lnSpc>
              <a:spcBef>
                <a:spcPts val="0"/>
              </a:spcBef>
              <a:buAutoNum type="arabicPeriod"/>
            </a:pPr>
            <a:endParaRPr lang="nl-NL" sz="1800">
              <a:latin typeface="Verdana"/>
              <a:ea typeface="Verdana"/>
            </a:endParaRPr>
          </a:p>
        </p:txBody>
      </p:sp>
      <p:sp>
        <p:nvSpPr>
          <p:cNvPr id="15" name="Text Placeholder 8">
            <a:extLst>
              <a:ext uri="{FF2B5EF4-FFF2-40B4-BE49-F238E27FC236}">
                <a16:creationId xmlns:a16="http://schemas.microsoft.com/office/drawing/2014/main" id="{97FDEFC7-AD78-6768-FC81-16D4A024161B}"/>
              </a:ext>
            </a:extLst>
          </p:cNvPr>
          <p:cNvSpPr>
            <a:spLocks noGrp="1"/>
          </p:cNvSpPr>
          <p:nvPr>
            <p:ph type="body" sz="quarter" idx="10"/>
          </p:nvPr>
        </p:nvSpPr>
        <p:spPr>
          <a:xfrm>
            <a:off x="425302" y="1415768"/>
            <a:ext cx="10544967" cy="504000"/>
          </a:xfrm>
        </p:spPr>
        <p:txBody>
          <a:bodyPr/>
          <a:lstStyle/>
          <a:p>
            <a:endParaRPr lang="en-GB"/>
          </a:p>
        </p:txBody>
      </p:sp>
      <p:sp>
        <p:nvSpPr>
          <p:cNvPr id="16" name="Rectangle: Top Corners Rounded 38">
            <a:hlinkClick r:id="rId4" action="ppaction://hlinksldjump"/>
            <a:extLst>
              <a:ext uri="{FF2B5EF4-FFF2-40B4-BE49-F238E27FC236}">
                <a16:creationId xmlns:a16="http://schemas.microsoft.com/office/drawing/2014/main" id="{3F3B8164-B480-E07C-4729-DC9E76B5D219}"/>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7" name="Graphic 16" descr="Introductiepagina silhouet">
            <a:hlinkClick r:id="rId5" action="ppaction://hlinksldjump"/>
            <a:extLst>
              <a:ext uri="{FF2B5EF4-FFF2-40B4-BE49-F238E27FC236}">
                <a16:creationId xmlns:a16="http://schemas.microsoft.com/office/drawing/2014/main" id="{25B2BF12-3DFA-3A61-26D9-A379FD5790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18" name="Rectangle: Top Corners Rounded 1">
            <a:hlinkClick r:id="rId8" action="ppaction://hlinksldjump"/>
            <a:extLst>
              <a:ext uri="{FF2B5EF4-FFF2-40B4-BE49-F238E27FC236}">
                <a16:creationId xmlns:a16="http://schemas.microsoft.com/office/drawing/2014/main" id="{B34FFD42-19C7-EB15-6578-6FC2CF0B2025}"/>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0" name="Rectangle: Top Corners Rounded 1">
            <a:hlinkClick r:id="rId9" action="ppaction://hlinksldjump"/>
            <a:extLst>
              <a:ext uri="{FF2B5EF4-FFF2-40B4-BE49-F238E27FC236}">
                <a16:creationId xmlns:a16="http://schemas.microsoft.com/office/drawing/2014/main" id="{B3ADD9CF-E87A-6672-D39B-AB232A2BD629}"/>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1" name="Rectangle: Top Corners Rounded 1">
            <a:hlinkClick r:id="rId10" action="ppaction://hlinksldjump"/>
            <a:extLst>
              <a:ext uri="{FF2B5EF4-FFF2-40B4-BE49-F238E27FC236}">
                <a16:creationId xmlns:a16="http://schemas.microsoft.com/office/drawing/2014/main" id="{92E63339-0FF1-3634-578B-20CAF6F4B317}"/>
              </a:ext>
            </a:extLst>
          </p:cNvPr>
          <p:cNvSpPr/>
          <p:nvPr/>
        </p:nvSpPr>
        <p:spPr>
          <a:xfrm>
            <a:off x="304215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Veranderopgaven en verwachte impact</a:t>
            </a:r>
          </a:p>
        </p:txBody>
      </p:sp>
      <p:sp>
        <p:nvSpPr>
          <p:cNvPr id="32" name="Rectangle: Top Corners Rounded 1">
            <a:hlinkClick r:id="rId11" action="ppaction://hlinksldjump"/>
            <a:extLst>
              <a:ext uri="{FF2B5EF4-FFF2-40B4-BE49-F238E27FC236}">
                <a16:creationId xmlns:a16="http://schemas.microsoft.com/office/drawing/2014/main" id="{8EE1D66D-33AC-80C8-338C-A99E36A2282D}"/>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3" name="Rectangle: Top Corners Rounded 1">
            <a:hlinkClick r:id="rId12" action="ppaction://hlinksldjump"/>
            <a:extLst>
              <a:ext uri="{FF2B5EF4-FFF2-40B4-BE49-F238E27FC236}">
                <a16:creationId xmlns:a16="http://schemas.microsoft.com/office/drawing/2014/main" id="{D659EEBB-D42A-29B6-456B-6F4A0C5E22CA}"/>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4" name="Rectangle: Top Corners Rounded 1">
            <a:hlinkClick r:id="rId13" action="ppaction://hlinksldjump"/>
            <a:extLst>
              <a:ext uri="{FF2B5EF4-FFF2-40B4-BE49-F238E27FC236}">
                <a16:creationId xmlns:a16="http://schemas.microsoft.com/office/drawing/2014/main" id="{6BEC1225-81BA-4759-A4B6-B1CDF7460D8A}"/>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5" name="Rectangle: Top Corners Rounded 1">
            <a:hlinkClick r:id="rId14" action="ppaction://hlinksldjump"/>
            <a:extLst>
              <a:ext uri="{FF2B5EF4-FFF2-40B4-BE49-F238E27FC236}">
                <a16:creationId xmlns:a16="http://schemas.microsoft.com/office/drawing/2014/main" id="{0BFA66FE-E92D-8D04-605C-75C075D61A6D}"/>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6" name="Rectangle: Top Corners Rounded 1">
            <a:hlinkClick r:id="rId15" action="ppaction://hlinksldjump"/>
            <a:extLst>
              <a:ext uri="{FF2B5EF4-FFF2-40B4-BE49-F238E27FC236}">
                <a16:creationId xmlns:a16="http://schemas.microsoft.com/office/drawing/2014/main" id="{4021D3F9-DA4A-2981-5CDC-5399BCB66C72}"/>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7" name="Rectangle: Top Corners Rounded 1">
            <a:hlinkClick r:id="rId16" action="ppaction://hlinksldjump"/>
            <a:extLst>
              <a:ext uri="{FF2B5EF4-FFF2-40B4-BE49-F238E27FC236}">
                <a16:creationId xmlns:a16="http://schemas.microsoft.com/office/drawing/2014/main" id="{D3A13BF0-A226-4A92-1A9C-3FAD9BD9973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8" name="Rectangle: Top Corners Rounded 1">
            <a:hlinkClick r:id="rId17" action="ppaction://hlinksldjump"/>
            <a:extLst>
              <a:ext uri="{FF2B5EF4-FFF2-40B4-BE49-F238E27FC236}">
                <a16:creationId xmlns:a16="http://schemas.microsoft.com/office/drawing/2014/main" id="{75636DDF-7574-1DC8-8893-09C58632B51E}"/>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9" name="Rectangle: Top Corners Rounded 1">
            <a:hlinkClick r:id="rId18" action="ppaction://hlinksldjump"/>
            <a:extLst>
              <a:ext uri="{FF2B5EF4-FFF2-40B4-BE49-F238E27FC236}">
                <a16:creationId xmlns:a16="http://schemas.microsoft.com/office/drawing/2014/main" id="{F0C9DE58-5B3C-6042-50C5-F89AABD5C2E0}"/>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 name="Rechthoek: afgeronde hoeken 2">
            <a:extLst>
              <a:ext uri="{FF2B5EF4-FFF2-40B4-BE49-F238E27FC236}">
                <a16:creationId xmlns:a16="http://schemas.microsoft.com/office/drawing/2014/main" id="{C435F0E0-3DFB-4897-F311-BAF9C83AE70B}"/>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368987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31C59-1A54-561C-CDD6-58366E15C529}"/>
            </a:ext>
          </a:extLst>
        </p:cNvPr>
        <p:cNvGrpSpPr/>
        <p:nvPr/>
      </p:nvGrpSpPr>
      <p:grpSpPr>
        <a:xfrm>
          <a:off x="0" y="0"/>
          <a:ext cx="0" cy="0"/>
          <a:chOff x="0" y="0"/>
          <a:chExt cx="0" cy="0"/>
        </a:xfrm>
      </p:grpSpPr>
      <p:sp>
        <p:nvSpPr>
          <p:cNvPr id="2" name="Rechthoek 1">
            <a:extLst>
              <a:ext uri="{FF2B5EF4-FFF2-40B4-BE49-F238E27FC236}">
                <a16:creationId xmlns:a16="http://schemas.microsoft.com/office/drawing/2014/main" id="{ED5E73FD-260D-E7FB-1C6A-60DAF8C63D46}"/>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64BA1251-9DFB-F0BE-779C-2EAF85BACE1C}"/>
              </a:ext>
            </a:extLst>
          </p:cNvPr>
          <p:cNvSpPr/>
          <p:nvPr/>
        </p:nvSpPr>
        <p:spPr>
          <a:xfrm>
            <a:off x="11221643" y="6376589"/>
            <a:ext cx="965408" cy="473008"/>
          </a:xfrm>
          <a:prstGeom prst="rect">
            <a:avLst/>
          </a:prstGeom>
          <a:blipFill dpi="0" rotWithShape="1">
            <a:blip r:embed="rId3"/>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itle 7">
            <a:extLst>
              <a:ext uri="{FF2B5EF4-FFF2-40B4-BE49-F238E27FC236}">
                <a16:creationId xmlns:a16="http://schemas.microsoft.com/office/drawing/2014/main" id="{1DFD87C6-639F-47D2-FD9F-1BBAF9FD7AFA}"/>
              </a:ext>
            </a:extLst>
          </p:cNvPr>
          <p:cNvSpPr>
            <a:spLocks noGrp="1"/>
          </p:cNvSpPr>
          <p:nvPr>
            <p:ph type="title"/>
          </p:nvPr>
        </p:nvSpPr>
        <p:spPr/>
        <p:txBody>
          <a:bodyPr/>
          <a:lstStyle/>
          <a:p>
            <a:r>
              <a:rPr lang="en-GB" err="1"/>
              <a:t>Veranderstrategie</a:t>
            </a:r>
            <a:r>
              <a:rPr lang="en-GB"/>
              <a:t> om de </a:t>
            </a:r>
            <a:r>
              <a:rPr lang="en-GB" err="1"/>
              <a:t>verwachte</a:t>
            </a:r>
            <a:r>
              <a:rPr lang="en-GB"/>
              <a:t> </a:t>
            </a:r>
            <a:r>
              <a:rPr lang="en-GB" err="1"/>
              <a:t>resultaten</a:t>
            </a:r>
            <a:r>
              <a:rPr lang="en-GB"/>
              <a:t> van de </a:t>
            </a:r>
            <a:r>
              <a:rPr lang="en-GB" err="1"/>
              <a:t>zorgtransformatie</a:t>
            </a:r>
            <a:r>
              <a:rPr lang="en-GB"/>
              <a:t> </a:t>
            </a:r>
            <a:r>
              <a:rPr lang="en-GB" err="1"/>
              <a:t>te</a:t>
            </a:r>
            <a:r>
              <a:rPr lang="en-GB"/>
              <a:t> </a:t>
            </a:r>
            <a:r>
              <a:rPr lang="en-GB" err="1"/>
              <a:t>realiseren</a:t>
            </a:r>
            <a:endParaRPr lang="en-GB"/>
          </a:p>
        </p:txBody>
      </p:sp>
      <p:sp>
        <p:nvSpPr>
          <p:cNvPr id="29" name="Slide Number Placeholder 64">
            <a:extLst>
              <a:ext uri="{FF2B5EF4-FFF2-40B4-BE49-F238E27FC236}">
                <a16:creationId xmlns:a16="http://schemas.microsoft.com/office/drawing/2014/main" id="{6EF16855-4BAE-D56E-EA30-0B46A9568E75}"/>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25</a:t>
            </a:fld>
            <a:endParaRPr lang="nl-NL" sz="900"/>
          </a:p>
        </p:txBody>
      </p:sp>
      <p:sp>
        <p:nvSpPr>
          <p:cNvPr id="14" name="Tijdelijke aanduiding voor inhoud 2">
            <a:extLst>
              <a:ext uri="{FF2B5EF4-FFF2-40B4-BE49-F238E27FC236}">
                <a16:creationId xmlns:a16="http://schemas.microsoft.com/office/drawing/2014/main" id="{BC13A9BB-126E-7C98-78D1-AE1F82F5AA84}"/>
              </a:ext>
            </a:extLst>
          </p:cNvPr>
          <p:cNvSpPr>
            <a:spLocks noGrp="1"/>
          </p:cNvSpPr>
          <p:nvPr>
            <p:ph idx="1"/>
          </p:nvPr>
        </p:nvSpPr>
        <p:spPr>
          <a:xfrm>
            <a:off x="425302" y="1919768"/>
            <a:ext cx="11233171" cy="4456821"/>
          </a:xfrm>
        </p:spPr>
        <p:txBody>
          <a:bodyPr vert="horz" lIns="91440" tIns="45720" rIns="91440" bIns="45720" rtlCol="0" anchor="t">
            <a:noAutofit/>
          </a:bodyPr>
          <a:lstStyle/>
          <a:p>
            <a:pPr marL="0" lvl="1" indent="0" algn="just">
              <a:lnSpc>
                <a:spcPct val="110000"/>
              </a:lnSpc>
              <a:spcBef>
                <a:spcPts val="0"/>
              </a:spcBef>
              <a:buNone/>
            </a:pPr>
            <a:r>
              <a:rPr lang="nl-NL" sz="1800">
                <a:latin typeface="Verdana"/>
                <a:ea typeface="Verdana"/>
              </a:rPr>
              <a:t>[</a:t>
            </a:r>
            <a:r>
              <a:rPr lang="nl-NL" sz="1800" err="1">
                <a:latin typeface="Verdana"/>
                <a:ea typeface="Verdana"/>
              </a:rPr>
              <a:t>Placeholder</a:t>
            </a:r>
            <a:r>
              <a:rPr lang="nl-NL" sz="1800">
                <a:latin typeface="Verdana"/>
                <a:ea typeface="Verdana"/>
              </a:rPr>
              <a:t>]</a:t>
            </a:r>
          </a:p>
          <a:p>
            <a:pPr marL="0" lvl="1" indent="0" algn="just">
              <a:lnSpc>
                <a:spcPct val="110000"/>
              </a:lnSpc>
              <a:spcBef>
                <a:spcPts val="0"/>
              </a:spcBef>
              <a:buNone/>
            </a:pPr>
            <a:endParaRPr lang="nl-NL" sz="1800">
              <a:latin typeface="Verdana"/>
              <a:ea typeface="Verdana"/>
            </a:endParaRPr>
          </a:p>
          <a:p>
            <a:pPr marL="0" lvl="1" indent="0" algn="just">
              <a:lnSpc>
                <a:spcPct val="110000"/>
              </a:lnSpc>
              <a:spcBef>
                <a:spcPts val="0"/>
              </a:spcBef>
              <a:buNone/>
            </a:pPr>
            <a:r>
              <a:rPr lang="nl-NL" sz="1800">
                <a:latin typeface="Verdana"/>
                <a:ea typeface="Verdana"/>
              </a:rPr>
              <a:t>…</a:t>
            </a:r>
          </a:p>
          <a:p>
            <a:pPr marL="342900" lvl="1" indent="-342900" algn="just">
              <a:lnSpc>
                <a:spcPct val="110000"/>
              </a:lnSpc>
              <a:spcBef>
                <a:spcPts val="0"/>
              </a:spcBef>
              <a:buAutoNum type="arabicPeriod"/>
            </a:pPr>
            <a:endParaRPr lang="nl-NL" sz="1800">
              <a:latin typeface="Verdana"/>
              <a:ea typeface="Verdana"/>
            </a:endParaRPr>
          </a:p>
        </p:txBody>
      </p:sp>
      <p:sp>
        <p:nvSpPr>
          <p:cNvPr id="15" name="Text Placeholder 8">
            <a:extLst>
              <a:ext uri="{FF2B5EF4-FFF2-40B4-BE49-F238E27FC236}">
                <a16:creationId xmlns:a16="http://schemas.microsoft.com/office/drawing/2014/main" id="{920D65C8-35FD-E83D-2485-EBEA36CA30AF}"/>
              </a:ext>
            </a:extLst>
          </p:cNvPr>
          <p:cNvSpPr>
            <a:spLocks noGrp="1"/>
          </p:cNvSpPr>
          <p:nvPr>
            <p:ph type="body" sz="quarter" idx="10"/>
          </p:nvPr>
        </p:nvSpPr>
        <p:spPr>
          <a:xfrm>
            <a:off x="425302" y="1415768"/>
            <a:ext cx="10544967" cy="504000"/>
          </a:xfrm>
        </p:spPr>
        <p:txBody>
          <a:bodyPr/>
          <a:lstStyle/>
          <a:p>
            <a:endParaRPr lang="en-GB"/>
          </a:p>
        </p:txBody>
      </p:sp>
      <p:sp>
        <p:nvSpPr>
          <p:cNvPr id="3" name="Rectangle: Top Corners Rounded 38">
            <a:hlinkClick r:id="rId4" action="ppaction://hlinksldjump"/>
            <a:extLst>
              <a:ext uri="{FF2B5EF4-FFF2-40B4-BE49-F238E27FC236}">
                <a16:creationId xmlns:a16="http://schemas.microsoft.com/office/drawing/2014/main" id="{C132D5DF-B73C-CD0A-7558-FB2588392E41}"/>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9" name="Graphic 8" descr="Introductiepagina silhouet">
            <a:hlinkClick r:id="rId5" action="ppaction://hlinksldjump"/>
            <a:extLst>
              <a:ext uri="{FF2B5EF4-FFF2-40B4-BE49-F238E27FC236}">
                <a16:creationId xmlns:a16="http://schemas.microsoft.com/office/drawing/2014/main" id="{2D58EC43-FA81-6765-A3CA-9E18445BECA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10" name="Rectangle: Top Corners Rounded 1">
            <a:hlinkClick r:id="rId8" action="ppaction://hlinksldjump"/>
            <a:extLst>
              <a:ext uri="{FF2B5EF4-FFF2-40B4-BE49-F238E27FC236}">
                <a16:creationId xmlns:a16="http://schemas.microsoft.com/office/drawing/2014/main" id="{C309EC99-3716-8F01-4188-01A4AE46231C}"/>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1" name="Rectangle: Top Corners Rounded 1">
            <a:hlinkClick r:id="rId9" action="ppaction://hlinksldjump"/>
            <a:extLst>
              <a:ext uri="{FF2B5EF4-FFF2-40B4-BE49-F238E27FC236}">
                <a16:creationId xmlns:a16="http://schemas.microsoft.com/office/drawing/2014/main" id="{275FC5F1-A33F-7F00-8F5B-341160E093C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2" name="Rectangle: Top Corners Rounded 1">
            <a:hlinkClick r:id="rId10" action="ppaction://hlinksldjump"/>
            <a:extLst>
              <a:ext uri="{FF2B5EF4-FFF2-40B4-BE49-F238E27FC236}">
                <a16:creationId xmlns:a16="http://schemas.microsoft.com/office/drawing/2014/main" id="{90718FB5-7925-0A2A-94D5-AE77C9120D93}"/>
              </a:ext>
            </a:extLst>
          </p:cNvPr>
          <p:cNvSpPr/>
          <p:nvPr/>
        </p:nvSpPr>
        <p:spPr>
          <a:xfrm>
            <a:off x="304215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Veranderopgaven en verwachte impact</a:t>
            </a:r>
          </a:p>
        </p:txBody>
      </p:sp>
      <p:sp>
        <p:nvSpPr>
          <p:cNvPr id="13" name="Rectangle: Top Corners Rounded 1">
            <a:hlinkClick r:id="rId11" action="ppaction://hlinksldjump"/>
            <a:extLst>
              <a:ext uri="{FF2B5EF4-FFF2-40B4-BE49-F238E27FC236}">
                <a16:creationId xmlns:a16="http://schemas.microsoft.com/office/drawing/2014/main" id="{92FBA6E0-F0C7-DFDA-FF98-E459C8EC4383}"/>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6" name="Rectangle: Top Corners Rounded 1">
            <a:hlinkClick r:id="rId12" action="ppaction://hlinksldjump"/>
            <a:extLst>
              <a:ext uri="{FF2B5EF4-FFF2-40B4-BE49-F238E27FC236}">
                <a16:creationId xmlns:a16="http://schemas.microsoft.com/office/drawing/2014/main" id="{DC58D3E1-2E2B-A6CD-7D96-010BF42D2EF1}"/>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7" name="Rectangle: Top Corners Rounded 1">
            <a:hlinkClick r:id="rId13" action="ppaction://hlinksldjump"/>
            <a:extLst>
              <a:ext uri="{FF2B5EF4-FFF2-40B4-BE49-F238E27FC236}">
                <a16:creationId xmlns:a16="http://schemas.microsoft.com/office/drawing/2014/main" id="{FFD2A08C-D825-EC12-153D-9B24CD94DC5D}"/>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8" name="Rectangle: Top Corners Rounded 1">
            <a:hlinkClick r:id="rId14" action="ppaction://hlinksldjump"/>
            <a:extLst>
              <a:ext uri="{FF2B5EF4-FFF2-40B4-BE49-F238E27FC236}">
                <a16:creationId xmlns:a16="http://schemas.microsoft.com/office/drawing/2014/main" id="{53B2E0AC-4239-FECD-2053-07BBA56A1DB2}"/>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0" name="Rectangle: Top Corners Rounded 1">
            <a:hlinkClick r:id="rId15" action="ppaction://hlinksldjump"/>
            <a:extLst>
              <a:ext uri="{FF2B5EF4-FFF2-40B4-BE49-F238E27FC236}">
                <a16:creationId xmlns:a16="http://schemas.microsoft.com/office/drawing/2014/main" id="{A7B8AE4D-F140-252E-D27D-1833B7246391}"/>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1" name="Rectangle: Top Corners Rounded 1">
            <a:hlinkClick r:id="rId16" action="ppaction://hlinksldjump"/>
            <a:extLst>
              <a:ext uri="{FF2B5EF4-FFF2-40B4-BE49-F238E27FC236}">
                <a16:creationId xmlns:a16="http://schemas.microsoft.com/office/drawing/2014/main" id="{0B4928A9-1828-DE31-B8A8-9B2D968481CD}"/>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2" name="Rectangle: Top Corners Rounded 1">
            <a:hlinkClick r:id="rId17" action="ppaction://hlinksldjump"/>
            <a:extLst>
              <a:ext uri="{FF2B5EF4-FFF2-40B4-BE49-F238E27FC236}">
                <a16:creationId xmlns:a16="http://schemas.microsoft.com/office/drawing/2014/main" id="{CDF65627-42AC-F809-F8E0-FC70415AAA3D}"/>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3" name="Rectangle: Top Corners Rounded 1">
            <a:hlinkClick r:id="rId18" action="ppaction://hlinksldjump"/>
            <a:extLst>
              <a:ext uri="{FF2B5EF4-FFF2-40B4-BE49-F238E27FC236}">
                <a16:creationId xmlns:a16="http://schemas.microsoft.com/office/drawing/2014/main" id="{69382A5E-2A02-A563-4428-FAD221B61993}"/>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4" name="Rechthoek: afgeronde hoeken 3">
            <a:extLst>
              <a:ext uri="{FF2B5EF4-FFF2-40B4-BE49-F238E27FC236}">
                <a16:creationId xmlns:a16="http://schemas.microsoft.com/office/drawing/2014/main" id="{E957DFA5-1F39-4B35-1FC8-DA5ABC6D9F4B}"/>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515488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3974-21BC-6588-9D4B-3B2F21666EAA}"/>
            </a:ext>
          </a:extLst>
        </p:cNvPr>
        <p:cNvGrpSpPr/>
        <p:nvPr/>
      </p:nvGrpSpPr>
      <p:grpSpPr>
        <a:xfrm>
          <a:off x="0" y="0"/>
          <a:ext cx="0" cy="0"/>
          <a:chOff x="0" y="0"/>
          <a:chExt cx="0" cy="0"/>
        </a:xfrm>
      </p:grpSpPr>
      <p:sp>
        <p:nvSpPr>
          <p:cNvPr id="2" name="Rechthoek 1">
            <a:extLst>
              <a:ext uri="{FF2B5EF4-FFF2-40B4-BE49-F238E27FC236}">
                <a16:creationId xmlns:a16="http://schemas.microsoft.com/office/drawing/2014/main" id="{8226227A-EFBB-CB07-1C2A-73B2D2AF91F1}"/>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3C0C127D-C68F-B883-FBC0-D14BDC82CA72}"/>
              </a:ext>
            </a:extLst>
          </p:cNvPr>
          <p:cNvSpPr/>
          <p:nvPr/>
        </p:nvSpPr>
        <p:spPr>
          <a:xfrm>
            <a:off x="11221643" y="6376589"/>
            <a:ext cx="965408" cy="473008"/>
          </a:xfrm>
          <a:prstGeom prst="rect">
            <a:avLst/>
          </a:prstGeom>
          <a:blipFill dpi="0" rotWithShape="1">
            <a:blip r:embed="rId3"/>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itle 7">
            <a:extLst>
              <a:ext uri="{FF2B5EF4-FFF2-40B4-BE49-F238E27FC236}">
                <a16:creationId xmlns:a16="http://schemas.microsoft.com/office/drawing/2014/main" id="{B5FC405E-9B99-82E4-FBB0-7CD8EC2AEAA0}"/>
              </a:ext>
            </a:extLst>
          </p:cNvPr>
          <p:cNvSpPr>
            <a:spLocks noGrp="1"/>
          </p:cNvSpPr>
          <p:nvPr>
            <p:ph type="title"/>
          </p:nvPr>
        </p:nvSpPr>
        <p:spPr>
          <a:xfrm>
            <a:off x="425301" y="465998"/>
            <a:ext cx="10207539" cy="504000"/>
          </a:xfrm>
        </p:spPr>
        <p:txBody>
          <a:bodyPr/>
          <a:lstStyle/>
          <a:p>
            <a:r>
              <a:rPr lang="en-GB" err="1"/>
              <a:t>Stakeholderbetrokkenheid</a:t>
            </a:r>
            <a:r>
              <a:rPr lang="en-GB"/>
              <a:t> </a:t>
            </a:r>
            <a:r>
              <a:rPr lang="en-GB" err="1"/>
              <a:t>en</a:t>
            </a:r>
            <a:r>
              <a:rPr lang="en-GB"/>
              <a:t> </a:t>
            </a:r>
            <a:r>
              <a:rPr lang="en-GB" err="1"/>
              <a:t>communicatieplan</a:t>
            </a:r>
            <a:r>
              <a:rPr lang="en-GB"/>
              <a:t> </a:t>
            </a:r>
            <a:r>
              <a:rPr lang="en-GB" err="1"/>
              <a:t>tijdens</a:t>
            </a:r>
            <a:r>
              <a:rPr lang="en-GB"/>
              <a:t> de </a:t>
            </a:r>
            <a:r>
              <a:rPr lang="en-GB" err="1"/>
              <a:t>implementatie</a:t>
            </a:r>
            <a:r>
              <a:rPr lang="en-GB"/>
              <a:t> </a:t>
            </a:r>
            <a:r>
              <a:rPr lang="en-GB" err="1"/>
              <a:t>en</a:t>
            </a:r>
            <a:r>
              <a:rPr lang="en-GB"/>
              <a:t> (</a:t>
            </a:r>
            <a:r>
              <a:rPr lang="en-GB" err="1"/>
              <a:t>zorg</a:t>
            </a:r>
            <a:r>
              <a:rPr lang="en-GB"/>
              <a:t>-)</a:t>
            </a:r>
            <a:r>
              <a:rPr lang="en-GB" err="1"/>
              <a:t>transformatie</a:t>
            </a:r>
            <a:endParaRPr lang="en-GB"/>
          </a:p>
        </p:txBody>
      </p:sp>
      <p:sp>
        <p:nvSpPr>
          <p:cNvPr id="29" name="Slide Number Placeholder 64">
            <a:extLst>
              <a:ext uri="{FF2B5EF4-FFF2-40B4-BE49-F238E27FC236}">
                <a16:creationId xmlns:a16="http://schemas.microsoft.com/office/drawing/2014/main" id="{8D19873B-541F-B70C-F7BC-12107874DAC4}"/>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26</a:t>
            </a:fld>
            <a:endParaRPr lang="nl-NL" sz="900"/>
          </a:p>
        </p:txBody>
      </p:sp>
      <p:sp>
        <p:nvSpPr>
          <p:cNvPr id="14" name="Tijdelijke aanduiding voor inhoud 2">
            <a:extLst>
              <a:ext uri="{FF2B5EF4-FFF2-40B4-BE49-F238E27FC236}">
                <a16:creationId xmlns:a16="http://schemas.microsoft.com/office/drawing/2014/main" id="{84CE2A7E-8ABB-FC91-29C2-6FA04AF8AF39}"/>
              </a:ext>
            </a:extLst>
          </p:cNvPr>
          <p:cNvSpPr>
            <a:spLocks noGrp="1"/>
          </p:cNvSpPr>
          <p:nvPr>
            <p:ph idx="1"/>
          </p:nvPr>
        </p:nvSpPr>
        <p:spPr>
          <a:xfrm>
            <a:off x="425302" y="1919768"/>
            <a:ext cx="11233171" cy="4456821"/>
          </a:xfrm>
        </p:spPr>
        <p:txBody>
          <a:bodyPr vert="horz" lIns="91440" tIns="45720" rIns="91440" bIns="45720" rtlCol="0" anchor="t">
            <a:noAutofit/>
          </a:bodyPr>
          <a:lstStyle/>
          <a:p>
            <a:pPr marL="0" lvl="1" indent="0" algn="just">
              <a:lnSpc>
                <a:spcPct val="110000"/>
              </a:lnSpc>
              <a:spcBef>
                <a:spcPts val="0"/>
              </a:spcBef>
              <a:buNone/>
            </a:pPr>
            <a:r>
              <a:rPr lang="nl-NL" sz="1800">
                <a:latin typeface="Verdana"/>
                <a:ea typeface="Verdana"/>
              </a:rPr>
              <a:t>[</a:t>
            </a:r>
            <a:r>
              <a:rPr lang="nl-NL" sz="1800" err="1">
                <a:latin typeface="Verdana"/>
                <a:ea typeface="Verdana"/>
              </a:rPr>
              <a:t>Placeholder</a:t>
            </a:r>
            <a:r>
              <a:rPr lang="nl-NL" sz="1800">
                <a:latin typeface="Verdana"/>
                <a:ea typeface="Verdana"/>
              </a:rPr>
              <a:t>]</a:t>
            </a:r>
          </a:p>
          <a:p>
            <a:pPr marL="0" lvl="1" indent="0" algn="just">
              <a:lnSpc>
                <a:spcPct val="110000"/>
              </a:lnSpc>
              <a:spcBef>
                <a:spcPts val="0"/>
              </a:spcBef>
              <a:buNone/>
            </a:pPr>
            <a:endParaRPr lang="nl-NL" sz="1800">
              <a:latin typeface="Verdana"/>
              <a:ea typeface="Verdana"/>
            </a:endParaRPr>
          </a:p>
          <a:p>
            <a:pPr marL="0" lvl="1" indent="0" algn="just">
              <a:lnSpc>
                <a:spcPct val="110000"/>
              </a:lnSpc>
              <a:spcBef>
                <a:spcPts val="0"/>
              </a:spcBef>
              <a:buNone/>
            </a:pPr>
            <a:r>
              <a:rPr lang="nl-NL" sz="1800">
                <a:latin typeface="Verdana"/>
                <a:ea typeface="Verdana"/>
              </a:rPr>
              <a:t>…</a:t>
            </a:r>
          </a:p>
          <a:p>
            <a:pPr marL="342900" lvl="1" indent="-342900" algn="just">
              <a:lnSpc>
                <a:spcPct val="110000"/>
              </a:lnSpc>
              <a:spcBef>
                <a:spcPts val="0"/>
              </a:spcBef>
              <a:buAutoNum type="arabicPeriod"/>
            </a:pPr>
            <a:endParaRPr lang="nl-NL" sz="1800">
              <a:latin typeface="Verdana"/>
              <a:ea typeface="Verdana"/>
            </a:endParaRPr>
          </a:p>
        </p:txBody>
      </p:sp>
      <p:sp>
        <p:nvSpPr>
          <p:cNvPr id="15" name="Text Placeholder 8">
            <a:extLst>
              <a:ext uri="{FF2B5EF4-FFF2-40B4-BE49-F238E27FC236}">
                <a16:creationId xmlns:a16="http://schemas.microsoft.com/office/drawing/2014/main" id="{8539D8CA-0BAE-1AA3-A1C8-58E560E5DF5F}"/>
              </a:ext>
            </a:extLst>
          </p:cNvPr>
          <p:cNvSpPr>
            <a:spLocks noGrp="1"/>
          </p:cNvSpPr>
          <p:nvPr>
            <p:ph type="body" sz="quarter" idx="10"/>
          </p:nvPr>
        </p:nvSpPr>
        <p:spPr>
          <a:xfrm>
            <a:off x="425302" y="1415768"/>
            <a:ext cx="10544967" cy="504000"/>
          </a:xfrm>
        </p:spPr>
        <p:txBody>
          <a:bodyPr/>
          <a:lstStyle/>
          <a:p>
            <a:r>
              <a:rPr lang="nl-NL"/>
              <a:t>Voor het samen optrekken in de regio, verbinden we met stakeholders die vanuit de inhoud, management rol, </a:t>
            </a:r>
            <a:r>
              <a:rPr lang="nl-NL" err="1"/>
              <a:t>danwel</a:t>
            </a:r>
            <a:r>
              <a:rPr lang="nl-NL"/>
              <a:t> effecten betrokken zijn bij de processen en/of impact van de transformatie</a:t>
            </a:r>
            <a:endParaRPr lang="en-GB"/>
          </a:p>
        </p:txBody>
      </p:sp>
      <p:sp>
        <p:nvSpPr>
          <p:cNvPr id="3" name="Rectangle: Top Corners Rounded 38">
            <a:hlinkClick r:id="rId4" action="ppaction://hlinksldjump"/>
            <a:extLst>
              <a:ext uri="{FF2B5EF4-FFF2-40B4-BE49-F238E27FC236}">
                <a16:creationId xmlns:a16="http://schemas.microsoft.com/office/drawing/2014/main" id="{222A9491-2967-CD8F-4498-486CB061CBEE}"/>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9" name="Graphic 8" descr="Introductiepagina silhouet">
            <a:hlinkClick r:id="rId5" action="ppaction://hlinksldjump"/>
            <a:extLst>
              <a:ext uri="{FF2B5EF4-FFF2-40B4-BE49-F238E27FC236}">
                <a16:creationId xmlns:a16="http://schemas.microsoft.com/office/drawing/2014/main" id="{A141B556-AEC6-3BC4-C2AD-EE177222C93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10" name="Rectangle: Top Corners Rounded 1">
            <a:hlinkClick r:id="rId8" action="ppaction://hlinksldjump"/>
            <a:extLst>
              <a:ext uri="{FF2B5EF4-FFF2-40B4-BE49-F238E27FC236}">
                <a16:creationId xmlns:a16="http://schemas.microsoft.com/office/drawing/2014/main" id="{E3722DB8-91E8-6ADC-9895-36E930425933}"/>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1" name="Rectangle: Top Corners Rounded 1">
            <a:hlinkClick r:id="rId9" action="ppaction://hlinksldjump"/>
            <a:extLst>
              <a:ext uri="{FF2B5EF4-FFF2-40B4-BE49-F238E27FC236}">
                <a16:creationId xmlns:a16="http://schemas.microsoft.com/office/drawing/2014/main" id="{10C32DB9-DC10-1C3F-E0E0-6FA1C42E6C20}"/>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2" name="Rectangle: Top Corners Rounded 1">
            <a:hlinkClick r:id="rId10" action="ppaction://hlinksldjump"/>
            <a:extLst>
              <a:ext uri="{FF2B5EF4-FFF2-40B4-BE49-F238E27FC236}">
                <a16:creationId xmlns:a16="http://schemas.microsoft.com/office/drawing/2014/main" id="{9BBDF2C2-D926-85EA-E6A7-CA45C1F21561}"/>
              </a:ext>
            </a:extLst>
          </p:cNvPr>
          <p:cNvSpPr/>
          <p:nvPr/>
        </p:nvSpPr>
        <p:spPr>
          <a:xfrm>
            <a:off x="304215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Veranderopgaven en verwachte impact</a:t>
            </a:r>
          </a:p>
        </p:txBody>
      </p:sp>
      <p:sp>
        <p:nvSpPr>
          <p:cNvPr id="13" name="Rectangle: Top Corners Rounded 1">
            <a:hlinkClick r:id="rId11" action="ppaction://hlinksldjump"/>
            <a:extLst>
              <a:ext uri="{FF2B5EF4-FFF2-40B4-BE49-F238E27FC236}">
                <a16:creationId xmlns:a16="http://schemas.microsoft.com/office/drawing/2014/main" id="{EA55070F-A61A-E91E-6457-41BC8D4FF65C}"/>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6" name="Rectangle: Top Corners Rounded 1">
            <a:hlinkClick r:id="rId12" action="ppaction://hlinksldjump"/>
            <a:extLst>
              <a:ext uri="{FF2B5EF4-FFF2-40B4-BE49-F238E27FC236}">
                <a16:creationId xmlns:a16="http://schemas.microsoft.com/office/drawing/2014/main" id="{3808CE20-76D4-5F31-6F4F-FFFA3AA31771}"/>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7" name="Rectangle: Top Corners Rounded 1">
            <a:hlinkClick r:id="rId13" action="ppaction://hlinksldjump"/>
            <a:extLst>
              <a:ext uri="{FF2B5EF4-FFF2-40B4-BE49-F238E27FC236}">
                <a16:creationId xmlns:a16="http://schemas.microsoft.com/office/drawing/2014/main" id="{15857A94-919C-D185-0232-4C09B9938C2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8" name="Rectangle: Top Corners Rounded 1">
            <a:hlinkClick r:id="rId14" action="ppaction://hlinksldjump"/>
            <a:extLst>
              <a:ext uri="{FF2B5EF4-FFF2-40B4-BE49-F238E27FC236}">
                <a16:creationId xmlns:a16="http://schemas.microsoft.com/office/drawing/2014/main" id="{2B8D287E-FAC5-F767-420E-F2C3D30A7B5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0" name="Rectangle: Top Corners Rounded 1">
            <a:hlinkClick r:id="rId15" action="ppaction://hlinksldjump"/>
            <a:extLst>
              <a:ext uri="{FF2B5EF4-FFF2-40B4-BE49-F238E27FC236}">
                <a16:creationId xmlns:a16="http://schemas.microsoft.com/office/drawing/2014/main" id="{CCC06D11-AD7C-2F22-6C0B-DAE238BF49D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1" name="Rectangle: Top Corners Rounded 1">
            <a:hlinkClick r:id="rId16" action="ppaction://hlinksldjump"/>
            <a:extLst>
              <a:ext uri="{FF2B5EF4-FFF2-40B4-BE49-F238E27FC236}">
                <a16:creationId xmlns:a16="http://schemas.microsoft.com/office/drawing/2014/main" id="{102AC4BC-3F48-881F-5189-F6AD145F1C82}"/>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2" name="Rectangle: Top Corners Rounded 1">
            <a:hlinkClick r:id="rId17" action="ppaction://hlinksldjump"/>
            <a:extLst>
              <a:ext uri="{FF2B5EF4-FFF2-40B4-BE49-F238E27FC236}">
                <a16:creationId xmlns:a16="http://schemas.microsoft.com/office/drawing/2014/main" id="{DF86A29F-2BAF-77E6-F49C-BD1C03D5667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3" name="Rectangle: Top Corners Rounded 1">
            <a:hlinkClick r:id="rId18" action="ppaction://hlinksldjump"/>
            <a:extLst>
              <a:ext uri="{FF2B5EF4-FFF2-40B4-BE49-F238E27FC236}">
                <a16:creationId xmlns:a16="http://schemas.microsoft.com/office/drawing/2014/main" id="{76C76073-3897-C525-E464-6D424A890CE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4" name="Rechthoek: afgeronde hoeken 3">
            <a:extLst>
              <a:ext uri="{FF2B5EF4-FFF2-40B4-BE49-F238E27FC236}">
                <a16:creationId xmlns:a16="http://schemas.microsoft.com/office/drawing/2014/main" id="{745B066F-CE5F-4199-DEF7-932F03550792}"/>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00878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15E19-08EC-E957-6B9E-81D95514A0EF}"/>
              </a:ext>
            </a:extLst>
          </p:cNvPr>
          <p:cNvSpPr>
            <a:spLocks noGrp="1"/>
          </p:cNvSpPr>
          <p:nvPr>
            <p:ph type="title"/>
          </p:nvPr>
        </p:nvSpPr>
        <p:spPr/>
        <p:txBody>
          <a:bodyPr>
            <a:noAutofit/>
          </a:bodyPr>
          <a:lstStyle/>
          <a:p>
            <a:pPr algn="l"/>
            <a:r>
              <a:rPr lang="nl-NL" sz="2800">
                <a:latin typeface="Verdana Pro" panose="020B0604030504040204" pitchFamily="34" charset="0"/>
              </a:rPr>
              <a:t>Stakeholderbetrokkenheid en communicatie</a:t>
            </a:r>
          </a:p>
        </p:txBody>
      </p:sp>
      <p:sp>
        <p:nvSpPr>
          <p:cNvPr id="8" name="Text Placeholder 3">
            <a:extLst>
              <a:ext uri="{FF2B5EF4-FFF2-40B4-BE49-F238E27FC236}">
                <a16:creationId xmlns:a16="http://schemas.microsoft.com/office/drawing/2014/main" id="{E44AF60E-1F36-5647-60B7-9935DAC65753}"/>
              </a:ext>
            </a:extLst>
          </p:cNvPr>
          <p:cNvSpPr txBox="1">
            <a:spLocks/>
          </p:cNvSpPr>
          <p:nvPr/>
        </p:nvSpPr>
        <p:spPr>
          <a:xfrm>
            <a:off x="546211" y="1392107"/>
            <a:ext cx="3607918" cy="620359"/>
          </a:xfrm>
          <a:prstGeom prst="rect">
            <a:avLst/>
          </a:prstGeom>
          <a:solidFill>
            <a:srgbClr val="21BBEF">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Afstemming over de doelen en verwachtingen op het niveau van leiderschap, deelnemers, uitvoerders, zorgverleners én inwoners/ patiënten</a:t>
            </a:r>
          </a:p>
        </p:txBody>
      </p:sp>
      <p:sp>
        <p:nvSpPr>
          <p:cNvPr id="9" name="Rectangle: Rounded Corners 8">
            <a:extLst>
              <a:ext uri="{FF2B5EF4-FFF2-40B4-BE49-F238E27FC236}">
                <a16:creationId xmlns:a16="http://schemas.microsoft.com/office/drawing/2014/main" id="{9A8DE23D-60D5-F47F-2ECF-984A99CE1BF0}"/>
              </a:ext>
            </a:extLst>
          </p:cNvPr>
          <p:cNvSpPr/>
          <p:nvPr/>
        </p:nvSpPr>
        <p:spPr>
          <a:xfrm>
            <a:off x="533527" y="1061302"/>
            <a:ext cx="11233171" cy="288000"/>
          </a:xfrm>
          <a:prstGeom prst="roundRect">
            <a:avLst/>
          </a:prstGeom>
          <a:solidFill>
            <a:srgbClr val="21BB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52094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Doelstellingen betrokkenheid stakeholders: W</a:t>
            </a:r>
            <a:r>
              <a:rPr kumimoji="0" lang="nl-NL" sz="11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aarom</a:t>
            </a: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 zijn we betrokken?  </a:t>
            </a:r>
          </a:p>
        </p:txBody>
      </p:sp>
      <p:sp>
        <p:nvSpPr>
          <p:cNvPr id="12" name="Text Placeholder 3">
            <a:extLst>
              <a:ext uri="{FF2B5EF4-FFF2-40B4-BE49-F238E27FC236}">
                <a16:creationId xmlns:a16="http://schemas.microsoft.com/office/drawing/2014/main" id="{101F09C2-5986-7523-EC5B-E97833C02262}"/>
              </a:ext>
            </a:extLst>
          </p:cNvPr>
          <p:cNvSpPr txBox="1">
            <a:spLocks/>
          </p:cNvSpPr>
          <p:nvPr/>
        </p:nvSpPr>
        <p:spPr>
          <a:xfrm>
            <a:off x="4346153" y="1392107"/>
            <a:ext cx="3607918" cy="633075"/>
          </a:xfrm>
          <a:prstGeom prst="rect">
            <a:avLst/>
          </a:prstGeom>
          <a:solidFill>
            <a:srgbClr val="21BBEF">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Startpunt verandering, nodig voor executie en uitrol. Gedragen transformatie plan, vanuit de deelnemers en het IZA;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gelijkgerichtheid</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a:t>
            </a:r>
          </a:p>
        </p:txBody>
      </p:sp>
      <p:sp>
        <p:nvSpPr>
          <p:cNvPr id="13" name="Text Placeholder 3">
            <a:extLst>
              <a:ext uri="{FF2B5EF4-FFF2-40B4-BE49-F238E27FC236}">
                <a16:creationId xmlns:a16="http://schemas.microsoft.com/office/drawing/2014/main" id="{A1EEC72C-44EE-2DD6-964D-3791F67BB594}"/>
              </a:ext>
            </a:extLst>
          </p:cNvPr>
          <p:cNvSpPr txBox="1">
            <a:spLocks/>
          </p:cNvSpPr>
          <p:nvPr/>
        </p:nvSpPr>
        <p:spPr>
          <a:xfrm>
            <a:off x="8171464" y="1392107"/>
            <a:ext cx="3607918" cy="633075"/>
          </a:xfrm>
          <a:prstGeom prst="rect">
            <a:avLst/>
          </a:prstGeom>
          <a:solidFill>
            <a:srgbClr val="21BBEF">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Valideren en committeren aan impact en onderliggende business case voor transformatie opgaven in de regio.</a:t>
            </a:r>
          </a:p>
        </p:txBody>
      </p:sp>
      <p:sp>
        <p:nvSpPr>
          <p:cNvPr id="14" name="Rectangle: Rounded Corners 13">
            <a:extLst>
              <a:ext uri="{FF2B5EF4-FFF2-40B4-BE49-F238E27FC236}">
                <a16:creationId xmlns:a16="http://schemas.microsoft.com/office/drawing/2014/main" id="{12A082B7-78DB-18E2-5F1B-1F34AC5CBB51}"/>
              </a:ext>
            </a:extLst>
          </p:cNvPr>
          <p:cNvSpPr/>
          <p:nvPr/>
        </p:nvSpPr>
        <p:spPr>
          <a:xfrm>
            <a:off x="533526" y="2074022"/>
            <a:ext cx="11233171" cy="288000"/>
          </a:xfrm>
          <a:prstGeom prst="roundRect">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52094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Sleutelgroepen: Wie zijn betrokken? </a:t>
            </a:r>
          </a:p>
        </p:txBody>
      </p:sp>
      <p:sp>
        <p:nvSpPr>
          <p:cNvPr id="15" name="Text Placeholder 3">
            <a:extLst>
              <a:ext uri="{FF2B5EF4-FFF2-40B4-BE49-F238E27FC236}">
                <a16:creationId xmlns:a16="http://schemas.microsoft.com/office/drawing/2014/main" id="{B4F7E8FB-B20A-EF46-DEE2-E0C8BDC15121}"/>
              </a:ext>
            </a:extLst>
          </p:cNvPr>
          <p:cNvSpPr txBox="1">
            <a:spLocks/>
          </p:cNvSpPr>
          <p:nvPr/>
        </p:nvSpPr>
        <p:spPr>
          <a:xfrm>
            <a:off x="533526" y="2417527"/>
            <a:ext cx="2721600" cy="576000"/>
          </a:xfrm>
          <a:prstGeom prst="rect">
            <a:avLst/>
          </a:prstGeom>
          <a:solidFill>
            <a:srgbClr val="A2C877">
              <a:alpha val="10196"/>
            </a:srgbClr>
          </a:solidFill>
          <a:ln>
            <a:solidFill>
              <a:schemeClr val="tx1"/>
            </a:solidFill>
          </a:ln>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Kernteam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Vanuit regionale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governance</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structuur</a:t>
            </a:r>
          </a:p>
        </p:txBody>
      </p:sp>
      <p:sp>
        <p:nvSpPr>
          <p:cNvPr id="18" name="Text Placeholder 3">
            <a:extLst>
              <a:ext uri="{FF2B5EF4-FFF2-40B4-BE49-F238E27FC236}">
                <a16:creationId xmlns:a16="http://schemas.microsoft.com/office/drawing/2014/main" id="{529A5E67-9200-302D-D009-B015691B5223}"/>
              </a:ext>
            </a:extLst>
          </p:cNvPr>
          <p:cNvSpPr txBox="1">
            <a:spLocks/>
          </p:cNvSpPr>
          <p:nvPr/>
        </p:nvSpPr>
        <p:spPr>
          <a:xfrm>
            <a:off x="3376888" y="2417526"/>
            <a:ext cx="2721600" cy="576000"/>
          </a:xfrm>
          <a:prstGeom prst="rect">
            <a:avLst/>
          </a:prstGeom>
          <a:solidFill>
            <a:srgbClr val="A2C877">
              <a:alpha val="10196"/>
            </a:srgbClr>
          </a:solidFill>
          <a:ln>
            <a:solidFill>
              <a:schemeClr val="tx1"/>
            </a:solidFill>
          </a:ln>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RSO </a:t>
            </a:r>
            <a:r>
              <a:rPr kumimoji="0" lang="nl-NL" sz="1050" b="1"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Trijn</a:t>
            </a: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Programma management</a:t>
            </a: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20" name="Rectangle: Rounded Corners 19">
            <a:extLst>
              <a:ext uri="{FF2B5EF4-FFF2-40B4-BE49-F238E27FC236}">
                <a16:creationId xmlns:a16="http://schemas.microsoft.com/office/drawing/2014/main" id="{90977D38-3E6E-D2A0-E470-C2CC5949466B}"/>
              </a:ext>
            </a:extLst>
          </p:cNvPr>
          <p:cNvSpPr/>
          <p:nvPr/>
        </p:nvSpPr>
        <p:spPr>
          <a:xfrm>
            <a:off x="533526" y="3698097"/>
            <a:ext cx="11233171" cy="288000"/>
          </a:xfrm>
          <a:prstGeom prst="roundRect">
            <a:avLst/>
          </a:prstGeom>
          <a:solidFill>
            <a:srgbClr val="8C9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52094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Aanpak: Hoe zijn we betrokken? </a:t>
            </a:r>
          </a:p>
        </p:txBody>
      </p:sp>
      <p:sp>
        <p:nvSpPr>
          <p:cNvPr id="22" name="Text Placeholder 3">
            <a:extLst>
              <a:ext uri="{FF2B5EF4-FFF2-40B4-BE49-F238E27FC236}">
                <a16:creationId xmlns:a16="http://schemas.microsoft.com/office/drawing/2014/main" id="{5C6FED76-D44C-2196-96DA-4C0C2D598B66}"/>
              </a:ext>
            </a:extLst>
          </p:cNvPr>
          <p:cNvSpPr txBox="1">
            <a:spLocks/>
          </p:cNvSpPr>
          <p:nvPr/>
        </p:nvSpPr>
        <p:spPr>
          <a:xfrm>
            <a:off x="533526" y="4028902"/>
            <a:ext cx="3607918" cy="2016000"/>
          </a:xfrm>
          <a:prstGeom prst="rect">
            <a:avLst/>
          </a:prstGeom>
          <a:solidFill>
            <a:srgbClr val="8C95CD">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10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Betrokkenheid principes</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Transparantie en vertrouwen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We zijn open over geleverd werk, verwachtingen en communicatie.</a:t>
            </a: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Inclusieve en adequate vertegenwoordiging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De juiste vertegenwoordiging met het juiste mandaat wordt aangehaakt waar nodig. </a:t>
            </a: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Effectieve ondersteuning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Met oog op de reeds bestaande tijdsdruk in de zorg, een werkbaar schema met passende ondersteuning </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a:t>
            </a: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23" name="Text Placeholder 3">
            <a:extLst>
              <a:ext uri="{FF2B5EF4-FFF2-40B4-BE49-F238E27FC236}">
                <a16:creationId xmlns:a16="http://schemas.microsoft.com/office/drawing/2014/main" id="{6E0145C8-1599-AE33-B191-2A6E7DDBAA46}"/>
              </a:ext>
            </a:extLst>
          </p:cNvPr>
          <p:cNvSpPr txBox="1">
            <a:spLocks/>
          </p:cNvSpPr>
          <p:nvPr/>
        </p:nvSpPr>
        <p:spPr>
          <a:xfrm>
            <a:off x="8158779" y="4028902"/>
            <a:ext cx="3607918" cy="2016000"/>
          </a:xfrm>
          <a:prstGeom prst="rect">
            <a:avLst/>
          </a:prstGeom>
          <a:solidFill>
            <a:srgbClr val="8C95CD">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10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Afstemmingsmomenten en communicatie</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Alle sleutelgroepen ontvangen algemene informatie over inhoud, proces en beoogde verandering / impact. Gerichte en aangepaste communicatie per domein MSZ, Huisartsen, VVT, GGZ, Acute zorg, inwoners etc. </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Communicatieplan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Uitwerking verhaallijn voor regelmatige (i.e. 2-wekelijkse) schriftelijke en korte contactmomenten bv. op  programma en/of thema niveau. Actualiteit op website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Trijn</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a:t>
            </a:r>
          </a:p>
        </p:txBody>
      </p:sp>
      <p:sp>
        <p:nvSpPr>
          <p:cNvPr id="25" name="Text Placeholder 3">
            <a:extLst>
              <a:ext uri="{FF2B5EF4-FFF2-40B4-BE49-F238E27FC236}">
                <a16:creationId xmlns:a16="http://schemas.microsoft.com/office/drawing/2014/main" id="{E2D6A8C3-080E-960E-9594-1B36FED09178}"/>
              </a:ext>
            </a:extLst>
          </p:cNvPr>
          <p:cNvSpPr txBox="1">
            <a:spLocks/>
          </p:cNvSpPr>
          <p:nvPr/>
        </p:nvSpPr>
        <p:spPr>
          <a:xfrm>
            <a:off x="4346152" y="4028901"/>
            <a:ext cx="3607918" cy="2016000"/>
          </a:xfrm>
          <a:prstGeom prst="rect">
            <a:avLst/>
          </a:prstGeom>
          <a:solidFill>
            <a:srgbClr val="8C95CD">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10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Geprioriteerde doelen</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10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Regionale keuzes en commitment </a:t>
            </a: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Uitwerken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usecases</a:t>
            </a: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Opstellen impact analyse &amp; business case</a:t>
            </a: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Bepalen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KPI’s</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 mijlpalen en i</a:t>
            </a: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Ontwikkelen i</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ntegrale</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regionale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roadmap</a:t>
            </a: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Inrichten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reionale</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(programma)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governance</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a:t>
            </a: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Bewaken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gelijkgerichtheid</a:t>
            </a: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171450" marR="0" lvl="0" indent="-171450" algn="l" defTabSz="410338"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10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a:t>
            </a: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3" name="Text Placeholder 3">
            <a:extLst>
              <a:ext uri="{FF2B5EF4-FFF2-40B4-BE49-F238E27FC236}">
                <a16:creationId xmlns:a16="http://schemas.microsoft.com/office/drawing/2014/main" id="{E0113882-BD0A-2C9A-928F-634A4A7B824B}"/>
              </a:ext>
            </a:extLst>
          </p:cNvPr>
          <p:cNvSpPr txBox="1">
            <a:spLocks/>
          </p:cNvSpPr>
          <p:nvPr/>
        </p:nvSpPr>
        <p:spPr>
          <a:xfrm>
            <a:off x="6204223" y="2417526"/>
            <a:ext cx="2721600" cy="576000"/>
          </a:xfrm>
          <a:prstGeom prst="rect">
            <a:avLst/>
          </a:prstGeom>
          <a:solidFill>
            <a:srgbClr val="A2C877">
              <a:alpha val="10196"/>
            </a:srgbClr>
          </a:solidFill>
          <a:ln>
            <a:solidFill>
              <a:schemeClr val="tx1"/>
            </a:solidFill>
          </a:ln>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Werkgroepleden</a:t>
            </a: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Alle werkgroepen, vertegenwoordiging vanuit zorgveld, trekkers </a:t>
            </a:r>
            <a:r>
              <a:rPr kumimoji="0" lang="nl-NL" sz="1050" b="0"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usecases</a:t>
            </a: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4" name="Text Placeholder 3">
            <a:extLst>
              <a:ext uri="{FF2B5EF4-FFF2-40B4-BE49-F238E27FC236}">
                <a16:creationId xmlns:a16="http://schemas.microsoft.com/office/drawing/2014/main" id="{C591B0FF-8902-1C08-1730-E60A54703D04}"/>
              </a:ext>
            </a:extLst>
          </p:cNvPr>
          <p:cNvSpPr txBox="1">
            <a:spLocks/>
          </p:cNvSpPr>
          <p:nvPr/>
        </p:nvSpPr>
        <p:spPr>
          <a:xfrm>
            <a:off x="9047585" y="2417525"/>
            <a:ext cx="2721600" cy="576000"/>
          </a:xfrm>
          <a:prstGeom prst="rect">
            <a:avLst/>
          </a:prstGeom>
          <a:solidFill>
            <a:srgbClr val="A2C877">
              <a:alpha val="10196"/>
            </a:srgbClr>
          </a:solidFill>
          <a:ln>
            <a:solidFill>
              <a:schemeClr val="tx1"/>
            </a:solidFill>
          </a:ln>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0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Stuurgroep digitale transformatie– </a:t>
            </a:r>
            <a:r>
              <a:rPr kumimoji="0" lang="nl-NL" sz="100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Bestuurders, wel mandaat om besluiten te nemen</a:t>
            </a:r>
            <a:endParaRPr kumimoji="0" lang="nl-NL" sz="100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5" name="Text Placeholder 3">
            <a:extLst>
              <a:ext uri="{FF2B5EF4-FFF2-40B4-BE49-F238E27FC236}">
                <a16:creationId xmlns:a16="http://schemas.microsoft.com/office/drawing/2014/main" id="{21F8478D-C100-C6B3-C85B-4DF288814C52}"/>
              </a:ext>
            </a:extLst>
          </p:cNvPr>
          <p:cNvSpPr txBox="1">
            <a:spLocks/>
          </p:cNvSpPr>
          <p:nvPr/>
        </p:nvSpPr>
        <p:spPr>
          <a:xfrm>
            <a:off x="533526" y="3056052"/>
            <a:ext cx="2721600" cy="576000"/>
          </a:xfrm>
          <a:prstGeom prst="rect">
            <a:avLst/>
          </a:prstGeom>
          <a:solidFill>
            <a:srgbClr val="A2C877">
              <a:alpha val="10196"/>
            </a:srgbClr>
          </a:solidFill>
          <a:ln>
            <a:solidFill>
              <a:schemeClr val="tx1"/>
            </a:solidFill>
          </a:ln>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Inwoners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Vertegenwoordiging en consultatie door werkgroepen </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6" name="Text Placeholder 3">
            <a:extLst>
              <a:ext uri="{FF2B5EF4-FFF2-40B4-BE49-F238E27FC236}">
                <a16:creationId xmlns:a16="http://schemas.microsoft.com/office/drawing/2014/main" id="{F78D6EF9-1037-B9EC-F176-BEBB4DC0818F}"/>
              </a:ext>
            </a:extLst>
          </p:cNvPr>
          <p:cNvSpPr txBox="1">
            <a:spLocks/>
          </p:cNvSpPr>
          <p:nvPr/>
        </p:nvSpPr>
        <p:spPr>
          <a:xfrm>
            <a:off x="3376888" y="3056051"/>
            <a:ext cx="2721600" cy="576000"/>
          </a:xfrm>
          <a:prstGeom prst="rect">
            <a:avLst/>
          </a:prstGeom>
          <a:solidFill>
            <a:srgbClr val="A2C877">
              <a:alpha val="10196"/>
            </a:srgbClr>
          </a:solidFill>
          <a:ln>
            <a:solidFill>
              <a:schemeClr val="tx1"/>
            </a:solidFill>
          </a:ln>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1. Leden RSO </a:t>
            </a:r>
            <a:r>
              <a:rPr kumimoji="0" lang="nl-NL" sz="1050" b="1"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Trijn</a:t>
            </a: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Bestuurders (breder dan stuurgroep DT)</a:t>
            </a:r>
          </a:p>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2. Partners RSO </a:t>
            </a:r>
            <a:r>
              <a:rPr kumimoji="0" lang="nl-NL" sz="1050" b="1" i="0" u="none" strike="noStrike" kern="1200" cap="none" spc="0" normalizeH="0" baseline="0" noProof="0" err="1">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Trijn</a:t>
            </a: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  </a:t>
            </a:r>
            <a:endPar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7" name="Text Placeholder 3">
            <a:extLst>
              <a:ext uri="{FF2B5EF4-FFF2-40B4-BE49-F238E27FC236}">
                <a16:creationId xmlns:a16="http://schemas.microsoft.com/office/drawing/2014/main" id="{40949CB1-48DA-6F76-ADA7-33B55CA47F1D}"/>
              </a:ext>
            </a:extLst>
          </p:cNvPr>
          <p:cNvSpPr txBox="1">
            <a:spLocks/>
          </p:cNvSpPr>
          <p:nvPr/>
        </p:nvSpPr>
        <p:spPr>
          <a:xfrm>
            <a:off x="6204223" y="3056051"/>
            <a:ext cx="2721600" cy="576000"/>
          </a:xfrm>
          <a:prstGeom prst="rect">
            <a:avLst/>
          </a:prstGeom>
          <a:solidFill>
            <a:srgbClr val="A2C877">
              <a:alpha val="10196"/>
            </a:srgbClr>
          </a:solidFill>
          <a:ln>
            <a:solidFill>
              <a:schemeClr val="tx1"/>
            </a:solidFill>
          </a:ln>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1"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Zorgverzekeraars –</a:t>
            </a: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Adviseurs Zorginnovatie Zorgtransformatie voor transformatiegelden aanvraag </a:t>
            </a:r>
          </a:p>
        </p:txBody>
      </p:sp>
      <p:sp>
        <p:nvSpPr>
          <p:cNvPr id="10" name="Text Placeholder 3">
            <a:extLst>
              <a:ext uri="{FF2B5EF4-FFF2-40B4-BE49-F238E27FC236}">
                <a16:creationId xmlns:a16="http://schemas.microsoft.com/office/drawing/2014/main" id="{14CA0EB7-1A2F-A2B0-283C-1206C5946D4F}"/>
              </a:ext>
            </a:extLst>
          </p:cNvPr>
          <p:cNvSpPr txBox="1">
            <a:spLocks/>
          </p:cNvSpPr>
          <p:nvPr/>
        </p:nvSpPr>
        <p:spPr>
          <a:xfrm>
            <a:off x="9047585" y="3056050"/>
            <a:ext cx="2721600" cy="576000"/>
          </a:xfrm>
          <a:prstGeom prst="rect">
            <a:avLst/>
          </a:prstGeom>
          <a:solidFill>
            <a:srgbClr val="A2C877">
              <a:alpha val="10196"/>
            </a:srgbClr>
          </a:solidFill>
          <a:ln>
            <a:solidFill>
              <a:schemeClr val="tx1"/>
            </a:solidFill>
          </a:ln>
        </p:spPr>
        <p:txBody>
          <a:bodyPr lIns="91440" tIns="45720" rIns="91440" bIns="45720" anchor="t"/>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defTabSz="410338">
              <a:lnSpc>
                <a:spcPct val="100000"/>
              </a:lnSpc>
              <a:spcBef>
                <a:spcPts val="0"/>
              </a:spcBef>
              <a:defRPr/>
            </a:pPr>
            <a:r>
              <a:rPr lang="nl-NL" sz="1050" b="1">
                <a:solidFill>
                  <a:srgbClr val="1B1C33"/>
                </a:solidFill>
                <a:latin typeface="Verdana"/>
                <a:ea typeface="Verdana"/>
                <a:cs typeface="HelveticaNowDisplay Bold" panose="020B0804030202020204" pitchFamily="34" charset="0"/>
              </a:rPr>
              <a:t>Architectuurraad </a:t>
            </a:r>
            <a:r>
              <a:rPr kumimoji="0" lang="nl-NL" sz="1050" b="1" i="0" u="none" strike="noStrike" kern="1200" cap="none" spc="0" normalizeH="0" baseline="0" noProof="0">
                <a:ln>
                  <a:noFill/>
                </a:ln>
                <a:solidFill>
                  <a:srgbClr val="1B1C33"/>
                </a:solidFill>
                <a:effectLst/>
                <a:uLnTx/>
                <a:uFillTx/>
                <a:latin typeface="Verdana"/>
                <a:ea typeface="Verdana"/>
                <a:cs typeface="HelveticaNowDisplay Bold" panose="020B0804030202020204" pitchFamily="34" charset="0"/>
              </a:rPr>
              <a:t>– </a:t>
            </a:r>
            <a:r>
              <a:rPr kumimoji="0" lang="nl-NL" sz="1050" b="0" i="0" u="none" strike="noStrike" kern="1200" cap="none" spc="0" normalizeH="0" baseline="0" noProof="0">
                <a:ln>
                  <a:noFill/>
                </a:ln>
                <a:solidFill>
                  <a:srgbClr val="1B1C33"/>
                </a:solidFill>
                <a:effectLst/>
                <a:uLnTx/>
                <a:uFillTx/>
                <a:latin typeface="Verdana"/>
                <a:ea typeface="Verdana"/>
                <a:cs typeface="HelveticaNowDisplay Bold" panose="020B0804030202020204" pitchFamily="34" charset="0"/>
              </a:rPr>
              <a:t>Architecten/ICT managers (80% kerngroep), adviserend</a:t>
            </a:r>
            <a:endParaRPr kumimoji="0" lang="nl-NL" sz="1050" b="1" i="0" u="none" strike="noStrike" kern="1200" cap="none" spc="0" normalizeH="0" baseline="0" noProof="0">
              <a:ln>
                <a:noFill/>
              </a:ln>
              <a:solidFill>
                <a:srgbClr val="1B1C33"/>
              </a:solidFill>
              <a:effectLst/>
              <a:uLnTx/>
              <a:uFillTx/>
              <a:latin typeface="Verdana"/>
              <a:ea typeface="Verdana"/>
              <a:cs typeface="HelveticaNowDisplay Bold" panose="020B0804030202020204" pitchFamily="34" charset="0"/>
            </a:endParaRPr>
          </a:p>
        </p:txBody>
      </p:sp>
      <p:sp>
        <p:nvSpPr>
          <p:cNvPr id="11" name="Rechthoek: afgeronde hoeken 10">
            <a:extLst>
              <a:ext uri="{FF2B5EF4-FFF2-40B4-BE49-F238E27FC236}">
                <a16:creationId xmlns:a16="http://schemas.microsoft.com/office/drawing/2014/main" id="{30679128-931D-753B-C409-334036452B8C}"/>
              </a:ext>
            </a:extLst>
          </p:cNvPr>
          <p:cNvSpPr/>
          <p:nvPr/>
        </p:nvSpPr>
        <p:spPr>
          <a:xfrm rot="20103230">
            <a:off x="4126254" y="2812424"/>
            <a:ext cx="4054379" cy="1637997"/>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Concept</a:t>
            </a:r>
            <a:endParaRPr kumimoji="0" lang="en-NL"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p:txBody>
      </p:sp>
      <p:sp>
        <p:nvSpPr>
          <p:cNvPr id="28" name="Text Placeholder 3">
            <a:extLst>
              <a:ext uri="{FF2B5EF4-FFF2-40B4-BE49-F238E27FC236}">
                <a16:creationId xmlns:a16="http://schemas.microsoft.com/office/drawing/2014/main" id="{46CADECB-474B-F6C1-9153-8B0C9F862EFB}"/>
              </a:ext>
            </a:extLst>
          </p:cNvPr>
          <p:cNvSpPr txBox="1">
            <a:spLocks/>
          </p:cNvSpPr>
          <p:nvPr/>
        </p:nvSpPr>
        <p:spPr>
          <a:xfrm>
            <a:off x="546211" y="6476240"/>
            <a:ext cx="3607918" cy="288000"/>
          </a:xfrm>
          <a:prstGeom prst="rect">
            <a:avLst/>
          </a:prstGeom>
          <a:solidFill>
            <a:srgbClr val="21BBEF">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Actieve, tijdige samenwerking met sleutelgroepen</a:t>
            </a:r>
          </a:p>
        </p:txBody>
      </p:sp>
      <p:sp>
        <p:nvSpPr>
          <p:cNvPr id="29" name="Rectangle: Rounded Corners 8">
            <a:extLst>
              <a:ext uri="{FF2B5EF4-FFF2-40B4-BE49-F238E27FC236}">
                <a16:creationId xmlns:a16="http://schemas.microsoft.com/office/drawing/2014/main" id="{61154FC1-A5C7-9ECA-EE36-9A409CB4C667}"/>
              </a:ext>
            </a:extLst>
          </p:cNvPr>
          <p:cNvSpPr/>
          <p:nvPr/>
        </p:nvSpPr>
        <p:spPr>
          <a:xfrm>
            <a:off x="533525" y="6132016"/>
            <a:ext cx="11233171" cy="288000"/>
          </a:xfrm>
          <a:prstGeom prst="roundRect">
            <a:avLst/>
          </a:prstGeom>
          <a:solidFill>
            <a:srgbClr val="21BB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52094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Kritische Succesfactoren</a:t>
            </a:r>
          </a:p>
        </p:txBody>
      </p:sp>
      <p:sp>
        <p:nvSpPr>
          <p:cNvPr id="30" name="Text Placeholder 3">
            <a:extLst>
              <a:ext uri="{FF2B5EF4-FFF2-40B4-BE49-F238E27FC236}">
                <a16:creationId xmlns:a16="http://schemas.microsoft.com/office/drawing/2014/main" id="{BF498F9C-21EC-D026-A9F0-0EC73BB36D12}"/>
              </a:ext>
            </a:extLst>
          </p:cNvPr>
          <p:cNvSpPr txBox="1">
            <a:spLocks/>
          </p:cNvSpPr>
          <p:nvPr/>
        </p:nvSpPr>
        <p:spPr>
          <a:xfrm>
            <a:off x="4333453" y="6476239"/>
            <a:ext cx="3636000" cy="288000"/>
          </a:xfrm>
          <a:prstGeom prst="rect">
            <a:avLst/>
          </a:prstGeom>
          <a:solidFill>
            <a:srgbClr val="21BBEF">
              <a:alpha val="10196"/>
            </a:srgbClr>
          </a:solidFill>
        </p:spPr>
        <p:txBody>
          <a:bodyPr/>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0" i="0" u="none" strike="noStrike" kern="1200" cap="none" spc="0" normalizeH="0" baseline="0" noProof="0">
                <a:ln>
                  <a:noFill/>
                </a:ln>
                <a:solidFill>
                  <a:srgbClr val="1B1C33"/>
                </a:solidFill>
                <a:effectLst/>
                <a:uLnTx/>
                <a:uFillTx/>
                <a:latin typeface="Verdana" panose="020B0604030504040204" pitchFamily="34" charset="0"/>
                <a:ea typeface="Verdana" panose="020B0604030504040204" pitchFamily="34" charset="0"/>
                <a:cs typeface="HelveticaNowDisplay Bold" panose="020B0804030202020204" pitchFamily="34" charset="0"/>
              </a:rPr>
              <a:t>Gemeenschappelijke visie voor gedeelde resultaten</a:t>
            </a:r>
          </a:p>
        </p:txBody>
      </p:sp>
      <p:sp>
        <p:nvSpPr>
          <p:cNvPr id="31" name="Text Placeholder 3">
            <a:extLst>
              <a:ext uri="{FF2B5EF4-FFF2-40B4-BE49-F238E27FC236}">
                <a16:creationId xmlns:a16="http://schemas.microsoft.com/office/drawing/2014/main" id="{F63818FB-1594-D063-ACC9-BAB619270753}"/>
              </a:ext>
            </a:extLst>
          </p:cNvPr>
          <p:cNvSpPr txBox="1">
            <a:spLocks/>
          </p:cNvSpPr>
          <p:nvPr/>
        </p:nvSpPr>
        <p:spPr>
          <a:xfrm>
            <a:off x="8171464" y="6476239"/>
            <a:ext cx="3607918" cy="288000"/>
          </a:xfrm>
          <a:prstGeom prst="rect">
            <a:avLst/>
          </a:prstGeom>
          <a:solidFill>
            <a:srgbClr val="21BBEF">
              <a:alpha val="10196"/>
            </a:srgbClr>
          </a:solidFill>
        </p:spPr>
        <p:txBody>
          <a:bodyPr lIns="91440" tIns="45720" rIns="91440" bIns="45720" anchor="t"/>
          <a:lstStyle>
            <a:lvl1pPr marL="0" indent="0" algn="l" defTabSz="360000" rtl="0" eaLnBrk="1" latinLnBrk="0" hangingPunct="1">
              <a:lnSpc>
                <a:spcPts val="2600"/>
              </a:lnSpc>
              <a:spcBef>
                <a:spcPts val="769"/>
              </a:spcBef>
              <a:spcAft>
                <a:spcPts val="0"/>
              </a:spcAft>
              <a:buFont typeface="Arial" panose="020B0604020202020204" pitchFamily="34" charset="0"/>
              <a:buNone/>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1pPr>
            <a:lvl2pPr marL="177800" indent="-17621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2pPr>
            <a:lvl3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smtClean="0">
                <a:solidFill>
                  <a:schemeClr val="accent1"/>
                </a:solidFill>
                <a:latin typeface="HelveticaNowDisplay Light" panose="020B0404030202020204" pitchFamily="34" charset="0"/>
                <a:ea typeface="+mn-ea"/>
                <a:cs typeface="HelveticaNowDisplay Light" panose="020B0404030202020204" pitchFamily="34" charset="0"/>
              </a:defRPr>
            </a:lvl3pPr>
            <a:lvl4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4pPr>
            <a:lvl5pPr marL="360363" indent="-182563" algn="l" defTabSz="360000" rtl="0" eaLnBrk="1" latinLnBrk="0" hangingPunct="1">
              <a:lnSpc>
                <a:spcPts val="2600"/>
              </a:lnSpc>
              <a:spcBef>
                <a:spcPts val="384"/>
              </a:spcBef>
              <a:spcAft>
                <a:spcPts val="0"/>
              </a:spcAft>
              <a:buFont typeface="Arial" panose="020B0604020202020204" pitchFamily="34" charset="0"/>
              <a:buChar char="•"/>
              <a:defRPr lang="en-US" sz="1800" kern="1200">
                <a:solidFill>
                  <a:schemeClr val="accent1"/>
                </a:solidFill>
                <a:latin typeface="HelveticaNowDisplay Light" panose="020B0404030202020204" pitchFamily="34" charset="0"/>
                <a:ea typeface="+mn-ea"/>
                <a:cs typeface="HelveticaNowDisplay Light" panose="020B0404030202020204" pitchFamily="34" charset="0"/>
              </a:defRPr>
            </a:lvl5pPr>
            <a:lvl6pPr marL="1932284"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6pPr>
            <a:lvl7pPr marL="2283613"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7pPr>
            <a:lvl8pPr marL="2634938"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8pPr>
            <a:lvl9pPr marL="2986260" indent="-175663" algn="l" defTabSz="702647" rtl="0" eaLnBrk="1" latinLnBrk="0" hangingPunct="1">
              <a:lnSpc>
                <a:spcPct val="90000"/>
              </a:lnSpc>
              <a:spcBef>
                <a:spcPts val="384"/>
              </a:spcBef>
              <a:buFont typeface="Arial" panose="020B0604020202020204" pitchFamily="34" charset="0"/>
              <a:buChar char="•"/>
              <a:defRPr sz="1383" kern="1200">
                <a:solidFill>
                  <a:schemeClr val="tx1"/>
                </a:solidFill>
                <a:latin typeface="+mn-lt"/>
                <a:ea typeface="+mn-ea"/>
                <a:cs typeface="+mn-cs"/>
              </a:defRPr>
            </a:lvl9pPr>
          </a:lstStyle>
          <a:p>
            <a:pPr marL="0" marR="0" lvl="0" indent="0" algn="l" defTabSz="41033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050" b="0" i="0" u="none" strike="noStrike" kern="1200" cap="none" spc="0" normalizeH="0" baseline="0" noProof="0">
                <a:ln>
                  <a:noFill/>
                </a:ln>
                <a:solidFill>
                  <a:srgbClr val="1B1C33"/>
                </a:solidFill>
                <a:effectLst/>
                <a:uLnTx/>
                <a:uFillTx/>
                <a:latin typeface="Verdana"/>
                <a:ea typeface="Verdana"/>
                <a:cs typeface="HelveticaNowDisplay Bold" panose="020B0804030202020204" pitchFamily="34" charset="0"/>
              </a:rPr>
              <a:t>Krachtige </a:t>
            </a:r>
            <a:r>
              <a:rPr lang="nl-NL" sz="1050">
                <a:solidFill>
                  <a:srgbClr val="1B1C33"/>
                </a:solidFill>
                <a:latin typeface="Verdana"/>
                <a:ea typeface="Verdana"/>
                <a:cs typeface="HelveticaNowDisplay Bold" panose="020B0804030202020204" pitchFamily="34" charset="0"/>
              </a:rPr>
              <a:t>programma</a:t>
            </a:r>
            <a:r>
              <a:rPr kumimoji="0" lang="nl-NL" sz="1050" b="0" i="0" u="none" strike="noStrike" kern="1200" cap="none" spc="0" normalizeH="0" baseline="0" noProof="0">
                <a:ln>
                  <a:noFill/>
                </a:ln>
                <a:solidFill>
                  <a:srgbClr val="1B1C33"/>
                </a:solidFill>
                <a:effectLst/>
                <a:uLnTx/>
                <a:uFillTx/>
                <a:latin typeface="Verdana"/>
                <a:ea typeface="Verdana"/>
                <a:cs typeface="HelveticaNowDisplay Bold" panose="020B0804030202020204" pitchFamily="34" charset="0"/>
              </a:rPr>
              <a:t> </a:t>
            </a:r>
            <a:r>
              <a:rPr kumimoji="0" lang="nl-NL" sz="1050" b="0" i="0" u="none" strike="noStrike" kern="1200" cap="none" spc="0" normalizeH="0" baseline="0" noProof="0" err="1">
                <a:ln>
                  <a:noFill/>
                </a:ln>
                <a:solidFill>
                  <a:srgbClr val="1B1C33"/>
                </a:solidFill>
                <a:effectLst/>
                <a:uLnTx/>
                <a:uFillTx/>
                <a:latin typeface="Verdana"/>
                <a:ea typeface="Verdana"/>
                <a:cs typeface="HelveticaNowDisplay Bold" panose="020B0804030202020204" pitchFamily="34" charset="0"/>
              </a:rPr>
              <a:t>governance</a:t>
            </a:r>
            <a:endParaRPr kumimoji="0" lang="nl-NL" sz="1050" b="0" i="0" u="none" strike="noStrike" kern="1200" cap="none" spc="0" normalizeH="0" baseline="0" noProof="0">
              <a:ln>
                <a:noFill/>
              </a:ln>
              <a:solidFill>
                <a:srgbClr val="1B1C33"/>
              </a:solidFill>
              <a:effectLst/>
              <a:uLnTx/>
              <a:uFillTx/>
              <a:latin typeface="Verdana"/>
              <a:ea typeface="Verdana"/>
              <a:cs typeface="HelveticaNowDisplay Bold" panose="020B0804030202020204" pitchFamily="34" charset="0"/>
            </a:endParaRPr>
          </a:p>
        </p:txBody>
      </p:sp>
      <p:sp>
        <p:nvSpPr>
          <p:cNvPr id="38" name="Rectangle: Top Corners Rounded 38">
            <a:hlinkClick r:id="rId3" action="ppaction://hlinksldjump"/>
            <a:extLst>
              <a:ext uri="{FF2B5EF4-FFF2-40B4-BE49-F238E27FC236}">
                <a16:creationId xmlns:a16="http://schemas.microsoft.com/office/drawing/2014/main" id="{75D42E39-4174-8C57-688E-7AA62534EC7E}"/>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9" name="Graphic 38" descr="Introductiepagina silhouet">
            <a:hlinkClick r:id="rId4" action="ppaction://hlinksldjump"/>
            <a:extLst>
              <a:ext uri="{FF2B5EF4-FFF2-40B4-BE49-F238E27FC236}">
                <a16:creationId xmlns:a16="http://schemas.microsoft.com/office/drawing/2014/main" id="{873D30CC-C37B-509F-E1E8-B3665EB4A0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40" name="Rectangle: Top Corners Rounded 1">
            <a:hlinkClick r:id="rId7" action="ppaction://hlinksldjump"/>
            <a:extLst>
              <a:ext uri="{FF2B5EF4-FFF2-40B4-BE49-F238E27FC236}">
                <a16:creationId xmlns:a16="http://schemas.microsoft.com/office/drawing/2014/main" id="{6A0E7A4D-9841-6F88-6C62-88E96172C0FD}"/>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41" name="Rectangle: Top Corners Rounded 1">
            <a:hlinkClick r:id="rId8" action="ppaction://hlinksldjump"/>
            <a:extLst>
              <a:ext uri="{FF2B5EF4-FFF2-40B4-BE49-F238E27FC236}">
                <a16:creationId xmlns:a16="http://schemas.microsoft.com/office/drawing/2014/main" id="{32C165E3-4377-2234-7AB3-567F42EACA8B}"/>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42" name="Rectangle: Top Corners Rounded 1">
            <a:hlinkClick r:id="rId9" action="ppaction://hlinksldjump"/>
            <a:extLst>
              <a:ext uri="{FF2B5EF4-FFF2-40B4-BE49-F238E27FC236}">
                <a16:creationId xmlns:a16="http://schemas.microsoft.com/office/drawing/2014/main" id="{CB9CF2FF-BD50-B044-AF88-7375B6687C45}"/>
              </a:ext>
            </a:extLst>
          </p:cNvPr>
          <p:cNvSpPr/>
          <p:nvPr/>
        </p:nvSpPr>
        <p:spPr>
          <a:xfrm>
            <a:off x="304215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Veranderopgaven en verwachte impact</a:t>
            </a:r>
          </a:p>
        </p:txBody>
      </p:sp>
      <p:sp>
        <p:nvSpPr>
          <p:cNvPr id="43" name="Rectangle: Top Corners Rounded 1">
            <a:hlinkClick r:id="rId10" action="ppaction://hlinksldjump"/>
            <a:extLst>
              <a:ext uri="{FF2B5EF4-FFF2-40B4-BE49-F238E27FC236}">
                <a16:creationId xmlns:a16="http://schemas.microsoft.com/office/drawing/2014/main" id="{A452069D-95D2-AFFF-CC37-7625950E4DDE}"/>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4" name="Rectangle: Top Corners Rounded 1">
            <a:hlinkClick r:id="rId11" action="ppaction://hlinksldjump"/>
            <a:extLst>
              <a:ext uri="{FF2B5EF4-FFF2-40B4-BE49-F238E27FC236}">
                <a16:creationId xmlns:a16="http://schemas.microsoft.com/office/drawing/2014/main" id="{EA5CF437-142F-3A9A-9948-12E3054E00B6}"/>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45" name="Rectangle: Top Corners Rounded 1">
            <a:hlinkClick r:id="rId12" action="ppaction://hlinksldjump"/>
            <a:extLst>
              <a:ext uri="{FF2B5EF4-FFF2-40B4-BE49-F238E27FC236}">
                <a16:creationId xmlns:a16="http://schemas.microsoft.com/office/drawing/2014/main" id="{8D243466-A33B-AA68-10FD-02B37EC6C328}"/>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6" name="Rectangle: Top Corners Rounded 1">
            <a:hlinkClick r:id="rId13" action="ppaction://hlinksldjump"/>
            <a:extLst>
              <a:ext uri="{FF2B5EF4-FFF2-40B4-BE49-F238E27FC236}">
                <a16:creationId xmlns:a16="http://schemas.microsoft.com/office/drawing/2014/main" id="{60280AD6-51DF-802D-953D-60199FC4F55D}"/>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7" name="Rectangle: Top Corners Rounded 1">
            <a:hlinkClick r:id="rId14" action="ppaction://hlinksldjump"/>
            <a:extLst>
              <a:ext uri="{FF2B5EF4-FFF2-40B4-BE49-F238E27FC236}">
                <a16:creationId xmlns:a16="http://schemas.microsoft.com/office/drawing/2014/main" id="{9E681B15-3B92-6D40-62A6-C042063A6D9E}"/>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8" name="Rectangle: Top Corners Rounded 1">
            <a:hlinkClick r:id="rId15" action="ppaction://hlinksldjump"/>
            <a:extLst>
              <a:ext uri="{FF2B5EF4-FFF2-40B4-BE49-F238E27FC236}">
                <a16:creationId xmlns:a16="http://schemas.microsoft.com/office/drawing/2014/main" id="{AF51CC99-E247-0326-E2B7-C1868228BC4A}"/>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9" name="Rectangle: Top Corners Rounded 1">
            <a:hlinkClick r:id="rId16" action="ppaction://hlinksldjump"/>
            <a:extLst>
              <a:ext uri="{FF2B5EF4-FFF2-40B4-BE49-F238E27FC236}">
                <a16:creationId xmlns:a16="http://schemas.microsoft.com/office/drawing/2014/main" id="{0ED43A99-C442-63D9-F066-FBBAF49F96E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50" name="Rectangle: Top Corners Rounded 1">
            <a:hlinkClick r:id="rId17" action="ppaction://hlinksldjump"/>
            <a:extLst>
              <a:ext uri="{FF2B5EF4-FFF2-40B4-BE49-F238E27FC236}">
                <a16:creationId xmlns:a16="http://schemas.microsoft.com/office/drawing/2014/main" id="{D860B185-D1D6-4789-CCBD-9CEE6D8D1B5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2882762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a:bodyPr>
          <a:lstStyle/>
          <a:p>
            <a:pPr algn="ctr"/>
            <a:r>
              <a:rPr lang="nl-NL" sz="3600">
                <a:latin typeface="Verdana Pro"/>
                <a:cs typeface="Helvetica"/>
              </a:rPr>
              <a:t>Uitwerking van de transformatie-opgaven en </a:t>
            </a:r>
            <a:r>
              <a:rPr lang="nl-NL" sz="3600" err="1">
                <a:latin typeface="Verdana Pro"/>
                <a:cs typeface="Helvetica"/>
              </a:rPr>
              <a:t>usecases</a:t>
            </a:r>
            <a:endParaRPr lang="nl-NL"/>
          </a:p>
        </p:txBody>
      </p:sp>
    </p:spTree>
    <p:extLst>
      <p:ext uri="{BB962C8B-B14F-4D97-AF65-F5344CB8AC3E}">
        <p14:creationId xmlns:p14="http://schemas.microsoft.com/office/powerpoint/2010/main" val="2184701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fontScale="90000"/>
          </a:bodyPr>
          <a:lstStyle/>
          <a:p>
            <a:r>
              <a:rPr lang="nl-NL">
                <a:latin typeface="Verdana Pro"/>
                <a:cs typeface="Helvetica"/>
              </a:rPr>
              <a:t>Verdieping Thema 1: </a:t>
            </a:r>
            <a:br>
              <a:rPr lang="nl-NL">
                <a:latin typeface="Verdana Pro"/>
                <a:cs typeface="Helvetica"/>
              </a:rPr>
            </a:br>
            <a:r>
              <a:rPr lang="nl-NL">
                <a:latin typeface="Verdana Pro"/>
                <a:cs typeface="Helvetica"/>
              </a:rPr>
              <a:t>Digitale (zorg)communicatie met inwoners en patiënten, en professionals onderling ter ondersteuning van netwerkzorg</a:t>
            </a:r>
            <a:endParaRPr lang="en-US"/>
          </a:p>
        </p:txBody>
      </p:sp>
      <p:pic>
        <p:nvPicPr>
          <p:cNvPr id="2" name="Afbeelding 1">
            <a:extLst>
              <a:ext uri="{FF2B5EF4-FFF2-40B4-BE49-F238E27FC236}">
                <a16:creationId xmlns:a16="http://schemas.microsoft.com/office/drawing/2014/main" id="{062BF282-5D75-C76B-3652-074DD3F16239}"/>
              </a:ext>
            </a:extLst>
          </p:cNvPr>
          <p:cNvPicPr>
            <a:picLocks noChangeAspect="1"/>
          </p:cNvPicPr>
          <p:nvPr/>
        </p:nvPicPr>
        <p:blipFill>
          <a:blip r:embed="rId6"/>
          <a:stretch>
            <a:fillRect/>
          </a:stretch>
        </p:blipFill>
        <p:spPr>
          <a:xfrm>
            <a:off x="10300560" y="839874"/>
            <a:ext cx="1764485" cy="674084"/>
          </a:xfrm>
          <a:prstGeom prst="rect">
            <a:avLst/>
          </a:prstGeom>
        </p:spPr>
      </p:pic>
      <p:sp>
        <p:nvSpPr>
          <p:cNvPr id="5" name="Rechthoek 4">
            <a:extLst>
              <a:ext uri="{FF2B5EF4-FFF2-40B4-BE49-F238E27FC236}">
                <a16:creationId xmlns:a16="http://schemas.microsoft.com/office/drawing/2014/main" id="{F0258917-6851-D25E-8F71-95E7C5753CB0}"/>
              </a:ext>
            </a:extLst>
          </p:cNvPr>
          <p:cNvSpPr/>
          <p:nvPr/>
        </p:nvSpPr>
        <p:spPr>
          <a:xfrm>
            <a:off x="10270080" y="1369300"/>
            <a:ext cx="1800000" cy="180000"/>
          </a:xfrm>
          <a:prstGeom prst="rect">
            <a:avLst/>
          </a:prstGeom>
          <a:solidFill>
            <a:schemeClr val="bg2">
              <a:alpha val="70000"/>
            </a:schemeClr>
          </a:solidFill>
          <a:ln w="38100">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7" name="Rechthoek 6">
            <a:extLst>
              <a:ext uri="{FF2B5EF4-FFF2-40B4-BE49-F238E27FC236}">
                <a16:creationId xmlns:a16="http://schemas.microsoft.com/office/drawing/2014/main" id="{D3F5150A-2A2A-C938-836B-41C073CD6D7E}"/>
              </a:ext>
            </a:extLst>
          </p:cNvPr>
          <p:cNvSpPr/>
          <p:nvPr/>
        </p:nvSpPr>
        <p:spPr>
          <a:xfrm>
            <a:off x="11170080" y="839901"/>
            <a:ext cx="900000" cy="504000"/>
          </a:xfrm>
          <a:prstGeom prst="rect">
            <a:avLst/>
          </a:prstGeom>
          <a:solidFill>
            <a:schemeClr val="bg2">
              <a:alpha val="70000"/>
            </a:schemeClr>
          </a:solidFill>
          <a:ln w="38100">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3" name="Rechthoek 2">
            <a:extLst>
              <a:ext uri="{FF2B5EF4-FFF2-40B4-BE49-F238E27FC236}">
                <a16:creationId xmlns:a16="http://schemas.microsoft.com/office/drawing/2014/main" id="{D4457549-F20E-BFB5-EFAB-7D663A3A5A09}"/>
              </a:ext>
            </a:extLst>
          </p:cNvPr>
          <p:cNvSpPr/>
          <p:nvPr/>
        </p:nvSpPr>
        <p:spPr>
          <a:xfrm>
            <a:off x="10270080" y="839107"/>
            <a:ext cx="900000" cy="50400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Tree>
    <p:extLst>
      <p:ext uri="{BB962C8B-B14F-4D97-AF65-F5344CB8AC3E}">
        <p14:creationId xmlns:p14="http://schemas.microsoft.com/office/powerpoint/2010/main" val="1063822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81CC4-B9D8-215E-F9DC-0558B4FCDE59}"/>
            </a:ext>
          </a:extLst>
        </p:cNvPr>
        <p:cNvGrpSpPr/>
        <p:nvPr/>
      </p:nvGrpSpPr>
      <p:grpSpPr>
        <a:xfrm>
          <a:off x="0" y="0"/>
          <a:ext cx="0" cy="0"/>
          <a:chOff x="0" y="0"/>
          <a:chExt cx="0" cy="0"/>
        </a:xfrm>
      </p:grpSpPr>
      <p:sp>
        <p:nvSpPr>
          <p:cNvPr id="2" name="Rechthoek 1">
            <a:extLst>
              <a:ext uri="{FF2B5EF4-FFF2-40B4-BE49-F238E27FC236}">
                <a16:creationId xmlns:a16="http://schemas.microsoft.com/office/drawing/2014/main" id="{F21BB3DB-45FE-4749-0305-77AE330C0D67}"/>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91C915AD-24CF-6664-D9A3-DC879410A2D1}"/>
              </a:ext>
            </a:extLst>
          </p:cNvPr>
          <p:cNvSpPr/>
          <p:nvPr/>
        </p:nvSpPr>
        <p:spPr>
          <a:xfrm>
            <a:off x="11221643" y="6376589"/>
            <a:ext cx="965408" cy="473008"/>
          </a:xfrm>
          <a:prstGeom prst="rect">
            <a:avLst/>
          </a:prstGeom>
          <a:blipFill dpi="0" rotWithShape="1">
            <a:blip r:embed="rId3"/>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itle 7">
            <a:extLst>
              <a:ext uri="{FF2B5EF4-FFF2-40B4-BE49-F238E27FC236}">
                <a16:creationId xmlns:a16="http://schemas.microsoft.com/office/drawing/2014/main" id="{505C4BCE-1036-7666-509B-D7C781339B7E}"/>
              </a:ext>
            </a:extLst>
          </p:cNvPr>
          <p:cNvSpPr>
            <a:spLocks noGrp="1"/>
          </p:cNvSpPr>
          <p:nvPr>
            <p:ph type="title"/>
          </p:nvPr>
        </p:nvSpPr>
        <p:spPr>
          <a:xfrm>
            <a:off x="425301" y="465998"/>
            <a:ext cx="10544967" cy="504000"/>
          </a:xfrm>
        </p:spPr>
        <p:txBody>
          <a:bodyPr/>
          <a:lstStyle/>
          <a:p>
            <a:r>
              <a:rPr lang="nl-NL" sz="2800">
                <a:latin typeface="Verdana Pro" panose="020B0604030504040204" pitchFamily="34" charset="0"/>
              </a:rPr>
              <a:t>D</a:t>
            </a:r>
            <a:r>
              <a:rPr lang="nl-NL" sz="2800" b="1">
                <a:solidFill>
                  <a:srgbClr val="8C95CD"/>
                </a:solidFill>
                <a:latin typeface="Verdana Pro" panose="020B0604030504040204" pitchFamily="34" charset="0"/>
              </a:rPr>
              <a:t>igitale (zorg)communicatie voor een i</a:t>
            </a:r>
            <a:r>
              <a:rPr lang="nl-NL" sz="2800">
                <a:latin typeface="Verdana Pro" panose="020B0604030504040204" pitchFamily="34" charset="0"/>
              </a:rPr>
              <a:t>mpactvolle transformatie </a:t>
            </a:r>
            <a:r>
              <a:rPr lang="nl-NL" sz="2800" b="1">
                <a:solidFill>
                  <a:srgbClr val="8C95CD"/>
                </a:solidFill>
                <a:latin typeface="Verdana Pro" panose="020B0604030504040204" pitchFamily="34" charset="0"/>
              </a:rPr>
              <a:t>van keten, naar netwerkzorg</a:t>
            </a:r>
            <a:endParaRPr lang="en-GB"/>
          </a:p>
        </p:txBody>
      </p:sp>
      <p:sp>
        <p:nvSpPr>
          <p:cNvPr id="29" name="Slide Number Placeholder 64">
            <a:extLst>
              <a:ext uri="{FF2B5EF4-FFF2-40B4-BE49-F238E27FC236}">
                <a16:creationId xmlns:a16="http://schemas.microsoft.com/office/drawing/2014/main" id="{032A31AE-D52E-97EA-ED9D-996B56A642DF}"/>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30</a:t>
            </a:fld>
            <a:endParaRPr lang="nl-NL" sz="900"/>
          </a:p>
        </p:txBody>
      </p:sp>
      <p:sp>
        <p:nvSpPr>
          <p:cNvPr id="14" name="Tijdelijke aanduiding voor inhoud 2">
            <a:extLst>
              <a:ext uri="{FF2B5EF4-FFF2-40B4-BE49-F238E27FC236}">
                <a16:creationId xmlns:a16="http://schemas.microsoft.com/office/drawing/2014/main" id="{3FB3CE0B-1D4C-4764-CAB8-E3F7A67FCDBE}"/>
              </a:ext>
            </a:extLst>
          </p:cNvPr>
          <p:cNvSpPr>
            <a:spLocks noGrp="1"/>
          </p:cNvSpPr>
          <p:nvPr>
            <p:ph idx="1"/>
          </p:nvPr>
        </p:nvSpPr>
        <p:spPr>
          <a:xfrm>
            <a:off x="425302" y="2828260"/>
            <a:ext cx="11233171" cy="3548329"/>
          </a:xfrm>
        </p:spPr>
        <p:txBody>
          <a:bodyPr vert="horz" lIns="91440" tIns="45720" rIns="91440" bIns="45720" rtlCol="0" anchor="t">
            <a:noAutofit/>
          </a:bodyPr>
          <a:lstStyle/>
          <a:p>
            <a:pPr algn="just"/>
            <a:r>
              <a:rPr lang="nl-NL" dirty="0"/>
              <a:t>Samenwerking in het netwerk van zorg en welzijn in de regio en het beschikbaar stellen van data behorend bij het meedenkconsult en kort overleg, de digitale verwijzing én de tweewegcommunicatie wordt daarmee gefaciliteerd. Het doel is om te komen tot uniforme, regionale digitale en (zorg)communicatie met inwoners en patiënten, en professionals onderling. </a:t>
            </a:r>
          </a:p>
          <a:p>
            <a:pPr algn="just"/>
            <a:r>
              <a:rPr lang="nl-NL" dirty="0"/>
              <a:t>Het betreft de ondersteuning van regionale transmurale afspraken (</a:t>
            </a:r>
            <a:r>
              <a:rPr lang="nl-NL" dirty="0" err="1"/>
              <a:t>RTAs</a:t>
            </a:r>
            <a:r>
              <a:rPr lang="nl-NL" dirty="0"/>
              <a:t>) en zorgprocessen over de domeinen en muren van (zorg-) organisaties in de regio. Samenwerking met het sociale domein voor het bepalen van de juiste interventie, ondersteuning of verwijzing is daarbij voorwaardelijk, voor het leveren van meer passende zorg en ondersteuning; ongeacht of dit nu wordt geleverd vanuit het buurtteam, thuiszorg, eerste- of tweede lijn.</a:t>
            </a:r>
          </a:p>
          <a:p>
            <a:pPr algn="just"/>
            <a:r>
              <a:rPr lang="nl-NL" dirty="0"/>
              <a:t>Afhankelijk van de context en situatie, zal de communicatie plaatsvinden via passende kanalen en daartoe geselecteerde innovatieve zorgtoepassingen. Deze  digitale zorgtoepassingen worden middels een (</a:t>
            </a:r>
            <a:r>
              <a:rPr lang="nl-NL" dirty="0" err="1"/>
              <a:t>n.t.b</a:t>
            </a:r>
            <a:r>
              <a:rPr lang="nl-NL" dirty="0"/>
              <a:t>.) digitaal platform voor communicatie en verwijzing beschikbaar gesteld. Dit zal onderdeel uitmaken van het fundament digitalisering en gegevensuitwisseling voor regio Midden-Nederland. De geprioriteerde </a:t>
            </a:r>
            <a:r>
              <a:rPr lang="nl-NL" dirty="0" err="1"/>
              <a:t>use</a:t>
            </a:r>
            <a:r>
              <a:rPr lang="nl-NL" dirty="0"/>
              <a:t> cases zijn het meedenkconsult, digitaal verwijzen en tweewegcommunicatie1 en maken deel uit van het realiseren van digitale en (zorg-) communicatie in (multidisciplinair) netwerkzorg.</a:t>
            </a:r>
          </a:p>
          <a:p>
            <a:pPr algn="just"/>
            <a:endParaRPr lang="nl-NL" dirty="0"/>
          </a:p>
          <a:p>
            <a:pPr algn="just"/>
            <a:endParaRPr lang="nl-NL" dirty="0"/>
          </a:p>
          <a:p>
            <a:pPr algn="just"/>
            <a:endParaRPr lang="nl-NL" dirty="0"/>
          </a:p>
        </p:txBody>
      </p:sp>
      <p:sp>
        <p:nvSpPr>
          <p:cNvPr id="15" name="Text Placeholder 8">
            <a:extLst>
              <a:ext uri="{FF2B5EF4-FFF2-40B4-BE49-F238E27FC236}">
                <a16:creationId xmlns:a16="http://schemas.microsoft.com/office/drawing/2014/main" id="{154D70D8-3833-12CC-F609-30817E70E741}"/>
              </a:ext>
            </a:extLst>
          </p:cNvPr>
          <p:cNvSpPr>
            <a:spLocks noGrp="1"/>
          </p:cNvSpPr>
          <p:nvPr>
            <p:ph type="body" sz="quarter" idx="10"/>
          </p:nvPr>
        </p:nvSpPr>
        <p:spPr>
          <a:xfrm>
            <a:off x="425302" y="1415767"/>
            <a:ext cx="11142921" cy="1388331"/>
          </a:xfrm>
        </p:spPr>
        <p:txBody>
          <a:bodyPr/>
          <a:lstStyle/>
          <a:p>
            <a:pPr algn="just"/>
            <a:r>
              <a:rPr lang="nl-NL" dirty="0">
                <a:effectLst/>
              </a:rPr>
              <a:t>Om goed in te kunnen spelen op de stijgende zorgvraag en stijgende complexiteit van de zorgvraag is het belangrijk dat partijen in het netwerk rondom de inwoner, samen met de inwoner en elkaar goed en effectief samenwerken. Om samen te kunnen werken is afstemming en communicatie meer en beter benodigd. Dit zal in de regio worden ondersteund ten behoeve van betere netwerkzorg. Thema 1 richt zich op digitalisering van communicatie(middelen). De </a:t>
            </a:r>
            <a:r>
              <a:rPr lang="nl-NL" dirty="0" err="1">
                <a:effectLst/>
              </a:rPr>
              <a:t>usecases</a:t>
            </a:r>
            <a:r>
              <a:rPr lang="nl-NL" dirty="0">
                <a:effectLst/>
              </a:rPr>
              <a:t> dragen bij aan het faciliteren van digitalisering in het transmurale netwerk van zorg, waardoor onderlinge afstemming n communicatie makkelijker wordt. </a:t>
            </a:r>
          </a:p>
          <a:p>
            <a:pPr algn="just"/>
            <a:endParaRPr lang="nl-NL" dirty="0">
              <a:effectLst/>
            </a:endParaRPr>
          </a:p>
        </p:txBody>
      </p:sp>
      <p:sp>
        <p:nvSpPr>
          <p:cNvPr id="3" name="Gelijkbenige driehoek 2">
            <a:extLst>
              <a:ext uri="{FF2B5EF4-FFF2-40B4-BE49-F238E27FC236}">
                <a16:creationId xmlns:a16="http://schemas.microsoft.com/office/drawing/2014/main" id="{0B19F7E4-99C7-9281-3FF7-8B47E62CDE2D}"/>
              </a:ext>
            </a:extLst>
          </p:cNvPr>
          <p:cNvSpPr/>
          <p:nvPr/>
        </p:nvSpPr>
        <p:spPr>
          <a:xfrm rot="11341136">
            <a:off x="9658117" y="-507978"/>
            <a:ext cx="363287" cy="837397"/>
          </a:xfrm>
          <a:prstGeom prst="triangle">
            <a:avLst/>
          </a:prstGeom>
          <a:solidFill>
            <a:srgbClr val="8C95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Top Corners Rounded 38">
            <a:hlinkClick r:id="rId4" action="ppaction://hlinksldjump"/>
            <a:extLst>
              <a:ext uri="{FF2B5EF4-FFF2-40B4-BE49-F238E27FC236}">
                <a16:creationId xmlns:a16="http://schemas.microsoft.com/office/drawing/2014/main" id="{A688ED66-EA8A-7474-05F9-09B62F141880}"/>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6" name="Graphic 5" descr="Introductiepagina silhouet">
            <a:hlinkClick r:id="rId5" action="ppaction://hlinksldjump"/>
            <a:extLst>
              <a:ext uri="{FF2B5EF4-FFF2-40B4-BE49-F238E27FC236}">
                <a16:creationId xmlns:a16="http://schemas.microsoft.com/office/drawing/2014/main" id="{7A0BC8F3-BAE1-74A3-65C8-BD782F06794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7" name="Rectangle: Top Corners Rounded 1">
            <a:hlinkClick r:id="rId8" action="ppaction://hlinksldjump"/>
            <a:extLst>
              <a:ext uri="{FF2B5EF4-FFF2-40B4-BE49-F238E27FC236}">
                <a16:creationId xmlns:a16="http://schemas.microsoft.com/office/drawing/2014/main" id="{42AB1554-CE2A-150F-38C8-D176C81A087E}"/>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9" action="ppaction://hlinksldjump"/>
            <a:extLst>
              <a:ext uri="{FF2B5EF4-FFF2-40B4-BE49-F238E27FC236}">
                <a16:creationId xmlns:a16="http://schemas.microsoft.com/office/drawing/2014/main" id="{8E9D81B5-BC89-58FE-B78F-01E9E9C77900}"/>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10" action="ppaction://hlinksldjump"/>
            <a:extLst>
              <a:ext uri="{FF2B5EF4-FFF2-40B4-BE49-F238E27FC236}">
                <a16:creationId xmlns:a16="http://schemas.microsoft.com/office/drawing/2014/main" id="{6BDC4517-1BBD-164F-6C51-A8FC0F842BD2}"/>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1" action="ppaction://hlinksldjump"/>
            <a:extLst>
              <a:ext uri="{FF2B5EF4-FFF2-40B4-BE49-F238E27FC236}">
                <a16:creationId xmlns:a16="http://schemas.microsoft.com/office/drawing/2014/main" id="{45649664-F38F-E59C-A11F-F535EBA9D488}"/>
              </a:ext>
            </a:extLst>
          </p:cNvPr>
          <p:cNvSpPr/>
          <p:nvPr/>
        </p:nvSpPr>
        <p:spPr>
          <a:xfrm>
            <a:off x="395964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1: </a:t>
            </a:r>
          </a:p>
          <a:p>
            <a:pPr algn="ctr">
              <a:lnSpc>
                <a:spcPts val="600"/>
              </a:lnSpc>
            </a:pPr>
            <a:r>
              <a:rPr lang="nl-NL" sz="600" b="1">
                <a:solidFill>
                  <a:srgbClr val="F1F2F9"/>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2" action="ppaction://hlinksldjump"/>
            <a:extLst>
              <a:ext uri="{FF2B5EF4-FFF2-40B4-BE49-F238E27FC236}">
                <a16:creationId xmlns:a16="http://schemas.microsoft.com/office/drawing/2014/main" id="{DD5C913C-C7D8-4F5A-A19D-C5076F749563}"/>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13" action="ppaction://hlinksldjump"/>
            <a:extLst>
              <a:ext uri="{FF2B5EF4-FFF2-40B4-BE49-F238E27FC236}">
                <a16:creationId xmlns:a16="http://schemas.microsoft.com/office/drawing/2014/main" id="{6D32C95F-BD8A-2513-6779-F81132C7CE40}"/>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9" name="Rectangle: Top Corners Rounded 1">
            <a:hlinkClick r:id="rId14" action="ppaction://hlinksldjump"/>
            <a:extLst>
              <a:ext uri="{FF2B5EF4-FFF2-40B4-BE49-F238E27FC236}">
                <a16:creationId xmlns:a16="http://schemas.microsoft.com/office/drawing/2014/main" id="{6B8F81A3-9437-BE7F-5159-A3DB647032EC}"/>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0" name="Rectangle: Top Corners Rounded 1">
            <a:hlinkClick r:id="rId15" action="ppaction://hlinksldjump"/>
            <a:extLst>
              <a:ext uri="{FF2B5EF4-FFF2-40B4-BE49-F238E27FC236}">
                <a16:creationId xmlns:a16="http://schemas.microsoft.com/office/drawing/2014/main" id="{9758B5EC-F00E-98E4-66E7-F10B0D932780}"/>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1" name="Rectangle: Top Corners Rounded 1">
            <a:hlinkClick r:id="rId16" action="ppaction://hlinksldjump"/>
            <a:extLst>
              <a:ext uri="{FF2B5EF4-FFF2-40B4-BE49-F238E27FC236}">
                <a16:creationId xmlns:a16="http://schemas.microsoft.com/office/drawing/2014/main" id="{04713791-242D-1C00-98BE-C4E501C14D21}"/>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2" name="Rectangle: Top Corners Rounded 1">
            <a:hlinkClick r:id="rId17" action="ppaction://hlinksldjump"/>
            <a:extLst>
              <a:ext uri="{FF2B5EF4-FFF2-40B4-BE49-F238E27FC236}">
                <a16:creationId xmlns:a16="http://schemas.microsoft.com/office/drawing/2014/main" id="{0A89F73B-DBED-7597-0AD9-F5157628BD0F}"/>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3" name="Rectangle: Top Corners Rounded 1">
            <a:hlinkClick r:id="rId18" action="ppaction://hlinksldjump"/>
            <a:extLst>
              <a:ext uri="{FF2B5EF4-FFF2-40B4-BE49-F238E27FC236}">
                <a16:creationId xmlns:a16="http://schemas.microsoft.com/office/drawing/2014/main" id="{CF285B81-B505-77AC-4D66-C0B78836C288}"/>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24" name="Rechthoek: afgeronde hoeken 23">
            <a:extLst>
              <a:ext uri="{FF2B5EF4-FFF2-40B4-BE49-F238E27FC236}">
                <a16:creationId xmlns:a16="http://schemas.microsoft.com/office/drawing/2014/main" id="{BA3694F8-CCA1-893D-5233-711DDC77549F}"/>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26998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624D96FB-31A3-C44E-F343-225EA8EC3874}"/>
              </a:ext>
            </a:extLst>
          </p:cNvPr>
          <p:cNvSpPr/>
          <p:nvPr/>
        </p:nvSpPr>
        <p:spPr>
          <a:xfrm>
            <a:off x="650649" y="1770157"/>
            <a:ext cx="1224000" cy="1224000"/>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86DEE9FE-17CD-4CAD-04D5-3344E2BA39CF}"/>
              </a:ext>
            </a:extLst>
          </p:cNvPr>
          <p:cNvSpPr>
            <a:spLocks noGrp="1"/>
          </p:cNvSpPr>
          <p:nvPr>
            <p:ph type="title"/>
          </p:nvPr>
        </p:nvSpPr>
        <p:spPr>
          <a:xfrm>
            <a:off x="425302" y="465998"/>
            <a:ext cx="10544966" cy="504000"/>
          </a:xfrm>
        </p:spPr>
        <p:txBody>
          <a:bodyPr>
            <a:noAutofit/>
          </a:bodyPr>
          <a:lstStyle/>
          <a:p>
            <a:r>
              <a:rPr lang="nl-NL"/>
              <a:t>Introductie Thema 1: Digitale (Zorg)Communicatie tussen netwerkpartners</a:t>
            </a:r>
          </a:p>
        </p:txBody>
      </p:sp>
      <p:sp>
        <p:nvSpPr>
          <p:cNvPr id="4" name="Text Placeholder 3">
            <a:extLst>
              <a:ext uri="{FF2B5EF4-FFF2-40B4-BE49-F238E27FC236}">
                <a16:creationId xmlns:a16="http://schemas.microsoft.com/office/drawing/2014/main" id="{6447EFBD-E84A-C8F9-3F16-4A982CF87F9C}"/>
              </a:ext>
            </a:extLst>
          </p:cNvPr>
          <p:cNvSpPr>
            <a:spLocks noGrp="1"/>
          </p:cNvSpPr>
          <p:nvPr>
            <p:ph type="body" sz="quarter" idx="10"/>
          </p:nvPr>
        </p:nvSpPr>
        <p:spPr>
          <a:xfrm>
            <a:off x="425302" y="1365235"/>
            <a:ext cx="10544967" cy="504000"/>
          </a:xfrm>
        </p:spPr>
        <p:txBody>
          <a:bodyPr>
            <a:normAutofit/>
          </a:bodyPr>
          <a:lstStyle/>
          <a:p>
            <a:r>
              <a:rPr lang="nl-NL" sz="1200" b="1">
                <a:latin typeface="Verdana" panose="020B0604030504040204" pitchFamily="34" charset="0"/>
              </a:rPr>
              <a:t>De reis van </a:t>
            </a:r>
            <a:r>
              <a:rPr lang="nl-NL" sz="1200" b="1" err="1">
                <a:latin typeface="Verdana" panose="020B0604030504040204" pitchFamily="34" charset="0"/>
              </a:rPr>
              <a:t>Rifa</a:t>
            </a:r>
            <a:r>
              <a:rPr lang="nl-NL" sz="1200" b="1">
                <a:latin typeface="Verdana" panose="020B0604030504040204" pitchFamily="34" charset="0"/>
              </a:rPr>
              <a:t> in relatie tot de </a:t>
            </a:r>
            <a:r>
              <a:rPr lang="nl-NL" sz="1200" b="1" err="1">
                <a:latin typeface="Verdana" panose="020B0604030504040204" pitchFamily="34" charset="0"/>
              </a:rPr>
              <a:t>usecases</a:t>
            </a:r>
            <a:r>
              <a:rPr lang="nl-NL" sz="1200" b="1">
                <a:latin typeface="Verdana" panose="020B0604030504040204" pitchFamily="34" charset="0"/>
              </a:rPr>
              <a:t> en het fundament</a:t>
            </a:r>
          </a:p>
        </p:txBody>
      </p:sp>
      <p:sp>
        <p:nvSpPr>
          <p:cNvPr id="24" name="Tijdelijke aanduiding voor inhoud 2">
            <a:extLst>
              <a:ext uri="{FF2B5EF4-FFF2-40B4-BE49-F238E27FC236}">
                <a16:creationId xmlns:a16="http://schemas.microsoft.com/office/drawing/2014/main" id="{DAB683F4-E7E4-B20B-04B5-6CA27E3EDF3E}"/>
              </a:ext>
            </a:extLst>
          </p:cNvPr>
          <p:cNvSpPr txBox="1">
            <a:spLocks/>
          </p:cNvSpPr>
          <p:nvPr/>
        </p:nvSpPr>
        <p:spPr>
          <a:xfrm>
            <a:off x="425302" y="3220310"/>
            <a:ext cx="1700483" cy="31072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nl-NL" sz="1200" b="1" i="0" u="none" strike="noStrike" kern="1200" cap="none" spc="0" normalizeH="0" baseline="0" noProof="0">
                <a:ln>
                  <a:noFill/>
                </a:ln>
                <a:solidFill>
                  <a:srgbClr val="21BBEF"/>
                </a:solidFill>
                <a:effectLst/>
                <a:uLnTx/>
                <a:uFillTx/>
                <a:latin typeface="Verdana" panose="020B0604030504040204" pitchFamily="34" charset="0"/>
                <a:ea typeface="Verdana" panose="020B0604030504040204" pitchFamily="34" charset="0"/>
                <a:cs typeface="+mn-cs"/>
              </a:rPr>
              <a:t>Persona </a:t>
            </a:r>
            <a:r>
              <a:rPr kumimoji="0" lang="nl-NL" sz="1200" b="1" i="0" u="none" strike="noStrike" kern="1200" cap="none" spc="0" normalizeH="0" baseline="0" noProof="0" err="1">
                <a:ln>
                  <a:noFill/>
                </a:ln>
                <a:solidFill>
                  <a:srgbClr val="21BBEF"/>
                </a:solidFill>
                <a:effectLst/>
                <a:uLnTx/>
                <a:uFillTx/>
                <a:latin typeface="Verdana" panose="020B0604030504040204" pitchFamily="34" charset="0"/>
                <a:ea typeface="Verdana" panose="020B0604030504040204" pitchFamily="34" charset="0"/>
                <a:cs typeface="+mn-cs"/>
              </a:rPr>
              <a:t>Rifa</a:t>
            </a:r>
            <a:endParaRPr kumimoji="0" lang="nl-NL" sz="1200" b="1" i="0" u="none" strike="noStrike" kern="1200" cap="none" spc="0" normalizeH="0" baseline="0" noProof="0">
              <a:ln>
                <a:noFill/>
              </a:ln>
              <a:solidFill>
                <a:srgbClr val="21BBEF"/>
              </a:solidFill>
              <a:effectLst/>
              <a:uLnTx/>
              <a:uFillTx/>
              <a:latin typeface="Verdana" panose="020B0604030504040204" pitchFamily="34" charset="0"/>
              <a:ea typeface="Verdana" panose="020B0604030504040204" pitchFamily="34" charset="0"/>
              <a:cs typeface="+mn-cs"/>
            </a:endParaRP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Leeftijd: 27</a:t>
            </a: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Heeft een ongezond eetpatroon en overgewicht</a:t>
            </a: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Ervaart stress door financiële problemen en zit in sociale isolatie door schaamte</a:t>
            </a:r>
          </a:p>
        </p:txBody>
      </p:sp>
      <p:sp>
        <p:nvSpPr>
          <p:cNvPr id="25" name="Tijdelijke aanduiding voor inhoud 2">
            <a:extLst>
              <a:ext uri="{FF2B5EF4-FFF2-40B4-BE49-F238E27FC236}">
                <a16:creationId xmlns:a16="http://schemas.microsoft.com/office/drawing/2014/main" id="{54AD3C74-39D3-DF51-22AE-0EB83BE3A787}"/>
              </a:ext>
            </a:extLst>
          </p:cNvPr>
          <p:cNvSpPr txBox="1">
            <a:spLocks/>
          </p:cNvSpPr>
          <p:nvPr/>
        </p:nvSpPr>
        <p:spPr>
          <a:xfrm>
            <a:off x="2125784" y="1770790"/>
            <a:ext cx="4044615" cy="45561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nl-NL" sz="1200" b="1" i="0" u="none" strike="noStrike" kern="1200" cap="none" spc="0" normalizeH="0" baseline="0" noProof="0">
                <a:ln>
                  <a:noFill/>
                </a:ln>
                <a:solidFill>
                  <a:srgbClr val="21BBEF"/>
                </a:solidFill>
                <a:effectLst/>
                <a:uLnTx/>
                <a:uFillTx/>
                <a:latin typeface="Verdana"/>
                <a:ea typeface="Verdana"/>
              </a:rPr>
              <a:t>Reis van </a:t>
            </a:r>
            <a:r>
              <a:rPr kumimoji="0" lang="nl-NL" sz="1200" b="1" i="0" u="none" strike="noStrike" kern="1200" cap="none" spc="0" normalizeH="0" baseline="0" noProof="0" err="1">
                <a:ln>
                  <a:noFill/>
                </a:ln>
                <a:solidFill>
                  <a:srgbClr val="21BBEF"/>
                </a:solidFill>
                <a:effectLst/>
                <a:uLnTx/>
                <a:uFillTx/>
                <a:latin typeface="Verdana"/>
                <a:ea typeface="Verdana"/>
              </a:rPr>
              <a:t>Rifa</a:t>
            </a:r>
            <a:endParaRPr kumimoji="0" lang="nl-NL" sz="1200" b="1" i="0" u="none" strike="noStrike" kern="1200" cap="none" spc="0" normalizeH="0" baseline="0" noProof="0">
              <a:ln>
                <a:noFill/>
              </a:ln>
              <a:solidFill>
                <a:srgbClr val="21BBEF"/>
              </a:solidFill>
              <a:effectLst/>
              <a:uLnTx/>
              <a:uFillTx/>
              <a:latin typeface="Verdana"/>
              <a:ea typeface="Verdana"/>
            </a:endParaRPr>
          </a:p>
          <a:p>
            <a:pPr algn="just">
              <a:lnSpc>
                <a:spcPct val="100000"/>
              </a:lnSpc>
              <a:spcBef>
                <a:spcPts val="0"/>
              </a:spcBef>
              <a:spcAft>
                <a:spcPts val="600"/>
              </a:spcAft>
              <a:buFont typeface="+mj-lt"/>
              <a:buAutoNum type="arabicPeriod"/>
              <a:defRPr/>
            </a:pPr>
            <a:r>
              <a:rPr lang="nl-NL" sz="1200">
                <a:solidFill>
                  <a:prstClr val="black"/>
                </a:solidFill>
                <a:latin typeface="Verdana"/>
                <a:ea typeface="Verdana"/>
              </a:rPr>
              <a:t>Het buurtteam en </a:t>
            </a:r>
            <a:r>
              <a:rPr kumimoji="0" lang="nl-NL" sz="1200" b="0" i="0" u="none" strike="noStrike" kern="1200" cap="none" spc="0" normalizeH="0" baseline="0" noProof="0">
                <a:ln>
                  <a:noFill/>
                </a:ln>
                <a:solidFill>
                  <a:prstClr val="black"/>
                </a:solidFill>
                <a:effectLst/>
                <a:uLnTx/>
                <a:uFillTx/>
                <a:latin typeface="Verdana"/>
                <a:ea typeface="Verdana"/>
              </a:rPr>
              <a:t>praktijkondersteuner (POH) van de huisarts, constateren dat </a:t>
            </a:r>
            <a:r>
              <a:rPr kumimoji="0" lang="nl-NL" sz="1200" b="0" i="0" u="none" strike="noStrike" kern="1200" cap="none" spc="0" normalizeH="0" baseline="0" noProof="0" err="1">
                <a:ln>
                  <a:noFill/>
                </a:ln>
                <a:solidFill>
                  <a:prstClr val="black"/>
                </a:solidFill>
                <a:effectLst/>
                <a:uLnTx/>
                <a:uFillTx/>
                <a:latin typeface="Verdana"/>
                <a:ea typeface="Verdana"/>
              </a:rPr>
              <a:t>Rifa</a:t>
            </a:r>
            <a:r>
              <a:rPr kumimoji="0" lang="nl-NL" sz="1200" b="0" i="0" u="none" strike="noStrike" kern="1200" cap="none" spc="0" normalizeH="0" baseline="0" noProof="0">
                <a:ln>
                  <a:noFill/>
                </a:ln>
                <a:solidFill>
                  <a:prstClr val="black"/>
                </a:solidFill>
                <a:effectLst/>
                <a:uLnTx/>
                <a:uFillTx/>
                <a:latin typeface="Verdana"/>
                <a:ea typeface="Verdana"/>
              </a:rPr>
              <a:t> last heeft van hartkloppingen</a:t>
            </a:r>
            <a:endParaRPr lang="nl-NL" sz="1200" b="0" i="0" u="none" strike="noStrike" kern="1200" cap="none" spc="0" normalizeH="0" baseline="0" noProof="0">
              <a:ln>
                <a:noFill/>
              </a:ln>
              <a:solidFill>
                <a:prstClr val="black"/>
              </a:solidFill>
              <a:effectLst/>
              <a:uLnTx/>
              <a:uFillTx/>
              <a:latin typeface="Verdana"/>
              <a:ea typeface="Verdana"/>
            </a:endParaRPr>
          </a:p>
          <a:p>
            <a:pPr marL="228600" marR="0" lvl="0" indent="-228600" algn="just" defTabSz="914400" rtl="0" eaLnBrk="1" fontAlgn="auto" latinLnBrk="0" hangingPunct="1">
              <a:lnSpc>
                <a:spcPct val="100000"/>
              </a:lnSpc>
              <a:spcBef>
                <a:spcPts val="0"/>
              </a:spcBef>
              <a:spcAft>
                <a:spcPts val="600"/>
              </a:spcAft>
              <a:buClrTx/>
              <a:buSzTx/>
              <a:buFont typeface="+mj-lt"/>
              <a:buAutoNum type="arabicPeriod"/>
              <a:tabLst/>
              <a:defRPr/>
            </a:pPr>
            <a:r>
              <a:rPr kumimoji="0" lang="nl-NL" sz="1200" b="0" i="0" u="none" strike="noStrike" kern="1200" cap="none" spc="0" normalizeH="0" baseline="0" noProof="0">
                <a:ln>
                  <a:noFill/>
                </a:ln>
                <a:solidFill>
                  <a:prstClr val="black"/>
                </a:solidFill>
                <a:effectLst/>
                <a:uLnTx/>
                <a:uFillTx/>
                <a:latin typeface="Verdana"/>
                <a:ea typeface="Verdana"/>
              </a:rPr>
              <a:t>Het multidisciplinaire buurtteam en POH bespreken </a:t>
            </a:r>
            <a:r>
              <a:rPr kumimoji="0" lang="nl-NL" sz="1200" b="0" i="0" u="none" strike="noStrike" kern="1200" cap="none" spc="0" normalizeH="0" baseline="0" noProof="0" err="1">
                <a:ln>
                  <a:noFill/>
                </a:ln>
                <a:solidFill>
                  <a:prstClr val="black"/>
                </a:solidFill>
                <a:effectLst/>
                <a:uLnTx/>
                <a:uFillTx/>
                <a:latin typeface="Verdana"/>
                <a:ea typeface="Verdana"/>
              </a:rPr>
              <a:t>Rifa</a:t>
            </a:r>
            <a:r>
              <a:rPr kumimoji="0" lang="nl-NL" sz="1200" b="0" i="0" u="none" strike="noStrike" kern="1200" cap="none" spc="0" normalizeH="0" baseline="0" noProof="0">
                <a:ln>
                  <a:noFill/>
                </a:ln>
                <a:solidFill>
                  <a:prstClr val="black"/>
                </a:solidFill>
                <a:effectLst/>
                <a:uLnTx/>
                <a:uFillTx/>
                <a:latin typeface="Verdana"/>
                <a:ea typeface="Verdana"/>
              </a:rPr>
              <a:t> in een online integrale triage.  besluit haar door te verwijzen naar een cardioloog.</a:t>
            </a:r>
            <a:r>
              <a:rPr lang="nl-NL" sz="1200">
                <a:solidFill>
                  <a:prstClr val="black"/>
                </a:solidFill>
                <a:latin typeface="Verdana"/>
                <a:ea typeface="Verdana"/>
              </a:rPr>
              <a:t> </a:t>
            </a:r>
            <a:r>
              <a:rPr kumimoji="0" lang="nl-NL" sz="1200" b="0" i="0" u="none" strike="noStrike" kern="1200" cap="none" spc="0" normalizeH="0" baseline="0" noProof="0">
                <a:ln>
                  <a:noFill/>
                </a:ln>
                <a:solidFill>
                  <a:prstClr val="black"/>
                </a:solidFill>
                <a:effectLst/>
                <a:uLnTx/>
                <a:uFillTx/>
                <a:latin typeface="Verdana"/>
                <a:ea typeface="Verdana"/>
              </a:rPr>
              <a:t>De cardioloog stelt bij de triage van de verwijzing vast dat deze niet nodig is en verwijst </a:t>
            </a:r>
            <a:r>
              <a:rPr kumimoji="0" lang="nl-NL" sz="1200" b="0" i="0" u="none" strike="noStrike" kern="1200" cap="none" spc="0" normalizeH="0" baseline="0" noProof="0" err="1">
                <a:ln>
                  <a:noFill/>
                </a:ln>
                <a:solidFill>
                  <a:prstClr val="black"/>
                </a:solidFill>
                <a:effectLst/>
                <a:uLnTx/>
                <a:uFillTx/>
                <a:latin typeface="Verdana"/>
                <a:ea typeface="Verdana"/>
              </a:rPr>
              <a:t>Rifa</a:t>
            </a:r>
            <a:r>
              <a:rPr kumimoji="0" lang="nl-NL" sz="1200" b="0" i="0" u="none" strike="noStrike" kern="1200" cap="none" spc="0" normalizeH="0" baseline="0" noProof="0">
                <a:ln>
                  <a:noFill/>
                </a:ln>
                <a:solidFill>
                  <a:prstClr val="black"/>
                </a:solidFill>
                <a:effectLst/>
                <a:uLnTx/>
                <a:uFillTx/>
                <a:latin typeface="Verdana"/>
                <a:ea typeface="Verdana"/>
              </a:rPr>
              <a:t> terug naar de huisarts</a:t>
            </a:r>
            <a:endParaRPr lang="nl-NL" sz="1200" b="0" i="0" u="none" strike="noStrike" kern="1200" cap="none" spc="0" normalizeH="0" baseline="0" noProof="0">
              <a:ln>
                <a:noFill/>
              </a:ln>
              <a:solidFill>
                <a:prstClr val="black"/>
              </a:solidFill>
              <a:effectLst/>
              <a:uLnTx/>
              <a:uFillTx/>
              <a:latin typeface="Verdana"/>
              <a:ea typeface="Verdana"/>
            </a:endParaRPr>
          </a:p>
          <a:p>
            <a:pPr marL="228600" marR="0" lvl="0" indent="-228600" algn="just" defTabSz="914400" rtl="0" eaLnBrk="1" fontAlgn="auto" latinLnBrk="0" hangingPunct="1">
              <a:lnSpc>
                <a:spcPct val="100000"/>
              </a:lnSpc>
              <a:spcBef>
                <a:spcPts val="0"/>
              </a:spcBef>
              <a:spcAft>
                <a:spcPts val="600"/>
              </a:spcAft>
              <a:buClrTx/>
              <a:buSzTx/>
              <a:buFont typeface="+mj-lt"/>
              <a:buAutoNum type="arabicPeriod"/>
              <a:tabLst/>
              <a:defRPr/>
            </a:pPr>
            <a:r>
              <a:rPr kumimoji="0" lang="nl-NL" sz="1200" b="0" i="0" u="none" strike="noStrike" kern="1200" cap="none" spc="0" normalizeH="0" baseline="0" noProof="0">
                <a:ln>
                  <a:noFill/>
                </a:ln>
                <a:solidFill>
                  <a:prstClr val="black"/>
                </a:solidFill>
                <a:effectLst/>
                <a:uLnTx/>
                <a:uFillTx/>
                <a:latin typeface="Verdana"/>
                <a:ea typeface="Verdana"/>
              </a:rPr>
              <a:t>De huisarts verwijst </a:t>
            </a:r>
            <a:r>
              <a:rPr kumimoji="0" lang="nl-NL" sz="1200" b="0" i="0" u="none" strike="noStrike" kern="1200" cap="none" spc="0" normalizeH="0" baseline="0" noProof="0" err="1">
                <a:ln>
                  <a:noFill/>
                </a:ln>
                <a:solidFill>
                  <a:prstClr val="black"/>
                </a:solidFill>
                <a:effectLst/>
                <a:uLnTx/>
                <a:uFillTx/>
                <a:latin typeface="Verdana"/>
                <a:ea typeface="Verdana"/>
              </a:rPr>
              <a:t>Rifa</a:t>
            </a:r>
            <a:r>
              <a:rPr kumimoji="0" lang="nl-NL" sz="1200" b="0" i="0" u="none" strike="noStrike" kern="1200" cap="none" spc="0" normalizeH="0" baseline="0" noProof="0">
                <a:ln>
                  <a:noFill/>
                </a:ln>
                <a:solidFill>
                  <a:prstClr val="black"/>
                </a:solidFill>
                <a:effectLst/>
                <a:uLnTx/>
                <a:uFillTx/>
                <a:latin typeface="Verdana"/>
                <a:ea typeface="Verdana"/>
              </a:rPr>
              <a:t> door naar de cardioloog. Na triage van de verwijzing besluit de cardioloog dit te bespreken via een meedenkconsult.</a:t>
            </a:r>
            <a:endParaRPr lang="nl-NL" sz="1200" b="0" i="0" u="none" strike="noStrike" kern="1200" cap="none" spc="0" normalizeH="0" baseline="0" noProof="0">
              <a:ln>
                <a:noFill/>
              </a:ln>
              <a:solidFill>
                <a:prstClr val="black"/>
              </a:solidFill>
              <a:effectLst/>
              <a:uLnTx/>
              <a:uFillTx/>
              <a:latin typeface="Verdana"/>
              <a:ea typeface="Verdana"/>
            </a:endParaRPr>
          </a:p>
          <a:p>
            <a:pPr marL="228600" marR="0" lvl="0" indent="-228600" algn="just" defTabSz="914400" rtl="0" eaLnBrk="1" fontAlgn="auto" latinLnBrk="0" hangingPunct="1">
              <a:lnSpc>
                <a:spcPct val="100000"/>
              </a:lnSpc>
              <a:spcBef>
                <a:spcPts val="0"/>
              </a:spcBef>
              <a:spcAft>
                <a:spcPts val="600"/>
              </a:spcAft>
              <a:buClrTx/>
              <a:buSzTx/>
              <a:buFont typeface="+mj-lt"/>
              <a:buAutoNum type="arabicPeriod"/>
              <a:tabLst/>
              <a:defRPr/>
            </a:pPr>
            <a:r>
              <a:rPr kumimoji="0" lang="nl-NL" sz="1200" b="0" i="0" u="none" strike="noStrike" kern="1200" cap="none" spc="0" normalizeH="0" baseline="0" noProof="0">
                <a:ln>
                  <a:noFill/>
                </a:ln>
                <a:solidFill>
                  <a:prstClr val="black"/>
                </a:solidFill>
                <a:effectLst/>
                <a:uLnTx/>
                <a:uFillTx/>
                <a:latin typeface="Verdana"/>
                <a:ea typeface="Verdana"/>
              </a:rPr>
              <a:t>Een </a:t>
            </a:r>
            <a:r>
              <a:rPr kumimoji="0" lang="nl-NL" sz="1200" b="0" i="0" u="none" strike="noStrike" kern="1200" cap="none" spc="0" normalizeH="0" baseline="0" noProof="0" err="1">
                <a:ln>
                  <a:noFill/>
                </a:ln>
                <a:solidFill>
                  <a:prstClr val="black"/>
                </a:solidFill>
                <a:effectLst/>
                <a:uLnTx/>
                <a:uFillTx/>
                <a:latin typeface="Verdana"/>
                <a:ea typeface="Verdana"/>
              </a:rPr>
              <a:t>leeftstijl</a:t>
            </a:r>
            <a:r>
              <a:rPr lang="nl-NL" sz="1200">
                <a:solidFill>
                  <a:prstClr val="black"/>
                </a:solidFill>
                <a:latin typeface="Verdana"/>
                <a:ea typeface="Verdana"/>
              </a:rPr>
              <a:t>coach start een GLI-programma met </a:t>
            </a:r>
            <a:r>
              <a:rPr lang="nl-NL" sz="1200" err="1">
                <a:solidFill>
                  <a:prstClr val="black"/>
                </a:solidFill>
                <a:latin typeface="Verdana"/>
                <a:ea typeface="Verdana"/>
              </a:rPr>
              <a:t>Rifa</a:t>
            </a:r>
            <a:r>
              <a:rPr lang="nl-NL" sz="1200">
                <a:solidFill>
                  <a:prstClr val="black"/>
                </a:solidFill>
                <a:latin typeface="Verdana"/>
                <a:ea typeface="Verdana"/>
              </a:rPr>
              <a:t> en de schuldhulpverlening wordt ingeschakeld. </a:t>
            </a:r>
            <a:r>
              <a:rPr kumimoji="0" lang="nl-NL" sz="1200" b="0" i="0" u="none" strike="noStrike" kern="1200" cap="none" spc="0" normalizeH="0" baseline="0" noProof="0">
                <a:ln>
                  <a:noFill/>
                </a:ln>
                <a:solidFill>
                  <a:prstClr val="black"/>
                </a:solidFill>
                <a:effectLst/>
                <a:uLnTx/>
                <a:uFillTx/>
                <a:latin typeface="Verdana"/>
                <a:ea typeface="Verdana"/>
              </a:rPr>
              <a:t>De leefstijlcoach neemt contact op met </a:t>
            </a:r>
            <a:r>
              <a:rPr kumimoji="0" lang="nl-NL" sz="1200" b="0" i="0" u="none" strike="noStrike" kern="1200" cap="none" spc="0" normalizeH="0" baseline="0" noProof="0" err="1">
                <a:ln>
                  <a:noFill/>
                </a:ln>
                <a:solidFill>
                  <a:prstClr val="black"/>
                </a:solidFill>
                <a:effectLst/>
                <a:uLnTx/>
                <a:uFillTx/>
                <a:latin typeface="Verdana"/>
                <a:ea typeface="Verdana"/>
              </a:rPr>
              <a:t>Rifa</a:t>
            </a:r>
            <a:r>
              <a:rPr kumimoji="0" lang="nl-NL" sz="1200" b="0" i="0" u="none" strike="noStrike" kern="1200" cap="none" spc="0" normalizeH="0" baseline="0" noProof="0">
                <a:ln>
                  <a:noFill/>
                </a:ln>
                <a:solidFill>
                  <a:prstClr val="black"/>
                </a:solidFill>
                <a:effectLst/>
                <a:uLnTx/>
                <a:uFillTx/>
                <a:latin typeface="Verdana"/>
                <a:ea typeface="Verdana"/>
              </a:rPr>
              <a:t> en helpt haar verder in de aanpassingen van haar eetpatroon, dieet en leefstijl </a:t>
            </a:r>
            <a:endParaRPr lang="nl-NL" sz="1200" b="0" i="0" u="none" strike="noStrike" kern="1200" cap="none" spc="0" normalizeH="0" baseline="0" noProof="0">
              <a:ln>
                <a:noFill/>
              </a:ln>
              <a:solidFill>
                <a:prstClr val="black"/>
              </a:solidFill>
              <a:effectLst/>
              <a:uLnTx/>
              <a:uFillTx/>
              <a:latin typeface="Verdana"/>
              <a:ea typeface="Verdana"/>
            </a:endParaRPr>
          </a:p>
          <a:p>
            <a:pPr marL="228600" marR="0" lvl="0" indent="-228600" algn="just" defTabSz="914400" rtl="0" eaLnBrk="1" fontAlgn="auto" latinLnBrk="0" hangingPunct="1">
              <a:lnSpc>
                <a:spcPct val="100000"/>
              </a:lnSpc>
              <a:spcBef>
                <a:spcPts val="0"/>
              </a:spcBef>
              <a:spcAft>
                <a:spcPts val="600"/>
              </a:spcAft>
              <a:buClrTx/>
              <a:buSzTx/>
              <a:buFont typeface="+mj-lt"/>
              <a:buAutoNum type="arabicPeriod"/>
              <a:tabLst/>
              <a:defRPr/>
            </a:pPr>
            <a:r>
              <a:rPr kumimoji="0" lang="nl-NL" sz="1200" b="0" i="0" u="none" strike="noStrike" kern="1200" cap="none" spc="0" normalizeH="0" baseline="0" noProof="0" err="1">
                <a:ln>
                  <a:noFill/>
                </a:ln>
                <a:solidFill>
                  <a:prstClr val="black"/>
                </a:solidFill>
                <a:effectLst/>
                <a:uLnTx/>
                <a:uFillTx/>
                <a:latin typeface="Verdana"/>
                <a:ea typeface="Verdana"/>
              </a:rPr>
              <a:t>Rifa</a:t>
            </a:r>
            <a:r>
              <a:rPr kumimoji="0" lang="nl-NL" sz="1200" b="0" i="0" u="none" strike="noStrike" kern="1200" cap="none" spc="0" normalizeH="0" baseline="0" noProof="0">
                <a:ln>
                  <a:noFill/>
                </a:ln>
                <a:solidFill>
                  <a:prstClr val="black"/>
                </a:solidFill>
                <a:effectLst/>
                <a:uLnTx/>
                <a:uFillTx/>
                <a:latin typeface="Verdana"/>
                <a:ea typeface="Verdana"/>
              </a:rPr>
              <a:t> en (en met </a:t>
            </a:r>
            <a:r>
              <a:rPr kumimoji="0" lang="nl-NL" sz="1200" b="0" i="0" u="none" strike="noStrike" kern="1200" cap="none" spc="0" normalizeH="0" baseline="0" noProof="0" err="1">
                <a:ln>
                  <a:noFill/>
                </a:ln>
                <a:solidFill>
                  <a:prstClr val="black"/>
                </a:solidFill>
                <a:effectLst/>
                <a:uLnTx/>
                <a:uFillTx/>
                <a:latin typeface="Verdana"/>
                <a:ea typeface="Verdana"/>
              </a:rPr>
              <a:t>haa</a:t>
            </a:r>
            <a:r>
              <a:rPr lang="nl-NL" sz="1200">
                <a:solidFill>
                  <a:prstClr val="black"/>
                </a:solidFill>
                <a:latin typeface="Verdana"/>
                <a:ea typeface="Verdana"/>
              </a:rPr>
              <a:t>r toestemming ook haar naasten)</a:t>
            </a:r>
            <a:r>
              <a:rPr kumimoji="0" lang="nl-NL" sz="1200" b="0" i="0" u="none" strike="noStrike" kern="1200" cap="none" spc="0" normalizeH="0" baseline="0" noProof="0">
                <a:ln>
                  <a:noFill/>
                </a:ln>
                <a:solidFill>
                  <a:prstClr val="black"/>
                </a:solidFill>
                <a:effectLst/>
                <a:uLnTx/>
                <a:uFillTx/>
                <a:latin typeface="Verdana"/>
                <a:ea typeface="Verdana"/>
              </a:rPr>
              <a:t> kunnen voor vragen terecht bij het digitale loket van het buurtteam</a:t>
            </a:r>
            <a:endParaRPr lang="nl-NL" sz="1200" b="0" i="0" u="none" strike="noStrike" kern="1200" cap="none" spc="0" normalizeH="0" baseline="0" noProof="0">
              <a:ln>
                <a:noFill/>
              </a:ln>
              <a:solidFill>
                <a:prstClr val="black"/>
              </a:solidFill>
              <a:effectLst/>
              <a:uLnTx/>
              <a:uFillTx/>
              <a:latin typeface="Verdana"/>
              <a:ea typeface="Verdana"/>
            </a:endParaRPr>
          </a:p>
        </p:txBody>
      </p:sp>
      <p:sp>
        <p:nvSpPr>
          <p:cNvPr id="27" name="Rectangle 29">
            <a:extLst>
              <a:ext uri="{FF2B5EF4-FFF2-40B4-BE49-F238E27FC236}">
                <a16:creationId xmlns:a16="http://schemas.microsoft.com/office/drawing/2014/main" id="{B1343F8F-2C1C-8F2C-22EB-523530B898F8}"/>
              </a:ext>
            </a:extLst>
          </p:cNvPr>
          <p:cNvSpPr/>
          <p:nvPr/>
        </p:nvSpPr>
        <p:spPr>
          <a:xfrm>
            <a:off x="6349798" y="4287881"/>
            <a:ext cx="3831505" cy="637072"/>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1.1 Meedenkconsult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 huisarts kan laagdrempelig een meedenkconsult bij de cardioloog aanvragen om hun verschillende expertises bij elkaar te brengen t.b.v. de diagnostisering van </a:t>
            </a:r>
            <a:r>
              <a:rPr kumimoji="0" lang="nl-NL"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Rifa</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p:txBody>
      </p:sp>
      <p:sp>
        <p:nvSpPr>
          <p:cNvPr id="28" name="Rectangle 29">
            <a:extLst>
              <a:ext uri="{FF2B5EF4-FFF2-40B4-BE49-F238E27FC236}">
                <a16:creationId xmlns:a16="http://schemas.microsoft.com/office/drawing/2014/main" id="{820BF28C-79F6-CA26-FC60-2C938837EC4A}"/>
              </a:ext>
            </a:extLst>
          </p:cNvPr>
          <p:cNvSpPr/>
          <p:nvPr/>
        </p:nvSpPr>
        <p:spPr>
          <a:xfrm>
            <a:off x="6349799" y="3581011"/>
            <a:ext cx="3831504" cy="615635"/>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1.2 Digitale verwijzing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 cardioloog ontvangt de verwijzing digitaal. De verwijzing van </a:t>
            </a:r>
            <a:r>
              <a:rPr kumimoji="0" lang="nl-NL"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Rifa</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kan digitaal worden afgewezen indien deze als niet passend bij de zorgvraag wordt beoordeeld.</a:t>
            </a:r>
            <a:endPar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9" name="Rectangle 29">
            <a:extLst>
              <a:ext uri="{FF2B5EF4-FFF2-40B4-BE49-F238E27FC236}">
                <a16:creationId xmlns:a16="http://schemas.microsoft.com/office/drawing/2014/main" id="{213CB650-AE2D-0AF4-9B0E-CF1E551F42C8}"/>
              </a:ext>
            </a:extLst>
          </p:cNvPr>
          <p:cNvSpPr/>
          <p:nvPr/>
        </p:nvSpPr>
        <p:spPr>
          <a:xfrm>
            <a:off x="6349796" y="5297264"/>
            <a:ext cx="3831505" cy="770404"/>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1.3 Tweewegcommunicatie in zorgnetwerk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Rifa</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kan vanuit één digitale voordeur contact leggen met de zorgprofessionals via telefoon, chat of mail. </a:t>
            </a:r>
            <a:r>
              <a:rPr kumimoji="0" lang="nl-NL"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Rifa</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kan zelf bepalen wie ze toegang verleent tot deze omgeving, ze kan bijv. een mantelzorger mee laten kijken in haar dossier.</a:t>
            </a:r>
          </a:p>
        </p:txBody>
      </p:sp>
      <p:sp>
        <p:nvSpPr>
          <p:cNvPr id="30" name="Rectangle 29">
            <a:extLst>
              <a:ext uri="{FF2B5EF4-FFF2-40B4-BE49-F238E27FC236}">
                <a16:creationId xmlns:a16="http://schemas.microsoft.com/office/drawing/2014/main" id="{ECB95169-4D85-7E2C-54CE-7C95DEC3EC3E}"/>
              </a:ext>
            </a:extLst>
          </p:cNvPr>
          <p:cNvSpPr/>
          <p:nvPr/>
        </p:nvSpPr>
        <p:spPr>
          <a:xfrm>
            <a:off x="6349796" y="2755211"/>
            <a:ext cx="3831505" cy="504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1.3 Tweewegcommunicatie in zorgnetwerk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Het multidisciplinaire buurtteam kan via één digitale voordeur online met elkaar communiceren.</a:t>
            </a:r>
            <a:endParaRPr kumimoji="0" lang="nl-NL" sz="7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1" name="Tijdelijke aanduiding voor inhoud 2">
            <a:extLst>
              <a:ext uri="{FF2B5EF4-FFF2-40B4-BE49-F238E27FC236}">
                <a16:creationId xmlns:a16="http://schemas.microsoft.com/office/drawing/2014/main" id="{14AE0467-CC1D-F37D-D2D6-09E90C17E53D}"/>
              </a:ext>
            </a:extLst>
          </p:cNvPr>
          <p:cNvSpPr txBox="1">
            <a:spLocks/>
          </p:cNvSpPr>
          <p:nvPr/>
        </p:nvSpPr>
        <p:spPr>
          <a:xfrm>
            <a:off x="6313797" y="1770157"/>
            <a:ext cx="3901217" cy="3962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nl-NL" sz="1200" b="1" i="0" u="none" strike="noStrike" kern="1200" cap="none" spc="0" normalizeH="0" baseline="0" noProof="0" err="1">
                <a:ln>
                  <a:noFill/>
                </a:ln>
                <a:solidFill>
                  <a:srgbClr val="21BBEF"/>
                </a:solidFill>
                <a:effectLst/>
                <a:uLnTx/>
                <a:uFillTx/>
                <a:latin typeface="Verdana" panose="020B0604030504040204" pitchFamily="34" charset="0"/>
                <a:ea typeface="Verdana" panose="020B0604030504040204" pitchFamily="34" charset="0"/>
                <a:cs typeface="+mn-cs"/>
              </a:rPr>
              <a:t>Usecases</a:t>
            </a:r>
            <a:r>
              <a:rPr kumimoji="0" lang="nl-NL" sz="1200" b="1" i="0" u="none" strike="noStrike" kern="1200" cap="none" spc="0" normalizeH="0" baseline="0" noProof="0">
                <a:ln>
                  <a:noFill/>
                </a:ln>
                <a:solidFill>
                  <a:srgbClr val="21BBEF"/>
                </a:solidFill>
                <a:effectLst/>
                <a:uLnTx/>
                <a:uFillTx/>
                <a:latin typeface="Verdana" panose="020B0604030504040204" pitchFamily="34" charset="0"/>
                <a:ea typeface="Verdana" panose="020B0604030504040204" pitchFamily="34" charset="0"/>
                <a:cs typeface="+mn-cs"/>
              </a:rPr>
              <a:t> Thema 1</a:t>
            </a:r>
          </a:p>
        </p:txBody>
      </p:sp>
      <p:cxnSp>
        <p:nvCxnSpPr>
          <p:cNvPr id="37" name="Straight Connector 36">
            <a:extLst>
              <a:ext uri="{FF2B5EF4-FFF2-40B4-BE49-F238E27FC236}">
                <a16:creationId xmlns:a16="http://schemas.microsoft.com/office/drawing/2014/main" id="{9FDDC63D-EDD9-CD52-60AC-9BDF9F51E258}"/>
              </a:ext>
            </a:extLst>
          </p:cNvPr>
          <p:cNvCxnSpPr>
            <a:cxnSpLocks/>
            <a:endCxn id="30" idx="1"/>
          </p:cNvCxnSpPr>
          <p:nvPr/>
        </p:nvCxnSpPr>
        <p:spPr>
          <a:xfrm>
            <a:off x="6101188" y="3007211"/>
            <a:ext cx="24860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F54005C-F4F5-2444-931F-53791AE2D783}"/>
              </a:ext>
            </a:extLst>
          </p:cNvPr>
          <p:cNvCxnSpPr>
            <a:cxnSpLocks/>
          </p:cNvCxnSpPr>
          <p:nvPr/>
        </p:nvCxnSpPr>
        <p:spPr>
          <a:xfrm>
            <a:off x="6096000" y="4033208"/>
            <a:ext cx="25379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32B8FDF-2BD4-03A1-0A4E-B30E99D7A089}"/>
              </a:ext>
            </a:extLst>
          </p:cNvPr>
          <p:cNvCxnSpPr>
            <a:cxnSpLocks/>
          </p:cNvCxnSpPr>
          <p:nvPr/>
        </p:nvCxnSpPr>
        <p:spPr>
          <a:xfrm>
            <a:off x="6096000" y="4404287"/>
            <a:ext cx="25379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51F12F3-124F-973F-4FBD-A306CEEA5004}"/>
              </a:ext>
            </a:extLst>
          </p:cNvPr>
          <p:cNvCxnSpPr>
            <a:cxnSpLocks/>
          </p:cNvCxnSpPr>
          <p:nvPr/>
        </p:nvCxnSpPr>
        <p:spPr>
          <a:xfrm>
            <a:off x="6135794" y="5422584"/>
            <a:ext cx="21400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8" name="Tijdelijke aanduiding voor inhoud 2">
            <a:extLst>
              <a:ext uri="{FF2B5EF4-FFF2-40B4-BE49-F238E27FC236}">
                <a16:creationId xmlns:a16="http://schemas.microsoft.com/office/drawing/2014/main" id="{2A2B624B-47FA-30B9-AB73-22968D1BE555}"/>
              </a:ext>
            </a:extLst>
          </p:cNvPr>
          <p:cNvSpPr txBox="1">
            <a:spLocks/>
          </p:cNvSpPr>
          <p:nvPr/>
        </p:nvSpPr>
        <p:spPr>
          <a:xfrm>
            <a:off x="10320012" y="1770157"/>
            <a:ext cx="1592587" cy="4556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nl-NL" sz="1200" b="1" i="0" u="none" strike="noStrike" kern="1200" cap="none" spc="0" normalizeH="0" baseline="0" noProof="0">
                <a:ln>
                  <a:noFill/>
                </a:ln>
                <a:solidFill>
                  <a:srgbClr val="21BBEF"/>
                </a:solidFill>
                <a:effectLst/>
                <a:uLnTx/>
                <a:uFillTx/>
                <a:latin typeface="Verdana" panose="020B0604030504040204" pitchFamily="34" charset="0"/>
                <a:ea typeface="Verdana" panose="020B0604030504040204" pitchFamily="34" charset="0"/>
                <a:cs typeface="+mn-cs"/>
              </a:rPr>
              <a:t>Fundament</a:t>
            </a:r>
          </a:p>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Het fundament zorgt ervoor dat de digitale communicatie tussen netwerkpartners via één digitale voordeur verloopt. Voor inwoners werken we toe naar een </a:t>
            </a:r>
            <a:r>
              <a:rPr kumimoji="0" lang="nl-NL" sz="12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patiëntenapp</a:t>
            </a: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als voordeur en voor zorgprofessionals de netwerkzorg viewer, waarbij de viewer toegankelijk is vanuit het (bron-) systeem waarmee de professional al werkt.</a:t>
            </a:r>
          </a:p>
        </p:txBody>
      </p:sp>
      <p:pic>
        <p:nvPicPr>
          <p:cNvPr id="3" name="Graphic 2">
            <a:extLst>
              <a:ext uri="{FF2B5EF4-FFF2-40B4-BE49-F238E27FC236}">
                <a16:creationId xmlns:a16="http://schemas.microsoft.com/office/drawing/2014/main" id="{EF21A850-99C3-16BD-86F1-BDB96D1B14EE}"/>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747606" y="1821266"/>
            <a:ext cx="1012368" cy="1012368"/>
          </a:xfrm>
          <a:prstGeom prst="rect">
            <a:avLst/>
          </a:prstGeom>
        </p:spPr>
      </p:pic>
      <p:sp>
        <p:nvSpPr>
          <p:cNvPr id="6" name="Rectangle: Top Corners Rounded 38">
            <a:hlinkClick r:id="rId7" action="ppaction://hlinksldjump"/>
            <a:extLst>
              <a:ext uri="{FF2B5EF4-FFF2-40B4-BE49-F238E27FC236}">
                <a16:creationId xmlns:a16="http://schemas.microsoft.com/office/drawing/2014/main" id="{60D264A3-81D5-AED4-58CB-9F2B27E423B9}"/>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7" name="Graphic 6" descr="Introductiepagina silhouet">
            <a:hlinkClick r:id="rId8" action="ppaction://hlinksldjump"/>
            <a:extLst>
              <a:ext uri="{FF2B5EF4-FFF2-40B4-BE49-F238E27FC236}">
                <a16:creationId xmlns:a16="http://schemas.microsoft.com/office/drawing/2014/main" id="{F9E1AF9D-19BC-4798-E1D8-A4358B9728D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136" y="147223"/>
            <a:ext cx="144000" cy="144000"/>
          </a:xfrm>
          <a:prstGeom prst="rect">
            <a:avLst/>
          </a:prstGeom>
        </p:spPr>
      </p:pic>
      <p:sp>
        <p:nvSpPr>
          <p:cNvPr id="8" name="Rectangle: Top Corners Rounded 1">
            <a:hlinkClick r:id="rId11" action="ppaction://hlinksldjump"/>
            <a:extLst>
              <a:ext uri="{FF2B5EF4-FFF2-40B4-BE49-F238E27FC236}">
                <a16:creationId xmlns:a16="http://schemas.microsoft.com/office/drawing/2014/main" id="{B0D4A5A5-BEDC-50E6-1C51-496FED256014}"/>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12" action="ppaction://hlinksldjump"/>
            <a:extLst>
              <a:ext uri="{FF2B5EF4-FFF2-40B4-BE49-F238E27FC236}">
                <a16:creationId xmlns:a16="http://schemas.microsoft.com/office/drawing/2014/main" id="{60220DF0-86F6-E9B7-DC19-D74ABC6B49CE}"/>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13" action="ppaction://hlinksldjump"/>
            <a:extLst>
              <a:ext uri="{FF2B5EF4-FFF2-40B4-BE49-F238E27FC236}">
                <a16:creationId xmlns:a16="http://schemas.microsoft.com/office/drawing/2014/main" id="{7D05EC96-FC29-B7A6-3752-CB1313CB9B64}"/>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4" action="ppaction://hlinksldjump"/>
            <a:extLst>
              <a:ext uri="{FF2B5EF4-FFF2-40B4-BE49-F238E27FC236}">
                <a16:creationId xmlns:a16="http://schemas.microsoft.com/office/drawing/2014/main" id="{2B3AEBE7-C970-E02F-1EE5-730132A539EA}"/>
              </a:ext>
            </a:extLst>
          </p:cNvPr>
          <p:cNvSpPr/>
          <p:nvPr/>
        </p:nvSpPr>
        <p:spPr>
          <a:xfrm>
            <a:off x="395964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1: </a:t>
            </a:r>
          </a:p>
          <a:p>
            <a:pPr algn="ctr">
              <a:lnSpc>
                <a:spcPts val="600"/>
              </a:lnSpc>
            </a:pPr>
            <a:r>
              <a:rPr lang="nl-NL" sz="600" b="1">
                <a:solidFill>
                  <a:srgbClr val="F1F2F9"/>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5" action="ppaction://hlinksldjump"/>
            <a:extLst>
              <a:ext uri="{FF2B5EF4-FFF2-40B4-BE49-F238E27FC236}">
                <a16:creationId xmlns:a16="http://schemas.microsoft.com/office/drawing/2014/main" id="{8FD839A8-E1D1-5069-997D-FE8053AEE12D}"/>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16" action="ppaction://hlinksldjump"/>
            <a:extLst>
              <a:ext uri="{FF2B5EF4-FFF2-40B4-BE49-F238E27FC236}">
                <a16:creationId xmlns:a16="http://schemas.microsoft.com/office/drawing/2014/main" id="{4C12550E-E1A9-9C54-137F-DA97F45180AE}"/>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4" name="Rectangle: Top Corners Rounded 1">
            <a:hlinkClick r:id="rId17" action="ppaction://hlinksldjump"/>
            <a:extLst>
              <a:ext uri="{FF2B5EF4-FFF2-40B4-BE49-F238E27FC236}">
                <a16:creationId xmlns:a16="http://schemas.microsoft.com/office/drawing/2014/main" id="{F19673D5-1C68-2D8A-22F7-5919F457AA1F}"/>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5" name="Rectangle: Top Corners Rounded 1">
            <a:hlinkClick r:id="rId18" action="ppaction://hlinksldjump"/>
            <a:extLst>
              <a:ext uri="{FF2B5EF4-FFF2-40B4-BE49-F238E27FC236}">
                <a16:creationId xmlns:a16="http://schemas.microsoft.com/office/drawing/2014/main" id="{DD43649B-8004-2894-6E52-919446D03D1F}"/>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6" name="Rectangle: Top Corners Rounded 1">
            <a:hlinkClick r:id="rId19" action="ppaction://hlinksldjump"/>
            <a:extLst>
              <a:ext uri="{FF2B5EF4-FFF2-40B4-BE49-F238E27FC236}">
                <a16:creationId xmlns:a16="http://schemas.microsoft.com/office/drawing/2014/main" id="{AB6A7C7B-F610-A843-E8B1-BCF07DF8F57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7" name="Rectangle: Top Corners Rounded 1">
            <a:hlinkClick r:id="rId20" action="ppaction://hlinksldjump"/>
            <a:extLst>
              <a:ext uri="{FF2B5EF4-FFF2-40B4-BE49-F238E27FC236}">
                <a16:creationId xmlns:a16="http://schemas.microsoft.com/office/drawing/2014/main" id="{402853A1-31C9-17DD-E04C-6A49540BD155}"/>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8" name="Rectangle: Top Corners Rounded 1">
            <a:hlinkClick r:id="rId21" action="ppaction://hlinksldjump"/>
            <a:extLst>
              <a:ext uri="{FF2B5EF4-FFF2-40B4-BE49-F238E27FC236}">
                <a16:creationId xmlns:a16="http://schemas.microsoft.com/office/drawing/2014/main" id="{AD4F6F53-FA3B-A942-28C2-D0C1995B3016}"/>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9" name="Rechthoek: afgeronde hoeken 18">
            <a:extLst>
              <a:ext uri="{FF2B5EF4-FFF2-40B4-BE49-F238E27FC236}">
                <a16:creationId xmlns:a16="http://schemas.microsoft.com/office/drawing/2014/main" id="{6A557B3B-B8CB-ED81-12A4-F095108EF836}"/>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cxnSp>
        <p:nvCxnSpPr>
          <p:cNvPr id="20" name="Straight Connector 19">
            <a:extLst>
              <a:ext uri="{FF2B5EF4-FFF2-40B4-BE49-F238E27FC236}">
                <a16:creationId xmlns:a16="http://schemas.microsoft.com/office/drawing/2014/main" id="{A0A775DF-E07D-11EF-1210-BC2720C1521B}"/>
              </a:ext>
            </a:extLst>
          </p:cNvPr>
          <p:cNvCxnSpPr>
            <a:cxnSpLocks/>
          </p:cNvCxnSpPr>
          <p:nvPr/>
        </p:nvCxnSpPr>
        <p:spPr>
          <a:xfrm>
            <a:off x="6135794" y="6000099"/>
            <a:ext cx="214002"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420604"/>
      </p:ext>
    </p:extLst>
  </p:cSld>
  <p:clrMapOvr>
    <a:masterClrMapping/>
  </p:clrMapOvr>
  <p:extLst>
    <p:ext uri="{6950BFC3-D8DA-4A85-94F7-54DA5524770B}">
      <p188:commentRel xmlns:p188="http://schemas.microsoft.com/office/powerpoint/2018/8/main" r:id="rId4"/>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63FF8D-C3BB-6880-B933-E9F45049C577}"/>
              </a:ext>
            </a:extLst>
          </p:cNvPr>
          <p:cNvSpPr>
            <a:spLocks noGrp="1"/>
          </p:cNvSpPr>
          <p:nvPr>
            <p:ph type="title"/>
          </p:nvPr>
        </p:nvSpPr>
        <p:spPr>
          <a:xfrm>
            <a:off x="769061" y="2728540"/>
            <a:ext cx="10515600" cy="1261351"/>
          </a:xfrm>
        </p:spPr>
        <p:txBody>
          <a:bodyPr anchor="ctr">
            <a:noAutofit/>
          </a:bodyPr>
          <a:lstStyle/>
          <a:p>
            <a:r>
              <a:rPr lang="nl-NL" err="1"/>
              <a:t>Usecase</a:t>
            </a:r>
            <a:r>
              <a:rPr lang="nl-NL"/>
              <a:t> 1.1 – Meedenkconsult en Kort overleg</a:t>
            </a:r>
            <a:br>
              <a:rPr lang="nl-NL"/>
            </a:br>
            <a:r>
              <a:rPr lang="nl-NL" err="1"/>
              <a:t>Usecase</a:t>
            </a:r>
            <a:r>
              <a:rPr lang="nl-NL"/>
              <a:t> 1.2 – Digitale verwijzing</a:t>
            </a:r>
            <a:br>
              <a:rPr lang="nl-NL"/>
            </a:br>
            <a:r>
              <a:rPr lang="nl-NL" err="1"/>
              <a:t>Usecase</a:t>
            </a:r>
            <a:r>
              <a:rPr lang="nl-NL"/>
              <a:t> 1.3 – Tweewegcommunicatie in zorgnetwerk</a:t>
            </a:r>
            <a:endParaRPr lang="en-NL"/>
          </a:p>
        </p:txBody>
      </p:sp>
    </p:spTree>
    <p:extLst>
      <p:ext uri="{BB962C8B-B14F-4D97-AF65-F5344CB8AC3E}">
        <p14:creationId xmlns:p14="http://schemas.microsoft.com/office/powerpoint/2010/main" val="273013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82FBABC-7D6E-3244-FBF5-F95A5BBF8EC4}"/>
              </a:ext>
            </a:extLst>
          </p:cNvPr>
          <p:cNvSpPr/>
          <p:nvPr/>
        </p:nvSpPr>
        <p:spPr>
          <a:xfrm>
            <a:off x="3801977" y="5185810"/>
            <a:ext cx="7839563" cy="1357625"/>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Doorontwikkeling, na 2026:</a:t>
            </a:r>
          </a:p>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a:rPr>
              <a:t>Toewerken naar communiceren rondom de patiënt middels digitale, asynchrone communicatie waarbij de werkprocessen rondom digitale zorgcommunicatie </a:t>
            </a:r>
            <a:r>
              <a:rPr kumimoji="0" lang="nl-NL" sz="900" b="0" i="0" u="none" strike="noStrike" kern="1200" cap="none" spc="0" normalizeH="0" baseline="0" noProof="0" err="1">
                <a:ln>
                  <a:noFill/>
                </a:ln>
                <a:solidFill>
                  <a:prstClr val="black"/>
                </a:solidFill>
                <a:effectLst/>
                <a:uLnTx/>
                <a:uFillTx/>
                <a:latin typeface="Verdana"/>
                <a:ea typeface="Verdana"/>
                <a:cs typeface="Calibri"/>
              </a:rPr>
              <a:t>doorontwikkelen</a:t>
            </a:r>
            <a:r>
              <a:rPr kumimoji="0" lang="nl-NL" sz="900" b="0" i="0" u="none" strike="noStrike" kern="1200" cap="none" spc="0" normalizeH="0" baseline="0" noProof="0">
                <a:ln>
                  <a:noFill/>
                </a:ln>
                <a:solidFill>
                  <a:prstClr val="black"/>
                </a:solidFill>
                <a:effectLst/>
                <a:uLnTx/>
                <a:uFillTx/>
                <a:latin typeface="Verdana"/>
                <a:ea typeface="Verdana"/>
                <a:cs typeface="Calibri"/>
              </a:rPr>
              <a:t> tot een digitale (transmurale) overlegplek. Afstemming tussen zorgprofessionals en met inwoners wordt hiermee laagdrempeliger en eenvoudiger. Mogelijke toepassingen:</a:t>
            </a:r>
          </a:p>
          <a:p>
            <a:pPr marL="171450" marR="0" lvl="0" indent="-17145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a:rPr>
              <a:t>Mogelijkheid om vaker heen-en-weer vragen te stellen tussen huisarts, specialist en betrokkenen in het zorgnetwerk.</a:t>
            </a:r>
          </a:p>
          <a:p>
            <a:pPr marL="171450" marR="0" lvl="0" indent="-17145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Een FAQ-of bibliotheekfunctionaliteit: waarbij de verwijzer veelvoorkomende vragen en gegeven antwoorden kan inzien.</a:t>
            </a:r>
          </a:p>
          <a:p>
            <a:pPr marL="171450" marR="0" lvl="0" indent="-171450"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Het aanmaken van een ‘open verwijzing’ door een verwijzer, waarmee de inwoner zelf kan kiezen naar welke vervolgzorg te gaan. Alleen voorbehouden aan bepaalde, digitaal vaardige patiëntgroepen</a:t>
            </a:r>
          </a:p>
          <a:p>
            <a:pPr marL="0" marR="0" lvl="0" indent="0" algn="just" defTabSz="914400" rtl="0" eaLnBrk="1" fontAlgn="auto" latinLnBrk="0" hangingPunct="1">
              <a:lnSpc>
                <a:spcPct val="100000"/>
              </a:lnSpc>
              <a:spcBef>
                <a:spcPts val="0"/>
              </a:spcBef>
              <a:spcAft>
                <a:spcPts val="20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p:txBody>
      </p:sp>
      <p:sp>
        <p:nvSpPr>
          <p:cNvPr id="5" name="Rectangle: Rounded Corners 25">
            <a:extLst>
              <a:ext uri="{FF2B5EF4-FFF2-40B4-BE49-F238E27FC236}">
                <a16:creationId xmlns:a16="http://schemas.microsoft.com/office/drawing/2014/main" id="{126C3CA7-E440-96CB-733B-9AF6F9685104}"/>
              </a:ext>
            </a:extLst>
          </p:cNvPr>
          <p:cNvSpPr/>
          <p:nvPr/>
        </p:nvSpPr>
        <p:spPr>
          <a:xfrm>
            <a:off x="-320420" y="1437359"/>
            <a:ext cx="3809577" cy="2692127"/>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6" name="TextBox 16">
            <a:extLst>
              <a:ext uri="{FF2B5EF4-FFF2-40B4-BE49-F238E27FC236}">
                <a16:creationId xmlns:a16="http://schemas.microsoft.com/office/drawing/2014/main" id="{5B76B5DD-B45D-B676-33E0-25BBF90A8F40}"/>
              </a:ext>
            </a:extLst>
          </p:cNvPr>
          <p:cNvSpPr txBox="1"/>
          <p:nvPr/>
        </p:nvSpPr>
        <p:spPr>
          <a:xfrm>
            <a:off x="80917" y="1466303"/>
            <a:ext cx="3275894" cy="2811026"/>
          </a:xfrm>
          <a:prstGeom prst="rect">
            <a:avLst/>
          </a:prstGeom>
          <a:noFill/>
        </p:spPr>
        <p:txBody>
          <a:bodyPr wrap="square" rtlCol="0">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Kernproblematiek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Er is onnodige instroom van patiënten in de Medisch Specialistische Zorg (tweede lijn) vanuit de eerste lijn.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Communicatie tussen huisartsen en medisch-specialisten is tijdrovend. Ze hebben de behoefte om asynchroon met elkaar te kunnen communiceren. Momenteel ontbreken o.a. uniforme werkwijzen.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Ook digitale verwijzingen en de terugkoppeling daarvan zijn moeizaam en tijdrovend.</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Kwaliteit van bestaande digitale communicatie is momenteel niet altijd toereikend: informatie ontbreekt, is niet eenduidig of onvindbaar.</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 name="Rectangle 18">
            <a:extLst>
              <a:ext uri="{FF2B5EF4-FFF2-40B4-BE49-F238E27FC236}">
                <a16:creationId xmlns:a16="http://schemas.microsoft.com/office/drawing/2014/main" id="{820C6127-087E-DEDD-67EA-975666C239C1}"/>
              </a:ext>
            </a:extLst>
          </p:cNvPr>
          <p:cNvSpPr/>
          <p:nvPr/>
        </p:nvSpPr>
        <p:spPr>
          <a:xfrm>
            <a:off x="3801978" y="3036083"/>
            <a:ext cx="7839563" cy="2088144"/>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Ambitie, eind 2026:</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Verminderen van te nemen stappen en handelingen door zorgverlener bij omzetten van meedenkconsult in verwijzing. Nu moet huisarts een geheel nieuwe verwijzing aanmaken met bijbehorende administratieve handelingen.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de regio werken met een uniforme werkafspraak rondom het meedenkconsult en kort overleg vanuit de dan beschikbare functionaliteiten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Uitbreiding in het zorgnetwerk en waar mogelijk sociaal domein om vaker passende zorg te realiseren. </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gebruik nemen van een best passende software oplossing om kort overleg digitaal te faciliteren.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Inzichtelijk voor verwijzers en specialisten hoe zij elkaar via welk systeem/platform kunnen bereiken en wanneer.</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Borgen of faciliteren van een verslagvorm dat zowel door huisarts als specialist gekopieerd te kopiëren is in verschillende systemen. Zodat geen informatie verloren gaat. Als toekomstige doorontwikkeling beschikbaar stellen via netwerkzorgviewer.</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Verminderen van te nemen stappen en handelingen van huisarts bij afwijzen van verwijzing. Oftewel: het gehele verwijsproces (inclusief terugkoppeling) digitaal doen met geautomatiseerde berichten en meldingen.</a:t>
            </a:r>
          </a:p>
        </p:txBody>
      </p:sp>
      <p:sp>
        <p:nvSpPr>
          <p:cNvPr id="8" name="Rectangle: Rounded Corners 19">
            <a:extLst>
              <a:ext uri="{FF2B5EF4-FFF2-40B4-BE49-F238E27FC236}">
                <a16:creationId xmlns:a16="http://schemas.microsoft.com/office/drawing/2014/main" id="{9D961019-0E88-05B0-8706-58DDD7C06DF3}"/>
              </a:ext>
            </a:extLst>
          </p:cNvPr>
          <p:cNvSpPr/>
          <p:nvPr/>
        </p:nvSpPr>
        <p:spPr>
          <a:xfrm>
            <a:off x="-228600" y="4259444"/>
            <a:ext cx="3717758" cy="2349450"/>
          </a:xfrm>
          <a:prstGeom prst="roundRect">
            <a:avLst/>
          </a:prstGeom>
          <a:solidFill>
            <a:srgbClr val="5BCBF3"/>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9" name="Rectangle 3">
            <a:extLst>
              <a:ext uri="{FF2B5EF4-FFF2-40B4-BE49-F238E27FC236}">
                <a16:creationId xmlns:a16="http://schemas.microsoft.com/office/drawing/2014/main" id="{CA949A71-98DC-5F3A-83D9-50F7D55BB504}"/>
              </a:ext>
            </a:extLst>
          </p:cNvPr>
          <p:cNvSpPr/>
          <p:nvPr/>
        </p:nvSpPr>
        <p:spPr>
          <a:xfrm>
            <a:off x="3801977" y="1334152"/>
            <a:ext cx="7839563" cy="1673835"/>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a:ea typeface="Verdana"/>
                <a:cs typeface="+mn-cs"/>
              </a:rPr>
              <a:t> Huidige situatie</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a:ea typeface="Verdana"/>
                <a:cs typeface="+mn-cs"/>
              </a:rPr>
              <a:t>Afstemming tussen huisarts en medisch specialisten verloopt nog niet altijd digitaal en is daarmee tijdrovend. Voorheen ontbraken hiervoor uniforme werkwijzen. Inmiddels zijn er met het meedenkconsult en kort overleg mogelijkheden die handvatten biedt voor uniforme afstemming rondom digitale asynchrone zorgcommunicatie. Dit is echter beperkt tot een aantal vakgroepen en vooralsnog enkel mogelijk tussen huisarts en medisch specialist en in sommige regio’s ook tussen huisarts en de kaderhuisarts. </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a:ea typeface="Verdana"/>
                <a:cs typeface="+mn-cs"/>
              </a:rPr>
              <a:t>Bij (digitale) verwijzingen is de terugkoppeling en afstemming tussen verwijzer en medisch specialist inefficiënt. Het is een tijdrovend proces met veel handmatige handelingen (onnodige administratieve last). Terugkoppelen van een getrieerde verwijzing gaat nu vaak telefonisch, is erg tijdrovend, moet tussen consulten door en vereist bereikbaarheid. Er is behoefte om via een digitaal platform laagdrempelig contact de verwijzing te kunnen ombuigen in een meedenkconsult. En om de verwijzing digitaal terug te koppelen aan andere verwijzers naast de huisarts. Er is nu geen oplossing die dit werkproces digitaal ondersteunt.</a:t>
            </a:r>
            <a:endParaRPr kumimoji="0" lang="nl-NL" sz="500" b="0" i="0" u="none" strike="noStrike" kern="1200" cap="none" spc="0" normalizeH="0" baseline="0" noProof="0">
              <a:ln>
                <a:noFill/>
              </a:ln>
              <a:solidFill>
                <a:prstClr val="black"/>
              </a:solidFill>
              <a:effectLst/>
              <a:uLnTx/>
              <a:uFillTx/>
              <a:latin typeface="Verdana"/>
              <a:ea typeface="Verdana"/>
              <a:cs typeface="+mn-cs"/>
            </a:endParaRPr>
          </a:p>
        </p:txBody>
      </p:sp>
      <p:sp>
        <p:nvSpPr>
          <p:cNvPr id="10" name="Oval 35">
            <a:extLst>
              <a:ext uri="{FF2B5EF4-FFF2-40B4-BE49-F238E27FC236}">
                <a16:creationId xmlns:a16="http://schemas.microsoft.com/office/drawing/2014/main" id="{22780AE3-6202-F6BD-5C9D-A4CF536B1420}"/>
              </a:ext>
            </a:extLst>
          </p:cNvPr>
          <p:cNvSpPr>
            <a:spLocks/>
          </p:cNvSpPr>
          <p:nvPr/>
        </p:nvSpPr>
        <p:spPr>
          <a:xfrm>
            <a:off x="3531977" y="1220534"/>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1" name="Graphic 10">
            <a:extLst>
              <a:ext uri="{FF2B5EF4-FFF2-40B4-BE49-F238E27FC236}">
                <a16:creationId xmlns:a16="http://schemas.microsoft.com/office/drawing/2014/main" id="{9B154836-2C2B-14CC-4A5D-00DA6916B207}"/>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3711977" y="1335695"/>
            <a:ext cx="180000" cy="180000"/>
          </a:xfrm>
          <a:prstGeom prst="rect">
            <a:avLst/>
          </a:prstGeom>
        </p:spPr>
      </p:pic>
      <p:grpSp>
        <p:nvGrpSpPr>
          <p:cNvPr id="28" name="Group 27">
            <a:extLst>
              <a:ext uri="{FF2B5EF4-FFF2-40B4-BE49-F238E27FC236}">
                <a16:creationId xmlns:a16="http://schemas.microsoft.com/office/drawing/2014/main" id="{81D23E8A-28BC-0DE9-3D91-ECD9ED72E552}"/>
              </a:ext>
            </a:extLst>
          </p:cNvPr>
          <p:cNvGrpSpPr/>
          <p:nvPr/>
        </p:nvGrpSpPr>
        <p:grpSpPr>
          <a:xfrm>
            <a:off x="3621977" y="2917987"/>
            <a:ext cx="360000" cy="360000"/>
            <a:chOff x="3621977" y="2917987"/>
            <a:chExt cx="360000" cy="360000"/>
          </a:xfrm>
        </p:grpSpPr>
        <p:sp>
          <p:nvSpPr>
            <p:cNvPr id="12" name="Oval 35">
              <a:extLst>
                <a:ext uri="{FF2B5EF4-FFF2-40B4-BE49-F238E27FC236}">
                  <a16:creationId xmlns:a16="http://schemas.microsoft.com/office/drawing/2014/main" id="{B0D5ADC1-12DE-E071-3753-C5BD19D8B2ED}"/>
                </a:ext>
              </a:extLst>
            </p:cNvPr>
            <p:cNvSpPr>
              <a:spLocks/>
            </p:cNvSpPr>
            <p:nvPr/>
          </p:nvSpPr>
          <p:spPr>
            <a:xfrm>
              <a:off x="3621977" y="2917987"/>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Freeform: Shape 14">
              <a:extLst>
                <a:ext uri="{FF2B5EF4-FFF2-40B4-BE49-F238E27FC236}">
                  <a16:creationId xmlns:a16="http://schemas.microsoft.com/office/drawing/2014/main" id="{55E577A7-50EA-DF50-53A0-A810C63C3771}"/>
                </a:ext>
              </a:extLst>
            </p:cNvPr>
            <p:cNvSpPr/>
            <p:nvPr/>
          </p:nvSpPr>
          <p:spPr>
            <a:xfrm>
              <a:off x="3711977" y="3007987"/>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grpSp>
      <p:grpSp>
        <p:nvGrpSpPr>
          <p:cNvPr id="27" name="Group 26">
            <a:extLst>
              <a:ext uri="{FF2B5EF4-FFF2-40B4-BE49-F238E27FC236}">
                <a16:creationId xmlns:a16="http://schemas.microsoft.com/office/drawing/2014/main" id="{5031B305-4D5A-0C18-FD05-E18BCC8DD1E4}"/>
              </a:ext>
            </a:extLst>
          </p:cNvPr>
          <p:cNvGrpSpPr/>
          <p:nvPr/>
        </p:nvGrpSpPr>
        <p:grpSpPr>
          <a:xfrm>
            <a:off x="3572523" y="5115982"/>
            <a:ext cx="360000" cy="360000"/>
            <a:chOff x="3621977" y="5424809"/>
            <a:chExt cx="360000" cy="360000"/>
          </a:xfrm>
        </p:grpSpPr>
        <p:sp>
          <p:nvSpPr>
            <p:cNvPr id="14" name="Oval 35">
              <a:extLst>
                <a:ext uri="{FF2B5EF4-FFF2-40B4-BE49-F238E27FC236}">
                  <a16:creationId xmlns:a16="http://schemas.microsoft.com/office/drawing/2014/main" id="{D28AE7C0-7A24-E0CB-EB63-A6B5367B1F0F}"/>
                </a:ext>
              </a:extLst>
            </p:cNvPr>
            <p:cNvSpPr>
              <a:spLocks/>
            </p:cNvSpPr>
            <p:nvPr/>
          </p:nvSpPr>
          <p:spPr>
            <a:xfrm>
              <a:off x="3621977" y="5424809"/>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5" name="Graphic 14" descr="A cloud though bubble">
              <a:extLst>
                <a:ext uri="{FF2B5EF4-FFF2-40B4-BE49-F238E27FC236}">
                  <a16:creationId xmlns:a16="http://schemas.microsoft.com/office/drawing/2014/main" id="{7DFA6C71-9479-A8B6-8DAD-C144213F1E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11977" y="5524928"/>
              <a:ext cx="180000" cy="159763"/>
            </a:xfrm>
            <a:prstGeom prst="rect">
              <a:avLst/>
            </a:prstGeom>
          </p:spPr>
        </p:pic>
      </p:grpSp>
      <p:grpSp>
        <p:nvGrpSpPr>
          <p:cNvPr id="16" name="Groep 15">
            <a:extLst>
              <a:ext uri="{FF2B5EF4-FFF2-40B4-BE49-F238E27FC236}">
                <a16:creationId xmlns:a16="http://schemas.microsoft.com/office/drawing/2014/main" id="{41B778C2-85FD-B5A1-FFB1-5C0A40407937}"/>
              </a:ext>
            </a:extLst>
          </p:cNvPr>
          <p:cNvGrpSpPr/>
          <p:nvPr/>
        </p:nvGrpSpPr>
        <p:grpSpPr>
          <a:xfrm>
            <a:off x="550460" y="1338584"/>
            <a:ext cx="360000" cy="360000"/>
            <a:chOff x="80917" y="1266253"/>
            <a:chExt cx="360000" cy="360000"/>
          </a:xfrm>
        </p:grpSpPr>
        <p:sp>
          <p:nvSpPr>
            <p:cNvPr id="17" name="Oval 35">
              <a:extLst>
                <a:ext uri="{FF2B5EF4-FFF2-40B4-BE49-F238E27FC236}">
                  <a16:creationId xmlns:a16="http://schemas.microsoft.com/office/drawing/2014/main" id="{9D0F5997-4F1D-A2B8-FF23-07529D657CB0}"/>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8" name="Graphic 17">
              <a:extLst>
                <a:ext uri="{FF2B5EF4-FFF2-40B4-BE49-F238E27FC236}">
                  <a16:creationId xmlns:a16="http://schemas.microsoft.com/office/drawing/2014/main" id="{D46533CB-16E6-8C2E-118D-CE25B3C8958A}"/>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70917" y="1351755"/>
              <a:ext cx="180000" cy="180000"/>
            </a:xfrm>
            <a:prstGeom prst="rect">
              <a:avLst/>
            </a:prstGeom>
          </p:spPr>
        </p:pic>
      </p:grpSp>
      <p:sp>
        <p:nvSpPr>
          <p:cNvPr id="19" name="TextBox 16">
            <a:extLst>
              <a:ext uri="{FF2B5EF4-FFF2-40B4-BE49-F238E27FC236}">
                <a16:creationId xmlns:a16="http://schemas.microsoft.com/office/drawing/2014/main" id="{B2CFD2D9-3434-31BC-5696-D50E9CEF68D0}"/>
              </a:ext>
            </a:extLst>
          </p:cNvPr>
          <p:cNvSpPr txBox="1"/>
          <p:nvPr/>
        </p:nvSpPr>
        <p:spPr>
          <a:xfrm>
            <a:off x="80917" y="4592958"/>
            <a:ext cx="3408240" cy="186204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Kostenbesparing en optimaal inzetten van beschikbare capaciteit:</a:t>
            </a:r>
            <a:r>
              <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 Huisartsen en medisch specialisten kunnen elkaar eenvoudig bereiken, op een gestandaardiseerde manier, en op een moment dat beiden uitkomt. Dit vermindert de benodigde tijd en energie die in de huidige situatie nodig is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Inzetten op elektronische gegevensuitwisseling en verbeterde zorguitkomsten door betere samenwerking</a:t>
            </a:r>
            <a:endPar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endParaRPr>
          </a:p>
        </p:txBody>
      </p:sp>
      <p:sp>
        <p:nvSpPr>
          <p:cNvPr id="20" name="Gelijkbenige driehoek 19">
            <a:extLst>
              <a:ext uri="{FF2B5EF4-FFF2-40B4-BE49-F238E27FC236}">
                <a16:creationId xmlns:a16="http://schemas.microsoft.com/office/drawing/2014/main" id="{63B8BD2C-38FF-4C74-3B90-31139C0554CC}"/>
              </a:ext>
            </a:extLst>
          </p:cNvPr>
          <p:cNvSpPr/>
          <p:nvPr/>
        </p:nvSpPr>
        <p:spPr>
          <a:xfrm rot="10800000">
            <a:off x="6715433" y="2941494"/>
            <a:ext cx="1814052" cy="208949"/>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Gelijkbenige driehoek 20">
            <a:extLst>
              <a:ext uri="{FF2B5EF4-FFF2-40B4-BE49-F238E27FC236}">
                <a16:creationId xmlns:a16="http://schemas.microsoft.com/office/drawing/2014/main" id="{88502E1B-1EB6-FC47-D285-64DFBEDA0FFB}"/>
              </a:ext>
            </a:extLst>
          </p:cNvPr>
          <p:cNvSpPr/>
          <p:nvPr/>
        </p:nvSpPr>
        <p:spPr>
          <a:xfrm rot="10800000">
            <a:off x="6715433" y="5185810"/>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 Placeholder 2">
            <a:extLst>
              <a:ext uri="{FF2B5EF4-FFF2-40B4-BE49-F238E27FC236}">
                <a16:creationId xmlns:a16="http://schemas.microsoft.com/office/drawing/2014/main" id="{382EAEEE-79D4-E96E-CAD9-9882898CF0D6}"/>
              </a:ext>
            </a:extLst>
          </p:cNvPr>
          <p:cNvSpPr txBox="1">
            <a:spLocks/>
          </p:cNvSpPr>
          <p:nvPr/>
        </p:nvSpPr>
        <p:spPr>
          <a:xfrm>
            <a:off x="425302" y="962670"/>
            <a:ext cx="10544967"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 name="Rectangle: Top Corners Rounded 38">
            <a:hlinkClick r:id="rId11" action="ppaction://hlinksldjump"/>
            <a:extLst>
              <a:ext uri="{FF2B5EF4-FFF2-40B4-BE49-F238E27FC236}">
                <a16:creationId xmlns:a16="http://schemas.microsoft.com/office/drawing/2014/main" id="{A7552EA9-7164-4933-53F1-E3483D7C1EC3}"/>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37" name="Graphic 36" descr="Introductiepagina silhouet">
            <a:hlinkClick r:id="rId12" action="ppaction://hlinksldjump"/>
            <a:extLst>
              <a:ext uri="{FF2B5EF4-FFF2-40B4-BE49-F238E27FC236}">
                <a16:creationId xmlns:a16="http://schemas.microsoft.com/office/drawing/2014/main" id="{1C740323-2291-6200-899C-27D21523787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136" y="147223"/>
            <a:ext cx="144000" cy="144000"/>
          </a:xfrm>
          <a:prstGeom prst="rect">
            <a:avLst/>
          </a:prstGeom>
        </p:spPr>
      </p:pic>
      <p:sp>
        <p:nvSpPr>
          <p:cNvPr id="38" name="Rectangle: Top Corners Rounded 1">
            <a:hlinkClick r:id="rId11" action="ppaction://hlinksldjump"/>
            <a:extLst>
              <a:ext uri="{FF2B5EF4-FFF2-40B4-BE49-F238E27FC236}">
                <a16:creationId xmlns:a16="http://schemas.microsoft.com/office/drawing/2014/main" id="{5A106601-8A26-6E80-A62E-734A5FC15F7D}"/>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39" name="Rectangle: Top Corners Rounded 1">
            <a:hlinkClick r:id="rId15" action="ppaction://hlinksldjump"/>
            <a:extLst>
              <a:ext uri="{FF2B5EF4-FFF2-40B4-BE49-F238E27FC236}">
                <a16:creationId xmlns:a16="http://schemas.microsoft.com/office/drawing/2014/main" id="{FDC3BF81-6570-8441-93B7-B3E728985B6C}"/>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40" name="Rectangle: Top Corners Rounded 1">
            <a:hlinkClick r:id="" action="ppaction://noaction"/>
            <a:extLst>
              <a:ext uri="{FF2B5EF4-FFF2-40B4-BE49-F238E27FC236}">
                <a16:creationId xmlns:a16="http://schemas.microsoft.com/office/drawing/2014/main" id="{AED5DA77-E756-4004-C508-F3840F1E5CEF}"/>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41" name="Rectangle: Top Corners Rounded 1">
            <a:hlinkClick r:id="rId16" action="ppaction://hlinksldjump"/>
            <a:extLst>
              <a:ext uri="{FF2B5EF4-FFF2-40B4-BE49-F238E27FC236}">
                <a16:creationId xmlns:a16="http://schemas.microsoft.com/office/drawing/2014/main" id="{8D88E016-2991-DA1F-5071-BF912BE744EF}"/>
              </a:ext>
            </a:extLst>
          </p:cNvPr>
          <p:cNvSpPr/>
          <p:nvPr/>
        </p:nvSpPr>
        <p:spPr>
          <a:xfrm>
            <a:off x="395964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Digitale (zorg) communicatie</a:t>
            </a:r>
          </a:p>
        </p:txBody>
      </p:sp>
      <p:sp>
        <p:nvSpPr>
          <p:cNvPr id="42" name="Rectangle: Top Corners Rounded 1">
            <a:hlinkClick r:id="rId11" action="ppaction://hlinksldjump"/>
            <a:extLst>
              <a:ext uri="{FF2B5EF4-FFF2-40B4-BE49-F238E27FC236}">
                <a16:creationId xmlns:a16="http://schemas.microsoft.com/office/drawing/2014/main" id="{9D16B647-3C9A-87F7-96E0-4EB4EFB4F073}"/>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43" name="Rectangle: Top Corners Rounded 1">
            <a:hlinkClick r:id="" action="ppaction://noaction"/>
            <a:extLst>
              <a:ext uri="{FF2B5EF4-FFF2-40B4-BE49-F238E27FC236}">
                <a16:creationId xmlns:a16="http://schemas.microsoft.com/office/drawing/2014/main" id="{22C9A847-D2B2-5D28-D807-1A7B1AA16368}"/>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44" name="Rectangle: Top Corners Rounded 1">
            <a:hlinkClick r:id="" action="ppaction://noaction"/>
            <a:extLst>
              <a:ext uri="{FF2B5EF4-FFF2-40B4-BE49-F238E27FC236}">
                <a16:creationId xmlns:a16="http://schemas.microsoft.com/office/drawing/2014/main" id="{85A434F4-DECB-8D16-EE4C-4E860486B329}"/>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45" name="Rectangle: Top Corners Rounded 1">
            <a:hlinkClick r:id="" action="ppaction://noaction"/>
            <a:extLst>
              <a:ext uri="{FF2B5EF4-FFF2-40B4-BE49-F238E27FC236}">
                <a16:creationId xmlns:a16="http://schemas.microsoft.com/office/drawing/2014/main" id="{9D5E277A-22B2-6625-903B-7079950508D3}"/>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46" name="Rectangle: Top Corners Rounded 1">
            <a:hlinkClick r:id="" action="ppaction://noaction"/>
            <a:extLst>
              <a:ext uri="{FF2B5EF4-FFF2-40B4-BE49-F238E27FC236}">
                <a16:creationId xmlns:a16="http://schemas.microsoft.com/office/drawing/2014/main" id="{F21B41E3-F4DE-91F3-BF03-0AD19D53B12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47" name="Rectangle: Top Corners Rounded 1">
            <a:hlinkClick r:id="" action="ppaction://noaction"/>
            <a:extLst>
              <a:ext uri="{FF2B5EF4-FFF2-40B4-BE49-F238E27FC236}">
                <a16:creationId xmlns:a16="http://schemas.microsoft.com/office/drawing/2014/main" id="{06E48120-9391-AF86-DE54-BE3AD033122C}"/>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48" name="Rectangle: Top Corners Rounded 1">
            <a:hlinkClick r:id="" action="ppaction://noaction"/>
            <a:extLst>
              <a:ext uri="{FF2B5EF4-FFF2-40B4-BE49-F238E27FC236}">
                <a16:creationId xmlns:a16="http://schemas.microsoft.com/office/drawing/2014/main" id="{334CEEA9-514E-FC9F-1CB9-F1C41C2441C2}"/>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sp>
        <p:nvSpPr>
          <p:cNvPr id="2" name="Title 1">
            <a:extLst>
              <a:ext uri="{FF2B5EF4-FFF2-40B4-BE49-F238E27FC236}">
                <a16:creationId xmlns:a16="http://schemas.microsoft.com/office/drawing/2014/main" id="{5E999296-2A10-D43C-CA2B-745A2A964503}"/>
              </a:ext>
            </a:extLst>
          </p:cNvPr>
          <p:cNvSpPr>
            <a:spLocks noGrp="1"/>
          </p:cNvSpPr>
          <p:nvPr>
            <p:ph type="title"/>
          </p:nvPr>
        </p:nvSpPr>
        <p:spPr>
          <a:xfrm>
            <a:off x="425302" y="465998"/>
            <a:ext cx="11341396" cy="504000"/>
          </a:xfrm>
        </p:spPr>
        <p:txBody>
          <a:bodyPr/>
          <a:lstStyle/>
          <a:p>
            <a:r>
              <a:rPr lang="nl-NL" sz="2400"/>
              <a:t>Meedenkconsult, kort overleg en digitale verwijzing – Ambitie</a:t>
            </a:r>
            <a:endParaRPr lang="en-GB" sz="2400"/>
          </a:p>
        </p:txBody>
      </p:sp>
      <p:sp>
        <p:nvSpPr>
          <p:cNvPr id="25" name="Text Placeholder 24">
            <a:extLst>
              <a:ext uri="{FF2B5EF4-FFF2-40B4-BE49-F238E27FC236}">
                <a16:creationId xmlns:a16="http://schemas.microsoft.com/office/drawing/2014/main" id="{8F86B71F-21D8-D5FA-1768-15707F01A816}"/>
              </a:ext>
            </a:extLst>
          </p:cNvPr>
          <p:cNvSpPr>
            <a:spLocks noGrp="1"/>
          </p:cNvSpPr>
          <p:nvPr>
            <p:ph type="body" sz="quarter" idx="10"/>
          </p:nvPr>
        </p:nvSpPr>
        <p:spPr/>
        <p:txBody>
          <a:bodyPr/>
          <a:lstStyle/>
          <a:p>
            <a:r>
              <a:rPr lang="nl-NL" sz="1200"/>
              <a:t>Implementeren en adopteren van </a:t>
            </a:r>
            <a:r>
              <a:rPr lang="nl-NL" sz="1200" err="1"/>
              <a:t>domeinoverstijgende</a:t>
            </a:r>
            <a:r>
              <a:rPr lang="nl-NL" sz="1200"/>
              <a:t> digitale (zorg)communicatie, ten behoeve van continuïteit, effectiviteit en efficiëntie van zorg </a:t>
            </a:r>
          </a:p>
        </p:txBody>
      </p:sp>
    </p:spTree>
    <p:extLst>
      <p:ext uri="{BB962C8B-B14F-4D97-AF65-F5344CB8AC3E}">
        <p14:creationId xmlns:p14="http://schemas.microsoft.com/office/powerpoint/2010/main" val="4023608236"/>
      </p:ext>
    </p:extLst>
  </p:cSld>
  <p:clrMapOvr>
    <a:masterClrMapping/>
  </p:clrMapOvr>
  <p:extLst>
    <p:ext uri="{6950BFC3-D8DA-4A85-94F7-54DA5524770B}">
      <p188:commentRel xmlns:p188="http://schemas.microsoft.com/office/powerpoint/2018/8/main" r:id="rId4"/>
    </p:ext>
  </p:extLs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0852BE-C88D-4AE7-69F9-C0CB1328C7B4}"/>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6BADED0C-622E-912C-25A1-6DC30512130F}"/>
              </a:ext>
            </a:extLst>
          </p:cNvPr>
          <p:cNvSpPr/>
          <p:nvPr/>
        </p:nvSpPr>
        <p:spPr>
          <a:xfrm>
            <a:off x="3801977" y="5246347"/>
            <a:ext cx="7839563" cy="1568111"/>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Doorontwikkeling, na 2026:</a:t>
            </a:r>
          </a:p>
          <a:p>
            <a:pPr marR="0" lvl="0" algn="just" defTabSz="914400" rtl="0" eaLnBrk="1" fontAlgn="auto" latinLnBrk="0" hangingPunct="1">
              <a:lnSpc>
                <a:spcPct val="100000"/>
              </a:lnSpc>
              <a:spcBef>
                <a:spcPts val="0"/>
              </a:spcBef>
              <a:spcAft>
                <a:spcPts val="20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rPr>
              <a:t>Toewerken naar het werken rondom de patiënt middels digitale asynchrone communicatie waarbij we de werkprocessen rondom digitale zorgcommunicatie </a:t>
            </a:r>
            <a:r>
              <a:rPr kumimoji="0" lang="nl-NL" sz="1000" b="0" i="0" u="none" strike="noStrike" kern="1200" cap="none" spc="0" normalizeH="0" baseline="0" noProof="0" err="1">
                <a:ln>
                  <a:noFill/>
                </a:ln>
                <a:solidFill>
                  <a:prstClr val="black"/>
                </a:solidFill>
                <a:effectLst/>
                <a:uLnTx/>
                <a:uFillTx/>
                <a:latin typeface="Verdana"/>
                <a:ea typeface="Verdana"/>
                <a:cs typeface="Calibri"/>
              </a:rPr>
              <a:t>doorontwikkelen</a:t>
            </a:r>
            <a:r>
              <a:rPr kumimoji="0" lang="nl-NL" sz="1000" b="0" i="0" u="none" strike="noStrike" kern="1200" cap="none" spc="0" normalizeH="0" baseline="0" noProof="0">
                <a:ln>
                  <a:noFill/>
                </a:ln>
                <a:solidFill>
                  <a:prstClr val="black"/>
                </a:solidFill>
                <a:effectLst/>
                <a:uLnTx/>
                <a:uFillTx/>
                <a:latin typeface="Verdana"/>
                <a:ea typeface="Verdana"/>
                <a:cs typeface="Calibri"/>
              </a:rPr>
              <a:t> tot een digitale (transmurale) overlegtafel.</a:t>
            </a:r>
          </a:p>
          <a:p>
            <a:pPr marL="228600" marR="0" lvl="0" indent="-228600" algn="just" defTabSz="914400" rtl="0" eaLnBrk="1" fontAlgn="auto" latinLnBrk="0" hangingPunct="1">
              <a:lnSpc>
                <a:spcPct val="100000"/>
              </a:lnSpc>
              <a:spcBef>
                <a:spcPts val="0"/>
              </a:spcBef>
              <a:spcAft>
                <a:spcPts val="200"/>
              </a:spcAft>
              <a:buClrTx/>
              <a:buSzTx/>
              <a:buFontTx/>
              <a:buAutoNum type="arabicParenBoth"/>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rPr>
              <a:t>Mogelijkheid om vaker heen-en-weer vragen te stellen tussen huisarts, specialist en betrokkenen in het zorgnetwerk.</a:t>
            </a:r>
          </a:p>
          <a:p>
            <a:pPr marL="228600" marR="0" lvl="0" indent="-228600" algn="just" defTabSz="914400" rtl="0" eaLnBrk="1" fontAlgn="auto" latinLnBrk="0" hangingPunct="1">
              <a:lnSpc>
                <a:spcPct val="100000"/>
              </a:lnSpc>
              <a:spcBef>
                <a:spcPts val="0"/>
              </a:spcBef>
              <a:spcAft>
                <a:spcPts val="200"/>
              </a:spcAft>
              <a:buClrTx/>
              <a:buSzTx/>
              <a:buFontTx/>
              <a:buAutoNum type="arabicParenBoth"/>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Een FAQ-of bibliotheekfunctionaliteit: waarbij de verwijzer veelvoorkomende vragen en gegeven antwoorden kan inzien.</a:t>
            </a:r>
          </a:p>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(3) Het aanmaken van een ‘open verwijzing’ door een verwijzer, waarmee de inwoner zelf kan kiezen naar welke vervolgzorg te gaan. Alleen voorbehouden aan bepaalde, digitaal vaardige patiëntgroepen</a:t>
            </a:r>
          </a:p>
          <a:p>
            <a:pPr marL="0" marR="0" lvl="0" indent="0" algn="just" defTabSz="914400" rtl="0" eaLnBrk="1" fontAlgn="auto" latinLnBrk="0" hangingPunct="1">
              <a:lnSpc>
                <a:spcPct val="100000"/>
              </a:lnSpc>
              <a:spcBef>
                <a:spcPts val="0"/>
              </a:spcBef>
              <a:spcAft>
                <a:spcPts val="20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p:txBody>
      </p:sp>
      <p:sp>
        <p:nvSpPr>
          <p:cNvPr id="5" name="Rectangle: Rounded Corners 25">
            <a:extLst>
              <a:ext uri="{FF2B5EF4-FFF2-40B4-BE49-F238E27FC236}">
                <a16:creationId xmlns:a16="http://schemas.microsoft.com/office/drawing/2014/main" id="{8C1E4BF3-6579-1205-1F48-01C1D5177203}"/>
              </a:ext>
            </a:extLst>
          </p:cNvPr>
          <p:cNvSpPr/>
          <p:nvPr/>
        </p:nvSpPr>
        <p:spPr>
          <a:xfrm>
            <a:off x="-320420" y="1437359"/>
            <a:ext cx="3809577" cy="2692127"/>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6" name="TextBox 16">
            <a:extLst>
              <a:ext uri="{FF2B5EF4-FFF2-40B4-BE49-F238E27FC236}">
                <a16:creationId xmlns:a16="http://schemas.microsoft.com/office/drawing/2014/main" id="{7C2AAC05-9C14-D523-CD13-7419518C2083}"/>
              </a:ext>
            </a:extLst>
          </p:cNvPr>
          <p:cNvSpPr txBox="1"/>
          <p:nvPr/>
        </p:nvSpPr>
        <p:spPr>
          <a:xfrm>
            <a:off x="80917" y="1466303"/>
            <a:ext cx="3275894" cy="2811026"/>
          </a:xfrm>
          <a:prstGeom prst="rect">
            <a:avLst/>
          </a:prstGeom>
          <a:noFill/>
        </p:spPr>
        <p:txBody>
          <a:bodyPr wrap="square" rtlCol="0">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Kernproblematiek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Er is onnodige instroom van patiënten in de Medisch Specialistische Zorg (tweede lijn) vanuit de eerste lijn.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Communicatie tussen huisartsen en medisch-specialisten is tijdrovend. Ze hebben de behoefte om asynchroon met elkaar te kunnen communiceren. Momenteel ontbreken o.a. uniforme werkwijzen.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Ook digitale verwijzingen en de terugkoppeling daarvan zijn moeizaam en tijdrovend.</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Kwaliteit van bestaande digitale communicatie is momenteel niet altijd toereikend: informatie ontbreekt, is niet eenduidig of onvindbaar.</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 name="Rectangle 18">
            <a:extLst>
              <a:ext uri="{FF2B5EF4-FFF2-40B4-BE49-F238E27FC236}">
                <a16:creationId xmlns:a16="http://schemas.microsoft.com/office/drawing/2014/main" id="{568D6BE7-6B13-4F51-298A-76424941155E}"/>
              </a:ext>
            </a:extLst>
          </p:cNvPr>
          <p:cNvSpPr/>
          <p:nvPr/>
        </p:nvSpPr>
        <p:spPr>
          <a:xfrm>
            <a:off x="3801978" y="3036083"/>
            <a:ext cx="7839563" cy="2088144"/>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Ambitie, eind 2026:</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Verminderen van te nemen stappen en handelingen door zorgverlener bij omzetten van meedenkconsult in verwijzing. Nu moet huisarts een geheel nieuwe verwijzing aanmaken met bijbehorende administratieve handelingen.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de regio werken met een uniforme werkafspraak rondom het meedenkconsult en kort overleg vanuit de dan beschikbare functionaliteiten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gebruik nemen van een best passende software oplossing om kort overleg te faciliteren.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Inzichtelijk voor verwijzers en specialisten hoe zij elkaar via welk systeem/platform kunnen bereiken en wanneer.</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Borgen of faciliteren van een verslagvorm dat zowel door huisarts als specialist gekopieerd te kopiëren is in verschillende systemen. Zodat geen informatie verloren gaat.</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Verminderen van te nemen stappen en handelingen van huisarts bij afwijzen van verwijzing. Oftewel: het gehele verwijsproces (inclusief terugkoppeling) digitaal doen met geautomatiseerde berichten en meldingen.</a:t>
            </a:r>
          </a:p>
        </p:txBody>
      </p:sp>
      <p:sp>
        <p:nvSpPr>
          <p:cNvPr id="8" name="Rectangle: Rounded Corners 19">
            <a:extLst>
              <a:ext uri="{FF2B5EF4-FFF2-40B4-BE49-F238E27FC236}">
                <a16:creationId xmlns:a16="http://schemas.microsoft.com/office/drawing/2014/main" id="{8DBA6F7F-AD5A-CE71-F690-C98287E2CE3D}"/>
              </a:ext>
            </a:extLst>
          </p:cNvPr>
          <p:cNvSpPr/>
          <p:nvPr/>
        </p:nvSpPr>
        <p:spPr>
          <a:xfrm>
            <a:off x="-228600" y="4259444"/>
            <a:ext cx="3717758" cy="2349450"/>
          </a:xfrm>
          <a:prstGeom prst="roundRect">
            <a:avLst/>
          </a:prstGeom>
          <a:solidFill>
            <a:srgbClr val="5BCBF3"/>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9" name="Rectangle 3">
            <a:extLst>
              <a:ext uri="{FF2B5EF4-FFF2-40B4-BE49-F238E27FC236}">
                <a16:creationId xmlns:a16="http://schemas.microsoft.com/office/drawing/2014/main" id="{82C02468-006D-1BF3-22CC-EA1109FCA484}"/>
              </a:ext>
            </a:extLst>
          </p:cNvPr>
          <p:cNvSpPr/>
          <p:nvPr/>
        </p:nvSpPr>
        <p:spPr>
          <a:xfrm>
            <a:off x="3801977" y="1334152"/>
            <a:ext cx="7839563" cy="1540913"/>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algn="just">
              <a:spcAft>
                <a:spcPts val="600"/>
              </a:spcAf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a:t>
            </a:r>
            <a:r>
              <a:rPr lang="nl-NL" sz="1000" b="1">
                <a:solidFill>
                  <a:prstClr val="black"/>
                </a:solidFill>
                <a:latin typeface="Verdana"/>
                <a:ea typeface="Verdana"/>
              </a:rPr>
              <a:t>   </a:t>
            </a:r>
            <a:r>
              <a:rPr kumimoji="0" lang="nl-NL" sz="1000" b="1" i="0" u="none" strike="noStrike" kern="1200" cap="none" spc="0" normalizeH="0" baseline="0" noProof="0">
                <a:ln>
                  <a:noFill/>
                </a:ln>
                <a:solidFill>
                  <a:prstClr val="black"/>
                </a:solidFill>
                <a:effectLst/>
                <a:uLnTx/>
                <a:uFillTx/>
                <a:latin typeface="Verdana"/>
                <a:ea typeface="Verdana"/>
                <a:cs typeface="+mn-cs"/>
              </a:rPr>
              <a:t>Huidige situatie</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i="0" u="none" strike="noStrike" kern="1200" cap="none" spc="0" normalizeH="0" baseline="0" noProof="0">
                <a:ln>
                  <a:noFill/>
                </a:ln>
                <a:solidFill>
                  <a:prstClr val="black"/>
                </a:solidFill>
                <a:effectLst/>
                <a:uLnTx/>
                <a:uFillTx/>
                <a:latin typeface="Verdana"/>
                <a:ea typeface="Verdana"/>
                <a:cs typeface="+mn-cs"/>
              </a:rPr>
              <a:t>Bij (digitale) verwijzingen is de terugkoppeling en afstemming tussen verwijzer en medisch specialist inefficiënt: is een tijdrovend proces met veel handmatige acties. Terugkoppelen van een getrieerde verwijzing gaat nu vaak telefonisch, is erg tijdrovend en moet tussen consulten door. Er is behoefte om via laagdrempelig contact de verwijzing te kunnen ombuigen in een meedenkconsult. Er is nu geen oplossing die dit digitaal ondersteunt.</a:t>
            </a:r>
            <a:endParaRPr kumimoji="0" lang="nl-NL" sz="600" i="0" u="none" strike="noStrike" kern="1200" cap="none" spc="0" normalizeH="0" baseline="0" noProof="0">
              <a:ln>
                <a:noFill/>
              </a:ln>
              <a:solidFill>
                <a:prstClr val="black"/>
              </a:solidFill>
              <a:effectLst/>
              <a:uLnTx/>
              <a:uFillTx/>
              <a:latin typeface="Verdana"/>
              <a:ea typeface="Verdana"/>
              <a:cs typeface="+mn-cs"/>
            </a:endParaRPr>
          </a:p>
        </p:txBody>
      </p:sp>
      <p:sp>
        <p:nvSpPr>
          <p:cNvPr id="10" name="Oval 35">
            <a:extLst>
              <a:ext uri="{FF2B5EF4-FFF2-40B4-BE49-F238E27FC236}">
                <a16:creationId xmlns:a16="http://schemas.microsoft.com/office/drawing/2014/main" id="{399DFC9B-BB2A-890E-77BB-BEE941CFCA43}"/>
              </a:ext>
            </a:extLst>
          </p:cNvPr>
          <p:cNvSpPr>
            <a:spLocks/>
          </p:cNvSpPr>
          <p:nvPr/>
        </p:nvSpPr>
        <p:spPr>
          <a:xfrm>
            <a:off x="3621977" y="1238470"/>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1" name="Graphic 10">
            <a:extLst>
              <a:ext uri="{FF2B5EF4-FFF2-40B4-BE49-F238E27FC236}">
                <a16:creationId xmlns:a16="http://schemas.microsoft.com/office/drawing/2014/main" id="{D3910ABC-D096-D483-6623-54F9759D3970}"/>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3711977" y="1335695"/>
            <a:ext cx="180000" cy="180000"/>
          </a:xfrm>
          <a:prstGeom prst="rect">
            <a:avLst/>
          </a:prstGeom>
        </p:spPr>
      </p:pic>
      <p:grpSp>
        <p:nvGrpSpPr>
          <p:cNvPr id="28" name="Group 27">
            <a:extLst>
              <a:ext uri="{FF2B5EF4-FFF2-40B4-BE49-F238E27FC236}">
                <a16:creationId xmlns:a16="http://schemas.microsoft.com/office/drawing/2014/main" id="{80B128A4-10D7-2075-647C-1F985D2E761C}"/>
              </a:ext>
            </a:extLst>
          </p:cNvPr>
          <p:cNvGrpSpPr/>
          <p:nvPr/>
        </p:nvGrpSpPr>
        <p:grpSpPr>
          <a:xfrm>
            <a:off x="3621977" y="2917987"/>
            <a:ext cx="360000" cy="360000"/>
            <a:chOff x="3621977" y="2917987"/>
            <a:chExt cx="360000" cy="360000"/>
          </a:xfrm>
        </p:grpSpPr>
        <p:sp>
          <p:nvSpPr>
            <p:cNvPr id="12" name="Oval 35">
              <a:extLst>
                <a:ext uri="{FF2B5EF4-FFF2-40B4-BE49-F238E27FC236}">
                  <a16:creationId xmlns:a16="http://schemas.microsoft.com/office/drawing/2014/main" id="{86E64A3A-8C44-ADBA-3CC7-0059FE760DCF}"/>
                </a:ext>
              </a:extLst>
            </p:cNvPr>
            <p:cNvSpPr>
              <a:spLocks/>
            </p:cNvSpPr>
            <p:nvPr/>
          </p:nvSpPr>
          <p:spPr>
            <a:xfrm>
              <a:off x="3621977" y="2917987"/>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Freeform: Shape 14">
              <a:extLst>
                <a:ext uri="{FF2B5EF4-FFF2-40B4-BE49-F238E27FC236}">
                  <a16:creationId xmlns:a16="http://schemas.microsoft.com/office/drawing/2014/main" id="{B5EF613B-7F91-26D1-DAF7-CE93C5065373}"/>
                </a:ext>
              </a:extLst>
            </p:cNvPr>
            <p:cNvSpPr/>
            <p:nvPr/>
          </p:nvSpPr>
          <p:spPr>
            <a:xfrm>
              <a:off x="3711977" y="3007987"/>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grpSp>
      <p:grpSp>
        <p:nvGrpSpPr>
          <p:cNvPr id="27" name="Group 26">
            <a:extLst>
              <a:ext uri="{FF2B5EF4-FFF2-40B4-BE49-F238E27FC236}">
                <a16:creationId xmlns:a16="http://schemas.microsoft.com/office/drawing/2014/main" id="{7B7224C2-9FA6-B22E-C2B4-78CAC1E172A4}"/>
              </a:ext>
            </a:extLst>
          </p:cNvPr>
          <p:cNvGrpSpPr/>
          <p:nvPr/>
        </p:nvGrpSpPr>
        <p:grpSpPr>
          <a:xfrm>
            <a:off x="3621977" y="5154094"/>
            <a:ext cx="360000" cy="360000"/>
            <a:chOff x="3621977" y="5424809"/>
            <a:chExt cx="360000" cy="360000"/>
          </a:xfrm>
        </p:grpSpPr>
        <p:sp>
          <p:nvSpPr>
            <p:cNvPr id="14" name="Oval 35">
              <a:extLst>
                <a:ext uri="{FF2B5EF4-FFF2-40B4-BE49-F238E27FC236}">
                  <a16:creationId xmlns:a16="http://schemas.microsoft.com/office/drawing/2014/main" id="{60834286-F1B0-BF7E-E564-BA5D40CE57D6}"/>
                </a:ext>
              </a:extLst>
            </p:cNvPr>
            <p:cNvSpPr>
              <a:spLocks/>
            </p:cNvSpPr>
            <p:nvPr/>
          </p:nvSpPr>
          <p:spPr>
            <a:xfrm>
              <a:off x="3621977" y="5424809"/>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5" name="Graphic 14" descr="A cloud though bubble">
              <a:extLst>
                <a:ext uri="{FF2B5EF4-FFF2-40B4-BE49-F238E27FC236}">
                  <a16:creationId xmlns:a16="http://schemas.microsoft.com/office/drawing/2014/main" id="{102625A3-2ABD-4EEB-5DE4-0DCB30D4A9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11977" y="5524928"/>
              <a:ext cx="180000" cy="159763"/>
            </a:xfrm>
            <a:prstGeom prst="rect">
              <a:avLst/>
            </a:prstGeom>
          </p:spPr>
        </p:pic>
      </p:grpSp>
      <p:grpSp>
        <p:nvGrpSpPr>
          <p:cNvPr id="16" name="Groep 15">
            <a:extLst>
              <a:ext uri="{FF2B5EF4-FFF2-40B4-BE49-F238E27FC236}">
                <a16:creationId xmlns:a16="http://schemas.microsoft.com/office/drawing/2014/main" id="{300ECCA5-273A-26EA-0D49-5AE8C64BE0C4}"/>
              </a:ext>
            </a:extLst>
          </p:cNvPr>
          <p:cNvGrpSpPr/>
          <p:nvPr/>
        </p:nvGrpSpPr>
        <p:grpSpPr>
          <a:xfrm>
            <a:off x="550460" y="1338584"/>
            <a:ext cx="360000" cy="360000"/>
            <a:chOff x="80917" y="1266253"/>
            <a:chExt cx="360000" cy="360000"/>
          </a:xfrm>
        </p:grpSpPr>
        <p:sp>
          <p:nvSpPr>
            <p:cNvPr id="17" name="Oval 35">
              <a:extLst>
                <a:ext uri="{FF2B5EF4-FFF2-40B4-BE49-F238E27FC236}">
                  <a16:creationId xmlns:a16="http://schemas.microsoft.com/office/drawing/2014/main" id="{17756411-7D0F-418C-9751-DB5239258466}"/>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8" name="Graphic 17">
              <a:extLst>
                <a:ext uri="{FF2B5EF4-FFF2-40B4-BE49-F238E27FC236}">
                  <a16:creationId xmlns:a16="http://schemas.microsoft.com/office/drawing/2014/main" id="{0204D11C-6770-7C61-431B-A3D11B211CCF}"/>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70917" y="1351755"/>
              <a:ext cx="180000" cy="180000"/>
            </a:xfrm>
            <a:prstGeom prst="rect">
              <a:avLst/>
            </a:prstGeom>
          </p:spPr>
        </p:pic>
      </p:grpSp>
      <p:sp>
        <p:nvSpPr>
          <p:cNvPr id="19" name="TextBox 16">
            <a:extLst>
              <a:ext uri="{FF2B5EF4-FFF2-40B4-BE49-F238E27FC236}">
                <a16:creationId xmlns:a16="http://schemas.microsoft.com/office/drawing/2014/main" id="{40766225-FBC7-62FA-5972-E4F78D3571A0}"/>
              </a:ext>
            </a:extLst>
          </p:cNvPr>
          <p:cNvSpPr txBox="1"/>
          <p:nvPr/>
        </p:nvSpPr>
        <p:spPr>
          <a:xfrm>
            <a:off x="80917" y="4592958"/>
            <a:ext cx="3408240" cy="186204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Kostenbesparing en optimaal inzetten van beschikbare capaciteit:</a:t>
            </a:r>
            <a:r>
              <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 Huisartsen en medisch specialisten kunnen elkaar eenvoudig bereiken, op een gestandaardiseerde manier, en op een moment dat beiden uitkomt. Dit vermindert de benodigde tijd en energie die in de huidige situatie nodig is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Inzetten op elektronische gegevensuitwisseling en verbeterde zorguitkomsten door betere samenwerking</a:t>
            </a:r>
            <a:endPar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endParaRPr>
          </a:p>
        </p:txBody>
      </p:sp>
      <p:sp>
        <p:nvSpPr>
          <p:cNvPr id="20" name="Gelijkbenige driehoek 19">
            <a:extLst>
              <a:ext uri="{FF2B5EF4-FFF2-40B4-BE49-F238E27FC236}">
                <a16:creationId xmlns:a16="http://schemas.microsoft.com/office/drawing/2014/main" id="{E7C4F9B7-BB0E-AAB0-A5EF-BB011A0461DF}"/>
              </a:ext>
            </a:extLst>
          </p:cNvPr>
          <p:cNvSpPr/>
          <p:nvPr/>
        </p:nvSpPr>
        <p:spPr>
          <a:xfrm rot="10800000">
            <a:off x="6715433" y="2930896"/>
            <a:ext cx="1814052" cy="208949"/>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Gelijkbenige driehoek 20">
            <a:extLst>
              <a:ext uri="{FF2B5EF4-FFF2-40B4-BE49-F238E27FC236}">
                <a16:creationId xmlns:a16="http://schemas.microsoft.com/office/drawing/2014/main" id="{8101F291-5C82-2924-2089-FAFF36FB98F1}"/>
              </a:ext>
            </a:extLst>
          </p:cNvPr>
          <p:cNvSpPr/>
          <p:nvPr/>
        </p:nvSpPr>
        <p:spPr>
          <a:xfrm rot="10800000">
            <a:off x="6715433" y="5185810"/>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 Placeholder 2">
            <a:extLst>
              <a:ext uri="{FF2B5EF4-FFF2-40B4-BE49-F238E27FC236}">
                <a16:creationId xmlns:a16="http://schemas.microsoft.com/office/drawing/2014/main" id="{0D88539B-2888-6C38-97B4-CAF83D18F432}"/>
              </a:ext>
            </a:extLst>
          </p:cNvPr>
          <p:cNvSpPr txBox="1">
            <a:spLocks/>
          </p:cNvSpPr>
          <p:nvPr/>
        </p:nvSpPr>
        <p:spPr>
          <a:xfrm>
            <a:off x="425302" y="962670"/>
            <a:ext cx="10544967"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 name="Rectangle: Top Corners Rounded 38">
            <a:hlinkClick r:id="rId11" action="ppaction://hlinksldjump"/>
            <a:extLst>
              <a:ext uri="{FF2B5EF4-FFF2-40B4-BE49-F238E27FC236}">
                <a16:creationId xmlns:a16="http://schemas.microsoft.com/office/drawing/2014/main" id="{B6774BD3-7380-FB35-2392-AD2ABB40740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7" name="Graphic 36" descr="Introductiepagina silhouet">
            <a:hlinkClick r:id="rId12" action="ppaction://hlinksldjump"/>
            <a:extLst>
              <a:ext uri="{FF2B5EF4-FFF2-40B4-BE49-F238E27FC236}">
                <a16:creationId xmlns:a16="http://schemas.microsoft.com/office/drawing/2014/main" id="{3E5C2BBA-BF67-5B60-D516-FF7065A7DB4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136" y="147223"/>
            <a:ext cx="144000" cy="144000"/>
          </a:xfrm>
          <a:prstGeom prst="rect">
            <a:avLst/>
          </a:prstGeom>
        </p:spPr>
      </p:pic>
      <p:sp>
        <p:nvSpPr>
          <p:cNvPr id="38" name="Rectangle: Top Corners Rounded 1">
            <a:hlinkClick r:id="rId15" action="ppaction://hlinksldjump"/>
            <a:extLst>
              <a:ext uri="{FF2B5EF4-FFF2-40B4-BE49-F238E27FC236}">
                <a16:creationId xmlns:a16="http://schemas.microsoft.com/office/drawing/2014/main" id="{B1B33B2C-F42F-9408-7053-35123493DD4F}"/>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9" name="Rectangle: Top Corners Rounded 1">
            <a:hlinkClick r:id="rId16" action="ppaction://hlinksldjump"/>
            <a:extLst>
              <a:ext uri="{FF2B5EF4-FFF2-40B4-BE49-F238E27FC236}">
                <a16:creationId xmlns:a16="http://schemas.microsoft.com/office/drawing/2014/main" id="{B5489431-793D-13B6-AE8D-E1F33954DDF0}"/>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40" name="Rectangle: Top Corners Rounded 1">
            <a:hlinkClick r:id="rId17" action="ppaction://hlinksldjump"/>
            <a:extLst>
              <a:ext uri="{FF2B5EF4-FFF2-40B4-BE49-F238E27FC236}">
                <a16:creationId xmlns:a16="http://schemas.microsoft.com/office/drawing/2014/main" id="{0AF2ADE3-96CE-B0BC-0A53-51AD842D7139}"/>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41" name="Rectangle: Top Corners Rounded 1">
            <a:hlinkClick r:id="rId18" action="ppaction://hlinksldjump"/>
            <a:extLst>
              <a:ext uri="{FF2B5EF4-FFF2-40B4-BE49-F238E27FC236}">
                <a16:creationId xmlns:a16="http://schemas.microsoft.com/office/drawing/2014/main" id="{7C358860-CEA4-0658-3345-7863A7F59926}"/>
              </a:ext>
            </a:extLst>
          </p:cNvPr>
          <p:cNvSpPr/>
          <p:nvPr/>
        </p:nvSpPr>
        <p:spPr>
          <a:xfrm>
            <a:off x="395964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1: </a:t>
            </a:r>
          </a:p>
          <a:p>
            <a:pPr algn="ctr">
              <a:lnSpc>
                <a:spcPts val="600"/>
              </a:lnSpc>
            </a:pPr>
            <a:r>
              <a:rPr lang="nl-NL" sz="600" b="1">
                <a:solidFill>
                  <a:srgbClr val="F1F2F9"/>
                </a:solidFill>
                <a:latin typeface="Verdana Pro" panose="020B0604030504040204" pitchFamily="34" charset="0"/>
                <a:ea typeface="Verdana" panose="020B0604030504040204" pitchFamily="34" charset="0"/>
              </a:rPr>
              <a:t>Digitale (zorg) communicatie</a:t>
            </a:r>
          </a:p>
        </p:txBody>
      </p:sp>
      <p:sp>
        <p:nvSpPr>
          <p:cNvPr id="42" name="Rectangle: Top Corners Rounded 1">
            <a:hlinkClick r:id="rId19" action="ppaction://hlinksldjump"/>
            <a:extLst>
              <a:ext uri="{FF2B5EF4-FFF2-40B4-BE49-F238E27FC236}">
                <a16:creationId xmlns:a16="http://schemas.microsoft.com/office/drawing/2014/main" id="{838B1FA6-455D-BA19-72EE-98E87A27B9A0}"/>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43" name="Rectangle: Top Corners Rounded 1">
            <a:hlinkClick r:id="rId20" action="ppaction://hlinksldjump"/>
            <a:extLst>
              <a:ext uri="{FF2B5EF4-FFF2-40B4-BE49-F238E27FC236}">
                <a16:creationId xmlns:a16="http://schemas.microsoft.com/office/drawing/2014/main" id="{4B324ED5-E108-852D-14F9-B065F7AE6797}"/>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4" name="Rectangle: Top Corners Rounded 1">
            <a:hlinkClick r:id="rId21" action="ppaction://hlinksldjump"/>
            <a:extLst>
              <a:ext uri="{FF2B5EF4-FFF2-40B4-BE49-F238E27FC236}">
                <a16:creationId xmlns:a16="http://schemas.microsoft.com/office/drawing/2014/main" id="{B97986C4-4B78-9B2E-A0DD-78D5A20342CA}"/>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5" name="Rectangle: Top Corners Rounded 1">
            <a:hlinkClick r:id="rId22" action="ppaction://hlinksldjump"/>
            <a:extLst>
              <a:ext uri="{FF2B5EF4-FFF2-40B4-BE49-F238E27FC236}">
                <a16:creationId xmlns:a16="http://schemas.microsoft.com/office/drawing/2014/main" id="{10717EB7-9D3F-DB8C-C5F7-D0F3C9614379}"/>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6" name="Rectangle: Top Corners Rounded 1">
            <a:hlinkClick r:id="rId23" action="ppaction://hlinksldjump"/>
            <a:extLst>
              <a:ext uri="{FF2B5EF4-FFF2-40B4-BE49-F238E27FC236}">
                <a16:creationId xmlns:a16="http://schemas.microsoft.com/office/drawing/2014/main" id="{83ECDE2A-F997-FEB8-455F-77E0CBEFAB51}"/>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7" name="Rectangle: Top Corners Rounded 1">
            <a:hlinkClick r:id="rId24" action="ppaction://hlinksldjump"/>
            <a:extLst>
              <a:ext uri="{FF2B5EF4-FFF2-40B4-BE49-F238E27FC236}">
                <a16:creationId xmlns:a16="http://schemas.microsoft.com/office/drawing/2014/main" id="{543FC328-6C07-EC12-AD9E-E266260695C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8" name="Rectangle: Top Corners Rounded 1">
            <a:hlinkClick r:id="rId25" action="ppaction://hlinksldjump"/>
            <a:extLst>
              <a:ext uri="{FF2B5EF4-FFF2-40B4-BE49-F238E27FC236}">
                <a16:creationId xmlns:a16="http://schemas.microsoft.com/office/drawing/2014/main" id="{B8B67588-512A-227B-98F6-1C40118422A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2" name="Title 1">
            <a:extLst>
              <a:ext uri="{FF2B5EF4-FFF2-40B4-BE49-F238E27FC236}">
                <a16:creationId xmlns:a16="http://schemas.microsoft.com/office/drawing/2014/main" id="{A40D3C2F-859B-63E6-20C6-6D9BC5D20D0E}"/>
              </a:ext>
            </a:extLst>
          </p:cNvPr>
          <p:cNvSpPr>
            <a:spLocks noGrp="1"/>
          </p:cNvSpPr>
          <p:nvPr>
            <p:ph type="title"/>
          </p:nvPr>
        </p:nvSpPr>
        <p:spPr>
          <a:xfrm>
            <a:off x="425302" y="465998"/>
            <a:ext cx="11341396" cy="504000"/>
          </a:xfrm>
        </p:spPr>
        <p:txBody>
          <a:bodyPr/>
          <a:lstStyle/>
          <a:p>
            <a:r>
              <a:rPr lang="nl-NL"/>
              <a:t>Digitale verwijzing – Ambitie</a:t>
            </a:r>
            <a:endParaRPr lang="en-GB"/>
          </a:p>
        </p:txBody>
      </p:sp>
      <p:sp>
        <p:nvSpPr>
          <p:cNvPr id="25" name="Text Placeholder 24">
            <a:extLst>
              <a:ext uri="{FF2B5EF4-FFF2-40B4-BE49-F238E27FC236}">
                <a16:creationId xmlns:a16="http://schemas.microsoft.com/office/drawing/2014/main" id="{F906658C-9FE6-901B-3D80-5B8A64EA959B}"/>
              </a:ext>
            </a:extLst>
          </p:cNvPr>
          <p:cNvSpPr>
            <a:spLocks noGrp="1"/>
          </p:cNvSpPr>
          <p:nvPr>
            <p:ph type="body" sz="quarter" idx="10"/>
          </p:nvPr>
        </p:nvSpPr>
        <p:spPr/>
        <p:txBody>
          <a:bodyPr/>
          <a:lstStyle/>
          <a:p>
            <a:r>
              <a:rPr lang="nl-NL" sz="1200"/>
              <a:t>Implementeren en adopteren van </a:t>
            </a:r>
            <a:r>
              <a:rPr lang="nl-NL" sz="1200" err="1"/>
              <a:t>domeinoverstijgende</a:t>
            </a:r>
            <a:r>
              <a:rPr lang="nl-NL" sz="1200"/>
              <a:t> digitale verwijzing, ten behoeve van continuïteit, effectiviteit en efficiëntie van zorg </a:t>
            </a:r>
          </a:p>
        </p:txBody>
      </p:sp>
      <p:sp>
        <p:nvSpPr>
          <p:cNvPr id="23" name="Rechthoek: afgeronde hoeken 22">
            <a:extLst>
              <a:ext uri="{FF2B5EF4-FFF2-40B4-BE49-F238E27FC236}">
                <a16:creationId xmlns:a16="http://schemas.microsoft.com/office/drawing/2014/main" id="{13C17141-FC69-5CA3-7BBE-92370DCA1EAC}"/>
              </a:ext>
            </a:extLst>
          </p:cNvPr>
          <p:cNvSpPr/>
          <p:nvPr/>
        </p:nvSpPr>
        <p:spPr>
          <a:xfrm rot="20103230">
            <a:off x="4126254" y="2812424"/>
            <a:ext cx="4054379" cy="1637997"/>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200" b="1" i="0" u="none" strike="noStrike" kern="1200" cap="none" spc="0" normalizeH="0" baseline="0" noProof="0" err="1">
                <a:ln>
                  <a:noFill/>
                </a:ln>
                <a:solidFill>
                  <a:prstClr val="white"/>
                </a:solidFill>
                <a:effectLst/>
                <a:uLnTx/>
                <a:uFillTx/>
                <a:latin typeface="Verdana" panose="020B0604030504040204" pitchFamily="34" charset="0"/>
                <a:ea typeface="Verdana" panose="020B0604030504040204" pitchFamily="34" charset="0"/>
              </a:rPr>
              <a:t>Placeholder</a:t>
            </a:r>
            <a:endParaRPr kumimoji="0" lang="en-NL"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77747912"/>
      </p:ext>
    </p:extLst>
  </p:cSld>
  <p:clrMapOvr>
    <a:masterClrMapping/>
  </p:clrMapOvr>
  <p:extLst>
    <p:ext uri="{6950BFC3-D8DA-4A85-94F7-54DA5524770B}">
      <p188:commentRel xmlns:p188="http://schemas.microsoft.com/office/powerpoint/2018/8/main" r:id="rId4"/>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9CDA-15A1-CC79-3A65-4CB3731595D9}"/>
            </a:ext>
          </a:extLst>
        </p:cNvPr>
        <p:cNvGrpSpPr/>
        <p:nvPr/>
      </p:nvGrpSpPr>
      <p:grpSpPr>
        <a:xfrm>
          <a:off x="0" y="0"/>
          <a:ext cx="0" cy="0"/>
          <a:chOff x="0" y="0"/>
          <a:chExt cx="0" cy="0"/>
        </a:xfrm>
      </p:grpSpPr>
      <p:sp>
        <p:nvSpPr>
          <p:cNvPr id="28" name="Text Placeholder 27">
            <a:extLst>
              <a:ext uri="{FF2B5EF4-FFF2-40B4-BE49-F238E27FC236}">
                <a16:creationId xmlns:a16="http://schemas.microsoft.com/office/drawing/2014/main" id="{FCA663CB-3283-9B41-0CD5-422C4FAF6765}"/>
              </a:ext>
            </a:extLst>
          </p:cNvPr>
          <p:cNvSpPr>
            <a:spLocks noGrp="1"/>
          </p:cNvSpPr>
          <p:nvPr>
            <p:ph type="body" sz="quarter" idx="10"/>
          </p:nvPr>
        </p:nvSpPr>
        <p:spPr/>
        <p:txBody>
          <a:bodyPr/>
          <a:lstStyle/>
          <a:p>
            <a:r>
              <a:rPr lang="nl-NL" sz="1200"/>
              <a:t>Implementatie en adoptie van een innovatieve (netwerk-) zorgtoepassing (applicatie), waar zowel patiënten als (zorg-) professionals directe toegang hebben tot relevante informatie en afspraken.</a:t>
            </a:r>
          </a:p>
        </p:txBody>
      </p:sp>
      <p:sp>
        <p:nvSpPr>
          <p:cNvPr id="4" name="Rectangle 1">
            <a:extLst>
              <a:ext uri="{FF2B5EF4-FFF2-40B4-BE49-F238E27FC236}">
                <a16:creationId xmlns:a16="http://schemas.microsoft.com/office/drawing/2014/main" id="{9D6D09C5-F02B-09E0-ED7B-52761ADCB1EB}"/>
              </a:ext>
            </a:extLst>
          </p:cNvPr>
          <p:cNvSpPr/>
          <p:nvPr/>
        </p:nvSpPr>
        <p:spPr>
          <a:xfrm>
            <a:off x="3801977" y="5632882"/>
            <a:ext cx="7839563" cy="1129901"/>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Doorontwikkeling, na 2026:</a:t>
            </a:r>
          </a:p>
          <a:p>
            <a:pPr marL="228600" marR="0" lvl="0" indent="-228600" algn="just" defTabSz="914400" rtl="0" eaLnBrk="1" fontAlgn="auto" latinLnBrk="0" hangingPunct="1">
              <a:lnSpc>
                <a:spcPct val="100000"/>
              </a:lnSpc>
              <a:spcBef>
                <a:spcPts val="0"/>
              </a:spcBef>
              <a:spcAft>
                <a:spcPts val="200"/>
              </a:spcAft>
              <a:buClrTx/>
              <a:buSzTx/>
              <a:buFontTx/>
              <a:buAutoNum type="arabicParenBoth"/>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Pilotfase met selectie van sub-sectoren: starten met verkennend gesprek voor GGZ en sociaal domein. Daarna opschaling naar sub-sectoren om zorgnetwerk te verbreden.</a:t>
            </a:r>
          </a:p>
          <a:p>
            <a:pPr marL="228600" marR="0" lvl="0" indent="-228600" algn="just" defTabSz="914400" rtl="0" eaLnBrk="1" fontAlgn="auto" latinLnBrk="0" hangingPunct="1">
              <a:lnSpc>
                <a:spcPct val="100000"/>
              </a:lnSpc>
              <a:spcBef>
                <a:spcPts val="0"/>
              </a:spcBef>
              <a:spcAft>
                <a:spcPts val="200"/>
              </a:spcAft>
              <a:buClrTx/>
              <a:buSzTx/>
              <a:buFontTx/>
              <a:buAutoNum type="arabicParenBoth"/>
              <a:tabLst/>
              <a:defRPr/>
            </a:pP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Twee-weg</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 (video)communicatie tussen professionals en met inwoners.</a:t>
            </a:r>
          </a:p>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Deze aanpak bereidt het zorgsysteem voor op de uitdagingen van 2050, zoals vergrijzing en toenemende complexiteit in zorgbehoeften.</a:t>
            </a:r>
          </a:p>
          <a:p>
            <a:pPr marL="0" marR="0" lvl="0" indent="0" algn="just" defTabSz="914400" rtl="0" eaLnBrk="1" fontAlgn="auto" latinLnBrk="0" hangingPunct="1">
              <a:lnSpc>
                <a:spcPct val="100000"/>
              </a:lnSpc>
              <a:spcBef>
                <a:spcPts val="0"/>
              </a:spcBef>
              <a:spcAft>
                <a:spcPts val="20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p:txBody>
      </p:sp>
      <p:sp>
        <p:nvSpPr>
          <p:cNvPr id="5" name="Rectangle: Rounded Corners 25">
            <a:extLst>
              <a:ext uri="{FF2B5EF4-FFF2-40B4-BE49-F238E27FC236}">
                <a16:creationId xmlns:a16="http://schemas.microsoft.com/office/drawing/2014/main" id="{1C376857-C3BE-A50D-A842-FBD86CB81D4C}"/>
              </a:ext>
            </a:extLst>
          </p:cNvPr>
          <p:cNvSpPr/>
          <p:nvPr/>
        </p:nvSpPr>
        <p:spPr>
          <a:xfrm>
            <a:off x="-320420" y="1437359"/>
            <a:ext cx="3809577" cy="2779832"/>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6" name="TextBox 16">
            <a:extLst>
              <a:ext uri="{FF2B5EF4-FFF2-40B4-BE49-F238E27FC236}">
                <a16:creationId xmlns:a16="http://schemas.microsoft.com/office/drawing/2014/main" id="{7E663E9E-A77B-749E-605C-E0776B417CE1}"/>
              </a:ext>
            </a:extLst>
          </p:cNvPr>
          <p:cNvSpPr txBox="1"/>
          <p:nvPr/>
        </p:nvSpPr>
        <p:spPr>
          <a:xfrm>
            <a:off x="80917" y="1466303"/>
            <a:ext cx="3275894" cy="2657138"/>
          </a:xfrm>
          <a:prstGeom prst="rect">
            <a:avLst/>
          </a:prstGeom>
          <a:noFill/>
        </p:spPr>
        <p:txBody>
          <a:bodyPr wrap="square" rtlCol="0">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Kernproblematiek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 zorgvraag van inwoners wordt steeds complexer, terwijl informatie versnipperd is over diverse systemen en portalen. Dit leidt tot:</a:t>
            </a:r>
          </a:p>
          <a:p>
            <a:pPr marL="216000" marR="0" lvl="1"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Hoge administratielast, omdat informatie verouder, inconsistent is of lastig vindbaar</a:t>
            </a:r>
          </a:p>
          <a:p>
            <a:pPr marL="216000" marR="0" lvl="1"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Niet altijd de passende opvolging op de zorg- of hulpvraag van de inwoner: beslissingen worden gemaakt op basis van incomplete of onjuiste informatie</a:t>
            </a:r>
          </a:p>
          <a:p>
            <a:pPr marL="216000" marR="0" lvl="1"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Onnodig hoge vraaglast voor de inwoner of mantelzorger: vaak dezelfde vragen beantwoorden aan diverse zorgverleners </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 name="Rectangle 18">
            <a:extLst>
              <a:ext uri="{FF2B5EF4-FFF2-40B4-BE49-F238E27FC236}">
                <a16:creationId xmlns:a16="http://schemas.microsoft.com/office/drawing/2014/main" id="{3A271C10-12A4-EB98-D9AE-389E08BC44EB}"/>
              </a:ext>
            </a:extLst>
          </p:cNvPr>
          <p:cNvSpPr/>
          <p:nvPr/>
        </p:nvSpPr>
        <p:spPr>
          <a:xfrm>
            <a:off x="3801978" y="3353582"/>
            <a:ext cx="7839563" cy="1939955"/>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Ambitie, eind 2026: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(Informatie-)behoefte en prioriteiten van inwoners en zorg- en hulpverleners in de regio is duidelijk.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Identificeren van doelgroep(en) / sub-sectoren die het meest baat hebben bij deze ontwikkeling: ontwikkeling en uitrol zal zich allereerst op hen focussen.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Inventarisatie en toetsing succesvolle oplossingen uit andere regio’s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Afstemming met voornaamste stakeholdergroepen uit zorgnetwerk over:</a:t>
            </a:r>
          </a:p>
          <a:p>
            <a:pPr marL="3600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Werkafspraken en vertaling naar specifieke doelgroepen en problematiek</a:t>
            </a:r>
          </a:p>
          <a:p>
            <a:pPr marL="3600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Rationale en commitment</a:t>
            </a:r>
          </a:p>
          <a:p>
            <a:pPr marL="3600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 huidige IT-systemen</a:t>
            </a:r>
          </a:p>
          <a:p>
            <a:pPr marL="3600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Gegevenstandaarden en protocollen</a:t>
            </a:r>
          </a:p>
          <a:p>
            <a:pPr marL="36000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Projectplan</a:t>
            </a:r>
          </a:p>
        </p:txBody>
      </p:sp>
      <p:sp>
        <p:nvSpPr>
          <p:cNvPr id="8" name="Rectangle: Rounded Corners 19">
            <a:extLst>
              <a:ext uri="{FF2B5EF4-FFF2-40B4-BE49-F238E27FC236}">
                <a16:creationId xmlns:a16="http://schemas.microsoft.com/office/drawing/2014/main" id="{F60BFCD3-8809-7FE3-AB74-DAADF9833828}"/>
              </a:ext>
            </a:extLst>
          </p:cNvPr>
          <p:cNvSpPr/>
          <p:nvPr/>
        </p:nvSpPr>
        <p:spPr>
          <a:xfrm>
            <a:off x="-228600" y="4259444"/>
            <a:ext cx="3717758" cy="2598556"/>
          </a:xfrm>
          <a:prstGeom prst="roundRect">
            <a:avLst/>
          </a:prstGeom>
          <a:solidFill>
            <a:srgbClr val="5BCBF3"/>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9" name="Rectangle 3">
            <a:extLst>
              <a:ext uri="{FF2B5EF4-FFF2-40B4-BE49-F238E27FC236}">
                <a16:creationId xmlns:a16="http://schemas.microsoft.com/office/drawing/2014/main" id="{148031A1-350A-AFFD-A210-3396D2283CE4}"/>
              </a:ext>
            </a:extLst>
          </p:cNvPr>
          <p:cNvSpPr/>
          <p:nvPr/>
        </p:nvSpPr>
        <p:spPr>
          <a:xfrm>
            <a:off x="3811502" y="1459544"/>
            <a:ext cx="7839563" cy="1509947"/>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Huidige situatie</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0" i="0" u="none" strike="noStrike" kern="1200" cap="none" spc="0" normalizeH="0" baseline="0" noProof="0">
                <a:ln>
                  <a:noFill/>
                </a:ln>
                <a:solidFill>
                  <a:srgbClr val="000000"/>
                </a:solidFill>
                <a:effectLst/>
                <a:uLnTx/>
                <a:uFillTx/>
                <a:latin typeface="Verdana"/>
                <a:ea typeface="Verdana"/>
                <a:cs typeface="+mn-cs"/>
              </a:rPr>
              <a:t>De zorgvraag van inwoners wordt steeds complexer, waarbij medische en sociale hulpvragen vaak met elkaar verweven zijn. Dit vraagt om een zorgaanpak die zowel zorgverleners als het sociaal domein samenbrengt en de zorg en ondersteuning rondom de inwoner organiseert. Echter, de huidige situatie wordt belemmerd door een gebrek aan digitale ondersteuning die deze samenwerking faciliteert. Informatie is versnipperd over verschillende systemen, waardoor zorgverleners geen compleet overzicht hebben en inwoners vaak meermaals om dezelfde gegevens moeten worden gevraagd. Dit verhoogt de administratieve last en leidt tot inefficiëntie en frustratie bij zowel zorgverleners als inwoners. Zonder de juiste digitale oplossingen is het moeilijk om zorg en welzijn effectief en passend af te stemmen op de persoonlijke situatie van de inwoner.</a:t>
            </a:r>
            <a:endParaRPr kumimoji="0" lang="nl-NL" sz="600" b="0" i="0" u="none" strike="noStrike" kern="1200" cap="none" spc="0" normalizeH="0" baseline="0" noProof="0">
              <a:ln>
                <a:noFill/>
              </a:ln>
              <a:solidFill>
                <a:prstClr val="black"/>
              </a:solidFill>
              <a:effectLst/>
              <a:uLnTx/>
              <a:uFillTx/>
              <a:latin typeface="Verdana"/>
              <a:ea typeface="Verdana"/>
              <a:cs typeface="+mn-cs"/>
            </a:endParaRPr>
          </a:p>
        </p:txBody>
      </p:sp>
      <p:sp>
        <p:nvSpPr>
          <p:cNvPr id="10" name="Oval 35">
            <a:extLst>
              <a:ext uri="{FF2B5EF4-FFF2-40B4-BE49-F238E27FC236}">
                <a16:creationId xmlns:a16="http://schemas.microsoft.com/office/drawing/2014/main" id="{5C69CAA0-9AE0-DDB4-4A0A-172116001B0C}"/>
              </a:ext>
            </a:extLst>
          </p:cNvPr>
          <p:cNvSpPr>
            <a:spLocks/>
          </p:cNvSpPr>
          <p:nvPr/>
        </p:nvSpPr>
        <p:spPr>
          <a:xfrm>
            <a:off x="3621977" y="1343977"/>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1" name="Graphic 10">
            <a:extLst>
              <a:ext uri="{FF2B5EF4-FFF2-40B4-BE49-F238E27FC236}">
                <a16:creationId xmlns:a16="http://schemas.microsoft.com/office/drawing/2014/main" id="{E8997521-3EB1-81DA-91F0-FFF40A480EBA}"/>
              </a:ext>
            </a:extLst>
          </p:cNvPr>
          <p:cNvPicPr>
            <a:picLocks noChangeAspect="1"/>
          </p:cNvPicPr>
          <p:nvPr>
            <p:custDataLst>
              <p:tags r:id="rId1"/>
            </p:custDataLst>
          </p:nvPr>
        </p:nvPicPr>
        <p:blipFill>
          <a:blip r:embed="rId4">
            <a:extLst>
              <a:ext uri="{96DAC541-7B7A-43D3-8B79-37D633B846F1}">
                <asvg:svgBlip xmlns:asvg="http://schemas.microsoft.com/office/drawing/2016/SVG/main" r:embed="rId5"/>
              </a:ext>
            </a:extLst>
          </a:blip>
          <a:stretch>
            <a:fillRect/>
          </a:stretch>
        </p:blipFill>
        <p:spPr>
          <a:xfrm>
            <a:off x="3711977" y="1429479"/>
            <a:ext cx="180000" cy="180000"/>
          </a:xfrm>
          <a:prstGeom prst="rect">
            <a:avLst/>
          </a:prstGeom>
        </p:spPr>
      </p:pic>
      <p:sp>
        <p:nvSpPr>
          <p:cNvPr id="12" name="Oval 35">
            <a:extLst>
              <a:ext uri="{FF2B5EF4-FFF2-40B4-BE49-F238E27FC236}">
                <a16:creationId xmlns:a16="http://schemas.microsoft.com/office/drawing/2014/main" id="{B97A764A-8B5F-8D4C-F928-76289F27996C}"/>
              </a:ext>
            </a:extLst>
          </p:cNvPr>
          <p:cNvSpPr>
            <a:spLocks/>
          </p:cNvSpPr>
          <p:nvPr/>
        </p:nvSpPr>
        <p:spPr>
          <a:xfrm>
            <a:off x="3621977" y="3235487"/>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Freeform: Shape 14">
            <a:extLst>
              <a:ext uri="{FF2B5EF4-FFF2-40B4-BE49-F238E27FC236}">
                <a16:creationId xmlns:a16="http://schemas.microsoft.com/office/drawing/2014/main" id="{C952110F-1868-CBB3-B4FD-652E7730FD7D}"/>
              </a:ext>
            </a:extLst>
          </p:cNvPr>
          <p:cNvSpPr/>
          <p:nvPr/>
        </p:nvSpPr>
        <p:spPr>
          <a:xfrm>
            <a:off x="3711977" y="3340953"/>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grpSp>
        <p:nvGrpSpPr>
          <p:cNvPr id="29" name="Group 28">
            <a:extLst>
              <a:ext uri="{FF2B5EF4-FFF2-40B4-BE49-F238E27FC236}">
                <a16:creationId xmlns:a16="http://schemas.microsoft.com/office/drawing/2014/main" id="{9EE0A7F5-9203-E945-6876-0726831DDC66}"/>
              </a:ext>
            </a:extLst>
          </p:cNvPr>
          <p:cNvGrpSpPr/>
          <p:nvPr/>
        </p:nvGrpSpPr>
        <p:grpSpPr>
          <a:xfrm>
            <a:off x="3621977" y="5457381"/>
            <a:ext cx="360000" cy="360000"/>
            <a:chOff x="3621977" y="5139881"/>
            <a:chExt cx="360000" cy="360000"/>
          </a:xfrm>
        </p:grpSpPr>
        <p:sp>
          <p:nvSpPr>
            <p:cNvPr id="14" name="Oval 35">
              <a:extLst>
                <a:ext uri="{FF2B5EF4-FFF2-40B4-BE49-F238E27FC236}">
                  <a16:creationId xmlns:a16="http://schemas.microsoft.com/office/drawing/2014/main" id="{7244C4B1-8B16-7A01-5DD5-E5C5F50BDECA}"/>
                </a:ext>
              </a:extLst>
            </p:cNvPr>
            <p:cNvSpPr>
              <a:spLocks/>
            </p:cNvSpPr>
            <p:nvPr/>
          </p:nvSpPr>
          <p:spPr>
            <a:xfrm>
              <a:off x="3621977" y="5139881"/>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5" name="Graphic 14" descr="A cloud though bubble">
              <a:extLst>
                <a:ext uri="{FF2B5EF4-FFF2-40B4-BE49-F238E27FC236}">
                  <a16:creationId xmlns:a16="http://schemas.microsoft.com/office/drawing/2014/main" id="{B29D6E9A-28DE-84FE-DA7B-4E6306E379A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11977" y="5240000"/>
              <a:ext cx="180000" cy="159763"/>
            </a:xfrm>
            <a:prstGeom prst="rect">
              <a:avLst/>
            </a:prstGeom>
          </p:spPr>
        </p:pic>
      </p:grpSp>
      <p:grpSp>
        <p:nvGrpSpPr>
          <p:cNvPr id="16" name="Groep 15">
            <a:extLst>
              <a:ext uri="{FF2B5EF4-FFF2-40B4-BE49-F238E27FC236}">
                <a16:creationId xmlns:a16="http://schemas.microsoft.com/office/drawing/2014/main" id="{29DDE35C-F250-A520-01A2-DA383D7E5D67}"/>
              </a:ext>
            </a:extLst>
          </p:cNvPr>
          <p:cNvGrpSpPr/>
          <p:nvPr/>
        </p:nvGrpSpPr>
        <p:grpSpPr>
          <a:xfrm>
            <a:off x="550460" y="1338584"/>
            <a:ext cx="360000" cy="360000"/>
            <a:chOff x="80917" y="1266253"/>
            <a:chExt cx="360000" cy="360000"/>
          </a:xfrm>
        </p:grpSpPr>
        <p:sp>
          <p:nvSpPr>
            <p:cNvPr id="17" name="Oval 35">
              <a:extLst>
                <a:ext uri="{FF2B5EF4-FFF2-40B4-BE49-F238E27FC236}">
                  <a16:creationId xmlns:a16="http://schemas.microsoft.com/office/drawing/2014/main" id="{AB07B648-D351-72FD-CBFD-3074E8368748}"/>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8" name="Graphic 17">
              <a:extLst>
                <a:ext uri="{FF2B5EF4-FFF2-40B4-BE49-F238E27FC236}">
                  <a16:creationId xmlns:a16="http://schemas.microsoft.com/office/drawing/2014/main" id="{46E0EF5D-14A9-2767-4A87-9385319E9096}"/>
                </a:ext>
              </a:extLst>
            </p:cNvPr>
            <p:cNvPicPr>
              <a:picLocks noChangeAspect="1"/>
            </p:cNvPicPr>
            <p:nvPr>
              <p:custDataLst>
                <p:tags r:id="rId2"/>
              </p:custDataLst>
            </p:nvPr>
          </p:nvPicPr>
          <p:blipFill>
            <a:blip r:embed="rId8">
              <a:extLst>
                <a:ext uri="{96DAC541-7B7A-43D3-8B79-37D633B846F1}">
                  <asvg:svgBlip xmlns:asvg="http://schemas.microsoft.com/office/drawing/2016/SVG/main" r:embed="rId9"/>
                </a:ext>
              </a:extLst>
            </a:blip>
            <a:stretch>
              <a:fillRect/>
            </a:stretch>
          </p:blipFill>
          <p:spPr>
            <a:xfrm>
              <a:off x="170917" y="1351755"/>
              <a:ext cx="180000" cy="180000"/>
            </a:xfrm>
            <a:prstGeom prst="rect">
              <a:avLst/>
            </a:prstGeom>
          </p:spPr>
        </p:pic>
      </p:grpSp>
      <p:sp>
        <p:nvSpPr>
          <p:cNvPr id="19" name="TextBox 16">
            <a:extLst>
              <a:ext uri="{FF2B5EF4-FFF2-40B4-BE49-F238E27FC236}">
                <a16:creationId xmlns:a16="http://schemas.microsoft.com/office/drawing/2014/main" id="{9CFCA11C-2005-8FA1-B99B-27CEDA51483F}"/>
              </a:ext>
            </a:extLst>
          </p:cNvPr>
          <p:cNvSpPr txBox="1"/>
          <p:nvPr/>
        </p:nvSpPr>
        <p:spPr>
          <a:xfrm>
            <a:off x="80917" y="4592958"/>
            <a:ext cx="3275894" cy="2169825"/>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Betere patiëntervaring</a:t>
            </a:r>
            <a:r>
              <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 minder herhaling van uitvraag tijdens anamnese, intake, etc.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Lagere zorgkosten</a:t>
            </a:r>
            <a:r>
              <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 inwoner komt vaker op de best passende plek voor de vraag terecht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Behoud zorgprofessionals</a:t>
            </a:r>
            <a:r>
              <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 afname administratieve druk, efficiëntie en tijdbesparing bij het verkrijgen, registreren en verifiëren van de (zorg-)informatie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a:rPr>
              <a:t>Inzetten op elektronische gegevensuitwisseling en verbeterde zorguitkomsten door betere samenwerking</a:t>
            </a:r>
          </a:p>
        </p:txBody>
      </p:sp>
      <p:sp>
        <p:nvSpPr>
          <p:cNvPr id="20" name="Gelijkbenige driehoek 19">
            <a:extLst>
              <a:ext uri="{FF2B5EF4-FFF2-40B4-BE49-F238E27FC236}">
                <a16:creationId xmlns:a16="http://schemas.microsoft.com/office/drawing/2014/main" id="{0C7335D6-0071-4E9D-9BD2-E309575792BB}"/>
              </a:ext>
            </a:extLst>
          </p:cNvPr>
          <p:cNvSpPr/>
          <p:nvPr/>
        </p:nvSpPr>
        <p:spPr>
          <a:xfrm rot="10800000">
            <a:off x="6715433" y="3019440"/>
            <a:ext cx="1814052" cy="208949"/>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Gelijkbenige driehoek 20">
            <a:extLst>
              <a:ext uri="{FF2B5EF4-FFF2-40B4-BE49-F238E27FC236}">
                <a16:creationId xmlns:a16="http://schemas.microsoft.com/office/drawing/2014/main" id="{9A9DA291-5B22-4C7B-9D34-D686C1BFCC6E}"/>
              </a:ext>
            </a:extLst>
          </p:cNvPr>
          <p:cNvSpPr/>
          <p:nvPr/>
        </p:nvSpPr>
        <p:spPr>
          <a:xfrm rot="10800000">
            <a:off x="6715433" y="5379127"/>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 Placeholder 2">
            <a:extLst>
              <a:ext uri="{FF2B5EF4-FFF2-40B4-BE49-F238E27FC236}">
                <a16:creationId xmlns:a16="http://schemas.microsoft.com/office/drawing/2014/main" id="{D010A556-762D-94FC-53EE-DBDC61C12440}"/>
              </a:ext>
            </a:extLst>
          </p:cNvPr>
          <p:cNvSpPr txBox="1">
            <a:spLocks/>
          </p:cNvSpPr>
          <p:nvPr/>
        </p:nvSpPr>
        <p:spPr>
          <a:xfrm>
            <a:off x="425302" y="962670"/>
            <a:ext cx="10544967"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 name="Rechthoek: afgeronde hoeken 2">
            <a:extLst>
              <a:ext uri="{FF2B5EF4-FFF2-40B4-BE49-F238E27FC236}">
                <a16:creationId xmlns:a16="http://schemas.microsoft.com/office/drawing/2014/main" id="{935ECE09-8D7A-1C04-46ED-BFC958BAC209}"/>
              </a:ext>
            </a:extLst>
          </p:cNvPr>
          <p:cNvSpPr/>
          <p:nvPr/>
        </p:nvSpPr>
        <p:spPr>
          <a:xfrm>
            <a:off x="-1" y="-302354"/>
            <a:ext cx="122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Top Corners Rounded 38">
            <a:hlinkClick r:id="rId10" action="ppaction://hlinksldjump"/>
            <a:extLst>
              <a:ext uri="{FF2B5EF4-FFF2-40B4-BE49-F238E27FC236}">
                <a16:creationId xmlns:a16="http://schemas.microsoft.com/office/drawing/2014/main" id="{C7611AA6-E45D-3E4F-C533-211E41D7988F}"/>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38" name="Graphic 37" descr="Introductiepagina silhouet">
            <a:hlinkClick r:id="rId11" action="ppaction://hlinksldjump"/>
            <a:extLst>
              <a:ext uri="{FF2B5EF4-FFF2-40B4-BE49-F238E27FC236}">
                <a16:creationId xmlns:a16="http://schemas.microsoft.com/office/drawing/2014/main" id="{FDDE923C-11D9-A4F3-5921-B2FFF638728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5136" y="147223"/>
            <a:ext cx="144000" cy="144000"/>
          </a:xfrm>
          <a:prstGeom prst="rect">
            <a:avLst/>
          </a:prstGeom>
        </p:spPr>
      </p:pic>
      <p:sp>
        <p:nvSpPr>
          <p:cNvPr id="39" name="Rectangle: Top Corners Rounded 1">
            <a:hlinkClick r:id="rId14" action="ppaction://hlinksldjump"/>
            <a:extLst>
              <a:ext uri="{FF2B5EF4-FFF2-40B4-BE49-F238E27FC236}">
                <a16:creationId xmlns:a16="http://schemas.microsoft.com/office/drawing/2014/main" id="{AD23A56B-CAD0-5161-6D02-E1A2C960F3B7}"/>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40" name="Rectangle: Top Corners Rounded 1">
            <a:hlinkClick r:id="rId15" action="ppaction://hlinksldjump"/>
            <a:extLst>
              <a:ext uri="{FF2B5EF4-FFF2-40B4-BE49-F238E27FC236}">
                <a16:creationId xmlns:a16="http://schemas.microsoft.com/office/drawing/2014/main" id="{10C574D6-25E1-76F1-84EC-9964F57BBD06}"/>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41" name="Rectangle: Top Corners Rounded 1">
            <a:hlinkClick r:id="" action="ppaction://noaction"/>
            <a:extLst>
              <a:ext uri="{FF2B5EF4-FFF2-40B4-BE49-F238E27FC236}">
                <a16:creationId xmlns:a16="http://schemas.microsoft.com/office/drawing/2014/main" id="{502D84F6-DBCB-AC3C-1F62-32092AA1AB0E}"/>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42" name="Rectangle: Top Corners Rounded 1">
            <a:hlinkClick r:id="rId16" action="ppaction://hlinksldjump"/>
            <a:extLst>
              <a:ext uri="{FF2B5EF4-FFF2-40B4-BE49-F238E27FC236}">
                <a16:creationId xmlns:a16="http://schemas.microsoft.com/office/drawing/2014/main" id="{C58B0379-C118-3FA9-9AEE-495F976CCCC4}"/>
              </a:ext>
            </a:extLst>
          </p:cNvPr>
          <p:cNvSpPr/>
          <p:nvPr/>
        </p:nvSpPr>
        <p:spPr>
          <a:xfrm>
            <a:off x="395964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Digitale (zorg) communicatie</a:t>
            </a:r>
          </a:p>
        </p:txBody>
      </p:sp>
      <p:sp>
        <p:nvSpPr>
          <p:cNvPr id="43" name="Rectangle: Top Corners Rounded 1">
            <a:hlinkClick r:id="rId17" action="ppaction://hlinksldjump"/>
            <a:extLst>
              <a:ext uri="{FF2B5EF4-FFF2-40B4-BE49-F238E27FC236}">
                <a16:creationId xmlns:a16="http://schemas.microsoft.com/office/drawing/2014/main" id="{8BA1AB20-F6C9-14A1-DD86-48008AE860ED}"/>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44" name="Rectangle: Top Corners Rounded 1">
            <a:hlinkClick r:id="" action="ppaction://noaction"/>
            <a:extLst>
              <a:ext uri="{FF2B5EF4-FFF2-40B4-BE49-F238E27FC236}">
                <a16:creationId xmlns:a16="http://schemas.microsoft.com/office/drawing/2014/main" id="{2CBFB264-BA4C-7C13-654E-C694D534B30C}"/>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45" name="Rectangle: Top Corners Rounded 1">
            <a:hlinkClick r:id="" action="ppaction://noaction"/>
            <a:extLst>
              <a:ext uri="{FF2B5EF4-FFF2-40B4-BE49-F238E27FC236}">
                <a16:creationId xmlns:a16="http://schemas.microsoft.com/office/drawing/2014/main" id="{D360B25C-9097-93CA-FAAD-4707EACF474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46" name="Rectangle: Top Corners Rounded 1">
            <a:hlinkClick r:id="" action="ppaction://noaction"/>
            <a:extLst>
              <a:ext uri="{FF2B5EF4-FFF2-40B4-BE49-F238E27FC236}">
                <a16:creationId xmlns:a16="http://schemas.microsoft.com/office/drawing/2014/main" id="{D8307C93-5BAE-E304-61BA-345EFA461575}"/>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47" name="Rectangle: Top Corners Rounded 1">
            <a:hlinkClick r:id="" action="ppaction://noaction"/>
            <a:extLst>
              <a:ext uri="{FF2B5EF4-FFF2-40B4-BE49-F238E27FC236}">
                <a16:creationId xmlns:a16="http://schemas.microsoft.com/office/drawing/2014/main" id="{D75FAA74-5113-3531-C4AF-FC0ABC5C1CB7}"/>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48" name="Rectangle: Top Corners Rounded 1">
            <a:hlinkClick r:id="" action="ppaction://noaction"/>
            <a:extLst>
              <a:ext uri="{FF2B5EF4-FFF2-40B4-BE49-F238E27FC236}">
                <a16:creationId xmlns:a16="http://schemas.microsoft.com/office/drawing/2014/main" id="{309AE6D3-FFF4-8901-355B-7917D6628D81}"/>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49" name="Rectangle: Top Corners Rounded 1">
            <a:hlinkClick r:id="" action="ppaction://noaction"/>
            <a:extLst>
              <a:ext uri="{FF2B5EF4-FFF2-40B4-BE49-F238E27FC236}">
                <a16:creationId xmlns:a16="http://schemas.microsoft.com/office/drawing/2014/main" id="{3460F43F-F6B2-6EC0-4A93-A4CF968031BB}"/>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sp>
        <p:nvSpPr>
          <p:cNvPr id="25" name="Title 24">
            <a:extLst>
              <a:ext uri="{FF2B5EF4-FFF2-40B4-BE49-F238E27FC236}">
                <a16:creationId xmlns:a16="http://schemas.microsoft.com/office/drawing/2014/main" id="{00F3A495-C04D-CC0E-F3DC-05EAB9450A14}"/>
              </a:ext>
            </a:extLst>
          </p:cNvPr>
          <p:cNvSpPr>
            <a:spLocks noGrp="1"/>
          </p:cNvSpPr>
          <p:nvPr>
            <p:ph type="title"/>
          </p:nvPr>
        </p:nvSpPr>
        <p:spPr>
          <a:xfrm>
            <a:off x="425302" y="465998"/>
            <a:ext cx="10544967" cy="504000"/>
          </a:xfrm>
        </p:spPr>
        <p:txBody>
          <a:bodyPr/>
          <a:lstStyle/>
          <a:p>
            <a:r>
              <a:rPr lang="en-GB" err="1"/>
              <a:t>Tweewegcommunicatie</a:t>
            </a:r>
            <a:r>
              <a:rPr lang="en-GB"/>
              <a:t> in </a:t>
            </a:r>
            <a:r>
              <a:rPr lang="en-GB" err="1"/>
              <a:t>zorgnetwerk</a:t>
            </a:r>
            <a:r>
              <a:rPr lang="en-GB"/>
              <a:t> – </a:t>
            </a:r>
            <a:r>
              <a:rPr lang="en-GB" err="1"/>
              <a:t>Ambitie</a:t>
            </a:r>
            <a:endParaRPr lang="en-GB"/>
          </a:p>
        </p:txBody>
      </p:sp>
      <p:sp>
        <p:nvSpPr>
          <p:cNvPr id="30" name="Slide Number Placeholder 5">
            <a:extLst>
              <a:ext uri="{FF2B5EF4-FFF2-40B4-BE49-F238E27FC236}">
                <a16:creationId xmlns:a16="http://schemas.microsoft.com/office/drawing/2014/main" id="{AB4FDCAA-40A3-88A9-5184-C96CFB8B7E66}"/>
              </a:ext>
            </a:extLst>
          </p:cNvPr>
          <p:cNvSpPr>
            <a:spLocks noGrp="1"/>
          </p:cNvSpPr>
          <p:nvPr>
            <p:ph type="sldNum" sz="quarter" idx="4"/>
          </p:nvPr>
        </p:nvSpPr>
        <p:spPr>
          <a:xfrm>
            <a:off x="0" y="6553688"/>
            <a:ext cx="288001" cy="288000"/>
          </a:xfrm>
          <a:prstGeom prst="rect">
            <a:avLst/>
          </a:prstGeom>
        </p:spPr>
        <p:txBody>
          <a:bodyPr vert="horz" lIns="0" tIns="0" rIns="0" bIns="54000" rtlCol="0" anchor="ctr"/>
          <a:lstStyle>
            <a:lvl1pPr algn="r">
              <a:defRPr sz="912">
                <a:solidFill>
                  <a:srgbClr val="1B1C32"/>
                </a:solidFill>
                <a:latin typeface="+mn-lt"/>
                <a:cs typeface="HelveticaNowDisplay Bold" panose="020B080403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FC24F5-86FC-B34E-9C4E-2BC5AF42D9A6}" type="slidenum">
              <a:rPr kumimoji="0" lang="en-NL" sz="912" b="0" i="0" u="none" strike="noStrike" kern="1200" cap="none" spc="0" normalizeH="0" baseline="0" noProof="0" smtClean="0">
                <a:ln>
                  <a:noFill/>
                </a:ln>
                <a:solidFill>
                  <a:srgbClr val="1B1C32"/>
                </a:solidFill>
                <a:effectLst/>
                <a:uLnTx/>
                <a:uFillTx/>
                <a:latin typeface="Calibri"/>
                <a:ea typeface="Verdana" panose="020B0604030504040204" pitchFamily="34" charset="0"/>
                <a:cs typeface="HelveticaNowDisplay Bold" panose="020B080403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NL" sz="912" b="0" i="0" u="none" strike="noStrike" kern="1200" cap="none" spc="0" normalizeH="0" baseline="0" noProof="0">
              <a:ln>
                <a:noFill/>
              </a:ln>
              <a:solidFill>
                <a:srgbClr val="1B1C32"/>
              </a:solidFill>
              <a:effectLst/>
              <a:uLnTx/>
              <a:uFillTx/>
              <a:latin typeface="Calibri"/>
              <a:ea typeface="Verdana" panose="020B0604030504040204" pitchFamily="34" charset="0"/>
              <a:cs typeface="HelveticaNowDisplay Bold" panose="020B0804030202020204" pitchFamily="34" charset="0"/>
            </a:endParaRPr>
          </a:p>
        </p:txBody>
      </p:sp>
    </p:spTree>
    <p:extLst>
      <p:ext uri="{BB962C8B-B14F-4D97-AF65-F5344CB8AC3E}">
        <p14:creationId xmlns:p14="http://schemas.microsoft.com/office/powerpoint/2010/main" val="2985383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13">
            <a:extLst>
              <a:ext uri="{FF2B5EF4-FFF2-40B4-BE49-F238E27FC236}">
                <a16:creationId xmlns:a16="http://schemas.microsoft.com/office/drawing/2014/main" id="{B6869031-FFC9-ECC0-E023-CEE75EAA5B92}"/>
              </a:ext>
            </a:extLst>
          </p:cNvPr>
          <p:cNvSpPr txBox="1"/>
          <p:nvPr/>
        </p:nvSpPr>
        <p:spPr>
          <a:xfrm>
            <a:off x="8834151" y="1001379"/>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Fase 4</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Q3 - Q4 2026</a:t>
            </a:r>
          </a:p>
        </p:txBody>
      </p:sp>
      <p:sp>
        <p:nvSpPr>
          <p:cNvPr id="30" name="TextBox 13">
            <a:extLst>
              <a:ext uri="{FF2B5EF4-FFF2-40B4-BE49-F238E27FC236}">
                <a16:creationId xmlns:a16="http://schemas.microsoft.com/office/drawing/2014/main" id="{67952659-9492-D19E-E280-F6B187632C78}"/>
              </a:ext>
            </a:extLst>
          </p:cNvPr>
          <p:cNvSpPr txBox="1"/>
          <p:nvPr/>
        </p:nvSpPr>
        <p:spPr>
          <a:xfrm>
            <a:off x="717726" y="1001315"/>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Fase 1</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Q1 - Q2 2025</a:t>
            </a:r>
          </a:p>
        </p:txBody>
      </p:sp>
      <p:sp>
        <p:nvSpPr>
          <p:cNvPr id="39" name="TextBox 13">
            <a:extLst>
              <a:ext uri="{FF2B5EF4-FFF2-40B4-BE49-F238E27FC236}">
                <a16:creationId xmlns:a16="http://schemas.microsoft.com/office/drawing/2014/main" id="{3E11984B-C084-E766-D2CE-846425D5FF77}"/>
              </a:ext>
            </a:extLst>
          </p:cNvPr>
          <p:cNvSpPr txBox="1"/>
          <p:nvPr/>
        </p:nvSpPr>
        <p:spPr>
          <a:xfrm>
            <a:off x="6124204" y="998441"/>
            <a:ext cx="2700000" cy="506536"/>
          </a:xfrm>
          <a:prstGeom prst="rect">
            <a:avLst/>
          </a:prstGeom>
          <a:noFill/>
          <a:ln>
            <a:solidFill>
              <a:schemeClr val="tx1">
                <a:lumMod val="50000"/>
                <a:lumOff val="50000"/>
              </a:schemeClr>
            </a:solidFill>
          </a:ln>
        </p:spPr>
        <p:txBody>
          <a:bodyPr wrap="square">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panose="020B0604030504040204" pitchFamily="34" charset="0"/>
                <a:ea typeface="Verdana" panose="020B0604030504040204" pitchFamily="34" charset="0"/>
                <a:cs typeface="Arial"/>
              </a:rPr>
              <a:t>Fase 3</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panose="020B0604030504040204" pitchFamily="34" charset="0"/>
                <a:ea typeface="Verdana" panose="020B0604030504040204" pitchFamily="34" charset="0"/>
                <a:cs typeface="Arial"/>
              </a:rPr>
              <a:t>Q1 – Q2 2026</a:t>
            </a:r>
          </a:p>
        </p:txBody>
      </p:sp>
      <p:sp>
        <p:nvSpPr>
          <p:cNvPr id="43" name="TextBox 13">
            <a:extLst>
              <a:ext uri="{FF2B5EF4-FFF2-40B4-BE49-F238E27FC236}">
                <a16:creationId xmlns:a16="http://schemas.microsoft.com/office/drawing/2014/main" id="{6C25BC07-320C-5D25-572A-D98012D45762}"/>
              </a:ext>
            </a:extLst>
          </p:cNvPr>
          <p:cNvSpPr txBox="1"/>
          <p:nvPr/>
        </p:nvSpPr>
        <p:spPr>
          <a:xfrm>
            <a:off x="3414257" y="1001315"/>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Fase 2</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Q3 – Q4 2025</a:t>
            </a:r>
          </a:p>
        </p:txBody>
      </p:sp>
      <p:sp>
        <p:nvSpPr>
          <p:cNvPr id="23" name="Rectangle: Rounded Corners 4">
            <a:extLst>
              <a:ext uri="{FF2B5EF4-FFF2-40B4-BE49-F238E27FC236}">
                <a16:creationId xmlns:a16="http://schemas.microsoft.com/office/drawing/2014/main" id="{C2CE15A6-B62B-5749-316A-3B64BDC63A18}"/>
              </a:ext>
            </a:extLst>
          </p:cNvPr>
          <p:cNvSpPr>
            <a:spLocks/>
          </p:cNvSpPr>
          <p:nvPr/>
        </p:nvSpPr>
        <p:spPr>
          <a:xfrm>
            <a:off x="3431766" y="2066772"/>
            <a:ext cx="2545638" cy="2654877"/>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0" bIns="36000" rtlCol="0" anchor="t"/>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Definitieve keuze voor technische oplossing</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Opleveren van implementatieplan voor werkafspraken binnen het zorgnetwerk.</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Start implementatie van werkafspraken bij pilotgroep</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Monitoring van het gebruik van werkafspraken en opvolging van de gap-analyse.</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Contact met leveranciers voor uitbreiding van technische mogelijkheden.</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352425"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Geselecteerde technische oplossing en goedgekeurd implementatieplan voor werkafspraken.</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p:txBody>
      </p:sp>
      <p:sp>
        <p:nvSpPr>
          <p:cNvPr id="24" name="Rectangle: Rounded Corners 4">
            <a:extLst>
              <a:ext uri="{FF2B5EF4-FFF2-40B4-BE49-F238E27FC236}">
                <a16:creationId xmlns:a16="http://schemas.microsoft.com/office/drawing/2014/main" id="{3FA4097A-396D-F2F5-CE69-76BEBC227BFE}"/>
              </a:ext>
            </a:extLst>
          </p:cNvPr>
          <p:cNvSpPr>
            <a:spLocks/>
          </p:cNvSpPr>
          <p:nvPr/>
        </p:nvSpPr>
        <p:spPr>
          <a:xfrm>
            <a:off x="8820727" y="2066773"/>
            <a:ext cx="2545638" cy="2654878"/>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Revisie van werkafspraken op basis van feedback uit de pilotfase.</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Volledige technische oplevering van de oplossing voor de ombuiging van verwijzing naar meedenkconsult.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Verdere uitrol van digitale zorgcommunicatie in het bredere zorgnetwerk. Waaronder: meer vakgroepen, kaderhuisartsen, VVT, GGZ.</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3238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80975" marR="0" lvl="0" indent="0" algn="ctr" defTabSz="914400" rtl="0" eaLnBrk="1" fontAlgn="auto" latinLnBrk="0" hangingPunct="1">
              <a:lnSpc>
                <a:spcPct val="100000"/>
              </a:lnSpc>
              <a:spcBef>
                <a:spcPts val="0"/>
              </a:spcBef>
              <a:spcAft>
                <a:spcPts val="0"/>
              </a:spcAft>
              <a:buClrTx/>
              <a:buSzTx/>
              <a:buFontTx/>
              <a:buNone/>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80975" marR="0" lvl="0" indent="0" algn="ctr" defTabSz="914400" rtl="0" eaLnBrk="1" fontAlgn="auto" latinLnBrk="0" hangingPunct="1">
              <a:lnSpc>
                <a:spcPct val="100000"/>
              </a:lnSpc>
              <a:spcBef>
                <a:spcPts val="0"/>
              </a:spcBef>
              <a:spcAft>
                <a:spcPts val="0"/>
              </a:spcAft>
              <a:buClrTx/>
              <a:buSzTx/>
              <a:buFontTx/>
              <a:buNone/>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352425"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Volledige uitrol van de digitale zorgcommunicatie-oplossing binnen het zorgnetwerk.</a:t>
            </a:r>
          </a:p>
          <a:p>
            <a:pPr marL="3238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a:endParaRPr>
          </a:p>
          <a:p>
            <a:pPr marL="3238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a:endParaRPr>
          </a:p>
        </p:txBody>
      </p:sp>
      <p:sp>
        <p:nvSpPr>
          <p:cNvPr id="27" name="Rectangle: Rounded Corners 28">
            <a:extLst>
              <a:ext uri="{FF2B5EF4-FFF2-40B4-BE49-F238E27FC236}">
                <a16:creationId xmlns:a16="http://schemas.microsoft.com/office/drawing/2014/main" id="{7EA053B6-2644-CBA8-F554-610D3AEB7122}"/>
              </a:ext>
            </a:extLst>
          </p:cNvPr>
          <p:cNvSpPr>
            <a:spLocks/>
          </p:cNvSpPr>
          <p:nvPr/>
        </p:nvSpPr>
        <p:spPr>
          <a:xfrm>
            <a:off x="721460" y="2066773"/>
            <a:ext cx="2574393" cy="266179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Uitbreiden van de centrale werkgroep met een bredere vertegenwoordiging van het zorgnetwerk en IT-expertise.</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Aansluiting bij bestaande relevante werkgroepen.</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Regionale afstemming over financiering en </a:t>
            </a:r>
            <a:r>
              <a:rPr kumimoji="0" lang="nl-NL" sz="8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contractering</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Documenteren van leveranciersfeedback.</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Afstemming van de technische </a:t>
            </a:r>
            <a:r>
              <a:rPr kumimoji="0" lang="nl-NL" sz="8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roadmap</a:t>
            </a: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 met leveranciers (o.a. Zorgdomein, </a:t>
            </a:r>
            <a:r>
              <a:rPr kumimoji="0" lang="nl-NL" sz="8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Vecozo</a:t>
            </a: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Gap-analyse huidig verwijsproces.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ctr" defTabSz="914400" rtl="0" eaLnBrk="1" fontAlgn="auto" latinLnBrk="0" hangingPunct="1">
              <a:lnSpc>
                <a:spcPct val="100000"/>
              </a:lnSpc>
              <a:spcBef>
                <a:spcPts val="0"/>
              </a:spcBef>
              <a:spcAft>
                <a:spcPts val="0"/>
              </a:spcAft>
              <a:buClrTx/>
              <a:buSzTx/>
              <a:buFont typeface="Arial"/>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Documentatie van leveranciersfeedback</a:t>
            </a:r>
          </a:p>
          <a:p>
            <a:pPr marL="171450" marR="0" lvl="0" indent="-171450" algn="ctr" defTabSz="914400" rtl="0" eaLnBrk="1" fontAlgn="auto" latinLnBrk="0" hangingPunct="1">
              <a:lnSpc>
                <a:spcPct val="100000"/>
              </a:lnSpc>
              <a:spcBef>
                <a:spcPts val="0"/>
              </a:spcBef>
              <a:spcAft>
                <a:spcPts val="0"/>
              </a:spcAft>
              <a:buClrTx/>
              <a:buSzTx/>
              <a:buFont typeface="Arial"/>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G</a:t>
            </a:r>
            <a:r>
              <a:rPr kumimoji="0" lang="nl-NL" sz="8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oedkeuring</a:t>
            </a: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 technische </a:t>
            </a:r>
            <a:r>
              <a:rPr kumimoji="0" lang="nl-NL" sz="8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roadmap</a:t>
            </a: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3873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323850" marR="0" lvl="0" indent="-10795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31" name="Straight Arrow Connector 29">
            <a:extLst>
              <a:ext uri="{FF2B5EF4-FFF2-40B4-BE49-F238E27FC236}">
                <a16:creationId xmlns:a16="http://schemas.microsoft.com/office/drawing/2014/main" id="{36B8428A-E58F-5CD0-E4CF-EF36B9844C02}"/>
              </a:ext>
            </a:extLst>
          </p:cNvPr>
          <p:cNvCxnSpPr>
            <a:cxnSpLocks/>
          </p:cNvCxnSpPr>
          <p:nvPr/>
        </p:nvCxnSpPr>
        <p:spPr>
          <a:xfrm flipV="1">
            <a:off x="721459" y="1614914"/>
            <a:ext cx="10752814" cy="55946"/>
          </a:xfrm>
          <a:prstGeom prst="straightConnector1">
            <a:avLst/>
          </a:prstGeom>
          <a:ln w="38100">
            <a:solidFill>
              <a:schemeClr val="bg2">
                <a:lumMod val="75000"/>
              </a:schemeClr>
            </a:solidFill>
            <a:tailEnd type="triangle"/>
          </a:ln>
        </p:spPr>
        <p:style>
          <a:lnRef idx="3">
            <a:schemeClr val="dk1"/>
          </a:lnRef>
          <a:fillRef idx="0">
            <a:schemeClr val="dk1"/>
          </a:fillRef>
          <a:effectRef idx="2">
            <a:schemeClr val="dk1"/>
          </a:effectRef>
          <a:fontRef idx="minor">
            <a:schemeClr val="tx1"/>
          </a:fontRef>
        </p:style>
      </p:cxnSp>
      <p:sp>
        <p:nvSpPr>
          <p:cNvPr id="35" name="Oval 17">
            <a:extLst>
              <a:ext uri="{FF2B5EF4-FFF2-40B4-BE49-F238E27FC236}">
                <a16:creationId xmlns:a16="http://schemas.microsoft.com/office/drawing/2014/main" id="{C1D9CE12-4B22-0FCC-53F2-557C2A9B4086}"/>
              </a:ext>
            </a:extLst>
          </p:cNvPr>
          <p:cNvSpPr>
            <a:spLocks/>
          </p:cNvSpPr>
          <p:nvPr/>
        </p:nvSpPr>
        <p:spPr>
          <a:xfrm>
            <a:off x="1754370" y="1462417"/>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38" name="Oval 18">
            <a:extLst>
              <a:ext uri="{FF2B5EF4-FFF2-40B4-BE49-F238E27FC236}">
                <a16:creationId xmlns:a16="http://schemas.microsoft.com/office/drawing/2014/main" id="{EF9CD2A3-AF46-87C8-2D86-CB4B69866131}"/>
              </a:ext>
            </a:extLst>
          </p:cNvPr>
          <p:cNvSpPr>
            <a:spLocks/>
          </p:cNvSpPr>
          <p:nvPr/>
        </p:nvSpPr>
        <p:spPr>
          <a:xfrm>
            <a:off x="7208787" y="1481402"/>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40" name="Rectangle: Rounded Corners 28">
            <a:extLst>
              <a:ext uri="{FF2B5EF4-FFF2-40B4-BE49-F238E27FC236}">
                <a16:creationId xmlns:a16="http://schemas.microsoft.com/office/drawing/2014/main" id="{10F20DEE-2443-A9F0-7E27-A32BE021DFF6}"/>
              </a:ext>
            </a:extLst>
          </p:cNvPr>
          <p:cNvSpPr>
            <a:spLocks/>
          </p:cNvSpPr>
          <p:nvPr/>
        </p:nvSpPr>
        <p:spPr>
          <a:xfrm>
            <a:off x="795927" y="5061610"/>
            <a:ext cx="2545638" cy="147600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Ophalen (informatie-)behoefte en prioriteiten inwoners en professionals: expertgroep</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Identificeren doelgroep(en) /sub-sectoren: kansrijk voor pilotfase</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Expertgroep</a:t>
            </a:r>
          </a:p>
          <a:p>
            <a:pPr marL="324000" marR="0" lvl="0" indent="-1080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Behoefte &amp; doelgroepen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2" name="Oval 13">
            <a:extLst>
              <a:ext uri="{FF2B5EF4-FFF2-40B4-BE49-F238E27FC236}">
                <a16:creationId xmlns:a16="http://schemas.microsoft.com/office/drawing/2014/main" id="{99967F1D-C634-4EB1-258F-6210510CF9C0}"/>
              </a:ext>
            </a:extLst>
          </p:cNvPr>
          <p:cNvSpPr>
            <a:spLocks/>
          </p:cNvSpPr>
          <p:nvPr/>
        </p:nvSpPr>
        <p:spPr>
          <a:xfrm>
            <a:off x="4504533" y="1446580"/>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48" name="Rectangle: Rounded Corners 4">
            <a:extLst>
              <a:ext uri="{FF2B5EF4-FFF2-40B4-BE49-F238E27FC236}">
                <a16:creationId xmlns:a16="http://schemas.microsoft.com/office/drawing/2014/main" id="{8D1EE6CF-1442-576D-023C-6C30904B6007}"/>
              </a:ext>
            </a:extLst>
          </p:cNvPr>
          <p:cNvSpPr>
            <a:spLocks/>
          </p:cNvSpPr>
          <p:nvPr/>
        </p:nvSpPr>
        <p:spPr>
          <a:xfrm>
            <a:off x="6135443" y="2066773"/>
            <a:ext cx="2531261" cy="2654878"/>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Afronding van de implementatie van werkafspraken en start van de monitoring.</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Bestuurlijk akkoord op gekozen oplossing en financiële gevolgen</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Start van de pilotfase met geselecteerde vakgroepen.</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Evaluatie van de pilotfase en bijsturing waar nodig.</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Verbreding: betrekken andere doelgroepen, sub-sectoren en vakgroepen.</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Verdere implementatie van werkafspraken op basis van de pilotfeedback.</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ctr" defTabSz="914400" rtl="0" eaLnBrk="1" fontAlgn="auto" latinLnBrk="0" hangingPunct="1">
              <a:lnSpc>
                <a:spcPct val="100000"/>
              </a:lnSpc>
              <a:spcBef>
                <a:spcPts val="0"/>
              </a:spcBef>
              <a:spcAft>
                <a:spcPts val="0"/>
              </a:spcAft>
              <a:buClrTx/>
              <a:buSzTx/>
              <a:buFont typeface="Arial"/>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Voltooide pilotfase met evaluatierapport en bijsturing op basis van de bevindingen.</a:t>
            </a:r>
          </a:p>
        </p:txBody>
      </p:sp>
      <p:sp>
        <p:nvSpPr>
          <p:cNvPr id="50" name="Oval 13">
            <a:extLst>
              <a:ext uri="{FF2B5EF4-FFF2-40B4-BE49-F238E27FC236}">
                <a16:creationId xmlns:a16="http://schemas.microsoft.com/office/drawing/2014/main" id="{E744467C-BD17-BAB8-CEC0-E385BDC33B9E}"/>
              </a:ext>
            </a:extLst>
          </p:cNvPr>
          <p:cNvSpPr>
            <a:spLocks/>
          </p:cNvSpPr>
          <p:nvPr/>
        </p:nvSpPr>
        <p:spPr>
          <a:xfrm>
            <a:off x="9952324" y="1446580"/>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52" name="Tekstvak 51">
            <a:extLst>
              <a:ext uri="{FF2B5EF4-FFF2-40B4-BE49-F238E27FC236}">
                <a16:creationId xmlns:a16="http://schemas.microsoft.com/office/drawing/2014/main" id="{1E3BD5C7-6374-8A58-F784-4B11C473432F}"/>
              </a:ext>
            </a:extLst>
          </p:cNvPr>
          <p:cNvSpPr txBox="1">
            <a:spLocks/>
          </p:cNvSpPr>
          <p:nvPr/>
        </p:nvSpPr>
        <p:spPr>
          <a:xfrm>
            <a:off x="761291" y="1869431"/>
            <a:ext cx="2545638" cy="2009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srgbClr val="000000"/>
                </a:solidFill>
                <a:effectLst/>
                <a:uLnTx/>
                <a:uFillTx/>
                <a:latin typeface="Verdana"/>
                <a:ea typeface="Verdana"/>
                <a:cs typeface="Arial"/>
              </a:rPr>
              <a:t>Analyse en voorbereidingsfase</a:t>
            </a:r>
          </a:p>
        </p:txBody>
      </p:sp>
      <p:sp>
        <p:nvSpPr>
          <p:cNvPr id="53" name="Tekstvak 52">
            <a:extLst>
              <a:ext uri="{FF2B5EF4-FFF2-40B4-BE49-F238E27FC236}">
                <a16:creationId xmlns:a16="http://schemas.microsoft.com/office/drawing/2014/main" id="{575E1D14-0506-7CB9-8C2C-7ABC690AB70E}"/>
              </a:ext>
            </a:extLst>
          </p:cNvPr>
          <p:cNvSpPr txBox="1">
            <a:spLocks/>
          </p:cNvSpPr>
          <p:nvPr/>
        </p:nvSpPr>
        <p:spPr>
          <a:xfrm>
            <a:off x="3382629" y="1843107"/>
            <a:ext cx="2545638" cy="2009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srgbClr val="000000"/>
                </a:solidFill>
                <a:effectLst/>
                <a:uLnTx/>
                <a:uFillTx/>
                <a:latin typeface="Verdana"/>
                <a:ea typeface="Verdana"/>
                <a:cs typeface="Arial"/>
              </a:rPr>
              <a:t>…</a:t>
            </a:r>
          </a:p>
        </p:txBody>
      </p:sp>
      <p:sp>
        <p:nvSpPr>
          <p:cNvPr id="54" name="Rectangle: Rounded Corners 28">
            <a:extLst>
              <a:ext uri="{FF2B5EF4-FFF2-40B4-BE49-F238E27FC236}">
                <a16:creationId xmlns:a16="http://schemas.microsoft.com/office/drawing/2014/main" id="{8105DAE2-B012-6378-E5DF-20BB8C8E6E2C}"/>
              </a:ext>
            </a:extLst>
          </p:cNvPr>
          <p:cNvSpPr>
            <a:spLocks/>
          </p:cNvSpPr>
          <p:nvPr/>
        </p:nvSpPr>
        <p:spPr>
          <a:xfrm>
            <a:off x="721458" y="1818416"/>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a:ea typeface="Verdana"/>
                <a:cs typeface="+mn-cs"/>
              </a:rPr>
              <a:t>Digitale zorgcommunicatie (meedenkconsult + digitale verwijzing + kort overleg)</a:t>
            </a:r>
          </a:p>
        </p:txBody>
      </p:sp>
      <p:sp>
        <p:nvSpPr>
          <p:cNvPr id="58" name="Rectangle: Rounded Corners 4">
            <a:extLst>
              <a:ext uri="{FF2B5EF4-FFF2-40B4-BE49-F238E27FC236}">
                <a16:creationId xmlns:a16="http://schemas.microsoft.com/office/drawing/2014/main" id="{ED0D8D75-C5A9-0654-E08F-D86BC27BBDAD}"/>
              </a:ext>
            </a:extLst>
          </p:cNvPr>
          <p:cNvSpPr>
            <a:spLocks/>
          </p:cNvSpPr>
          <p:nvPr/>
        </p:nvSpPr>
        <p:spPr>
          <a:xfrm>
            <a:off x="3462670" y="5060640"/>
            <a:ext cx="2545638" cy="147600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Inventarisatie succesvolle oplossingen uit andere regio’s</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Toetsing van oplossingen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Keuze van oplossing</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Contact met leverancier</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87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Keuze passende oplossing</a:t>
            </a:r>
          </a:p>
          <a:p>
            <a:pPr marL="387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Leveranciersselectie</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9" name="Rectangle: Rounded Corners 4">
            <a:extLst>
              <a:ext uri="{FF2B5EF4-FFF2-40B4-BE49-F238E27FC236}">
                <a16:creationId xmlns:a16="http://schemas.microsoft.com/office/drawing/2014/main" id="{EC324991-4C6E-85E4-E42B-A42AAEC4DF41}"/>
              </a:ext>
            </a:extLst>
          </p:cNvPr>
          <p:cNvSpPr>
            <a:spLocks/>
          </p:cNvSpPr>
          <p:nvPr/>
        </p:nvSpPr>
        <p:spPr>
          <a:xfrm>
            <a:off x="6172891" y="5060640"/>
            <a:ext cx="2545638" cy="147600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Afstemming en voorbereiding pilot met doelgroep: werkafspraken en vertaling naar specifieke doelgroepen en problematiek, rationale en commitment, analyse huidige IT-systemen, gegevens-standaarden en protocollen, projectplan.</a:t>
            </a: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 IT-systemen</a:t>
            </a:r>
          </a:p>
        </p:txBody>
      </p:sp>
      <p:sp>
        <p:nvSpPr>
          <p:cNvPr id="63" name="Rectangle: Rounded Corners 4">
            <a:extLst>
              <a:ext uri="{FF2B5EF4-FFF2-40B4-BE49-F238E27FC236}">
                <a16:creationId xmlns:a16="http://schemas.microsoft.com/office/drawing/2014/main" id="{0DEBB35F-AA7B-53B1-8D1E-00E87DCAC62D}"/>
              </a:ext>
            </a:extLst>
          </p:cNvPr>
          <p:cNvSpPr>
            <a:spLocks/>
          </p:cNvSpPr>
          <p:nvPr/>
        </p:nvSpPr>
        <p:spPr>
          <a:xfrm>
            <a:off x="8833639" y="5060640"/>
            <a:ext cx="2545638" cy="147600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Technische inrichting oplossing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Oplevering werkafspraken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pilotfase met geselecteerde doelgroep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Ingerichte oplossing met bijbehorende werkafspraken</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pilotfase</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pic>
        <p:nvPicPr>
          <p:cNvPr id="65" name="Graphic 64">
            <a:extLst>
              <a:ext uri="{FF2B5EF4-FFF2-40B4-BE49-F238E27FC236}">
                <a16:creationId xmlns:a16="http://schemas.microsoft.com/office/drawing/2014/main" id="{11F31913-32DA-6DD1-CF6E-17079BBF3706}"/>
              </a:ext>
            </a:extLst>
          </p:cNvPr>
          <p:cNvPicPr>
            <a:picLocks noChangeAspect="1"/>
          </p:cNvPicPr>
          <p:nvPr>
            <p:custDataLst>
              <p:tags r:id="rId1"/>
            </p:custDataLst>
          </p:nvPr>
        </p:nvPicPr>
        <p:blipFill>
          <a:blip r:embed="rId12">
            <a:extLst>
              <a:ext uri="{96DAC541-7B7A-43D3-8B79-37D633B846F1}">
                <asvg:svgBlip xmlns:asvg="http://schemas.microsoft.com/office/drawing/2016/SVG/main" r:embed="rId13"/>
              </a:ext>
            </a:extLst>
          </a:blip>
          <a:stretch>
            <a:fillRect/>
          </a:stretch>
        </p:blipFill>
        <p:spPr>
          <a:xfrm>
            <a:off x="3505801" y="4111974"/>
            <a:ext cx="288000" cy="288000"/>
          </a:xfrm>
          <a:prstGeom prst="rect">
            <a:avLst/>
          </a:prstGeom>
        </p:spPr>
      </p:pic>
      <p:pic>
        <p:nvPicPr>
          <p:cNvPr id="66" name="Graphic 65">
            <a:extLst>
              <a:ext uri="{FF2B5EF4-FFF2-40B4-BE49-F238E27FC236}">
                <a16:creationId xmlns:a16="http://schemas.microsoft.com/office/drawing/2014/main" id="{DE01D82A-01AC-E5B0-BC8B-06D849052877}"/>
              </a:ext>
            </a:extLst>
          </p:cNvPr>
          <p:cNvPicPr>
            <a:picLocks/>
          </p:cNvPicPr>
          <p:nvPr>
            <p:custDataLst>
              <p:tags r:id="rId2"/>
            </p:custDataLst>
          </p:nvPr>
        </p:nvPicPr>
        <p:blipFill>
          <a:blip r:embed="rId12">
            <a:extLst>
              <a:ext uri="{96DAC541-7B7A-43D3-8B79-37D633B846F1}">
                <asvg:svgBlip xmlns:asvg="http://schemas.microsoft.com/office/drawing/2016/SVG/main" r:embed="rId13"/>
              </a:ext>
            </a:extLst>
          </a:blip>
          <a:stretch>
            <a:fillRect/>
          </a:stretch>
        </p:blipFill>
        <p:spPr>
          <a:xfrm>
            <a:off x="6151577" y="4111974"/>
            <a:ext cx="288000" cy="288000"/>
          </a:xfrm>
          <a:prstGeom prst="rect">
            <a:avLst/>
          </a:prstGeom>
        </p:spPr>
      </p:pic>
      <p:pic>
        <p:nvPicPr>
          <p:cNvPr id="67" name="Graphic 66">
            <a:extLst>
              <a:ext uri="{FF2B5EF4-FFF2-40B4-BE49-F238E27FC236}">
                <a16:creationId xmlns:a16="http://schemas.microsoft.com/office/drawing/2014/main" id="{E73A2C61-96F8-E7EC-8833-78D52172FABD}"/>
              </a:ext>
            </a:extLst>
          </p:cNvPr>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tretch>
            <a:fillRect/>
          </a:stretch>
        </p:blipFill>
        <p:spPr>
          <a:xfrm>
            <a:off x="8917198" y="4111974"/>
            <a:ext cx="288000" cy="288000"/>
          </a:xfrm>
          <a:prstGeom prst="rect">
            <a:avLst/>
          </a:prstGeom>
        </p:spPr>
      </p:pic>
      <p:pic>
        <p:nvPicPr>
          <p:cNvPr id="71" name="Graphic 70">
            <a:extLst>
              <a:ext uri="{FF2B5EF4-FFF2-40B4-BE49-F238E27FC236}">
                <a16:creationId xmlns:a16="http://schemas.microsoft.com/office/drawing/2014/main" id="{D0ADFA69-8D1A-B438-4A10-BFB6BF6037E4}"/>
              </a:ext>
            </a:extLst>
          </p:cNvPr>
          <p:cNvPicPr>
            <a:picLocks noChangeAspect="1"/>
          </p:cNvPicPr>
          <p:nvPr>
            <p:custDataLst>
              <p:tags r:id="rId4"/>
            </p:custDataLst>
          </p:nvPr>
        </p:nvPicPr>
        <p:blipFill>
          <a:blip r:embed="rId12">
            <a:extLst>
              <a:ext uri="{96DAC541-7B7A-43D3-8B79-37D633B846F1}">
                <asvg:svgBlip xmlns:asvg="http://schemas.microsoft.com/office/drawing/2016/SVG/main" r:embed="rId13"/>
              </a:ext>
            </a:extLst>
          </a:blip>
          <a:stretch>
            <a:fillRect/>
          </a:stretch>
        </p:blipFill>
        <p:spPr>
          <a:xfrm>
            <a:off x="3505801" y="6171405"/>
            <a:ext cx="288000" cy="288000"/>
          </a:xfrm>
          <a:prstGeom prst="rect">
            <a:avLst/>
          </a:prstGeom>
        </p:spPr>
      </p:pic>
      <p:pic>
        <p:nvPicPr>
          <p:cNvPr id="72" name="Graphic 71">
            <a:extLst>
              <a:ext uri="{FF2B5EF4-FFF2-40B4-BE49-F238E27FC236}">
                <a16:creationId xmlns:a16="http://schemas.microsoft.com/office/drawing/2014/main" id="{14599293-9997-982D-A1D5-16A3430F3C24}"/>
              </a:ext>
            </a:extLst>
          </p:cNvPr>
          <p:cNvPicPr>
            <a:picLocks/>
          </p:cNvPicPr>
          <p:nvPr>
            <p:custDataLst>
              <p:tags r:id="rId5"/>
            </p:custDataLst>
          </p:nvPr>
        </p:nvPicPr>
        <p:blipFill>
          <a:blip r:embed="rId12">
            <a:extLst>
              <a:ext uri="{96DAC541-7B7A-43D3-8B79-37D633B846F1}">
                <asvg:svgBlip xmlns:asvg="http://schemas.microsoft.com/office/drawing/2016/SVG/main" r:embed="rId13"/>
              </a:ext>
            </a:extLst>
          </a:blip>
          <a:stretch>
            <a:fillRect/>
          </a:stretch>
        </p:blipFill>
        <p:spPr>
          <a:xfrm>
            <a:off x="6151577" y="6171405"/>
            <a:ext cx="288000" cy="288000"/>
          </a:xfrm>
          <a:prstGeom prst="rect">
            <a:avLst/>
          </a:prstGeom>
        </p:spPr>
      </p:pic>
      <p:pic>
        <p:nvPicPr>
          <p:cNvPr id="73" name="Graphic 72">
            <a:extLst>
              <a:ext uri="{FF2B5EF4-FFF2-40B4-BE49-F238E27FC236}">
                <a16:creationId xmlns:a16="http://schemas.microsoft.com/office/drawing/2014/main" id="{1FEDEDB9-5F0F-D896-B624-CBF4A2A0CE1E}"/>
              </a:ext>
            </a:extLst>
          </p:cNvPr>
          <p:cNvPicPr>
            <a:picLocks noChangeAspect="1"/>
          </p:cNvPicPr>
          <p:nvPr>
            <p:custDataLst>
              <p:tags r:id="rId6"/>
            </p:custDataLst>
          </p:nvPr>
        </p:nvPicPr>
        <p:blipFill>
          <a:blip r:embed="rId12">
            <a:extLst>
              <a:ext uri="{96DAC541-7B7A-43D3-8B79-37D633B846F1}">
                <asvg:svgBlip xmlns:asvg="http://schemas.microsoft.com/office/drawing/2016/SVG/main" r:embed="rId13"/>
              </a:ext>
            </a:extLst>
          </a:blip>
          <a:stretch>
            <a:fillRect/>
          </a:stretch>
        </p:blipFill>
        <p:spPr>
          <a:xfrm>
            <a:off x="8917198" y="6171405"/>
            <a:ext cx="288000" cy="288000"/>
          </a:xfrm>
          <a:prstGeom prst="rect">
            <a:avLst/>
          </a:prstGeom>
        </p:spPr>
      </p:pic>
      <p:pic>
        <p:nvPicPr>
          <p:cNvPr id="74" name="Graphic 73">
            <a:extLst>
              <a:ext uri="{FF2B5EF4-FFF2-40B4-BE49-F238E27FC236}">
                <a16:creationId xmlns:a16="http://schemas.microsoft.com/office/drawing/2014/main" id="{18A6EF97-E13E-1010-25EE-5D83D7EA9DA7}"/>
              </a:ext>
            </a:extLst>
          </p:cNvPr>
          <p:cNvPicPr>
            <a:picLocks/>
          </p:cNvPicPr>
          <p:nvPr>
            <p:custDataLst>
              <p:tags r:id="rId7"/>
            </p:custDataLst>
          </p:nvPr>
        </p:nvPicPr>
        <p:blipFill>
          <a:blip r:embed="rId12">
            <a:extLst>
              <a:ext uri="{96DAC541-7B7A-43D3-8B79-37D633B846F1}">
                <asvg:svgBlip xmlns:asvg="http://schemas.microsoft.com/office/drawing/2016/SVG/main" r:embed="rId13"/>
              </a:ext>
            </a:extLst>
          </a:blip>
          <a:stretch>
            <a:fillRect/>
          </a:stretch>
        </p:blipFill>
        <p:spPr>
          <a:xfrm>
            <a:off x="831170" y="4111974"/>
            <a:ext cx="288000" cy="288000"/>
          </a:xfrm>
          <a:prstGeom prst="rect">
            <a:avLst/>
          </a:prstGeom>
        </p:spPr>
      </p:pic>
      <p:pic>
        <p:nvPicPr>
          <p:cNvPr id="76" name="Graphic 75">
            <a:extLst>
              <a:ext uri="{FF2B5EF4-FFF2-40B4-BE49-F238E27FC236}">
                <a16:creationId xmlns:a16="http://schemas.microsoft.com/office/drawing/2014/main" id="{94EA2996-0622-2109-3C7B-D3E4836C7D32}"/>
              </a:ext>
            </a:extLst>
          </p:cNvPr>
          <p:cNvPicPr>
            <a:picLocks/>
          </p:cNvPicPr>
          <p:nvPr>
            <p:custDataLst>
              <p:tags r:id="rId8"/>
            </p:custDataLst>
          </p:nvPr>
        </p:nvPicPr>
        <p:blipFill>
          <a:blip r:embed="rId12">
            <a:extLst>
              <a:ext uri="{96DAC541-7B7A-43D3-8B79-37D633B846F1}">
                <asvg:svgBlip xmlns:asvg="http://schemas.microsoft.com/office/drawing/2016/SVG/main" r:embed="rId13"/>
              </a:ext>
            </a:extLst>
          </a:blip>
          <a:stretch>
            <a:fillRect/>
          </a:stretch>
        </p:blipFill>
        <p:spPr>
          <a:xfrm>
            <a:off x="831170" y="6171405"/>
            <a:ext cx="288000" cy="288000"/>
          </a:xfrm>
          <a:prstGeom prst="rect">
            <a:avLst/>
          </a:prstGeom>
        </p:spPr>
      </p:pic>
      <p:pic>
        <p:nvPicPr>
          <p:cNvPr id="78" name="Graphic 77">
            <a:extLst>
              <a:ext uri="{FF2B5EF4-FFF2-40B4-BE49-F238E27FC236}">
                <a16:creationId xmlns:a16="http://schemas.microsoft.com/office/drawing/2014/main" id="{436BEE6E-381F-FB94-66FC-F0EAFBA6C7AB}"/>
              </a:ext>
            </a:extLst>
          </p:cNvPr>
          <p:cNvPicPr>
            <a:picLocks/>
          </p:cNvPicPr>
          <p:nvPr>
            <p:custDataLst>
              <p:tags r:id="rId9"/>
            </p:custDataLst>
          </p:nvPr>
        </p:nvPicPr>
        <p:blipFill>
          <a:blip r:embed="rId12">
            <a:extLst>
              <a:ext uri="{96DAC541-7B7A-43D3-8B79-37D633B846F1}">
                <asvg:svgBlip xmlns:asvg="http://schemas.microsoft.com/office/drawing/2016/SVG/main" r:embed="rId13"/>
              </a:ext>
            </a:extLst>
          </a:blip>
          <a:stretch>
            <a:fillRect/>
          </a:stretch>
        </p:blipFill>
        <p:spPr>
          <a:xfrm>
            <a:off x="9096255" y="10220"/>
            <a:ext cx="288000" cy="288000"/>
          </a:xfrm>
          <a:prstGeom prst="rect">
            <a:avLst/>
          </a:prstGeom>
        </p:spPr>
      </p:pic>
      <p:sp>
        <p:nvSpPr>
          <p:cNvPr id="3" name="TextBox 2">
            <a:extLst>
              <a:ext uri="{FF2B5EF4-FFF2-40B4-BE49-F238E27FC236}">
                <a16:creationId xmlns:a16="http://schemas.microsoft.com/office/drawing/2014/main" id="{342D6063-A93D-E46A-51A9-866C261480BE}"/>
              </a:ext>
            </a:extLst>
          </p:cNvPr>
          <p:cNvSpPr txBox="1"/>
          <p:nvPr/>
        </p:nvSpPr>
        <p:spPr>
          <a:xfrm>
            <a:off x="289703" y="6459405"/>
            <a:ext cx="10657736" cy="584775"/>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nl-NL" sz="800" b="0" i="0" u="none" strike="noStrike" kern="1200" cap="none" spc="0" normalizeH="0" baseline="0" noProof="0">
                <a:ln>
                  <a:noFill/>
                </a:ln>
                <a:solidFill>
                  <a:prstClr val="black"/>
                </a:solidFill>
                <a:effectLst/>
                <a:uLnTx/>
                <a:uFillTx/>
                <a:latin typeface="Calibri"/>
                <a:ea typeface="+mn-ea"/>
                <a:cs typeface="+mn-cs"/>
              </a:rPr>
              <a:t>Bestaande werkafspraken worden opgesteld eind 2024 door bestaande werkgroep  ‘digitale communicatie huisarts-specialist’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nl-NL" sz="800" b="0" i="0" u="none" strike="noStrike" kern="1200" cap="none" spc="0" normalizeH="0" baseline="0" noProof="0">
                <a:ln>
                  <a:noFill/>
                </a:ln>
                <a:solidFill>
                  <a:prstClr val="black"/>
                </a:solidFill>
                <a:effectLst/>
                <a:uLnTx/>
                <a:uFillTx/>
                <a:latin typeface="Calibri"/>
                <a:ea typeface="+mn-ea"/>
                <a:cs typeface="+mn-cs"/>
              </a:rPr>
              <a:t>Werkafspraak momenteel in de maak bij een bestaande werkgroep</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nl-NL" sz="800" b="0" i="0" u="none" strike="noStrike" kern="1200" cap="none" spc="0" normalizeH="0" baseline="0" noProof="0">
                <a:ln>
                  <a:noFill/>
                </a:ln>
                <a:solidFill>
                  <a:prstClr val="black"/>
                </a:solidFill>
                <a:effectLst/>
                <a:uLnTx/>
                <a:uFillTx/>
                <a:latin typeface="Calibri"/>
                <a:ea typeface="+mn-ea"/>
                <a:cs typeface="+mn-cs"/>
              </a:rPr>
              <a:t>Hierbij aansluiting zoeken bij bestaande werkgroep ‘netwerkzorgplatform’ in regio Midden-Nederland.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nl-NL" sz="800" b="0" i="0" u="none" strike="noStrike" kern="1200" cap="none" spc="0" normalizeH="0" baseline="0" noProof="0">
              <a:ln>
                <a:noFill/>
              </a:ln>
              <a:solidFill>
                <a:prstClr val="black"/>
              </a:solidFill>
              <a:effectLst/>
              <a:uLnTx/>
              <a:uFillTx/>
              <a:latin typeface="Calibri"/>
              <a:ea typeface="+mn-ea"/>
              <a:cs typeface="+mn-cs"/>
            </a:endParaRPr>
          </a:p>
        </p:txBody>
      </p:sp>
      <p:sp>
        <p:nvSpPr>
          <p:cNvPr id="57" name="Rectangle: Rounded Corners 28">
            <a:extLst>
              <a:ext uri="{FF2B5EF4-FFF2-40B4-BE49-F238E27FC236}">
                <a16:creationId xmlns:a16="http://schemas.microsoft.com/office/drawing/2014/main" id="{E1B5F51C-49B2-7B8E-634D-2CBB74EF5521}"/>
              </a:ext>
            </a:extLst>
          </p:cNvPr>
          <p:cNvSpPr>
            <a:spLocks/>
          </p:cNvSpPr>
          <p:nvPr/>
        </p:nvSpPr>
        <p:spPr>
          <a:xfrm>
            <a:off x="775453" y="4764305"/>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a:ea typeface="Verdana"/>
                <a:cs typeface="+mn-cs"/>
              </a:rPr>
              <a:t>Twee-wegcommunicatie in zorgnetwerk</a:t>
            </a:r>
          </a:p>
        </p:txBody>
      </p:sp>
      <p:sp>
        <p:nvSpPr>
          <p:cNvPr id="17" name="Rectangle: Top Corners Rounded 38">
            <a:hlinkClick r:id="rId14" action="ppaction://hlinksldjump"/>
            <a:extLst>
              <a:ext uri="{FF2B5EF4-FFF2-40B4-BE49-F238E27FC236}">
                <a16:creationId xmlns:a16="http://schemas.microsoft.com/office/drawing/2014/main" id="{2D5E006A-3CAF-6FFB-8DD2-FAACE3C9D712}"/>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18" name="Graphic 17" descr="Introductiepagina silhouet">
            <a:hlinkClick r:id="rId15" action="ppaction://hlinksldjump"/>
            <a:extLst>
              <a:ext uri="{FF2B5EF4-FFF2-40B4-BE49-F238E27FC236}">
                <a16:creationId xmlns:a16="http://schemas.microsoft.com/office/drawing/2014/main" id="{B5A763B2-71C0-0E23-1B6A-98C7D35D1BD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136" y="147223"/>
            <a:ext cx="144000" cy="144000"/>
          </a:xfrm>
          <a:prstGeom prst="rect">
            <a:avLst/>
          </a:prstGeom>
        </p:spPr>
      </p:pic>
      <p:sp>
        <p:nvSpPr>
          <p:cNvPr id="19" name="Rectangle: Top Corners Rounded 1">
            <a:hlinkClick r:id="rId18" action="ppaction://hlinksldjump"/>
            <a:extLst>
              <a:ext uri="{FF2B5EF4-FFF2-40B4-BE49-F238E27FC236}">
                <a16:creationId xmlns:a16="http://schemas.microsoft.com/office/drawing/2014/main" id="{EBFD3A90-F7CB-353B-E2AA-BD0CD6F10BE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20" name="Rectangle: Top Corners Rounded 1">
            <a:hlinkClick r:id="rId19" action="ppaction://hlinksldjump"/>
            <a:extLst>
              <a:ext uri="{FF2B5EF4-FFF2-40B4-BE49-F238E27FC236}">
                <a16:creationId xmlns:a16="http://schemas.microsoft.com/office/drawing/2014/main" id="{266738C8-72B9-1444-DA15-214894CA1B6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21" name="Rectangle: Top Corners Rounded 1">
            <a:hlinkClick r:id="" action="ppaction://noaction"/>
            <a:extLst>
              <a:ext uri="{FF2B5EF4-FFF2-40B4-BE49-F238E27FC236}">
                <a16:creationId xmlns:a16="http://schemas.microsoft.com/office/drawing/2014/main" id="{21C1707D-7F7F-87D6-DBE0-5F26AED09269}"/>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22" name="Rectangle: Top Corners Rounded 1">
            <a:hlinkClick r:id="rId20" action="ppaction://hlinksldjump"/>
            <a:extLst>
              <a:ext uri="{FF2B5EF4-FFF2-40B4-BE49-F238E27FC236}">
                <a16:creationId xmlns:a16="http://schemas.microsoft.com/office/drawing/2014/main" id="{A584F590-D747-EE43-F372-CBC87CD54B6D}"/>
              </a:ext>
            </a:extLst>
          </p:cNvPr>
          <p:cNvSpPr/>
          <p:nvPr/>
        </p:nvSpPr>
        <p:spPr>
          <a:xfrm>
            <a:off x="395964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Digitale (zorg) communicatie</a:t>
            </a:r>
          </a:p>
        </p:txBody>
      </p:sp>
      <p:sp>
        <p:nvSpPr>
          <p:cNvPr id="25" name="Rectangle: Top Corners Rounded 1">
            <a:hlinkClick r:id="rId21" action="ppaction://hlinksldjump"/>
            <a:extLst>
              <a:ext uri="{FF2B5EF4-FFF2-40B4-BE49-F238E27FC236}">
                <a16:creationId xmlns:a16="http://schemas.microsoft.com/office/drawing/2014/main" id="{908D28E7-0D53-1A52-13FC-3748C454F393}"/>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26" name="Rectangle: Top Corners Rounded 1">
            <a:hlinkClick r:id="" action="ppaction://noaction"/>
            <a:extLst>
              <a:ext uri="{FF2B5EF4-FFF2-40B4-BE49-F238E27FC236}">
                <a16:creationId xmlns:a16="http://schemas.microsoft.com/office/drawing/2014/main" id="{D0E3C8B0-6926-0679-A67D-E87420C042EA}"/>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29" name="Rectangle: Top Corners Rounded 1">
            <a:hlinkClick r:id="" action="ppaction://noaction"/>
            <a:extLst>
              <a:ext uri="{FF2B5EF4-FFF2-40B4-BE49-F238E27FC236}">
                <a16:creationId xmlns:a16="http://schemas.microsoft.com/office/drawing/2014/main" id="{F238228D-97FC-BD59-EE7F-919149350DB0}"/>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32" name="Rectangle: Top Corners Rounded 1">
            <a:hlinkClick r:id="" action="ppaction://noaction"/>
            <a:extLst>
              <a:ext uri="{FF2B5EF4-FFF2-40B4-BE49-F238E27FC236}">
                <a16:creationId xmlns:a16="http://schemas.microsoft.com/office/drawing/2014/main" id="{D6899675-E5F7-8AFE-4548-644F1F6CAB49}"/>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33" name="Rectangle: Top Corners Rounded 1">
            <a:hlinkClick r:id="" action="ppaction://noaction"/>
            <a:extLst>
              <a:ext uri="{FF2B5EF4-FFF2-40B4-BE49-F238E27FC236}">
                <a16:creationId xmlns:a16="http://schemas.microsoft.com/office/drawing/2014/main" id="{14AE16BF-3611-4FC0-AB6E-96B4B8F59E74}"/>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34" name="Rectangle: Top Corners Rounded 1">
            <a:hlinkClick r:id="" action="ppaction://noaction"/>
            <a:extLst>
              <a:ext uri="{FF2B5EF4-FFF2-40B4-BE49-F238E27FC236}">
                <a16:creationId xmlns:a16="http://schemas.microsoft.com/office/drawing/2014/main" id="{9E750D23-3EB8-B513-B051-A579E8EB547A}"/>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36" name="Rectangle: Top Corners Rounded 1">
            <a:hlinkClick r:id="" action="ppaction://noaction"/>
            <a:extLst>
              <a:ext uri="{FF2B5EF4-FFF2-40B4-BE49-F238E27FC236}">
                <a16:creationId xmlns:a16="http://schemas.microsoft.com/office/drawing/2014/main" id="{2D1D8853-E7D4-9B98-5E0B-A672B1A46452}"/>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sp>
        <p:nvSpPr>
          <p:cNvPr id="5" name="Title 4">
            <a:extLst>
              <a:ext uri="{FF2B5EF4-FFF2-40B4-BE49-F238E27FC236}">
                <a16:creationId xmlns:a16="http://schemas.microsoft.com/office/drawing/2014/main" id="{14C71C87-8684-7E1D-04C2-5D8DEE75AA16}"/>
              </a:ext>
            </a:extLst>
          </p:cNvPr>
          <p:cNvSpPr>
            <a:spLocks noGrp="1"/>
          </p:cNvSpPr>
          <p:nvPr>
            <p:ph type="title"/>
          </p:nvPr>
        </p:nvSpPr>
        <p:spPr>
          <a:xfrm>
            <a:off x="425301" y="465997"/>
            <a:ext cx="11519955" cy="1008000"/>
          </a:xfrm>
        </p:spPr>
        <p:txBody>
          <a:bodyPr/>
          <a:lstStyle/>
          <a:p>
            <a:r>
              <a:rPr lang="nl-NL"/>
              <a:t>Thema 1 Digitale (Zorg)communicatie – Projectfasering </a:t>
            </a:r>
            <a:endParaRPr lang="en-GB"/>
          </a:p>
        </p:txBody>
      </p:sp>
      <p:sp>
        <p:nvSpPr>
          <p:cNvPr id="7" name="Slide Number Placeholder 5">
            <a:extLst>
              <a:ext uri="{FF2B5EF4-FFF2-40B4-BE49-F238E27FC236}">
                <a16:creationId xmlns:a16="http://schemas.microsoft.com/office/drawing/2014/main" id="{FAEF744A-8C09-4E3D-2704-4CB2F2204FB7}"/>
              </a:ext>
            </a:extLst>
          </p:cNvPr>
          <p:cNvSpPr>
            <a:spLocks noGrp="1"/>
          </p:cNvSpPr>
          <p:nvPr>
            <p:ph type="sldNum" sz="quarter" idx="4"/>
          </p:nvPr>
        </p:nvSpPr>
        <p:spPr>
          <a:xfrm>
            <a:off x="0" y="6553688"/>
            <a:ext cx="288001" cy="288000"/>
          </a:xfrm>
          <a:prstGeom prst="rect">
            <a:avLst/>
          </a:prstGeom>
        </p:spPr>
        <p:txBody>
          <a:bodyPr vert="horz" lIns="0" tIns="0" rIns="0" bIns="54000" rtlCol="0" anchor="ctr"/>
          <a:lstStyle>
            <a:lvl1pPr algn="r">
              <a:defRPr sz="912">
                <a:solidFill>
                  <a:srgbClr val="1B1C32"/>
                </a:solidFill>
                <a:latin typeface="+mn-lt"/>
                <a:cs typeface="HelveticaNowDisplay Bold" panose="020B080403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FC24F5-86FC-B34E-9C4E-2BC5AF42D9A6}" type="slidenum">
              <a:rPr kumimoji="0" lang="en-NL" sz="912" b="0" i="0" u="none" strike="noStrike" kern="1200" cap="none" spc="0" normalizeH="0" baseline="0" noProof="0" smtClean="0">
                <a:ln>
                  <a:noFill/>
                </a:ln>
                <a:solidFill>
                  <a:srgbClr val="1B1C32"/>
                </a:solidFill>
                <a:effectLst/>
                <a:uLnTx/>
                <a:uFillTx/>
                <a:latin typeface="Calibri"/>
                <a:ea typeface="Verdana" panose="020B0604030504040204" pitchFamily="34" charset="0"/>
                <a:cs typeface="HelveticaNowDisplay Bold" panose="020B080403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NL" sz="912" b="0" i="0" u="none" strike="noStrike" kern="1200" cap="none" spc="0" normalizeH="0" baseline="0" noProof="0">
              <a:ln>
                <a:noFill/>
              </a:ln>
              <a:solidFill>
                <a:srgbClr val="1B1C32"/>
              </a:solidFill>
              <a:effectLst/>
              <a:uLnTx/>
              <a:uFillTx/>
              <a:latin typeface="Calibri"/>
              <a:ea typeface="Verdana" panose="020B0604030504040204" pitchFamily="34" charset="0"/>
              <a:cs typeface="HelveticaNowDisplay Bold" panose="020B0804030202020204" pitchFamily="34" charset="0"/>
            </a:endParaRPr>
          </a:p>
        </p:txBody>
      </p:sp>
    </p:spTree>
    <p:extLst>
      <p:ext uri="{BB962C8B-B14F-4D97-AF65-F5344CB8AC3E}">
        <p14:creationId xmlns:p14="http://schemas.microsoft.com/office/powerpoint/2010/main" val="1983608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14">
            <a:extLst>
              <a:ext uri="{FF2B5EF4-FFF2-40B4-BE49-F238E27FC236}">
                <a16:creationId xmlns:a16="http://schemas.microsoft.com/office/drawing/2014/main" id="{DA744D84-18D3-A7D4-7364-A18210B83723}"/>
              </a:ext>
            </a:extLst>
          </p:cNvPr>
          <p:cNvSpPr/>
          <p:nvPr/>
        </p:nvSpPr>
        <p:spPr>
          <a:xfrm>
            <a:off x="5134004" y="1397146"/>
            <a:ext cx="6811974" cy="5237006"/>
          </a:xfrm>
          <a:prstGeom prst="rect">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Kwantitatieve impact </a:t>
            </a:r>
            <a:r>
              <a:rPr kumimoji="0" lang="nl-NL" sz="1600" b="1" i="0" u="none" strike="noStrike" kern="1200" cap="none" spc="0" normalizeH="0" baseline="30000" noProof="0">
                <a:ln>
                  <a:noFill/>
                </a:ln>
                <a:solidFill>
                  <a:prstClr val="black"/>
                </a:solidFill>
                <a:effectLst/>
                <a:uLnTx/>
                <a:uFillTx/>
                <a:latin typeface="Verdana" panose="020B0604030504040204" pitchFamily="34" charset="0"/>
                <a:ea typeface="Verdana" panose="020B0604030504040204" pitchFamily="34" charset="0"/>
                <a:cs typeface="+mn-cs"/>
              </a:rPr>
              <a:t>2 </a:t>
            </a:r>
            <a:endParaRPr kumimoji="0" lang="nl-NL" sz="1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aphicFrame>
        <p:nvGraphicFramePr>
          <p:cNvPr id="6" name="think-cell data - do not delete" hidden="1">
            <a:extLst>
              <a:ext uri="{FF2B5EF4-FFF2-40B4-BE49-F238E27FC236}">
                <a16:creationId xmlns:a16="http://schemas.microsoft.com/office/drawing/2014/main" id="{35E859E6-1463-F638-1A44-379D6BD57BC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35E859E6-1463-F638-1A44-379D6BD57BC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el 2">
            <a:extLst>
              <a:ext uri="{FF2B5EF4-FFF2-40B4-BE49-F238E27FC236}">
                <a16:creationId xmlns:a16="http://schemas.microsoft.com/office/drawing/2014/main" id="{41DA62B0-4BF5-BCDF-4DA8-DD7B1FEC8A13}"/>
              </a:ext>
            </a:extLst>
          </p:cNvPr>
          <p:cNvSpPr>
            <a:spLocks noGrp="1"/>
          </p:cNvSpPr>
          <p:nvPr>
            <p:ph type="title"/>
          </p:nvPr>
        </p:nvSpPr>
        <p:spPr/>
        <p:txBody>
          <a:bodyPr>
            <a:normAutofit fontScale="90000"/>
          </a:bodyPr>
          <a:lstStyle/>
          <a:p>
            <a:r>
              <a:rPr lang="nl-NL" sz="2800">
                <a:latin typeface="Verdana Pro" panose="020B0604030504040204" pitchFamily="34" charset="0"/>
              </a:rPr>
              <a:t>Thema 1 Digitale (Zorg)communicatie - Impact</a:t>
            </a:r>
            <a:endParaRPr lang="en-NL" sz="2800">
              <a:latin typeface="Verdana Pro" panose="020B0604030504040204" pitchFamily="34" charset="0"/>
            </a:endParaRPr>
          </a:p>
        </p:txBody>
      </p:sp>
      <p:sp>
        <p:nvSpPr>
          <p:cNvPr id="7" name="Text Placeholder 6">
            <a:extLst>
              <a:ext uri="{FF2B5EF4-FFF2-40B4-BE49-F238E27FC236}">
                <a16:creationId xmlns:a16="http://schemas.microsoft.com/office/drawing/2014/main" id="{7CC8E8B8-8B7B-2E18-182C-5F411E55F1E6}"/>
              </a:ext>
            </a:extLst>
          </p:cNvPr>
          <p:cNvSpPr>
            <a:spLocks noGrp="1"/>
          </p:cNvSpPr>
          <p:nvPr>
            <p:ph type="body" sz="quarter" idx="10"/>
          </p:nvPr>
        </p:nvSpPr>
        <p:spPr/>
        <p:txBody>
          <a:bodyPr/>
          <a:lstStyle/>
          <a:p>
            <a:r>
              <a:rPr lang="nl-NL"/>
              <a:t>Regionale tijdswinst en verbeterde ervaring door digitale (zorgcommunicatie in de regio</a:t>
            </a:r>
          </a:p>
        </p:txBody>
      </p:sp>
      <p:sp>
        <p:nvSpPr>
          <p:cNvPr id="4" name="Rectangle: Top Corners Rounded 38">
            <a:hlinkClick r:id="rId7" action="ppaction://hlinksldjump"/>
            <a:extLst>
              <a:ext uri="{FF2B5EF4-FFF2-40B4-BE49-F238E27FC236}">
                <a16:creationId xmlns:a16="http://schemas.microsoft.com/office/drawing/2014/main" id="{3B46A957-A473-631F-C333-A560DC377300}"/>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5" name="Graphic 4" descr="Introductiepagina silhouet">
            <a:hlinkClick r:id="rId8" action="ppaction://hlinksldjump"/>
            <a:extLst>
              <a:ext uri="{FF2B5EF4-FFF2-40B4-BE49-F238E27FC236}">
                <a16:creationId xmlns:a16="http://schemas.microsoft.com/office/drawing/2014/main" id="{2E5F81D2-644B-E300-9133-5D7744CC849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136" y="147223"/>
            <a:ext cx="144000" cy="144000"/>
          </a:xfrm>
          <a:prstGeom prst="rect">
            <a:avLst/>
          </a:prstGeom>
        </p:spPr>
      </p:pic>
      <p:sp>
        <p:nvSpPr>
          <p:cNvPr id="11" name="Rectangle: Top Corners Rounded 1">
            <a:hlinkClick r:id="rId11" action="ppaction://hlinksldjump"/>
            <a:extLst>
              <a:ext uri="{FF2B5EF4-FFF2-40B4-BE49-F238E27FC236}">
                <a16:creationId xmlns:a16="http://schemas.microsoft.com/office/drawing/2014/main" id="{7DC73BC6-11FD-3ED9-82CC-C1AD3508763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31" name="Rectangle: Top Corners Rounded 1">
            <a:hlinkClick r:id="rId12" action="ppaction://hlinksldjump"/>
            <a:extLst>
              <a:ext uri="{FF2B5EF4-FFF2-40B4-BE49-F238E27FC236}">
                <a16:creationId xmlns:a16="http://schemas.microsoft.com/office/drawing/2014/main" id="{C476026B-0904-E137-CEB7-90D637794201}"/>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39" name="Rectangle: Top Corners Rounded 1">
            <a:hlinkClick r:id="rId13" action="ppaction://hlinksldjump"/>
            <a:extLst>
              <a:ext uri="{FF2B5EF4-FFF2-40B4-BE49-F238E27FC236}">
                <a16:creationId xmlns:a16="http://schemas.microsoft.com/office/drawing/2014/main" id="{73713A02-8B1E-A881-AACB-8B4BA7C70878}"/>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40" name="Rectangle: Top Corners Rounded 1">
            <a:hlinkClick r:id="rId14" action="ppaction://hlinksldjump"/>
            <a:extLst>
              <a:ext uri="{FF2B5EF4-FFF2-40B4-BE49-F238E27FC236}">
                <a16:creationId xmlns:a16="http://schemas.microsoft.com/office/drawing/2014/main" id="{1188646A-98D3-8AA5-A625-5E9D19C3120B}"/>
              </a:ext>
            </a:extLst>
          </p:cNvPr>
          <p:cNvSpPr/>
          <p:nvPr/>
        </p:nvSpPr>
        <p:spPr>
          <a:xfrm>
            <a:off x="395964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Digitale (zorg) communicatie</a:t>
            </a:r>
          </a:p>
        </p:txBody>
      </p:sp>
      <p:sp>
        <p:nvSpPr>
          <p:cNvPr id="42" name="Rectangle: Top Corners Rounded 1">
            <a:hlinkClick r:id="rId15" action="ppaction://hlinksldjump"/>
            <a:extLst>
              <a:ext uri="{FF2B5EF4-FFF2-40B4-BE49-F238E27FC236}">
                <a16:creationId xmlns:a16="http://schemas.microsoft.com/office/drawing/2014/main" id="{00899629-D50F-F949-82F1-D97B22EC91F6}"/>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43" name="Rectangle: Top Corners Rounded 1">
            <a:hlinkClick r:id="rId16" action="ppaction://hlinksldjump"/>
            <a:extLst>
              <a:ext uri="{FF2B5EF4-FFF2-40B4-BE49-F238E27FC236}">
                <a16:creationId xmlns:a16="http://schemas.microsoft.com/office/drawing/2014/main" id="{6BBE7092-30BA-A0BC-7A04-D597A5819D28}"/>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44" name="Rectangle: Top Corners Rounded 1">
            <a:hlinkClick r:id="rId17" action="ppaction://hlinksldjump"/>
            <a:extLst>
              <a:ext uri="{FF2B5EF4-FFF2-40B4-BE49-F238E27FC236}">
                <a16:creationId xmlns:a16="http://schemas.microsoft.com/office/drawing/2014/main" id="{A4315E54-7915-7A0B-4D04-97B08A6DA119}"/>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45" name="Rectangle: Top Corners Rounded 1">
            <a:hlinkClick r:id="rId18" action="ppaction://hlinksldjump"/>
            <a:extLst>
              <a:ext uri="{FF2B5EF4-FFF2-40B4-BE49-F238E27FC236}">
                <a16:creationId xmlns:a16="http://schemas.microsoft.com/office/drawing/2014/main" id="{162C75BB-E5B3-2DF9-16F5-416752B336D4}"/>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46" name="Rectangle: Top Corners Rounded 1">
            <a:hlinkClick r:id="rId19" action="ppaction://hlinksldjump"/>
            <a:extLst>
              <a:ext uri="{FF2B5EF4-FFF2-40B4-BE49-F238E27FC236}">
                <a16:creationId xmlns:a16="http://schemas.microsoft.com/office/drawing/2014/main" id="{7DA22A89-27F9-B60A-84EF-DCDD43F422D6}"/>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47" name="Rectangle: Top Corners Rounded 1">
            <a:hlinkClick r:id="rId20" action="ppaction://hlinksldjump"/>
            <a:extLst>
              <a:ext uri="{FF2B5EF4-FFF2-40B4-BE49-F238E27FC236}">
                <a16:creationId xmlns:a16="http://schemas.microsoft.com/office/drawing/2014/main" id="{DEC15334-1303-B92E-1FBC-1460C72DB6F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48" name="Rectangle: Top Corners Rounded 1">
            <a:hlinkClick r:id="rId21" action="ppaction://hlinksldjump"/>
            <a:extLst>
              <a:ext uri="{FF2B5EF4-FFF2-40B4-BE49-F238E27FC236}">
                <a16:creationId xmlns:a16="http://schemas.microsoft.com/office/drawing/2014/main" id="{707FC714-316E-7490-56E4-AD2C0115B2A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sp>
        <p:nvSpPr>
          <p:cNvPr id="2" name="Rectangle: Rounded Corners 7">
            <a:extLst>
              <a:ext uri="{FF2B5EF4-FFF2-40B4-BE49-F238E27FC236}">
                <a16:creationId xmlns:a16="http://schemas.microsoft.com/office/drawing/2014/main" id="{CE5AF9BF-8D42-FC98-B90A-CE9E667F69DC}"/>
              </a:ext>
            </a:extLst>
          </p:cNvPr>
          <p:cNvSpPr/>
          <p:nvPr/>
        </p:nvSpPr>
        <p:spPr>
          <a:xfrm>
            <a:off x="860832" y="1444762"/>
            <a:ext cx="4158893" cy="5070581"/>
          </a:xfrm>
          <a:prstGeom prst="roundRect">
            <a:avLst>
              <a:gd name="adj" fmla="val 5821"/>
            </a:avLst>
          </a:prstGeom>
          <a:solidFill>
            <a:schemeClr val="bg1"/>
          </a:solidFill>
          <a:ln w="12700">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Display"/>
                <a:ea typeface="+mn-ea"/>
                <a:cs typeface="+mn-cs"/>
              </a:rPr>
              <a:t>Kwalitatieve impact</a:t>
            </a:r>
            <a:r>
              <a:rPr kumimoji="0" lang="nl-NL" sz="1200" b="1" i="0" u="none" strike="noStrike" kern="1200" cap="none" spc="0" normalizeH="0" baseline="30000" noProof="0">
                <a:ln>
                  <a:noFill/>
                </a:ln>
                <a:solidFill>
                  <a:prstClr val="black"/>
                </a:solidFill>
                <a:effectLst/>
                <a:uLnTx/>
                <a:uFillTx/>
                <a:latin typeface="Aptos Display"/>
                <a:ea typeface="+mn-ea"/>
                <a:cs typeface="+mn-cs"/>
              </a:rPr>
              <a:t>1</a:t>
            </a:r>
          </a:p>
        </p:txBody>
      </p:sp>
      <p:sp>
        <p:nvSpPr>
          <p:cNvPr id="12" name="Partial Circle 12">
            <a:extLst>
              <a:ext uri="{FF2B5EF4-FFF2-40B4-BE49-F238E27FC236}">
                <a16:creationId xmlns:a16="http://schemas.microsoft.com/office/drawing/2014/main" id="{41E14392-973F-30DD-B240-924F74B87B7B}"/>
              </a:ext>
            </a:extLst>
          </p:cNvPr>
          <p:cNvSpPr/>
          <p:nvPr/>
        </p:nvSpPr>
        <p:spPr>
          <a:xfrm>
            <a:off x="586176" y="1827761"/>
            <a:ext cx="914400" cy="914400"/>
          </a:xfrm>
          <a:prstGeom prst="pie">
            <a:avLst>
              <a:gd name="adj1" fmla="val 10767649"/>
              <a:gd name="adj2" fmla="val 16200000"/>
            </a:avLst>
          </a:prstGeom>
          <a:solidFill>
            <a:srgbClr val="DDEBCE"/>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4" name="Partial Circle 8">
            <a:extLst>
              <a:ext uri="{FF2B5EF4-FFF2-40B4-BE49-F238E27FC236}">
                <a16:creationId xmlns:a16="http://schemas.microsoft.com/office/drawing/2014/main" id="{45D8D0A1-6D69-2C2B-EBDC-0DB616F7DE80}"/>
              </a:ext>
            </a:extLst>
          </p:cNvPr>
          <p:cNvSpPr/>
          <p:nvPr/>
        </p:nvSpPr>
        <p:spPr>
          <a:xfrm rot="5400000">
            <a:off x="151610" y="2743118"/>
            <a:ext cx="914400" cy="914400"/>
          </a:xfrm>
          <a:prstGeom prst="pie">
            <a:avLst>
              <a:gd name="adj1" fmla="val 10767649"/>
              <a:gd name="adj2" fmla="val 16200000"/>
            </a:avLst>
          </a:prstGeom>
          <a:solidFill>
            <a:srgbClr val="21BBEF"/>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5" name="Partial Circle 9">
            <a:extLst>
              <a:ext uri="{FF2B5EF4-FFF2-40B4-BE49-F238E27FC236}">
                <a16:creationId xmlns:a16="http://schemas.microsoft.com/office/drawing/2014/main" id="{357ECA81-7CF9-29E5-4CE3-CBC1EA7C47ED}"/>
              </a:ext>
            </a:extLst>
          </p:cNvPr>
          <p:cNvSpPr/>
          <p:nvPr/>
        </p:nvSpPr>
        <p:spPr>
          <a:xfrm rot="10800000">
            <a:off x="128976" y="3366549"/>
            <a:ext cx="914400" cy="914400"/>
          </a:xfrm>
          <a:prstGeom prst="pie">
            <a:avLst>
              <a:gd name="adj1" fmla="val 10767649"/>
              <a:gd name="adj2" fmla="val 16200000"/>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6" name="Partial Circle 10">
            <a:extLst>
              <a:ext uri="{FF2B5EF4-FFF2-40B4-BE49-F238E27FC236}">
                <a16:creationId xmlns:a16="http://schemas.microsoft.com/office/drawing/2014/main" id="{235DE348-78A0-B0AD-6012-09907278459C}"/>
              </a:ext>
            </a:extLst>
          </p:cNvPr>
          <p:cNvSpPr/>
          <p:nvPr/>
        </p:nvSpPr>
        <p:spPr>
          <a:xfrm rot="16200000">
            <a:off x="573821" y="4907065"/>
            <a:ext cx="914400" cy="914400"/>
          </a:xfrm>
          <a:prstGeom prst="pie">
            <a:avLst>
              <a:gd name="adj1" fmla="val 10767649"/>
              <a:gd name="adj2" fmla="val 16200000"/>
            </a:avLst>
          </a:prstGeom>
          <a:solidFill>
            <a:srgbClr val="0E9D90"/>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200" b="1" i="0" u="none" strike="noStrike" kern="1200" cap="none" spc="0" normalizeH="0" baseline="0" noProof="0">
              <a:ln>
                <a:noFill/>
              </a:ln>
              <a:solidFill>
                <a:prstClr val="black"/>
              </a:solidFill>
              <a:effectLst/>
              <a:uLnTx/>
              <a:uFillTx/>
              <a:latin typeface="Aptos Display"/>
              <a:ea typeface="+mn-ea"/>
              <a:cs typeface="+mn-cs"/>
            </a:endParaRPr>
          </a:p>
        </p:txBody>
      </p:sp>
      <p:sp>
        <p:nvSpPr>
          <p:cNvPr id="17" name="Tekstvak 16">
            <a:extLst>
              <a:ext uri="{FF2B5EF4-FFF2-40B4-BE49-F238E27FC236}">
                <a16:creationId xmlns:a16="http://schemas.microsoft.com/office/drawing/2014/main" id="{98224911-2B83-2428-175B-5FF14FEA5244}"/>
              </a:ext>
            </a:extLst>
          </p:cNvPr>
          <p:cNvSpPr txBox="1"/>
          <p:nvPr/>
        </p:nvSpPr>
        <p:spPr>
          <a:xfrm>
            <a:off x="723901" y="1962041"/>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1</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8" name="Tekstvak 17">
            <a:extLst>
              <a:ext uri="{FF2B5EF4-FFF2-40B4-BE49-F238E27FC236}">
                <a16:creationId xmlns:a16="http://schemas.microsoft.com/office/drawing/2014/main" id="{89E6631F-B486-F9B7-8C2C-79F3904A0E5D}"/>
              </a:ext>
            </a:extLst>
          </p:cNvPr>
          <p:cNvSpPr txBox="1"/>
          <p:nvPr/>
        </p:nvSpPr>
        <p:spPr>
          <a:xfrm>
            <a:off x="670335" y="2886169"/>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2</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9" name="Tekstvak 18">
            <a:extLst>
              <a:ext uri="{FF2B5EF4-FFF2-40B4-BE49-F238E27FC236}">
                <a16:creationId xmlns:a16="http://schemas.microsoft.com/office/drawing/2014/main" id="{09999D98-CB51-D3B8-7D0F-568A0D4EF6FA}"/>
              </a:ext>
            </a:extLst>
          </p:cNvPr>
          <p:cNvSpPr txBox="1"/>
          <p:nvPr/>
        </p:nvSpPr>
        <p:spPr>
          <a:xfrm>
            <a:off x="625066" y="3890346"/>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3</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20" name="Tekstvak 19">
            <a:extLst>
              <a:ext uri="{FF2B5EF4-FFF2-40B4-BE49-F238E27FC236}">
                <a16:creationId xmlns:a16="http://schemas.microsoft.com/office/drawing/2014/main" id="{45ADEA14-E4B5-ADD4-CF7D-6E5F60134AAF}"/>
              </a:ext>
            </a:extLst>
          </p:cNvPr>
          <p:cNvSpPr txBox="1"/>
          <p:nvPr/>
        </p:nvSpPr>
        <p:spPr>
          <a:xfrm>
            <a:off x="719136" y="5427642"/>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Aptos"/>
                <a:ea typeface="+mn-ea"/>
                <a:cs typeface="+mn-cs"/>
              </a:rPr>
              <a:t>4</a:t>
            </a:r>
          </a:p>
        </p:txBody>
      </p:sp>
      <p:sp>
        <p:nvSpPr>
          <p:cNvPr id="21" name="Tekstvak 20">
            <a:extLst>
              <a:ext uri="{FF2B5EF4-FFF2-40B4-BE49-F238E27FC236}">
                <a16:creationId xmlns:a16="http://schemas.microsoft.com/office/drawing/2014/main" id="{AE7FB65C-AA84-3694-1525-76657481AD78}"/>
              </a:ext>
            </a:extLst>
          </p:cNvPr>
          <p:cNvSpPr txBox="1"/>
          <p:nvPr/>
        </p:nvSpPr>
        <p:spPr>
          <a:xfrm>
            <a:off x="1043376" y="1763559"/>
            <a:ext cx="3953715" cy="918200"/>
          </a:xfrm>
          <a:prstGeom prst="rect">
            <a:avLst/>
          </a:prstGeom>
          <a:noFill/>
        </p:spPr>
        <p:txBody>
          <a:bodyPr wrap="square" lIns="91440" tIns="45720" rIns="91440" bIns="45720" rtlCol="0" anchor="t">
            <a:spAutoFit/>
          </a:bodyPr>
          <a:lstStyle/>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Verbetering van kwaliteit van zorg door vermeden ziektelast voor inwoners</a:t>
            </a:r>
            <a:endParaRPr kumimoji="0" lang="nl-NL" sz="1800" b="0" i="0" u="none" strike="noStrike" kern="1200" cap="none" spc="0" normalizeH="0" baseline="0" noProof="0">
              <a:ln>
                <a:noFill/>
              </a:ln>
              <a:solidFill>
                <a:prstClr val="black"/>
              </a:solidFill>
              <a:effectLst/>
              <a:uLnTx/>
              <a:uFillTx/>
              <a:latin typeface="Calibri"/>
              <a:ea typeface="+mn-ea"/>
              <a:cs typeface="+mn-cs"/>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Betere zorguitkomsten door betere afstemming in zorg- en hulpverlening tussen professionals</a:t>
            </a:r>
            <a:endParaRPr kumimoji="0" lang="nl-NL" sz="1600" b="0" i="0" u="none" strike="noStrike" kern="1200" cap="none" spc="0" normalizeH="0" baseline="0" noProof="0">
              <a:ln>
                <a:noFill/>
              </a:ln>
              <a:solidFill>
                <a:prstClr val="black"/>
              </a:solidFill>
              <a:effectLst/>
              <a:uLnTx/>
              <a:uFillTx/>
              <a:latin typeface="Calibri"/>
              <a:ea typeface="+mn-ea"/>
              <a:cs typeface="+mn-cs"/>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endParaRPr kumimoji="0" lang="nl-NL" sz="16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kstvak 21">
            <a:extLst>
              <a:ext uri="{FF2B5EF4-FFF2-40B4-BE49-F238E27FC236}">
                <a16:creationId xmlns:a16="http://schemas.microsoft.com/office/drawing/2014/main" id="{AEB98A2D-0AB1-EED0-565B-E03C0F960BE8}"/>
              </a:ext>
            </a:extLst>
          </p:cNvPr>
          <p:cNvSpPr txBox="1"/>
          <p:nvPr/>
        </p:nvSpPr>
        <p:spPr>
          <a:xfrm>
            <a:off x="1073554" y="2268657"/>
            <a:ext cx="3953715" cy="1390124"/>
          </a:xfrm>
          <a:prstGeom prst="rect">
            <a:avLst/>
          </a:prstGeom>
          <a:noFill/>
        </p:spPr>
        <p:txBody>
          <a:bodyPr wrap="square" lIns="91440" tIns="45720" rIns="91440" bIns="45720" rtlCol="0" anchor="t">
            <a:spAutoFit/>
          </a:bodyPr>
          <a:lstStyle/>
          <a:p>
            <a:pPr marL="85725" marR="0" lvl="0" indent="-85725" algn="l" defTabSz="914400" rtl="0" eaLnBrk="1" fontAlgn="auto" latinLnBrk="0" hangingPunct="1">
              <a:lnSpc>
                <a:spcPct val="100000"/>
              </a:lnSpc>
              <a:spcBef>
                <a:spcPts val="0"/>
              </a:spcBef>
              <a:spcAft>
                <a:spcPts val="0"/>
              </a:spcAft>
              <a:buClr>
                <a:srgbClr val="0C3512"/>
              </a:buClr>
              <a:buSzTx/>
              <a:buFont typeface="Arial" panose="020B0604020202020204" pitchFamily="34" charset="0"/>
              <a:buChar char="•"/>
              <a:tabLst/>
              <a:defRPr/>
            </a:pPr>
            <a:endParaRPr kumimoji="0" lang="nl-NL" sz="900" b="0" i="0" u="none" strike="noStrike" kern="1200" cap="none" spc="0" normalizeH="0" baseline="0" noProof="0">
              <a:ln>
                <a:noFill/>
              </a:ln>
              <a:solidFill>
                <a:srgbClr val="0C3512"/>
              </a:solidFill>
              <a:effectLst/>
              <a:uLnTx/>
              <a:uFillTx/>
              <a:latin typeface="Verdana"/>
              <a:ea typeface="Verdana"/>
              <a:cs typeface="+mn-cs"/>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Minder herhaling van vragen van zorgverleners gedurende het zorgtraject</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Meer vertrouwen in zorg omdat eerder verstrekte informatie bekend is bij zorg- en hulpverleners</a:t>
            </a:r>
            <a:endParaRPr kumimoji="0" lang="nl-NL" sz="900" b="0" i="0" u="none" strike="noStrike" kern="1200" cap="none" spc="0" normalizeH="0" baseline="0" noProof="0">
              <a:ln>
                <a:noFill/>
              </a:ln>
              <a:solidFill>
                <a:srgbClr val="0C3512"/>
              </a:solidFill>
              <a:effectLst/>
              <a:uLnTx/>
              <a:uFillTx/>
              <a:latin typeface="Verdana"/>
              <a:ea typeface="Verdana"/>
              <a:cs typeface="+mn-cs"/>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Soepelere overgang tussen zorg- en hulpverleners</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Inwoner en het zorgnetwerk hebben een beter inzicht in het zorgtraject</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endParaRPr kumimoji="0" lang="nl-NL" sz="900" b="0" i="0" u="none" strike="noStrike" kern="1200" cap="none" spc="0" normalizeH="0" baseline="0" noProof="0">
              <a:ln>
                <a:noFill/>
              </a:ln>
              <a:solidFill>
                <a:srgbClr val="0C3512"/>
              </a:solidFill>
              <a:effectLst/>
              <a:uLnTx/>
              <a:uFillTx/>
              <a:latin typeface="Verdana"/>
              <a:ea typeface="Verdana"/>
              <a:cs typeface="+mn-cs"/>
            </a:endParaRPr>
          </a:p>
        </p:txBody>
      </p:sp>
      <p:sp>
        <p:nvSpPr>
          <p:cNvPr id="23" name="Tekstvak 22">
            <a:extLst>
              <a:ext uri="{FF2B5EF4-FFF2-40B4-BE49-F238E27FC236}">
                <a16:creationId xmlns:a16="http://schemas.microsoft.com/office/drawing/2014/main" id="{A2E4A35F-B919-BD9C-99F9-083C06BA16FC}"/>
              </a:ext>
            </a:extLst>
          </p:cNvPr>
          <p:cNvSpPr txBox="1"/>
          <p:nvPr/>
        </p:nvSpPr>
        <p:spPr>
          <a:xfrm>
            <a:off x="1058465" y="3449717"/>
            <a:ext cx="3953715" cy="1654299"/>
          </a:xfrm>
          <a:prstGeom prst="rect">
            <a:avLst/>
          </a:prstGeom>
          <a:noFill/>
        </p:spPr>
        <p:txBody>
          <a:bodyPr wrap="square" lIns="91440" tIns="45720" rIns="91440" bIns="45720" rtlCol="0" anchor="t">
            <a:spAutoFit/>
          </a:bodyPr>
          <a:lstStyle/>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Uniformere, fijnere en efficiëntere samenwerking tussen zorg- en hulpverleners. Beter afgestemde zorg en zorg op maat, o.a. door betrekken bredere zorgnetwerk en sociaal domein</a:t>
            </a:r>
            <a:endParaRPr kumimoji="0" lang="nl-NL" sz="1600" b="0" i="0" u="none" strike="noStrike" kern="1200" cap="none" spc="0" normalizeH="0" baseline="0" noProof="0">
              <a:ln>
                <a:noFill/>
              </a:ln>
              <a:solidFill>
                <a:prstClr val="black"/>
              </a:solidFill>
              <a:effectLst/>
              <a:uLnTx/>
              <a:uFillTx/>
              <a:latin typeface="Calibri"/>
              <a:ea typeface="+mn-ea"/>
              <a:cs typeface="+mn-cs"/>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Minder </a:t>
            </a:r>
            <a:r>
              <a:rPr kumimoji="0" lang="nl-NL" sz="900" b="0" i="0" u="none" strike="noStrike" kern="1200" cap="none" spc="0" normalizeH="0" baseline="0" noProof="0" err="1">
                <a:ln>
                  <a:noFill/>
                </a:ln>
                <a:solidFill>
                  <a:srgbClr val="0C3512"/>
                </a:solidFill>
                <a:effectLst/>
                <a:uLnTx/>
                <a:uFillTx/>
                <a:latin typeface="Verdana"/>
                <a:ea typeface="Verdana"/>
                <a:cs typeface="Calibri"/>
              </a:rPr>
              <a:t>werkgerelateerde</a:t>
            </a:r>
            <a:r>
              <a:rPr kumimoji="0" lang="nl-NL" sz="900" b="0" i="0" u="none" strike="noStrike" kern="1200" cap="none" spc="0" normalizeH="0" baseline="0" noProof="0">
                <a:ln>
                  <a:noFill/>
                </a:ln>
                <a:solidFill>
                  <a:srgbClr val="0C3512"/>
                </a:solidFill>
                <a:effectLst/>
                <a:uLnTx/>
                <a:uFillTx/>
                <a:latin typeface="Verdana"/>
                <a:ea typeface="Verdana"/>
                <a:cs typeface="Calibri"/>
              </a:rPr>
              <a:t> stress en meer plezier voor zorgprofessionals door meer tijd voor zorgtaken: minder (telefonisch) contact nodig om inzicht te krijgen in situatie van inwoner</a:t>
            </a:r>
            <a:endParaRPr kumimoji="0" lang="nl-NL" sz="900" b="0" i="0" u="none" strike="noStrike" kern="1200" cap="none" spc="0" normalizeH="0" baseline="0" noProof="0">
              <a:ln>
                <a:noFill/>
              </a:ln>
              <a:solidFill>
                <a:srgbClr val="0C3512"/>
              </a:solidFill>
              <a:effectLst/>
              <a:uLnTx/>
              <a:uFillTx/>
              <a:latin typeface="Verdana"/>
              <a:ea typeface="Verdana"/>
              <a:cs typeface="+mn-cs"/>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Zorgprofessionals hebben meer </a:t>
            </a:r>
            <a:r>
              <a:rPr kumimoji="0" lang="nl-NL" sz="900" b="0" i="0" u="none" strike="noStrike" kern="1200" cap="none" spc="0" normalizeH="0" baseline="0" noProof="0">
                <a:ln>
                  <a:noFill/>
                </a:ln>
                <a:solidFill>
                  <a:srgbClr val="0C3512"/>
                </a:solidFill>
                <a:effectLst/>
                <a:uLnTx/>
                <a:uFillTx/>
                <a:latin typeface="Verdana"/>
                <a:ea typeface="Verdana"/>
                <a:cs typeface="+mn-cs"/>
              </a:rPr>
              <a:t>vertrouwen in </a:t>
            </a:r>
            <a:r>
              <a:rPr kumimoji="0" lang="nl-NL" sz="900" b="0" i="0" u="none" strike="noStrike" kern="1200" cap="none" spc="0" normalizeH="0" baseline="0" noProof="0">
                <a:ln>
                  <a:noFill/>
                </a:ln>
                <a:solidFill>
                  <a:srgbClr val="0C3512"/>
                </a:solidFill>
                <a:effectLst/>
                <a:uLnTx/>
                <a:uFillTx/>
                <a:latin typeface="Verdana"/>
                <a:ea typeface="Verdana"/>
                <a:cs typeface="Calibri"/>
              </a:rPr>
              <a:t>de informatie </a:t>
            </a:r>
            <a:r>
              <a:rPr kumimoji="0" lang="nl-NL" sz="900" b="0" i="0" u="none" strike="noStrike" kern="1200" cap="none" spc="0" normalizeH="0" baseline="0" noProof="0">
                <a:ln>
                  <a:noFill/>
                </a:ln>
                <a:solidFill>
                  <a:srgbClr val="0C3512"/>
                </a:solidFill>
                <a:effectLst/>
                <a:uLnTx/>
                <a:uFillTx/>
                <a:latin typeface="Verdana"/>
                <a:ea typeface="Verdana"/>
                <a:cs typeface="+mn-cs"/>
              </a:rPr>
              <a:t>die zij </a:t>
            </a:r>
            <a:r>
              <a:rPr kumimoji="0" lang="nl-NL" sz="900" b="0" i="0" u="none" strike="noStrike" kern="1200" cap="none" spc="0" normalizeH="0" baseline="0" noProof="0">
                <a:ln>
                  <a:noFill/>
                </a:ln>
                <a:solidFill>
                  <a:srgbClr val="0C3512"/>
                </a:solidFill>
                <a:effectLst/>
                <a:uLnTx/>
                <a:uFillTx/>
                <a:latin typeface="Verdana"/>
                <a:ea typeface="Verdana"/>
                <a:cs typeface="Calibri"/>
              </a:rPr>
              <a:t>hebben</a:t>
            </a:r>
            <a:r>
              <a:rPr kumimoji="0" lang="nl-NL" sz="900" b="0" i="0" u="none" strike="noStrike" kern="1200" cap="none" spc="0" normalizeH="0" baseline="0" noProof="0">
                <a:ln>
                  <a:noFill/>
                </a:ln>
                <a:solidFill>
                  <a:srgbClr val="0C3512"/>
                </a:solidFill>
                <a:effectLst/>
                <a:uLnTx/>
                <a:uFillTx/>
                <a:latin typeface="Verdana"/>
                <a:ea typeface="Verdana"/>
                <a:cs typeface="+mn-cs"/>
              </a:rPr>
              <a:t>/krijgen</a:t>
            </a:r>
            <a:endParaRPr kumimoji="0" lang="nl-NL" sz="1600" b="0" i="0" u="none" strike="noStrike" kern="1200" cap="none" spc="0" normalizeH="0" baseline="0" noProof="0">
              <a:ln>
                <a:noFill/>
              </a:ln>
              <a:solidFill>
                <a:prstClr val="black"/>
              </a:solidFill>
              <a:effectLst/>
              <a:uLnTx/>
              <a:uFillTx/>
              <a:latin typeface="Calibri"/>
              <a:ea typeface="+mn-ea"/>
              <a:cs typeface="+mn-cs"/>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endParaRPr kumimoji="0" lang="nl-NL" sz="1600" b="0" i="0" u="none" strike="noStrike" kern="1200" cap="none" spc="0" normalizeH="0" baseline="0" noProof="0">
              <a:ln>
                <a:noFill/>
              </a:ln>
              <a:solidFill>
                <a:prstClr val="black"/>
              </a:solidFill>
              <a:effectLst/>
              <a:uLnTx/>
              <a:uFillTx/>
              <a:latin typeface="Calibri"/>
              <a:ea typeface="+mn-ea"/>
              <a:cs typeface="+mn-cs"/>
            </a:endParaRPr>
          </a:p>
        </p:txBody>
      </p:sp>
      <p:pic>
        <p:nvPicPr>
          <p:cNvPr id="24" name="Afbeelding 23">
            <a:extLst>
              <a:ext uri="{FF2B5EF4-FFF2-40B4-BE49-F238E27FC236}">
                <a16:creationId xmlns:a16="http://schemas.microsoft.com/office/drawing/2014/main" id="{B984C98A-6620-5B39-7A8A-616D55722940}"/>
              </a:ext>
            </a:extLst>
          </p:cNvPr>
          <p:cNvPicPr>
            <a:picLocks noChangeAspect="1"/>
          </p:cNvPicPr>
          <p:nvPr/>
        </p:nvPicPr>
        <p:blipFill>
          <a:blip r:embed="rId22"/>
          <a:stretch>
            <a:fillRect/>
          </a:stretch>
        </p:blipFill>
        <p:spPr>
          <a:xfrm>
            <a:off x="586175" y="1420988"/>
            <a:ext cx="436562" cy="436562"/>
          </a:xfrm>
          <a:prstGeom prst="rect">
            <a:avLst/>
          </a:prstGeom>
        </p:spPr>
      </p:pic>
      <p:sp>
        <p:nvSpPr>
          <p:cNvPr id="25" name="Tekstvak 24">
            <a:extLst>
              <a:ext uri="{FF2B5EF4-FFF2-40B4-BE49-F238E27FC236}">
                <a16:creationId xmlns:a16="http://schemas.microsoft.com/office/drawing/2014/main" id="{38D29299-C87B-CC33-7480-86F301010AFE}"/>
              </a:ext>
            </a:extLst>
          </p:cNvPr>
          <p:cNvSpPr txBox="1"/>
          <p:nvPr/>
        </p:nvSpPr>
        <p:spPr>
          <a:xfrm>
            <a:off x="5156656" y="6008440"/>
            <a:ext cx="6795225" cy="615553"/>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De kwalitatieve impact is beschreven aan de hand van de </a:t>
            </a:r>
            <a:r>
              <a:rPr kumimoji="0" lang="nl-NL" sz="800" b="0" i="0" u="none" strike="noStrike" kern="1200" cap="none" spc="0" normalizeH="0" baseline="0" noProof="0" err="1">
                <a:ln>
                  <a:noFill/>
                </a:ln>
                <a:solidFill>
                  <a:prstClr val="black"/>
                </a:solidFill>
                <a:effectLst/>
                <a:uLnTx/>
                <a:uFillTx/>
                <a:latin typeface="Aptos"/>
                <a:ea typeface="+mn-ea"/>
                <a:cs typeface="+mn-cs"/>
              </a:rPr>
              <a:t>quadruple</a:t>
            </a:r>
            <a:r>
              <a:rPr kumimoji="0" lang="nl-NL" sz="800" b="0" i="0" u="none" strike="noStrike" kern="1200" cap="none" spc="0" normalizeH="0" baseline="0" noProof="0">
                <a:ln>
                  <a:noFill/>
                </a:ln>
                <a:solidFill>
                  <a:prstClr val="black"/>
                </a:solidFill>
                <a:effectLst/>
                <a:uLnTx/>
                <a:uFillTx/>
                <a:latin typeface="Aptos"/>
                <a:ea typeface="+mn-ea"/>
                <a:cs typeface="+mn-cs"/>
              </a:rPr>
              <a:t> </a:t>
            </a:r>
            <a:r>
              <a:rPr kumimoji="0" lang="nl-NL" sz="800" b="0" i="0" u="none" strike="noStrike" kern="1200" cap="none" spc="0" normalizeH="0" baseline="0" noProof="0" err="1">
                <a:ln>
                  <a:noFill/>
                </a:ln>
                <a:solidFill>
                  <a:prstClr val="black"/>
                </a:solidFill>
                <a:effectLst/>
                <a:uLnTx/>
                <a:uFillTx/>
                <a:latin typeface="Aptos"/>
                <a:ea typeface="+mn-ea"/>
                <a:cs typeface="+mn-cs"/>
              </a:rPr>
              <a:t>aim</a:t>
            </a:r>
            <a:r>
              <a:rPr kumimoji="0" lang="nl-NL" sz="800" b="0" i="0" u="none" strike="noStrike" kern="1200" cap="none" spc="0" normalizeH="0" baseline="0" noProof="0">
                <a:ln>
                  <a:noFill/>
                </a:ln>
                <a:solidFill>
                  <a:prstClr val="black"/>
                </a:solidFill>
                <a:effectLst/>
                <a:uLnTx/>
                <a:uFillTx/>
                <a:latin typeface="Aptos"/>
                <a:ea typeface="+mn-ea"/>
                <a:cs typeface="+mn-cs"/>
              </a:rPr>
              <a:t> model, waarin de impact op (1) gezondheidsuitkomsten, (2) inwonertevredenheid, (3) zorgprofessionaltevredenheid en (4) zorgkosten is beschreven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Disclaimer: Voor de impactanalyse zijn alleen zorgorganisaties in de huidige scope meegenomen. Dit vertegenwoordigt de ondergrens van de potentiële scope, aangezien er mogelijkheden zijn om een breder zorglandschap te betrekken</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Aanname is dat deze </a:t>
            </a:r>
            <a:r>
              <a:rPr kumimoji="0" lang="nl-NL" sz="800" b="0" i="0" u="none" strike="noStrike" kern="1200" cap="none" spc="0" normalizeH="0" baseline="0" noProof="0" err="1">
                <a:ln>
                  <a:noFill/>
                </a:ln>
                <a:solidFill>
                  <a:prstClr val="black"/>
                </a:solidFill>
                <a:effectLst/>
                <a:uLnTx/>
                <a:uFillTx/>
                <a:latin typeface="Aptos"/>
                <a:ea typeface="+mn-ea"/>
                <a:cs typeface="+mn-cs"/>
              </a:rPr>
              <a:t>use</a:t>
            </a:r>
            <a:r>
              <a:rPr kumimoji="0" lang="nl-NL" sz="800" b="0" i="0" u="none" strike="noStrike" kern="1200" cap="none" spc="0" normalizeH="0" baseline="0" noProof="0">
                <a:ln>
                  <a:noFill/>
                </a:ln>
                <a:solidFill>
                  <a:prstClr val="black"/>
                </a:solidFill>
                <a:effectLst/>
                <a:uLnTx/>
                <a:uFillTx/>
                <a:latin typeface="Aptos"/>
                <a:ea typeface="+mn-ea"/>
                <a:cs typeface="+mn-cs"/>
              </a:rPr>
              <a:t>-cases over de jaren voor max. 20% zullen bijdragen aan behalen totale effect, aangezien dit voortbouwt op lopende projecten</a:t>
            </a:r>
          </a:p>
        </p:txBody>
      </p:sp>
      <p:graphicFrame>
        <p:nvGraphicFramePr>
          <p:cNvPr id="26" name="Tabel 25">
            <a:extLst>
              <a:ext uri="{FF2B5EF4-FFF2-40B4-BE49-F238E27FC236}">
                <a16:creationId xmlns:a16="http://schemas.microsoft.com/office/drawing/2014/main" id="{A611A78B-0831-6CCC-F78F-3F36F7C44363}"/>
              </a:ext>
            </a:extLst>
          </p:cNvPr>
          <p:cNvGraphicFramePr>
            <a:graphicFrameLocks noGrp="1"/>
          </p:cNvGraphicFramePr>
          <p:nvPr>
            <p:extLst>
              <p:ext uri="{D42A27DB-BD31-4B8C-83A1-F6EECF244321}">
                <p14:modId xmlns:p14="http://schemas.microsoft.com/office/powerpoint/2010/main" val="2962458725"/>
              </p:ext>
            </p:extLst>
          </p:nvPr>
        </p:nvGraphicFramePr>
        <p:xfrm>
          <a:off x="5191585" y="1713605"/>
          <a:ext cx="6754396" cy="4184102"/>
        </p:xfrm>
        <a:graphic>
          <a:graphicData uri="http://schemas.openxmlformats.org/drawingml/2006/table">
            <a:tbl>
              <a:tblPr/>
              <a:tblGrid>
                <a:gridCol w="499114">
                  <a:extLst>
                    <a:ext uri="{9D8B030D-6E8A-4147-A177-3AD203B41FA5}">
                      <a16:colId xmlns:a16="http://schemas.microsoft.com/office/drawing/2014/main" val="3293314837"/>
                    </a:ext>
                  </a:extLst>
                </a:gridCol>
                <a:gridCol w="499114">
                  <a:extLst>
                    <a:ext uri="{9D8B030D-6E8A-4147-A177-3AD203B41FA5}">
                      <a16:colId xmlns:a16="http://schemas.microsoft.com/office/drawing/2014/main" val="770108754"/>
                    </a:ext>
                  </a:extLst>
                </a:gridCol>
                <a:gridCol w="719521">
                  <a:extLst>
                    <a:ext uri="{9D8B030D-6E8A-4147-A177-3AD203B41FA5}">
                      <a16:colId xmlns:a16="http://schemas.microsoft.com/office/drawing/2014/main" val="3836903680"/>
                    </a:ext>
                  </a:extLst>
                </a:gridCol>
                <a:gridCol w="719521">
                  <a:extLst>
                    <a:ext uri="{9D8B030D-6E8A-4147-A177-3AD203B41FA5}">
                      <a16:colId xmlns:a16="http://schemas.microsoft.com/office/drawing/2014/main" val="3404048997"/>
                    </a:ext>
                  </a:extLst>
                </a:gridCol>
                <a:gridCol w="719521">
                  <a:extLst>
                    <a:ext uri="{9D8B030D-6E8A-4147-A177-3AD203B41FA5}">
                      <a16:colId xmlns:a16="http://schemas.microsoft.com/office/drawing/2014/main" val="1674234088"/>
                    </a:ext>
                  </a:extLst>
                </a:gridCol>
                <a:gridCol w="719521">
                  <a:extLst>
                    <a:ext uri="{9D8B030D-6E8A-4147-A177-3AD203B41FA5}">
                      <a16:colId xmlns:a16="http://schemas.microsoft.com/office/drawing/2014/main" val="2964502661"/>
                    </a:ext>
                  </a:extLst>
                </a:gridCol>
                <a:gridCol w="719521">
                  <a:extLst>
                    <a:ext uri="{9D8B030D-6E8A-4147-A177-3AD203B41FA5}">
                      <a16:colId xmlns:a16="http://schemas.microsoft.com/office/drawing/2014/main" val="3447126489"/>
                    </a:ext>
                  </a:extLst>
                </a:gridCol>
                <a:gridCol w="719521">
                  <a:extLst>
                    <a:ext uri="{9D8B030D-6E8A-4147-A177-3AD203B41FA5}">
                      <a16:colId xmlns:a16="http://schemas.microsoft.com/office/drawing/2014/main" val="3214275468"/>
                    </a:ext>
                  </a:extLst>
                </a:gridCol>
                <a:gridCol w="719521">
                  <a:extLst>
                    <a:ext uri="{9D8B030D-6E8A-4147-A177-3AD203B41FA5}">
                      <a16:colId xmlns:a16="http://schemas.microsoft.com/office/drawing/2014/main" val="2453028606"/>
                    </a:ext>
                  </a:extLst>
                </a:gridCol>
                <a:gridCol w="719521">
                  <a:extLst>
                    <a:ext uri="{9D8B030D-6E8A-4147-A177-3AD203B41FA5}">
                      <a16:colId xmlns:a16="http://schemas.microsoft.com/office/drawing/2014/main" val="3154328252"/>
                    </a:ext>
                  </a:extLst>
                </a:gridCol>
              </a:tblGrid>
              <a:tr h="739140">
                <a:tc gridSpan="2">
                  <a:txBody>
                    <a:bodyPr/>
                    <a:lstStyle/>
                    <a:p>
                      <a:pPr algn="l" rtl="0" fontAlgn="ctr"/>
                      <a:r>
                        <a:rPr lang="nl-NL" sz="1000" b="1" i="0" u="none" strike="noStrike">
                          <a:solidFill>
                            <a:srgbClr val="000000"/>
                          </a:solidFill>
                          <a:effectLst/>
                          <a:latin typeface="Verdana" panose="020B0604030504040204" pitchFamily="34" charset="0"/>
                        </a:rPr>
                        <a:t>Doelgroep</a:t>
                      </a:r>
                    </a:p>
                  </a:txBody>
                  <a:tcPr marL="7620" marR="7620" marT="7620" marB="0" anchor="ctr">
                    <a:lnL>
                      <a:noFill/>
                    </a:lnL>
                    <a:lnR>
                      <a:noFill/>
                    </a:lnR>
                    <a:lnT>
                      <a:noFill/>
                    </a:lnT>
                    <a:lnB>
                      <a:noFill/>
                    </a:lnB>
                    <a:solidFill>
                      <a:srgbClr val="E2F0D9"/>
                    </a:solidFill>
                  </a:tcPr>
                </a:tc>
                <a:tc hMerge="1">
                  <a:txBody>
                    <a:bodyPr/>
                    <a:lstStyle/>
                    <a:p>
                      <a:endParaRPr lang="en-NL"/>
                    </a:p>
                  </a:txBody>
                  <a:tcPr/>
                </a:tc>
                <a:tc gridSpan="2">
                  <a:txBody>
                    <a:bodyPr/>
                    <a:lstStyle/>
                    <a:p>
                      <a:pPr algn="ctr" rtl="0" fontAlgn="ctr"/>
                      <a:r>
                        <a:rPr lang="nl-NL" sz="800" b="0" i="0" u="none" strike="noStrike">
                          <a:solidFill>
                            <a:srgbClr val="000000"/>
                          </a:solidFill>
                          <a:effectLst/>
                          <a:latin typeface="Verdana" panose="020B0604030504040204" pitchFamily="34" charset="0"/>
                        </a:rPr>
                        <a:t>Aantal geweigerde digitale verwijzingen</a:t>
                      </a:r>
                      <a:br>
                        <a:rPr lang="nl-NL" sz="800" b="0" i="0" u="none" strike="noStrike">
                          <a:solidFill>
                            <a:srgbClr val="000000"/>
                          </a:solidFill>
                          <a:effectLst/>
                          <a:latin typeface="Verdana" panose="020B0604030504040204" pitchFamily="34" charset="0"/>
                        </a:rPr>
                      </a:br>
                      <a:r>
                        <a:rPr lang="nl-NL" sz="800" b="0" i="1" u="none" strike="noStrike">
                          <a:solidFill>
                            <a:srgbClr val="000000"/>
                          </a:solidFill>
                          <a:effectLst/>
                          <a:latin typeface="Verdana" panose="020B0604030504040204" pitchFamily="34" charset="0"/>
                        </a:rPr>
                        <a:t>Ca. 84.000 per jaar</a:t>
                      </a:r>
                    </a:p>
                  </a:txBody>
                  <a:tcPr marL="7620" marR="7620" marT="7620" marB="0">
                    <a:lnL>
                      <a:noFill/>
                    </a:lnL>
                    <a:lnR>
                      <a:noFill/>
                    </a:lnR>
                    <a:lnT>
                      <a:noFill/>
                    </a:lnT>
                    <a:lnB>
                      <a:noFill/>
                    </a:lnB>
                    <a:solidFill>
                      <a:srgbClr val="FFFFFF"/>
                    </a:solidFill>
                  </a:tcPr>
                </a:tc>
                <a:tc hMerge="1">
                  <a:txBody>
                    <a:bodyPr/>
                    <a:lstStyle/>
                    <a:p>
                      <a:endParaRPr lang="en-NL"/>
                    </a:p>
                  </a:txBody>
                  <a:tcPr/>
                </a:tc>
                <a:tc gridSpan="2">
                  <a:txBody>
                    <a:bodyPr/>
                    <a:lstStyle/>
                    <a:p>
                      <a:pPr algn="l" rtl="0" fontAlgn="ctr"/>
                      <a:r>
                        <a:rPr lang="nl-NL" sz="800" b="0" i="0" u="none" strike="noStrike">
                          <a:solidFill>
                            <a:srgbClr val="000000"/>
                          </a:solidFill>
                          <a:effectLst/>
                          <a:latin typeface="Verdana" panose="020B0604030504040204" pitchFamily="34" charset="0"/>
                        </a:rPr>
                        <a:t>Aantal meedenkconsulten</a:t>
                      </a:r>
                      <a:br>
                        <a:rPr lang="nl-NL" sz="800" b="0" i="0" u="none" strike="noStrike">
                          <a:solidFill>
                            <a:srgbClr val="000000"/>
                          </a:solidFill>
                          <a:effectLst/>
                          <a:latin typeface="Verdana" panose="020B0604030504040204" pitchFamily="34" charset="0"/>
                        </a:rPr>
                      </a:br>
                      <a:br>
                        <a:rPr lang="nl-NL" sz="800" b="0" i="0" u="none" strike="noStrike">
                          <a:solidFill>
                            <a:srgbClr val="000000"/>
                          </a:solidFill>
                          <a:effectLst/>
                          <a:latin typeface="Verdana" panose="020B0604030504040204" pitchFamily="34" charset="0"/>
                        </a:rPr>
                      </a:br>
                      <a:r>
                        <a:rPr lang="nl-NL" sz="800" b="0" i="1" u="none" strike="noStrike">
                          <a:solidFill>
                            <a:srgbClr val="000000"/>
                          </a:solidFill>
                          <a:effectLst/>
                          <a:latin typeface="Verdana" panose="020B0604030504040204" pitchFamily="34" charset="0"/>
                        </a:rPr>
                        <a:t>Ca. 28.000 per jaar</a:t>
                      </a:r>
                      <a:endParaRPr lang="nl-NL" sz="800" b="0" i="0" u="none" strike="noStrike">
                        <a:solidFill>
                          <a:srgbClr val="000000"/>
                        </a:solidFill>
                        <a:effectLst/>
                        <a:latin typeface="Verdana" panose="020B0604030504040204" pitchFamily="34" charset="0"/>
                      </a:endParaRPr>
                    </a:p>
                  </a:txBody>
                  <a:tcPr marL="7620" marR="7620" marT="7620" marB="0">
                    <a:lnL>
                      <a:noFill/>
                    </a:lnL>
                    <a:lnR w="12700" cap="flat" cmpd="sng" algn="ctr">
                      <a:solidFill>
                        <a:schemeClr val="bg1">
                          <a:lumMod val="75000"/>
                        </a:schemeClr>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nl-NL" sz="800" b="0" i="0" u="none" strike="noStrike">
                          <a:solidFill>
                            <a:srgbClr val="000000"/>
                          </a:solidFill>
                          <a:effectLst/>
                          <a:latin typeface="Verdana" panose="020B0604030504040204" pitchFamily="34" charset="0"/>
                        </a:rPr>
                        <a:t>Aantal kort overleggen</a:t>
                      </a:r>
                      <a:br>
                        <a:rPr lang="nl-NL" sz="800" b="0" i="0" u="none" strike="noStrike">
                          <a:solidFill>
                            <a:srgbClr val="000000"/>
                          </a:solidFill>
                          <a:effectLst/>
                          <a:latin typeface="Verdana" panose="020B0604030504040204" pitchFamily="34" charset="0"/>
                        </a:rPr>
                      </a:br>
                      <a:br>
                        <a:rPr lang="nl-NL" sz="800" b="0" i="0" u="none" strike="noStrike">
                          <a:solidFill>
                            <a:srgbClr val="000000"/>
                          </a:solidFill>
                          <a:effectLst/>
                          <a:latin typeface="Verdana" panose="020B0604030504040204" pitchFamily="34" charset="0"/>
                        </a:rPr>
                      </a:br>
                      <a:r>
                        <a:rPr lang="nl-NL" sz="800" b="0" i="1" u="none" strike="noStrike">
                          <a:solidFill>
                            <a:srgbClr val="000000"/>
                          </a:solidFill>
                          <a:effectLst/>
                          <a:latin typeface="Verdana" panose="020B0604030504040204" pitchFamily="34" charset="0"/>
                        </a:rPr>
                        <a:t>Ca. 5.500 per jaar</a:t>
                      </a:r>
                      <a:endParaRPr lang="nl-NL" sz="800" b="0" i="0" u="none" strike="noStrike" baseline="30000">
                        <a:solidFill>
                          <a:srgbClr val="000000"/>
                        </a:solidFill>
                        <a:effectLst/>
                        <a:latin typeface="Verdana" panose="020B0604030504040204" pitchFamily="34" charset="0"/>
                      </a:endParaRPr>
                    </a:p>
                  </a:txBody>
                  <a:tcPr marL="7620" marR="7620" marT="7620" marB="0">
                    <a:lnL w="12700" cap="flat" cmpd="sng" algn="ctr">
                      <a:solidFill>
                        <a:schemeClr val="bg1">
                          <a:lumMod val="75000"/>
                        </a:schemeClr>
                      </a:solidFill>
                      <a:prstDash val="solid"/>
                      <a:round/>
                      <a:headEnd type="none" w="med" len="med"/>
                      <a:tailEnd type="none" w="med" len="med"/>
                    </a:lnL>
                    <a:lnR>
                      <a:noFill/>
                    </a:lnR>
                    <a:lnT>
                      <a:noFill/>
                    </a:lnT>
                    <a:lnB>
                      <a:noFill/>
                    </a:lnB>
                    <a:solidFill>
                      <a:srgbClr val="FFFFFF"/>
                    </a:solidFill>
                  </a:tcPr>
                </a:tc>
                <a:tc hMerge="1">
                  <a:txBody>
                    <a:bodyPr/>
                    <a:lstStyle/>
                    <a:p>
                      <a:endParaRPr lang="en-NL"/>
                    </a:p>
                  </a:txBody>
                  <a:tcP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nl-NL" sz="800" b="0" i="0" u="none" strike="noStrike">
                          <a:solidFill>
                            <a:srgbClr val="000000"/>
                          </a:solidFill>
                          <a:effectLst/>
                          <a:latin typeface="Verdana" panose="020B0604030504040204" pitchFamily="34" charset="0"/>
                        </a:rPr>
                        <a:t>Aantal eerste polibezoeken</a:t>
                      </a:r>
                      <a:br>
                        <a:rPr lang="nl-NL" sz="800" b="0" i="0" u="none" strike="noStrike">
                          <a:solidFill>
                            <a:srgbClr val="000000"/>
                          </a:solidFill>
                          <a:effectLst/>
                          <a:latin typeface="Verdana" panose="020B0604030504040204" pitchFamily="34" charset="0"/>
                        </a:rPr>
                      </a:br>
                      <a:br>
                        <a:rPr lang="nl-NL" sz="800" b="0" i="0" u="none" strike="noStrike">
                          <a:solidFill>
                            <a:srgbClr val="000000"/>
                          </a:solidFill>
                          <a:effectLst/>
                          <a:latin typeface="Verdana" panose="020B0604030504040204" pitchFamily="34" charset="0"/>
                        </a:rPr>
                      </a:br>
                      <a:r>
                        <a:rPr lang="nl-NL" sz="800" b="0" i="1" u="none" strike="noStrike">
                          <a:solidFill>
                            <a:srgbClr val="000000"/>
                          </a:solidFill>
                          <a:effectLst/>
                          <a:latin typeface="Verdana" panose="020B0604030504040204" pitchFamily="34" charset="0"/>
                        </a:rPr>
                        <a:t>Ca. 556.000 per jaar</a:t>
                      </a:r>
                      <a:endParaRPr lang="nl-NL" sz="800" b="0" i="0" u="none" strike="noStrike">
                        <a:solidFill>
                          <a:srgbClr val="000000"/>
                        </a:solidFill>
                        <a:effectLst/>
                        <a:latin typeface="Verdana" panose="020B0604030504040204" pitchFamily="34" charset="0"/>
                      </a:endParaRPr>
                    </a:p>
                  </a:txBody>
                  <a:tcPr marL="7620" marR="7620" marT="7620" marB="0">
                    <a:lnL>
                      <a:noFill/>
                    </a:lnL>
                    <a:lnR w="12700" cap="flat" cmpd="sng" algn="ctr">
                      <a:solidFill>
                        <a:schemeClr val="bg1">
                          <a:lumMod val="75000"/>
                        </a:schemeClr>
                      </a:solidFill>
                      <a:prstDash val="solid"/>
                      <a:round/>
                      <a:headEnd type="none" w="med" len="med"/>
                      <a:tailEnd type="none" w="med" len="med"/>
                    </a:lnR>
                    <a:lnT>
                      <a:noFill/>
                    </a:lnT>
                    <a:lnB>
                      <a:noFill/>
                    </a:lnB>
                    <a:solidFill>
                      <a:srgbClr val="FFFFFF"/>
                    </a:solidFill>
                  </a:tcPr>
                </a:tc>
                <a:tc hMerge="1">
                  <a:txBody>
                    <a:bodyPr/>
                    <a:lstStyle/>
                    <a:p>
                      <a:endParaRPr lang="nl-NL"/>
                    </a:p>
                  </a:txBody>
                  <a:tcPr/>
                </a:tc>
                <a:extLst>
                  <a:ext uri="{0D108BD9-81ED-4DB2-BD59-A6C34878D82A}">
                    <a16:rowId xmlns:a16="http://schemas.microsoft.com/office/drawing/2014/main" val="839441250"/>
                  </a:ext>
                </a:extLst>
              </a:tr>
              <a:tr h="0">
                <a:tc>
                  <a:txBody>
                    <a:bodyPr/>
                    <a:lstStyle/>
                    <a:p>
                      <a:pPr algn="l" fontAlgn="t"/>
                      <a:r>
                        <a:rPr lang="nl-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nl-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gridSpan="8">
                  <a:txBody>
                    <a:bodyPr/>
                    <a:lstStyle/>
                    <a:p>
                      <a:pPr algn="l" fontAlgn="t"/>
                      <a:r>
                        <a:rPr lang="nl-NL" sz="400" b="0" i="0" u="none" strike="noStrike">
                          <a:solidFill>
                            <a:srgbClr val="000000"/>
                          </a:solidFill>
                          <a:effectLst/>
                          <a:latin typeface="Verdana" panose="020B0604030504040204" pitchFamily="34" charset="0"/>
                        </a:rPr>
                        <a:t> </a:t>
                      </a:r>
                    </a:p>
                    <a:p>
                      <a:pPr algn="l" fontAlgn="t"/>
                      <a:endParaRPr lang="nl-NL" sz="200" b="0" i="0" u="none" strike="noStrike">
                        <a:solidFill>
                          <a:srgbClr val="000000"/>
                        </a:solidFill>
                        <a:effectLst/>
                        <a:latin typeface="Verdana" panose="020B0604030504040204" pitchFamily="34" charset="0"/>
                      </a:endParaRPr>
                    </a:p>
                  </a:txBody>
                  <a:tcPr marL="7620" marR="7620" marT="7620" marB="0">
                    <a:lnL>
                      <a:noFill/>
                    </a:lnL>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a:p>
                  </a:txBody>
                  <a:tcPr marL="7620" marR="7620" marT="7620" marB="0">
                    <a:lnL>
                      <a:noFill/>
                    </a:lnL>
                    <a:lnR w="12700" cap="flat" cmpd="sng" algn="ctr">
                      <a:solidFill>
                        <a:schemeClr val="bg1">
                          <a:lumMod val="75000"/>
                        </a:schemeClr>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a:p>
                  </a:txBody>
                  <a:tcPr marL="7620" marR="7620" marT="7620" marB="0">
                    <a:lnL w="12700" cap="flat" cmpd="sng" algn="ctr">
                      <a:solidFill>
                        <a:schemeClr val="bg1">
                          <a:lumMod val="75000"/>
                        </a:schemeClr>
                      </a:solidFill>
                      <a:prstDash val="solid"/>
                      <a:round/>
                      <a:headEnd type="none" w="med" len="med"/>
                      <a:tailEnd type="none" w="med" len="med"/>
                    </a:lnL>
                    <a:lnR>
                      <a:noFill/>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pPr algn="l" fontAlgn="t"/>
                      <a:endParaRPr lang="nl-NL" sz="1000" b="0" i="0" u="none" strike="noStrike">
                        <a:solidFill>
                          <a:srgbClr val="000000"/>
                        </a:solidFill>
                        <a:effectLst/>
                        <a:latin typeface="Verdana" panose="020B0604030504040204" pitchFamily="34" charset="0"/>
                      </a:endParaRP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lang="nl-NL"/>
                    </a:p>
                  </a:txBody>
                  <a:tcPr/>
                </a:tc>
                <a:extLst>
                  <a:ext uri="{0D108BD9-81ED-4DB2-BD59-A6C34878D82A}">
                    <a16:rowId xmlns:a16="http://schemas.microsoft.com/office/drawing/2014/main" val="2636371558"/>
                  </a:ext>
                </a:extLst>
              </a:tr>
              <a:tr h="787329">
                <a:tc gridSpan="2">
                  <a:txBody>
                    <a:bodyPr/>
                    <a:lstStyle/>
                    <a:p>
                      <a:pPr algn="l" rtl="0" fontAlgn="ctr"/>
                      <a:r>
                        <a:rPr lang="nl-NL" sz="1000" b="1" i="0" u="none" strike="noStrike">
                          <a:solidFill>
                            <a:srgbClr val="000000"/>
                          </a:solidFill>
                          <a:effectLst/>
                          <a:latin typeface="Verdana" panose="020B0604030504040204" pitchFamily="34" charset="0"/>
                        </a:rPr>
                        <a:t>Effect </a:t>
                      </a:r>
                      <a:r>
                        <a:rPr lang="nl-NL" sz="1000" b="0" i="0" u="none" strike="noStrike">
                          <a:solidFill>
                            <a:srgbClr val="000000"/>
                          </a:solidFill>
                          <a:effectLst/>
                          <a:latin typeface="Verdana" panose="020B0604030504040204" pitchFamily="34" charset="0"/>
                        </a:rPr>
                        <a:t>van de </a:t>
                      </a:r>
                      <a:r>
                        <a:rPr lang="nl-NL" sz="1000" b="0" i="0" u="none" strike="noStrike" err="1">
                          <a:solidFill>
                            <a:srgbClr val="000000"/>
                          </a:solidFill>
                          <a:effectLst/>
                          <a:latin typeface="Verdana" panose="020B0604030504040204" pitchFamily="34" charset="0"/>
                        </a:rPr>
                        <a:t>usecase</a:t>
                      </a:r>
                      <a:endParaRPr lang="nl-NL" sz="1000" b="1" i="0" u="none" strike="noStrike">
                        <a:solidFill>
                          <a:srgbClr val="000000"/>
                        </a:solidFill>
                        <a:effectLst/>
                        <a:latin typeface="Verdana" panose="020B0604030504040204" pitchFamily="34" charset="0"/>
                      </a:endParaRP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5 minuten</a:t>
                      </a:r>
                      <a:r>
                        <a:rPr lang="nl-NL" sz="800" b="0" i="0" u="none" strike="noStrike">
                          <a:solidFill>
                            <a:srgbClr val="000000"/>
                          </a:solidFill>
                          <a:effectLst/>
                          <a:latin typeface="Verdana" panose="020B0604030504040204" pitchFamily="34" charset="0"/>
                        </a:rPr>
                        <a:t> bespaarde tijd, zowel bij ontvangende als verzendende partij bij terugkoppeling van afwijzing aan verwijzer</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l" rtl="0" fontAlgn="ctr"/>
                      <a:r>
                        <a:rPr lang="nl-NL" sz="800" b="0" i="0" u="none" strike="noStrike">
                          <a:solidFill>
                            <a:srgbClr val="000000"/>
                          </a:solidFill>
                          <a:effectLst/>
                          <a:latin typeface="Verdana" panose="020B0604030504040204" pitchFamily="34" charset="0"/>
                        </a:rPr>
                        <a:t>In </a:t>
                      </a:r>
                      <a:r>
                        <a:rPr lang="nl-NL" sz="800" b="1" i="0" u="none" strike="noStrike">
                          <a:solidFill>
                            <a:srgbClr val="000000"/>
                          </a:solidFill>
                          <a:effectLst/>
                          <a:latin typeface="Verdana" panose="020B0604030504040204" pitchFamily="34" charset="0"/>
                        </a:rPr>
                        <a:t>83% </a:t>
                      </a:r>
                      <a:r>
                        <a:rPr lang="nl-NL" sz="800" b="0" i="0" u="none" strike="noStrike">
                          <a:solidFill>
                            <a:srgbClr val="000000"/>
                          </a:solidFill>
                          <a:effectLst/>
                          <a:latin typeface="Verdana" panose="020B0604030504040204" pitchFamily="34" charset="0"/>
                        </a:rPr>
                        <a:t>van de gevallen  kan de </a:t>
                      </a:r>
                      <a:r>
                        <a:rPr lang="nl-NL" sz="800" b="1" i="0" u="none" strike="noStrike">
                          <a:solidFill>
                            <a:srgbClr val="000000"/>
                          </a:solidFill>
                          <a:effectLst/>
                          <a:latin typeface="Verdana" panose="020B0604030504040204" pitchFamily="34" charset="0"/>
                        </a:rPr>
                        <a:t>patiënt</a:t>
                      </a:r>
                      <a:r>
                        <a:rPr lang="nl-NL" sz="800" b="0" i="0" u="none" strike="noStrike">
                          <a:solidFill>
                            <a:srgbClr val="000000"/>
                          </a:solidFill>
                          <a:effectLst/>
                          <a:latin typeface="Verdana" panose="020B0604030504040204" pitchFamily="34" charset="0"/>
                        </a:rPr>
                        <a:t> in </a:t>
                      </a:r>
                      <a:r>
                        <a:rPr lang="nl-NL" sz="800" b="1" i="0" u="none" strike="noStrike">
                          <a:solidFill>
                            <a:srgbClr val="000000"/>
                          </a:solidFill>
                          <a:effectLst/>
                          <a:latin typeface="Verdana" panose="020B0604030504040204" pitchFamily="34" charset="0"/>
                        </a:rPr>
                        <a:t>1</a:t>
                      </a:r>
                      <a:r>
                        <a:rPr lang="nl-NL" sz="800" b="1" i="0" u="none" strike="noStrike" baseline="30000">
                          <a:solidFill>
                            <a:srgbClr val="000000"/>
                          </a:solidFill>
                          <a:effectLst/>
                          <a:latin typeface="Verdana" panose="020B0604030504040204" pitchFamily="34" charset="0"/>
                        </a:rPr>
                        <a:t>e</a:t>
                      </a:r>
                      <a:r>
                        <a:rPr lang="nl-NL" sz="800" b="1" i="0" u="none" strike="noStrike">
                          <a:solidFill>
                            <a:srgbClr val="000000"/>
                          </a:solidFill>
                          <a:effectLst/>
                          <a:latin typeface="Verdana" panose="020B0604030504040204" pitchFamily="34" charset="0"/>
                        </a:rPr>
                        <a:t> lijn blijven</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nl-NL" sz="800" b="0" i="0" u="none" strike="noStrike">
                          <a:solidFill>
                            <a:srgbClr val="000000"/>
                          </a:solidFill>
                          <a:effectLst/>
                          <a:latin typeface="Verdana" panose="020B0604030504040204" pitchFamily="34" charset="0"/>
                        </a:rPr>
                        <a:t>In </a:t>
                      </a:r>
                      <a:r>
                        <a:rPr lang="nl-NL" sz="800" b="1" i="0" u="none" strike="noStrike">
                          <a:solidFill>
                            <a:srgbClr val="000000"/>
                          </a:solidFill>
                          <a:effectLst/>
                          <a:latin typeface="Verdana" panose="020B0604030504040204" pitchFamily="34" charset="0"/>
                        </a:rPr>
                        <a:t>83% </a:t>
                      </a:r>
                      <a:r>
                        <a:rPr lang="nl-NL" sz="800" b="0" i="0" u="none" strike="noStrike">
                          <a:solidFill>
                            <a:srgbClr val="000000"/>
                          </a:solidFill>
                          <a:effectLst/>
                          <a:latin typeface="Verdana" panose="020B0604030504040204" pitchFamily="34" charset="0"/>
                        </a:rPr>
                        <a:t>van de gevallen kan de </a:t>
                      </a:r>
                      <a:r>
                        <a:rPr lang="nl-NL" sz="800" b="1" i="0" u="none" strike="noStrike">
                          <a:solidFill>
                            <a:srgbClr val="000000"/>
                          </a:solidFill>
                          <a:effectLst/>
                          <a:latin typeface="Verdana" panose="020B0604030504040204" pitchFamily="34" charset="0"/>
                        </a:rPr>
                        <a:t>patiënt</a:t>
                      </a:r>
                      <a:r>
                        <a:rPr lang="nl-NL" sz="800" b="0" i="0" u="none" strike="noStrike">
                          <a:solidFill>
                            <a:srgbClr val="000000"/>
                          </a:solidFill>
                          <a:effectLst/>
                          <a:latin typeface="Verdana" panose="020B0604030504040204" pitchFamily="34" charset="0"/>
                        </a:rPr>
                        <a:t> in de </a:t>
                      </a:r>
                      <a:r>
                        <a:rPr lang="nl-NL" sz="800" b="1" i="0" u="none" strike="noStrike">
                          <a:solidFill>
                            <a:srgbClr val="000000"/>
                          </a:solidFill>
                          <a:effectLst/>
                          <a:latin typeface="Verdana" panose="020B0604030504040204" pitchFamily="34" charset="0"/>
                        </a:rPr>
                        <a:t>1</a:t>
                      </a:r>
                      <a:r>
                        <a:rPr lang="nl-NL" sz="800" b="1" i="0" u="none" strike="noStrike" baseline="30000">
                          <a:solidFill>
                            <a:srgbClr val="000000"/>
                          </a:solidFill>
                          <a:effectLst/>
                          <a:latin typeface="Verdana" panose="020B0604030504040204" pitchFamily="34" charset="0"/>
                        </a:rPr>
                        <a:t>e</a:t>
                      </a:r>
                      <a:r>
                        <a:rPr lang="nl-NL" sz="800" b="1" i="0" u="none" strike="noStrike">
                          <a:solidFill>
                            <a:srgbClr val="000000"/>
                          </a:solidFill>
                          <a:effectLst/>
                          <a:latin typeface="Verdana" panose="020B0604030504040204" pitchFamily="34" charset="0"/>
                        </a:rPr>
                        <a:t> lijn blijven</a:t>
                      </a: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nl-NL" sz="800" b="1" i="0" u="none" strike="noStrike">
                          <a:solidFill>
                            <a:srgbClr val="000000"/>
                          </a:solidFill>
                          <a:effectLst/>
                          <a:latin typeface="Verdana" panose="020B0604030504040204" pitchFamily="34" charset="0"/>
                        </a:rPr>
                        <a:t>1% afname polikliniekbezoeken </a:t>
                      </a:r>
                      <a:r>
                        <a:rPr lang="nl-NL" sz="800" b="0" i="0" u="none" strike="noStrike">
                          <a:solidFill>
                            <a:srgbClr val="000000"/>
                          </a:solidFill>
                          <a:effectLst/>
                          <a:latin typeface="Verdana" panose="020B0604030504040204" pitchFamily="34" charset="0"/>
                        </a:rPr>
                        <a:t>als gevolg van inzet tweewegcommunicatie in zorgnetwerk</a:t>
                      </a:r>
                    </a:p>
                    <a:p>
                      <a:pPr marL="0" marR="0" lvl="0" indent="0" algn="l" defTabSz="914400" rtl="0" eaLnBrk="1" fontAlgn="ctr" latinLnBrk="0" hangingPunct="1">
                        <a:lnSpc>
                          <a:spcPct val="100000"/>
                        </a:lnSpc>
                        <a:spcBef>
                          <a:spcPts val="0"/>
                        </a:spcBef>
                        <a:spcAft>
                          <a:spcPts val="0"/>
                        </a:spcAft>
                        <a:buClrTx/>
                        <a:buSzTx/>
                        <a:buFontTx/>
                        <a:buNone/>
                        <a:tabLst/>
                        <a:defRPr/>
                      </a:pPr>
                      <a:endParaRPr lang="nl-NL" sz="8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1576964807"/>
                  </a:ext>
                </a:extLst>
              </a:tr>
              <a:tr h="348099">
                <a:tc>
                  <a:txBody>
                    <a:bodyPr/>
                    <a:lstStyle/>
                    <a:p>
                      <a:pPr algn="l" fontAlgn="t"/>
                      <a:r>
                        <a:rPr lang="nl-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rgbClr val="7EB572"/>
                      </a:solidFill>
                      <a:prstDash val="solid"/>
                      <a:round/>
                      <a:headEnd type="none" w="med" len="med"/>
                      <a:tailEnd type="none" w="med" len="med"/>
                    </a:lnR>
                    <a:lnT>
                      <a:noFill/>
                    </a:lnT>
                    <a:lnB>
                      <a:noFill/>
                    </a:lnB>
                    <a:solidFill>
                      <a:srgbClr val="7EB572"/>
                    </a:solidFill>
                  </a:tcPr>
                </a:tc>
                <a:tc>
                  <a:txBody>
                    <a:bodyPr/>
                    <a:lstStyle/>
                    <a:p>
                      <a:pPr algn="l" fontAlgn="t"/>
                      <a:r>
                        <a:rPr lang="nl-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7EB57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solidFill>
                      <a:srgbClr val="7EB572"/>
                    </a:solidFill>
                  </a:tcPr>
                </a:tc>
                <a:tc gridSpan="8">
                  <a:txBody>
                    <a:bodyPr/>
                    <a:lstStyle/>
                    <a:p>
                      <a:pPr algn="ctr" rtl="0" fontAlgn="ctr"/>
                      <a:r>
                        <a:rPr lang="nl-NL" sz="1000" b="0" i="1" u="none" strike="noStrike">
                          <a:solidFill>
                            <a:srgbClr val="000000"/>
                          </a:solidFill>
                          <a:effectLst/>
                          <a:latin typeface="Verdana" panose="020B0604030504040204" pitchFamily="34" charset="0"/>
                        </a:rPr>
                        <a:t>Onderstaande inclusiepercentages gelden voor alle doelgroepen en effecten (NB: volgorde van implementatie staat nog niet definitief vast)</a:t>
                      </a:r>
                    </a:p>
                  </a:txBody>
                  <a:tcPr marL="7620" marR="7620" marT="7620" marB="0" anchor="ctr">
                    <a:lnL w="12700" cap="flat" cmpd="sng" algn="ctr">
                      <a:solidFill>
                        <a:schemeClr val="bg1">
                          <a:lumMod val="75000"/>
                        </a:schemeClr>
                      </a:solidFill>
                      <a:prstDash val="solid"/>
                      <a:round/>
                      <a:headEnd type="none" w="med" len="med"/>
                      <a:tailEnd type="none" w="med" len="med"/>
                    </a:lnL>
                    <a:lnR>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lnT w="12700" cap="flat" cmpd="sng" algn="ctr">
                      <a:solidFill>
                        <a:srgbClr val="F2F2F2"/>
                      </a:solidFill>
                      <a:prstDash val="solid"/>
                      <a:round/>
                      <a:headEnd type="none" w="med" len="med"/>
                      <a:tailEnd type="none" w="med" len="med"/>
                    </a:lnT>
                  </a:tcPr>
                </a:tc>
                <a:tc hMerge="1">
                  <a:txBody>
                    <a:bodyPr/>
                    <a:lstStyle/>
                    <a:p>
                      <a:endParaRPr lang="en-NL"/>
                    </a:p>
                  </a:txBody>
                  <a:tcPr/>
                </a:tc>
                <a:tc hMerge="1">
                  <a:txBody>
                    <a:bodyPr/>
                    <a:lstStyle/>
                    <a:p>
                      <a:pPr algn="ctr" rtl="0" fontAlgn="ctr"/>
                      <a:endParaRPr lang="nl-NL" sz="1000" b="0" i="1" u="none" strike="noStrike">
                        <a:solidFill>
                          <a:srgbClr val="000000"/>
                        </a:solidFill>
                        <a:effectLst/>
                        <a:latin typeface="Verdana" panose="020B0604030504040204" pitchFamily="34" charset="0"/>
                      </a:endParaRPr>
                    </a:p>
                  </a:txBody>
                  <a:tcPr marL="7620" marR="7620" marT="7620" marB="0" anchor="ctr">
                    <a:lnL w="12700" cap="flat" cmpd="sng" algn="ctr">
                      <a:solidFill>
                        <a:srgbClr val="7EB572"/>
                      </a:solidFill>
                      <a:prstDash val="solid"/>
                      <a:round/>
                      <a:headEnd type="none" w="med" len="med"/>
                      <a:tailEnd type="none" w="med" len="med"/>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nl-NL"/>
                    </a:p>
                  </a:txBody>
                  <a:tcPr/>
                </a:tc>
                <a:extLst>
                  <a:ext uri="{0D108BD9-81ED-4DB2-BD59-A6C34878D82A}">
                    <a16:rowId xmlns:a16="http://schemas.microsoft.com/office/drawing/2014/main" val="3377944239"/>
                  </a:ext>
                </a:extLst>
              </a:tr>
              <a:tr h="0">
                <a:tc gridSpan="2">
                  <a:txBody>
                    <a:bodyPr/>
                    <a:lstStyle/>
                    <a:p>
                      <a:pPr algn="l" rtl="0" fontAlgn="ctr"/>
                      <a:r>
                        <a:rPr lang="nl-NL" sz="1000" b="1" i="0" u="none" strike="noStrike">
                          <a:solidFill>
                            <a:srgbClr val="000000"/>
                          </a:solidFill>
                          <a:effectLst/>
                          <a:latin typeface="Verdana" panose="020B0604030504040204" pitchFamily="34" charset="0"/>
                        </a:rPr>
                        <a:t>Inclusie</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nl-NL"/>
                    </a:p>
                  </a:txBody>
                  <a:tcPr/>
                </a:tc>
                <a:extLst>
                  <a:ext uri="{0D108BD9-81ED-4DB2-BD59-A6C34878D82A}">
                    <a16:rowId xmlns:a16="http://schemas.microsoft.com/office/drawing/2014/main" val="3361457935"/>
                  </a:ext>
                </a:extLst>
              </a:tr>
              <a:tr h="158204">
                <a:tc gridSpan="2">
                  <a:txBody>
                    <a:bodyPr/>
                    <a:lstStyle/>
                    <a:p>
                      <a:pPr algn="r" rtl="0" fontAlgn="ctr"/>
                      <a:r>
                        <a:rPr lang="nl-NL" sz="1000" b="0" i="1" u="none" strike="noStrike">
                          <a:solidFill>
                            <a:srgbClr val="000000"/>
                          </a:solidFill>
                          <a:effectLst/>
                          <a:latin typeface="Verdana" panose="020B0604030504040204" pitchFamily="34" charset="0"/>
                        </a:rPr>
                        <a:t>2024</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0%</a:t>
                      </a: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nl-NL"/>
                    </a:p>
                  </a:txBody>
                  <a:tcPr/>
                </a:tc>
                <a:extLst>
                  <a:ext uri="{0D108BD9-81ED-4DB2-BD59-A6C34878D82A}">
                    <a16:rowId xmlns:a16="http://schemas.microsoft.com/office/drawing/2014/main" val="2403409201"/>
                  </a:ext>
                </a:extLst>
              </a:tr>
              <a:tr h="158204">
                <a:tc gridSpan="2">
                  <a:txBody>
                    <a:bodyPr/>
                    <a:lstStyle/>
                    <a:p>
                      <a:pPr algn="r" rtl="0" fontAlgn="ctr"/>
                      <a:r>
                        <a:rPr lang="nl-NL" sz="1000" b="0" i="1" u="none" strike="noStrike">
                          <a:solidFill>
                            <a:srgbClr val="000000"/>
                          </a:solidFill>
                          <a:effectLst/>
                          <a:latin typeface="Verdana" panose="020B0604030504040204" pitchFamily="34" charset="0"/>
                        </a:rPr>
                        <a:t>2025</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5%</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0%</a:t>
                      </a: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nl-NL"/>
                    </a:p>
                  </a:txBody>
                  <a:tcPr/>
                </a:tc>
                <a:extLst>
                  <a:ext uri="{0D108BD9-81ED-4DB2-BD59-A6C34878D82A}">
                    <a16:rowId xmlns:a16="http://schemas.microsoft.com/office/drawing/2014/main" val="4109188749"/>
                  </a:ext>
                </a:extLst>
              </a:tr>
              <a:tr h="164796">
                <a:tc gridSpan="2">
                  <a:txBody>
                    <a:bodyPr/>
                    <a:lstStyle/>
                    <a:p>
                      <a:pPr algn="r" rtl="0" fontAlgn="ctr"/>
                      <a:r>
                        <a:rPr lang="nl-NL" sz="1000" b="0" i="1" u="none" strike="noStrike">
                          <a:solidFill>
                            <a:srgbClr val="000000"/>
                          </a:solidFill>
                          <a:effectLst/>
                          <a:latin typeface="Verdana" panose="020B0604030504040204" pitchFamily="34" charset="0"/>
                        </a:rPr>
                        <a:t>2026</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10%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10%</a:t>
                      </a:r>
                      <a:r>
                        <a:rPr lang="nl-NL" sz="1000" b="0" i="0" u="none" strike="noStrike" baseline="30000">
                          <a:solidFill>
                            <a:srgbClr val="000000"/>
                          </a:solidFill>
                          <a:effectLst/>
                          <a:latin typeface="Verdana" panose="020B0604030504040204" pitchFamily="34" charset="0"/>
                        </a:rPr>
                        <a:t>3</a:t>
                      </a:r>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10%</a:t>
                      </a:r>
                      <a:r>
                        <a:rPr lang="nl-NL" sz="1000" b="0" i="0" u="none" strike="noStrike" baseline="30000">
                          <a:solidFill>
                            <a:srgbClr val="000000"/>
                          </a:solidFill>
                          <a:effectLst/>
                          <a:latin typeface="Verdana" panose="020B0604030504040204" pitchFamily="34" charset="0"/>
                        </a:rPr>
                        <a:t>3</a:t>
                      </a:r>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nl-NL" sz="1000" b="0" i="0" u="none" strike="noStrike">
                          <a:solidFill>
                            <a:srgbClr val="000000"/>
                          </a:solidFill>
                          <a:effectLst/>
                          <a:latin typeface="Verdana" panose="020B0604030504040204" pitchFamily="34" charset="0"/>
                        </a:rPr>
                        <a:t>10%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4155878543"/>
                  </a:ext>
                </a:extLst>
              </a:tr>
              <a:tr h="164796">
                <a:tc gridSpan="2">
                  <a:txBody>
                    <a:bodyPr/>
                    <a:lstStyle/>
                    <a:p>
                      <a:pPr algn="l" fontAlgn="t"/>
                      <a:r>
                        <a:rPr lang="nl-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chemeClr val="bg1">
                          <a:lumMod val="75000"/>
                        </a:schemeClr>
                      </a:solidFill>
                      <a:prstDash val="solid"/>
                      <a:round/>
                      <a:headEnd type="none" w="med" len="med"/>
                      <a:tailEnd type="none" w="med" len="med"/>
                    </a:lnR>
                    <a:lnT>
                      <a:noFill/>
                    </a:lnT>
                    <a:lnB>
                      <a:noFill/>
                    </a:lnB>
                    <a:solidFill>
                      <a:srgbClr val="7EB572"/>
                    </a:solidFill>
                  </a:tcPr>
                </a:tc>
                <a:tc hMerge="1">
                  <a:txBody>
                    <a:bodyPr/>
                    <a:lstStyle/>
                    <a:p>
                      <a:endParaRPr lang="en-NL"/>
                    </a:p>
                  </a:txBody>
                  <a:tcPr/>
                </a:tc>
                <a:tc gridSpan="8">
                  <a:txBody>
                    <a:bodyPr/>
                    <a:lstStyle/>
                    <a:p>
                      <a:pPr algn="ctr" fontAlgn="t"/>
                      <a:r>
                        <a:rPr lang="nl-NL" sz="1000" b="0" i="0" u="none" strike="noStrike">
                          <a:solidFill>
                            <a:srgbClr val="000000"/>
                          </a:solidFill>
                          <a:effectLst/>
                          <a:latin typeface="Verdana" panose="020B0604030504040204" pitchFamily="34" charset="0"/>
                        </a:rPr>
                        <a:t> </a:t>
                      </a:r>
                    </a:p>
                  </a:txBody>
                  <a:tcPr marL="7620" marR="7620" marT="7620" marB="0">
                    <a:lnL w="12700" cap="flat" cmpd="sng" algn="ctr">
                      <a:solidFill>
                        <a:schemeClr val="bg1">
                          <a:lumMod val="75000"/>
                        </a:schemeClr>
                      </a:solidFill>
                      <a:prstDash val="solid"/>
                      <a:round/>
                      <a:headEnd type="none" w="med" len="med"/>
                      <a:tailEnd type="none" w="med" len="med"/>
                    </a:lnL>
                    <a:lnR>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lnT w="12700" cap="flat" cmpd="sng" algn="ctr">
                      <a:solidFill>
                        <a:srgbClr val="F2F2F2"/>
                      </a:solidFill>
                      <a:prstDash val="solid"/>
                      <a:round/>
                      <a:headEnd type="none" w="med" len="med"/>
                      <a:tailEnd type="none" w="med" len="med"/>
                    </a:lnT>
                  </a:tcPr>
                </a:tc>
                <a:tc hMerge="1">
                  <a:txBody>
                    <a:bodyPr/>
                    <a:lstStyle/>
                    <a:p>
                      <a:endParaRPr lang="en-NL"/>
                    </a:p>
                  </a:txBody>
                  <a:tcPr/>
                </a:tc>
                <a:tc hMerge="1">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nl-NL"/>
                    </a:p>
                  </a:txBody>
                  <a:tcPr/>
                </a:tc>
                <a:extLst>
                  <a:ext uri="{0D108BD9-81ED-4DB2-BD59-A6C34878D82A}">
                    <a16:rowId xmlns:a16="http://schemas.microsoft.com/office/drawing/2014/main" val="3516959528"/>
                  </a:ext>
                </a:extLst>
              </a:tr>
              <a:tr h="426267">
                <a:tc gridSpan="2">
                  <a:txBody>
                    <a:bodyPr/>
                    <a:lstStyle/>
                    <a:p>
                      <a:pPr algn="l" rtl="0" fontAlgn="ctr"/>
                      <a:r>
                        <a:rPr lang="nl-NL" sz="1000" b="0" i="1" u="none" strike="noStrike">
                          <a:solidFill>
                            <a:srgbClr val="000000"/>
                          </a:solidFill>
                          <a:effectLst/>
                          <a:latin typeface="Verdana" panose="020B0604030504040204" pitchFamily="34" charset="0"/>
                        </a:rPr>
                        <a:t>Zorgkosten (in EUR 1000) of FTE</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585303323"/>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2024</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nl-NL" sz="1000">
                          <a:latin typeface="Verdana" panose="020B0604030504040204" pitchFamily="34" charset="0"/>
                          <a:ea typeface="Verdana" panose="020B0604030504040204" pitchFamily="34" charset="0"/>
                        </a:rPr>
                        <a:t> 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a:latin typeface="Verdana" panose="020B0604030504040204" pitchFamily="34" charset="0"/>
                          <a:ea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a:latin typeface="Verdana" panose="020B0604030504040204" pitchFamily="34" charset="0"/>
                          <a:ea typeface="Verdana" panose="020B0604030504040204" pitchFamily="34" charset="0"/>
                        </a:rPr>
                        <a:t>x </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a:latin typeface="Verdana" panose="020B0604030504040204" pitchFamily="34" charset="0"/>
                          <a:ea typeface="Verdana" panose="020B0604030504040204" pitchFamily="34" charset="0"/>
                        </a:rPr>
                        <a:t>0</a:t>
                      </a: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a:latin typeface="Verdana" panose="020B0604030504040204" pitchFamily="34" charset="0"/>
                          <a:ea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4201755329"/>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2025</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nl-NL" sz="1000" b="0">
                          <a:latin typeface="Verdana" panose="020B0604030504040204" pitchFamily="34" charset="0"/>
                          <a:ea typeface="Verdana" panose="020B0604030504040204" pitchFamily="34" charset="0"/>
                        </a:rPr>
                        <a:t> 22</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2,480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496</a:t>
                      </a: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598</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390901235"/>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2026</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nl-NL" sz="1000" b="0">
                          <a:latin typeface="Verdana" panose="020B0604030504040204" pitchFamily="34" charset="0"/>
                          <a:ea typeface="Verdana" panose="020B0604030504040204" pitchFamily="34" charset="0"/>
                        </a:rPr>
                        <a:t>45</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5,143</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nl-NL" sz="1000" b="0">
                          <a:latin typeface="Verdana" panose="020B0604030504040204" pitchFamily="34" charset="0"/>
                          <a:ea typeface="Verdana" panose="020B0604030504040204" pitchFamily="34" charset="0"/>
                        </a:rPr>
                        <a:t> 1,066</a:t>
                      </a:r>
                    </a:p>
                  </a:txBody>
                  <a:tcPr marL="7620" marR="7620" marT="7620" marB="0">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 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1,239</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593740747"/>
                  </a:ext>
                </a:extLst>
              </a:tr>
              <a:tr h="98714">
                <a:tc>
                  <a:txBody>
                    <a:bodyPr/>
                    <a:lstStyle/>
                    <a:p>
                      <a:pPr algn="l" fontAlgn="t"/>
                      <a:r>
                        <a:rPr lang="nl-NL" sz="4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nl-NL" sz="4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nl-NL" sz="400" b="1">
                          <a:latin typeface="Verdana" panose="020B0604030504040204" pitchFamily="34" charset="0"/>
                          <a:ea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nl-NL" sz="400">
                          <a:latin typeface="Verdana" panose="020B0604030504040204" pitchFamily="34" charset="0"/>
                          <a:ea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nl-NL" sz="400">
                          <a:latin typeface="Verdana" panose="020B0604030504040204" pitchFamily="34" charset="0"/>
                          <a:ea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nl-NL" sz="400">
                          <a:latin typeface="Verdana" panose="020B0604030504040204" pitchFamily="34" charset="0"/>
                          <a:ea typeface="Verdana" panose="020B0604030504040204" pitchFamily="34" charset="0"/>
                        </a:rPr>
                        <a:t> </a:t>
                      </a:r>
                    </a:p>
                  </a:txBody>
                  <a:tcPr marL="7620" marR="7620" marT="7620" marB="0">
                    <a:lnL>
                      <a:noFill/>
                    </a:lnL>
                    <a:lnR w="12700" cap="flat" cmpd="sng" algn="ctr">
                      <a:solidFill>
                        <a:schemeClr val="bg1">
                          <a:lumMod val="75000"/>
                        </a:schemeClr>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nl-NL" sz="400">
                          <a:latin typeface="Verdana" panose="020B0604030504040204" pitchFamily="34" charset="0"/>
                          <a:ea typeface="Verdana" panose="020B0604030504040204" pitchFamily="34" charset="0"/>
                        </a:rPr>
                        <a:t> </a:t>
                      </a:r>
                    </a:p>
                  </a:txBody>
                  <a:tcPr marL="7620" marR="7620" marT="7620" marB="0">
                    <a:lnL w="12700" cap="flat" cmpd="sng" algn="ctr">
                      <a:solidFill>
                        <a:schemeClr val="bg1">
                          <a:lumMod val="75000"/>
                        </a:schemeClr>
                      </a:solidFill>
                      <a:prstDash val="solid"/>
                      <a:round/>
                      <a:headEnd type="none" w="med" len="med"/>
                      <a:tailEnd type="none" w="med" len="med"/>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nl-NL" sz="400">
                          <a:latin typeface="Verdana" panose="020B0604030504040204" pitchFamily="34" charset="0"/>
                          <a:ea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endParaRPr lang="nl-NL" sz="400">
                        <a:latin typeface="Verdana" panose="020B0604030504040204" pitchFamily="34" charset="0"/>
                        <a:ea typeface="Verdana" panose="020B0604030504040204" pitchFamily="34" charset="0"/>
                      </a:endParaRP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endParaRPr lang="nl-NL" sz="400">
                        <a:latin typeface="Verdana" panose="020B0604030504040204" pitchFamily="34" charset="0"/>
                        <a:ea typeface="Verdana" panose="020B0604030504040204" pitchFamily="34" charset="0"/>
                      </a:endParaRP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extLst>
                  <a:ext uri="{0D108BD9-81ED-4DB2-BD59-A6C34878D82A}">
                    <a16:rowId xmlns:a16="http://schemas.microsoft.com/office/drawing/2014/main" val="228499642"/>
                  </a:ext>
                </a:extLst>
              </a:tr>
              <a:tr h="270266">
                <a:tc gridSpan="2">
                  <a:txBody>
                    <a:bodyPr/>
                    <a:lstStyle/>
                    <a:p>
                      <a:pPr algn="l" rtl="0" fontAlgn="ctr"/>
                      <a:r>
                        <a:rPr lang="nl-NL" sz="900" b="1" i="0" u="none" strike="noStrike">
                          <a:solidFill>
                            <a:srgbClr val="000000"/>
                          </a:solidFill>
                          <a:effectLst/>
                          <a:latin typeface="Verdana" panose="020B0604030504040204" pitchFamily="34" charset="0"/>
                        </a:rPr>
                        <a:t>Cum. impact t/m 2026</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ctr"/>
                      <a:r>
                        <a:rPr lang="nl-NL" sz="1000" b="1">
                          <a:latin typeface="Verdana" panose="020B0604030504040204" pitchFamily="34" charset="0"/>
                          <a:ea typeface="Verdana" panose="020B0604030504040204" pitchFamily="34" charset="0"/>
                        </a:rPr>
                        <a:t> 67</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nl-NL" sz="1000" b="1">
                          <a:latin typeface="Verdana" panose="020B0604030504040204" pitchFamily="34" charset="0"/>
                          <a:ea typeface="Verdana" panose="020B0604030504040204" pitchFamily="34" charset="0"/>
                        </a:rPr>
                        <a:t>x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nl-NL" sz="1000" b="1">
                          <a:latin typeface="Verdana" panose="020B0604030504040204" pitchFamily="34" charset="0"/>
                          <a:ea typeface="Verdana" panose="020B0604030504040204" pitchFamily="34" charset="0"/>
                        </a:rPr>
                        <a:t>7.623 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nl-NL" sz="1000" b="1">
                          <a:latin typeface="Verdana" panose="020B0604030504040204" pitchFamily="34" charset="0"/>
                          <a:ea typeface="Verdana" panose="020B0604030504040204" pitchFamily="34" charset="0"/>
                        </a:rPr>
                        <a:t>x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nl-NL" sz="1000" b="1">
                          <a:latin typeface="Verdana" panose="020B0604030504040204" pitchFamily="34" charset="0"/>
                          <a:ea typeface="Verdana" panose="020B0604030504040204" pitchFamily="34" charset="0"/>
                        </a:rPr>
                        <a:t> 1,525</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nl-NL" sz="1000" b="1">
                          <a:latin typeface="Verdana" panose="020B0604030504040204" pitchFamily="34" charset="0"/>
                          <a:ea typeface="Verdana" panose="020B0604030504040204" pitchFamily="34" charset="0"/>
                        </a:rPr>
                        <a:t>x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nl-NL" sz="1000" b="1">
                          <a:latin typeface="Verdana" panose="020B0604030504040204" pitchFamily="34" charset="0"/>
                          <a:ea typeface="Verdana" panose="020B0604030504040204" pitchFamily="34" charset="0"/>
                        </a:rPr>
                        <a:t>1,837</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nl-NL" sz="1000" b="1">
                          <a:latin typeface="Verdana" panose="020B0604030504040204" pitchFamily="34" charset="0"/>
                          <a:ea typeface="Verdana" panose="020B0604030504040204" pitchFamily="34" charset="0"/>
                        </a:rPr>
                        <a:t>x</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724753538"/>
                  </a:ext>
                </a:extLst>
              </a:tr>
            </a:tbl>
          </a:graphicData>
        </a:graphic>
      </p:graphicFrame>
      <p:cxnSp>
        <p:nvCxnSpPr>
          <p:cNvPr id="27" name="Rechte verbindingslijn met pijl 26">
            <a:extLst>
              <a:ext uri="{FF2B5EF4-FFF2-40B4-BE49-F238E27FC236}">
                <a16:creationId xmlns:a16="http://schemas.microsoft.com/office/drawing/2014/main" id="{842EF926-E8FA-1399-D558-6890F39D4EEA}"/>
              </a:ext>
            </a:extLst>
          </p:cNvPr>
          <p:cNvCxnSpPr/>
          <p:nvPr/>
        </p:nvCxnSpPr>
        <p:spPr>
          <a:xfrm flipV="1">
            <a:off x="809815" y="2424160"/>
            <a:ext cx="4203825" cy="603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8" name="Rechte verbindingslijn met pijl 27">
            <a:extLst>
              <a:ext uri="{FF2B5EF4-FFF2-40B4-BE49-F238E27FC236}">
                <a16:creationId xmlns:a16="http://schemas.microsoft.com/office/drawing/2014/main" id="{AE5B5BF5-EF88-B1BE-57DB-49A92A9A34A9}"/>
              </a:ext>
            </a:extLst>
          </p:cNvPr>
          <p:cNvCxnSpPr>
            <a:cxnSpLocks/>
          </p:cNvCxnSpPr>
          <p:nvPr/>
        </p:nvCxnSpPr>
        <p:spPr>
          <a:xfrm flipV="1">
            <a:off x="862626" y="3442674"/>
            <a:ext cx="4203825" cy="603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9" name="Rechte verbindingslijn met pijl 28">
            <a:extLst>
              <a:ext uri="{FF2B5EF4-FFF2-40B4-BE49-F238E27FC236}">
                <a16:creationId xmlns:a16="http://schemas.microsoft.com/office/drawing/2014/main" id="{776668C0-F261-9DF3-B822-A496FF367EC5}"/>
              </a:ext>
            </a:extLst>
          </p:cNvPr>
          <p:cNvCxnSpPr>
            <a:cxnSpLocks/>
          </p:cNvCxnSpPr>
          <p:nvPr/>
        </p:nvCxnSpPr>
        <p:spPr>
          <a:xfrm flipV="1">
            <a:off x="847538" y="4785605"/>
            <a:ext cx="4203825" cy="603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2" name="Tekstvak 31">
            <a:extLst>
              <a:ext uri="{FF2B5EF4-FFF2-40B4-BE49-F238E27FC236}">
                <a16:creationId xmlns:a16="http://schemas.microsoft.com/office/drawing/2014/main" id="{5712D898-2F28-4D4B-B2EA-2D7588167AF5}"/>
              </a:ext>
            </a:extLst>
          </p:cNvPr>
          <p:cNvSpPr txBox="1"/>
          <p:nvPr/>
        </p:nvSpPr>
        <p:spPr>
          <a:xfrm>
            <a:off x="1066010" y="4845377"/>
            <a:ext cx="3953715" cy="1654299"/>
          </a:xfrm>
          <a:prstGeom prst="rect">
            <a:avLst/>
          </a:prstGeom>
          <a:noFill/>
        </p:spPr>
        <p:txBody>
          <a:bodyPr wrap="square" lIns="91440" tIns="45720" rIns="91440" bIns="45720" rtlCol="0" anchor="t">
            <a:spAutoFit/>
          </a:bodyPr>
          <a:lstStyle/>
          <a:p>
            <a:pPr marL="85725" marR="0" lvl="0"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Zorgprofessionals zijn minder tijd kwijt aan afstemmen met andere professionals en het zorgnetwerk, omdat zij efficiënter communiceren (minder telefoneren, minder onduidelijkheid, uniformere werkstromen) </a:t>
            </a:r>
          </a:p>
          <a:p>
            <a:pPr marL="85725" marR="0" lvl="0"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Betere uitkomsten van zorg leiden tot lagere zorgkosten.</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De inwoner blijft langer en beter in beeld bij de eerste lijn of nulde lijn. Draagt hiermee bij aan preventie en voorkomen van (dure) vervolgzorg </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900" b="0" i="0" u="none" strike="noStrike" kern="1200" cap="none" spc="0" normalizeH="0" baseline="0" noProof="0">
                <a:ln>
                  <a:noFill/>
                </a:ln>
                <a:solidFill>
                  <a:srgbClr val="0C3512"/>
                </a:solidFill>
                <a:effectLst/>
                <a:uLnTx/>
                <a:uFillTx/>
                <a:latin typeface="Verdana"/>
                <a:ea typeface="Verdana"/>
                <a:cs typeface="Calibri"/>
              </a:rPr>
              <a:t>Inwoner en zorgnetwerk hebben meer regie op zorgproces, leidend tot minder onnodige zorghandelingen (ziekenhuisbezoek, huisartsconsulten, etc.)</a:t>
            </a:r>
          </a:p>
        </p:txBody>
      </p:sp>
      <p:sp>
        <p:nvSpPr>
          <p:cNvPr id="8" name="Rectangle 7">
            <a:extLst>
              <a:ext uri="{FF2B5EF4-FFF2-40B4-BE49-F238E27FC236}">
                <a16:creationId xmlns:a16="http://schemas.microsoft.com/office/drawing/2014/main" id="{BED94B70-34C3-8B91-D8EE-D4B9A9D746AA}"/>
              </a:ext>
            </a:extLst>
          </p:cNvPr>
          <p:cNvSpPr/>
          <p:nvPr/>
        </p:nvSpPr>
        <p:spPr>
          <a:xfrm>
            <a:off x="8412861" y="533401"/>
            <a:ext cx="2557408" cy="436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a:t>Getallen zijn indicatief en worden nog gevalideerd!!</a:t>
            </a:r>
          </a:p>
        </p:txBody>
      </p:sp>
    </p:spTree>
    <p:extLst>
      <p:ext uri="{BB962C8B-B14F-4D97-AF65-F5344CB8AC3E}">
        <p14:creationId xmlns:p14="http://schemas.microsoft.com/office/powerpoint/2010/main" val="652787685"/>
      </p:ext>
    </p:extLst>
  </p:cSld>
  <p:clrMapOvr>
    <a:masterClrMapping/>
  </p:clrMapOvr>
  <p:extLst>
    <p:ext uri="{6950BFC3-D8DA-4A85-94F7-54DA5524770B}">
      <p188:commentRel xmlns:p188="http://schemas.microsoft.com/office/powerpoint/2018/8/main" r:id="rId4"/>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fontScale="90000"/>
          </a:bodyPr>
          <a:lstStyle/>
          <a:p>
            <a:r>
              <a:rPr lang="nl-NL">
                <a:latin typeface="Verdana Pro"/>
                <a:cs typeface="Helvetica"/>
              </a:rPr>
              <a:t>Verdieping Thema 2: </a:t>
            </a:r>
            <a:br>
              <a:rPr lang="nl-NL">
                <a:latin typeface="Verdana Pro"/>
                <a:cs typeface="Helvetica"/>
              </a:rPr>
            </a:br>
            <a:r>
              <a:rPr lang="nl-NL">
                <a:latin typeface="Verdana Pro"/>
                <a:cs typeface="Helvetica"/>
              </a:rPr>
              <a:t>Dossier Inzage en Digitale Overdracht van (Acute) Zorg, ter ondersteuning van de basis op orde</a:t>
            </a:r>
            <a:endParaRPr lang="en-US"/>
          </a:p>
        </p:txBody>
      </p:sp>
      <p:pic>
        <p:nvPicPr>
          <p:cNvPr id="2" name="Afbeelding 1">
            <a:extLst>
              <a:ext uri="{FF2B5EF4-FFF2-40B4-BE49-F238E27FC236}">
                <a16:creationId xmlns:a16="http://schemas.microsoft.com/office/drawing/2014/main" id="{574989B0-DED8-632B-C6A7-C5B4FD91A6C8}"/>
              </a:ext>
            </a:extLst>
          </p:cNvPr>
          <p:cNvPicPr>
            <a:picLocks noChangeAspect="1"/>
          </p:cNvPicPr>
          <p:nvPr/>
        </p:nvPicPr>
        <p:blipFill>
          <a:blip r:embed="rId6"/>
          <a:stretch>
            <a:fillRect/>
          </a:stretch>
        </p:blipFill>
        <p:spPr>
          <a:xfrm>
            <a:off x="10300560" y="839874"/>
            <a:ext cx="1764485" cy="674084"/>
          </a:xfrm>
          <a:prstGeom prst="rect">
            <a:avLst/>
          </a:prstGeom>
        </p:spPr>
      </p:pic>
      <p:sp>
        <p:nvSpPr>
          <p:cNvPr id="3" name="Rechthoek 2">
            <a:extLst>
              <a:ext uri="{FF2B5EF4-FFF2-40B4-BE49-F238E27FC236}">
                <a16:creationId xmlns:a16="http://schemas.microsoft.com/office/drawing/2014/main" id="{B6F9AB6D-F640-D0E2-9D2F-D7E01599F396}"/>
              </a:ext>
            </a:extLst>
          </p:cNvPr>
          <p:cNvSpPr/>
          <p:nvPr/>
        </p:nvSpPr>
        <p:spPr>
          <a:xfrm>
            <a:off x="10270080" y="1369300"/>
            <a:ext cx="1800000" cy="180000"/>
          </a:xfrm>
          <a:prstGeom prst="rect">
            <a:avLst/>
          </a:prstGeom>
          <a:solidFill>
            <a:schemeClr val="bg2">
              <a:alpha val="70000"/>
            </a:schemeClr>
          </a:solidFill>
          <a:ln w="38100">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5" name="Rechthoek 4">
            <a:extLst>
              <a:ext uri="{FF2B5EF4-FFF2-40B4-BE49-F238E27FC236}">
                <a16:creationId xmlns:a16="http://schemas.microsoft.com/office/drawing/2014/main" id="{EBF329AE-FCE9-A8B3-EE1D-071BD3A5229C}"/>
              </a:ext>
            </a:extLst>
          </p:cNvPr>
          <p:cNvSpPr/>
          <p:nvPr/>
        </p:nvSpPr>
        <p:spPr>
          <a:xfrm>
            <a:off x="10270080" y="839901"/>
            <a:ext cx="900000" cy="504000"/>
          </a:xfrm>
          <a:prstGeom prst="rect">
            <a:avLst/>
          </a:prstGeom>
          <a:solidFill>
            <a:schemeClr val="bg2">
              <a:alpha val="70000"/>
            </a:schemeClr>
          </a:solidFill>
          <a:ln w="38100">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7" name="Rechthoek 6">
            <a:extLst>
              <a:ext uri="{FF2B5EF4-FFF2-40B4-BE49-F238E27FC236}">
                <a16:creationId xmlns:a16="http://schemas.microsoft.com/office/drawing/2014/main" id="{8E319CD1-2D37-6251-CC21-28FA9CA30733}"/>
              </a:ext>
            </a:extLst>
          </p:cNvPr>
          <p:cNvSpPr/>
          <p:nvPr/>
        </p:nvSpPr>
        <p:spPr>
          <a:xfrm>
            <a:off x="11170080" y="839107"/>
            <a:ext cx="900000" cy="50400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Tree>
    <p:extLst>
      <p:ext uri="{BB962C8B-B14F-4D97-AF65-F5344CB8AC3E}">
        <p14:creationId xmlns:p14="http://schemas.microsoft.com/office/powerpoint/2010/main" val="2405371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B8CD1-7761-73CE-D149-10CD350EB6B3}"/>
            </a:ext>
          </a:extLst>
        </p:cNvPr>
        <p:cNvGrpSpPr/>
        <p:nvPr/>
      </p:nvGrpSpPr>
      <p:grpSpPr>
        <a:xfrm>
          <a:off x="0" y="0"/>
          <a:ext cx="0" cy="0"/>
          <a:chOff x="0" y="0"/>
          <a:chExt cx="0" cy="0"/>
        </a:xfrm>
      </p:grpSpPr>
      <p:sp>
        <p:nvSpPr>
          <p:cNvPr id="2" name="Rechthoek 1">
            <a:extLst>
              <a:ext uri="{FF2B5EF4-FFF2-40B4-BE49-F238E27FC236}">
                <a16:creationId xmlns:a16="http://schemas.microsoft.com/office/drawing/2014/main" id="{360CFC8C-B747-A293-F322-7C3D6A19B30C}"/>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E63A4460-4777-A517-4C1D-291F40060DA8}"/>
              </a:ext>
            </a:extLst>
          </p:cNvPr>
          <p:cNvSpPr/>
          <p:nvPr/>
        </p:nvSpPr>
        <p:spPr>
          <a:xfrm>
            <a:off x="11221643" y="6376589"/>
            <a:ext cx="965408" cy="473008"/>
          </a:xfrm>
          <a:prstGeom prst="rect">
            <a:avLst/>
          </a:prstGeom>
          <a:blipFill dpi="0" rotWithShape="1">
            <a:blip r:embed="rId3"/>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itle 7">
            <a:extLst>
              <a:ext uri="{FF2B5EF4-FFF2-40B4-BE49-F238E27FC236}">
                <a16:creationId xmlns:a16="http://schemas.microsoft.com/office/drawing/2014/main" id="{F39FDAFA-642C-41D3-EC25-55EF7B0CF5D2}"/>
              </a:ext>
            </a:extLst>
          </p:cNvPr>
          <p:cNvSpPr>
            <a:spLocks noGrp="1"/>
          </p:cNvSpPr>
          <p:nvPr>
            <p:ph type="title"/>
          </p:nvPr>
        </p:nvSpPr>
        <p:spPr>
          <a:xfrm>
            <a:off x="425301" y="465998"/>
            <a:ext cx="10544967" cy="504000"/>
          </a:xfrm>
        </p:spPr>
        <p:txBody>
          <a:bodyPr/>
          <a:lstStyle/>
          <a:p>
            <a:r>
              <a:rPr lang="nl-NL" sz="2800" b="1">
                <a:solidFill>
                  <a:srgbClr val="8C95CD"/>
                </a:solidFill>
                <a:latin typeface="Verdana Pro" panose="020B0604030504040204" pitchFamily="34" charset="0"/>
              </a:rPr>
              <a:t>Elektronische gegevensuitwisseling voor Dossier Inzage en Digitale Overdracht van (Acute) Zorg</a:t>
            </a:r>
            <a:r>
              <a:rPr lang="nl-NL" sz="2800">
                <a:latin typeface="Verdana Pro" panose="020B0604030504040204" pitchFamily="34" charset="0"/>
              </a:rPr>
              <a:t> </a:t>
            </a:r>
            <a:endParaRPr lang="en-GB"/>
          </a:p>
        </p:txBody>
      </p:sp>
      <p:sp>
        <p:nvSpPr>
          <p:cNvPr id="29" name="Slide Number Placeholder 64">
            <a:extLst>
              <a:ext uri="{FF2B5EF4-FFF2-40B4-BE49-F238E27FC236}">
                <a16:creationId xmlns:a16="http://schemas.microsoft.com/office/drawing/2014/main" id="{72CBF7A2-492E-93DF-CFBC-507DD5097C03}"/>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39</a:t>
            </a:fld>
            <a:endParaRPr lang="nl-NL" sz="900"/>
          </a:p>
        </p:txBody>
      </p:sp>
      <p:sp>
        <p:nvSpPr>
          <p:cNvPr id="14" name="Tijdelijke aanduiding voor inhoud 2">
            <a:extLst>
              <a:ext uri="{FF2B5EF4-FFF2-40B4-BE49-F238E27FC236}">
                <a16:creationId xmlns:a16="http://schemas.microsoft.com/office/drawing/2014/main" id="{6F30B373-715A-2E33-D1A8-4816947BBA8E}"/>
              </a:ext>
            </a:extLst>
          </p:cNvPr>
          <p:cNvSpPr>
            <a:spLocks noGrp="1"/>
          </p:cNvSpPr>
          <p:nvPr>
            <p:ph idx="1"/>
          </p:nvPr>
        </p:nvSpPr>
        <p:spPr>
          <a:xfrm>
            <a:off x="425302" y="2828260"/>
            <a:ext cx="11233171" cy="3548329"/>
          </a:xfrm>
        </p:spPr>
        <p:txBody>
          <a:bodyPr vert="horz" lIns="91440" tIns="45720" rIns="91440" bIns="45720" rtlCol="0" anchor="t">
            <a:noAutofit/>
          </a:bodyPr>
          <a:lstStyle/>
          <a:p>
            <a:pPr algn="just"/>
            <a:r>
              <a:rPr kumimoji="0" lang="nl-NL"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Elke organisatie en/of professional in het netwerk van zorg en welzijn houdt een apart dossier bij voor een inwoner of patiënt. Registratie vindt plaats in  silo’s binnen de kaders van een organisatie en volgens een specifieke ordening passend bij het domein en/of professie. </a:t>
            </a:r>
            <a:r>
              <a:rPr kumimoji="0" lang="nl-NL" b="0" i="0" u="none" strike="noStrike" kern="1200" cap="none" spc="0" normalizeH="0" baseline="0" noProof="0" dirty="0">
                <a:ln>
                  <a:noFill/>
                </a:ln>
                <a:effectLst/>
                <a:uLnTx/>
                <a:uFillTx/>
                <a:latin typeface="Verdana" panose="020B0604030504040204" pitchFamily="34" charset="0"/>
                <a:ea typeface="Calibri" panose="020F0502020204030204" pitchFamily="34" charset="0"/>
                <a:cs typeface="Arial" panose="020B0604020202020204" pitchFamily="34" charset="0"/>
              </a:rPr>
              <a:t>Nog steeds verlopen de stromen van communicatie en gegevensuitwisseling veelal via telefonisch contact, papieren brieven met de patiënt mee, veilige mail, point </a:t>
            </a:r>
            <a:r>
              <a:rPr kumimoji="0" lang="nl-NL" b="0" i="0" u="none" strike="noStrike" kern="1200" cap="none" spc="0" normalizeH="0" baseline="0" noProof="0" dirty="0" err="1">
                <a:ln>
                  <a:noFill/>
                </a:ln>
                <a:effectLst/>
                <a:uLnTx/>
                <a:uFillTx/>
                <a:latin typeface="Verdana" panose="020B0604030504040204" pitchFamily="34" charset="0"/>
                <a:ea typeface="Calibri" panose="020F0502020204030204" pitchFamily="34" charset="0"/>
                <a:cs typeface="Arial" panose="020B0604020202020204" pitchFamily="34" charset="0"/>
              </a:rPr>
              <a:t>to</a:t>
            </a:r>
            <a:r>
              <a:rPr kumimoji="0" lang="nl-NL" b="0" i="0" u="none" strike="noStrike" kern="1200" cap="none" spc="0" normalizeH="0" baseline="0" noProof="0" dirty="0">
                <a:ln>
                  <a:noFill/>
                </a:ln>
                <a:effectLst/>
                <a:uLnTx/>
                <a:uFillTx/>
                <a:latin typeface="Verdana" panose="020B0604030504040204" pitchFamily="34" charset="0"/>
                <a:ea typeface="Calibri" panose="020F0502020204030204" pitchFamily="34" charset="0"/>
                <a:cs typeface="Arial" panose="020B0604020202020204" pitchFamily="34" charset="0"/>
              </a:rPr>
              <a:t> point uitwisseling met een ingesloten PDF. </a:t>
            </a:r>
            <a:r>
              <a:rPr kumimoji="0" lang="nl-NL"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Hierdoor is het nodig dat elke organisatie of professional opnieuw de actuele informatie uitvraagt bij de inwoner. </a:t>
            </a:r>
            <a:r>
              <a:rPr kumimoji="0" lang="nl-NL" b="0" i="0" u="none" strike="noStrike" kern="1200" cap="none" spc="0" normalizeH="0" baseline="0" noProof="0" dirty="0">
                <a:ln>
                  <a:noFill/>
                </a:ln>
                <a:effectLst/>
                <a:uLnTx/>
                <a:uFillTx/>
                <a:latin typeface="Verdana" panose="020B0604030504040204" pitchFamily="34" charset="0"/>
                <a:ea typeface="Calibri" panose="020F0502020204030204" pitchFamily="34" charset="0"/>
                <a:cs typeface="Arial" panose="020B0604020202020204" pitchFamily="34" charset="0"/>
              </a:rPr>
              <a:t>Als </a:t>
            </a:r>
            <a:r>
              <a:rPr kumimoji="0" lang="nl-NL" b="0" i="0" u="none" strike="noStrike" kern="1200" cap="none" spc="0" normalizeH="0" baseline="0" noProof="0" dirty="0" err="1">
                <a:ln>
                  <a:noFill/>
                </a:ln>
                <a:effectLst/>
                <a:uLnTx/>
                <a:uFillTx/>
                <a:latin typeface="Verdana" panose="020B0604030504040204" pitchFamily="34" charset="0"/>
                <a:ea typeface="Calibri" panose="020F0502020204030204" pitchFamily="34" charset="0"/>
                <a:cs typeface="Arial" panose="020B0604020202020204" pitchFamily="34" charset="0"/>
              </a:rPr>
              <a:t>gevol</a:t>
            </a:r>
            <a:r>
              <a:rPr lang="nl-NL" dirty="0">
                <a:ea typeface="Calibri" panose="020F0502020204030204" pitchFamily="34" charset="0"/>
                <a:cs typeface="Arial" panose="020B0604020202020204" pitchFamily="34" charset="0"/>
              </a:rPr>
              <a:t>g</a:t>
            </a:r>
            <a:r>
              <a:rPr kumimoji="0" lang="nl-NL" b="0" i="0" u="none" strike="noStrike" kern="1200" cap="none" spc="0" normalizeH="0" baseline="0" noProof="0" dirty="0">
                <a:ln>
                  <a:noFill/>
                </a:ln>
                <a:effectLst/>
                <a:uLnTx/>
                <a:uFillTx/>
                <a:latin typeface="Verdana" panose="020B0604030504040204" pitchFamily="34" charset="0"/>
                <a:ea typeface="Calibri" panose="020F0502020204030204" pitchFamily="34" charset="0"/>
                <a:cs typeface="Arial" panose="020B0604020202020204" pitchFamily="34" charset="0"/>
              </a:rPr>
              <a:t> leidt dit nog steeds tot veel onnodige extra tijd, foutgevoeligheid en frustratie in het proces.</a:t>
            </a:r>
            <a:r>
              <a:rPr kumimoji="0" lang="nl-NL"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 </a:t>
            </a:r>
          </a:p>
          <a:p>
            <a:pPr algn="just"/>
            <a:r>
              <a:rPr kumimoji="0" lang="nl-NL"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Daarnaast is er géén uniform werkproces voor het overdragen van patiënten en is afwijkend per type overdracht. Door dossier inzage en digitale overdracht van zorg mogelijk te maken, kan deze informatie direct ingezien worden (raadplegen) en zo mogelijk worden hergebruikt, waardoor er minder administratieve lasten zijn en de zorg efficiënter geleverd kan worden. </a:t>
            </a:r>
            <a:endParaRPr kumimoji="0" lang="nl-NL" b="0" i="0" u="none" strike="noStrike" kern="1200" cap="none" spc="0" normalizeH="0" baseline="0" noProof="0" dirty="0">
              <a:ln>
                <a:noFill/>
              </a:ln>
              <a:effectLst/>
              <a:uLnTx/>
              <a:uFillTx/>
            </a:endParaRPr>
          </a:p>
          <a:p>
            <a:pPr algn="just"/>
            <a:r>
              <a:rPr lang="nl-NL" dirty="0"/>
              <a:t>Het realiseren van een gedragen regionale data- en applicatie architectuur en technische inrichting van de digitale omgeving op basis van landelijke standaarden. Voor het beschikbaar stellen van de data in de bronsystemen, worden specifieke </a:t>
            </a:r>
            <a:r>
              <a:rPr lang="nl-NL" dirty="0" err="1"/>
              <a:t>specifieke</a:t>
            </a:r>
            <a:r>
              <a:rPr lang="nl-NL" dirty="0"/>
              <a:t> </a:t>
            </a:r>
            <a:r>
              <a:rPr lang="nl-NL" dirty="0" err="1"/>
              <a:t>RTA’s</a:t>
            </a:r>
            <a:r>
              <a:rPr lang="nl-NL" dirty="0"/>
              <a:t> voor dossier inzage en digitale overdracht incl. gestructureerde registratie aan de bron ontwikkeld. Deze </a:t>
            </a:r>
            <a:r>
              <a:rPr lang="nl-NL" dirty="0" err="1"/>
              <a:t>RTA’s</a:t>
            </a:r>
            <a:r>
              <a:rPr lang="nl-NL" dirty="0"/>
              <a:t> sluiten aan op de landelijke (informatie) standaarden, welke geprioriteerd zijn onder </a:t>
            </a:r>
            <a:r>
              <a:rPr lang="nl-NL" dirty="0" err="1"/>
              <a:t>Wegiz</a:t>
            </a:r>
            <a:r>
              <a:rPr lang="nl-NL" dirty="0"/>
              <a:t>. De werkprocessen worden gesteund door data beschikbaarheid en het op orde brengen van de basis. De </a:t>
            </a:r>
            <a:r>
              <a:rPr kumimoji="0" lang="nl-NL" i="0" u="none" strike="noStrike" kern="1200" cap="none" spc="0" normalizeH="0" baseline="0" noProof="0" dirty="0">
                <a:ln>
                  <a:noFill/>
                </a:ln>
                <a:effectLst/>
                <a:uLnTx/>
                <a:uFillTx/>
              </a:rPr>
              <a:t>vijf geprioriteerde gegevensdiensten onder </a:t>
            </a:r>
            <a:r>
              <a:rPr kumimoji="0" lang="nl-NL" i="0" u="none" strike="noStrike" kern="1200" cap="none" spc="0" normalizeH="0" baseline="0" noProof="0" dirty="0" err="1">
                <a:ln>
                  <a:noFill/>
                </a:ln>
                <a:effectLst/>
                <a:uLnTx/>
                <a:uFillTx/>
              </a:rPr>
              <a:t>Wegiz</a:t>
            </a:r>
            <a:r>
              <a:rPr kumimoji="0" lang="nl-NL" i="0" u="none" strike="noStrike" kern="1200" cap="none" spc="0" normalizeH="0" baseline="0" noProof="0" dirty="0">
                <a:ln>
                  <a:noFill/>
                </a:ln>
                <a:effectLst/>
                <a:uLnTx/>
                <a:uFillTx/>
              </a:rPr>
              <a:t>. Vervolgens realiseren van de infrastructuur (incl. integratie met landelijke generieke functies) volgens de plateauplanning.</a:t>
            </a:r>
            <a:endParaRPr lang="nl-NL" dirty="0"/>
          </a:p>
          <a:p>
            <a:pPr algn="just"/>
            <a:r>
              <a:rPr lang="nl-NL" dirty="0">
                <a:effectLst/>
              </a:rPr>
              <a:t>De </a:t>
            </a:r>
            <a:r>
              <a:rPr lang="nl-NL" dirty="0" err="1">
                <a:effectLst/>
              </a:rPr>
              <a:t>usescases</a:t>
            </a:r>
            <a:r>
              <a:rPr lang="nl-NL" dirty="0">
                <a:effectLst/>
              </a:rPr>
              <a:t> 2.1 t/m 2.4 dragen bij aan de standaardisatie van de datasets, welke voorwaardelijk is voor het gestructureerd beschikbaar stellen van deze data via </a:t>
            </a:r>
            <a:r>
              <a:rPr lang="nl-NL" dirty="0" err="1">
                <a:effectLst/>
              </a:rPr>
              <a:t>usecase</a:t>
            </a:r>
            <a:r>
              <a:rPr lang="nl-NL" dirty="0">
                <a:effectLst/>
              </a:rPr>
              <a:t> 2.5, de netwerkzorg viewer en bijbehorende digitale zorgtoepassingen als het 360-graden beel</a:t>
            </a:r>
            <a:r>
              <a:rPr lang="nl-NL" dirty="0"/>
              <a:t>d van een inwoner, het actuele medicatie overzicht en de proactieve zorgplanning voor passende zorg met inzichtelijke behandelwensen en beperkingen</a:t>
            </a:r>
            <a:r>
              <a:rPr lang="nl-NL" dirty="0">
                <a:effectLst/>
              </a:rPr>
              <a:t>. </a:t>
            </a:r>
          </a:p>
          <a:p>
            <a:pPr algn="just"/>
            <a:endParaRPr lang="nl-NL" dirty="0"/>
          </a:p>
        </p:txBody>
      </p:sp>
      <p:sp>
        <p:nvSpPr>
          <p:cNvPr id="15" name="Text Placeholder 8">
            <a:extLst>
              <a:ext uri="{FF2B5EF4-FFF2-40B4-BE49-F238E27FC236}">
                <a16:creationId xmlns:a16="http://schemas.microsoft.com/office/drawing/2014/main" id="{71FAFFB7-F58B-C237-7D8E-0B38E3E0E54C}"/>
              </a:ext>
            </a:extLst>
          </p:cNvPr>
          <p:cNvSpPr>
            <a:spLocks noGrp="1"/>
          </p:cNvSpPr>
          <p:nvPr>
            <p:ph type="body" sz="quarter" idx="10"/>
          </p:nvPr>
        </p:nvSpPr>
        <p:spPr>
          <a:xfrm>
            <a:off x="425302" y="1415768"/>
            <a:ext cx="11142921" cy="504000"/>
          </a:xfrm>
        </p:spPr>
        <p:txBody>
          <a:bodyPr/>
          <a:lstStyle/>
          <a:p>
            <a:pPr algn="just"/>
            <a:r>
              <a:rPr lang="nl-NL" dirty="0">
                <a:effectLst/>
              </a:rPr>
              <a:t>Om goed in te kunnen spelen op de stijgende zorgvraag en stijgende complexiteit van de zorgvraag is het belangrijk dat partijen in het netwerk rondom de inwoner, samen met de inwoner en elkaar goed en effectief samenwerken. Om samen te kunnen werken is beschikbaarheid en het delen van informatie essentieel. Dat is waar </a:t>
            </a:r>
            <a:r>
              <a:rPr lang="nl-NL" dirty="0" err="1">
                <a:effectLst/>
              </a:rPr>
              <a:t>Trijn</a:t>
            </a:r>
            <a:r>
              <a:rPr lang="nl-NL" dirty="0">
                <a:effectLst/>
              </a:rPr>
              <a:t> de digitaliseringsopgave in de regio ondersteunt. Thema 2 gaat over het beschikbaar stellen van relevante dossierinformatie en informatie die nodig is bij overdracht van zorg over de domeinen heen. De </a:t>
            </a:r>
            <a:r>
              <a:rPr lang="nl-NL" dirty="0" err="1">
                <a:effectLst/>
              </a:rPr>
              <a:t>usescases</a:t>
            </a:r>
            <a:r>
              <a:rPr lang="nl-NL" dirty="0">
                <a:effectLst/>
              </a:rPr>
              <a:t>, netwerkzorg viewer </a:t>
            </a:r>
            <a:r>
              <a:rPr lang="nl-NL" dirty="0"/>
              <a:t>é</a:t>
            </a:r>
            <a:r>
              <a:rPr lang="nl-NL" dirty="0">
                <a:effectLst/>
              </a:rPr>
              <a:t>n het fundament dragen bij aan het beschikbaar stellen van deze data. </a:t>
            </a:r>
          </a:p>
        </p:txBody>
      </p:sp>
      <p:sp>
        <p:nvSpPr>
          <p:cNvPr id="16" name="Rectangle: Top Corners Rounded 38">
            <a:hlinkClick r:id="rId4" action="ppaction://hlinksldjump"/>
            <a:extLst>
              <a:ext uri="{FF2B5EF4-FFF2-40B4-BE49-F238E27FC236}">
                <a16:creationId xmlns:a16="http://schemas.microsoft.com/office/drawing/2014/main" id="{786F24BB-56E9-D133-22EE-842A33194177}"/>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7" name="Graphic 16" descr="Introductiepagina silhouet">
            <a:hlinkClick r:id="rId5" action="ppaction://hlinksldjump"/>
            <a:extLst>
              <a:ext uri="{FF2B5EF4-FFF2-40B4-BE49-F238E27FC236}">
                <a16:creationId xmlns:a16="http://schemas.microsoft.com/office/drawing/2014/main" id="{95C3A5F8-BEA6-0238-1C6A-2DC524E0A4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18" name="Rectangle: Top Corners Rounded 1">
            <a:hlinkClick r:id="rId8" action="ppaction://hlinksldjump"/>
            <a:extLst>
              <a:ext uri="{FF2B5EF4-FFF2-40B4-BE49-F238E27FC236}">
                <a16:creationId xmlns:a16="http://schemas.microsoft.com/office/drawing/2014/main" id="{3AA8EC2D-5879-6E10-7C1A-1C71796B052A}"/>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4" name="Rectangle: Top Corners Rounded 1">
            <a:hlinkClick r:id="rId9" action="ppaction://hlinksldjump"/>
            <a:extLst>
              <a:ext uri="{FF2B5EF4-FFF2-40B4-BE49-F238E27FC236}">
                <a16:creationId xmlns:a16="http://schemas.microsoft.com/office/drawing/2014/main" id="{FB22A666-D53F-A084-A4A8-1F27C12F7A0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5" name="Rectangle: Top Corners Rounded 1">
            <a:hlinkClick r:id="rId10" action="ppaction://hlinksldjump"/>
            <a:extLst>
              <a:ext uri="{FF2B5EF4-FFF2-40B4-BE49-F238E27FC236}">
                <a16:creationId xmlns:a16="http://schemas.microsoft.com/office/drawing/2014/main" id="{D2CE46E1-897A-1703-7758-80C0345B2664}"/>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6" name="Rectangle: Top Corners Rounded 1">
            <a:hlinkClick r:id="rId11" action="ppaction://hlinksldjump"/>
            <a:extLst>
              <a:ext uri="{FF2B5EF4-FFF2-40B4-BE49-F238E27FC236}">
                <a16:creationId xmlns:a16="http://schemas.microsoft.com/office/drawing/2014/main" id="{2F3C80B7-C7F3-83A7-0011-07AE00E4EFB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7" name="Rectangle: Top Corners Rounded 1">
            <a:hlinkClick r:id="rId12" action="ppaction://hlinksldjump"/>
            <a:extLst>
              <a:ext uri="{FF2B5EF4-FFF2-40B4-BE49-F238E27FC236}">
                <a16:creationId xmlns:a16="http://schemas.microsoft.com/office/drawing/2014/main" id="{558AECFF-D7B7-039D-E0F1-3F5D25FAEA93}"/>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28" name="Rectangle: Top Corners Rounded 1">
            <a:hlinkClick r:id="rId13" action="ppaction://hlinksldjump"/>
            <a:extLst>
              <a:ext uri="{FF2B5EF4-FFF2-40B4-BE49-F238E27FC236}">
                <a16:creationId xmlns:a16="http://schemas.microsoft.com/office/drawing/2014/main" id="{8616E722-EB2C-8CAB-B14B-647EBB8CA678}"/>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0" name="Rectangle: Top Corners Rounded 1">
            <a:hlinkClick r:id="rId14" action="ppaction://hlinksldjump"/>
            <a:extLst>
              <a:ext uri="{FF2B5EF4-FFF2-40B4-BE49-F238E27FC236}">
                <a16:creationId xmlns:a16="http://schemas.microsoft.com/office/drawing/2014/main" id="{5906B8B1-E14E-A530-1041-E558B6E9548B}"/>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1" name="Rectangle: Top Corners Rounded 1">
            <a:hlinkClick r:id="rId15" action="ppaction://hlinksldjump"/>
            <a:extLst>
              <a:ext uri="{FF2B5EF4-FFF2-40B4-BE49-F238E27FC236}">
                <a16:creationId xmlns:a16="http://schemas.microsoft.com/office/drawing/2014/main" id="{D6598630-532E-9C30-6A3F-2E3F18615028}"/>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2" name="Rectangle: Top Corners Rounded 1">
            <a:hlinkClick r:id="rId16" action="ppaction://hlinksldjump"/>
            <a:extLst>
              <a:ext uri="{FF2B5EF4-FFF2-40B4-BE49-F238E27FC236}">
                <a16:creationId xmlns:a16="http://schemas.microsoft.com/office/drawing/2014/main" id="{3465928B-5655-F081-DEFF-67B3D218FDB9}"/>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3" name="Rectangle: Top Corners Rounded 1">
            <a:hlinkClick r:id="rId17" action="ppaction://hlinksldjump"/>
            <a:extLst>
              <a:ext uri="{FF2B5EF4-FFF2-40B4-BE49-F238E27FC236}">
                <a16:creationId xmlns:a16="http://schemas.microsoft.com/office/drawing/2014/main" id="{D5F8552A-0300-EFAC-69CC-A9B4FD9ADCBC}"/>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4" name="Rectangle: Top Corners Rounded 1">
            <a:hlinkClick r:id="rId18" action="ppaction://hlinksldjump"/>
            <a:extLst>
              <a:ext uri="{FF2B5EF4-FFF2-40B4-BE49-F238E27FC236}">
                <a16:creationId xmlns:a16="http://schemas.microsoft.com/office/drawing/2014/main" id="{057215F3-9302-1B60-5401-9C715CE254F9}"/>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5" name="Rechthoek: afgeronde hoeken 34">
            <a:extLst>
              <a:ext uri="{FF2B5EF4-FFF2-40B4-BE49-F238E27FC236}">
                <a16:creationId xmlns:a16="http://schemas.microsoft.com/office/drawing/2014/main" id="{60F2D97C-B0B0-795E-6C67-6AFEC7015205}"/>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147227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353B1-15F0-4973-5E18-F1387624F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43B5E-AABB-6FA9-62A4-CB6A8F0F050B}"/>
              </a:ext>
            </a:extLst>
          </p:cNvPr>
          <p:cNvSpPr>
            <a:spLocks noGrp="1"/>
          </p:cNvSpPr>
          <p:nvPr>
            <p:ph type="title"/>
          </p:nvPr>
        </p:nvSpPr>
        <p:spPr>
          <a:xfrm>
            <a:off x="425302" y="465998"/>
            <a:ext cx="10856738" cy="504000"/>
          </a:xfrm>
        </p:spPr>
        <p:txBody>
          <a:bodyPr>
            <a:noAutofit/>
          </a:bodyPr>
          <a:lstStyle/>
          <a:p>
            <a:r>
              <a:rPr lang="nl-NL" sz="2800">
                <a:latin typeface="Verdana Pro" panose="020B0604030504040204" pitchFamily="34" charset="0"/>
              </a:rPr>
              <a:t>Introductie Thema 2: Dossier inzage en digitale overdracht van (Acute) Zorg binnen het netwerk</a:t>
            </a:r>
          </a:p>
        </p:txBody>
      </p:sp>
      <p:sp>
        <p:nvSpPr>
          <p:cNvPr id="4" name="Text Placeholder 3">
            <a:extLst>
              <a:ext uri="{FF2B5EF4-FFF2-40B4-BE49-F238E27FC236}">
                <a16:creationId xmlns:a16="http://schemas.microsoft.com/office/drawing/2014/main" id="{02D6B781-DA38-939B-7D38-5F4796968057}"/>
              </a:ext>
            </a:extLst>
          </p:cNvPr>
          <p:cNvSpPr>
            <a:spLocks noGrp="1"/>
          </p:cNvSpPr>
          <p:nvPr>
            <p:ph type="body" sz="quarter" idx="10"/>
          </p:nvPr>
        </p:nvSpPr>
        <p:spPr>
          <a:xfrm>
            <a:off x="425302" y="1332156"/>
            <a:ext cx="10544967" cy="504000"/>
          </a:xfrm>
        </p:spPr>
        <p:txBody>
          <a:bodyPr>
            <a:normAutofit/>
          </a:bodyPr>
          <a:lstStyle/>
          <a:p>
            <a:r>
              <a:rPr lang="nl-NL" sz="1200" b="1"/>
              <a:t>De reis van Theo in relatie tot de </a:t>
            </a:r>
            <a:r>
              <a:rPr lang="nl-NL" sz="1200" b="1" err="1"/>
              <a:t>use</a:t>
            </a:r>
            <a:r>
              <a:rPr lang="nl-NL" sz="1200" b="1"/>
              <a:t> cases en het fundament</a:t>
            </a:r>
          </a:p>
        </p:txBody>
      </p:sp>
      <p:sp>
        <p:nvSpPr>
          <p:cNvPr id="24" name="Tijdelijke aanduiding voor inhoud 2">
            <a:extLst>
              <a:ext uri="{FF2B5EF4-FFF2-40B4-BE49-F238E27FC236}">
                <a16:creationId xmlns:a16="http://schemas.microsoft.com/office/drawing/2014/main" id="{32CB32D2-2F7F-C287-1C38-2DCB9DEC3A52}"/>
              </a:ext>
            </a:extLst>
          </p:cNvPr>
          <p:cNvSpPr txBox="1">
            <a:spLocks/>
          </p:cNvSpPr>
          <p:nvPr/>
        </p:nvSpPr>
        <p:spPr>
          <a:xfrm>
            <a:off x="425302" y="3117440"/>
            <a:ext cx="1700483" cy="31072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Font typeface="Arial" panose="020B0604020202020204" pitchFamily="34" charset="0"/>
              <a:buNone/>
              <a:defRPr/>
            </a:pPr>
            <a:r>
              <a:rPr lang="nl-NL" sz="1200" b="1">
                <a:solidFill>
                  <a:srgbClr val="21BBEF"/>
                </a:solidFill>
              </a:rPr>
              <a:t>Persona Theo</a:t>
            </a:r>
          </a:p>
          <a:p>
            <a:pPr marL="179388" indent="-179388">
              <a:lnSpc>
                <a:spcPct val="100000"/>
              </a:lnSpc>
              <a:spcBef>
                <a:spcPts val="0"/>
              </a:spcBef>
              <a:spcAft>
                <a:spcPts val="600"/>
              </a:spcAft>
              <a:defRPr/>
            </a:pPr>
            <a:r>
              <a:rPr lang="nl-NL" sz="1200">
                <a:solidFill>
                  <a:prstClr val="black"/>
                </a:solidFill>
              </a:rPr>
              <a:t>Leeftijd: 82</a:t>
            </a:r>
          </a:p>
          <a:p>
            <a:pPr marL="179388" indent="-179388">
              <a:lnSpc>
                <a:spcPct val="100000"/>
              </a:lnSpc>
              <a:spcBef>
                <a:spcPts val="0"/>
              </a:spcBef>
              <a:spcAft>
                <a:spcPts val="600"/>
              </a:spcAft>
              <a:defRPr/>
            </a:pPr>
            <a:r>
              <a:rPr lang="nl-NL" sz="1200">
                <a:solidFill>
                  <a:prstClr val="black"/>
                </a:solidFill>
              </a:rPr>
              <a:t>Was getrouwd met Greet, zij is een jaar geleden overleden</a:t>
            </a:r>
          </a:p>
          <a:p>
            <a:pPr marL="179388" indent="-179388">
              <a:lnSpc>
                <a:spcPct val="100000"/>
              </a:lnSpc>
              <a:spcBef>
                <a:spcPts val="0"/>
              </a:spcBef>
              <a:spcAft>
                <a:spcPts val="600"/>
              </a:spcAf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Theo is in slechte conditie, licht dementerend en heeft thuiszorg</a:t>
            </a:r>
          </a:p>
          <a:p>
            <a:pPr marL="179388" indent="-179388">
              <a:lnSpc>
                <a:spcPct val="100000"/>
              </a:lnSpc>
              <a:spcBef>
                <a:spcPts val="0"/>
              </a:spcBef>
              <a:spcAft>
                <a:spcPts val="600"/>
              </a:spcAf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Hij is dol op het contact met zijn kinderen en kleinkinderen en houdt van vissen</a:t>
            </a:r>
            <a:endParaRPr lang="nl-NL" sz="1200">
              <a:solidFill>
                <a:prstClr val="black"/>
              </a:solidFill>
            </a:endParaRPr>
          </a:p>
        </p:txBody>
      </p:sp>
      <p:sp>
        <p:nvSpPr>
          <p:cNvPr id="25" name="Tijdelijke aanduiding voor inhoud 2">
            <a:extLst>
              <a:ext uri="{FF2B5EF4-FFF2-40B4-BE49-F238E27FC236}">
                <a16:creationId xmlns:a16="http://schemas.microsoft.com/office/drawing/2014/main" id="{834B9C48-F3F9-50BB-DAA8-DAD9A709CD58}"/>
              </a:ext>
            </a:extLst>
          </p:cNvPr>
          <p:cNvSpPr txBox="1">
            <a:spLocks/>
          </p:cNvSpPr>
          <p:nvPr/>
        </p:nvSpPr>
        <p:spPr>
          <a:xfrm>
            <a:off x="2125784" y="1667920"/>
            <a:ext cx="4413361" cy="4556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600"/>
              </a:spcAft>
              <a:buFont typeface="Arial" panose="020B0604020202020204" pitchFamily="34" charset="0"/>
              <a:buNone/>
            </a:pPr>
            <a:r>
              <a:rPr lang="nl-NL" sz="1200" b="1">
                <a:solidFill>
                  <a:srgbClr val="21BBEF"/>
                </a:solidFill>
              </a:rPr>
              <a:t>Reis van Theo</a:t>
            </a:r>
          </a:p>
          <a:p>
            <a:pPr algn="just">
              <a:lnSpc>
                <a:spcPct val="100000"/>
              </a:lnSpc>
              <a:spcBef>
                <a:spcPts val="0"/>
              </a:spcBef>
              <a:spcAft>
                <a:spcPts val="600"/>
              </a:spcAft>
              <a:buFont typeface="+mj-lt"/>
              <a:buAutoNum type="arabicPeriod"/>
            </a:pPr>
            <a:r>
              <a:rPr lang="nl-NL" sz="1200"/>
              <a:t>De mantelzorger belt 112 omdat Theo niet lekker wordt. Theo wordt opgehaald door een ambulance</a:t>
            </a:r>
          </a:p>
          <a:p>
            <a:pPr algn="just">
              <a:lnSpc>
                <a:spcPct val="100000"/>
              </a:lnSpc>
              <a:spcBef>
                <a:spcPts val="0"/>
              </a:spcBef>
              <a:spcAft>
                <a:spcPts val="600"/>
              </a:spcAft>
              <a:buFont typeface="+mj-lt"/>
              <a:buAutoNum type="arabicPeriod"/>
            </a:pPr>
            <a:r>
              <a:rPr lang="nl-NL" sz="1200"/>
              <a:t>Het ziekenhuis constateert een hersenbloeding bij Theo. Na eerste opvang in het ziekenhuis wordt hij tijdelijk opgenomen in een revalidatiecentrum</a:t>
            </a:r>
          </a:p>
          <a:p>
            <a:pPr algn="just">
              <a:lnSpc>
                <a:spcPct val="100000"/>
              </a:lnSpc>
              <a:spcBef>
                <a:spcPts val="0"/>
              </a:spcBef>
              <a:spcAft>
                <a:spcPts val="600"/>
              </a:spcAft>
              <a:buFont typeface="+mj-lt"/>
              <a:buAutoNum type="arabicPeriod"/>
            </a:pPr>
            <a:r>
              <a:rPr lang="nl-NL" sz="1200"/>
              <a:t>Tijdens zijn revalidatietraject wordt medicatie voorgeschreven en overleg gepleegd met de behandelend arts uit het ziekenhuis</a:t>
            </a:r>
          </a:p>
          <a:p>
            <a:pPr algn="just">
              <a:lnSpc>
                <a:spcPct val="100000"/>
              </a:lnSpc>
              <a:spcBef>
                <a:spcPts val="0"/>
              </a:spcBef>
              <a:spcAft>
                <a:spcPts val="600"/>
              </a:spcAft>
              <a:buFont typeface="+mj-lt"/>
              <a:buAutoNum type="arabicPeriod"/>
            </a:pPr>
            <a:r>
              <a:rPr lang="nl-NL" sz="1200"/>
              <a:t>Vanuit het revalidatiecentrum wordt Theo tijdelijk opgenomen in een verpleeghuis</a:t>
            </a:r>
          </a:p>
          <a:p>
            <a:pPr algn="just">
              <a:lnSpc>
                <a:spcPct val="100000"/>
              </a:lnSpc>
              <a:spcBef>
                <a:spcPts val="0"/>
              </a:spcBef>
              <a:spcAft>
                <a:spcPts val="600"/>
              </a:spcAft>
              <a:buFont typeface="+mj-lt"/>
              <a:buAutoNum type="arabicPeriod"/>
            </a:pPr>
            <a:r>
              <a:rPr lang="nl-NL" sz="1200"/>
              <a:t>Na zijn revalidatie gaat Theo thuis wonen, ondersteund door een wijkverpleegkundige</a:t>
            </a:r>
          </a:p>
          <a:p>
            <a:pPr algn="just">
              <a:lnSpc>
                <a:spcPct val="100000"/>
              </a:lnSpc>
              <a:spcBef>
                <a:spcPts val="0"/>
              </a:spcBef>
              <a:spcAft>
                <a:spcPts val="600"/>
              </a:spcAft>
              <a:buFont typeface="+mj-lt"/>
              <a:buAutoNum type="arabicPeriod"/>
            </a:pPr>
            <a:r>
              <a:rPr lang="nl-NL" sz="1200"/>
              <a:t>Na verloop van tijd merken de wijkverpleegkundige, huisarts, Theo’s familie en hij zelf dat thuis wonen niet meer gaat. Theo verhuist naar een verpleeghuis waar hij de rest van zijn leven zal wonen</a:t>
            </a:r>
          </a:p>
          <a:p>
            <a:pPr algn="just">
              <a:lnSpc>
                <a:spcPct val="100000"/>
              </a:lnSpc>
              <a:spcBef>
                <a:spcPts val="0"/>
              </a:spcBef>
              <a:spcAft>
                <a:spcPts val="600"/>
              </a:spcAft>
              <a:buFont typeface="+mj-lt"/>
              <a:buAutoNum type="arabicPeriod"/>
            </a:pPr>
            <a:r>
              <a:rPr lang="nl-NL" sz="1200"/>
              <a:t>Tijdens zijn verblijf in het verpleeghuis wordt hulp vanuit een GGZ instelling ingeschakeld omdat Theo agressief gedrag vertoond. Daarbij krijgt Theo last van een hoge bloeddruk, waarvoor de specialist ouderengeneeskunde medicatie voorschrijft</a:t>
            </a:r>
          </a:p>
        </p:txBody>
      </p:sp>
      <p:sp>
        <p:nvSpPr>
          <p:cNvPr id="30" name="Rectangle 29">
            <a:extLst>
              <a:ext uri="{FF2B5EF4-FFF2-40B4-BE49-F238E27FC236}">
                <a16:creationId xmlns:a16="http://schemas.microsoft.com/office/drawing/2014/main" id="{467B2518-E2C6-9506-39AC-4B189742FFAA}"/>
              </a:ext>
            </a:extLst>
          </p:cNvPr>
          <p:cNvSpPr/>
          <p:nvPr/>
        </p:nvSpPr>
        <p:spPr>
          <a:xfrm>
            <a:off x="6718762" y="1975073"/>
            <a:ext cx="3457633" cy="504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2.4 Acute zorg</a:t>
            </a:r>
          </a:p>
          <a:p>
            <a:pPr algn="ctr"/>
            <a:r>
              <a:rPr lang="nl-NL" sz="900">
                <a:solidFill>
                  <a:schemeClr val="tx1"/>
                </a:solidFill>
                <a:latin typeface="Verdana" panose="020B0604030504040204" pitchFamily="34" charset="0"/>
                <a:ea typeface="Verdana" panose="020B0604030504040204" pitchFamily="34" charset="0"/>
              </a:rPr>
              <a:t>Gegevensuitwisseling conform richtlijn Acute Zorg</a:t>
            </a:r>
            <a:endParaRPr lang="nl-NL" sz="700">
              <a:solidFill>
                <a:schemeClr val="tx1"/>
              </a:solidFill>
              <a:latin typeface="Verdana" panose="020B0604030504040204" pitchFamily="34" charset="0"/>
              <a:ea typeface="Verdana" panose="020B0604030504040204" pitchFamily="34" charset="0"/>
            </a:endParaRPr>
          </a:p>
        </p:txBody>
      </p:sp>
      <p:sp>
        <p:nvSpPr>
          <p:cNvPr id="31" name="Tijdelijke aanduiding voor inhoud 2">
            <a:extLst>
              <a:ext uri="{FF2B5EF4-FFF2-40B4-BE49-F238E27FC236}">
                <a16:creationId xmlns:a16="http://schemas.microsoft.com/office/drawing/2014/main" id="{0B993EFB-2891-B9D7-E2B3-0202C33B85B6}"/>
              </a:ext>
            </a:extLst>
          </p:cNvPr>
          <p:cNvSpPr txBox="1">
            <a:spLocks/>
          </p:cNvSpPr>
          <p:nvPr/>
        </p:nvSpPr>
        <p:spPr>
          <a:xfrm>
            <a:off x="6682764" y="1667287"/>
            <a:ext cx="3493632" cy="3962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Font typeface="Arial" panose="020B0604020202020204" pitchFamily="34" charset="0"/>
              <a:buNone/>
            </a:pPr>
            <a:r>
              <a:rPr lang="nl-NL" sz="1200" b="1">
                <a:solidFill>
                  <a:srgbClr val="21BBEF"/>
                </a:solidFill>
              </a:rPr>
              <a:t>Use cases Thema 2</a:t>
            </a:r>
          </a:p>
        </p:txBody>
      </p:sp>
      <p:cxnSp>
        <p:nvCxnSpPr>
          <p:cNvPr id="37" name="Straight Connector 36">
            <a:extLst>
              <a:ext uri="{FF2B5EF4-FFF2-40B4-BE49-F238E27FC236}">
                <a16:creationId xmlns:a16="http://schemas.microsoft.com/office/drawing/2014/main" id="{31B80DE1-22C1-6FE4-AEB8-4D013C86C54B}"/>
              </a:ext>
            </a:extLst>
          </p:cNvPr>
          <p:cNvCxnSpPr>
            <a:cxnSpLocks/>
            <a:endCxn id="30" idx="1"/>
          </p:cNvCxnSpPr>
          <p:nvPr/>
        </p:nvCxnSpPr>
        <p:spPr>
          <a:xfrm>
            <a:off x="6470154" y="2227073"/>
            <a:ext cx="24860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8" name="Tijdelijke aanduiding voor inhoud 2">
            <a:extLst>
              <a:ext uri="{FF2B5EF4-FFF2-40B4-BE49-F238E27FC236}">
                <a16:creationId xmlns:a16="http://schemas.microsoft.com/office/drawing/2014/main" id="{3594C40A-C88E-6D06-558B-CFEB03CA2817}"/>
              </a:ext>
            </a:extLst>
          </p:cNvPr>
          <p:cNvSpPr txBox="1">
            <a:spLocks/>
          </p:cNvSpPr>
          <p:nvPr/>
        </p:nvSpPr>
        <p:spPr>
          <a:xfrm>
            <a:off x="10320013" y="1667287"/>
            <a:ext cx="1561186" cy="4556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Font typeface="Arial" panose="020B0604020202020204" pitchFamily="34" charset="0"/>
              <a:buNone/>
            </a:pPr>
            <a:r>
              <a:rPr lang="nl-NL" sz="1200" b="1">
                <a:solidFill>
                  <a:srgbClr val="21BBEF"/>
                </a:solidFill>
              </a:rPr>
              <a:t>Fundament</a:t>
            </a:r>
          </a:p>
          <a:p>
            <a:pPr marL="0" indent="0" algn="just">
              <a:lnSpc>
                <a:spcPct val="100000"/>
              </a:lnSpc>
              <a:spcBef>
                <a:spcPts val="0"/>
              </a:spcBef>
              <a:spcAft>
                <a:spcPts val="600"/>
              </a:spcAft>
              <a:buNone/>
            </a:pPr>
            <a:r>
              <a:rPr lang="nl-NL" sz="1200"/>
              <a:t>Het fundament maakt inzage in het dossier van Theo mogelijk door real time data uit de verschillende bronsystemen binnen het netwerk op te halen en vervolgens te presenteren. Middels één digitale voordeur kan Theo zelf zijn dossier inzien en aanpassen waar nodig. (Zorg-) Professionals kunnen vanuit hun eigen systeem het dossier van Theo inzien.</a:t>
            </a:r>
          </a:p>
        </p:txBody>
      </p:sp>
      <p:pic>
        <p:nvPicPr>
          <p:cNvPr id="59" name="Afbeelding 5">
            <a:extLst>
              <a:ext uri="{FF2B5EF4-FFF2-40B4-BE49-F238E27FC236}">
                <a16:creationId xmlns:a16="http://schemas.microsoft.com/office/drawing/2014/main" id="{614E1542-ADA9-590A-C283-2E6F46516FAE}"/>
              </a:ext>
            </a:extLst>
          </p:cNvPr>
          <p:cNvPicPr>
            <a:picLocks noChangeAspect="1"/>
          </p:cNvPicPr>
          <p:nvPr/>
        </p:nvPicPr>
        <p:blipFill>
          <a:blip r:embed="rId3"/>
          <a:stretch>
            <a:fillRect/>
          </a:stretch>
        </p:blipFill>
        <p:spPr>
          <a:xfrm>
            <a:off x="650649" y="1667287"/>
            <a:ext cx="1249788" cy="1219306"/>
          </a:xfrm>
          <a:prstGeom prst="rect">
            <a:avLst/>
          </a:prstGeom>
        </p:spPr>
      </p:pic>
      <p:sp>
        <p:nvSpPr>
          <p:cNvPr id="6" name="Rectangle 5">
            <a:extLst>
              <a:ext uri="{FF2B5EF4-FFF2-40B4-BE49-F238E27FC236}">
                <a16:creationId xmlns:a16="http://schemas.microsoft.com/office/drawing/2014/main" id="{60FA634D-3DB0-2201-2A27-517C68A525BB}"/>
              </a:ext>
            </a:extLst>
          </p:cNvPr>
          <p:cNvSpPr/>
          <p:nvPr/>
        </p:nvSpPr>
        <p:spPr>
          <a:xfrm>
            <a:off x="6718762" y="2557685"/>
            <a:ext cx="3457633" cy="504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2.1 Medische overdracht</a:t>
            </a:r>
          </a:p>
          <a:p>
            <a:pPr algn="ctr"/>
            <a:r>
              <a:rPr lang="nl-NL" sz="900">
                <a:solidFill>
                  <a:schemeClr val="tx1"/>
                </a:solidFill>
                <a:latin typeface="Verdana" panose="020B0604030504040204" pitchFamily="34" charset="0"/>
                <a:ea typeface="Verdana" panose="020B0604030504040204" pitchFamily="34" charset="0"/>
              </a:rPr>
              <a:t>Basis patiëntgegevens voor medisch specialistische zorg</a:t>
            </a:r>
            <a:endParaRPr lang="nl-NL" sz="700">
              <a:solidFill>
                <a:schemeClr val="tx1"/>
              </a:solidFill>
              <a:latin typeface="Verdana" panose="020B0604030504040204" pitchFamily="34" charset="0"/>
              <a:ea typeface="Verdana" panose="020B0604030504040204" pitchFamily="34" charset="0"/>
            </a:endParaRPr>
          </a:p>
        </p:txBody>
      </p:sp>
      <p:cxnSp>
        <p:nvCxnSpPr>
          <p:cNvPr id="7" name="Straight Connector 6">
            <a:extLst>
              <a:ext uri="{FF2B5EF4-FFF2-40B4-BE49-F238E27FC236}">
                <a16:creationId xmlns:a16="http://schemas.microsoft.com/office/drawing/2014/main" id="{74238465-24BA-56E9-7B59-800FAD7E6E08}"/>
              </a:ext>
            </a:extLst>
          </p:cNvPr>
          <p:cNvCxnSpPr>
            <a:cxnSpLocks/>
            <a:endCxn id="6" idx="1"/>
          </p:cNvCxnSpPr>
          <p:nvPr/>
        </p:nvCxnSpPr>
        <p:spPr>
          <a:xfrm>
            <a:off x="6470154" y="2809685"/>
            <a:ext cx="24860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D947829-545B-8C32-998D-BB1E72CFF4FA}"/>
              </a:ext>
            </a:extLst>
          </p:cNvPr>
          <p:cNvSpPr/>
          <p:nvPr/>
        </p:nvSpPr>
        <p:spPr>
          <a:xfrm>
            <a:off x="6718762" y="3140297"/>
            <a:ext cx="3457633" cy="504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2.2 Medicatie overdracht</a:t>
            </a:r>
          </a:p>
          <a:p>
            <a:pPr algn="ctr"/>
            <a:r>
              <a:rPr lang="nl-NL" sz="900">
                <a:solidFill>
                  <a:schemeClr val="tx1"/>
                </a:solidFill>
                <a:latin typeface="Verdana" panose="020B0604030504040204" pitchFamily="34" charset="0"/>
                <a:ea typeface="Verdana" panose="020B0604030504040204" pitchFamily="34" charset="0"/>
              </a:rPr>
              <a:t>Medicatiegegevens, laboratorium gegevens en contra indicaties en overgevoeligheden</a:t>
            </a:r>
            <a:endParaRPr lang="nl-NL" sz="700">
              <a:solidFill>
                <a:schemeClr val="tx1"/>
              </a:solidFill>
              <a:latin typeface="Verdana" panose="020B0604030504040204" pitchFamily="34" charset="0"/>
              <a:ea typeface="Verdana" panose="020B0604030504040204" pitchFamily="34" charset="0"/>
            </a:endParaRPr>
          </a:p>
        </p:txBody>
      </p:sp>
      <p:cxnSp>
        <p:nvCxnSpPr>
          <p:cNvPr id="9" name="Straight Connector 8">
            <a:extLst>
              <a:ext uri="{FF2B5EF4-FFF2-40B4-BE49-F238E27FC236}">
                <a16:creationId xmlns:a16="http://schemas.microsoft.com/office/drawing/2014/main" id="{C8C95D34-4E59-4CC7-1B94-FC5B77E07778}"/>
              </a:ext>
            </a:extLst>
          </p:cNvPr>
          <p:cNvCxnSpPr>
            <a:cxnSpLocks/>
            <a:endCxn id="8" idx="1"/>
          </p:cNvCxnSpPr>
          <p:nvPr/>
        </p:nvCxnSpPr>
        <p:spPr>
          <a:xfrm>
            <a:off x="6470154" y="3392297"/>
            <a:ext cx="24860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E9ED007-0BAC-BBD1-966B-EF8ACD728EBD}"/>
              </a:ext>
            </a:extLst>
          </p:cNvPr>
          <p:cNvSpPr/>
          <p:nvPr/>
        </p:nvSpPr>
        <p:spPr>
          <a:xfrm>
            <a:off x="6718762" y="3722909"/>
            <a:ext cx="3457633" cy="504000"/>
          </a:xfrm>
          <a:prstGeom prst="rect">
            <a:avLst/>
          </a:prstGeom>
          <a:solidFill>
            <a:srgbClr val="F9FC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050" b="1">
                <a:solidFill>
                  <a:schemeClr val="tx1"/>
                </a:solidFill>
                <a:latin typeface="Verdana" panose="020B0604030504040204" pitchFamily="34" charset="0"/>
                <a:ea typeface="Verdana" panose="020B0604030504040204" pitchFamily="34" charset="0"/>
              </a:rPr>
              <a:t>2.3 Verpleegkundige overdracht</a:t>
            </a:r>
          </a:p>
          <a:p>
            <a:pPr algn="ctr"/>
            <a:r>
              <a:rPr lang="nl-NL" sz="900" err="1">
                <a:solidFill>
                  <a:schemeClr val="tx1"/>
                </a:solidFill>
                <a:latin typeface="Verdana" panose="020B0604030504040204" pitchFamily="34" charset="0"/>
                <a:ea typeface="Verdana" panose="020B0604030504040204" pitchFamily="34" charset="0"/>
              </a:rPr>
              <a:t>eOverdracht</a:t>
            </a:r>
            <a:endParaRPr lang="nl-NL" sz="700">
              <a:solidFill>
                <a:schemeClr val="tx1"/>
              </a:solidFill>
              <a:latin typeface="Verdana" panose="020B0604030504040204" pitchFamily="34" charset="0"/>
              <a:ea typeface="Verdana" panose="020B0604030504040204" pitchFamily="34" charset="0"/>
            </a:endParaRPr>
          </a:p>
        </p:txBody>
      </p:sp>
      <p:cxnSp>
        <p:nvCxnSpPr>
          <p:cNvPr id="11" name="Straight Connector 10">
            <a:extLst>
              <a:ext uri="{FF2B5EF4-FFF2-40B4-BE49-F238E27FC236}">
                <a16:creationId xmlns:a16="http://schemas.microsoft.com/office/drawing/2014/main" id="{0406C4FB-0449-E219-5FAB-6F967A0DD31B}"/>
              </a:ext>
            </a:extLst>
          </p:cNvPr>
          <p:cNvCxnSpPr>
            <a:cxnSpLocks/>
            <a:endCxn id="10" idx="1"/>
          </p:cNvCxnSpPr>
          <p:nvPr/>
        </p:nvCxnSpPr>
        <p:spPr>
          <a:xfrm>
            <a:off x="6470154" y="3974909"/>
            <a:ext cx="24860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Rectangle: Top Corners Rounded 38">
            <a:hlinkClick r:id="rId4" action="ppaction://hlinksldjump"/>
            <a:extLst>
              <a:ext uri="{FF2B5EF4-FFF2-40B4-BE49-F238E27FC236}">
                <a16:creationId xmlns:a16="http://schemas.microsoft.com/office/drawing/2014/main" id="{77B5AC0C-06C3-B5BB-73BC-4856C6AAD78E}"/>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26" name="Graphic 25" descr="Introductiepagina silhouet">
            <a:hlinkClick r:id="rId5" action="ppaction://hlinksldjump"/>
            <a:extLst>
              <a:ext uri="{FF2B5EF4-FFF2-40B4-BE49-F238E27FC236}">
                <a16:creationId xmlns:a16="http://schemas.microsoft.com/office/drawing/2014/main" id="{079CFAC1-01C9-1B05-8FBC-9D82BB9223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27" name="Rectangle: Top Corners Rounded 1">
            <a:hlinkClick r:id="rId8" action="ppaction://hlinksldjump"/>
            <a:extLst>
              <a:ext uri="{FF2B5EF4-FFF2-40B4-BE49-F238E27FC236}">
                <a16:creationId xmlns:a16="http://schemas.microsoft.com/office/drawing/2014/main" id="{F156F2E7-7D8C-28D1-80D3-BF9CCB744466}"/>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8" name="Rectangle: Top Corners Rounded 1">
            <a:hlinkClick r:id="rId9" action="ppaction://hlinksldjump"/>
            <a:extLst>
              <a:ext uri="{FF2B5EF4-FFF2-40B4-BE49-F238E27FC236}">
                <a16:creationId xmlns:a16="http://schemas.microsoft.com/office/drawing/2014/main" id="{AD8FCA98-3242-741B-A32A-98615DAB0BA0}"/>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9" name="Rectangle: Top Corners Rounded 1">
            <a:hlinkClick r:id="rId10" action="ppaction://hlinksldjump"/>
            <a:extLst>
              <a:ext uri="{FF2B5EF4-FFF2-40B4-BE49-F238E27FC236}">
                <a16:creationId xmlns:a16="http://schemas.microsoft.com/office/drawing/2014/main" id="{10161D9F-8A4A-D084-3417-44CC864FF7A1}"/>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2" name="Rectangle: Top Corners Rounded 1">
            <a:hlinkClick r:id="rId11" action="ppaction://hlinksldjump"/>
            <a:extLst>
              <a:ext uri="{FF2B5EF4-FFF2-40B4-BE49-F238E27FC236}">
                <a16:creationId xmlns:a16="http://schemas.microsoft.com/office/drawing/2014/main" id="{532D352B-2623-676F-5327-04915B96788C}"/>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3" name="Rectangle: Top Corners Rounded 1">
            <a:hlinkClick r:id="rId12" action="ppaction://hlinksldjump"/>
            <a:extLst>
              <a:ext uri="{FF2B5EF4-FFF2-40B4-BE49-F238E27FC236}">
                <a16:creationId xmlns:a16="http://schemas.microsoft.com/office/drawing/2014/main" id="{BB31DA1F-397E-5214-3C9D-6FD3B1C07032}"/>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34" name="Rectangle: Top Corners Rounded 1">
            <a:hlinkClick r:id="rId13" action="ppaction://hlinksldjump"/>
            <a:extLst>
              <a:ext uri="{FF2B5EF4-FFF2-40B4-BE49-F238E27FC236}">
                <a16:creationId xmlns:a16="http://schemas.microsoft.com/office/drawing/2014/main" id="{5663B5A8-AA36-567E-3EE4-CEFFC77F38A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5" name="Rectangle: Top Corners Rounded 1">
            <a:hlinkClick r:id="rId14" action="ppaction://hlinksldjump"/>
            <a:extLst>
              <a:ext uri="{FF2B5EF4-FFF2-40B4-BE49-F238E27FC236}">
                <a16:creationId xmlns:a16="http://schemas.microsoft.com/office/drawing/2014/main" id="{45B64C6B-4777-45CF-6858-3D5A6588E7E0}"/>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6" name="Rectangle: Top Corners Rounded 1">
            <a:hlinkClick r:id="rId15" action="ppaction://hlinksldjump"/>
            <a:extLst>
              <a:ext uri="{FF2B5EF4-FFF2-40B4-BE49-F238E27FC236}">
                <a16:creationId xmlns:a16="http://schemas.microsoft.com/office/drawing/2014/main" id="{3C590F2F-FFB8-CE58-0A5F-7F9109270DDC}"/>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8" name="Rectangle: Top Corners Rounded 1">
            <a:hlinkClick r:id="rId16" action="ppaction://hlinksldjump"/>
            <a:extLst>
              <a:ext uri="{FF2B5EF4-FFF2-40B4-BE49-F238E27FC236}">
                <a16:creationId xmlns:a16="http://schemas.microsoft.com/office/drawing/2014/main" id="{40117D32-E70C-AD0D-0D3D-6C5BBD46502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9" name="Rectangle: Top Corners Rounded 1">
            <a:hlinkClick r:id="rId17" action="ppaction://hlinksldjump"/>
            <a:extLst>
              <a:ext uri="{FF2B5EF4-FFF2-40B4-BE49-F238E27FC236}">
                <a16:creationId xmlns:a16="http://schemas.microsoft.com/office/drawing/2014/main" id="{9B93C291-DEBE-BE92-3319-21F32CF6A3B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0" name="Rectangle: Top Corners Rounded 1">
            <a:hlinkClick r:id="rId18" action="ppaction://hlinksldjump"/>
            <a:extLst>
              <a:ext uri="{FF2B5EF4-FFF2-40B4-BE49-F238E27FC236}">
                <a16:creationId xmlns:a16="http://schemas.microsoft.com/office/drawing/2014/main" id="{33B598E1-4430-D1AB-53C9-18D22359C67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5" name="Slide Number Placeholder 5">
            <a:extLst>
              <a:ext uri="{FF2B5EF4-FFF2-40B4-BE49-F238E27FC236}">
                <a16:creationId xmlns:a16="http://schemas.microsoft.com/office/drawing/2014/main" id="{515701E0-FFC1-D8B5-8A31-D99EF980E2A0}"/>
              </a:ext>
            </a:extLst>
          </p:cNvPr>
          <p:cNvSpPr>
            <a:spLocks noGrp="1"/>
          </p:cNvSpPr>
          <p:nvPr>
            <p:ph type="sldNum" sz="quarter" idx="4"/>
          </p:nvPr>
        </p:nvSpPr>
        <p:spPr>
          <a:xfrm>
            <a:off x="0" y="6553688"/>
            <a:ext cx="288001" cy="288000"/>
          </a:xfrm>
          <a:prstGeom prst="rect">
            <a:avLst/>
          </a:prstGeom>
        </p:spPr>
        <p:txBody>
          <a:bodyPr vert="horz" lIns="0" tIns="0" rIns="0" bIns="54000" rtlCol="0" anchor="ctr"/>
          <a:lstStyle>
            <a:lvl1pPr algn="r">
              <a:defRPr sz="912">
                <a:solidFill>
                  <a:srgbClr val="1B1C32"/>
                </a:solidFill>
                <a:latin typeface="+mn-lt"/>
                <a:cs typeface="HelveticaNowDisplay Bold" panose="020B080403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FC24F5-86FC-B34E-9C4E-2BC5AF42D9A6}" type="slidenum">
              <a:rPr kumimoji="0" lang="en-NL" sz="912" b="0" i="0" u="none" strike="noStrike" kern="1200" cap="none" spc="0" normalizeH="0" baseline="0" noProof="0" smtClean="0">
                <a:ln>
                  <a:noFill/>
                </a:ln>
                <a:solidFill>
                  <a:srgbClr val="1B1C32"/>
                </a:solidFill>
                <a:effectLst/>
                <a:uLnTx/>
                <a:uFillTx/>
                <a:latin typeface="Calibri"/>
                <a:ea typeface="Verdana" panose="020B0604030504040204" pitchFamily="34" charset="0"/>
                <a:cs typeface="HelveticaNowDisplay Bold" panose="020B080403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NL" sz="912" b="0" i="0" u="none" strike="noStrike" kern="1200" cap="none" spc="0" normalizeH="0" baseline="0" noProof="0">
              <a:ln>
                <a:noFill/>
              </a:ln>
              <a:solidFill>
                <a:srgbClr val="1B1C32"/>
              </a:solidFill>
              <a:effectLst/>
              <a:uLnTx/>
              <a:uFillTx/>
              <a:latin typeface="Calibri"/>
              <a:ea typeface="Verdana" panose="020B0604030504040204" pitchFamily="34" charset="0"/>
              <a:cs typeface="HelveticaNowDisplay Bold" panose="020B0804030202020204" pitchFamily="34" charset="0"/>
            </a:endParaRPr>
          </a:p>
        </p:txBody>
      </p:sp>
      <p:sp>
        <p:nvSpPr>
          <p:cNvPr id="3" name="Rechthoek: afgeronde hoeken 2">
            <a:extLst>
              <a:ext uri="{FF2B5EF4-FFF2-40B4-BE49-F238E27FC236}">
                <a16:creationId xmlns:a16="http://schemas.microsoft.com/office/drawing/2014/main" id="{6871DD77-C3C2-648C-D793-9D9279698BAC}"/>
              </a:ext>
            </a:extLst>
          </p:cNvPr>
          <p:cNvSpPr/>
          <p:nvPr/>
        </p:nvSpPr>
        <p:spPr>
          <a:xfrm>
            <a:off x="-1" y="65716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357892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63FF8D-C3BB-6880-B933-E9F45049C577}"/>
              </a:ext>
            </a:extLst>
          </p:cNvPr>
          <p:cNvSpPr>
            <a:spLocks noGrp="1"/>
          </p:cNvSpPr>
          <p:nvPr>
            <p:ph type="title"/>
          </p:nvPr>
        </p:nvSpPr>
        <p:spPr>
          <a:xfrm>
            <a:off x="520981" y="2728540"/>
            <a:ext cx="11150037" cy="1261351"/>
          </a:xfrm>
        </p:spPr>
        <p:txBody>
          <a:bodyPr>
            <a:normAutofit/>
          </a:bodyPr>
          <a:lstStyle/>
          <a:p>
            <a:r>
              <a:rPr lang="nl-NL" sz="2800" err="1"/>
              <a:t>Usecase</a:t>
            </a:r>
            <a:r>
              <a:rPr lang="nl-NL" sz="2800"/>
              <a:t> 2.1 – Medische Overdracht</a:t>
            </a:r>
            <a:br>
              <a:rPr lang="nl-NL" sz="2800"/>
            </a:br>
            <a:r>
              <a:rPr lang="nl-NL" sz="2800"/>
              <a:t>(</a:t>
            </a:r>
            <a:r>
              <a:rPr lang="nl-NL" sz="2800" err="1"/>
              <a:t>Basisgegevensset</a:t>
            </a:r>
            <a:r>
              <a:rPr lang="nl-NL" sz="2800"/>
              <a:t> Zorg Medisch Specialistische Zorg)</a:t>
            </a:r>
            <a:endParaRPr lang="en-NL" sz="2800">
              <a:cs typeface="Helvetica"/>
            </a:endParaRPr>
          </a:p>
        </p:txBody>
      </p:sp>
    </p:spTree>
    <p:extLst>
      <p:ext uri="{BB962C8B-B14F-4D97-AF65-F5344CB8AC3E}">
        <p14:creationId xmlns:p14="http://schemas.microsoft.com/office/powerpoint/2010/main" val="2805089498"/>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4EC3-4D42-C015-9724-12F38451A704}"/>
              </a:ext>
            </a:extLst>
          </p:cNvPr>
          <p:cNvSpPr>
            <a:spLocks noGrp="1"/>
          </p:cNvSpPr>
          <p:nvPr>
            <p:ph type="title"/>
          </p:nvPr>
        </p:nvSpPr>
        <p:spPr/>
        <p:txBody>
          <a:bodyPr/>
          <a:lstStyle/>
          <a:p>
            <a:r>
              <a:rPr lang="en-GB" err="1"/>
              <a:t>Medische</a:t>
            </a:r>
            <a:r>
              <a:rPr lang="en-GB"/>
              <a:t> </a:t>
            </a:r>
            <a:r>
              <a:rPr lang="en-GB" err="1"/>
              <a:t>Overdracht</a:t>
            </a:r>
            <a:r>
              <a:rPr lang="en-GB"/>
              <a:t> – </a:t>
            </a:r>
            <a:r>
              <a:rPr lang="en-GB" err="1"/>
              <a:t>Ambitie</a:t>
            </a:r>
            <a:endParaRPr lang="en-GB"/>
          </a:p>
        </p:txBody>
      </p:sp>
      <p:sp>
        <p:nvSpPr>
          <p:cNvPr id="18" name="Text Placeholder 17">
            <a:extLst>
              <a:ext uri="{FF2B5EF4-FFF2-40B4-BE49-F238E27FC236}">
                <a16:creationId xmlns:a16="http://schemas.microsoft.com/office/drawing/2014/main" id="{45FBDAFE-D3E2-932A-4EE9-B694C63EB191}"/>
              </a:ext>
            </a:extLst>
          </p:cNvPr>
          <p:cNvSpPr>
            <a:spLocks noGrp="1"/>
          </p:cNvSpPr>
          <p:nvPr>
            <p:ph type="body" sz="quarter" idx="10"/>
          </p:nvPr>
        </p:nvSpPr>
        <p:spPr/>
        <p:txBody>
          <a:bodyPr/>
          <a:lstStyle/>
          <a:p>
            <a:r>
              <a:rPr lang="nl-NL" sz="1200"/>
              <a:t>Implementeren en adopteren van de </a:t>
            </a:r>
            <a:r>
              <a:rPr lang="nl-NL" sz="1200" err="1"/>
              <a:t>Basisgegevensset</a:t>
            </a:r>
            <a:r>
              <a:rPr lang="nl-NL" sz="1200"/>
              <a:t> Zorg (</a:t>
            </a:r>
            <a:r>
              <a:rPr lang="nl-NL" sz="1200" err="1"/>
              <a:t>BgZ</a:t>
            </a:r>
            <a:r>
              <a:rPr lang="nl-NL" sz="1200"/>
              <a:t>) in de Medisch Specialistische Zorg (MSZ), volgens de wettelijke bepaling, ten behoeve van de continuïteit, effectiviteit en efficiëntie van zorg. </a:t>
            </a:r>
          </a:p>
        </p:txBody>
      </p:sp>
      <p:sp>
        <p:nvSpPr>
          <p:cNvPr id="22" name="Text Placeholder 2">
            <a:extLst>
              <a:ext uri="{FF2B5EF4-FFF2-40B4-BE49-F238E27FC236}">
                <a16:creationId xmlns:a16="http://schemas.microsoft.com/office/drawing/2014/main" id="{382EAEEE-79D4-E96E-CAD9-9882898CF0D6}"/>
              </a:ext>
            </a:extLst>
          </p:cNvPr>
          <p:cNvSpPr txBox="1">
            <a:spLocks/>
          </p:cNvSpPr>
          <p:nvPr/>
        </p:nvSpPr>
        <p:spPr>
          <a:xfrm>
            <a:off x="425302" y="962670"/>
            <a:ext cx="10544967"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 name="Rechthoek: afgeronde hoeken 2">
            <a:extLst>
              <a:ext uri="{FF2B5EF4-FFF2-40B4-BE49-F238E27FC236}">
                <a16:creationId xmlns:a16="http://schemas.microsoft.com/office/drawing/2014/main" id="{0E93221F-D53E-B9DC-3601-6C27E7EEB660}"/>
              </a:ext>
            </a:extLst>
          </p:cNvPr>
          <p:cNvSpPr/>
          <p:nvPr/>
        </p:nvSpPr>
        <p:spPr>
          <a:xfrm>
            <a:off x="-1" y="-786986"/>
            <a:ext cx="122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1">
            <a:extLst>
              <a:ext uri="{FF2B5EF4-FFF2-40B4-BE49-F238E27FC236}">
                <a16:creationId xmlns:a16="http://schemas.microsoft.com/office/drawing/2014/main" id="{1C488C19-7363-1ED4-0D33-4B06BE8899AE}"/>
              </a:ext>
            </a:extLst>
          </p:cNvPr>
          <p:cNvSpPr/>
          <p:nvPr/>
        </p:nvSpPr>
        <p:spPr>
          <a:xfrm>
            <a:off x="3729896" y="5581202"/>
            <a:ext cx="7911644" cy="1183280"/>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Doorontwikkeling, na 2026:</a:t>
            </a:r>
          </a:p>
          <a:p>
            <a:pPr marL="228600" indent="-228600" algn="just">
              <a:spcAft>
                <a:spcPts val="200"/>
              </a:spcAft>
              <a:buFont typeface="+mj-lt"/>
              <a:buAutoNum type="arabicPeriod"/>
              <a:defRPr/>
            </a:pPr>
            <a:r>
              <a:rPr kumimoji="0" lang="nl-NL" sz="1000" b="0" i="0" u="none" strike="noStrike" kern="1200" cap="none" spc="0" normalizeH="0" baseline="0" noProof="0">
                <a:ln>
                  <a:noFill/>
                </a:ln>
                <a:solidFill>
                  <a:prstClr val="black"/>
                </a:solidFill>
                <a:effectLst/>
                <a:uLnTx/>
                <a:uFillTx/>
                <a:latin typeface="Verdana"/>
                <a:ea typeface="Verdana"/>
              </a:rPr>
              <a:t>We ondersteunen de gestandaardiseerde uitwisseling van </a:t>
            </a:r>
            <a:r>
              <a:rPr kumimoji="0" lang="nl-NL" sz="1000" b="0" i="0" u="none" strike="noStrike" kern="1200" cap="none" spc="0" normalizeH="0" baseline="0" noProof="0" err="1">
                <a:ln>
                  <a:noFill/>
                </a:ln>
                <a:solidFill>
                  <a:prstClr val="black"/>
                </a:solidFill>
                <a:effectLst/>
                <a:uLnTx/>
                <a:uFillTx/>
                <a:latin typeface="Verdana"/>
                <a:ea typeface="Verdana"/>
              </a:rPr>
              <a:t>BgZ</a:t>
            </a:r>
            <a:r>
              <a:rPr kumimoji="0" lang="nl-NL" sz="1000" b="0" i="0" u="none" strike="noStrike" kern="1200" cap="none" spc="0" normalizeH="0" baseline="0" noProof="0">
                <a:ln>
                  <a:noFill/>
                </a:ln>
                <a:solidFill>
                  <a:prstClr val="black"/>
                </a:solidFill>
                <a:effectLst/>
                <a:uLnTx/>
                <a:uFillTx/>
                <a:latin typeface="Verdana"/>
                <a:ea typeface="Verdana"/>
              </a:rPr>
              <a:t>-gegevens binnen de MSZ, ook in andere zorgsectoren en het sociaal domein. </a:t>
            </a:r>
          </a:p>
          <a:p>
            <a:pPr marL="228600" indent="-228600" algn="just">
              <a:spcAft>
                <a:spcPts val="200"/>
              </a:spcAft>
              <a:buFont typeface="+mj-lt"/>
              <a:buAutoNum type="arabicPeriod"/>
              <a:defRPr/>
            </a:pPr>
            <a:r>
              <a:rPr kumimoji="0" lang="nl-NL" sz="1000" b="0" i="0" u="none" strike="noStrike" kern="1200" cap="none" spc="0" normalizeH="0" baseline="0" noProof="0">
                <a:ln>
                  <a:noFill/>
                </a:ln>
                <a:solidFill>
                  <a:prstClr val="black"/>
                </a:solidFill>
                <a:effectLst/>
                <a:uLnTx/>
                <a:uFillTx/>
                <a:latin typeface="Verdana"/>
                <a:ea typeface="Verdana"/>
              </a:rPr>
              <a:t>Applicaties en zorg kennen geen grenzen, dus het is belangrijk om internationale standaarden te volgen, zoals de European </a:t>
            </a:r>
            <a:r>
              <a:rPr kumimoji="0" lang="nl-NL" sz="1000" b="0" i="0" u="none" strike="noStrike" kern="1200" cap="none" spc="0" normalizeH="0" baseline="0" noProof="0" err="1">
                <a:ln>
                  <a:noFill/>
                </a:ln>
                <a:solidFill>
                  <a:prstClr val="black"/>
                </a:solidFill>
                <a:effectLst/>
                <a:uLnTx/>
                <a:uFillTx/>
                <a:latin typeface="Verdana"/>
                <a:ea typeface="Verdana"/>
              </a:rPr>
              <a:t>Patient</a:t>
            </a:r>
            <a:r>
              <a:rPr kumimoji="0" lang="nl-NL" sz="1000" b="0" i="0" u="none" strike="noStrike" kern="1200" cap="none" spc="0" normalizeH="0" baseline="0" noProof="0">
                <a:ln>
                  <a:noFill/>
                </a:ln>
                <a:solidFill>
                  <a:prstClr val="black"/>
                </a:solidFill>
                <a:effectLst/>
                <a:uLnTx/>
                <a:uFillTx/>
                <a:latin typeface="Verdana"/>
                <a:ea typeface="Verdana"/>
              </a:rPr>
              <a:t> Summary (EPS) in de EHDS.</a:t>
            </a:r>
          </a:p>
          <a:p>
            <a:pPr marL="228600" indent="-228600" algn="just">
              <a:spcAft>
                <a:spcPts val="200"/>
              </a:spcAft>
              <a:buFont typeface="+mj-lt"/>
              <a:buAutoNum type="arabicPeriod"/>
              <a:defRPr/>
            </a:pPr>
            <a:r>
              <a:rPr kumimoji="0" lang="nl-NL" sz="1000" b="0" i="0" u="none" strike="noStrike" kern="1200" cap="none" spc="0" normalizeH="0" baseline="0" noProof="0">
                <a:ln>
                  <a:noFill/>
                </a:ln>
                <a:solidFill>
                  <a:prstClr val="black"/>
                </a:solidFill>
                <a:effectLst/>
                <a:uLnTx/>
                <a:uFillTx/>
                <a:latin typeface="Verdana"/>
                <a:ea typeface="Verdana"/>
              </a:rPr>
              <a:t>Daarnaast kunnen </a:t>
            </a:r>
            <a:r>
              <a:rPr kumimoji="0" lang="nl-NL" sz="1000" b="0" i="0" u="none" strike="noStrike" kern="1200" cap="none" spc="0" normalizeH="0" baseline="0" noProof="0" err="1">
                <a:ln>
                  <a:noFill/>
                </a:ln>
                <a:solidFill>
                  <a:prstClr val="black"/>
                </a:solidFill>
                <a:effectLst/>
                <a:uLnTx/>
                <a:uFillTx/>
                <a:latin typeface="Verdana"/>
                <a:ea typeface="Verdana"/>
              </a:rPr>
              <a:t>BgZ</a:t>
            </a:r>
            <a:r>
              <a:rPr kumimoji="0" lang="nl-NL" sz="1000" b="0" i="0" u="none" strike="noStrike" kern="1200" cap="none" spc="0" normalizeH="0" baseline="0" noProof="0">
                <a:ln>
                  <a:noFill/>
                </a:ln>
                <a:solidFill>
                  <a:prstClr val="black"/>
                </a:solidFill>
                <a:effectLst/>
                <a:uLnTx/>
                <a:uFillTx/>
                <a:latin typeface="Verdana"/>
                <a:ea typeface="Verdana"/>
              </a:rPr>
              <a:t>-gegevens en hun gebruik waardevol zijn voor secundaire doeleinden, zoals onderzoek en kwaliteitsverbetering.</a:t>
            </a:r>
            <a:endParaRPr kumimoji="0" lang="en-US" sz="1000" b="0" i="0" u="none" strike="noStrike" kern="1200" cap="none" spc="0" normalizeH="0" baseline="0" noProof="0">
              <a:ln>
                <a:noFill/>
              </a:ln>
              <a:solidFill>
                <a:prstClr val="black"/>
              </a:solidFill>
              <a:effectLst/>
              <a:uLnTx/>
              <a:uFillTx/>
              <a:latin typeface="Verdana"/>
              <a:ea typeface="Verdana"/>
              <a:cs typeface="Calibri"/>
            </a:endParaRPr>
          </a:p>
        </p:txBody>
      </p:sp>
      <p:sp>
        <p:nvSpPr>
          <p:cNvPr id="38" name="Rectangle: Rounded Corners 25">
            <a:extLst>
              <a:ext uri="{FF2B5EF4-FFF2-40B4-BE49-F238E27FC236}">
                <a16:creationId xmlns:a16="http://schemas.microsoft.com/office/drawing/2014/main" id="{B468546B-2C2A-0DF1-C4A2-F3194B3B1109}"/>
              </a:ext>
            </a:extLst>
          </p:cNvPr>
          <p:cNvSpPr/>
          <p:nvPr/>
        </p:nvSpPr>
        <p:spPr>
          <a:xfrm>
            <a:off x="-320420" y="1437359"/>
            <a:ext cx="3809577" cy="2692127"/>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39" name="TextBox 16">
            <a:extLst>
              <a:ext uri="{FF2B5EF4-FFF2-40B4-BE49-F238E27FC236}">
                <a16:creationId xmlns:a16="http://schemas.microsoft.com/office/drawing/2014/main" id="{16C770E5-F7EF-24D2-99DC-B0D500E3B171}"/>
              </a:ext>
            </a:extLst>
          </p:cNvPr>
          <p:cNvSpPr txBox="1"/>
          <p:nvPr/>
        </p:nvSpPr>
        <p:spPr>
          <a:xfrm>
            <a:off x="80917" y="1466303"/>
            <a:ext cx="3275894" cy="2477601"/>
          </a:xfrm>
          <a:prstGeom prst="rect">
            <a:avLst/>
          </a:prstGeom>
          <a:noFill/>
        </p:spPr>
        <p:txBody>
          <a:bodyPr wrap="square" rtlCol="0">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Kernproblematiek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Hoge administratielast door dubbel invoeren, extra controles door onvolledige informatie, het ongestructureerd ontvangen van data. </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Incorrecte behandeling van de inwoner door het niet hebben van volledige, juiste of meest recente informatie van de inwoner. </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Lagere kwaliteit zorg door het ontbreken van een gestructureerd overzicht bij verwijzing of informatie opvraag, waardoor het langer duurt tot de juiste zorg geleverd kan worden. </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Onnodig hoge vraaglast voor de inwoner, omdat meermaals om dezelfde informatie wordt gevraagd. </a:t>
            </a:r>
          </a:p>
        </p:txBody>
      </p:sp>
      <p:sp>
        <p:nvSpPr>
          <p:cNvPr id="40" name="Rectangle 18">
            <a:extLst>
              <a:ext uri="{FF2B5EF4-FFF2-40B4-BE49-F238E27FC236}">
                <a16:creationId xmlns:a16="http://schemas.microsoft.com/office/drawing/2014/main" id="{B80862D9-88C3-19C5-37BC-6EEFDB806A46}"/>
              </a:ext>
            </a:extLst>
          </p:cNvPr>
          <p:cNvSpPr/>
          <p:nvPr/>
        </p:nvSpPr>
        <p:spPr>
          <a:xfrm>
            <a:off x="3801978" y="3036082"/>
            <a:ext cx="7839563" cy="2268187"/>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rPr>
              <a:t>     Ambitie, eind 2026:</a:t>
            </a:r>
          </a:p>
          <a:p>
            <a:pPr marL="171450" marR="0" lvl="0" indent="-171450" algn="just" defTabSz="914400" rtl="0" eaLnBrk="1" fontAlgn="auto" latinLnBrk="0" hangingPunct="1">
              <a:lnSpc>
                <a:spcPct val="110000"/>
              </a:lnSpc>
              <a:spcBef>
                <a:spcPts val="0"/>
              </a:spcBef>
              <a:spcAft>
                <a:spcPts val="0"/>
              </a:spcAft>
              <a:buClrTx/>
              <a:buSzPts val="2000"/>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We faciliteren de continuïteit van de zorg tijdens de medische overdracht door informatie op te vragen en medisch specialisten te ondersteunen bij het vastleggen, delen en </a:t>
            </a:r>
            <a:r>
              <a:rPr lang="nl-NL" sz="1000">
                <a:solidFill>
                  <a:prstClr val="black"/>
                </a:solidFill>
                <a:latin typeface="Verdana"/>
                <a:ea typeface="Verdana"/>
                <a:cs typeface="Calibri"/>
                <a:sym typeface="Wingdings" panose="05000000000000000000" pitchFamily="2" charset="2"/>
              </a:rPr>
              <a:t>verwerken in het eigen systeem</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van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BgZ</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-gegevens.</a:t>
            </a:r>
            <a:endParaRPr lang="nl-NL" sz="1000" b="0" i="0" u="none" strike="noStrike" kern="1200" cap="none" spc="0" normalizeH="0" baseline="0" noProof="0">
              <a:ln>
                <a:noFill/>
              </a:ln>
              <a:solidFill>
                <a:prstClr val="black"/>
              </a:solidFill>
              <a:effectLst/>
              <a:uLnTx/>
              <a:uFillTx/>
              <a:latin typeface="Verdana"/>
              <a:ea typeface="Verdana"/>
              <a:cs typeface="Calibri"/>
            </a:endParaRPr>
          </a:p>
          <a:p>
            <a:pPr marL="171450" indent="-171450" algn="just">
              <a:lnSpc>
                <a:spcPct val="110000"/>
              </a:lnSpc>
              <a:buSzPts val="2000"/>
              <a:buFont typeface="Arial" panose="020B0604020202020204" pitchFamily="34" charset="0"/>
              <a:buChar char="•"/>
              <a:defRPr/>
            </a:pP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Dit realiseren we door de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BgZ</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-gegevensuitwisseling op te zetten. Dit omvat een beknopte samenvatting, oftewel de minimale set van (medische) patiëntgegevens die relevant is voor verschillende specialismen, ziektebeelden en beroepsgroepen, </a:t>
            </a:r>
            <a:r>
              <a:rPr lang="nl-NL" sz="1000">
                <a:solidFill>
                  <a:prstClr val="black"/>
                </a:solidFill>
                <a:latin typeface="Verdana"/>
                <a:ea typeface="Verdana"/>
                <a:cs typeface="Calibri"/>
                <a:sym typeface="Wingdings" panose="05000000000000000000" pitchFamily="2" charset="2"/>
              </a:rPr>
              <a:t>essentieel </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voor de continuïteit van zorg. De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BgZ</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speelt een cruciale rol in elk aspect van het geplande of ongeplande zorgproces en biedt medisch specialisten inzicht in de toestand van de patiënt op een bepaald moment.</a:t>
            </a:r>
            <a:endParaRPr lang="nl-NL" sz="1000" b="0" i="0" u="none" strike="noStrike" kern="1200" cap="none" spc="0" normalizeH="0" baseline="0" noProof="0">
              <a:ln>
                <a:noFill/>
              </a:ln>
              <a:solidFill>
                <a:prstClr val="black"/>
              </a:solidFill>
              <a:effectLst/>
              <a:uLnTx/>
              <a:uFillTx/>
              <a:latin typeface="Verdana"/>
              <a:ea typeface="Verdana"/>
              <a:cs typeface="Calibri"/>
            </a:endParaRPr>
          </a:p>
          <a:p>
            <a:pPr marL="171450" marR="0" lvl="0" indent="-171450" algn="just" defTabSz="914400" rtl="0" eaLnBrk="1" fontAlgn="auto" latinLnBrk="0" hangingPunct="1">
              <a:lnSpc>
                <a:spcPct val="110000"/>
              </a:lnSpc>
              <a:spcBef>
                <a:spcPts val="0"/>
              </a:spcBef>
              <a:spcAft>
                <a:spcPts val="0"/>
              </a:spcAft>
              <a:buClrTx/>
              <a:buSzPts val="2000"/>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Tegen eind 2025 kunnen MSZ-instellingen de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BgZ</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en relevante correspondentie digitaal verzenden en ontvangen, gebaseerd op de TA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Notified</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Pull en het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Twiin</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Afsprakenstelsel. Ze voldoen ook aan de kwaliteitsstandaard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BgZ</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(procesafspraken), de informatiestandaard </a:t>
            </a:r>
            <a:r>
              <a:rPr kumimoji="0" lang="nl-NL" sz="1000" b="0" i="0" u="none" strike="noStrike" kern="1200" cap="none" spc="0" normalizeH="0" baseline="0" noProof="0" err="1">
                <a:ln>
                  <a:noFill/>
                </a:ln>
                <a:solidFill>
                  <a:prstClr val="black"/>
                </a:solidFill>
                <a:effectLst/>
                <a:uLnTx/>
                <a:uFillTx/>
                <a:latin typeface="Verdana"/>
                <a:ea typeface="Verdana"/>
                <a:cs typeface="Calibri"/>
                <a:sym typeface="Wingdings" panose="05000000000000000000" pitchFamily="2" charset="2"/>
              </a:rPr>
              <a:t>BgZ</a:t>
            </a: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en de NEN 7540.</a:t>
            </a:r>
            <a:endParaRPr lang="nl-NL" sz="1000" b="0" i="0" u="none" strike="noStrike" kern="1200" cap="none" spc="0" normalizeH="0" baseline="0" noProof="0">
              <a:ln>
                <a:noFill/>
              </a:ln>
              <a:solidFill>
                <a:prstClr val="black"/>
              </a:solidFill>
              <a:effectLst/>
              <a:uLnTx/>
              <a:uFillTx/>
              <a:latin typeface="Verdana"/>
              <a:ea typeface="Verdana"/>
              <a:cs typeface="Calibri"/>
            </a:endParaRPr>
          </a:p>
          <a:p>
            <a:pPr marL="171450" marR="0" lvl="0" indent="-171450" algn="just" defTabSz="914400" rtl="0" eaLnBrk="1" fontAlgn="auto" latinLnBrk="0" hangingPunct="1">
              <a:lnSpc>
                <a:spcPct val="110000"/>
              </a:lnSpc>
              <a:spcBef>
                <a:spcPts val="0"/>
              </a:spcBef>
              <a:spcAft>
                <a:spcPts val="0"/>
              </a:spcAft>
              <a:buClrTx/>
              <a:buSzPts val="2000"/>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Dit alles leidt tot tijdsbesparing voor zorgprofessionals en betere zorguitkomsten door de verbeterde continuïteit van zorg binnen de MSZ.</a:t>
            </a:r>
            <a:endParaRPr kumimoji="0" lang="nl-NL" sz="1000" b="0" i="0" u="none" strike="noStrike" kern="1200" cap="none" spc="0" normalizeH="0" baseline="0" noProof="0">
              <a:ln>
                <a:noFill/>
              </a:ln>
              <a:solidFill>
                <a:prstClr val="black"/>
              </a:solidFill>
              <a:effectLst/>
              <a:uLnTx/>
              <a:uFillTx/>
              <a:latin typeface="Verdana"/>
              <a:ea typeface="Verdana"/>
              <a:cs typeface="Calibri"/>
            </a:endParaRPr>
          </a:p>
        </p:txBody>
      </p:sp>
      <p:sp>
        <p:nvSpPr>
          <p:cNvPr id="41" name="Rectangle: Rounded Corners 19">
            <a:extLst>
              <a:ext uri="{FF2B5EF4-FFF2-40B4-BE49-F238E27FC236}">
                <a16:creationId xmlns:a16="http://schemas.microsoft.com/office/drawing/2014/main" id="{395DBB51-2CD8-B945-6FB5-7548D2B7E2DB}"/>
              </a:ext>
            </a:extLst>
          </p:cNvPr>
          <p:cNvSpPr/>
          <p:nvPr/>
        </p:nvSpPr>
        <p:spPr>
          <a:xfrm>
            <a:off x="-228600" y="4259444"/>
            <a:ext cx="3717758" cy="2349450"/>
          </a:xfrm>
          <a:prstGeom prst="roundRect">
            <a:avLst/>
          </a:prstGeom>
          <a:solidFill>
            <a:srgbClr val="5BCBF3"/>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42" name="Rectangle 3">
            <a:extLst>
              <a:ext uri="{FF2B5EF4-FFF2-40B4-BE49-F238E27FC236}">
                <a16:creationId xmlns:a16="http://schemas.microsoft.com/office/drawing/2014/main" id="{7D0AE7B3-DE16-1DEF-A372-742132CD6473}"/>
              </a:ext>
            </a:extLst>
          </p:cNvPr>
          <p:cNvSpPr/>
          <p:nvPr/>
        </p:nvSpPr>
        <p:spPr>
          <a:xfrm>
            <a:off x="3801977" y="1459545"/>
            <a:ext cx="7839563" cy="1338092"/>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Huidige</a:t>
            </a:r>
            <a:r>
              <a:rPr lang="nl-NL" sz="1000" b="1">
                <a:solidFill>
                  <a:prstClr val="black"/>
                </a:solidFill>
                <a:latin typeface="Verdana"/>
                <a:ea typeface="Verdana"/>
              </a:rPr>
              <a:t> </a:t>
            </a:r>
            <a:r>
              <a:rPr kumimoji="0" lang="nl-NL" sz="1000" b="1" i="0" u="none" strike="noStrike" kern="1200" cap="none" spc="0" normalizeH="0" baseline="0" noProof="0">
                <a:ln>
                  <a:noFill/>
                </a:ln>
                <a:solidFill>
                  <a:prstClr val="black"/>
                </a:solidFill>
                <a:effectLst/>
                <a:uLnTx/>
                <a:uFillTx/>
                <a:latin typeface="Verdana"/>
                <a:ea typeface="Verdana"/>
                <a:cs typeface="+mn-cs"/>
              </a:rPr>
              <a:t>situatie</a:t>
            </a:r>
          </a:p>
          <a:p>
            <a:pPr algn="just">
              <a:spcAft>
                <a:spcPts val="600"/>
              </a:spcAft>
              <a:defRPr/>
            </a:pPr>
            <a:r>
              <a:rPr lang="nl-NL" sz="1000" b="0" i="0">
                <a:solidFill>
                  <a:srgbClr val="242424"/>
                </a:solidFill>
                <a:effectLst/>
                <a:latin typeface="Verdana" panose="020B0604030504040204" pitchFamily="34" charset="0"/>
                <a:ea typeface="Verdana" panose="020B0604030504040204" pitchFamily="34" charset="0"/>
              </a:rPr>
              <a:t>De digitale gegevensuitwisseling voor de </a:t>
            </a:r>
            <a:r>
              <a:rPr lang="nl-NL" sz="1000" b="0" i="0" err="1">
                <a:solidFill>
                  <a:srgbClr val="242424"/>
                </a:solidFill>
                <a:effectLst/>
                <a:latin typeface="Verdana" panose="020B0604030504040204" pitchFamily="34" charset="0"/>
                <a:ea typeface="Verdana" panose="020B0604030504040204" pitchFamily="34" charset="0"/>
              </a:rPr>
              <a:t>BgZ</a:t>
            </a:r>
            <a:r>
              <a:rPr lang="nl-NL" sz="1000" b="0" i="0">
                <a:solidFill>
                  <a:srgbClr val="242424"/>
                </a:solidFill>
                <a:effectLst/>
                <a:latin typeface="Verdana" panose="020B0604030504040204" pitchFamily="34" charset="0"/>
                <a:ea typeface="Verdana" panose="020B0604030504040204" pitchFamily="34" charset="0"/>
              </a:rPr>
              <a:t> binnen de MSZ is nog niet volledig geadopteerd, waardoor zorgprofessionals vaak niet over voldoende, juiste en actuele informatie beschikken en soms gegevens handmatig moeten invoeren, wat leidt tot hogere werkdruk en gebrek aan continuïteit in de zorg. Met 36.000 medische overdrachten en 275.000 </a:t>
            </a:r>
            <a:r>
              <a:rPr lang="nl-NL" sz="1000" b="0" i="0" err="1">
                <a:solidFill>
                  <a:srgbClr val="242424"/>
                </a:solidFill>
                <a:effectLst/>
                <a:latin typeface="Verdana" panose="020B0604030504040204" pitchFamily="34" charset="0"/>
                <a:ea typeface="Verdana" panose="020B0604030504040204" pitchFamily="34" charset="0"/>
              </a:rPr>
              <a:t>opvragingen</a:t>
            </a:r>
            <a:r>
              <a:rPr lang="nl-NL" sz="1000" b="0" i="0">
                <a:solidFill>
                  <a:srgbClr val="242424"/>
                </a:solidFill>
                <a:effectLst/>
                <a:latin typeface="Verdana" panose="020B0604030504040204" pitchFamily="34" charset="0"/>
                <a:ea typeface="Verdana" panose="020B0604030504040204" pitchFamily="34" charset="0"/>
              </a:rPr>
              <a:t> valt hier nog veel winst te halen. De samenwerking tussen zorgprofessionals mist instelling-overstijgende werkafspraken. Ziekenhuizen hebben VIPP5 doorlopen, maar voldoen nog niet aan de NEN 7540 (inclusief TA </a:t>
            </a:r>
            <a:r>
              <a:rPr lang="nl-NL" sz="1000" b="0" i="0" err="1">
                <a:solidFill>
                  <a:srgbClr val="242424"/>
                </a:solidFill>
                <a:effectLst/>
                <a:latin typeface="Verdana" panose="020B0604030504040204" pitchFamily="34" charset="0"/>
                <a:ea typeface="Verdana" panose="020B0604030504040204" pitchFamily="34" charset="0"/>
              </a:rPr>
              <a:t>Notified</a:t>
            </a:r>
            <a:r>
              <a:rPr lang="nl-NL" sz="1000" b="0" i="0">
                <a:solidFill>
                  <a:srgbClr val="242424"/>
                </a:solidFill>
                <a:effectLst/>
                <a:latin typeface="Verdana" panose="020B0604030504040204" pitchFamily="34" charset="0"/>
                <a:ea typeface="Verdana" panose="020B0604030504040204" pitchFamily="34" charset="0"/>
              </a:rPr>
              <a:t> Pull) en/of moeten nog overstappen op FHIR voor gegevensuitwisseling. Tot slot is met VIPP5 de </a:t>
            </a:r>
            <a:r>
              <a:rPr lang="nl-NL" sz="1000" b="0" i="0" err="1">
                <a:solidFill>
                  <a:srgbClr val="242424"/>
                </a:solidFill>
                <a:effectLst/>
                <a:latin typeface="Verdana" panose="020B0604030504040204" pitchFamily="34" charset="0"/>
                <a:ea typeface="Verdana" panose="020B0604030504040204" pitchFamily="34" charset="0"/>
              </a:rPr>
              <a:t>BgZ</a:t>
            </a:r>
            <a:r>
              <a:rPr lang="nl-NL" sz="1000" b="0" i="0">
                <a:solidFill>
                  <a:srgbClr val="242424"/>
                </a:solidFill>
                <a:effectLst/>
                <a:latin typeface="Verdana" panose="020B0604030504040204" pitchFamily="34" charset="0"/>
                <a:ea typeface="Verdana" panose="020B0604030504040204" pitchFamily="34" charset="0"/>
              </a:rPr>
              <a:t> alleen geïmplementeerd in ziekenhuizen; de klinieken in de regio hebben deze stap nog niet gezet.</a:t>
            </a:r>
            <a:endParaRPr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43" name="Oval 35">
            <a:extLst>
              <a:ext uri="{FF2B5EF4-FFF2-40B4-BE49-F238E27FC236}">
                <a16:creationId xmlns:a16="http://schemas.microsoft.com/office/drawing/2014/main" id="{C9B20FEE-D4F0-0AE2-310C-0C92D7A12B45}"/>
              </a:ext>
            </a:extLst>
          </p:cNvPr>
          <p:cNvSpPr>
            <a:spLocks/>
          </p:cNvSpPr>
          <p:nvPr/>
        </p:nvSpPr>
        <p:spPr>
          <a:xfrm>
            <a:off x="3621977" y="1382077"/>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44" name="Graphic 43">
            <a:extLst>
              <a:ext uri="{FF2B5EF4-FFF2-40B4-BE49-F238E27FC236}">
                <a16:creationId xmlns:a16="http://schemas.microsoft.com/office/drawing/2014/main" id="{F9A71AD8-AC9C-E7E5-C6AB-516FC6F2AFC7}"/>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3711977" y="1467579"/>
            <a:ext cx="180000" cy="180000"/>
          </a:xfrm>
          <a:prstGeom prst="rect">
            <a:avLst/>
          </a:prstGeom>
        </p:spPr>
      </p:pic>
      <p:sp>
        <p:nvSpPr>
          <p:cNvPr id="45" name="Oval 35">
            <a:extLst>
              <a:ext uri="{FF2B5EF4-FFF2-40B4-BE49-F238E27FC236}">
                <a16:creationId xmlns:a16="http://schemas.microsoft.com/office/drawing/2014/main" id="{3264BA0D-04BD-2B5E-483D-F82F3CD3FD9D}"/>
              </a:ext>
            </a:extLst>
          </p:cNvPr>
          <p:cNvSpPr>
            <a:spLocks/>
          </p:cNvSpPr>
          <p:nvPr/>
        </p:nvSpPr>
        <p:spPr>
          <a:xfrm>
            <a:off x="3621977" y="2917987"/>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46" name="Freeform: Shape 14">
            <a:extLst>
              <a:ext uri="{FF2B5EF4-FFF2-40B4-BE49-F238E27FC236}">
                <a16:creationId xmlns:a16="http://schemas.microsoft.com/office/drawing/2014/main" id="{8BCCE628-DB0E-DD7A-06EF-F5A4C49D1B7D}"/>
              </a:ext>
            </a:extLst>
          </p:cNvPr>
          <p:cNvSpPr/>
          <p:nvPr/>
        </p:nvSpPr>
        <p:spPr>
          <a:xfrm>
            <a:off x="3711977" y="3023453"/>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sp>
        <p:nvSpPr>
          <p:cNvPr id="47" name="Oval 35">
            <a:extLst>
              <a:ext uri="{FF2B5EF4-FFF2-40B4-BE49-F238E27FC236}">
                <a16:creationId xmlns:a16="http://schemas.microsoft.com/office/drawing/2014/main" id="{4C928219-D601-03A1-FC58-5B15AC7105BE}"/>
              </a:ext>
            </a:extLst>
          </p:cNvPr>
          <p:cNvSpPr>
            <a:spLocks/>
          </p:cNvSpPr>
          <p:nvPr/>
        </p:nvSpPr>
        <p:spPr>
          <a:xfrm>
            <a:off x="3621977" y="5405700"/>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48" name="Graphic 47" descr="A cloud though bubble">
            <a:extLst>
              <a:ext uri="{FF2B5EF4-FFF2-40B4-BE49-F238E27FC236}">
                <a16:creationId xmlns:a16="http://schemas.microsoft.com/office/drawing/2014/main" id="{13BA56AB-BBE0-C527-150C-F7FEBD26057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11977" y="5509359"/>
            <a:ext cx="180000" cy="159763"/>
          </a:xfrm>
          <a:prstGeom prst="rect">
            <a:avLst/>
          </a:prstGeom>
        </p:spPr>
      </p:pic>
      <p:grpSp>
        <p:nvGrpSpPr>
          <p:cNvPr id="49" name="Groep 48">
            <a:extLst>
              <a:ext uri="{FF2B5EF4-FFF2-40B4-BE49-F238E27FC236}">
                <a16:creationId xmlns:a16="http://schemas.microsoft.com/office/drawing/2014/main" id="{3B0DD620-6385-715E-45B4-747E37DEB3D1}"/>
              </a:ext>
            </a:extLst>
          </p:cNvPr>
          <p:cNvGrpSpPr/>
          <p:nvPr/>
        </p:nvGrpSpPr>
        <p:grpSpPr>
          <a:xfrm>
            <a:off x="550460" y="1376684"/>
            <a:ext cx="360000" cy="360000"/>
            <a:chOff x="80917" y="1266253"/>
            <a:chExt cx="360000" cy="360000"/>
          </a:xfrm>
        </p:grpSpPr>
        <p:sp>
          <p:nvSpPr>
            <p:cNvPr id="50" name="Oval 35">
              <a:extLst>
                <a:ext uri="{FF2B5EF4-FFF2-40B4-BE49-F238E27FC236}">
                  <a16:creationId xmlns:a16="http://schemas.microsoft.com/office/drawing/2014/main" id="{FBF00996-3A2F-B842-121A-7412DFF5D5AD}"/>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51" name="Graphic 50">
              <a:extLst>
                <a:ext uri="{FF2B5EF4-FFF2-40B4-BE49-F238E27FC236}">
                  <a16:creationId xmlns:a16="http://schemas.microsoft.com/office/drawing/2014/main" id="{CC18610D-0FFC-C61D-C895-5C6BA960386A}"/>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70917" y="1351755"/>
              <a:ext cx="180000" cy="180000"/>
            </a:xfrm>
            <a:prstGeom prst="rect">
              <a:avLst/>
            </a:prstGeom>
          </p:spPr>
        </p:pic>
      </p:grpSp>
      <p:sp>
        <p:nvSpPr>
          <p:cNvPr id="52" name="TextBox 16">
            <a:extLst>
              <a:ext uri="{FF2B5EF4-FFF2-40B4-BE49-F238E27FC236}">
                <a16:creationId xmlns:a16="http://schemas.microsoft.com/office/drawing/2014/main" id="{9AAF8BF1-134B-F20D-2859-DFE58242B502}"/>
              </a:ext>
            </a:extLst>
          </p:cNvPr>
          <p:cNvSpPr txBox="1"/>
          <p:nvPr/>
        </p:nvSpPr>
        <p:spPr>
          <a:xfrm>
            <a:off x="80917" y="4592958"/>
            <a:ext cx="3275894" cy="201593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Betere patiëntervaring</a:t>
            </a:r>
            <a:r>
              <a:rPr kumimoji="0" lang="nl-NL" sz="10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 minder herhaling van uitvraag tijdens </a:t>
            </a:r>
            <a:r>
              <a:rPr lang="nl-NL" sz="1000">
                <a:solidFill>
                  <a:schemeClr val="bg1"/>
                </a:solidFill>
                <a:latin typeface="Verdana" panose="020B0604030504040204" pitchFamily="34" charset="0"/>
                <a:ea typeface="Verdana" panose="020B0604030504040204" pitchFamily="34" charset="0"/>
                <a:cs typeface="Calibri"/>
              </a:rPr>
              <a:t>a</a:t>
            </a:r>
            <a:r>
              <a:rPr kumimoji="0" lang="nl-NL" sz="1000" b="0" i="0" u="none" strike="noStrike" kern="1200" cap="none" spc="0" normalizeH="0" baseline="0" noProof="0" err="1">
                <a:ln>
                  <a:noFill/>
                </a:ln>
                <a:solidFill>
                  <a:schemeClr val="bg1"/>
                </a:solidFill>
                <a:effectLst/>
                <a:uLnTx/>
                <a:uFillTx/>
                <a:latin typeface="Verdana" panose="020B0604030504040204" pitchFamily="34" charset="0"/>
                <a:ea typeface="Verdana" panose="020B0604030504040204" pitchFamily="34" charset="0"/>
                <a:cs typeface="Calibri"/>
              </a:rPr>
              <a:t>namnese</a:t>
            </a:r>
            <a:r>
              <a:rPr kumimoji="0" lang="nl-NL" sz="10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 intake, etc.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Lagere zorgkosten</a:t>
            </a:r>
            <a:r>
              <a:rPr kumimoji="0" lang="nl-NL" sz="10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 snellere, efficiëntere opname ongeplande zorgsituatie.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Behoud zorgprofessionals</a:t>
            </a:r>
            <a:r>
              <a:rPr kumimoji="0" lang="nl-NL" sz="10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 afname administratieve druk, efficiëntie en tijdbesparing bij het verkrijgen, registreren en verifiëren van de (zorg-)informatie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Verbeteren zorguitkomsten</a:t>
            </a:r>
            <a:r>
              <a:rPr kumimoji="0" lang="nl-NL" sz="10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a:rPr>
              <a:t>:, continuïteit en mogelijk voorkomen van fouten door inzicht in medicatie en allergieën. </a:t>
            </a:r>
          </a:p>
        </p:txBody>
      </p:sp>
      <p:sp>
        <p:nvSpPr>
          <p:cNvPr id="53" name="Gelijkbenige driehoek 52">
            <a:extLst>
              <a:ext uri="{FF2B5EF4-FFF2-40B4-BE49-F238E27FC236}">
                <a16:creationId xmlns:a16="http://schemas.microsoft.com/office/drawing/2014/main" id="{4A87EA53-12BB-CF16-5600-5FC2F33F0A8D}"/>
              </a:ext>
            </a:extLst>
          </p:cNvPr>
          <p:cNvSpPr/>
          <p:nvPr/>
        </p:nvSpPr>
        <p:spPr>
          <a:xfrm rot="10800000">
            <a:off x="6715433" y="2828103"/>
            <a:ext cx="1814052" cy="208949"/>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Gelijkbenige driehoek 53">
            <a:extLst>
              <a:ext uri="{FF2B5EF4-FFF2-40B4-BE49-F238E27FC236}">
                <a16:creationId xmlns:a16="http://schemas.microsoft.com/office/drawing/2014/main" id="{9D43405F-3942-A6FD-DAA4-22264ACF1FB1}"/>
              </a:ext>
            </a:extLst>
          </p:cNvPr>
          <p:cNvSpPr/>
          <p:nvPr/>
        </p:nvSpPr>
        <p:spPr>
          <a:xfrm rot="10800000">
            <a:off x="6715433" y="5365546"/>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Top Corners Rounded 38">
            <a:hlinkClick r:id="rId11" action="ppaction://hlinksldjump"/>
            <a:extLst>
              <a:ext uri="{FF2B5EF4-FFF2-40B4-BE49-F238E27FC236}">
                <a16:creationId xmlns:a16="http://schemas.microsoft.com/office/drawing/2014/main" id="{F6F0329B-D5E8-3AA3-69B4-D31AD4B2EADE}"/>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5" name="Graphic 4" descr="Introductiepagina silhouet">
            <a:hlinkClick r:id="rId12" action="ppaction://hlinksldjump"/>
            <a:extLst>
              <a:ext uri="{FF2B5EF4-FFF2-40B4-BE49-F238E27FC236}">
                <a16:creationId xmlns:a16="http://schemas.microsoft.com/office/drawing/2014/main" id="{559328B7-4031-B3B4-7AAA-4A9AF3DC494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136" y="147223"/>
            <a:ext cx="144000" cy="144000"/>
          </a:xfrm>
          <a:prstGeom prst="rect">
            <a:avLst/>
          </a:prstGeom>
        </p:spPr>
      </p:pic>
      <p:sp>
        <p:nvSpPr>
          <p:cNvPr id="6" name="Rectangle: Top Corners Rounded 1">
            <a:hlinkClick r:id="rId15" action="ppaction://hlinksldjump"/>
            <a:extLst>
              <a:ext uri="{FF2B5EF4-FFF2-40B4-BE49-F238E27FC236}">
                <a16:creationId xmlns:a16="http://schemas.microsoft.com/office/drawing/2014/main" id="{4973C4BC-244B-01B7-D3EA-4FA278487035}"/>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16" action="ppaction://hlinksldjump"/>
            <a:extLst>
              <a:ext uri="{FF2B5EF4-FFF2-40B4-BE49-F238E27FC236}">
                <a16:creationId xmlns:a16="http://schemas.microsoft.com/office/drawing/2014/main" id="{D9CDE3B7-89A8-E690-7743-EA144D74501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8" name="Rectangle: Top Corners Rounded 1">
            <a:hlinkClick r:id="rId17" action="ppaction://hlinksldjump"/>
            <a:extLst>
              <a:ext uri="{FF2B5EF4-FFF2-40B4-BE49-F238E27FC236}">
                <a16:creationId xmlns:a16="http://schemas.microsoft.com/office/drawing/2014/main" id="{4BDA0553-6338-6BDB-A04D-7BAE965CD3B3}"/>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9" name="Rectangle: Top Corners Rounded 1">
            <a:hlinkClick r:id="rId18" action="ppaction://hlinksldjump"/>
            <a:extLst>
              <a:ext uri="{FF2B5EF4-FFF2-40B4-BE49-F238E27FC236}">
                <a16:creationId xmlns:a16="http://schemas.microsoft.com/office/drawing/2014/main" id="{169CF67B-9CDB-D068-E00C-061F102BA8E8}"/>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0" name="Rectangle: Top Corners Rounded 1">
            <a:hlinkClick r:id="rId19" action="ppaction://hlinksldjump"/>
            <a:extLst>
              <a:ext uri="{FF2B5EF4-FFF2-40B4-BE49-F238E27FC236}">
                <a16:creationId xmlns:a16="http://schemas.microsoft.com/office/drawing/2014/main" id="{64F73230-E9B1-B2B1-6CF5-DFDD8B635038}"/>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11" name="Rectangle: Top Corners Rounded 1">
            <a:hlinkClick r:id="rId20" action="ppaction://hlinksldjump"/>
            <a:extLst>
              <a:ext uri="{FF2B5EF4-FFF2-40B4-BE49-F238E27FC236}">
                <a16:creationId xmlns:a16="http://schemas.microsoft.com/office/drawing/2014/main" id="{0EBA807E-FE3B-4001-A3D3-3D31B06A5302}"/>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2" name="Rectangle: Top Corners Rounded 1">
            <a:hlinkClick r:id="rId21" action="ppaction://hlinksldjump"/>
            <a:extLst>
              <a:ext uri="{FF2B5EF4-FFF2-40B4-BE49-F238E27FC236}">
                <a16:creationId xmlns:a16="http://schemas.microsoft.com/office/drawing/2014/main" id="{44A8B260-C4EC-913D-4E5A-58BF6674120F}"/>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3" name="Rectangle: Top Corners Rounded 1">
            <a:hlinkClick r:id="rId22" action="ppaction://hlinksldjump"/>
            <a:extLst>
              <a:ext uri="{FF2B5EF4-FFF2-40B4-BE49-F238E27FC236}">
                <a16:creationId xmlns:a16="http://schemas.microsoft.com/office/drawing/2014/main" id="{244858EB-8A26-7385-3214-76B16E33892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4" name="Rectangle: Top Corners Rounded 1">
            <a:hlinkClick r:id="rId23" action="ppaction://hlinksldjump"/>
            <a:extLst>
              <a:ext uri="{FF2B5EF4-FFF2-40B4-BE49-F238E27FC236}">
                <a16:creationId xmlns:a16="http://schemas.microsoft.com/office/drawing/2014/main" id="{58E0262D-3F28-FE81-69D8-D2C63EE82EAA}"/>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5" name="Rectangle: Top Corners Rounded 1">
            <a:hlinkClick r:id="rId24" action="ppaction://hlinksldjump"/>
            <a:extLst>
              <a:ext uri="{FF2B5EF4-FFF2-40B4-BE49-F238E27FC236}">
                <a16:creationId xmlns:a16="http://schemas.microsoft.com/office/drawing/2014/main" id="{C49CD9F4-B02B-B1F5-0D8F-6176594F1307}"/>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6" name="Rectangle: Top Corners Rounded 1">
            <a:hlinkClick r:id="rId25" action="ppaction://hlinksldjump"/>
            <a:extLst>
              <a:ext uri="{FF2B5EF4-FFF2-40B4-BE49-F238E27FC236}">
                <a16:creationId xmlns:a16="http://schemas.microsoft.com/office/drawing/2014/main" id="{233E8C23-2D5F-8048-9F13-367399A204EE}"/>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294521999"/>
      </p:ext>
    </p:extLst>
  </p:cSld>
  <p:clrMapOvr>
    <a:masterClrMapping/>
  </p:clrMapOvr>
  <p:extLst>
    <p:ext uri="{6950BFC3-D8DA-4A85-94F7-54DA5524770B}">
      <p188:commentRel xmlns:p188="http://schemas.microsoft.com/office/powerpoint/2018/8/main" r:id="rId4"/>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7521739-5895-7A7D-D440-675964388944}"/>
              </a:ext>
            </a:extLst>
          </p:cNvPr>
          <p:cNvSpPr>
            <a:spLocks noGrp="1"/>
          </p:cNvSpPr>
          <p:nvPr>
            <p:ph type="title"/>
          </p:nvPr>
        </p:nvSpPr>
        <p:spPr/>
        <p:txBody>
          <a:bodyPr/>
          <a:lstStyle/>
          <a:p>
            <a:r>
              <a:rPr lang="en-GB" err="1"/>
              <a:t>Medische</a:t>
            </a:r>
            <a:r>
              <a:rPr lang="en-GB"/>
              <a:t> </a:t>
            </a:r>
            <a:r>
              <a:rPr lang="en-GB" err="1"/>
              <a:t>Overdracht</a:t>
            </a:r>
            <a:r>
              <a:rPr lang="en-GB"/>
              <a:t> – </a:t>
            </a:r>
            <a:r>
              <a:rPr lang="en-GB" err="1"/>
              <a:t>Projectfasering</a:t>
            </a:r>
            <a:r>
              <a:rPr lang="en-GB"/>
              <a:t> </a:t>
            </a:r>
          </a:p>
        </p:txBody>
      </p:sp>
      <p:sp>
        <p:nvSpPr>
          <p:cNvPr id="17" name="Text Placeholder 16">
            <a:extLst>
              <a:ext uri="{FF2B5EF4-FFF2-40B4-BE49-F238E27FC236}">
                <a16:creationId xmlns:a16="http://schemas.microsoft.com/office/drawing/2014/main" id="{D13B0318-E9B0-C56D-0349-1B1CEB7989E6}"/>
              </a:ext>
            </a:extLst>
          </p:cNvPr>
          <p:cNvSpPr>
            <a:spLocks noGrp="1"/>
          </p:cNvSpPr>
          <p:nvPr>
            <p:ph type="body" sz="quarter" idx="10"/>
          </p:nvPr>
        </p:nvSpPr>
        <p:spPr/>
        <p:txBody>
          <a:bodyPr/>
          <a:lstStyle/>
          <a:p>
            <a:r>
              <a:rPr lang="nl-NL" sz="1200"/>
              <a:t>Na het concretiseren en inrichten, starten ziekenhuizen met de verdere technische realisatie van de </a:t>
            </a:r>
            <a:r>
              <a:rPr lang="nl-NL" sz="1200" err="1"/>
              <a:t>BgZ</a:t>
            </a:r>
            <a:r>
              <a:rPr lang="nl-NL" sz="1200"/>
              <a:t>-gegevensstandaard conform 7540 en passen hun werkprocessen hierop aan.​</a:t>
            </a:r>
          </a:p>
        </p:txBody>
      </p:sp>
      <p:sp>
        <p:nvSpPr>
          <p:cNvPr id="54" name="Rectangle: Top Corners Rounded 38">
            <a:hlinkClick r:id="rId3" action="ppaction://hlinksldjump"/>
            <a:extLst>
              <a:ext uri="{FF2B5EF4-FFF2-40B4-BE49-F238E27FC236}">
                <a16:creationId xmlns:a16="http://schemas.microsoft.com/office/drawing/2014/main" id="{63D3A057-9F6E-DA38-8BAF-3708DC886519}"/>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55" name="Graphic 54" descr="Introductiepagina silhouet">
            <a:hlinkClick r:id="rId4" action="ppaction://hlinksldjump"/>
            <a:extLst>
              <a:ext uri="{FF2B5EF4-FFF2-40B4-BE49-F238E27FC236}">
                <a16:creationId xmlns:a16="http://schemas.microsoft.com/office/drawing/2014/main" id="{A6715F12-27F0-5F76-6AA8-BFC897D50C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56" name="Rectangle: Top Corners Rounded 1">
            <a:hlinkClick r:id="rId7" action="ppaction://hlinksldjump"/>
            <a:extLst>
              <a:ext uri="{FF2B5EF4-FFF2-40B4-BE49-F238E27FC236}">
                <a16:creationId xmlns:a16="http://schemas.microsoft.com/office/drawing/2014/main" id="{39B9CE8B-A6CF-0F4A-E157-934353833102}"/>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57" name="Rectangle: Top Corners Rounded 1">
            <a:hlinkClick r:id="rId8" action="ppaction://hlinksldjump"/>
            <a:extLst>
              <a:ext uri="{FF2B5EF4-FFF2-40B4-BE49-F238E27FC236}">
                <a16:creationId xmlns:a16="http://schemas.microsoft.com/office/drawing/2014/main" id="{C4C06FA6-241C-DF28-13AB-8C13050DA663}"/>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58" name="Rectangle: Top Corners Rounded 1">
            <a:hlinkClick r:id="rId9" action="ppaction://hlinksldjump"/>
            <a:extLst>
              <a:ext uri="{FF2B5EF4-FFF2-40B4-BE49-F238E27FC236}">
                <a16:creationId xmlns:a16="http://schemas.microsoft.com/office/drawing/2014/main" id="{8A735C35-2122-3144-A47B-40BB3E4AE98E}"/>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59" name="Rectangle: Top Corners Rounded 1">
            <a:hlinkClick r:id="rId10" action="ppaction://hlinksldjump"/>
            <a:extLst>
              <a:ext uri="{FF2B5EF4-FFF2-40B4-BE49-F238E27FC236}">
                <a16:creationId xmlns:a16="http://schemas.microsoft.com/office/drawing/2014/main" id="{FB7F90D7-5D2F-A0ED-155C-FB64F63C5D3F}"/>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62" name="Rectangle: Top Corners Rounded 1">
            <a:hlinkClick r:id="rId11" action="ppaction://hlinksldjump"/>
            <a:extLst>
              <a:ext uri="{FF2B5EF4-FFF2-40B4-BE49-F238E27FC236}">
                <a16:creationId xmlns:a16="http://schemas.microsoft.com/office/drawing/2014/main" id="{72935A8A-DB7F-06CB-EAC3-12B8825FDE67}"/>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63" name="Rectangle: Top Corners Rounded 1">
            <a:hlinkClick r:id="rId12" action="ppaction://hlinksldjump"/>
            <a:extLst>
              <a:ext uri="{FF2B5EF4-FFF2-40B4-BE49-F238E27FC236}">
                <a16:creationId xmlns:a16="http://schemas.microsoft.com/office/drawing/2014/main" id="{4BA1C495-D8EF-8D1D-6B2E-39BF879A19CD}"/>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28" name="Rectangle: Top Corners Rounded 1">
            <a:hlinkClick r:id="rId13" action="ppaction://hlinksldjump"/>
            <a:extLst>
              <a:ext uri="{FF2B5EF4-FFF2-40B4-BE49-F238E27FC236}">
                <a16:creationId xmlns:a16="http://schemas.microsoft.com/office/drawing/2014/main" id="{52E3D392-C0E9-F6E6-AAE9-CE30A57332C0}"/>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29" name="Rectangle: Top Corners Rounded 1">
            <a:hlinkClick r:id="rId14" action="ppaction://hlinksldjump"/>
            <a:extLst>
              <a:ext uri="{FF2B5EF4-FFF2-40B4-BE49-F238E27FC236}">
                <a16:creationId xmlns:a16="http://schemas.microsoft.com/office/drawing/2014/main" id="{5653B810-0A30-21C4-57FA-4AB1B867CE76}"/>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30" name="Rectangle: Top Corners Rounded 1">
            <a:hlinkClick r:id="rId15" action="ppaction://hlinksldjump"/>
            <a:extLst>
              <a:ext uri="{FF2B5EF4-FFF2-40B4-BE49-F238E27FC236}">
                <a16:creationId xmlns:a16="http://schemas.microsoft.com/office/drawing/2014/main" id="{00A85EE3-971B-5F55-139E-CB613F2B380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31" name="Rectangle: Top Corners Rounded 1">
            <a:hlinkClick r:id="rId16" action="ppaction://hlinksldjump"/>
            <a:extLst>
              <a:ext uri="{FF2B5EF4-FFF2-40B4-BE49-F238E27FC236}">
                <a16:creationId xmlns:a16="http://schemas.microsoft.com/office/drawing/2014/main" id="{AB65DD00-EDA2-5CD8-3168-8CD7607C5D63}"/>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32" name="Rectangle: Top Corners Rounded 1">
            <a:hlinkClick r:id="rId17" action="ppaction://hlinksldjump"/>
            <a:extLst>
              <a:ext uri="{FF2B5EF4-FFF2-40B4-BE49-F238E27FC236}">
                <a16:creationId xmlns:a16="http://schemas.microsoft.com/office/drawing/2014/main" id="{A7959F3E-8CE9-0695-2763-413507D17A46}"/>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6" name="TextBox 13">
            <a:extLst>
              <a:ext uri="{FF2B5EF4-FFF2-40B4-BE49-F238E27FC236}">
                <a16:creationId xmlns:a16="http://schemas.microsoft.com/office/drawing/2014/main" id="{ABB94DE8-16AA-24C0-4E2F-7CF38D4282E4}"/>
              </a:ext>
            </a:extLst>
          </p:cNvPr>
          <p:cNvSpPr txBox="1"/>
          <p:nvPr/>
        </p:nvSpPr>
        <p:spPr>
          <a:xfrm>
            <a:off x="8737147" y="1388422"/>
            <a:ext cx="2225143"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nl-NL" sz="1100" b="1">
                <a:solidFill>
                  <a:srgbClr val="333333"/>
                </a:solidFill>
                <a:latin typeface="Verdana"/>
                <a:ea typeface="Verdana"/>
                <a:cs typeface="Arial"/>
              </a:rPr>
              <a:t>Fase 4</a:t>
            </a:r>
            <a:br>
              <a:rPr lang="nl-NL" sz="1100" b="1">
                <a:latin typeface="Verdana"/>
                <a:ea typeface="Verdana"/>
                <a:cs typeface="Arial"/>
              </a:rPr>
            </a:br>
            <a:r>
              <a:rPr lang="nl-NL" sz="1000" b="1" i="1">
                <a:solidFill>
                  <a:srgbClr val="333333"/>
                </a:solidFill>
                <a:latin typeface="Verdana"/>
                <a:ea typeface="Verdana"/>
                <a:cs typeface="Arial"/>
              </a:rPr>
              <a:t>Q3</a:t>
            </a:r>
            <a:r>
              <a:rPr kumimoji="0" lang="nl-NL" sz="1000" b="1" i="1" u="none" strike="noStrike" kern="1200" cap="none" spc="0" normalizeH="0" baseline="0" noProof="0">
                <a:ln>
                  <a:noFill/>
                </a:ln>
                <a:solidFill>
                  <a:srgbClr val="333333"/>
                </a:solidFill>
                <a:effectLst/>
                <a:uLnTx/>
                <a:uFillTx/>
                <a:latin typeface="Verdana"/>
                <a:ea typeface="Verdana"/>
                <a:cs typeface="Arial"/>
              </a:rPr>
              <a:t> </a:t>
            </a:r>
            <a:r>
              <a:rPr lang="nl-NL" sz="1000" b="1" i="1">
                <a:solidFill>
                  <a:srgbClr val="333333"/>
                </a:solidFill>
                <a:latin typeface="Verdana"/>
                <a:ea typeface="Verdana"/>
                <a:cs typeface="Arial"/>
              </a:rPr>
              <a:t>2026 -</a:t>
            </a:r>
            <a:r>
              <a:rPr kumimoji="0" lang="nl-NL" sz="1000" b="1" i="1" u="none" strike="noStrike" kern="1200" cap="none" spc="0" normalizeH="0" baseline="0" noProof="0">
                <a:ln>
                  <a:noFill/>
                </a:ln>
                <a:solidFill>
                  <a:srgbClr val="333333"/>
                </a:solidFill>
                <a:effectLst/>
                <a:uLnTx/>
                <a:uFillTx/>
                <a:latin typeface="Verdana"/>
                <a:ea typeface="Verdana"/>
                <a:cs typeface="Arial"/>
              </a:rPr>
              <a:t> </a:t>
            </a:r>
            <a:r>
              <a:rPr lang="nl-NL" sz="1000" b="1" i="1">
                <a:solidFill>
                  <a:srgbClr val="333333"/>
                </a:solidFill>
                <a:latin typeface="Verdana"/>
                <a:ea typeface="Verdana"/>
                <a:cs typeface="Arial"/>
              </a:rPr>
              <a:t>Q4</a:t>
            </a:r>
            <a:r>
              <a:rPr kumimoji="0" lang="nl-NL" sz="1000" b="1" i="1" u="none" strike="noStrike" kern="1200" cap="none" spc="0" normalizeH="0" baseline="0" noProof="0">
                <a:ln>
                  <a:noFill/>
                </a:ln>
                <a:solidFill>
                  <a:srgbClr val="333333"/>
                </a:solidFill>
                <a:effectLst/>
                <a:uLnTx/>
                <a:uFillTx/>
                <a:latin typeface="Verdana"/>
                <a:ea typeface="Verdana"/>
                <a:cs typeface="Arial"/>
              </a:rPr>
              <a:t> 2026</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8" name="TextBox 13">
            <a:extLst>
              <a:ext uri="{FF2B5EF4-FFF2-40B4-BE49-F238E27FC236}">
                <a16:creationId xmlns:a16="http://schemas.microsoft.com/office/drawing/2014/main" id="{E982E042-CC72-4E76-6C04-338AE1B86A8B}"/>
              </a:ext>
            </a:extLst>
          </p:cNvPr>
          <p:cNvSpPr txBox="1"/>
          <p:nvPr/>
        </p:nvSpPr>
        <p:spPr>
          <a:xfrm>
            <a:off x="529983" y="1388422"/>
            <a:ext cx="3562194"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1</a:t>
            </a:r>
            <a:br>
              <a:rPr lang="nl-NL" sz="1100" b="1" i="0" u="none" strike="noStrike" kern="1200" cap="none" spc="0" normalizeH="0" baseline="0" noProof="0">
                <a:ln>
                  <a:noFill/>
                </a:ln>
                <a:effectLst/>
                <a:uLnTx/>
                <a:uFillTx/>
                <a:latin typeface="Verdana"/>
                <a:ea typeface="Verdana"/>
                <a:cs typeface="Arial"/>
              </a:rPr>
            </a:br>
            <a:r>
              <a:rPr lang="nl-NL" sz="1000" b="1" i="1">
                <a:solidFill>
                  <a:srgbClr val="333333"/>
                </a:solidFill>
                <a:latin typeface="Verdana"/>
                <a:ea typeface="Verdana"/>
                <a:cs typeface="Arial"/>
              </a:rPr>
              <a:t>Q2 2025 - Q3 2025</a:t>
            </a:r>
            <a:endParaRPr lang="nl-NL" sz="1000" b="1" i="1" u="none" strike="noStrike" kern="1200" cap="none" spc="0" normalizeH="0" baseline="0" noProof="0">
              <a:ln>
                <a:noFill/>
              </a:ln>
              <a:solidFill>
                <a:srgbClr val="333333"/>
              </a:solidFill>
              <a:effectLst/>
              <a:uLnTx/>
              <a:uFillTx/>
              <a:latin typeface="Verdana"/>
              <a:ea typeface="Verdana"/>
              <a:cs typeface="Arial"/>
            </a:endParaRPr>
          </a:p>
        </p:txBody>
      </p:sp>
      <p:sp>
        <p:nvSpPr>
          <p:cNvPr id="19" name="TextBox 13">
            <a:extLst>
              <a:ext uri="{FF2B5EF4-FFF2-40B4-BE49-F238E27FC236}">
                <a16:creationId xmlns:a16="http://schemas.microsoft.com/office/drawing/2014/main" id="{110189E7-1213-D44F-C0E7-18FFE585190E}"/>
              </a:ext>
            </a:extLst>
          </p:cNvPr>
          <p:cNvSpPr txBox="1"/>
          <p:nvPr/>
        </p:nvSpPr>
        <p:spPr>
          <a:xfrm>
            <a:off x="6440721" y="1388422"/>
            <a:ext cx="2225142"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3</a:t>
            </a:r>
            <a:br>
              <a:rPr lang="nl-NL"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a:rPr>
            </a:br>
            <a:r>
              <a:rPr lang="nl-NL" sz="1000" b="1" i="1">
                <a:solidFill>
                  <a:srgbClr val="333333"/>
                </a:solidFill>
                <a:latin typeface="Verdana"/>
                <a:ea typeface="Verdana"/>
                <a:cs typeface="Arial"/>
              </a:rPr>
              <a:t>Q2 2026 - Q3 2026</a:t>
            </a:r>
            <a:endParaRPr kumimoji="0"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20" name="TextBox 13">
            <a:extLst>
              <a:ext uri="{FF2B5EF4-FFF2-40B4-BE49-F238E27FC236}">
                <a16:creationId xmlns:a16="http://schemas.microsoft.com/office/drawing/2014/main" id="{9ABC4DA7-5951-4EA7-DC41-9903A855C2D5}"/>
              </a:ext>
            </a:extLst>
          </p:cNvPr>
          <p:cNvSpPr txBox="1"/>
          <p:nvPr/>
        </p:nvSpPr>
        <p:spPr>
          <a:xfrm>
            <a:off x="4144294" y="1388422"/>
            <a:ext cx="2225143"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2</a:t>
            </a:r>
            <a:r>
              <a:rPr lang="nl-NL" sz="1100" b="1">
                <a:solidFill>
                  <a:srgbClr val="333333"/>
                </a:solidFill>
                <a:latin typeface="Verdana"/>
                <a:ea typeface="Verdana"/>
                <a:cs typeface="Arial"/>
              </a:rPr>
              <a:t>*</a:t>
            </a:r>
            <a:br>
              <a:rPr lang="nl-NL" sz="1100" b="1" i="0" u="none" strike="noStrike" kern="1200" cap="none" spc="0" normalizeH="0" baseline="0" noProof="0">
                <a:ln>
                  <a:noFill/>
                </a:ln>
                <a:effectLst/>
                <a:uLnTx/>
                <a:uFillTx/>
                <a:latin typeface="Verdana"/>
                <a:ea typeface="Verdana"/>
                <a:cs typeface="Arial"/>
              </a:rPr>
            </a:br>
            <a:r>
              <a:rPr lang="nl-NL" sz="1000" b="1" i="1">
                <a:solidFill>
                  <a:srgbClr val="333333"/>
                </a:solidFill>
                <a:latin typeface="Verdana"/>
                <a:ea typeface="Verdana"/>
                <a:cs typeface="Arial"/>
              </a:rPr>
              <a:t>Q4 2025 - Q1 2026</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cxnSp>
        <p:nvCxnSpPr>
          <p:cNvPr id="21" name="Straight Arrow Connector 29">
            <a:extLst>
              <a:ext uri="{FF2B5EF4-FFF2-40B4-BE49-F238E27FC236}">
                <a16:creationId xmlns:a16="http://schemas.microsoft.com/office/drawing/2014/main" id="{4C1ED963-EEC9-E7FC-D906-2853B72936D0}"/>
              </a:ext>
            </a:extLst>
          </p:cNvPr>
          <p:cNvCxnSpPr>
            <a:cxnSpLocks/>
          </p:cNvCxnSpPr>
          <p:nvPr/>
        </p:nvCxnSpPr>
        <p:spPr>
          <a:xfrm>
            <a:off x="529982" y="2049892"/>
            <a:ext cx="10419217"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2" name="Oval 17">
            <a:extLst>
              <a:ext uri="{FF2B5EF4-FFF2-40B4-BE49-F238E27FC236}">
                <a16:creationId xmlns:a16="http://schemas.microsoft.com/office/drawing/2014/main" id="{BBD5B43B-2F99-5A21-54D2-54C91CA3F748}"/>
              </a:ext>
            </a:extLst>
          </p:cNvPr>
          <p:cNvSpPr/>
          <p:nvPr/>
        </p:nvSpPr>
        <p:spPr>
          <a:xfrm>
            <a:off x="2057764"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23" name="Rectangle: Rounded Corners 28">
            <a:extLst>
              <a:ext uri="{FF2B5EF4-FFF2-40B4-BE49-F238E27FC236}">
                <a16:creationId xmlns:a16="http://schemas.microsoft.com/office/drawing/2014/main" id="{E1E02579-467A-A71B-BFE8-369B9BA6BEB2}"/>
              </a:ext>
            </a:extLst>
          </p:cNvPr>
          <p:cNvSpPr/>
          <p:nvPr/>
        </p:nvSpPr>
        <p:spPr>
          <a:xfrm>
            <a:off x="606816" y="2603594"/>
            <a:ext cx="3485358" cy="205091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Concretiseren van regionaal beleid, visie, intentieverklaring en werkafspraken vanuit alle instellingen.</a:t>
            </a:r>
          </a:p>
          <a:p>
            <a:pPr marR="0" lvl="0" algn="l" defTabSz="914400" rtl="0" eaLnBrk="1" fontAlgn="auto" latinLnBrk="0" hangingPunct="1">
              <a:lnSpc>
                <a:spcPct val="100000"/>
              </a:lnSpc>
              <a:spcBef>
                <a:spcPts val="0"/>
              </a:spcBef>
              <a:spcAft>
                <a:spcPts val="0"/>
              </a:spcAft>
              <a:buClrTx/>
              <a:buSzTx/>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a:defRPr/>
            </a:pPr>
            <a:r>
              <a:rPr kumimoji="0" lang="nl-NL" sz="1000" b="0" i="0" u="none" strike="noStrike" kern="1200" cap="none" spc="0" normalizeH="0" baseline="0" noProof="0">
                <a:ln>
                  <a:noFill/>
                </a:ln>
                <a:solidFill>
                  <a:prstClr val="black"/>
                </a:solidFill>
                <a:effectLst/>
                <a:uLnTx/>
                <a:uFillTx/>
                <a:latin typeface="Verdana"/>
                <a:ea typeface="Verdana"/>
              </a:rPr>
              <a:t>Verkrijgen van inzicht in </a:t>
            </a:r>
            <a:r>
              <a:rPr lang="nl-NL" sz="1000">
                <a:solidFill>
                  <a:prstClr val="black"/>
                </a:solidFill>
                <a:latin typeface="Verdana"/>
                <a:ea typeface="Verdana"/>
              </a:rPr>
              <a:t>deelnemende klinieken, lopende</a:t>
            </a:r>
            <a:r>
              <a:rPr kumimoji="0" lang="nl-NL" sz="1000" b="0" i="0" u="none" strike="noStrike" kern="1200" cap="none" spc="0" normalizeH="0" baseline="0" noProof="0">
                <a:ln>
                  <a:noFill/>
                </a:ln>
                <a:solidFill>
                  <a:prstClr val="black"/>
                </a:solidFill>
                <a:effectLst/>
                <a:uLnTx/>
                <a:uFillTx/>
                <a:latin typeface="Verdana"/>
                <a:ea typeface="Verdana"/>
              </a:rPr>
              <a:t> programma’s</a:t>
            </a:r>
            <a:r>
              <a:rPr lang="nl-NL" sz="1000">
                <a:solidFill>
                  <a:prstClr val="black"/>
                </a:solidFill>
                <a:latin typeface="Verdana"/>
                <a:ea typeface="Verdana"/>
              </a:rPr>
              <a:t> en</a:t>
            </a:r>
            <a:r>
              <a:rPr kumimoji="0" lang="nl-NL" sz="1000" b="0" i="0" u="none" strike="noStrike" kern="1200" cap="none" spc="0" normalizeH="0" baseline="0" noProof="0">
                <a:ln>
                  <a:noFill/>
                </a:ln>
                <a:solidFill>
                  <a:prstClr val="black"/>
                </a:solidFill>
                <a:effectLst/>
                <a:uLnTx/>
                <a:uFillTx/>
                <a:latin typeface="Verdana"/>
                <a:ea typeface="Verdana"/>
              </a:rPr>
              <a:t> initiatieven, gebruikte applicaties en stand van zaken binnen de zorginstellingen t.o.v. realisatie </a:t>
            </a:r>
            <a:r>
              <a:rPr kumimoji="0" lang="nl-NL" sz="1000" b="0" i="0" u="none" strike="noStrike" kern="1200" cap="none" spc="0" normalizeH="0" baseline="0" noProof="0" err="1">
                <a:ln>
                  <a:noFill/>
                </a:ln>
                <a:solidFill>
                  <a:prstClr val="black"/>
                </a:solidFill>
                <a:effectLst/>
                <a:uLnTx/>
                <a:uFillTx/>
                <a:latin typeface="Verdana"/>
                <a:ea typeface="Verdana"/>
              </a:rPr>
              <a:t>BgZ</a:t>
            </a:r>
            <a:r>
              <a:rPr kumimoji="0" lang="nl-NL" sz="1000" b="0" i="0" u="none" strike="noStrike" kern="1200" cap="none" spc="0" normalizeH="0" baseline="0" noProof="0">
                <a:ln>
                  <a:noFill/>
                </a:ln>
                <a:solidFill>
                  <a:prstClr val="black"/>
                </a:solidFill>
                <a:effectLst/>
                <a:uLnTx/>
                <a:uFillTx/>
                <a:latin typeface="Verdana"/>
                <a:ea typeface="Verdana"/>
              </a:rPr>
              <a:t> met volwassenheidsscan.</a:t>
            </a:r>
            <a:endParaRPr lang="nl-NL" sz="1000" b="0" i="0" u="none" strike="noStrike" kern="1200" cap="none" spc="0" normalizeH="0" baseline="0" noProof="0">
              <a:ln>
                <a:noFill/>
              </a:ln>
              <a:solidFill>
                <a:prstClr val="black"/>
              </a:solidFill>
              <a:effectLst/>
              <a:uLnTx/>
              <a:uFillTx/>
              <a:latin typeface="Verdana"/>
              <a:ea typeface="Verdana"/>
            </a:endParaRPr>
          </a:p>
          <a:p>
            <a:pPr marR="0" lvl="0" algn="l" defTabSz="914400" rtl="0" eaLnBrk="1" fontAlgn="auto" latinLnBrk="0" hangingPunct="1">
              <a:lnSpc>
                <a:spcPct val="100000"/>
              </a:lnSpc>
              <a:spcBef>
                <a:spcPts val="0"/>
              </a:spcBef>
              <a:spcAft>
                <a:spcPts val="0"/>
              </a:spcAft>
              <a:buClrTx/>
              <a:buSzTx/>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We definiëren en maken de technische en functionele inrichting van systemen klaar.</a:t>
            </a:r>
            <a:endParaRPr lang="nl-NL" sz="1000" b="0" i="0" u="none" strike="noStrike" kern="1200" cap="none" spc="0" normalizeH="0" baseline="0" noProof="0">
              <a:ln>
                <a:noFill/>
              </a:ln>
              <a:solidFill>
                <a:prstClr val="black"/>
              </a:solidFill>
              <a:effectLst/>
              <a:uLnTx/>
              <a:uFillTx/>
              <a:latin typeface="Verdana"/>
              <a:ea typeface="Verdana"/>
            </a:endParaRPr>
          </a:p>
        </p:txBody>
      </p:sp>
      <p:sp>
        <p:nvSpPr>
          <p:cNvPr id="24" name="Oval 13">
            <a:extLst>
              <a:ext uri="{FF2B5EF4-FFF2-40B4-BE49-F238E27FC236}">
                <a16:creationId xmlns:a16="http://schemas.microsoft.com/office/drawing/2014/main" id="{B0511E01-D038-706B-3D51-D205AD7D9D35}"/>
              </a:ext>
            </a:extLst>
          </p:cNvPr>
          <p:cNvSpPr/>
          <p:nvPr/>
        </p:nvSpPr>
        <p:spPr>
          <a:xfrm>
            <a:off x="4936316"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25" name="Rectangle: Rounded Corners 47">
            <a:extLst>
              <a:ext uri="{FF2B5EF4-FFF2-40B4-BE49-F238E27FC236}">
                <a16:creationId xmlns:a16="http://schemas.microsoft.com/office/drawing/2014/main" id="{38DB0875-2D63-C483-A3BB-F8257EFC577A}"/>
              </a:ext>
            </a:extLst>
          </p:cNvPr>
          <p:cNvSpPr/>
          <p:nvPr/>
        </p:nvSpPr>
        <p:spPr>
          <a:xfrm>
            <a:off x="602492" y="5127057"/>
            <a:ext cx="3464764" cy="1213874"/>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Overzicht huidige staat systemen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rPr>
              <a:t>Gedetailleerd plan van aanpak inclusief communicatieplan</a:t>
            </a:r>
            <a:endParaRPr lang="nl-NL" sz="1000" b="0" i="0" u="none" strike="noStrike" kern="1200" cap="none" spc="0" normalizeH="0" baseline="0" noProof="0">
              <a:ln>
                <a:noFill/>
              </a:ln>
              <a:solidFill>
                <a:prstClr val="black"/>
              </a:solidFill>
              <a:effectLst/>
              <a:uLnTx/>
              <a:uFillTx/>
              <a:latin typeface="Verdana"/>
              <a:ea typeface="Verdan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rPr>
              <a:t>Organisatie en draaiboek voor technische realisatie en adoptie</a:t>
            </a:r>
            <a:endParaRPr lang="nl-NL" sz="1000" b="0" i="0" u="none" strike="noStrike" kern="1200" cap="none" spc="0" normalizeH="0" baseline="0" noProof="0">
              <a:ln>
                <a:noFill/>
              </a:ln>
              <a:solidFill>
                <a:prstClr val="black"/>
              </a:solidFill>
              <a:effectLst/>
              <a:uLnTx/>
              <a:uFillTx/>
              <a:latin typeface="Verdana"/>
              <a:ea typeface="Verdana"/>
            </a:endParaRPr>
          </a:p>
        </p:txBody>
      </p:sp>
      <p:sp>
        <p:nvSpPr>
          <p:cNvPr id="26" name="Tekstvak 1">
            <a:extLst>
              <a:ext uri="{FF2B5EF4-FFF2-40B4-BE49-F238E27FC236}">
                <a16:creationId xmlns:a16="http://schemas.microsoft.com/office/drawing/2014/main" id="{76BFD0BD-438F-98BD-BFAD-A85CFF3F5B5D}"/>
              </a:ext>
            </a:extLst>
          </p:cNvPr>
          <p:cNvSpPr txBox="1"/>
          <p:nvPr/>
        </p:nvSpPr>
        <p:spPr>
          <a:xfrm>
            <a:off x="188475" y="3120668"/>
            <a:ext cx="323165" cy="1010323"/>
          </a:xfrm>
          <a:prstGeom prst="rect">
            <a:avLst/>
          </a:prstGeom>
          <a:noFill/>
        </p:spPr>
        <p:txBody>
          <a:bodyPr vert="vert"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Activiteiten</a:t>
            </a:r>
          </a:p>
        </p:txBody>
      </p:sp>
      <p:sp>
        <p:nvSpPr>
          <p:cNvPr id="27" name="Tekstvak 2">
            <a:extLst>
              <a:ext uri="{FF2B5EF4-FFF2-40B4-BE49-F238E27FC236}">
                <a16:creationId xmlns:a16="http://schemas.microsoft.com/office/drawing/2014/main" id="{FF76CD2E-539E-0DBE-A81A-FEC8AF4259E2}"/>
              </a:ext>
            </a:extLst>
          </p:cNvPr>
          <p:cNvSpPr txBox="1"/>
          <p:nvPr/>
        </p:nvSpPr>
        <p:spPr>
          <a:xfrm>
            <a:off x="163161" y="5233738"/>
            <a:ext cx="323165" cy="944848"/>
          </a:xfrm>
          <a:prstGeom prst="rect">
            <a:avLst/>
          </a:prstGeom>
          <a:noFill/>
        </p:spPr>
        <p:txBody>
          <a:bodyPr vert="vert"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Deliverables</a:t>
            </a:r>
          </a:p>
        </p:txBody>
      </p:sp>
      <p:sp>
        <p:nvSpPr>
          <p:cNvPr id="28" name="Oval 13">
            <a:extLst>
              <a:ext uri="{FF2B5EF4-FFF2-40B4-BE49-F238E27FC236}">
                <a16:creationId xmlns:a16="http://schemas.microsoft.com/office/drawing/2014/main" id="{D86EE7F2-781F-02EF-1DE8-026882D9AC05}"/>
              </a:ext>
            </a:extLst>
          </p:cNvPr>
          <p:cNvSpPr/>
          <p:nvPr/>
        </p:nvSpPr>
        <p:spPr>
          <a:xfrm>
            <a:off x="9653533" y="1806358"/>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29" name="Rectangle: Rounded Corners 47">
            <a:extLst>
              <a:ext uri="{FF2B5EF4-FFF2-40B4-BE49-F238E27FC236}">
                <a16:creationId xmlns:a16="http://schemas.microsoft.com/office/drawing/2014/main" id="{07F0CB46-7B8A-0549-8A6C-AC3433740DBD}"/>
              </a:ext>
            </a:extLst>
          </p:cNvPr>
          <p:cNvSpPr/>
          <p:nvPr/>
        </p:nvSpPr>
        <p:spPr>
          <a:xfrm>
            <a:off x="606815" y="4675682"/>
            <a:ext cx="3485358" cy="397469"/>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buFont typeface="Arial" panose="020B0604020202020204" pitchFamily="34" charset="0"/>
              <a:buChar char="•"/>
              <a:defRPr/>
            </a:pPr>
            <a:r>
              <a:rPr lang="nl-NL" sz="1000">
                <a:solidFill>
                  <a:prstClr val="black"/>
                </a:solidFill>
                <a:latin typeface="Verdana"/>
                <a:ea typeface="Verdana"/>
              </a:rPr>
              <a:t>Alle MSZ-instellingen en projectteam </a:t>
            </a:r>
            <a:endParaRPr kumimoji="0" lang="nl-NL" sz="1000" b="0" i="0" u="none" strike="noStrike" kern="1200" cap="none" spc="0" normalizeH="0" baseline="0" noProof="0">
              <a:ln>
                <a:noFill/>
              </a:ln>
              <a:solidFill>
                <a:prstClr val="black"/>
              </a:solidFill>
              <a:effectLst/>
              <a:uLnTx/>
              <a:uFillTx/>
              <a:latin typeface="Verdana"/>
              <a:ea typeface="Verdana"/>
            </a:endParaRPr>
          </a:p>
        </p:txBody>
      </p:sp>
      <p:sp>
        <p:nvSpPr>
          <p:cNvPr id="30" name="Tekstvak 43">
            <a:extLst>
              <a:ext uri="{FF2B5EF4-FFF2-40B4-BE49-F238E27FC236}">
                <a16:creationId xmlns:a16="http://schemas.microsoft.com/office/drawing/2014/main" id="{471DC7A1-F8DF-E098-0E0A-3F10521F32B7}"/>
              </a:ext>
            </a:extLst>
          </p:cNvPr>
          <p:cNvSpPr txBox="1"/>
          <p:nvPr/>
        </p:nvSpPr>
        <p:spPr>
          <a:xfrm>
            <a:off x="1278782" y="2349019"/>
            <a:ext cx="2252662" cy="253916"/>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050" b="1" i="0" u="none" strike="noStrike" kern="1200" cap="none" spc="0" normalizeH="0" baseline="0" noProof="0">
                <a:ln>
                  <a:noFill/>
                </a:ln>
                <a:solidFill>
                  <a:srgbClr val="000000"/>
                </a:solidFill>
                <a:effectLst/>
                <a:uLnTx/>
                <a:uFillTx/>
                <a:latin typeface="Verdana"/>
                <a:ea typeface="Verdana"/>
                <a:cs typeface="Arial"/>
              </a:rPr>
              <a:t>Concretiseren en </a:t>
            </a:r>
            <a:r>
              <a:rPr kumimoji="0" lang="nl-NL" sz="1050" b="1" i="0" u="none" strike="noStrike" kern="1200" cap="none" spc="0" normalizeH="0" baseline="0" noProof="0" err="1">
                <a:ln>
                  <a:noFill/>
                </a:ln>
                <a:solidFill>
                  <a:srgbClr val="000000"/>
                </a:solidFill>
                <a:effectLst/>
                <a:uLnTx/>
                <a:uFillTx/>
                <a:latin typeface="Verdana"/>
                <a:ea typeface="Verdana"/>
                <a:cs typeface="Arial"/>
              </a:rPr>
              <a:t>inri</a:t>
            </a:r>
            <a:r>
              <a:rPr lang="nl-NL" sz="1050" b="1" err="1">
                <a:solidFill>
                  <a:srgbClr val="000000"/>
                </a:solidFill>
                <a:latin typeface="Verdana"/>
                <a:ea typeface="Verdana"/>
                <a:cs typeface="Arial"/>
              </a:rPr>
              <a:t>chten</a:t>
            </a:r>
            <a:r>
              <a:rPr lang="nl-NL" sz="1050" b="1">
                <a:solidFill>
                  <a:srgbClr val="000000"/>
                </a:solidFill>
                <a:latin typeface="Verdana"/>
                <a:ea typeface="Verdana"/>
                <a:cs typeface="Arial"/>
              </a:rPr>
              <a:t> </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31" name="Oval 17">
            <a:extLst>
              <a:ext uri="{FF2B5EF4-FFF2-40B4-BE49-F238E27FC236}">
                <a16:creationId xmlns:a16="http://schemas.microsoft.com/office/drawing/2014/main" id="{45D5F756-5918-1FD1-1E0B-231EA3777EAA}"/>
              </a:ext>
            </a:extLst>
          </p:cNvPr>
          <p:cNvSpPr/>
          <p:nvPr/>
        </p:nvSpPr>
        <p:spPr>
          <a:xfrm>
            <a:off x="7264498"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32" name="Rechthoek: afgeronde hoeken 31">
            <a:extLst>
              <a:ext uri="{FF2B5EF4-FFF2-40B4-BE49-F238E27FC236}">
                <a16:creationId xmlns:a16="http://schemas.microsoft.com/office/drawing/2014/main" id="{DA8909CF-47B5-1C61-ABCD-1A329D11DCF9}"/>
              </a:ext>
            </a:extLst>
          </p:cNvPr>
          <p:cNvSpPr/>
          <p:nvPr/>
        </p:nvSpPr>
        <p:spPr>
          <a:xfrm>
            <a:off x="613890" y="6461156"/>
            <a:ext cx="4938642" cy="295516"/>
          </a:xfrm>
          <a:prstGeom prst="roundRect">
            <a:avLst/>
          </a:prstGeom>
          <a:solidFill>
            <a:srgbClr val="FF9999">
              <a:alpha val="3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NL" sz="800">
                <a:solidFill>
                  <a:schemeClr val="tx1"/>
                </a:solidFill>
                <a:latin typeface="Verdana" panose="020B0604030504040204" pitchFamily="34" charset="0"/>
                <a:ea typeface="Verdana" panose="020B0604030504040204" pitchFamily="34" charset="0"/>
              </a:rPr>
              <a:t>Meander MC is bezig met een </a:t>
            </a:r>
            <a:r>
              <a:rPr lang="nl-NL" sz="800" err="1">
                <a:solidFill>
                  <a:schemeClr val="tx1"/>
                </a:solidFill>
                <a:latin typeface="Verdana" panose="020B0604030504040204" pitchFamily="34" charset="0"/>
                <a:ea typeface="Verdana" panose="020B0604030504040204" pitchFamily="34" charset="0"/>
              </a:rPr>
              <a:t>Hix</a:t>
            </a:r>
            <a:r>
              <a:rPr lang="nl-NL" sz="800">
                <a:solidFill>
                  <a:schemeClr val="tx1"/>
                </a:solidFill>
                <a:latin typeface="Verdana" panose="020B0604030504040204" pitchFamily="34" charset="0"/>
                <a:ea typeface="Verdana" panose="020B0604030504040204" pitchFamily="34" charset="0"/>
              </a:rPr>
              <a:t> implementatie en zal niet deze fasering kunnen volgen. Wij zullen aansturen op correct gebruik van de </a:t>
            </a:r>
            <a:r>
              <a:rPr lang="nl-NL" sz="800" err="1">
                <a:solidFill>
                  <a:schemeClr val="tx1"/>
                </a:solidFill>
                <a:latin typeface="Verdana" panose="020B0604030504040204" pitchFamily="34" charset="0"/>
                <a:ea typeface="Verdana" panose="020B0604030504040204" pitchFamily="34" charset="0"/>
              </a:rPr>
              <a:t>BgZ</a:t>
            </a:r>
            <a:r>
              <a:rPr lang="nl-NL" sz="800">
                <a:solidFill>
                  <a:schemeClr val="tx1"/>
                </a:solidFill>
                <a:latin typeface="Verdana" panose="020B0604030504040204" pitchFamily="34" charset="0"/>
                <a:ea typeface="Verdana" panose="020B0604030504040204" pitchFamily="34" charset="0"/>
              </a:rPr>
              <a:t> met </a:t>
            </a:r>
            <a:r>
              <a:rPr lang="nl-NL" sz="800" err="1">
                <a:solidFill>
                  <a:schemeClr val="tx1"/>
                </a:solidFill>
                <a:latin typeface="Verdana" panose="020B0604030504040204" pitchFamily="34" charset="0"/>
                <a:ea typeface="Verdana" panose="020B0604030504040204" pitchFamily="34" charset="0"/>
              </a:rPr>
              <a:t>Hix</a:t>
            </a:r>
            <a:r>
              <a:rPr lang="nl-NL" sz="800">
                <a:solidFill>
                  <a:schemeClr val="tx1"/>
                </a:solidFill>
                <a:latin typeface="Verdana" panose="020B0604030504040204" pitchFamily="34" charset="0"/>
                <a:ea typeface="Verdana" panose="020B0604030504040204" pitchFamily="34" charset="0"/>
              </a:rPr>
              <a:t> vanaf de implementatie</a:t>
            </a:r>
            <a:endParaRPr lang="en-NL" sz="800">
              <a:solidFill>
                <a:schemeClr val="tx1"/>
              </a:solidFill>
              <a:latin typeface="Verdana" panose="020B0604030504040204" pitchFamily="34" charset="0"/>
              <a:ea typeface="Verdana" panose="020B0604030504040204" pitchFamily="34" charset="0"/>
            </a:endParaRPr>
          </a:p>
        </p:txBody>
      </p:sp>
      <p:sp>
        <p:nvSpPr>
          <p:cNvPr id="33" name="Rectangle: Rounded Corners 4">
            <a:extLst>
              <a:ext uri="{FF2B5EF4-FFF2-40B4-BE49-F238E27FC236}">
                <a16:creationId xmlns:a16="http://schemas.microsoft.com/office/drawing/2014/main" id="{46880EF9-9704-6617-DBDC-4060C5166E7A}"/>
              </a:ext>
            </a:extLst>
          </p:cNvPr>
          <p:cNvSpPr/>
          <p:nvPr/>
        </p:nvSpPr>
        <p:spPr>
          <a:xfrm>
            <a:off x="4251029" y="5273897"/>
            <a:ext cx="2118408" cy="110940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Opstellen regionale werkafspraak medische overdracht. </a:t>
            </a:r>
          </a:p>
          <a:p>
            <a:pPr>
              <a:spcAft>
                <a:spcPts val="600"/>
              </a:spcAft>
              <a:defRPr/>
            </a:pPr>
            <a:endParaRPr lang="nl-NL" sz="1000">
              <a:solidFill>
                <a:srgbClr val="000000"/>
              </a:solidFill>
              <a:latin typeface="Verdana"/>
              <a:ea typeface="Verdana"/>
              <a:cs typeface="Arial"/>
            </a:endParaRPr>
          </a:p>
        </p:txBody>
      </p:sp>
      <p:sp>
        <p:nvSpPr>
          <p:cNvPr id="34" name="Rectangle: Rounded Corners 4">
            <a:extLst>
              <a:ext uri="{FF2B5EF4-FFF2-40B4-BE49-F238E27FC236}">
                <a16:creationId xmlns:a16="http://schemas.microsoft.com/office/drawing/2014/main" id="{BFE477DF-9FCA-74F2-D0FB-B0AA1075BB5B}"/>
              </a:ext>
            </a:extLst>
          </p:cNvPr>
          <p:cNvSpPr/>
          <p:nvPr/>
        </p:nvSpPr>
        <p:spPr>
          <a:xfrm>
            <a:off x="4251029" y="2626129"/>
            <a:ext cx="2118408" cy="1035245"/>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85725" indent="-85725">
              <a:spcAft>
                <a:spcPts val="600"/>
              </a:spcAft>
              <a:buFont typeface="Arial" panose="020B0604020202020204" pitchFamily="34" charset="0"/>
              <a:buChar char="•"/>
              <a:defRPr/>
            </a:pPr>
            <a:r>
              <a:rPr lang="nl-NL" sz="1000">
                <a:solidFill>
                  <a:srgbClr val="000000"/>
                </a:solidFill>
                <a:latin typeface="Verdana"/>
                <a:ea typeface="Verdana"/>
                <a:cs typeface="Arial"/>
              </a:rPr>
              <a:t>Kick-off </a:t>
            </a:r>
          </a:p>
          <a:p>
            <a:pPr marL="85725" indent="-85725">
              <a:spcAft>
                <a:spcPts val="600"/>
              </a:spcAft>
              <a:buFont typeface="Arial" panose="020B0604020202020204" pitchFamily="34" charset="0"/>
              <a:buChar char="•"/>
              <a:defRPr/>
            </a:pPr>
            <a:r>
              <a:rPr lang="nl-NL" sz="1000">
                <a:solidFill>
                  <a:srgbClr val="000000"/>
                </a:solidFill>
                <a:latin typeface="Verdana"/>
                <a:ea typeface="Verdana"/>
                <a:cs typeface="Arial"/>
              </a:rPr>
              <a:t>Koplopers ziekenhuizen (UMC Utrecht, </a:t>
            </a:r>
            <a:r>
              <a:rPr lang="nl-NL" sz="1000" err="1">
                <a:solidFill>
                  <a:srgbClr val="000000"/>
                </a:solidFill>
                <a:latin typeface="Verdana"/>
                <a:ea typeface="Verdana"/>
                <a:cs typeface="Arial"/>
              </a:rPr>
              <a:t>Diakonessenhuis</a:t>
            </a:r>
            <a:r>
              <a:rPr lang="nl-NL" sz="1000">
                <a:solidFill>
                  <a:srgbClr val="000000"/>
                </a:solidFill>
                <a:latin typeface="Verdana"/>
                <a:ea typeface="Verdana"/>
                <a:cs typeface="Arial"/>
              </a:rPr>
              <a:t>) </a:t>
            </a:r>
          </a:p>
          <a:p>
            <a:pPr marL="85725" indent="-85725">
              <a:spcAft>
                <a:spcPts val="600"/>
              </a:spcAft>
              <a:buFont typeface="Arial" panose="020B0604020202020204" pitchFamily="34" charset="0"/>
              <a:buChar char="•"/>
              <a:defRPr/>
            </a:pPr>
            <a:endParaRPr lang="nl-NL" sz="1000" b="0" i="0" u="none" strike="noStrike" kern="1200" cap="none" spc="0" normalizeH="0" baseline="0" noProof="0">
              <a:ln>
                <a:noFill/>
              </a:ln>
              <a:solidFill>
                <a:srgbClr val="000000"/>
              </a:solidFill>
              <a:effectLst/>
              <a:uLnTx/>
              <a:uFillTx/>
              <a:latin typeface="Verdana"/>
              <a:ea typeface="Verdana"/>
              <a:cs typeface="Arial"/>
            </a:endParaRPr>
          </a:p>
          <a:p>
            <a:pPr>
              <a:spcAft>
                <a:spcPts val="600"/>
              </a:spcAft>
              <a:defRPr/>
            </a:pPr>
            <a:endParaRPr lang="nl-NL" sz="1000" b="1">
              <a:solidFill>
                <a:srgbClr val="000000"/>
              </a:solidFill>
              <a:latin typeface="Verdana" panose="020B0604030504040204" pitchFamily="34" charset="0"/>
              <a:ea typeface="Verdana" panose="020B0604030504040204" pitchFamily="34" charset="0"/>
              <a:cs typeface="Arial"/>
            </a:endParaRPr>
          </a:p>
        </p:txBody>
      </p:sp>
      <p:sp>
        <p:nvSpPr>
          <p:cNvPr id="35" name="Rectangle: Rounded Corners 4">
            <a:extLst>
              <a:ext uri="{FF2B5EF4-FFF2-40B4-BE49-F238E27FC236}">
                <a16:creationId xmlns:a16="http://schemas.microsoft.com/office/drawing/2014/main" id="{28CCE7CF-7EFA-2CCE-6F2A-BC2C0938FF8B}"/>
              </a:ext>
            </a:extLst>
          </p:cNvPr>
          <p:cNvSpPr/>
          <p:nvPr/>
        </p:nvSpPr>
        <p:spPr>
          <a:xfrm>
            <a:off x="6440721" y="2626129"/>
            <a:ext cx="2225142" cy="1017804"/>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latin typeface="Verdana"/>
                <a:ea typeface="Verdana"/>
              </a:rPr>
              <a:t>Evaluatie en optimaliseren uitrol</a:t>
            </a:r>
          </a:p>
          <a:p>
            <a:pPr marL="171450" indent="-171450">
              <a:spcAft>
                <a:spcPts val="600"/>
              </a:spcAft>
              <a:buFont typeface="Arial" panose="020B0604020202020204" pitchFamily="34" charset="0"/>
              <a:buChar char="•"/>
              <a:defRPr/>
            </a:pPr>
            <a:r>
              <a:rPr lang="nl-NL" sz="1000">
                <a:latin typeface="Verdana"/>
                <a:ea typeface="Verdana"/>
              </a:rPr>
              <a:t>Volger</a:t>
            </a:r>
            <a:r>
              <a:rPr lang="nl-NL" sz="1000">
                <a:effectLst/>
                <a:latin typeface="Verdana"/>
                <a:ea typeface="Verdana"/>
              </a:rPr>
              <a:t> </a:t>
            </a:r>
            <a:r>
              <a:rPr lang="nl-NL" sz="1000">
                <a:latin typeface="Verdana"/>
                <a:ea typeface="Verdana"/>
              </a:rPr>
              <a:t>ziekenhuizen (St. Antonius Ziekenhuis)</a:t>
            </a:r>
            <a:endParaRPr lang="nl-NL" sz="1000">
              <a:effectLst/>
              <a:latin typeface="Verdana" panose="020B0604030504040204" pitchFamily="34" charset="0"/>
              <a:ea typeface="Verdana" panose="020B0604030504040204" pitchFamily="34" charset="0"/>
            </a:endParaRPr>
          </a:p>
          <a:p>
            <a:pPr marL="171450" indent="-171450">
              <a:spcAft>
                <a:spcPts val="600"/>
              </a:spcAft>
              <a:buFont typeface="Arial" panose="020B0604020202020204" pitchFamily="34" charset="0"/>
              <a:buChar char="•"/>
              <a:defRPr/>
            </a:pPr>
            <a:r>
              <a:rPr lang="nl-NL" sz="1000">
                <a:effectLst/>
                <a:latin typeface="Verdana"/>
                <a:ea typeface="Verdana"/>
              </a:rPr>
              <a:t>Koplopers klinieken</a:t>
            </a:r>
            <a:endParaRPr lang="nl-NL" sz="400" b="1">
              <a:solidFill>
                <a:srgbClr val="000000"/>
              </a:solidFill>
              <a:latin typeface="Verdana"/>
              <a:ea typeface="Verdana"/>
              <a:cs typeface="Arial"/>
            </a:endParaRPr>
          </a:p>
        </p:txBody>
      </p:sp>
      <p:sp>
        <p:nvSpPr>
          <p:cNvPr id="36" name="Rectangle: Rounded Corners 4">
            <a:extLst>
              <a:ext uri="{FF2B5EF4-FFF2-40B4-BE49-F238E27FC236}">
                <a16:creationId xmlns:a16="http://schemas.microsoft.com/office/drawing/2014/main" id="{AE75C597-9E2F-6934-2A6E-ABBA64AB1F7A}"/>
              </a:ext>
            </a:extLst>
          </p:cNvPr>
          <p:cNvSpPr/>
          <p:nvPr/>
        </p:nvSpPr>
        <p:spPr>
          <a:xfrm>
            <a:off x="8737147" y="2637564"/>
            <a:ext cx="2184835" cy="1017804"/>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Voorbereiding opschaling</a:t>
            </a:r>
          </a:p>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Volgers klinieken</a:t>
            </a:r>
          </a:p>
        </p:txBody>
      </p:sp>
      <p:sp>
        <p:nvSpPr>
          <p:cNvPr id="37" name="Rectangle: Rounded Corners 28">
            <a:extLst>
              <a:ext uri="{FF2B5EF4-FFF2-40B4-BE49-F238E27FC236}">
                <a16:creationId xmlns:a16="http://schemas.microsoft.com/office/drawing/2014/main" id="{F9062753-EF97-3193-009D-2ACD3AA5F790}"/>
              </a:ext>
            </a:extLst>
          </p:cNvPr>
          <p:cNvSpPr>
            <a:spLocks/>
          </p:cNvSpPr>
          <p:nvPr/>
        </p:nvSpPr>
        <p:spPr>
          <a:xfrm>
            <a:off x="4251028" y="3696893"/>
            <a:ext cx="6794882" cy="259001"/>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1">
                <a:solidFill>
                  <a:schemeClr val="tx1"/>
                </a:solidFill>
                <a:latin typeface="Verdana" panose="020B0604030504040204" pitchFamily="34" charset="0"/>
                <a:ea typeface="Verdana" panose="020B0604030504040204" pitchFamily="34" charset="0"/>
              </a:rPr>
              <a:t>Technisch gereed</a:t>
            </a:r>
            <a:endParaRPr kumimoji="0" lang="nl-NL" sz="10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endParaRPr>
          </a:p>
        </p:txBody>
      </p:sp>
      <p:sp>
        <p:nvSpPr>
          <p:cNvPr id="38" name="Rectangle: Rounded Corners 28">
            <a:extLst>
              <a:ext uri="{FF2B5EF4-FFF2-40B4-BE49-F238E27FC236}">
                <a16:creationId xmlns:a16="http://schemas.microsoft.com/office/drawing/2014/main" id="{7747E91D-F9DB-0011-3E93-BDE1B9E7E8C4}"/>
              </a:ext>
            </a:extLst>
          </p:cNvPr>
          <p:cNvSpPr>
            <a:spLocks/>
          </p:cNvSpPr>
          <p:nvPr/>
        </p:nvSpPr>
        <p:spPr>
          <a:xfrm>
            <a:off x="4251028" y="4964068"/>
            <a:ext cx="6837479" cy="255149"/>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1">
                <a:solidFill>
                  <a:schemeClr val="tx1"/>
                </a:solidFill>
                <a:latin typeface="Verdana"/>
                <a:ea typeface="Verdana"/>
              </a:rPr>
              <a:t>Procesmatig gereed</a:t>
            </a:r>
            <a:endParaRPr kumimoji="0" lang="nl-NL" sz="1000" b="1" i="0" u="none" strike="noStrike" kern="1200" cap="none" spc="0" normalizeH="0" baseline="0" noProof="0">
              <a:ln>
                <a:noFill/>
              </a:ln>
              <a:solidFill>
                <a:schemeClr val="tx1"/>
              </a:solidFill>
              <a:effectLst/>
              <a:uLnTx/>
              <a:uFillTx/>
              <a:latin typeface="Verdana"/>
              <a:ea typeface="Verdana"/>
            </a:endParaRPr>
          </a:p>
        </p:txBody>
      </p:sp>
      <p:sp>
        <p:nvSpPr>
          <p:cNvPr id="39" name="Rectangle: Rounded Corners 28">
            <a:extLst>
              <a:ext uri="{FF2B5EF4-FFF2-40B4-BE49-F238E27FC236}">
                <a16:creationId xmlns:a16="http://schemas.microsoft.com/office/drawing/2014/main" id="{8843E54C-566D-8E15-C3B9-C4A7C2CFC02F}"/>
              </a:ext>
            </a:extLst>
          </p:cNvPr>
          <p:cNvSpPr>
            <a:spLocks/>
          </p:cNvSpPr>
          <p:nvPr/>
        </p:nvSpPr>
        <p:spPr>
          <a:xfrm>
            <a:off x="4251028" y="2333159"/>
            <a:ext cx="6743158" cy="256163"/>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rPr>
              <a:t>Doelgroepen</a:t>
            </a:r>
          </a:p>
        </p:txBody>
      </p:sp>
      <p:sp>
        <p:nvSpPr>
          <p:cNvPr id="40" name="Rectangle: Rounded Corners 4">
            <a:extLst>
              <a:ext uri="{FF2B5EF4-FFF2-40B4-BE49-F238E27FC236}">
                <a16:creationId xmlns:a16="http://schemas.microsoft.com/office/drawing/2014/main" id="{FC33595C-D0A7-2E9C-CD59-0DBF03F3EC0F}"/>
              </a:ext>
            </a:extLst>
          </p:cNvPr>
          <p:cNvSpPr/>
          <p:nvPr/>
        </p:nvSpPr>
        <p:spPr>
          <a:xfrm>
            <a:off x="4251029" y="4008060"/>
            <a:ext cx="2075815" cy="931659"/>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Implementatie conform NEN 7540</a:t>
            </a:r>
          </a:p>
        </p:txBody>
      </p:sp>
      <p:sp>
        <p:nvSpPr>
          <p:cNvPr id="41" name="Rectangle: Rounded Corners 4">
            <a:extLst>
              <a:ext uri="{FF2B5EF4-FFF2-40B4-BE49-F238E27FC236}">
                <a16:creationId xmlns:a16="http://schemas.microsoft.com/office/drawing/2014/main" id="{9A979388-3644-AA70-78C3-477388EF8A44}"/>
              </a:ext>
            </a:extLst>
          </p:cNvPr>
          <p:cNvSpPr/>
          <p:nvPr/>
        </p:nvSpPr>
        <p:spPr>
          <a:xfrm>
            <a:off x="6440722" y="5277830"/>
            <a:ext cx="2225142" cy="110940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 A) verwijzen en B) opvragen. </a:t>
            </a:r>
          </a:p>
          <a:p>
            <a:pPr>
              <a:spcAft>
                <a:spcPts val="600"/>
              </a:spcAft>
              <a:defRPr/>
            </a:pPr>
            <a:endParaRPr lang="nl-NL" sz="1000">
              <a:solidFill>
                <a:srgbClr val="000000"/>
              </a:solidFill>
              <a:latin typeface="Verdana"/>
              <a:ea typeface="Verdana"/>
              <a:cs typeface="Arial"/>
            </a:endParaRPr>
          </a:p>
          <a:p>
            <a:pPr>
              <a:spcAft>
                <a:spcPts val="600"/>
              </a:spcAft>
              <a:defRPr/>
            </a:pPr>
            <a:endParaRPr lang="nl-NL" sz="1000">
              <a:solidFill>
                <a:srgbClr val="000000"/>
              </a:solidFill>
              <a:latin typeface="Verdana"/>
              <a:ea typeface="Verdana"/>
              <a:cs typeface="Arial"/>
            </a:endParaRPr>
          </a:p>
        </p:txBody>
      </p:sp>
      <p:sp>
        <p:nvSpPr>
          <p:cNvPr id="42" name="Rectangle: Rounded Corners 4">
            <a:extLst>
              <a:ext uri="{FF2B5EF4-FFF2-40B4-BE49-F238E27FC236}">
                <a16:creationId xmlns:a16="http://schemas.microsoft.com/office/drawing/2014/main" id="{0383A9D1-0E1E-173E-DD2C-E2FB0CE3CCDE}"/>
              </a:ext>
            </a:extLst>
          </p:cNvPr>
          <p:cNvSpPr/>
          <p:nvPr/>
        </p:nvSpPr>
        <p:spPr>
          <a:xfrm>
            <a:off x="6440721" y="4000558"/>
            <a:ext cx="2225142" cy="931659"/>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Implementatie conform NEN 7540 </a:t>
            </a:r>
          </a:p>
        </p:txBody>
      </p:sp>
      <p:pic>
        <p:nvPicPr>
          <p:cNvPr id="43" name="Graphic 37">
            <a:extLst>
              <a:ext uri="{FF2B5EF4-FFF2-40B4-BE49-F238E27FC236}">
                <a16:creationId xmlns:a16="http://schemas.microsoft.com/office/drawing/2014/main" id="{3762B0DA-556A-08FB-9C3A-EFA4EDF2C8C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293233" y="5903190"/>
            <a:ext cx="370686" cy="370686"/>
          </a:xfrm>
          <a:prstGeom prst="rect">
            <a:avLst/>
          </a:prstGeom>
        </p:spPr>
      </p:pic>
      <p:sp>
        <p:nvSpPr>
          <p:cNvPr id="44" name="Tekstvak 38">
            <a:extLst>
              <a:ext uri="{FF2B5EF4-FFF2-40B4-BE49-F238E27FC236}">
                <a16:creationId xmlns:a16="http://schemas.microsoft.com/office/drawing/2014/main" id="{1B74CC1C-FFCA-7D6A-447F-F3AB69DF53A3}"/>
              </a:ext>
            </a:extLst>
          </p:cNvPr>
          <p:cNvSpPr txBox="1"/>
          <p:nvPr/>
        </p:nvSpPr>
        <p:spPr>
          <a:xfrm>
            <a:off x="4635303" y="5899544"/>
            <a:ext cx="1737815" cy="338554"/>
          </a:xfrm>
          <a:prstGeom prst="rect">
            <a:avLst/>
          </a:prstGeom>
          <a:noFill/>
        </p:spPr>
        <p:txBody>
          <a:bodyPr wrap="square" lIns="91440" tIns="45720" rIns="91440" bIns="45720" anchor="ctr">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defRPr/>
            </a:pPr>
            <a:r>
              <a:rPr lang="nl-NL" sz="800" b="1">
                <a:solidFill>
                  <a:srgbClr val="000000"/>
                </a:solidFill>
                <a:latin typeface="Verdana"/>
                <a:ea typeface="Verdana"/>
                <a:cs typeface="Arial"/>
              </a:rPr>
              <a:t>Werkafspraak medische overdracht gepubliceerd</a:t>
            </a:r>
            <a:endParaRPr lang="nl-NL" sz="800" b="1" err="1">
              <a:solidFill>
                <a:srgbClr val="000000"/>
              </a:solidFill>
              <a:latin typeface="Verdana" panose="020B0604030504040204" pitchFamily="34" charset="0"/>
              <a:ea typeface="Verdana" panose="020B0604030504040204" pitchFamily="34" charset="0"/>
              <a:cs typeface="Arial"/>
            </a:endParaRPr>
          </a:p>
        </p:txBody>
      </p:sp>
      <p:pic>
        <p:nvPicPr>
          <p:cNvPr id="45" name="Graphic 39">
            <a:extLst>
              <a:ext uri="{FF2B5EF4-FFF2-40B4-BE49-F238E27FC236}">
                <a16:creationId xmlns:a16="http://schemas.microsoft.com/office/drawing/2014/main" id="{38BC9EA8-FD28-9566-BC97-245BA9F5148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24405" y="4514031"/>
            <a:ext cx="370686" cy="370686"/>
          </a:xfrm>
          <a:prstGeom prst="rect">
            <a:avLst/>
          </a:prstGeom>
        </p:spPr>
      </p:pic>
      <p:sp>
        <p:nvSpPr>
          <p:cNvPr id="46" name="Tekstvak 40">
            <a:extLst>
              <a:ext uri="{FF2B5EF4-FFF2-40B4-BE49-F238E27FC236}">
                <a16:creationId xmlns:a16="http://schemas.microsoft.com/office/drawing/2014/main" id="{628C5F82-CA3A-FD1F-CED3-F621EC7C6AB2}"/>
              </a:ext>
            </a:extLst>
          </p:cNvPr>
          <p:cNvSpPr txBox="1"/>
          <p:nvPr/>
        </p:nvSpPr>
        <p:spPr>
          <a:xfrm>
            <a:off x="4660688" y="4461630"/>
            <a:ext cx="1693541" cy="461665"/>
          </a:xfrm>
          <a:prstGeom prst="rect">
            <a:avLst/>
          </a:prstGeom>
          <a:noFill/>
        </p:spPr>
        <p:txBody>
          <a:bodyPr wrap="square" lIns="91440" tIns="45720" rIns="91440" bIns="45720" anchor="ctr">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defRPr/>
            </a:pPr>
            <a:r>
              <a:rPr lang="nl-NL" sz="800" b="1" err="1">
                <a:solidFill>
                  <a:srgbClr val="000000"/>
                </a:solidFill>
                <a:latin typeface="Verdana"/>
                <a:ea typeface="Verdana"/>
                <a:cs typeface="Arial"/>
              </a:rPr>
              <a:t>BgZ</a:t>
            </a:r>
            <a:r>
              <a:rPr lang="nl-NL" sz="800" b="1">
                <a:solidFill>
                  <a:srgbClr val="000000"/>
                </a:solidFill>
                <a:latin typeface="Verdana"/>
                <a:ea typeface="Verdana"/>
                <a:cs typeface="Arial"/>
              </a:rPr>
              <a:t> technisch gerealiseerd bij koplopers ziekenhuizen</a:t>
            </a:r>
            <a:endParaRPr lang="nl-NL" sz="800" b="1">
              <a:solidFill>
                <a:srgbClr val="000000"/>
              </a:solidFill>
              <a:latin typeface="Verdana" panose="020B0604030504040204" pitchFamily="34" charset="0"/>
              <a:ea typeface="Verdana" panose="020B0604030504040204" pitchFamily="34" charset="0"/>
              <a:cs typeface="Arial"/>
            </a:endParaRPr>
          </a:p>
        </p:txBody>
      </p:sp>
      <p:pic>
        <p:nvPicPr>
          <p:cNvPr id="47" name="Graphic 41">
            <a:extLst>
              <a:ext uri="{FF2B5EF4-FFF2-40B4-BE49-F238E27FC236}">
                <a16:creationId xmlns:a16="http://schemas.microsoft.com/office/drawing/2014/main" id="{CCFE34B3-EE7F-00E7-0C5B-EA20CF73D6E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485203" y="5925136"/>
            <a:ext cx="370686" cy="370686"/>
          </a:xfrm>
          <a:prstGeom prst="rect">
            <a:avLst/>
          </a:prstGeom>
        </p:spPr>
      </p:pic>
      <p:pic>
        <p:nvPicPr>
          <p:cNvPr id="48" name="Graphic 42">
            <a:extLst>
              <a:ext uri="{FF2B5EF4-FFF2-40B4-BE49-F238E27FC236}">
                <a16:creationId xmlns:a16="http://schemas.microsoft.com/office/drawing/2014/main" id="{5FD02BFD-E524-CA08-8C87-0E419D79A43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547905" y="4525467"/>
            <a:ext cx="370686" cy="370686"/>
          </a:xfrm>
          <a:prstGeom prst="rect">
            <a:avLst/>
          </a:prstGeom>
        </p:spPr>
      </p:pic>
      <p:sp>
        <p:nvSpPr>
          <p:cNvPr id="49" name="Rectangle: Rounded Corners 4">
            <a:extLst>
              <a:ext uri="{FF2B5EF4-FFF2-40B4-BE49-F238E27FC236}">
                <a16:creationId xmlns:a16="http://schemas.microsoft.com/office/drawing/2014/main" id="{F0D28306-8639-C5CA-88DE-4C939D8094F9}"/>
              </a:ext>
            </a:extLst>
          </p:cNvPr>
          <p:cNvSpPr/>
          <p:nvPr/>
        </p:nvSpPr>
        <p:spPr>
          <a:xfrm>
            <a:off x="8737148" y="5269126"/>
            <a:ext cx="2225142" cy="110940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 A) verwijzen en B) opvragen. </a:t>
            </a:r>
          </a:p>
        </p:txBody>
      </p:sp>
      <p:sp>
        <p:nvSpPr>
          <p:cNvPr id="50" name="Rectangle: Rounded Corners 4">
            <a:extLst>
              <a:ext uri="{FF2B5EF4-FFF2-40B4-BE49-F238E27FC236}">
                <a16:creationId xmlns:a16="http://schemas.microsoft.com/office/drawing/2014/main" id="{A78C4266-CE0A-1B50-F3EB-E2E877131005}"/>
              </a:ext>
            </a:extLst>
          </p:cNvPr>
          <p:cNvSpPr/>
          <p:nvPr/>
        </p:nvSpPr>
        <p:spPr>
          <a:xfrm>
            <a:off x="8737147" y="4003289"/>
            <a:ext cx="2184835" cy="931659"/>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de-D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Implementatie conform NEN 7540</a:t>
            </a:r>
          </a:p>
        </p:txBody>
      </p:sp>
      <p:pic>
        <p:nvPicPr>
          <p:cNvPr id="51" name="Graphic 49">
            <a:extLst>
              <a:ext uri="{FF2B5EF4-FFF2-40B4-BE49-F238E27FC236}">
                <a16:creationId xmlns:a16="http://schemas.microsoft.com/office/drawing/2014/main" id="{486610AD-C69C-32E3-A425-2C5D69CE764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806977" y="5905922"/>
            <a:ext cx="370686" cy="370686"/>
          </a:xfrm>
          <a:prstGeom prst="rect">
            <a:avLst/>
          </a:prstGeom>
        </p:spPr>
      </p:pic>
      <p:pic>
        <p:nvPicPr>
          <p:cNvPr id="52" name="Graphic 51">
            <a:extLst>
              <a:ext uri="{FF2B5EF4-FFF2-40B4-BE49-F238E27FC236}">
                <a16:creationId xmlns:a16="http://schemas.microsoft.com/office/drawing/2014/main" id="{FD857955-6DA8-AD33-1445-B506598EC15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806618" y="4516763"/>
            <a:ext cx="370686" cy="370686"/>
          </a:xfrm>
          <a:prstGeom prst="rect">
            <a:avLst/>
          </a:prstGeom>
        </p:spPr>
      </p:pic>
      <p:sp>
        <p:nvSpPr>
          <p:cNvPr id="53" name="Tekstvak 58">
            <a:extLst>
              <a:ext uri="{FF2B5EF4-FFF2-40B4-BE49-F238E27FC236}">
                <a16:creationId xmlns:a16="http://schemas.microsoft.com/office/drawing/2014/main" id="{975BC900-3556-1937-75AD-4556571E27A3}"/>
              </a:ext>
            </a:extLst>
          </p:cNvPr>
          <p:cNvSpPr txBox="1"/>
          <p:nvPr/>
        </p:nvSpPr>
        <p:spPr>
          <a:xfrm>
            <a:off x="6866819" y="5854899"/>
            <a:ext cx="1786594" cy="461665"/>
          </a:xfrm>
          <a:prstGeom prst="rect">
            <a:avLst/>
          </a:prstGeom>
          <a:noFill/>
        </p:spPr>
        <p:txBody>
          <a:bodyPr wrap="square" lIns="91440" tIns="45720" rIns="91440" bIns="45720" anchor="ctr">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defRPr/>
            </a:pPr>
            <a:r>
              <a:rPr lang="nl-NL" sz="800" b="1" err="1">
                <a:solidFill>
                  <a:srgbClr val="000000"/>
                </a:solidFill>
                <a:latin typeface="Verdana"/>
                <a:ea typeface="Verdana"/>
                <a:cs typeface="Arial"/>
              </a:rPr>
              <a:t>BgZ</a:t>
            </a:r>
            <a:r>
              <a:rPr lang="nl-NL" sz="800" b="1">
                <a:solidFill>
                  <a:srgbClr val="000000"/>
                </a:solidFill>
                <a:latin typeface="Verdana"/>
                <a:ea typeface="Verdana"/>
                <a:cs typeface="Arial"/>
              </a:rPr>
              <a:t> opgenomen in werkproces koplopers en volgers</a:t>
            </a:r>
            <a:endParaRPr lang="nl-NL" sz="800" b="1">
              <a:solidFill>
                <a:srgbClr val="000000"/>
              </a:solidFill>
              <a:latin typeface="Verdana" panose="020B0604030504040204" pitchFamily="34" charset="0"/>
              <a:ea typeface="Verdana" panose="020B0604030504040204" pitchFamily="34" charset="0"/>
              <a:cs typeface="Arial"/>
            </a:endParaRPr>
          </a:p>
        </p:txBody>
      </p:sp>
      <p:sp>
        <p:nvSpPr>
          <p:cNvPr id="60" name="Tekstvak 62">
            <a:extLst>
              <a:ext uri="{FF2B5EF4-FFF2-40B4-BE49-F238E27FC236}">
                <a16:creationId xmlns:a16="http://schemas.microsoft.com/office/drawing/2014/main" id="{5E5187CF-16C7-59BD-A560-F41E3B78A19B}"/>
              </a:ext>
            </a:extLst>
          </p:cNvPr>
          <p:cNvSpPr txBox="1"/>
          <p:nvPr/>
        </p:nvSpPr>
        <p:spPr>
          <a:xfrm>
            <a:off x="9157410" y="5837245"/>
            <a:ext cx="1786594" cy="461665"/>
          </a:xfrm>
          <a:prstGeom prst="rect">
            <a:avLst/>
          </a:prstGeom>
          <a:noFill/>
        </p:spPr>
        <p:txBody>
          <a:bodyPr wrap="square" lIns="91440" tIns="45720" rIns="91440" bIns="45720" anchor="ctr">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defRPr/>
            </a:pPr>
            <a:r>
              <a:rPr lang="nl-NL" sz="800" b="1" err="1">
                <a:solidFill>
                  <a:srgbClr val="000000"/>
                </a:solidFill>
                <a:latin typeface="Verdana"/>
                <a:ea typeface="Verdana"/>
                <a:cs typeface="Arial"/>
              </a:rPr>
              <a:t>BgZ</a:t>
            </a:r>
            <a:r>
              <a:rPr lang="nl-NL" sz="800" b="1">
                <a:solidFill>
                  <a:srgbClr val="000000"/>
                </a:solidFill>
                <a:latin typeface="Verdana"/>
                <a:ea typeface="Verdana"/>
                <a:cs typeface="Arial"/>
              </a:rPr>
              <a:t> opgenomen in werkproces alle ziekenhuizen en klinieken</a:t>
            </a:r>
            <a:endParaRPr lang="nl-NL" sz="800" b="1">
              <a:solidFill>
                <a:srgbClr val="000000"/>
              </a:solidFill>
              <a:latin typeface="Verdana" panose="020B0604030504040204" pitchFamily="34" charset="0"/>
              <a:ea typeface="Verdana" panose="020B0604030504040204" pitchFamily="34" charset="0"/>
              <a:cs typeface="Arial"/>
            </a:endParaRPr>
          </a:p>
        </p:txBody>
      </p:sp>
      <p:sp>
        <p:nvSpPr>
          <p:cNvPr id="61" name="Tekstvak 63">
            <a:extLst>
              <a:ext uri="{FF2B5EF4-FFF2-40B4-BE49-F238E27FC236}">
                <a16:creationId xmlns:a16="http://schemas.microsoft.com/office/drawing/2014/main" id="{20CB545B-5519-1130-2C44-6EAFA3452E39}"/>
              </a:ext>
            </a:extLst>
          </p:cNvPr>
          <p:cNvSpPr txBox="1"/>
          <p:nvPr/>
        </p:nvSpPr>
        <p:spPr>
          <a:xfrm>
            <a:off x="6897910" y="4477171"/>
            <a:ext cx="1786594" cy="461665"/>
          </a:xfrm>
          <a:prstGeom prst="rect">
            <a:avLst/>
          </a:prstGeom>
          <a:noFill/>
        </p:spPr>
        <p:txBody>
          <a:bodyPr wrap="square" lIns="91440" tIns="45720" rIns="91440" bIns="45720" anchor="ctr">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defRPr/>
            </a:pPr>
            <a:r>
              <a:rPr lang="nl-NL" sz="800" b="1" err="1">
                <a:solidFill>
                  <a:srgbClr val="000000"/>
                </a:solidFill>
                <a:latin typeface="Verdana"/>
                <a:ea typeface="Verdana"/>
                <a:cs typeface="Arial"/>
              </a:rPr>
              <a:t>BgZ</a:t>
            </a:r>
            <a:r>
              <a:rPr lang="nl-NL" sz="800" b="1">
                <a:solidFill>
                  <a:srgbClr val="000000"/>
                </a:solidFill>
                <a:latin typeface="Verdana"/>
                <a:ea typeface="Verdana"/>
                <a:cs typeface="Arial"/>
              </a:rPr>
              <a:t> technisch gerealiseerd bij volger ziekenhuizen en koplopers klinieken</a:t>
            </a:r>
            <a:endParaRPr lang="nl-NL" sz="800" b="1">
              <a:solidFill>
                <a:srgbClr val="000000"/>
              </a:solidFill>
              <a:latin typeface="Verdana" panose="020B0604030504040204" pitchFamily="34" charset="0"/>
              <a:ea typeface="Verdana" panose="020B0604030504040204" pitchFamily="34" charset="0"/>
              <a:cs typeface="Arial"/>
            </a:endParaRPr>
          </a:p>
        </p:txBody>
      </p:sp>
      <p:sp>
        <p:nvSpPr>
          <p:cNvPr id="136" name="Tekstvak 64">
            <a:extLst>
              <a:ext uri="{FF2B5EF4-FFF2-40B4-BE49-F238E27FC236}">
                <a16:creationId xmlns:a16="http://schemas.microsoft.com/office/drawing/2014/main" id="{7247588B-50EB-01FB-D0DC-1306DDF49E36}"/>
              </a:ext>
            </a:extLst>
          </p:cNvPr>
          <p:cNvSpPr txBox="1"/>
          <p:nvPr/>
        </p:nvSpPr>
        <p:spPr>
          <a:xfrm>
            <a:off x="9207592" y="4469814"/>
            <a:ext cx="1786594" cy="461665"/>
          </a:xfrm>
          <a:prstGeom prst="rect">
            <a:avLst/>
          </a:prstGeom>
          <a:noFill/>
        </p:spPr>
        <p:txBody>
          <a:bodyPr wrap="square" lIns="91440" tIns="45720" rIns="91440" bIns="45720" anchor="ctr">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defRPr/>
            </a:pPr>
            <a:r>
              <a:rPr lang="nl-NL" sz="800" b="1" err="1">
                <a:solidFill>
                  <a:srgbClr val="000000"/>
                </a:solidFill>
                <a:latin typeface="Verdana"/>
                <a:ea typeface="Verdana"/>
                <a:cs typeface="Arial"/>
              </a:rPr>
              <a:t>BgZ</a:t>
            </a:r>
            <a:r>
              <a:rPr lang="nl-NL" sz="800" b="1">
                <a:solidFill>
                  <a:srgbClr val="000000"/>
                </a:solidFill>
                <a:latin typeface="Verdana"/>
                <a:ea typeface="Verdana"/>
                <a:cs typeface="Arial"/>
              </a:rPr>
              <a:t> technisch gerealiseerd bij alle ziekenhuizen en klinieken</a:t>
            </a:r>
            <a:endParaRPr lang="nl-NL" sz="800" b="1">
              <a:solidFill>
                <a:srgbClr val="000000"/>
              </a:solidFill>
              <a:latin typeface="Verdana" panose="020B0604030504040204" pitchFamily="34" charset="0"/>
              <a:ea typeface="Verdana" panose="020B0604030504040204" pitchFamily="34" charset="0"/>
              <a:cs typeface="Arial"/>
            </a:endParaRPr>
          </a:p>
        </p:txBody>
      </p:sp>
      <p:sp>
        <p:nvSpPr>
          <p:cNvPr id="138" name="TextBox 1">
            <a:extLst>
              <a:ext uri="{FF2B5EF4-FFF2-40B4-BE49-F238E27FC236}">
                <a16:creationId xmlns:a16="http://schemas.microsoft.com/office/drawing/2014/main" id="{EC46BECE-3E2B-640C-3C10-4CD5908EC539}"/>
              </a:ext>
            </a:extLst>
          </p:cNvPr>
          <p:cNvSpPr txBox="1"/>
          <p:nvPr/>
        </p:nvSpPr>
        <p:spPr>
          <a:xfrm>
            <a:off x="8739545" y="6538939"/>
            <a:ext cx="237491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latin typeface="Verdana"/>
                <a:ea typeface="Calibri"/>
                <a:cs typeface="Calibri"/>
              </a:rPr>
              <a:t>*</a:t>
            </a:r>
            <a:r>
              <a:rPr lang="en-US" sz="800" err="1">
                <a:latin typeface="Verdana"/>
                <a:ea typeface="Calibri"/>
                <a:cs typeface="Calibri"/>
              </a:rPr>
              <a:t>Echte</a:t>
            </a:r>
            <a:r>
              <a:rPr lang="en-US" sz="800">
                <a:latin typeface="Verdana"/>
                <a:ea typeface="Calibri"/>
                <a:cs typeface="Calibri"/>
              </a:rPr>
              <a:t> start datum </a:t>
            </a:r>
            <a:r>
              <a:rPr lang="en-US" sz="800" err="1">
                <a:latin typeface="Verdana"/>
                <a:ea typeface="Calibri"/>
                <a:cs typeface="Calibri"/>
              </a:rPr>
              <a:t>hangt</a:t>
            </a:r>
            <a:r>
              <a:rPr lang="en-US" sz="800">
                <a:latin typeface="Verdana"/>
                <a:ea typeface="Calibri"/>
                <a:cs typeface="Calibri"/>
              </a:rPr>
              <a:t> </a:t>
            </a:r>
            <a:r>
              <a:rPr lang="en-US" sz="800" err="1">
                <a:latin typeface="Verdana"/>
                <a:ea typeface="Calibri"/>
                <a:cs typeface="Calibri"/>
              </a:rPr>
              <a:t>af</a:t>
            </a:r>
            <a:r>
              <a:rPr lang="en-US" sz="800">
                <a:latin typeface="Verdana"/>
                <a:ea typeface="Calibri"/>
                <a:cs typeface="Calibri"/>
              </a:rPr>
              <a:t> van Chipsoft</a:t>
            </a:r>
          </a:p>
        </p:txBody>
      </p:sp>
    </p:spTree>
    <p:extLst>
      <p:ext uri="{BB962C8B-B14F-4D97-AF65-F5344CB8AC3E}">
        <p14:creationId xmlns:p14="http://schemas.microsoft.com/office/powerpoint/2010/main" val="41474241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D4B1E-7016-39ED-E6E2-570FDF5033D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24711F-4CF3-34F1-2C43-B0D277D367E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0B24711F-4CF3-34F1-2C43-B0D277D367E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el 2">
            <a:extLst>
              <a:ext uri="{FF2B5EF4-FFF2-40B4-BE49-F238E27FC236}">
                <a16:creationId xmlns:a16="http://schemas.microsoft.com/office/drawing/2014/main" id="{8E4EF63A-6FAA-1DF6-9ABE-4F73CDB232B1}"/>
              </a:ext>
            </a:extLst>
          </p:cNvPr>
          <p:cNvSpPr>
            <a:spLocks noGrp="1"/>
          </p:cNvSpPr>
          <p:nvPr>
            <p:ph type="title"/>
          </p:nvPr>
        </p:nvSpPr>
        <p:spPr/>
        <p:txBody>
          <a:bodyPr>
            <a:noAutofit/>
          </a:bodyPr>
          <a:lstStyle/>
          <a:p>
            <a:r>
              <a:rPr lang="nl-NL">
                <a:latin typeface="Verdana Pro" panose="020B0604030504040204" pitchFamily="34" charset="0"/>
              </a:rPr>
              <a:t>Medische Overdracht – Impact</a:t>
            </a:r>
            <a:endParaRPr lang="en-NL">
              <a:latin typeface="Verdana Pro" panose="020B0604030504040204" pitchFamily="34" charset="0"/>
            </a:endParaRPr>
          </a:p>
        </p:txBody>
      </p:sp>
      <p:sp>
        <p:nvSpPr>
          <p:cNvPr id="5" name="Text Placeholder 4">
            <a:extLst>
              <a:ext uri="{FF2B5EF4-FFF2-40B4-BE49-F238E27FC236}">
                <a16:creationId xmlns:a16="http://schemas.microsoft.com/office/drawing/2014/main" id="{1D5B43D1-A241-57FD-AA14-32EA0FD23B25}"/>
              </a:ext>
            </a:extLst>
          </p:cNvPr>
          <p:cNvSpPr>
            <a:spLocks noGrp="1"/>
          </p:cNvSpPr>
          <p:nvPr>
            <p:ph type="body" sz="quarter" idx="10"/>
          </p:nvPr>
        </p:nvSpPr>
        <p:spPr>
          <a:xfrm>
            <a:off x="425302" y="969997"/>
            <a:ext cx="9810898" cy="582411"/>
          </a:xfrm>
        </p:spPr>
        <p:txBody>
          <a:bodyPr/>
          <a:lstStyle/>
          <a:p>
            <a:r>
              <a:rPr lang="nl-NL" sz="1200"/>
              <a:t>Regionale tijdswinst door verzenden en ontvangen medische overdracht in 2026 meer dan 3 miljoen per jaar, ofwel 30 FTE </a:t>
            </a:r>
          </a:p>
        </p:txBody>
      </p:sp>
      <p:sp>
        <p:nvSpPr>
          <p:cNvPr id="2" name="Rectangle: Rounded Corners 7">
            <a:extLst>
              <a:ext uri="{FF2B5EF4-FFF2-40B4-BE49-F238E27FC236}">
                <a16:creationId xmlns:a16="http://schemas.microsoft.com/office/drawing/2014/main" id="{2A80DE19-8FC5-08CC-0C64-D5EF9E4B1465}"/>
              </a:ext>
            </a:extLst>
          </p:cNvPr>
          <p:cNvSpPr/>
          <p:nvPr/>
        </p:nvSpPr>
        <p:spPr>
          <a:xfrm>
            <a:off x="838198" y="1555856"/>
            <a:ext cx="4158893" cy="5070581"/>
          </a:xfrm>
          <a:prstGeom prst="roundRect">
            <a:avLst>
              <a:gd name="adj" fmla="val 5821"/>
            </a:avLst>
          </a:prstGeom>
          <a:solidFill>
            <a:schemeClr val="bg1"/>
          </a:solidFill>
          <a:ln w="12700">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black"/>
                </a:solidFill>
                <a:effectLst/>
                <a:uLnTx/>
                <a:uFillTx/>
                <a:latin typeface="Aptos Display"/>
                <a:ea typeface="+mn-ea"/>
                <a:cs typeface="+mn-cs"/>
              </a:rPr>
              <a:t>Kwalitatieve impact</a:t>
            </a:r>
            <a:r>
              <a:rPr kumimoji="0" lang="nl-NL" sz="1400" b="1" i="0" u="none" strike="noStrike" kern="1200" cap="none" spc="0" normalizeH="0" baseline="30000" noProof="0">
                <a:ln>
                  <a:noFill/>
                </a:ln>
                <a:solidFill>
                  <a:prstClr val="black"/>
                </a:solidFill>
                <a:effectLst/>
                <a:uLnTx/>
                <a:uFillTx/>
                <a:latin typeface="Aptos Display"/>
                <a:ea typeface="+mn-ea"/>
                <a:cs typeface="+mn-cs"/>
              </a:rPr>
              <a:t>1</a:t>
            </a:r>
          </a:p>
        </p:txBody>
      </p:sp>
      <p:sp>
        <p:nvSpPr>
          <p:cNvPr id="7" name="Partial Circle 12">
            <a:extLst>
              <a:ext uri="{FF2B5EF4-FFF2-40B4-BE49-F238E27FC236}">
                <a16:creationId xmlns:a16="http://schemas.microsoft.com/office/drawing/2014/main" id="{4333B4AA-6C29-9E75-BD51-76A8CB2D0908}"/>
              </a:ext>
            </a:extLst>
          </p:cNvPr>
          <p:cNvSpPr/>
          <p:nvPr/>
        </p:nvSpPr>
        <p:spPr>
          <a:xfrm>
            <a:off x="586176" y="2180280"/>
            <a:ext cx="914400" cy="914400"/>
          </a:xfrm>
          <a:prstGeom prst="pie">
            <a:avLst>
              <a:gd name="adj1" fmla="val 10767649"/>
              <a:gd name="adj2" fmla="val 16200000"/>
            </a:avLst>
          </a:prstGeom>
          <a:solidFill>
            <a:srgbClr val="DDEBCE"/>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2" name="Partial Circle 8">
            <a:extLst>
              <a:ext uri="{FF2B5EF4-FFF2-40B4-BE49-F238E27FC236}">
                <a16:creationId xmlns:a16="http://schemas.microsoft.com/office/drawing/2014/main" id="{59F844AE-4135-DF7B-CC98-352B19AF8E69}"/>
              </a:ext>
            </a:extLst>
          </p:cNvPr>
          <p:cNvSpPr/>
          <p:nvPr/>
        </p:nvSpPr>
        <p:spPr>
          <a:xfrm rot="5400000">
            <a:off x="128976" y="3397419"/>
            <a:ext cx="914400" cy="914400"/>
          </a:xfrm>
          <a:prstGeom prst="pie">
            <a:avLst>
              <a:gd name="adj1" fmla="val 10767649"/>
              <a:gd name="adj2" fmla="val 16200000"/>
            </a:avLst>
          </a:prstGeom>
          <a:solidFill>
            <a:srgbClr val="21BBEF"/>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3" name="Partial Circle 9">
            <a:extLst>
              <a:ext uri="{FF2B5EF4-FFF2-40B4-BE49-F238E27FC236}">
                <a16:creationId xmlns:a16="http://schemas.microsoft.com/office/drawing/2014/main" id="{D4EAB11C-D067-162F-2421-D1B0CFD496D2}"/>
              </a:ext>
            </a:extLst>
          </p:cNvPr>
          <p:cNvSpPr/>
          <p:nvPr/>
        </p:nvSpPr>
        <p:spPr>
          <a:xfrm rot="10800000">
            <a:off x="128976" y="4088751"/>
            <a:ext cx="914400" cy="914400"/>
          </a:xfrm>
          <a:prstGeom prst="pie">
            <a:avLst>
              <a:gd name="adj1" fmla="val 10767649"/>
              <a:gd name="adj2" fmla="val 16200000"/>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4" name="Partial Circle 10">
            <a:extLst>
              <a:ext uri="{FF2B5EF4-FFF2-40B4-BE49-F238E27FC236}">
                <a16:creationId xmlns:a16="http://schemas.microsoft.com/office/drawing/2014/main" id="{05EB05D1-7A08-8CCD-8944-15E71D253108}"/>
              </a:ext>
            </a:extLst>
          </p:cNvPr>
          <p:cNvSpPr/>
          <p:nvPr/>
        </p:nvSpPr>
        <p:spPr>
          <a:xfrm rot="16200000">
            <a:off x="573821" y="5078515"/>
            <a:ext cx="914400" cy="914400"/>
          </a:xfrm>
          <a:prstGeom prst="pie">
            <a:avLst>
              <a:gd name="adj1" fmla="val 10767649"/>
              <a:gd name="adj2" fmla="val 16200000"/>
            </a:avLst>
          </a:prstGeom>
          <a:solidFill>
            <a:srgbClr val="0E9D90"/>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5" name="Tekstvak 14">
            <a:extLst>
              <a:ext uri="{FF2B5EF4-FFF2-40B4-BE49-F238E27FC236}">
                <a16:creationId xmlns:a16="http://schemas.microsoft.com/office/drawing/2014/main" id="{CD41A108-A306-587A-D9DF-539C529C23B2}"/>
              </a:ext>
            </a:extLst>
          </p:cNvPr>
          <p:cNvSpPr txBox="1"/>
          <p:nvPr/>
        </p:nvSpPr>
        <p:spPr>
          <a:xfrm>
            <a:off x="723901" y="2314560"/>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1</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6" name="Tekstvak 15">
            <a:extLst>
              <a:ext uri="{FF2B5EF4-FFF2-40B4-BE49-F238E27FC236}">
                <a16:creationId xmlns:a16="http://schemas.microsoft.com/office/drawing/2014/main" id="{9F72CA37-93C9-DFDD-5941-FA50B4E077EE}"/>
              </a:ext>
            </a:extLst>
          </p:cNvPr>
          <p:cNvSpPr txBox="1"/>
          <p:nvPr/>
        </p:nvSpPr>
        <p:spPr>
          <a:xfrm>
            <a:off x="647701" y="3540470"/>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2</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7" name="Tekstvak 16">
            <a:extLst>
              <a:ext uri="{FF2B5EF4-FFF2-40B4-BE49-F238E27FC236}">
                <a16:creationId xmlns:a16="http://schemas.microsoft.com/office/drawing/2014/main" id="{7A9F79EB-0704-2874-01FE-02BA057654C6}"/>
              </a:ext>
            </a:extLst>
          </p:cNvPr>
          <p:cNvSpPr txBox="1"/>
          <p:nvPr/>
        </p:nvSpPr>
        <p:spPr>
          <a:xfrm>
            <a:off x="647700" y="4597459"/>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3</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8" name="Tekstvak 17">
            <a:extLst>
              <a:ext uri="{FF2B5EF4-FFF2-40B4-BE49-F238E27FC236}">
                <a16:creationId xmlns:a16="http://schemas.microsoft.com/office/drawing/2014/main" id="{B76EE753-DC66-2FC0-D0DB-E5EB0784C380}"/>
              </a:ext>
            </a:extLst>
          </p:cNvPr>
          <p:cNvSpPr txBox="1"/>
          <p:nvPr/>
        </p:nvSpPr>
        <p:spPr>
          <a:xfrm>
            <a:off x="719136" y="5599092"/>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Aptos"/>
                <a:ea typeface="+mn-ea"/>
                <a:cs typeface="+mn-cs"/>
              </a:rPr>
              <a:t>4</a:t>
            </a:r>
          </a:p>
        </p:txBody>
      </p:sp>
      <p:sp>
        <p:nvSpPr>
          <p:cNvPr id="19" name="Tekstvak 18">
            <a:extLst>
              <a:ext uri="{FF2B5EF4-FFF2-40B4-BE49-F238E27FC236}">
                <a16:creationId xmlns:a16="http://schemas.microsoft.com/office/drawing/2014/main" id="{9FEED866-517E-43C2-FEF9-0D3AA4FB23D6}"/>
              </a:ext>
            </a:extLst>
          </p:cNvPr>
          <p:cNvSpPr txBox="1"/>
          <p:nvPr/>
        </p:nvSpPr>
        <p:spPr>
          <a:xfrm>
            <a:off x="1043376" y="1935009"/>
            <a:ext cx="3953715" cy="1041311"/>
          </a:xfrm>
          <a:prstGeom prst="rect">
            <a:avLst/>
          </a:prstGeom>
          <a:noFill/>
        </p:spPr>
        <p:txBody>
          <a:bodyPr wrap="square" rtlCol="0">
            <a:spAutoFit/>
          </a:bodyPr>
          <a:lstStyle/>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We verbeteren de kwaliteit van zorg voor de inwoner door volledige informatie te hebben.</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De zorgverlening </a:t>
            </a:r>
            <a:r>
              <a:rPr lang="nl-NL" sz="1000">
                <a:solidFill>
                  <a:srgbClr val="0C3512"/>
                </a:solidFill>
                <a:latin typeface="Verdana" panose="020B0604030504040204" pitchFamily="34" charset="0"/>
                <a:ea typeface="Verdana" panose="020B0604030504040204" pitchFamily="34" charset="0"/>
              </a:rPr>
              <a:t>loopt</a:t>
            </a: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 efficiënter door gestructureerd inzicht in de overdracht voor zorgprofessional.</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Inwoners krijgen een passend zorgplan, omdat alle benodigde informatie beschikbaar is. </a:t>
            </a:r>
          </a:p>
        </p:txBody>
      </p:sp>
      <p:sp>
        <p:nvSpPr>
          <p:cNvPr id="20" name="Tekstvak 19">
            <a:extLst>
              <a:ext uri="{FF2B5EF4-FFF2-40B4-BE49-F238E27FC236}">
                <a16:creationId xmlns:a16="http://schemas.microsoft.com/office/drawing/2014/main" id="{233BA5B8-DF82-6C16-9AFA-B11F6EF550A6}"/>
              </a:ext>
            </a:extLst>
          </p:cNvPr>
          <p:cNvSpPr txBox="1"/>
          <p:nvPr/>
        </p:nvSpPr>
        <p:spPr>
          <a:xfrm>
            <a:off x="1043376" y="3066305"/>
            <a:ext cx="3953715" cy="1195199"/>
          </a:xfrm>
          <a:prstGeom prst="rect">
            <a:avLst/>
          </a:prstGeom>
          <a:noFill/>
        </p:spPr>
        <p:txBody>
          <a:bodyPr wrap="square" lIns="91440" tIns="45720" rIns="91440" bIns="45720" rtlCol="0" anchor="t">
            <a:spAutoFit/>
          </a:bodyPr>
          <a:lstStyle/>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a:ea typeface="Verdana"/>
              </a:rPr>
              <a:t>Inwoners krijgen sneller de juiste zorg. </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a:ea typeface="Verdana"/>
              </a:rPr>
              <a:t>Inwoners en hun naasten ervaren minder ongemak, omdat ze hun verhaal minder vaak hoeven te herhalen en de overdracht digitaal gebeurt</a:t>
            </a:r>
            <a:endParaRPr lang="nl-NL" sz="1000" b="0" i="0" u="none" strike="noStrike" kern="1200" cap="none" spc="0" normalizeH="0" baseline="0" noProof="0">
              <a:ln>
                <a:noFill/>
              </a:ln>
              <a:solidFill>
                <a:srgbClr val="0C3512"/>
              </a:solidFill>
              <a:effectLst/>
              <a:uLnTx/>
              <a:uFillTx/>
              <a:latin typeface="Verdana"/>
              <a:ea typeface="Verdana"/>
            </a:endParaRP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a:ea typeface="Verdana"/>
              </a:rPr>
              <a:t>Inwoners ervaren een soepele overgang tussen </a:t>
            </a:r>
            <a:r>
              <a:rPr lang="nl-NL" sz="1000">
                <a:solidFill>
                  <a:srgbClr val="0C3512"/>
                </a:solidFill>
                <a:latin typeface="Verdana"/>
                <a:ea typeface="Verdana"/>
              </a:rPr>
              <a:t>zorgorganisaties</a:t>
            </a:r>
            <a:r>
              <a:rPr kumimoji="0" lang="nl-NL" sz="1000" b="0" i="0" u="none" strike="noStrike" kern="1200" cap="none" spc="0" normalizeH="0" baseline="0" noProof="0">
                <a:ln>
                  <a:noFill/>
                </a:ln>
                <a:solidFill>
                  <a:srgbClr val="0C3512"/>
                </a:solidFill>
                <a:effectLst/>
                <a:uLnTx/>
                <a:uFillTx/>
                <a:latin typeface="Verdana"/>
                <a:ea typeface="Verdana"/>
              </a:rPr>
              <a:t>, omdat de zorgverlener zich al kan voorbereiden op de benodigde zorg.</a:t>
            </a:r>
            <a:endParaRPr lang="nl-NL" sz="1000" b="0" i="0" u="none" strike="noStrike" kern="1200" cap="none" spc="0" normalizeH="0" baseline="0" noProof="0">
              <a:ln>
                <a:noFill/>
              </a:ln>
              <a:solidFill>
                <a:srgbClr val="0C3512"/>
              </a:solidFill>
              <a:effectLst/>
              <a:uLnTx/>
              <a:uFillTx/>
              <a:latin typeface="Verdana"/>
              <a:ea typeface="Verdana"/>
            </a:endParaRPr>
          </a:p>
        </p:txBody>
      </p:sp>
      <p:sp>
        <p:nvSpPr>
          <p:cNvPr id="21" name="Tekstvak 20">
            <a:extLst>
              <a:ext uri="{FF2B5EF4-FFF2-40B4-BE49-F238E27FC236}">
                <a16:creationId xmlns:a16="http://schemas.microsoft.com/office/drawing/2014/main" id="{E2D0D7CF-8E46-9FA2-AB40-6029A4817BB2}"/>
              </a:ext>
            </a:extLst>
          </p:cNvPr>
          <p:cNvSpPr txBox="1"/>
          <p:nvPr/>
        </p:nvSpPr>
        <p:spPr>
          <a:xfrm>
            <a:off x="1043376" y="4315266"/>
            <a:ext cx="3953715" cy="887422"/>
          </a:xfrm>
          <a:prstGeom prst="rect">
            <a:avLst/>
          </a:prstGeom>
          <a:noFill/>
        </p:spPr>
        <p:txBody>
          <a:bodyPr wrap="square" rtlCol="0">
            <a:spAutoFit/>
          </a:bodyPr>
          <a:lstStyle/>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lang="nl-NL" sz="1000">
                <a:solidFill>
                  <a:srgbClr val="0C3512"/>
                </a:solidFill>
                <a:latin typeface="Verdana" panose="020B0604030504040204" pitchFamily="34" charset="0"/>
                <a:ea typeface="Verdana" panose="020B0604030504040204" pitchFamily="34" charset="0"/>
              </a:rPr>
              <a:t>Zorgverleners</a:t>
            </a: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 hebben meer tijd voor echte zorg in plaats van administratie en nabellen.</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lang="nl-NL" sz="1000">
                <a:solidFill>
                  <a:srgbClr val="0C3512"/>
                </a:solidFill>
                <a:latin typeface="Verdana" panose="020B0604030504040204" pitchFamily="34" charset="0"/>
                <a:ea typeface="Verdana" panose="020B0604030504040204" pitchFamily="34" charset="0"/>
              </a:rPr>
              <a:t>Zorgverleners</a:t>
            </a: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 zoeken minder naar de juiste informatie en hebben minder onzekerheid over het zorgplan.</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Zorgverleners kunnen de zorg </a:t>
            </a:r>
            <a:r>
              <a:rPr lang="nl-NL" sz="1000">
                <a:solidFill>
                  <a:srgbClr val="0C3512"/>
                </a:solidFill>
                <a:latin typeface="Verdana" panose="020B0604030504040204" pitchFamily="34" charset="0"/>
                <a:ea typeface="Verdana" panose="020B0604030504040204" pitchFamily="34" charset="0"/>
              </a:rPr>
              <a:t>beter voor</a:t>
            </a: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bereiden.</a:t>
            </a:r>
          </a:p>
        </p:txBody>
      </p:sp>
      <p:sp>
        <p:nvSpPr>
          <p:cNvPr id="22" name="Tekstvak 21">
            <a:extLst>
              <a:ext uri="{FF2B5EF4-FFF2-40B4-BE49-F238E27FC236}">
                <a16:creationId xmlns:a16="http://schemas.microsoft.com/office/drawing/2014/main" id="{F543AE23-CDC6-FE38-900E-ED6D4FD2E8D5}"/>
              </a:ext>
            </a:extLst>
          </p:cNvPr>
          <p:cNvSpPr txBox="1"/>
          <p:nvPr/>
        </p:nvSpPr>
        <p:spPr>
          <a:xfrm>
            <a:off x="1043376" y="5261233"/>
            <a:ext cx="3953715" cy="1182375"/>
          </a:xfrm>
          <a:prstGeom prst="rect">
            <a:avLst/>
          </a:prstGeom>
          <a:noFill/>
        </p:spPr>
        <p:txBody>
          <a:bodyPr wrap="square" lIns="91440" tIns="45720" rIns="91440" bIns="45720" rtlCol="0" anchor="t">
            <a:spAutoFit/>
          </a:bodyPr>
          <a:lstStyle/>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Digitale aanvragen en een gestandaardiseerd overzicht van de overdracht besparen zorgprofessionals tijd, die ze aan zorgtaken kunnen besteden.</a:t>
            </a:r>
          </a:p>
          <a:p>
            <a:pPr marL="85725" marR="0" lvl="2" indent="-85725" algn="l" defTabSz="914400" rtl="0" eaLnBrk="1" fontAlgn="auto" latinLnBrk="0" hangingPunct="1">
              <a:lnSpc>
                <a:spcPct val="100000"/>
              </a:lnSpc>
              <a:spcBef>
                <a:spcPts val="0"/>
              </a:spcBef>
              <a:spcAft>
                <a:spcPts val="100"/>
              </a:spcAft>
              <a:buClr>
                <a:srgbClr val="0C3512"/>
              </a:buClr>
              <a:buSzTx/>
              <a:buFont typeface="Arial" panose="020B0604020202020204" pitchFamily="34" charset="0"/>
              <a:buChar char="•"/>
              <a:tabLst/>
              <a:defRPr/>
            </a:pPr>
            <a:r>
              <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rPr>
              <a:t>We voorkomen verkeerde behandelingen, dubbele diagnostiek, onnodige heropnames en verspilling van materiaal door missende of foutieve informatie, wat leidt tot minder uitgaven</a:t>
            </a:r>
            <a:r>
              <a:rPr lang="nl-NL" sz="1000">
                <a:solidFill>
                  <a:srgbClr val="0C3512"/>
                </a:solidFill>
                <a:latin typeface="Verdana" panose="020B0604030504040204" pitchFamily="34" charset="0"/>
                <a:ea typeface="Verdana" panose="020B0604030504040204" pitchFamily="34" charset="0"/>
              </a:rPr>
              <a:t>.</a:t>
            </a:r>
            <a:endParaRPr kumimoji="0" lang="nl-NL" sz="1000" b="0" i="0" u="none" strike="noStrike" kern="1200" cap="none" spc="0" normalizeH="0" baseline="0" noProof="0">
              <a:ln>
                <a:noFill/>
              </a:ln>
              <a:solidFill>
                <a:srgbClr val="0C3512"/>
              </a:solidFill>
              <a:effectLst/>
              <a:uLnTx/>
              <a:uFillTx/>
              <a:latin typeface="Verdana" panose="020B0604030504040204" pitchFamily="34" charset="0"/>
              <a:ea typeface="Verdana" panose="020B0604030504040204" pitchFamily="34" charset="0"/>
              <a:cs typeface="+mn-cs"/>
            </a:endParaRPr>
          </a:p>
        </p:txBody>
      </p:sp>
      <p:pic>
        <p:nvPicPr>
          <p:cNvPr id="24" name="Afbeelding 23">
            <a:extLst>
              <a:ext uri="{FF2B5EF4-FFF2-40B4-BE49-F238E27FC236}">
                <a16:creationId xmlns:a16="http://schemas.microsoft.com/office/drawing/2014/main" id="{B862FF5F-C617-E5B1-7ACD-F7C14DEF3E22}"/>
              </a:ext>
            </a:extLst>
          </p:cNvPr>
          <p:cNvPicPr>
            <a:picLocks noChangeAspect="1"/>
          </p:cNvPicPr>
          <p:nvPr/>
        </p:nvPicPr>
        <p:blipFill>
          <a:blip r:embed="rId7"/>
          <a:stretch>
            <a:fillRect/>
          </a:stretch>
        </p:blipFill>
        <p:spPr>
          <a:xfrm>
            <a:off x="586175" y="1592438"/>
            <a:ext cx="436562" cy="436562"/>
          </a:xfrm>
          <a:prstGeom prst="rect">
            <a:avLst/>
          </a:prstGeom>
        </p:spPr>
      </p:pic>
      <p:sp>
        <p:nvSpPr>
          <p:cNvPr id="25" name="Rectangle 14">
            <a:extLst>
              <a:ext uri="{FF2B5EF4-FFF2-40B4-BE49-F238E27FC236}">
                <a16:creationId xmlns:a16="http://schemas.microsoft.com/office/drawing/2014/main" id="{CF7D0B9D-5B54-7BB9-A2EC-C878F0ABF949}"/>
              </a:ext>
            </a:extLst>
          </p:cNvPr>
          <p:cNvSpPr/>
          <p:nvPr/>
        </p:nvSpPr>
        <p:spPr>
          <a:xfrm>
            <a:off x="5134004" y="1397146"/>
            <a:ext cx="6811974" cy="5229291"/>
          </a:xfrm>
          <a:prstGeom prst="rect">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Kwantitatieve impact </a:t>
            </a:r>
            <a:r>
              <a:rPr kumimoji="0" lang="nl-NL" sz="1800" b="1" i="0" u="none" strike="noStrike" kern="1200" cap="none" spc="0" normalizeH="0" baseline="30000" noProof="0">
                <a:ln>
                  <a:noFill/>
                </a:ln>
                <a:solidFill>
                  <a:prstClr val="black"/>
                </a:solidFill>
                <a:effectLst/>
                <a:uLnTx/>
                <a:uFillTx/>
                <a:latin typeface="Verdana" panose="020B0604030504040204" pitchFamily="34" charset="0"/>
                <a:ea typeface="Verdana" panose="020B0604030504040204" pitchFamily="34" charset="0"/>
                <a:cs typeface="+mn-cs"/>
              </a:rPr>
              <a:t>2 </a:t>
            </a:r>
            <a:endPar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6" name="Tekstvak 25">
            <a:extLst>
              <a:ext uri="{FF2B5EF4-FFF2-40B4-BE49-F238E27FC236}">
                <a16:creationId xmlns:a16="http://schemas.microsoft.com/office/drawing/2014/main" id="{E4BF1C6C-534A-7F69-8E54-746A84A8AF1A}"/>
              </a:ext>
            </a:extLst>
          </p:cNvPr>
          <p:cNvSpPr txBox="1"/>
          <p:nvPr/>
        </p:nvSpPr>
        <p:spPr>
          <a:xfrm>
            <a:off x="5613765" y="5942393"/>
            <a:ext cx="6338116" cy="615553"/>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De kwalitatieve impact is beschreven aan de hand van de </a:t>
            </a:r>
            <a:r>
              <a:rPr kumimoji="0" lang="nl-NL" sz="800" b="0" i="0" u="none" strike="noStrike" kern="1200" cap="none" spc="0" normalizeH="0" baseline="0" noProof="0" err="1">
                <a:ln>
                  <a:noFill/>
                </a:ln>
                <a:solidFill>
                  <a:prstClr val="black"/>
                </a:solidFill>
                <a:effectLst/>
                <a:uLnTx/>
                <a:uFillTx/>
                <a:latin typeface="Aptos"/>
                <a:ea typeface="+mn-ea"/>
                <a:cs typeface="+mn-cs"/>
              </a:rPr>
              <a:t>quadruple</a:t>
            </a:r>
            <a:r>
              <a:rPr kumimoji="0" lang="nl-NL" sz="800" b="0" i="0" u="none" strike="noStrike" kern="1200" cap="none" spc="0" normalizeH="0" baseline="0" noProof="0">
                <a:ln>
                  <a:noFill/>
                </a:ln>
                <a:solidFill>
                  <a:prstClr val="black"/>
                </a:solidFill>
                <a:effectLst/>
                <a:uLnTx/>
                <a:uFillTx/>
                <a:latin typeface="Aptos"/>
                <a:ea typeface="+mn-ea"/>
                <a:cs typeface="+mn-cs"/>
              </a:rPr>
              <a:t> </a:t>
            </a:r>
            <a:r>
              <a:rPr kumimoji="0" lang="nl-NL" sz="800" b="0" i="0" u="none" strike="noStrike" kern="1200" cap="none" spc="0" normalizeH="0" baseline="0" noProof="0" err="1">
                <a:ln>
                  <a:noFill/>
                </a:ln>
                <a:solidFill>
                  <a:prstClr val="black"/>
                </a:solidFill>
                <a:effectLst/>
                <a:uLnTx/>
                <a:uFillTx/>
                <a:latin typeface="Aptos"/>
                <a:ea typeface="+mn-ea"/>
                <a:cs typeface="+mn-cs"/>
              </a:rPr>
              <a:t>aim</a:t>
            </a:r>
            <a:r>
              <a:rPr kumimoji="0" lang="nl-NL" sz="800" b="0" i="0" u="none" strike="noStrike" kern="1200" cap="none" spc="0" normalizeH="0" baseline="0" noProof="0">
                <a:ln>
                  <a:noFill/>
                </a:ln>
                <a:solidFill>
                  <a:prstClr val="black"/>
                </a:solidFill>
                <a:effectLst/>
                <a:uLnTx/>
                <a:uFillTx/>
                <a:latin typeface="Aptos"/>
                <a:ea typeface="+mn-ea"/>
                <a:cs typeface="+mn-cs"/>
              </a:rPr>
              <a:t> model, waarin de impact op (1) gezondheidsuitkomsten, (2) inwonertevredenheid, (3) zorgprofessionaltevredenheid en (4) zorgkosten is beschreven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Disclaimer: Voor de impactanalyse zijn alleen zorgorganisaties in de huidige scope meegenomen. Dit vertegenwoordigt de ondergrens van de potentiële scope, aangezien er mogelijkheden zijn om een breder zorglandschap te betrekken</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nl-NL" sz="800">
                <a:solidFill>
                  <a:prstClr val="black"/>
                </a:solidFill>
                <a:latin typeface="Aptos"/>
              </a:rPr>
              <a:t>x € 1.000</a:t>
            </a:r>
            <a:endParaRPr kumimoji="0" lang="nl-NL" sz="800" b="0" i="0" u="none" strike="noStrike" kern="1200" cap="none" spc="0" normalizeH="0" baseline="0" noProof="0">
              <a:ln>
                <a:noFill/>
              </a:ln>
              <a:solidFill>
                <a:prstClr val="black"/>
              </a:solidFill>
              <a:effectLst/>
              <a:uLnTx/>
              <a:uFillTx/>
              <a:latin typeface="Aptos"/>
              <a:ea typeface="+mn-ea"/>
              <a:cs typeface="+mn-cs"/>
            </a:endParaRPr>
          </a:p>
        </p:txBody>
      </p:sp>
      <p:graphicFrame>
        <p:nvGraphicFramePr>
          <p:cNvPr id="27" name="Tabel 26">
            <a:extLst>
              <a:ext uri="{FF2B5EF4-FFF2-40B4-BE49-F238E27FC236}">
                <a16:creationId xmlns:a16="http://schemas.microsoft.com/office/drawing/2014/main" id="{C5C9A0D6-AB59-F2B9-31D7-3D0DB0C92BED}"/>
              </a:ext>
            </a:extLst>
          </p:cNvPr>
          <p:cNvGraphicFramePr>
            <a:graphicFrameLocks noGrp="1"/>
          </p:cNvGraphicFramePr>
          <p:nvPr>
            <p:extLst>
              <p:ext uri="{D42A27DB-BD31-4B8C-83A1-F6EECF244321}">
                <p14:modId xmlns:p14="http://schemas.microsoft.com/office/powerpoint/2010/main" val="1807683493"/>
              </p:ext>
            </p:extLst>
          </p:nvPr>
        </p:nvGraphicFramePr>
        <p:xfrm>
          <a:off x="5249337" y="1793615"/>
          <a:ext cx="6619418" cy="4066632"/>
        </p:xfrm>
        <a:graphic>
          <a:graphicData uri="http://schemas.openxmlformats.org/drawingml/2006/table">
            <a:tbl>
              <a:tblPr/>
              <a:tblGrid>
                <a:gridCol w="600627">
                  <a:extLst>
                    <a:ext uri="{9D8B030D-6E8A-4147-A177-3AD203B41FA5}">
                      <a16:colId xmlns:a16="http://schemas.microsoft.com/office/drawing/2014/main" val="3293314837"/>
                    </a:ext>
                  </a:extLst>
                </a:gridCol>
                <a:gridCol w="332363">
                  <a:extLst>
                    <a:ext uri="{9D8B030D-6E8A-4147-A177-3AD203B41FA5}">
                      <a16:colId xmlns:a16="http://schemas.microsoft.com/office/drawing/2014/main" val="770108754"/>
                    </a:ext>
                  </a:extLst>
                </a:gridCol>
                <a:gridCol w="947738">
                  <a:extLst>
                    <a:ext uri="{9D8B030D-6E8A-4147-A177-3AD203B41FA5}">
                      <a16:colId xmlns:a16="http://schemas.microsoft.com/office/drawing/2014/main" val="3836903680"/>
                    </a:ext>
                  </a:extLst>
                </a:gridCol>
                <a:gridCol w="947738">
                  <a:extLst>
                    <a:ext uri="{9D8B030D-6E8A-4147-A177-3AD203B41FA5}">
                      <a16:colId xmlns:a16="http://schemas.microsoft.com/office/drawing/2014/main" val="3404048997"/>
                    </a:ext>
                  </a:extLst>
                </a:gridCol>
                <a:gridCol w="947738">
                  <a:extLst>
                    <a:ext uri="{9D8B030D-6E8A-4147-A177-3AD203B41FA5}">
                      <a16:colId xmlns:a16="http://schemas.microsoft.com/office/drawing/2014/main" val="1674234088"/>
                    </a:ext>
                  </a:extLst>
                </a:gridCol>
                <a:gridCol w="947738">
                  <a:extLst>
                    <a:ext uri="{9D8B030D-6E8A-4147-A177-3AD203B41FA5}">
                      <a16:colId xmlns:a16="http://schemas.microsoft.com/office/drawing/2014/main" val="2964502661"/>
                    </a:ext>
                  </a:extLst>
                </a:gridCol>
                <a:gridCol w="947738">
                  <a:extLst>
                    <a:ext uri="{9D8B030D-6E8A-4147-A177-3AD203B41FA5}">
                      <a16:colId xmlns:a16="http://schemas.microsoft.com/office/drawing/2014/main" val="3447126489"/>
                    </a:ext>
                  </a:extLst>
                </a:gridCol>
                <a:gridCol w="947738">
                  <a:extLst>
                    <a:ext uri="{9D8B030D-6E8A-4147-A177-3AD203B41FA5}">
                      <a16:colId xmlns:a16="http://schemas.microsoft.com/office/drawing/2014/main" val="3214275468"/>
                    </a:ext>
                  </a:extLst>
                </a:gridCol>
              </a:tblGrid>
              <a:tr h="468000">
                <a:tc gridSpan="2">
                  <a:txBody>
                    <a:bodyPr/>
                    <a:lstStyle/>
                    <a:p>
                      <a:pPr algn="l" rtl="0" fontAlgn="ctr"/>
                      <a:r>
                        <a:rPr lang="nl-NL" sz="1000" b="1" i="0" u="none" strike="noStrike">
                          <a:solidFill>
                            <a:srgbClr val="000000"/>
                          </a:solidFill>
                          <a:effectLst/>
                          <a:latin typeface="Verdana" panose="020B0604030504040204" pitchFamily="34" charset="0"/>
                        </a:rPr>
                        <a:t>Doelgroep</a:t>
                      </a:r>
                    </a:p>
                  </a:txBody>
                  <a:tcPr marL="7620" marR="7620" marT="762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E2F0D9"/>
                    </a:solidFill>
                  </a:tcPr>
                </a:tc>
                <a:tc hMerge="1">
                  <a:txBody>
                    <a:bodyPr/>
                    <a:lstStyle/>
                    <a:p>
                      <a:endParaRPr lang="en-NL"/>
                    </a:p>
                  </a:txBody>
                  <a:tcPr/>
                </a:tc>
                <a:tc gridSpan="2">
                  <a:txBody>
                    <a:bodyPr/>
                    <a:lstStyle/>
                    <a:p>
                      <a:pPr algn="ctr" rtl="0" fontAlgn="ctr"/>
                      <a:r>
                        <a:rPr lang="nl-NL" sz="1050" b="0" i="0" u="none" strike="noStrike" baseline="30000">
                          <a:solidFill>
                            <a:srgbClr val="000000"/>
                          </a:solidFill>
                          <a:effectLst/>
                          <a:latin typeface="Verdana" panose="020B0604030504040204" pitchFamily="34" charset="0"/>
                        </a:rPr>
                        <a:t>Alle medische overdrachten in regio Midden-Nederland;</a:t>
                      </a:r>
                      <a:br>
                        <a:rPr lang="nl-NL" sz="1050" b="0" i="0" u="none" strike="noStrike" baseline="30000">
                          <a:solidFill>
                            <a:srgbClr val="000000"/>
                          </a:solidFill>
                          <a:effectLst/>
                          <a:latin typeface="Verdana" panose="020B0604030504040204" pitchFamily="34" charset="0"/>
                        </a:rPr>
                      </a:br>
                      <a:r>
                        <a:rPr lang="nl-NL" sz="1050" b="0" i="1" u="none" strike="noStrike" baseline="30000">
                          <a:solidFill>
                            <a:srgbClr val="000000"/>
                          </a:solidFill>
                          <a:effectLst/>
                          <a:latin typeface="Verdana" panose="020B0604030504040204" pitchFamily="34" charset="0"/>
                        </a:rPr>
                        <a:t>ca. 36.000 per jaar</a:t>
                      </a:r>
                      <a:endParaRPr lang="nl-NL" sz="1050" b="0" i="1" u="none" strike="noStrike">
                        <a:solidFill>
                          <a:srgbClr val="000000"/>
                        </a:solidFill>
                        <a:effectLst/>
                        <a:latin typeface="Verdana" panose="020B0604030504040204" pitchFamily="34" charset="0"/>
                      </a:endParaRPr>
                    </a:p>
                  </a:txBody>
                  <a:tcPr marL="7620" marR="7620" marT="7620" marB="7200" anchor="b">
                    <a:lnL>
                      <a:noFill/>
                    </a:lnL>
                    <a:lnR>
                      <a:noFill/>
                    </a:lnR>
                    <a:lnT w="12700" cap="flat" cmpd="sng" algn="ctr">
                      <a:solidFill>
                        <a:schemeClr val="tx1"/>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nl-NL" sz="1050" b="0" i="0" u="none" strike="noStrike" baseline="30000">
                          <a:solidFill>
                            <a:srgbClr val="000000"/>
                          </a:solidFill>
                          <a:effectLst/>
                          <a:latin typeface="Verdana" panose="020B0604030504040204" pitchFamily="34" charset="0"/>
                        </a:rPr>
                        <a:t>Alle medische overdrachten in regio Midden-Nederland;</a:t>
                      </a:r>
                      <a:br>
                        <a:rPr lang="nl-NL" sz="1050" b="0" i="0" u="none" strike="noStrike" baseline="30000">
                          <a:solidFill>
                            <a:srgbClr val="000000"/>
                          </a:solidFill>
                          <a:effectLst/>
                          <a:latin typeface="Verdana" panose="020B0604030504040204" pitchFamily="34" charset="0"/>
                        </a:rPr>
                      </a:br>
                      <a:r>
                        <a:rPr lang="nl-NL" sz="1050" b="0" i="1" u="none" strike="noStrike" baseline="30000">
                          <a:solidFill>
                            <a:srgbClr val="000000"/>
                          </a:solidFill>
                          <a:effectLst/>
                          <a:latin typeface="Verdana" panose="020B0604030504040204" pitchFamily="34" charset="0"/>
                        </a:rPr>
                        <a:t>ca. 36.000 per jaar</a:t>
                      </a:r>
                      <a:endParaRPr lang="nl-NL" sz="1050" b="0" i="1" u="none" strike="noStrike">
                        <a:solidFill>
                          <a:srgbClr val="000000"/>
                        </a:solidFill>
                        <a:effectLst/>
                        <a:latin typeface="Verdana" panose="020B0604030504040204" pitchFamily="34" charset="0"/>
                      </a:endParaRPr>
                    </a:p>
                  </a:txBody>
                  <a:tcPr marL="7620" marR="7620" marT="7620" marB="0"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rtl="0" fontAlgn="ctr"/>
                      <a:r>
                        <a:rPr lang="nl-NL" sz="1050" b="0" i="0" u="none" strike="noStrike" baseline="30000">
                          <a:solidFill>
                            <a:srgbClr val="000000"/>
                          </a:solidFill>
                          <a:effectLst/>
                          <a:latin typeface="Verdana" panose="020B0604030504040204" pitchFamily="34" charset="0"/>
                        </a:rPr>
                        <a:t>Alle medische dossiers waar medische inzage kan worden opgevraagd;</a:t>
                      </a:r>
                      <a:br>
                        <a:rPr lang="nl-NL" sz="1050" b="0" i="0" u="none" strike="noStrike" baseline="30000">
                          <a:solidFill>
                            <a:srgbClr val="000000"/>
                          </a:solidFill>
                          <a:effectLst/>
                          <a:latin typeface="Verdana" panose="020B0604030504040204" pitchFamily="34" charset="0"/>
                        </a:rPr>
                      </a:br>
                      <a:r>
                        <a:rPr lang="nl-NL" sz="1050" b="0" i="1" u="none" strike="noStrike" baseline="30000">
                          <a:solidFill>
                            <a:srgbClr val="000000"/>
                          </a:solidFill>
                          <a:effectLst/>
                          <a:latin typeface="Verdana" panose="020B0604030504040204" pitchFamily="34" charset="0"/>
                        </a:rPr>
                        <a:t>ca. 275.000 per jaar</a:t>
                      </a:r>
                      <a:endParaRPr lang="nl-NL" sz="1050" b="0" i="1" u="none" strike="noStrike">
                        <a:solidFill>
                          <a:srgbClr val="000000"/>
                        </a:solidFill>
                        <a:effectLst/>
                        <a:latin typeface="Verdana" panose="020B0604030504040204" pitchFamily="34" charset="0"/>
                      </a:endParaRPr>
                    </a:p>
                  </a:txBody>
                  <a:tcPr marL="7620" marR="7620" marT="762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hMerge="1">
                  <a:txBody>
                    <a:bodyPr/>
                    <a:lstStyle/>
                    <a:p>
                      <a:endParaRPr lang="en-NL"/>
                    </a:p>
                  </a:txBody>
                  <a:tcPr/>
                </a:tc>
                <a:extLst>
                  <a:ext uri="{0D108BD9-81ED-4DB2-BD59-A6C34878D82A}">
                    <a16:rowId xmlns:a16="http://schemas.microsoft.com/office/drawing/2014/main" val="839441250"/>
                  </a:ext>
                </a:extLst>
              </a:tr>
              <a:tr h="164796">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chemeClr val="tx1"/>
                      </a:solidFill>
                      <a:prstDash val="solid"/>
                      <a:round/>
                      <a:headEnd type="none" w="med" len="med"/>
                      <a:tailEnd type="none" w="med" len="med"/>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chemeClr val="tx1"/>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E2F0D9"/>
                    </a:solidFill>
                  </a:tcPr>
                </a:tc>
                <a:extLst>
                  <a:ext uri="{0D108BD9-81ED-4DB2-BD59-A6C34878D82A}">
                    <a16:rowId xmlns:a16="http://schemas.microsoft.com/office/drawing/2014/main" val="2636371558"/>
                  </a:ext>
                </a:extLst>
              </a:tr>
              <a:tr h="969001">
                <a:tc gridSpan="2">
                  <a:txBody>
                    <a:bodyPr/>
                    <a:lstStyle/>
                    <a:p>
                      <a:pPr algn="l" rtl="0" fontAlgn="ctr"/>
                      <a:r>
                        <a:rPr lang="nl-NL" sz="1000" b="1" i="0" u="none" strike="noStrike">
                          <a:solidFill>
                            <a:srgbClr val="000000"/>
                          </a:solidFill>
                          <a:effectLst/>
                          <a:latin typeface="Verdana" panose="020B0604030504040204" pitchFamily="34" charset="0"/>
                        </a:rPr>
                        <a:t>Effect </a:t>
                      </a:r>
                      <a:r>
                        <a:rPr lang="nl-NL" sz="1000" b="0" i="0" u="none" strike="noStrike">
                          <a:solidFill>
                            <a:srgbClr val="000000"/>
                          </a:solidFill>
                          <a:effectLst/>
                          <a:latin typeface="Verdana" panose="020B0604030504040204" pitchFamily="34" charset="0"/>
                        </a:rPr>
                        <a:t>van</a:t>
                      </a:r>
                      <a:br>
                        <a:rPr lang="nl-NL" sz="1000" b="0" i="0" u="none" strike="noStrike">
                          <a:solidFill>
                            <a:srgbClr val="000000"/>
                          </a:solidFill>
                          <a:effectLst/>
                          <a:latin typeface="Verdana" panose="020B0604030504040204" pitchFamily="34" charset="0"/>
                        </a:rPr>
                      </a:br>
                      <a:r>
                        <a:rPr lang="nl-NL" sz="1000" b="0" i="0" u="none" strike="noStrike">
                          <a:solidFill>
                            <a:srgbClr val="000000"/>
                          </a:solidFill>
                          <a:effectLst/>
                          <a:latin typeface="Verdana" panose="020B0604030504040204" pitchFamily="34" charset="0"/>
                        </a:rPr>
                        <a:t>de usecase medische overdracht</a:t>
                      </a:r>
                      <a:endParaRPr lang="nl-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Per verzending</a:t>
                      </a:r>
                      <a:br>
                        <a:rPr lang="nl-NL" sz="800" b="0" i="0" u="none" strike="noStrike">
                          <a:solidFill>
                            <a:srgbClr val="000000"/>
                          </a:solidFill>
                          <a:effectLst/>
                          <a:latin typeface="Verdana" panose="020B0604030504040204" pitchFamily="34" charset="0"/>
                        </a:rPr>
                      </a:br>
                      <a:r>
                        <a:rPr lang="nl-NL" sz="800" b="0" i="0" u="none" strike="noStrike">
                          <a:solidFill>
                            <a:srgbClr val="000000"/>
                          </a:solidFill>
                          <a:effectLst/>
                          <a:latin typeface="Verdana" panose="020B0604030504040204" pitchFamily="34" charset="0"/>
                        </a:rPr>
                        <a:t>- 5 min medische secr. voor het klaarzetten van informatie</a:t>
                      </a:r>
                      <a:br>
                        <a:rPr lang="nl-NL" sz="800" b="0" i="0" u="none" strike="noStrike">
                          <a:solidFill>
                            <a:srgbClr val="000000"/>
                          </a:solidFill>
                          <a:effectLst/>
                          <a:latin typeface="Verdana" panose="020B0604030504040204" pitchFamily="34" charset="0"/>
                        </a:rPr>
                      </a:br>
                      <a:r>
                        <a:rPr lang="nl-NL" sz="800" b="0" i="0" u="none" strike="noStrike">
                          <a:solidFill>
                            <a:srgbClr val="000000"/>
                          </a:solidFill>
                          <a:effectLst/>
                          <a:latin typeface="Verdana" panose="020B0604030504040204" pitchFamily="34" charset="0"/>
                        </a:rPr>
                        <a:t>- 3 min medisch specialist voor het controleren van de informatie</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Per ontvangst</a:t>
                      </a:r>
                      <a:r>
                        <a:rPr lang="nl-NL" sz="800" b="0" i="0" u="none" strike="noStrike">
                          <a:solidFill>
                            <a:srgbClr val="000000"/>
                          </a:solidFill>
                          <a:effectLst/>
                          <a:latin typeface="Verdana" panose="020B0604030504040204" pitchFamily="34" charset="0"/>
                        </a:rPr>
                        <a:t>, 5 min medisch specialist bij het overnemen van informatie</a:t>
                      </a:r>
                      <a:br>
                        <a:rPr lang="nl-NL" sz="800" b="0" i="0" u="none" strike="noStrike">
                          <a:solidFill>
                            <a:srgbClr val="000000"/>
                          </a:solidFill>
                          <a:effectLst/>
                          <a:latin typeface="Verdana" panose="020B0604030504040204" pitchFamily="34" charset="0"/>
                        </a:rPr>
                      </a:br>
                      <a:r>
                        <a:rPr lang="nl-NL" sz="800" b="1" i="0" u="none" strike="noStrike">
                          <a:solidFill>
                            <a:srgbClr val="000000"/>
                          </a:solidFill>
                          <a:effectLst/>
                          <a:latin typeface="Verdana" panose="020B0604030504040204" pitchFamily="34" charset="0"/>
                        </a:rPr>
                        <a:t>In 10% gevallen</a:t>
                      </a:r>
                      <a:r>
                        <a:rPr lang="nl-NL" sz="800" b="0" i="0" u="none" strike="noStrike">
                          <a:solidFill>
                            <a:srgbClr val="000000"/>
                          </a:solidFill>
                          <a:effectLst/>
                          <a:latin typeface="Verdana" panose="020B0604030504040204" pitchFamily="34" charset="0"/>
                        </a:rPr>
                        <a:t>, 8 min medisch specialist door voorkomen van aanvullende diagnoses</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Per verzending</a:t>
                      </a:r>
                      <a:br>
                        <a:rPr lang="nl-NL" sz="800" b="0" i="0" u="none" strike="noStrike">
                          <a:solidFill>
                            <a:srgbClr val="000000"/>
                          </a:solidFill>
                          <a:effectLst/>
                          <a:latin typeface="Verdana" panose="020B0604030504040204" pitchFamily="34" charset="0"/>
                        </a:rPr>
                      </a:br>
                      <a:r>
                        <a:rPr lang="nl-NL" sz="800" b="0" i="0" u="none" strike="noStrike">
                          <a:solidFill>
                            <a:srgbClr val="000000"/>
                          </a:solidFill>
                          <a:effectLst/>
                          <a:latin typeface="Verdana" panose="020B0604030504040204" pitchFamily="34" charset="0"/>
                        </a:rPr>
                        <a:t>- 5 min medische secr. voor bij elkaar zoeken informatie</a:t>
                      </a:r>
                      <a:br>
                        <a:rPr lang="nl-NL" sz="800" b="0" i="0" u="none" strike="noStrike">
                          <a:solidFill>
                            <a:srgbClr val="000000"/>
                          </a:solidFill>
                          <a:effectLst/>
                          <a:latin typeface="Verdana" panose="020B0604030504040204" pitchFamily="34" charset="0"/>
                        </a:rPr>
                      </a:br>
                      <a:r>
                        <a:rPr lang="nl-NL" sz="800" b="0" i="0" u="none" strike="noStrike">
                          <a:solidFill>
                            <a:srgbClr val="000000"/>
                          </a:solidFill>
                          <a:effectLst/>
                          <a:latin typeface="Verdana" panose="020B0604030504040204" pitchFamily="34" charset="0"/>
                        </a:rPr>
                        <a:t>- 3 min medisch specialist controleren van informatie</a:t>
                      </a:r>
                      <a:br>
                        <a:rPr lang="nl-NL" sz="800" b="0" i="0" u="none" strike="noStrike">
                          <a:solidFill>
                            <a:srgbClr val="000000"/>
                          </a:solidFill>
                          <a:effectLst/>
                          <a:latin typeface="Verdana" panose="020B0604030504040204" pitchFamily="34" charset="0"/>
                        </a:rPr>
                      </a:br>
                      <a:r>
                        <a:rPr lang="nl-NL" sz="800" b="1" i="0" u="none" strike="noStrike">
                          <a:solidFill>
                            <a:srgbClr val="000000"/>
                          </a:solidFill>
                          <a:effectLst/>
                          <a:latin typeface="Verdana" panose="020B0604030504040204" pitchFamily="34" charset="0"/>
                        </a:rPr>
                        <a:t>In 10% gevallen, </a:t>
                      </a:r>
                      <a:r>
                        <a:rPr lang="nl-NL" sz="800" b="0" i="0" u="none" strike="noStrike">
                          <a:solidFill>
                            <a:srgbClr val="000000"/>
                          </a:solidFill>
                          <a:effectLst/>
                          <a:latin typeface="Verdana" panose="020B0604030504040204" pitchFamily="34" charset="0"/>
                        </a:rPr>
                        <a:t>8 min medisch specialist door voorkomen van aanvullende diagnoses</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extLst>
                  <a:ext uri="{0D108BD9-81ED-4DB2-BD59-A6C34878D82A}">
                    <a16:rowId xmlns:a16="http://schemas.microsoft.com/office/drawing/2014/main" val="1576964807"/>
                  </a:ext>
                </a:extLst>
              </a:tr>
              <a:tr h="348099">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chemeClr val="tx1"/>
                      </a:solidFill>
                      <a:prstDash val="solid"/>
                      <a:round/>
                      <a:headEnd type="none" w="med" len="med"/>
                      <a:tailEnd type="none" w="med" len="med"/>
                    </a:lnL>
                    <a:lnR w="12700" cap="flat" cmpd="sng" algn="ctr">
                      <a:solidFill>
                        <a:srgbClr val="7EB572"/>
                      </a:solidFill>
                      <a:prstDash val="solid"/>
                      <a:round/>
                      <a:headEnd type="none" w="med" len="med"/>
                      <a:tailEnd type="none" w="med" len="med"/>
                    </a:lnR>
                    <a:lnT>
                      <a:noFill/>
                    </a:lnT>
                    <a:lnB>
                      <a:noFill/>
                    </a:lnB>
                    <a:solidFill>
                      <a:srgbClr val="7EB572"/>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7EB572"/>
                      </a:solidFill>
                      <a:prstDash val="solid"/>
                      <a:round/>
                      <a:headEnd type="none" w="med" len="med"/>
                      <a:tailEnd type="none" w="med" len="med"/>
                    </a:lnL>
                    <a:lnR w="12700" cap="flat" cmpd="sng" algn="ctr">
                      <a:solidFill>
                        <a:srgbClr val="7EB572"/>
                      </a:solidFill>
                      <a:prstDash val="solid"/>
                      <a:round/>
                      <a:headEnd type="none" w="med" len="med"/>
                      <a:tailEnd type="none" w="med" len="med"/>
                    </a:lnR>
                    <a:lnT>
                      <a:noFill/>
                    </a:lnT>
                    <a:lnB>
                      <a:noFill/>
                    </a:lnB>
                    <a:solidFill>
                      <a:srgbClr val="7EB572"/>
                    </a:solidFill>
                  </a:tcPr>
                </a:tc>
                <a:tc gridSpan="6">
                  <a:txBody>
                    <a:bodyPr/>
                    <a:lstStyle/>
                    <a:p>
                      <a:pPr algn="ctr" rtl="0" fontAlgn="ctr"/>
                      <a:r>
                        <a:rPr lang="nl-NL" sz="1000" b="0" i="1" u="none" strike="noStrike">
                          <a:solidFill>
                            <a:srgbClr val="000000"/>
                          </a:solidFill>
                          <a:effectLst/>
                          <a:latin typeface="Verdana" panose="020B0604030504040204" pitchFamily="34" charset="0"/>
                        </a:rPr>
                        <a:t>Onderstaande inclusiepercentages gelden voor alle doelgroepen en effecten (NB: volgorde van implementatie staat nog niet definitief vast)</a:t>
                      </a:r>
                    </a:p>
                  </a:txBody>
                  <a:tcPr marL="7620" marR="7620" marT="7620" marB="0" anchor="ctr">
                    <a:lnL w="12700" cap="flat" cmpd="sng" algn="ctr">
                      <a:solidFill>
                        <a:srgbClr val="7EB57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377944239"/>
                  </a:ext>
                </a:extLst>
              </a:tr>
              <a:tr h="158204">
                <a:tc gridSpan="2">
                  <a:txBody>
                    <a:bodyPr/>
                    <a:lstStyle/>
                    <a:p>
                      <a:pPr algn="l" rtl="0" fontAlgn="ctr"/>
                      <a:r>
                        <a:rPr lang="nl-NL" sz="1000" b="1" i="0" u="none" strike="noStrike">
                          <a:solidFill>
                            <a:srgbClr val="000000"/>
                          </a:solidFill>
                          <a:effectLst/>
                          <a:latin typeface="Verdana" panose="020B0604030504040204" pitchFamily="34" charset="0"/>
                        </a:rPr>
                        <a:t>Inclusie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extLst>
                  <a:ext uri="{0D108BD9-81ED-4DB2-BD59-A6C34878D82A}">
                    <a16:rowId xmlns:a16="http://schemas.microsoft.com/office/drawing/2014/main" val="3361457935"/>
                  </a:ext>
                </a:extLst>
              </a:tr>
              <a:tr h="158204">
                <a:tc gridSpan="2">
                  <a:txBody>
                    <a:bodyPr/>
                    <a:lstStyle/>
                    <a:p>
                      <a:pPr algn="r" rtl="0" fontAlgn="ctr"/>
                      <a:r>
                        <a:rPr lang="en-NL" sz="1000" b="0" i="1" u="none" strike="noStrike">
                          <a:solidFill>
                            <a:srgbClr val="000000"/>
                          </a:solidFill>
                          <a:effectLst/>
                          <a:latin typeface="Verdana" panose="020B0604030504040204" pitchFamily="34" charset="0"/>
                        </a:rPr>
                        <a:t>2024</a:t>
                      </a:r>
                    </a:p>
                  </a:txBody>
                  <a:tcPr marL="7620" marR="6858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c hMerge="1">
                  <a:txBody>
                    <a:bodyPr/>
                    <a:lstStyle/>
                    <a:p>
                      <a:endParaRPr lang="en-NL"/>
                    </a:p>
                  </a:txBody>
                  <a:tcPr/>
                </a:tc>
                <a:extLst>
                  <a:ext uri="{0D108BD9-81ED-4DB2-BD59-A6C34878D82A}">
                    <a16:rowId xmlns:a16="http://schemas.microsoft.com/office/drawing/2014/main" val="2403409201"/>
                  </a:ext>
                </a:extLst>
              </a:tr>
              <a:tr h="158204">
                <a:tc gridSpan="2">
                  <a:txBody>
                    <a:bodyPr/>
                    <a:lstStyle/>
                    <a:p>
                      <a:pPr algn="r" rtl="0" fontAlgn="ctr"/>
                      <a:r>
                        <a:rPr lang="en-NL" sz="1000" b="0" i="1" u="none" strike="noStrike">
                          <a:solidFill>
                            <a:srgbClr val="000000"/>
                          </a:solidFill>
                          <a:effectLst/>
                          <a:latin typeface="Verdana" panose="020B0604030504040204" pitchFamily="34" charset="0"/>
                        </a:rPr>
                        <a:t>2025</a:t>
                      </a:r>
                    </a:p>
                  </a:txBody>
                  <a:tcPr marL="7620" marR="6858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50%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50%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50%</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FFFFF"/>
                    </a:solidFill>
                  </a:tcPr>
                </a:tc>
                <a:tc hMerge="1">
                  <a:txBody>
                    <a:bodyPr/>
                    <a:lstStyle/>
                    <a:p>
                      <a:endParaRPr lang="en-NL"/>
                    </a:p>
                  </a:txBody>
                  <a:tcPr/>
                </a:tc>
                <a:extLst>
                  <a:ext uri="{0D108BD9-81ED-4DB2-BD59-A6C34878D82A}">
                    <a16:rowId xmlns:a16="http://schemas.microsoft.com/office/drawing/2014/main" val="4109188749"/>
                  </a:ext>
                </a:extLst>
              </a:tr>
              <a:tr h="164796">
                <a:tc gridSpan="2">
                  <a:txBody>
                    <a:bodyPr/>
                    <a:lstStyle/>
                    <a:p>
                      <a:pPr algn="r" rtl="0" fontAlgn="ctr"/>
                      <a:r>
                        <a:rPr lang="en-NL" sz="1000" b="0" i="1" u="none" strike="noStrike">
                          <a:solidFill>
                            <a:srgbClr val="000000"/>
                          </a:solidFill>
                          <a:effectLst/>
                          <a:latin typeface="Verdana" panose="020B0604030504040204" pitchFamily="34" charset="0"/>
                        </a:rPr>
                        <a:t>2026</a:t>
                      </a:r>
                    </a:p>
                  </a:txBody>
                  <a:tcPr marL="7620" marR="6858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100%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100%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en-NL" sz="900" b="0" i="0" u="none" strike="noStrike">
                          <a:solidFill>
                            <a:srgbClr val="000000"/>
                          </a:solidFill>
                          <a:effectLst/>
                          <a:latin typeface="Verdana" panose="020B0604030504040204" pitchFamily="34" charset="0"/>
                        </a:rPr>
                        <a:t>100%</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extLst>
                  <a:ext uri="{0D108BD9-81ED-4DB2-BD59-A6C34878D82A}">
                    <a16:rowId xmlns:a16="http://schemas.microsoft.com/office/drawing/2014/main" val="4155878543"/>
                  </a:ext>
                </a:extLst>
              </a:tr>
              <a:tr h="164796">
                <a:tc gridSpan="2">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7EB572"/>
                    </a:solidFill>
                  </a:tcPr>
                </a:tc>
                <a:tc hMerge="1">
                  <a:txBody>
                    <a:bodyPr/>
                    <a:lstStyle/>
                    <a:p>
                      <a:endParaRPr lang="en-NL"/>
                    </a:p>
                  </a:txBody>
                  <a:tcPr/>
                </a:tc>
                <a:tc gridSpan="6">
                  <a:txBody>
                    <a:bodyPr/>
                    <a:lstStyle/>
                    <a:p>
                      <a:pPr algn="ctr"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516959528"/>
                  </a:ext>
                </a:extLst>
              </a:tr>
              <a:tr h="276857">
                <a:tc gridSpan="2">
                  <a:txBody>
                    <a:bodyPr/>
                    <a:lstStyle/>
                    <a:p>
                      <a:pPr fontAlgn="base">
                        <a:lnSpc>
                          <a:spcPts val="1050"/>
                        </a:lnSpc>
                      </a:pPr>
                      <a:r>
                        <a:rPr lang="nl-NL" sz="900" b="1" i="1">
                          <a:effectLst/>
                          <a:latin typeface="Verdana"/>
                        </a:rPr>
                        <a:t>Zorgkosten </a:t>
                      </a:r>
                      <a:r>
                        <a:rPr lang="nl-NL" sz="900" i="1" baseline="30000">
                          <a:effectLst/>
                          <a:latin typeface="Verdana"/>
                        </a:rPr>
                        <a:t>3</a:t>
                      </a:r>
                      <a:r>
                        <a:rPr lang="nl-NL" sz="900" i="1">
                          <a:effectLst/>
                          <a:latin typeface="Verdana"/>
                        </a:rPr>
                        <a:t> (Z)  of FTE</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nl-NL"/>
                    </a:p>
                  </a:txBody>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85303323"/>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GB" sz="1000" b="0" i="0" u="none" strike="noStrike">
                          <a:solidFill>
                            <a:srgbClr val="000000"/>
                          </a:solidFill>
                          <a:effectLst/>
                          <a:latin typeface="Verdana" panose="020B0604030504040204" pitchFamily="34" charset="0"/>
                        </a:rPr>
                        <a:t>0</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01755329"/>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129</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1,5</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t"/>
                      <a:r>
                        <a:rPr lang="en-GB" sz="1000" b="0" i="0" u="none" strike="noStrike">
                          <a:solidFill>
                            <a:srgbClr val="000000"/>
                          </a:solidFill>
                          <a:effectLst/>
                          <a:latin typeface="Verdana" panose="020B0604030504040204" pitchFamily="34" charset="0"/>
                        </a:rPr>
                        <a:t>163</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1,1</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t"/>
                      <a:r>
                        <a:rPr lang="en-GB" sz="1000" b="0" i="0" u="none" strike="noStrike">
                          <a:solidFill>
                            <a:srgbClr val="000000"/>
                          </a:solidFill>
                          <a:effectLst/>
                          <a:latin typeface="Verdana" panose="020B0604030504040204" pitchFamily="34" charset="0"/>
                        </a:rPr>
                        <a:t>1.172</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12,6</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0901235"/>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267</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3,0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t"/>
                      <a:r>
                        <a:rPr lang="en-GB" sz="1000" b="0" i="0" u="none" strike="noStrike">
                          <a:solidFill>
                            <a:srgbClr val="000000"/>
                          </a:solidFill>
                          <a:effectLst/>
                          <a:latin typeface="Verdana" panose="020B0604030504040204" pitchFamily="34" charset="0"/>
                        </a:rPr>
                        <a:t>338</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2,2</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t"/>
                      <a:r>
                        <a:rPr lang="en-GB" sz="1000" b="0" i="0" u="none" strike="noStrike">
                          <a:solidFill>
                            <a:srgbClr val="000000"/>
                          </a:solidFill>
                          <a:effectLst/>
                          <a:latin typeface="Verdana" panose="020B0604030504040204" pitchFamily="34" charset="0"/>
                        </a:rPr>
                        <a:t>2.430</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25,4</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93740747"/>
                  </a:ext>
                </a:extLst>
              </a:tr>
              <a:tr h="164796">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chemeClr val="tx1"/>
                      </a:solidFill>
                      <a:prstDash val="solid"/>
                      <a:round/>
                      <a:headEnd type="none" w="med" len="med"/>
                      <a:tailEnd type="none" w="med" len="med"/>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extLst>
                  <a:ext uri="{0D108BD9-81ED-4DB2-BD59-A6C34878D82A}">
                    <a16:rowId xmlns:a16="http://schemas.microsoft.com/office/drawing/2014/main" val="228499642"/>
                  </a:ext>
                </a:extLst>
              </a:tr>
              <a:tr h="185177">
                <a:tc gridSpan="2">
                  <a:txBody>
                    <a:bodyPr/>
                    <a:lstStyle/>
                    <a:p>
                      <a:pPr algn="l" rtl="0" fontAlgn="ctr"/>
                      <a:r>
                        <a:rPr lang="fr-FR" sz="1000" b="1" i="0" u="none" strike="noStrike">
                          <a:solidFill>
                            <a:srgbClr val="000000"/>
                          </a:solidFill>
                          <a:effectLst/>
                          <a:latin typeface="Verdana" panose="020B0604030504040204" pitchFamily="34" charset="0"/>
                        </a:rPr>
                        <a:t>Cum. impact t/m 2026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E2F0D9"/>
                    </a:solidFill>
                  </a:tcPr>
                </a:tc>
                <a:tc hMerge="1">
                  <a:txBody>
                    <a:bodyPr/>
                    <a:lstStyle/>
                    <a:p>
                      <a:endParaRPr lang="en-NL"/>
                    </a:p>
                  </a:txBody>
                  <a:tcPr/>
                </a:tc>
                <a:tc>
                  <a:txBody>
                    <a:bodyPr/>
                    <a:lstStyle/>
                    <a:p>
                      <a:pPr algn="ctr" fontAlgn="ctr"/>
                      <a:r>
                        <a:rPr lang="en-NL" sz="1000" b="1" i="0" u="none" strike="noStrike">
                          <a:solidFill>
                            <a:srgbClr val="000000"/>
                          </a:solidFill>
                          <a:effectLst/>
                          <a:latin typeface="Verdana" panose="020B0604030504040204" pitchFamily="34" charset="0"/>
                        </a:rPr>
                        <a:t> </a:t>
                      </a:r>
                      <a:r>
                        <a:rPr lang="en-GB" sz="1000" b="1" i="0" u="none" strike="noStrike">
                          <a:solidFill>
                            <a:srgbClr val="000000"/>
                          </a:solidFill>
                          <a:effectLst/>
                          <a:latin typeface="Verdana" panose="020B0604030504040204" pitchFamily="34" charset="0"/>
                        </a:rPr>
                        <a:t>396</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000" b="1" i="0" u="none" strike="noStrike">
                          <a:solidFill>
                            <a:srgbClr val="000000"/>
                          </a:solidFill>
                          <a:effectLst/>
                          <a:latin typeface="Verdana" panose="020B0604030504040204" pitchFamily="34" charset="0"/>
                        </a:rPr>
                        <a:t>4,5</a:t>
                      </a:r>
                      <a:r>
                        <a:rPr lang="en-NL" sz="1000" b="1" i="0" u="none" strike="noStrike">
                          <a:solidFill>
                            <a:srgbClr val="000000"/>
                          </a:solidFill>
                          <a:effectLst/>
                          <a:latin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NL" sz="1000" b="1" i="0" u="none" strike="noStrike">
                          <a:solidFill>
                            <a:srgbClr val="000000"/>
                          </a:solidFill>
                          <a:effectLst/>
                          <a:latin typeface="Verdana" panose="020B0604030504040204" pitchFamily="34" charset="0"/>
                        </a:rPr>
                        <a:t> </a:t>
                      </a:r>
                      <a:r>
                        <a:rPr lang="en-GB" sz="1000" b="1" i="0" u="none" strike="noStrike">
                          <a:solidFill>
                            <a:srgbClr val="000000"/>
                          </a:solidFill>
                          <a:effectLst/>
                          <a:latin typeface="Verdana" panose="020B0604030504040204" pitchFamily="34" charset="0"/>
                        </a:rPr>
                        <a:t>501</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NL" sz="1000" b="1" i="0" u="none" strike="noStrike">
                          <a:solidFill>
                            <a:srgbClr val="000000"/>
                          </a:solidFill>
                          <a:effectLst/>
                          <a:latin typeface="Verdana" panose="020B0604030504040204" pitchFamily="34" charset="0"/>
                        </a:rPr>
                        <a:t> </a:t>
                      </a:r>
                      <a:r>
                        <a:rPr lang="en-GB" sz="1000" b="1" i="0" u="none" strike="noStrike">
                          <a:solidFill>
                            <a:srgbClr val="000000"/>
                          </a:solidFill>
                          <a:effectLst/>
                          <a:latin typeface="Verdana" panose="020B0604030504040204" pitchFamily="34" charset="0"/>
                        </a:rPr>
                        <a:t>3,2</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GB" sz="1000" b="1" i="0" u="none" strike="noStrike">
                          <a:solidFill>
                            <a:srgbClr val="000000"/>
                          </a:solidFill>
                          <a:effectLst/>
                          <a:latin typeface="Verdana" panose="020B0604030504040204" pitchFamily="34" charset="0"/>
                        </a:rPr>
                        <a:t>3.602</a:t>
                      </a:r>
                      <a:r>
                        <a:rPr lang="en-NL" sz="1000" b="1" i="0" u="none" strike="noStrike">
                          <a:solidFill>
                            <a:srgbClr val="000000"/>
                          </a:solidFill>
                          <a:effectLst/>
                          <a:latin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NL" sz="1000" b="1" i="0" u="none" strike="noStrike">
                          <a:solidFill>
                            <a:srgbClr val="000000"/>
                          </a:solidFill>
                          <a:effectLst/>
                          <a:latin typeface="Verdana" panose="020B0604030504040204" pitchFamily="34" charset="0"/>
                        </a:rPr>
                        <a:t> </a:t>
                      </a:r>
                      <a:r>
                        <a:rPr lang="en-GB" sz="1000" b="1" i="0" u="none" strike="noStrike">
                          <a:solidFill>
                            <a:srgbClr val="000000"/>
                          </a:solidFill>
                          <a:effectLst/>
                          <a:latin typeface="Verdana" panose="020B0604030504040204" pitchFamily="34" charset="0"/>
                        </a:rPr>
                        <a:t>38,0</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4753538"/>
                  </a:ext>
                </a:extLst>
              </a:tr>
            </a:tbl>
          </a:graphicData>
        </a:graphic>
      </p:graphicFrame>
      <p:sp>
        <p:nvSpPr>
          <p:cNvPr id="28" name="Rectangle: Top Corners Rounded 38">
            <a:hlinkClick r:id="rId8" action="ppaction://hlinksldjump"/>
            <a:extLst>
              <a:ext uri="{FF2B5EF4-FFF2-40B4-BE49-F238E27FC236}">
                <a16:creationId xmlns:a16="http://schemas.microsoft.com/office/drawing/2014/main" id="{226B3C61-DFB5-A45D-E272-34BD95A8C9FA}"/>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29" name="Graphic 28" descr="Introductiepagina silhouet">
            <a:hlinkClick r:id="rId9" action="ppaction://hlinksldjump"/>
            <a:extLst>
              <a:ext uri="{FF2B5EF4-FFF2-40B4-BE49-F238E27FC236}">
                <a16:creationId xmlns:a16="http://schemas.microsoft.com/office/drawing/2014/main" id="{3B903A50-5AAD-D3D7-0C5A-F7CC44E217F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136" y="147223"/>
            <a:ext cx="144000" cy="144000"/>
          </a:xfrm>
          <a:prstGeom prst="rect">
            <a:avLst/>
          </a:prstGeom>
        </p:spPr>
      </p:pic>
      <p:sp>
        <p:nvSpPr>
          <p:cNvPr id="30" name="Rectangle: Top Corners Rounded 1">
            <a:hlinkClick r:id="rId12" action="ppaction://hlinksldjump"/>
            <a:extLst>
              <a:ext uri="{FF2B5EF4-FFF2-40B4-BE49-F238E27FC236}">
                <a16:creationId xmlns:a16="http://schemas.microsoft.com/office/drawing/2014/main" id="{0025E5F1-2F71-47DF-22EB-5E3D5BC541F4}"/>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2" name="Rectangle: Top Corners Rounded 1">
            <a:hlinkClick r:id="rId13" action="ppaction://hlinksldjump"/>
            <a:extLst>
              <a:ext uri="{FF2B5EF4-FFF2-40B4-BE49-F238E27FC236}">
                <a16:creationId xmlns:a16="http://schemas.microsoft.com/office/drawing/2014/main" id="{89C5A9E2-D3FB-C111-3795-0FC723881212}"/>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3" name="Rectangle: Top Corners Rounded 1">
            <a:hlinkClick r:id="rId14" action="ppaction://hlinksldjump"/>
            <a:extLst>
              <a:ext uri="{FF2B5EF4-FFF2-40B4-BE49-F238E27FC236}">
                <a16:creationId xmlns:a16="http://schemas.microsoft.com/office/drawing/2014/main" id="{2D8AB51D-E09D-F0C8-097E-16449A603F2F}"/>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4" name="Rectangle: Top Corners Rounded 1">
            <a:hlinkClick r:id="rId15" action="ppaction://hlinksldjump"/>
            <a:extLst>
              <a:ext uri="{FF2B5EF4-FFF2-40B4-BE49-F238E27FC236}">
                <a16:creationId xmlns:a16="http://schemas.microsoft.com/office/drawing/2014/main" id="{4FB8F8BD-A21A-3BF9-67EE-A28DF446EAD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5" name="Rectangle: Top Corners Rounded 1">
            <a:hlinkClick r:id="rId16" action="ppaction://hlinksldjump"/>
            <a:extLst>
              <a:ext uri="{FF2B5EF4-FFF2-40B4-BE49-F238E27FC236}">
                <a16:creationId xmlns:a16="http://schemas.microsoft.com/office/drawing/2014/main" id="{CDE9EB42-16DC-0CE8-2047-1E1F239E9C13}"/>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36" name="Rectangle: Top Corners Rounded 1">
            <a:hlinkClick r:id="rId17" action="ppaction://hlinksldjump"/>
            <a:extLst>
              <a:ext uri="{FF2B5EF4-FFF2-40B4-BE49-F238E27FC236}">
                <a16:creationId xmlns:a16="http://schemas.microsoft.com/office/drawing/2014/main" id="{E49A0099-4484-EDAD-0057-12930564DA11}"/>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7" name="Rectangle: Top Corners Rounded 1">
            <a:hlinkClick r:id="rId18" action="ppaction://hlinksldjump"/>
            <a:extLst>
              <a:ext uri="{FF2B5EF4-FFF2-40B4-BE49-F238E27FC236}">
                <a16:creationId xmlns:a16="http://schemas.microsoft.com/office/drawing/2014/main" id="{6CACC293-EE8C-3B1E-2278-D188CDDCEAF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8" name="Rectangle: Top Corners Rounded 1">
            <a:hlinkClick r:id="rId19" action="ppaction://hlinksldjump"/>
            <a:extLst>
              <a:ext uri="{FF2B5EF4-FFF2-40B4-BE49-F238E27FC236}">
                <a16:creationId xmlns:a16="http://schemas.microsoft.com/office/drawing/2014/main" id="{CD5E913B-EFFC-F782-16CE-D0059268BB63}"/>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54" name="Rectangle: Top Corners Rounded 1">
            <a:hlinkClick r:id="rId20" action="ppaction://hlinksldjump"/>
            <a:extLst>
              <a:ext uri="{FF2B5EF4-FFF2-40B4-BE49-F238E27FC236}">
                <a16:creationId xmlns:a16="http://schemas.microsoft.com/office/drawing/2014/main" id="{26104F06-0B10-F85A-F850-7B8BD8EB6F33}"/>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55" name="Rectangle: Top Corners Rounded 1">
            <a:hlinkClick r:id="rId21" action="ppaction://hlinksldjump"/>
            <a:extLst>
              <a:ext uri="{FF2B5EF4-FFF2-40B4-BE49-F238E27FC236}">
                <a16:creationId xmlns:a16="http://schemas.microsoft.com/office/drawing/2014/main" id="{28E98562-3E6A-5C66-66AD-84357041F081}"/>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56" name="Rectangle: Top Corners Rounded 1">
            <a:hlinkClick r:id="rId17" action="ppaction://hlinksldjump"/>
            <a:extLst>
              <a:ext uri="{FF2B5EF4-FFF2-40B4-BE49-F238E27FC236}">
                <a16:creationId xmlns:a16="http://schemas.microsoft.com/office/drawing/2014/main" id="{9A5BFB87-9F91-C938-FD8A-AF7242B835BA}"/>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1" name="Rectangle 10">
            <a:extLst>
              <a:ext uri="{FF2B5EF4-FFF2-40B4-BE49-F238E27FC236}">
                <a16:creationId xmlns:a16="http://schemas.microsoft.com/office/drawing/2014/main" id="{F8E06BA5-7549-3D14-3493-16BD9A110633}"/>
              </a:ext>
            </a:extLst>
          </p:cNvPr>
          <p:cNvSpPr/>
          <p:nvPr/>
        </p:nvSpPr>
        <p:spPr>
          <a:xfrm>
            <a:off x="8412861" y="533401"/>
            <a:ext cx="2557408" cy="436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a:t>Getallen zijn indicatief en worden nog gevalideerd!!</a:t>
            </a:r>
          </a:p>
        </p:txBody>
      </p:sp>
    </p:spTree>
    <p:extLst>
      <p:ext uri="{BB962C8B-B14F-4D97-AF65-F5344CB8AC3E}">
        <p14:creationId xmlns:p14="http://schemas.microsoft.com/office/powerpoint/2010/main" val="3365551255"/>
      </p:ext>
    </p:extLst>
  </p:cSld>
  <p:clrMapOvr>
    <a:masterClrMapping/>
  </p:clrMapOvr>
  <p:extLst>
    <p:ext uri="{6950BFC3-D8DA-4A85-94F7-54DA5524770B}">
      <p188:commentRel xmlns:p188="http://schemas.microsoft.com/office/powerpoint/2018/8/main" r:id="rId4"/>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63FF8D-C3BB-6880-B933-E9F45049C577}"/>
              </a:ext>
            </a:extLst>
          </p:cNvPr>
          <p:cNvSpPr>
            <a:spLocks noGrp="1"/>
          </p:cNvSpPr>
          <p:nvPr>
            <p:ph type="title"/>
          </p:nvPr>
        </p:nvSpPr>
        <p:spPr/>
        <p:txBody>
          <a:bodyPr/>
          <a:lstStyle/>
          <a:p>
            <a:r>
              <a:rPr lang="nl-NL" err="1"/>
              <a:t>Usecase</a:t>
            </a:r>
            <a:r>
              <a:rPr lang="nl-NL"/>
              <a:t> 2.2 – Medicatie Overdracht </a:t>
            </a:r>
            <a:endParaRPr lang="en-NL"/>
          </a:p>
        </p:txBody>
      </p:sp>
    </p:spTree>
    <p:extLst>
      <p:ext uri="{BB962C8B-B14F-4D97-AF65-F5344CB8AC3E}">
        <p14:creationId xmlns:p14="http://schemas.microsoft.com/office/powerpoint/2010/main" val="1245800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D165-B29E-06ED-F521-3FE1A338FE78}"/>
              </a:ext>
            </a:extLst>
          </p:cNvPr>
          <p:cNvSpPr>
            <a:spLocks noGrp="1"/>
          </p:cNvSpPr>
          <p:nvPr>
            <p:ph type="title"/>
          </p:nvPr>
        </p:nvSpPr>
        <p:spPr/>
        <p:txBody>
          <a:bodyPr/>
          <a:lstStyle/>
          <a:p>
            <a:r>
              <a:rPr lang="en-GB" err="1"/>
              <a:t>Medicatieoverdracht</a:t>
            </a:r>
            <a:r>
              <a:rPr lang="en-GB"/>
              <a:t> – </a:t>
            </a:r>
            <a:r>
              <a:rPr lang="en-GB" err="1"/>
              <a:t>Ambitie</a:t>
            </a:r>
            <a:endParaRPr lang="en-GB"/>
          </a:p>
        </p:txBody>
      </p:sp>
      <p:sp>
        <p:nvSpPr>
          <p:cNvPr id="4" name="Rectangle 1">
            <a:extLst>
              <a:ext uri="{FF2B5EF4-FFF2-40B4-BE49-F238E27FC236}">
                <a16:creationId xmlns:a16="http://schemas.microsoft.com/office/drawing/2014/main" id="{C82FBABC-7D6E-3244-FBF5-F95A5BBF8EC4}"/>
              </a:ext>
            </a:extLst>
          </p:cNvPr>
          <p:cNvSpPr/>
          <p:nvPr/>
        </p:nvSpPr>
        <p:spPr>
          <a:xfrm>
            <a:off x="3977599" y="5587653"/>
            <a:ext cx="7839563" cy="972000"/>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Doorontwikkeling, na 2026:</a:t>
            </a:r>
          </a:p>
          <a:p>
            <a:pPr marL="171450" indent="-171450">
              <a:spcAft>
                <a:spcPts val="600"/>
              </a:spcAft>
              <a:buFont typeface="Arial"/>
              <a:buChar char="•"/>
              <a:defRPr/>
            </a:pPr>
            <a:r>
              <a:rPr lang="nl-NL" sz="900">
                <a:solidFill>
                  <a:srgbClr val="333333"/>
                </a:solidFill>
                <a:latin typeface="Verdana" panose="020B0604030504040204" pitchFamily="34" charset="0"/>
                <a:ea typeface="Verdana" panose="020B0604030504040204" pitchFamily="34" charset="0"/>
                <a:cs typeface="Verdana" panose="020B0604030504040204" pitchFamily="34" charset="0"/>
              </a:rPr>
              <a:t>In navolging van de koploperregio’s: Uitwisselen van medicatie- en </a:t>
            </a:r>
            <a:r>
              <a:rPr lang="nl-NL" sz="900" err="1">
                <a:solidFill>
                  <a:srgbClr val="333333"/>
                </a:solidFill>
                <a:latin typeface="Verdana" panose="020B0604030504040204" pitchFamily="34" charset="0"/>
                <a:ea typeface="Verdana" panose="020B0604030504040204" pitchFamily="34" charset="0"/>
                <a:cs typeface="Verdana" panose="020B0604030504040204" pitchFamily="34" charset="0"/>
              </a:rPr>
              <a:t>labgegevens</a:t>
            </a:r>
            <a:r>
              <a:rPr lang="nl-NL" sz="900">
                <a:solidFill>
                  <a:srgbClr val="333333"/>
                </a:solidFill>
                <a:latin typeface="Verdana" panose="020B0604030504040204" pitchFamily="34" charset="0"/>
                <a:ea typeface="Verdana" panose="020B0604030504040204" pitchFamily="34" charset="0"/>
                <a:cs typeface="Verdana" panose="020B0604030504040204" pitchFamily="34" charset="0"/>
              </a:rPr>
              <a:t> tussen organisaties conform kwaliteits- en informatiestandaard voor Medicatie Overdracht (MP9, Lab2zorg, en </a:t>
            </a:r>
            <a:r>
              <a:rPr lang="nl-NL" sz="900" err="1">
                <a:solidFill>
                  <a:srgbClr val="333333"/>
                </a:solidFill>
                <a:latin typeface="Verdana" panose="020B0604030504040204" pitchFamily="34" charset="0"/>
                <a:ea typeface="Verdana" panose="020B0604030504040204" pitchFamily="34" charset="0"/>
                <a:cs typeface="Verdana" panose="020B0604030504040204" pitchFamily="34" charset="0"/>
              </a:rPr>
              <a:t>CiO</a:t>
            </a:r>
            <a:r>
              <a:rPr lang="nl-NL" sz="900">
                <a:solidFill>
                  <a:srgbClr val="333333"/>
                </a:solidFill>
                <a:latin typeface="Verdana" panose="020B0604030504040204" pitchFamily="34" charset="0"/>
                <a:ea typeface="Verdana" panose="020B0604030504040204" pitchFamily="34" charset="0"/>
                <a:cs typeface="Verdana" panose="020B0604030504040204" pitchFamily="34" charset="0"/>
              </a:rPr>
              <a:t>) en hiermee voldoen aan de </a:t>
            </a:r>
            <a:r>
              <a:rPr lang="nl-NL" sz="900" err="1">
                <a:solidFill>
                  <a:srgbClr val="333333"/>
                </a:solidFill>
                <a:latin typeface="Verdana" panose="020B0604030504040204" pitchFamily="34" charset="0"/>
                <a:ea typeface="Verdana" panose="020B0604030504040204" pitchFamily="34" charset="0"/>
                <a:cs typeface="Verdana" panose="020B0604030504040204" pitchFamily="34" charset="0"/>
              </a:rPr>
              <a:t>Wegiz</a:t>
            </a:r>
            <a:r>
              <a:rPr lang="nl-NL" sz="900">
                <a:solidFill>
                  <a:srgbClr val="333333"/>
                </a:solidFill>
                <a:latin typeface="Verdana" panose="020B0604030504040204" pitchFamily="34" charset="0"/>
                <a:ea typeface="Verdana" panose="020B0604030504040204" pitchFamily="34" charset="0"/>
                <a:cs typeface="Verdana" panose="020B0604030504040204" pitchFamily="34" charset="0"/>
              </a:rPr>
              <a:t>-standaard. </a:t>
            </a:r>
          </a:p>
          <a:p>
            <a:pPr marL="171450" indent="-171450">
              <a:spcAft>
                <a:spcPts val="600"/>
              </a:spcAft>
              <a:buFont typeface="Arial"/>
              <a:buChar char="•"/>
              <a:defRPr/>
            </a:pPr>
            <a:r>
              <a:rPr lang="nl-NL" sz="900">
                <a:solidFill>
                  <a:srgbClr val="333333"/>
                </a:solidFill>
                <a:latin typeface="Verdana" panose="020B0604030504040204" pitchFamily="34" charset="0"/>
                <a:ea typeface="Verdana" panose="020B0604030504040204" pitchFamily="34" charset="0"/>
                <a:cs typeface="Verdana" panose="020B0604030504040204" pitchFamily="34" charset="0"/>
              </a:rPr>
              <a:t>Bijbehorende werkafspraken in de keten zijn geïmplementeerd.</a:t>
            </a:r>
            <a:endParaRPr lang="en-US" sz="900">
              <a:solidFill>
                <a:prstClr val="black"/>
              </a:solidFill>
              <a:latin typeface="Verdana" panose="020B0604030504040204" pitchFamily="34" charset="0"/>
              <a:ea typeface="Verdana" panose="020B0604030504040204" pitchFamily="34" charset="0"/>
              <a:cs typeface="Verdana" panose="020B0604030504040204" pitchFamily="34" charset="0"/>
            </a:endParaRPr>
          </a:p>
          <a:p>
            <a:pPr marL="171450" indent="-171450">
              <a:spcAft>
                <a:spcPts val="600"/>
              </a:spcAft>
              <a:buFont typeface="Arial"/>
              <a:buChar char="•"/>
              <a:defRPr/>
            </a:pPr>
            <a:r>
              <a:rPr lang="nl-NL" sz="900">
                <a:solidFill>
                  <a:srgbClr val="333333"/>
                </a:solidFill>
                <a:latin typeface="Verdana" panose="020B0604030504040204" pitchFamily="34" charset="0"/>
                <a:ea typeface="Verdana" panose="020B0604030504040204" pitchFamily="34" charset="0"/>
                <a:cs typeface="Verdana" panose="020B0604030504040204" pitchFamily="34" charset="0"/>
              </a:rPr>
              <a:t>Betrokken zorgorganisaties voldoen aan </a:t>
            </a:r>
            <a:r>
              <a:rPr lang="nl-NL" sz="900">
                <a:solidFill>
                  <a:prstClr val="black"/>
                </a:solidFill>
                <a:latin typeface="Verdana" panose="020B0604030504040204" pitchFamily="34" charset="0"/>
                <a:ea typeface="Verdana" panose="020B0604030504040204" pitchFamily="34" charset="0"/>
                <a:cs typeface="Verdana" panose="020B0604030504040204" pitchFamily="34" charset="0"/>
                <a:hlinkClick r:id="rId4">
                  <a:extLst>
                    <a:ext uri="{A12FA001-AC4F-418D-AE19-62706E023703}">
                      <ahyp:hlinkClr xmlns:ahyp="http://schemas.microsoft.com/office/drawing/2018/hyperlinkcolor" val="tx"/>
                    </a:ext>
                  </a:extLst>
                </a:hlinkClick>
              </a:rPr>
              <a:t>NEN7503</a:t>
            </a:r>
            <a:r>
              <a:rPr lang="nl-NL" sz="900">
                <a:solidFill>
                  <a:srgbClr val="333333"/>
                </a:solidFill>
                <a:latin typeface="Verdana" panose="020B0604030504040204" pitchFamily="34" charset="0"/>
                <a:ea typeface="Verdana" panose="020B0604030504040204" pitchFamily="34" charset="0"/>
                <a:cs typeface="Verdana" panose="020B0604030504040204" pitchFamily="34" charset="0"/>
              </a:rPr>
              <a:t> en </a:t>
            </a:r>
            <a:r>
              <a:rPr lang="nl-NL" sz="900">
                <a:solidFill>
                  <a:prstClr val="black"/>
                </a:solidFill>
                <a:latin typeface="Verdana" panose="020B0604030504040204" pitchFamily="34" charset="0"/>
                <a:ea typeface="Verdana" panose="020B0604030504040204" pitchFamily="34" charset="0"/>
                <a:cs typeface="Verdana" panose="020B0604030504040204" pitchFamily="34" charset="0"/>
                <a:hlinkClick r:id="rId5">
                  <a:extLst>
                    <a:ext uri="{A12FA001-AC4F-418D-AE19-62706E023703}">
                      <ahyp:hlinkClr xmlns:ahyp="http://schemas.microsoft.com/office/drawing/2018/hyperlinkcolor" val="tx"/>
                    </a:ext>
                  </a:extLst>
                </a:hlinkClick>
              </a:rPr>
              <a:t>NEN7542.</a:t>
            </a:r>
            <a:endParaRPr lang="nl-NL" sz="900">
              <a:solidFill>
                <a:prstClr val="black"/>
              </a:solidFill>
              <a:latin typeface="Verdana" panose="020B0604030504040204" pitchFamily="34" charset="0"/>
              <a:ea typeface="Verdana" panose="020B0604030504040204" pitchFamily="34" charset="0"/>
              <a:cs typeface="Verdana" panose="020B0604030504040204" pitchFamily="34" charset="0"/>
            </a:endParaRPr>
          </a:p>
          <a:p>
            <a:pPr marL="0" marR="0" lvl="0" indent="0" algn="just" defTabSz="914400" rtl="0" eaLnBrk="1" fontAlgn="auto" latinLnBrk="0" hangingPunct="1">
              <a:lnSpc>
                <a:spcPct val="100000"/>
              </a:lnSpc>
              <a:spcBef>
                <a:spcPts val="0"/>
              </a:spcBef>
              <a:spcAft>
                <a:spcPts val="20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p:txBody>
      </p:sp>
      <p:sp>
        <p:nvSpPr>
          <p:cNvPr id="5" name="Rectangle: Rounded Corners 25">
            <a:extLst>
              <a:ext uri="{FF2B5EF4-FFF2-40B4-BE49-F238E27FC236}">
                <a16:creationId xmlns:a16="http://schemas.microsoft.com/office/drawing/2014/main" id="{126C3CA7-E440-96CB-733B-9AF6F9685104}"/>
              </a:ext>
            </a:extLst>
          </p:cNvPr>
          <p:cNvSpPr/>
          <p:nvPr/>
        </p:nvSpPr>
        <p:spPr>
          <a:xfrm>
            <a:off x="33022" y="1486865"/>
            <a:ext cx="3674578" cy="2812718"/>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6" name="TextBox 16">
            <a:extLst>
              <a:ext uri="{FF2B5EF4-FFF2-40B4-BE49-F238E27FC236}">
                <a16:creationId xmlns:a16="http://schemas.microsoft.com/office/drawing/2014/main" id="{5B76B5DD-B45D-B676-33E0-25BBF90A8F40}"/>
              </a:ext>
            </a:extLst>
          </p:cNvPr>
          <p:cNvSpPr txBox="1"/>
          <p:nvPr/>
        </p:nvSpPr>
        <p:spPr>
          <a:xfrm>
            <a:off x="168022" y="1529458"/>
            <a:ext cx="3275894" cy="2893100"/>
          </a:xfrm>
          <a:prstGeom prst="rect">
            <a:avLst/>
          </a:prstGeom>
          <a:noFill/>
        </p:spPr>
        <p:txBody>
          <a:bodyPr wrap="square" rtlCol="0">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Kernproblematiek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nl-NL" sz="1000">
              <a:solidFill>
                <a:prstClr val="black"/>
              </a:solidFill>
              <a:latin typeface="Verdana" panose="020B0604030504040204" pitchFamily="34" charset="0"/>
              <a:ea typeface="Verdana" panose="020B0604030504040204" pitchFamily="34" charset="0"/>
              <a:cs typeface="Verdana" panose="020B0604030504040204" pitchFamily="34" charset="0"/>
            </a:endParaRP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Medicatie-incidenten: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Onvoldoende informatievoorziening kan leiden tot incorrecte medicatiegegevens wat kan leiden tot medicatie incidenten, (her) opnames en mortaliteit.</a:t>
            </a:r>
            <a:endPar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85725" indent="-85725">
              <a:buFont typeface="Arial" panose="020B0604020202020204" pitchFamily="34" charset="0"/>
              <a:buChar char="•"/>
              <a:defRPr/>
            </a:pP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Tijdverspilling: Zorgverleners zijn veel onnodige tijd kwijt aan recepten en verificatie.</a:t>
            </a:r>
          </a:p>
          <a:p>
            <a:pPr marL="85725" indent="-85725">
              <a:buFont typeface="Arial" panose="020B0604020202020204" pitchFamily="34" charset="0"/>
              <a:buChar char="•"/>
              <a:defRPr/>
            </a:pP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Frustratie bij inwoners: Door niet goed afgestemde systemen moeten inwoners meerdere keren aan verschillende zorgverleners hetzelfde verhaal vertellen </a:t>
            </a:r>
          </a:p>
          <a:p>
            <a:pPr marL="85725" indent="-85725">
              <a:buFont typeface="Arial" panose="020B0604020202020204" pitchFamily="34" charset="0"/>
              <a:buChar char="•"/>
              <a:defRPr/>
            </a:pP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Stroeve samenwerking en geremde innovatie: Er zijn vele zorgverleners in de regio, veelal met verschillende werkprocessen,  verschillend gebruik van terminologie en met uiteenlopende systemen, zonder inzicht in elkaars medicatieproces. </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 name="Rectangle 18">
            <a:extLst>
              <a:ext uri="{FF2B5EF4-FFF2-40B4-BE49-F238E27FC236}">
                <a16:creationId xmlns:a16="http://schemas.microsoft.com/office/drawing/2014/main" id="{820C6127-087E-DEDD-67EA-975666C239C1}"/>
              </a:ext>
            </a:extLst>
          </p:cNvPr>
          <p:cNvSpPr/>
          <p:nvPr/>
        </p:nvSpPr>
        <p:spPr>
          <a:xfrm>
            <a:off x="3977600" y="3036125"/>
            <a:ext cx="7839563" cy="2193526"/>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Ambitie, eind 2026:</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voorbereiding op de implementatie van MP9 worden de regionale werkprocessen in kaart gebracht en daarmee de verschillen en problemen tussen de organisaties aangetoond (gap-analyse). Met dit als basis worden, via het Platform RTA, de regionale werkafspraken omtrent medicatieoverdracht en het uitwisselen van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labgegevens</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herzien zodat men effectiever met elkaar samen kan werken. </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Om voor te sorteren op de implementatie van MP9 creëren we in de regio eenheid van taal voor medicatie, intoleranties en overgevoeligheden, en contra-indicaties. Dit omvat: doseringsinformatie (WCIA25-tabel waar relevant) en de opvolger van de WCIA25-tabel waar relevant, G-standaard,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referentieset</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allergieën en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referentieset</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contra-indicaties o.b.v. SNOMED,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labcodeset</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o.b.v. LOINC/UCUM.​</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de regio realiseren we, in voorbereiding op de volledige implementatie van MP9, Lab2Zorg en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CiO</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technische aansluiting op het Landelijk Schakelpunt (LSP). We houden aansluiting met de landelijke lijn en starten wanneer mogelijk met het implementeren van de MP9, Lab2Zorg en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CiO</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standaarden.</a:t>
            </a:r>
          </a:p>
          <a:p>
            <a:pPr marR="0" lvl="0" algn="just" defTabSz="914400" rtl="0" eaLnBrk="1" fontAlgn="auto" latinLnBrk="0" hangingPunct="1">
              <a:lnSpc>
                <a:spcPct val="110000"/>
              </a:lnSpc>
              <a:spcBef>
                <a:spcPts val="0"/>
              </a:spcBef>
              <a:spcAft>
                <a:spcPts val="0"/>
              </a:spcAft>
              <a:buClrTx/>
              <a:buSzPts val="2000"/>
              <a:tabLst/>
              <a:defRPr/>
            </a:pPr>
            <a:endParaRPr kumimoji="0" lang="nl-NL" sz="10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endParaRPr>
          </a:p>
        </p:txBody>
      </p:sp>
      <p:sp>
        <p:nvSpPr>
          <p:cNvPr id="8" name="Rectangle: Rounded Corners 19">
            <a:extLst>
              <a:ext uri="{FF2B5EF4-FFF2-40B4-BE49-F238E27FC236}">
                <a16:creationId xmlns:a16="http://schemas.microsoft.com/office/drawing/2014/main" id="{9D961019-0E88-05B0-8706-58DDD7C06DF3}"/>
              </a:ext>
            </a:extLst>
          </p:cNvPr>
          <p:cNvSpPr/>
          <p:nvPr/>
        </p:nvSpPr>
        <p:spPr>
          <a:xfrm>
            <a:off x="15190" y="4422558"/>
            <a:ext cx="3672758" cy="2349450"/>
          </a:xfrm>
          <a:prstGeom prst="roundRect">
            <a:avLst/>
          </a:prstGeom>
          <a:solidFill>
            <a:srgbClr val="5BCBF3"/>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9" name="Rectangle 3">
            <a:extLst>
              <a:ext uri="{FF2B5EF4-FFF2-40B4-BE49-F238E27FC236}">
                <a16:creationId xmlns:a16="http://schemas.microsoft.com/office/drawing/2014/main" id="{CA949A71-98DC-5F3A-83D9-50F7D55BB504}"/>
              </a:ext>
            </a:extLst>
          </p:cNvPr>
          <p:cNvSpPr/>
          <p:nvPr/>
        </p:nvSpPr>
        <p:spPr>
          <a:xfrm>
            <a:off x="3977599" y="1485331"/>
            <a:ext cx="7839563" cy="1199653"/>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9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Huidige situatie</a:t>
            </a:r>
          </a:p>
          <a:p>
            <a:pPr marL="171450" indent="-171450">
              <a:buFont typeface="Arial,Sans-Serif"/>
              <a:buChar char="•"/>
              <a:defRPr/>
            </a:pP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Zorgorganisaties en professionals</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waaronder apotheken </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en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diagnostische centra</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houden ieder aparte dossiers bij </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voor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inwoners/patiënten/cliënten. Zij slaan daar medicatie- en </a:t>
            </a:r>
            <a:r>
              <a:rPr lang="nl-NL" sz="950" err="1">
                <a:solidFill>
                  <a:prstClr val="black"/>
                </a:solidFill>
                <a:latin typeface="Verdana" panose="020B0604030504040204" pitchFamily="34" charset="0"/>
                <a:ea typeface="Verdana" panose="020B0604030504040204" pitchFamily="34" charset="0"/>
                <a:cs typeface="Verdana" panose="020B0604030504040204" pitchFamily="34" charset="0"/>
              </a:rPr>
              <a:t>labgegevens</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 op binnen hun organisatie </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en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op hun eigen manier</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endParaRPr lang="en-US" sz="950">
              <a:solidFill>
                <a:prstClr val="black"/>
              </a:solidFill>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Sans-Serif"/>
              <a:buChar char="•"/>
              <a:defRPr/>
            </a:pP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Gegevensuitwisseling vindt beperkt plaats. Hierdoor </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moeten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zorgorganisaties geregeld actuele informatie opnieuw onderling of </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bij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inwoners uitvragen</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endParaRPr lang="en-US" sz="950">
              <a:solidFill>
                <a:prstClr val="black"/>
              </a:solidFill>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Sans-Serif"/>
              <a:buChar char="•"/>
              <a:defRPr/>
            </a:pP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Er</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is in de regio </a:t>
            </a:r>
            <a:r>
              <a:rPr lang="nl-NL" sz="950">
                <a:solidFill>
                  <a:prstClr val="black"/>
                </a:solidFill>
                <a:latin typeface="Verdana" panose="020B0604030504040204" pitchFamily="34" charset="0"/>
                <a:ea typeface="Verdana" panose="020B0604030504040204" pitchFamily="34" charset="0"/>
                <a:cs typeface="Verdana" panose="020B0604030504040204" pitchFamily="34" charset="0"/>
              </a:rPr>
              <a:t>géén uniform werkproces voor </a:t>
            </a:r>
            <a:r>
              <a:rPr kumimoji="0" lang="nl-NL" sz="9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handelingen rondom medicatieverstrekking, het voorschrijven van medicatie en het overdragen.</a:t>
            </a:r>
            <a:endParaRPr lang="nl-NL" sz="950">
              <a:latin typeface="Verdana" panose="020B0604030504040204" pitchFamily="34" charset="0"/>
              <a:ea typeface="Verdana" panose="020B0604030504040204" pitchFamily="34" charset="0"/>
              <a:cs typeface="Verdana" panose="020B0604030504040204" pitchFamily="34" charset="0"/>
            </a:endParaRPr>
          </a:p>
        </p:txBody>
      </p:sp>
      <p:sp>
        <p:nvSpPr>
          <p:cNvPr id="10" name="Oval 35">
            <a:extLst>
              <a:ext uri="{FF2B5EF4-FFF2-40B4-BE49-F238E27FC236}">
                <a16:creationId xmlns:a16="http://schemas.microsoft.com/office/drawing/2014/main" id="{22780AE3-6202-F6BD-5C9D-A4CF536B1420}"/>
              </a:ext>
            </a:extLst>
          </p:cNvPr>
          <p:cNvSpPr>
            <a:spLocks/>
          </p:cNvSpPr>
          <p:nvPr/>
        </p:nvSpPr>
        <p:spPr>
          <a:xfrm>
            <a:off x="3797599" y="1407519"/>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1" name="Graphic 10">
            <a:extLst>
              <a:ext uri="{FF2B5EF4-FFF2-40B4-BE49-F238E27FC236}">
                <a16:creationId xmlns:a16="http://schemas.microsoft.com/office/drawing/2014/main" id="{9B154836-2C2B-14CC-4A5D-00DA6916B207}"/>
              </a:ext>
            </a:extLst>
          </p:cNvPr>
          <p:cNvPicPr>
            <a:picLocks noChangeAspect="1"/>
          </p:cNvPicPr>
          <p:nvPr>
            <p:custDataLst>
              <p:tags r:id="rId1"/>
            </p:custDataLst>
          </p:nvPr>
        </p:nvPicPr>
        <p:blipFill>
          <a:blip r:embed="rId6">
            <a:extLst>
              <a:ext uri="{96DAC541-7B7A-43D3-8B79-37D633B846F1}">
                <asvg:svgBlip xmlns:asvg="http://schemas.microsoft.com/office/drawing/2016/SVG/main" r:embed="rId7"/>
              </a:ext>
            </a:extLst>
          </a:blip>
          <a:stretch>
            <a:fillRect/>
          </a:stretch>
        </p:blipFill>
        <p:spPr>
          <a:xfrm>
            <a:off x="3887599" y="1493021"/>
            <a:ext cx="180000" cy="180000"/>
          </a:xfrm>
          <a:prstGeom prst="rect">
            <a:avLst/>
          </a:prstGeom>
        </p:spPr>
      </p:pic>
      <p:sp>
        <p:nvSpPr>
          <p:cNvPr id="12" name="Oval 35">
            <a:extLst>
              <a:ext uri="{FF2B5EF4-FFF2-40B4-BE49-F238E27FC236}">
                <a16:creationId xmlns:a16="http://schemas.microsoft.com/office/drawing/2014/main" id="{B0D5ADC1-12DE-E071-3753-C5BD19D8B2ED}"/>
              </a:ext>
            </a:extLst>
          </p:cNvPr>
          <p:cNvSpPr>
            <a:spLocks/>
          </p:cNvSpPr>
          <p:nvPr/>
        </p:nvSpPr>
        <p:spPr>
          <a:xfrm>
            <a:off x="3797599" y="2918029"/>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Freeform: Shape 14">
            <a:extLst>
              <a:ext uri="{FF2B5EF4-FFF2-40B4-BE49-F238E27FC236}">
                <a16:creationId xmlns:a16="http://schemas.microsoft.com/office/drawing/2014/main" id="{55E577A7-50EA-DF50-53A0-A810C63C3771}"/>
              </a:ext>
            </a:extLst>
          </p:cNvPr>
          <p:cNvSpPr/>
          <p:nvPr/>
        </p:nvSpPr>
        <p:spPr>
          <a:xfrm>
            <a:off x="3887599" y="3023495"/>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sp>
        <p:nvSpPr>
          <p:cNvPr id="14" name="Oval 35">
            <a:extLst>
              <a:ext uri="{FF2B5EF4-FFF2-40B4-BE49-F238E27FC236}">
                <a16:creationId xmlns:a16="http://schemas.microsoft.com/office/drawing/2014/main" id="{D28AE7C0-7A24-E0CB-EB63-A6B5367B1F0F}"/>
              </a:ext>
            </a:extLst>
          </p:cNvPr>
          <p:cNvSpPr>
            <a:spLocks/>
          </p:cNvSpPr>
          <p:nvPr/>
        </p:nvSpPr>
        <p:spPr>
          <a:xfrm>
            <a:off x="3797599" y="5412151"/>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5" name="Graphic 14" descr="A cloud though bubble">
            <a:extLst>
              <a:ext uri="{FF2B5EF4-FFF2-40B4-BE49-F238E27FC236}">
                <a16:creationId xmlns:a16="http://schemas.microsoft.com/office/drawing/2014/main" id="{7DFA6C71-9479-A8B6-8DAD-C144213F1EA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87599" y="5515810"/>
            <a:ext cx="180000" cy="159763"/>
          </a:xfrm>
          <a:prstGeom prst="rect">
            <a:avLst/>
          </a:prstGeom>
        </p:spPr>
      </p:pic>
      <p:grpSp>
        <p:nvGrpSpPr>
          <p:cNvPr id="16" name="Groep 15">
            <a:extLst>
              <a:ext uri="{FF2B5EF4-FFF2-40B4-BE49-F238E27FC236}">
                <a16:creationId xmlns:a16="http://schemas.microsoft.com/office/drawing/2014/main" id="{41B778C2-85FD-B5A1-FFB1-5C0A40407937}"/>
              </a:ext>
            </a:extLst>
          </p:cNvPr>
          <p:cNvGrpSpPr/>
          <p:nvPr/>
        </p:nvGrpSpPr>
        <p:grpSpPr>
          <a:xfrm>
            <a:off x="637565" y="1424889"/>
            <a:ext cx="360000" cy="360000"/>
            <a:chOff x="80917" y="1266253"/>
            <a:chExt cx="360000" cy="360000"/>
          </a:xfrm>
        </p:grpSpPr>
        <p:sp>
          <p:nvSpPr>
            <p:cNvPr id="17" name="Oval 35">
              <a:extLst>
                <a:ext uri="{FF2B5EF4-FFF2-40B4-BE49-F238E27FC236}">
                  <a16:creationId xmlns:a16="http://schemas.microsoft.com/office/drawing/2014/main" id="{9D0F5997-4F1D-A2B8-FF23-07529D657CB0}"/>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8" name="Graphic 17">
              <a:extLst>
                <a:ext uri="{FF2B5EF4-FFF2-40B4-BE49-F238E27FC236}">
                  <a16:creationId xmlns:a16="http://schemas.microsoft.com/office/drawing/2014/main" id="{D46533CB-16E6-8C2E-118D-CE25B3C8958A}"/>
                </a:ext>
              </a:extLst>
            </p:cNvPr>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tretch>
              <a:fillRect/>
            </a:stretch>
          </p:blipFill>
          <p:spPr>
            <a:xfrm>
              <a:off x="170917" y="1351755"/>
              <a:ext cx="180000" cy="180000"/>
            </a:xfrm>
            <a:prstGeom prst="rect">
              <a:avLst/>
            </a:prstGeom>
          </p:spPr>
        </p:pic>
      </p:grpSp>
      <p:sp>
        <p:nvSpPr>
          <p:cNvPr id="19" name="TextBox 16">
            <a:extLst>
              <a:ext uri="{FF2B5EF4-FFF2-40B4-BE49-F238E27FC236}">
                <a16:creationId xmlns:a16="http://schemas.microsoft.com/office/drawing/2014/main" id="{B2CFD2D9-3434-31BC-5696-D50E9CEF68D0}"/>
              </a:ext>
            </a:extLst>
          </p:cNvPr>
          <p:cNvSpPr txBox="1"/>
          <p:nvPr/>
        </p:nvSpPr>
        <p:spPr>
          <a:xfrm>
            <a:off x="148371" y="4777326"/>
            <a:ext cx="3408240" cy="1969770"/>
          </a:xfrm>
          <a:prstGeom prst="rect">
            <a:avLst/>
          </a:prstGeom>
          <a:noFill/>
        </p:spPr>
        <p:txBody>
          <a:bodyPr wrap="square" rtlCol="0">
            <a:spAutoFit/>
          </a:bodyPr>
          <a:lstStyle/>
          <a:p>
            <a:pPr marL="171450" indent="-171450">
              <a:spcAft>
                <a:spcPts val="600"/>
              </a:spcAft>
              <a:buFont typeface="Arial" panose="020B0604020202020204" pitchFamily="34" charset="0"/>
              <a:buChar char="•"/>
              <a:defRPr/>
            </a:pPr>
            <a:r>
              <a:rPr lang="nl-NL" sz="800" b="1">
                <a:solidFill>
                  <a:prstClr val="black"/>
                </a:solidFill>
                <a:latin typeface="Verdana"/>
                <a:ea typeface="Verdana"/>
                <a:cs typeface="Helvetica"/>
              </a:rPr>
              <a:t>Optimaal inzetten van capaciteit en inzetten op elektronische gegevensuitwisseling; </a:t>
            </a:r>
            <a:r>
              <a:rPr lang="nl-NL" sz="800">
                <a:solidFill>
                  <a:prstClr val="black"/>
                </a:solidFill>
                <a:latin typeface="Verdana"/>
                <a:ea typeface="Verdana"/>
                <a:cs typeface="Helvetica"/>
              </a:rPr>
              <a:t>Als zorgverleners minder tijd nodig hebben voor het opvragen en verifiëren van medicatie- en labgegevens, blijft er meer tijd en energie over voor andere werkzaamheden. Deze </a:t>
            </a:r>
            <a:r>
              <a:rPr lang="nl-NL" sz="800" err="1">
                <a:solidFill>
                  <a:prstClr val="black"/>
                </a:solidFill>
                <a:latin typeface="Verdana"/>
                <a:ea typeface="Verdana"/>
                <a:cs typeface="Helvetica"/>
              </a:rPr>
              <a:t>use</a:t>
            </a:r>
            <a:r>
              <a:rPr lang="nl-NL" sz="800">
                <a:solidFill>
                  <a:prstClr val="black"/>
                </a:solidFill>
                <a:latin typeface="Verdana"/>
                <a:ea typeface="Verdana"/>
                <a:cs typeface="Helvetica"/>
              </a:rPr>
              <a:t> case draagt eraan bij dit op een elektronische manier te doen.</a:t>
            </a:r>
            <a:endParaRPr lang="nl-NL" sz="800">
              <a:solidFill>
                <a:prstClr val="black"/>
              </a:solidFill>
              <a:latin typeface="Verdana"/>
              <a:ea typeface="Verdana"/>
              <a:cs typeface="Calibri"/>
            </a:endParaRPr>
          </a:p>
          <a:p>
            <a:pPr marL="171450" indent="-171450">
              <a:spcAft>
                <a:spcPts val="600"/>
              </a:spcAft>
              <a:buFont typeface="Arial" panose="020B0604020202020204" pitchFamily="34" charset="0"/>
              <a:buChar char="•"/>
              <a:defRPr/>
            </a:pPr>
            <a:r>
              <a:rPr lang="nl-NL" sz="800" b="1">
                <a:solidFill>
                  <a:prstClr val="black"/>
                </a:solidFill>
                <a:latin typeface="Verdana"/>
                <a:ea typeface="Verdana"/>
                <a:cs typeface="Helvetica"/>
              </a:rPr>
              <a:t>Verminderen administratieve lasten en behouden van beschikbare zorgprofessionals; </a:t>
            </a:r>
            <a:r>
              <a:rPr lang="nl-NL" sz="800">
                <a:solidFill>
                  <a:prstClr val="black"/>
                </a:solidFill>
                <a:latin typeface="Verdana"/>
                <a:ea typeface="Verdana"/>
                <a:cs typeface="Helvetica"/>
              </a:rPr>
              <a:t>Zorgprofessionals besteden minder tijd aan onnodige administratie en dit draagt bij een het vergroten van het werkplezier.</a:t>
            </a:r>
          </a:p>
          <a:p>
            <a:pPr marL="171450" indent="-171450">
              <a:spcAft>
                <a:spcPts val="600"/>
              </a:spcAft>
              <a:buFont typeface="Arial" panose="020B0604020202020204" pitchFamily="34" charset="0"/>
              <a:buChar char="•"/>
              <a:defRPr/>
            </a:pPr>
            <a:r>
              <a:rPr lang="nl-NL" sz="800" b="1">
                <a:solidFill>
                  <a:prstClr val="black"/>
                </a:solidFill>
                <a:latin typeface="Verdana"/>
                <a:ea typeface="Verdana"/>
                <a:cs typeface="Helvetica"/>
              </a:rPr>
              <a:t>Verbeteren zorguitkomsten; </a:t>
            </a:r>
            <a:r>
              <a:rPr lang="nl-NL" sz="800">
                <a:solidFill>
                  <a:prstClr val="black"/>
                </a:solidFill>
                <a:latin typeface="Verdana"/>
                <a:ea typeface="Verdana"/>
                <a:cs typeface="Helvetica"/>
              </a:rPr>
              <a:t>Minder foutieve of suboptimale medicatie draagt </a:t>
            </a:r>
            <a:r>
              <a:rPr lang="nl-NL" sz="800">
                <a:solidFill>
                  <a:prstClr val="black"/>
                </a:solidFill>
                <a:latin typeface="Verdana"/>
                <a:ea typeface="Verdana"/>
              </a:rPr>
              <a:t>bij</a:t>
            </a:r>
            <a:r>
              <a:rPr lang="nl-NL" sz="800">
                <a:solidFill>
                  <a:prstClr val="black"/>
                </a:solidFill>
                <a:latin typeface="Verdana"/>
                <a:ea typeface="Verdana"/>
                <a:cs typeface="Helvetica"/>
              </a:rPr>
              <a:t> aan </a:t>
            </a:r>
            <a:r>
              <a:rPr lang="nl-NL" sz="800">
                <a:solidFill>
                  <a:prstClr val="black"/>
                </a:solidFill>
                <a:latin typeface="Verdana"/>
                <a:ea typeface="Verdana"/>
              </a:rPr>
              <a:t>verbeterde zorguitkomsten voor inwoners.</a:t>
            </a:r>
            <a:endParaRPr lang="nl-NL" sz="800">
              <a:solidFill>
                <a:prstClr val="black"/>
              </a:solidFill>
              <a:ea typeface="Calibri"/>
              <a:cs typeface="Calibri"/>
            </a:endParaRPr>
          </a:p>
        </p:txBody>
      </p:sp>
      <p:sp>
        <p:nvSpPr>
          <p:cNvPr id="20" name="Gelijkbenige driehoek 19">
            <a:extLst>
              <a:ext uri="{FF2B5EF4-FFF2-40B4-BE49-F238E27FC236}">
                <a16:creationId xmlns:a16="http://schemas.microsoft.com/office/drawing/2014/main" id="{63B8BD2C-38FF-4C74-3B90-31139C0554CC}"/>
              </a:ext>
            </a:extLst>
          </p:cNvPr>
          <p:cNvSpPr/>
          <p:nvPr/>
        </p:nvSpPr>
        <p:spPr>
          <a:xfrm rot="10800000">
            <a:off x="6891055" y="2752144"/>
            <a:ext cx="1814052" cy="25448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Gelijkbenige driehoek 20">
            <a:extLst>
              <a:ext uri="{FF2B5EF4-FFF2-40B4-BE49-F238E27FC236}">
                <a16:creationId xmlns:a16="http://schemas.microsoft.com/office/drawing/2014/main" id="{88502E1B-1EB6-FC47-D285-64DFBEDA0FFB}"/>
              </a:ext>
            </a:extLst>
          </p:cNvPr>
          <p:cNvSpPr/>
          <p:nvPr/>
        </p:nvSpPr>
        <p:spPr>
          <a:xfrm rot="10800000">
            <a:off x="6891055" y="5312848"/>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 Placeholder 2">
            <a:extLst>
              <a:ext uri="{FF2B5EF4-FFF2-40B4-BE49-F238E27FC236}">
                <a16:creationId xmlns:a16="http://schemas.microsoft.com/office/drawing/2014/main" id="{382EAEEE-79D4-E96E-CAD9-9882898CF0D6}"/>
              </a:ext>
            </a:extLst>
          </p:cNvPr>
          <p:cNvSpPr txBox="1">
            <a:spLocks/>
          </p:cNvSpPr>
          <p:nvPr/>
        </p:nvSpPr>
        <p:spPr>
          <a:xfrm>
            <a:off x="425302" y="1363758"/>
            <a:ext cx="10544967"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3" name="Text Placeholder 2">
            <a:extLst>
              <a:ext uri="{FF2B5EF4-FFF2-40B4-BE49-F238E27FC236}">
                <a16:creationId xmlns:a16="http://schemas.microsoft.com/office/drawing/2014/main" id="{D4C7FD9A-32FF-F616-6CD6-326A0FF70C18}"/>
              </a:ext>
            </a:extLst>
          </p:cNvPr>
          <p:cNvSpPr txBox="1">
            <a:spLocks/>
          </p:cNvSpPr>
          <p:nvPr/>
        </p:nvSpPr>
        <p:spPr>
          <a:xfrm>
            <a:off x="425302" y="897680"/>
            <a:ext cx="11216238"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 name="Rechthoek: afgeronde hoeken 2">
            <a:extLst>
              <a:ext uri="{FF2B5EF4-FFF2-40B4-BE49-F238E27FC236}">
                <a16:creationId xmlns:a16="http://schemas.microsoft.com/office/drawing/2014/main" id="{0E93221F-D53E-B9DC-3601-6C27E7EEB660}"/>
              </a:ext>
            </a:extLst>
          </p:cNvPr>
          <p:cNvSpPr/>
          <p:nvPr/>
        </p:nvSpPr>
        <p:spPr>
          <a:xfrm>
            <a:off x="-1" y="-329786"/>
            <a:ext cx="122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Top Corners Rounded 38">
            <a:hlinkClick r:id="rId12" action="ppaction://hlinksldjump"/>
            <a:extLst>
              <a:ext uri="{FF2B5EF4-FFF2-40B4-BE49-F238E27FC236}">
                <a16:creationId xmlns:a16="http://schemas.microsoft.com/office/drawing/2014/main" id="{9365AA82-1AF6-985D-260C-1CCE0F63D781}"/>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8" name="Graphic 37" descr="Introductiepagina silhouet">
            <a:hlinkClick r:id="rId13" action="ppaction://hlinksldjump"/>
            <a:extLst>
              <a:ext uri="{FF2B5EF4-FFF2-40B4-BE49-F238E27FC236}">
                <a16:creationId xmlns:a16="http://schemas.microsoft.com/office/drawing/2014/main" id="{918EEF80-D6CA-F370-0040-F237084324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5136" y="147223"/>
            <a:ext cx="144000" cy="144000"/>
          </a:xfrm>
          <a:prstGeom prst="rect">
            <a:avLst/>
          </a:prstGeom>
        </p:spPr>
      </p:pic>
      <p:sp>
        <p:nvSpPr>
          <p:cNvPr id="39" name="Rectangle: Top Corners Rounded 1">
            <a:hlinkClick r:id="rId16" action="ppaction://hlinksldjump"/>
            <a:extLst>
              <a:ext uri="{FF2B5EF4-FFF2-40B4-BE49-F238E27FC236}">
                <a16:creationId xmlns:a16="http://schemas.microsoft.com/office/drawing/2014/main" id="{D0A643C9-703B-29F7-7C89-27A855557AD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40" name="Rectangle: Top Corners Rounded 1">
            <a:hlinkClick r:id="rId17" action="ppaction://hlinksldjump"/>
            <a:extLst>
              <a:ext uri="{FF2B5EF4-FFF2-40B4-BE49-F238E27FC236}">
                <a16:creationId xmlns:a16="http://schemas.microsoft.com/office/drawing/2014/main" id="{31E08ADC-BA30-548B-78C8-EFC2A8CF21E6}"/>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41" name="Rectangle: Top Corners Rounded 1">
            <a:hlinkClick r:id="rId18" action="ppaction://hlinksldjump"/>
            <a:extLst>
              <a:ext uri="{FF2B5EF4-FFF2-40B4-BE49-F238E27FC236}">
                <a16:creationId xmlns:a16="http://schemas.microsoft.com/office/drawing/2014/main" id="{DBEA2E3F-F8D7-B909-853A-6889276E3485}"/>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42" name="Rectangle: Top Corners Rounded 1">
            <a:hlinkClick r:id="rId19" action="ppaction://hlinksldjump"/>
            <a:extLst>
              <a:ext uri="{FF2B5EF4-FFF2-40B4-BE49-F238E27FC236}">
                <a16:creationId xmlns:a16="http://schemas.microsoft.com/office/drawing/2014/main" id="{A103978A-7176-6285-D137-F39C1654FD39}"/>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3" name="Rectangle: Top Corners Rounded 1">
            <a:hlinkClick r:id="rId20" action="ppaction://hlinksldjump"/>
            <a:extLst>
              <a:ext uri="{FF2B5EF4-FFF2-40B4-BE49-F238E27FC236}">
                <a16:creationId xmlns:a16="http://schemas.microsoft.com/office/drawing/2014/main" id="{A5656F7C-F55B-BED3-9F3B-C8614B066C14}"/>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44" name="Rectangle: Top Corners Rounded 1">
            <a:hlinkClick r:id="rId21" action="ppaction://hlinksldjump"/>
            <a:extLst>
              <a:ext uri="{FF2B5EF4-FFF2-40B4-BE49-F238E27FC236}">
                <a16:creationId xmlns:a16="http://schemas.microsoft.com/office/drawing/2014/main" id="{61FC0393-8B45-594D-18FF-32599F51C2D9}"/>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5" name="Rectangle: Top Corners Rounded 1">
            <a:hlinkClick r:id="rId22" action="ppaction://hlinksldjump"/>
            <a:extLst>
              <a:ext uri="{FF2B5EF4-FFF2-40B4-BE49-F238E27FC236}">
                <a16:creationId xmlns:a16="http://schemas.microsoft.com/office/drawing/2014/main" id="{3751DDC0-59B7-FFFE-6FAA-679C9BB0C1DD}"/>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6" name="Rectangle: Top Corners Rounded 1">
            <a:hlinkClick r:id="rId23" action="ppaction://hlinksldjump"/>
            <a:extLst>
              <a:ext uri="{FF2B5EF4-FFF2-40B4-BE49-F238E27FC236}">
                <a16:creationId xmlns:a16="http://schemas.microsoft.com/office/drawing/2014/main" id="{7AB6ED6C-B08C-0B33-3D89-33A22CDBCD6C}"/>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7" name="Rectangle: Top Corners Rounded 1">
            <a:hlinkClick r:id="rId24" action="ppaction://hlinksldjump"/>
            <a:extLst>
              <a:ext uri="{FF2B5EF4-FFF2-40B4-BE49-F238E27FC236}">
                <a16:creationId xmlns:a16="http://schemas.microsoft.com/office/drawing/2014/main" id="{AFA1F6C5-3CBA-E0CC-7FC7-73DA21C22197}"/>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8" name="Rectangle: Top Corners Rounded 1">
            <a:hlinkClick r:id="rId25" action="ppaction://hlinksldjump"/>
            <a:extLst>
              <a:ext uri="{FF2B5EF4-FFF2-40B4-BE49-F238E27FC236}">
                <a16:creationId xmlns:a16="http://schemas.microsoft.com/office/drawing/2014/main" id="{7C786082-CEAA-9486-EC1C-5CFCF6389CCB}"/>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9" name="Rectangle: Top Corners Rounded 1">
            <a:hlinkClick r:id="rId26" action="ppaction://hlinksldjump"/>
            <a:extLst>
              <a:ext uri="{FF2B5EF4-FFF2-40B4-BE49-F238E27FC236}">
                <a16:creationId xmlns:a16="http://schemas.microsoft.com/office/drawing/2014/main" id="{622950DA-D501-EF1C-F917-B38413D63902}"/>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24" name="Text Placeholder 17">
            <a:extLst>
              <a:ext uri="{FF2B5EF4-FFF2-40B4-BE49-F238E27FC236}">
                <a16:creationId xmlns:a16="http://schemas.microsoft.com/office/drawing/2014/main" id="{63BFA63D-326A-F7B4-F547-A4D9C24F675A}"/>
              </a:ext>
            </a:extLst>
          </p:cNvPr>
          <p:cNvSpPr>
            <a:spLocks noGrp="1"/>
          </p:cNvSpPr>
          <p:nvPr>
            <p:ph type="body" sz="quarter" idx="10"/>
          </p:nvPr>
        </p:nvSpPr>
        <p:spPr>
          <a:xfrm>
            <a:off x="425302" y="969998"/>
            <a:ext cx="10544967" cy="504000"/>
          </a:xfrm>
        </p:spPr>
        <p:txBody>
          <a:bodyPr/>
          <a:lstStyle/>
          <a:p>
            <a:r>
              <a:rPr lang="nl-NL" sz="1200"/>
              <a:t>Implementeren en adopteren van de Medisch Overdracht (MP9), </a:t>
            </a:r>
            <a:r>
              <a:rPr lang="nl-NL" sz="1200" err="1"/>
              <a:t>labresultaten</a:t>
            </a:r>
            <a:r>
              <a:rPr lang="nl-NL" sz="1200"/>
              <a:t>, contra-indicaties en overgevoeligheden volgens de wettelijke bepaling, ten behoeve van de continuïteit, effectiviteit en efficiëntie van zorg. </a:t>
            </a:r>
          </a:p>
        </p:txBody>
      </p:sp>
    </p:spTree>
    <p:extLst>
      <p:ext uri="{BB962C8B-B14F-4D97-AF65-F5344CB8AC3E}">
        <p14:creationId xmlns:p14="http://schemas.microsoft.com/office/powerpoint/2010/main" val="13762516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85662-8582-4D5C-8B41-A11EFF4235D2}"/>
              </a:ext>
            </a:extLst>
          </p:cNvPr>
          <p:cNvSpPr>
            <a:spLocks noGrp="1"/>
          </p:cNvSpPr>
          <p:nvPr>
            <p:ph type="title"/>
          </p:nvPr>
        </p:nvSpPr>
        <p:spPr/>
        <p:txBody>
          <a:bodyPr/>
          <a:lstStyle/>
          <a:p>
            <a:r>
              <a:rPr lang="en-GB" err="1"/>
              <a:t>Medicatie</a:t>
            </a:r>
            <a:r>
              <a:rPr lang="en-GB"/>
              <a:t> </a:t>
            </a:r>
            <a:r>
              <a:rPr lang="en-GB" err="1"/>
              <a:t>Overdracht</a:t>
            </a:r>
            <a:r>
              <a:rPr lang="en-GB"/>
              <a:t> – </a:t>
            </a:r>
            <a:r>
              <a:rPr lang="en-GB" err="1"/>
              <a:t>Projectfasering</a:t>
            </a:r>
            <a:r>
              <a:rPr lang="en-GB"/>
              <a:t> </a:t>
            </a:r>
          </a:p>
        </p:txBody>
      </p:sp>
      <p:sp>
        <p:nvSpPr>
          <p:cNvPr id="28" name="TextBox 13">
            <a:extLst>
              <a:ext uri="{FF2B5EF4-FFF2-40B4-BE49-F238E27FC236}">
                <a16:creationId xmlns:a16="http://schemas.microsoft.com/office/drawing/2014/main" id="{B6869031-FFC9-ECC0-E023-CEE75EAA5B92}"/>
              </a:ext>
            </a:extLst>
          </p:cNvPr>
          <p:cNvSpPr txBox="1"/>
          <p:nvPr/>
        </p:nvSpPr>
        <p:spPr>
          <a:xfrm>
            <a:off x="8834151" y="1288464"/>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a:ea typeface="Verdana"/>
                <a:cs typeface="Arial"/>
              </a:rPr>
              <a:t>Fase 4</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a:ea typeface="Verdana"/>
                <a:cs typeface="Arial"/>
              </a:rPr>
              <a:t>Q3 - Q4 2026</a:t>
            </a:r>
          </a:p>
        </p:txBody>
      </p:sp>
      <p:sp>
        <p:nvSpPr>
          <p:cNvPr id="30" name="TextBox 13">
            <a:extLst>
              <a:ext uri="{FF2B5EF4-FFF2-40B4-BE49-F238E27FC236}">
                <a16:creationId xmlns:a16="http://schemas.microsoft.com/office/drawing/2014/main" id="{67952659-9492-D19E-E280-F6B187632C78}"/>
              </a:ext>
            </a:extLst>
          </p:cNvPr>
          <p:cNvSpPr txBox="1"/>
          <p:nvPr/>
        </p:nvSpPr>
        <p:spPr>
          <a:xfrm>
            <a:off x="717726" y="1288400"/>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a:ea typeface="Verdana"/>
                <a:cs typeface="Arial"/>
              </a:rPr>
              <a:t>Fase 1</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a:ea typeface="Verdana"/>
                <a:cs typeface="Arial"/>
              </a:rPr>
              <a:t>Q1 - Q2 2025</a:t>
            </a:r>
          </a:p>
        </p:txBody>
      </p:sp>
      <p:sp>
        <p:nvSpPr>
          <p:cNvPr id="39" name="TextBox 13">
            <a:extLst>
              <a:ext uri="{FF2B5EF4-FFF2-40B4-BE49-F238E27FC236}">
                <a16:creationId xmlns:a16="http://schemas.microsoft.com/office/drawing/2014/main" id="{3E11984B-C084-E766-D2CE-846425D5FF77}"/>
              </a:ext>
            </a:extLst>
          </p:cNvPr>
          <p:cNvSpPr txBox="1"/>
          <p:nvPr/>
        </p:nvSpPr>
        <p:spPr>
          <a:xfrm>
            <a:off x="6124204" y="1285526"/>
            <a:ext cx="2700000" cy="506536"/>
          </a:xfrm>
          <a:prstGeom prst="rect">
            <a:avLst/>
          </a:prstGeom>
          <a:noFill/>
          <a:ln>
            <a:solidFill>
              <a:schemeClr val="tx1">
                <a:lumMod val="50000"/>
                <a:lumOff val="50000"/>
              </a:schemeClr>
            </a:solidFill>
          </a:ln>
        </p:spPr>
        <p:txBody>
          <a:bodyPr wrap="square">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panose="020B0604030504040204" pitchFamily="34" charset="0"/>
                <a:ea typeface="Verdana" panose="020B0604030504040204" pitchFamily="34" charset="0"/>
                <a:cs typeface="Arial"/>
              </a:rPr>
              <a:t>Fase 3</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panose="020B0604030504040204" pitchFamily="34" charset="0"/>
                <a:ea typeface="Verdana" panose="020B0604030504040204" pitchFamily="34" charset="0"/>
                <a:cs typeface="Arial"/>
              </a:rPr>
              <a:t>Q1 – Q2 2026</a:t>
            </a:r>
          </a:p>
        </p:txBody>
      </p:sp>
      <p:sp>
        <p:nvSpPr>
          <p:cNvPr id="43" name="TextBox 13">
            <a:extLst>
              <a:ext uri="{FF2B5EF4-FFF2-40B4-BE49-F238E27FC236}">
                <a16:creationId xmlns:a16="http://schemas.microsoft.com/office/drawing/2014/main" id="{6C25BC07-320C-5D25-572A-D98012D45762}"/>
              </a:ext>
            </a:extLst>
          </p:cNvPr>
          <p:cNvSpPr txBox="1"/>
          <p:nvPr/>
        </p:nvSpPr>
        <p:spPr>
          <a:xfrm>
            <a:off x="3414257" y="1288400"/>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a:ea typeface="Verdana"/>
                <a:cs typeface="Arial"/>
              </a:rPr>
              <a:t>Fase 2</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chemeClr val="bg2">
                    <a:lumMod val="50000"/>
                  </a:schemeClr>
                </a:solidFill>
                <a:effectLst/>
                <a:uLnTx/>
                <a:uFillTx/>
                <a:latin typeface="Verdana"/>
                <a:ea typeface="Verdana"/>
                <a:cs typeface="Arial"/>
              </a:rPr>
              <a:t>Q3 – Q4 2025</a:t>
            </a:r>
          </a:p>
        </p:txBody>
      </p:sp>
      <p:sp>
        <p:nvSpPr>
          <p:cNvPr id="23" name="Rectangle: Rounded Corners 4">
            <a:extLst>
              <a:ext uri="{FF2B5EF4-FFF2-40B4-BE49-F238E27FC236}">
                <a16:creationId xmlns:a16="http://schemas.microsoft.com/office/drawing/2014/main" id="{C2CE15A6-B62B-5749-316A-3B64BDC63A18}"/>
              </a:ext>
            </a:extLst>
          </p:cNvPr>
          <p:cNvSpPr>
            <a:spLocks/>
          </p:cNvSpPr>
          <p:nvPr/>
        </p:nvSpPr>
        <p:spPr>
          <a:xfrm>
            <a:off x="3431766" y="2391599"/>
            <a:ext cx="2545638" cy="1057976"/>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a:solidFill>
                  <a:prstClr val="black"/>
                </a:solidFill>
                <a:latin typeface="Verdana" panose="020B0604030504040204" pitchFamily="34" charset="0"/>
                <a:ea typeface="Verdana" panose="020B0604030504040204" pitchFamily="34" charset="0"/>
              </a:rPr>
              <a:t>Inventariseren benodigde werkafspraken </a:t>
            </a:r>
            <a:r>
              <a:rPr lang="nl-NL" sz="700">
                <a:solidFill>
                  <a:prstClr val="black"/>
                </a:solidFill>
                <a:latin typeface="Verdana" panose="020B0604030504040204" pitchFamily="34" charset="0"/>
                <a:ea typeface="Verdana" panose="020B0604030504040204" pitchFamily="34" charset="0"/>
              </a:rPr>
              <a:t>(en indien nodig leveranciers betrekken voor technische ondersteuning)</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a:solidFill>
                  <a:prstClr val="black"/>
                </a:solidFill>
                <a:latin typeface="Verdana" panose="020B0604030504040204" pitchFamily="34" charset="0"/>
                <a:ea typeface="Verdana" panose="020B0604030504040204" pitchFamily="34" charset="0"/>
              </a:rPr>
              <a:t>Regionale Transmurale Werkafspraken opstellen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RTA Medicatieoverdracht conceptversie</a:t>
            </a:r>
          </a:p>
          <a:p>
            <a:pPr marL="324000" marR="0" lvl="0" indent="-108000" algn="l" defTabSz="914400" rtl="0" eaLnBrk="1" fontAlgn="auto" latinLnBrk="0" hangingPunct="1">
              <a:lnSpc>
                <a:spcPct val="100000"/>
              </a:lnSpc>
              <a:spcBef>
                <a:spcPts val="0"/>
              </a:spcBef>
              <a:spcAft>
                <a:spcPts val="0"/>
              </a:spcAft>
              <a:buClrTx/>
              <a:buSzTx/>
              <a:tabLst/>
              <a:defRPr/>
            </a:pPr>
            <a:endParaRPr kumimoji="0" lang="nl-NL" sz="9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4" name="Rectangle: Rounded Corners 4">
            <a:extLst>
              <a:ext uri="{FF2B5EF4-FFF2-40B4-BE49-F238E27FC236}">
                <a16:creationId xmlns:a16="http://schemas.microsoft.com/office/drawing/2014/main" id="{3FA4097A-396D-F2F5-CE69-76BEBC227BFE}"/>
              </a:ext>
            </a:extLst>
          </p:cNvPr>
          <p:cNvSpPr>
            <a:spLocks/>
          </p:cNvSpPr>
          <p:nvPr/>
        </p:nvSpPr>
        <p:spPr>
          <a:xfrm>
            <a:off x="8849481" y="2391598"/>
            <a:ext cx="2561340" cy="117251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r>
              <a:rPr lang="nl-NL" sz="900">
                <a:solidFill>
                  <a:srgbClr val="000000"/>
                </a:solidFill>
                <a:latin typeface="Verdana" panose="020B0604030504040204" pitchFamily="34" charset="0"/>
                <a:ea typeface="Verdana" panose="020B0604030504040204" pitchFamily="34" charset="0"/>
                <a:cs typeface="Arial"/>
              </a:rPr>
              <a:t>Evaluatiemoment</a:t>
            </a:r>
          </a:p>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r>
              <a:rPr lang="nl-NL" sz="900">
                <a:solidFill>
                  <a:srgbClr val="000000"/>
                </a:solidFill>
                <a:latin typeface="Verdana" panose="020B0604030504040204" pitchFamily="34" charset="0"/>
                <a:ea typeface="Verdana" panose="020B0604030504040204" pitchFamily="34" charset="0"/>
                <a:cs typeface="Arial"/>
              </a:rPr>
              <a:t>Vervolg implementatie</a:t>
            </a:r>
          </a:p>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endParaRPr lang="nl-NL" sz="900">
              <a:solidFill>
                <a:srgbClr val="000000"/>
              </a:solidFill>
              <a:latin typeface="Verdana" panose="020B0604030504040204" pitchFamily="34" charset="0"/>
              <a:ea typeface="Verdana" panose="020B0604030504040204" pitchFamily="34" charset="0"/>
              <a:cs typeface="Arial"/>
            </a:endParaRPr>
          </a:p>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endParaRPr lang="nl-NL" sz="900">
              <a:solidFill>
                <a:srgbClr val="000000"/>
              </a:solidFill>
              <a:latin typeface="Verdana" panose="020B0604030504040204" pitchFamily="34" charset="0"/>
              <a:ea typeface="Verdana" panose="020B0604030504040204" pitchFamily="34" charset="0"/>
              <a:cs typeface="Arial"/>
            </a:endParaRPr>
          </a:p>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endParaRPr lang="nl-NL" sz="900">
              <a:solidFill>
                <a:srgbClr val="000000"/>
              </a:solidFill>
              <a:latin typeface="Verdana" panose="020B0604030504040204" pitchFamily="34" charset="0"/>
              <a:ea typeface="Verdana" panose="020B0604030504040204" pitchFamily="34" charset="0"/>
              <a:cs typeface="Arial"/>
            </a:endParaRPr>
          </a:p>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nl-NL"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RTA geïmplementeerd</a:t>
            </a:r>
            <a:r>
              <a:rPr kumimoji="0" lang="nl-NL" sz="900" b="1" i="0" u="none" strike="noStrike" kern="1200" cap="none" spc="0" normalizeH="0" baseline="30000" noProof="0">
                <a:ln>
                  <a:noFill/>
                </a:ln>
                <a:solidFill>
                  <a:srgbClr val="000000"/>
                </a:solidFill>
                <a:effectLst/>
                <a:uLnTx/>
                <a:uFillTx/>
                <a:latin typeface="Verdana" panose="020B0604030504040204" pitchFamily="34" charset="0"/>
                <a:ea typeface="Verdana" panose="020B0604030504040204" pitchFamily="34" charset="0"/>
                <a:cs typeface="Arial"/>
              </a:rPr>
              <a:t>1</a:t>
            </a:r>
            <a:r>
              <a:rPr kumimoji="0" lang="nl-NL"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 </a:t>
            </a:r>
          </a:p>
        </p:txBody>
      </p:sp>
      <p:sp>
        <p:nvSpPr>
          <p:cNvPr id="27" name="Rectangle: Rounded Corners 28">
            <a:extLst>
              <a:ext uri="{FF2B5EF4-FFF2-40B4-BE49-F238E27FC236}">
                <a16:creationId xmlns:a16="http://schemas.microsoft.com/office/drawing/2014/main" id="{7EA053B6-2644-CBA8-F554-610D3AEB7122}"/>
              </a:ext>
            </a:extLst>
          </p:cNvPr>
          <p:cNvSpPr>
            <a:spLocks/>
          </p:cNvSpPr>
          <p:nvPr/>
        </p:nvSpPr>
        <p:spPr>
          <a:xfrm>
            <a:off x="721460" y="2391599"/>
            <a:ext cx="2545638" cy="1084895"/>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Expertgroep opstellen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Analyseren huidige werkprocessen (gap-analyse)</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algn="l" defTabSz="914400" rtl="0" eaLnBrk="1" fontAlgn="auto" latinLnBrk="0" hangingPunct="1">
              <a:lnSpc>
                <a:spcPct val="100000"/>
              </a:lnSpc>
              <a:spcBef>
                <a:spcPts val="0"/>
              </a:spcBef>
              <a:spcAft>
                <a:spcPts val="0"/>
              </a:spcAft>
              <a:buClrTx/>
              <a:buSzTx/>
              <a:tabLst/>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Expertgroep </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b="1">
                <a:solidFill>
                  <a:prstClr val="black"/>
                </a:solidFill>
                <a:latin typeface="Verdana" panose="020B0604030504040204" pitchFamily="34" charset="0"/>
                <a:ea typeface="Verdana" panose="020B0604030504040204" pitchFamily="34" charset="0"/>
              </a:rPr>
              <a:t>Gap-analyse</a:t>
            </a:r>
            <a:endPar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31" name="Straight Arrow Connector 29">
            <a:extLst>
              <a:ext uri="{FF2B5EF4-FFF2-40B4-BE49-F238E27FC236}">
                <a16:creationId xmlns:a16="http://schemas.microsoft.com/office/drawing/2014/main" id="{36B8428A-E58F-5CD0-E4CF-EF36B9844C02}"/>
              </a:ext>
            </a:extLst>
          </p:cNvPr>
          <p:cNvCxnSpPr>
            <a:cxnSpLocks/>
          </p:cNvCxnSpPr>
          <p:nvPr/>
        </p:nvCxnSpPr>
        <p:spPr>
          <a:xfrm flipV="1">
            <a:off x="721459" y="1901999"/>
            <a:ext cx="10752814" cy="55946"/>
          </a:xfrm>
          <a:prstGeom prst="straightConnector1">
            <a:avLst/>
          </a:prstGeom>
          <a:ln w="38100">
            <a:solidFill>
              <a:schemeClr val="bg2">
                <a:lumMod val="75000"/>
              </a:schemeClr>
            </a:solidFill>
            <a:tailEnd type="triangle"/>
          </a:ln>
        </p:spPr>
        <p:style>
          <a:lnRef idx="3">
            <a:schemeClr val="dk1"/>
          </a:lnRef>
          <a:fillRef idx="0">
            <a:schemeClr val="dk1"/>
          </a:fillRef>
          <a:effectRef idx="2">
            <a:schemeClr val="dk1"/>
          </a:effectRef>
          <a:fontRef idx="minor">
            <a:schemeClr val="tx1"/>
          </a:fontRef>
        </p:style>
      </p:cxnSp>
      <p:sp>
        <p:nvSpPr>
          <p:cNvPr id="35" name="Oval 17">
            <a:extLst>
              <a:ext uri="{FF2B5EF4-FFF2-40B4-BE49-F238E27FC236}">
                <a16:creationId xmlns:a16="http://schemas.microsoft.com/office/drawing/2014/main" id="{C1D9CE12-4B22-0FCC-53F2-557C2A9B4086}"/>
              </a:ext>
            </a:extLst>
          </p:cNvPr>
          <p:cNvSpPr>
            <a:spLocks/>
          </p:cNvSpPr>
          <p:nvPr/>
        </p:nvSpPr>
        <p:spPr>
          <a:xfrm>
            <a:off x="1754370" y="1749502"/>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38" name="Oval 18">
            <a:extLst>
              <a:ext uri="{FF2B5EF4-FFF2-40B4-BE49-F238E27FC236}">
                <a16:creationId xmlns:a16="http://schemas.microsoft.com/office/drawing/2014/main" id="{EF9CD2A3-AF46-87C8-2D86-CB4B69866131}"/>
              </a:ext>
            </a:extLst>
          </p:cNvPr>
          <p:cNvSpPr>
            <a:spLocks/>
          </p:cNvSpPr>
          <p:nvPr/>
        </p:nvSpPr>
        <p:spPr>
          <a:xfrm>
            <a:off x="7208787" y="1768487"/>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40" name="Rectangle: Rounded Corners 28">
            <a:extLst>
              <a:ext uri="{FF2B5EF4-FFF2-40B4-BE49-F238E27FC236}">
                <a16:creationId xmlns:a16="http://schemas.microsoft.com/office/drawing/2014/main" id="{10F20DEE-2443-A9F0-7E27-A32BE021DFF6}"/>
              </a:ext>
            </a:extLst>
          </p:cNvPr>
          <p:cNvSpPr>
            <a:spLocks/>
          </p:cNvSpPr>
          <p:nvPr/>
        </p:nvSpPr>
        <p:spPr>
          <a:xfrm>
            <a:off x="761291" y="5231928"/>
            <a:ext cx="2545638" cy="1190763"/>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Projectplan schrijven (Trijn)</a:t>
            </a:r>
            <a:endParaRPr lang="nl-NL" sz="800">
              <a:solidFill>
                <a:prstClr val="black"/>
              </a:solidFill>
              <a:latin typeface="Verdana" panose="020B0604030504040204" pitchFamily="34" charset="0"/>
              <a:ea typeface="Verdana" panose="020B0604030504040204" pitchFamily="34" charset="0"/>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Analyseren </a:t>
            </a:r>
            <a:r>
              <a:rPr lang="nl-NL" sz="800">
                <a:solidFill>
                  <a:prstClr val="black"/>
                </a:solidFill>
                <a:latin typeface="Verdana" panose="020B0604030504040204" pitchFamily="34" charset="0"/>
                <a:ea typeface="Verdana" panose="020B0604030504040204" pitchFamily="34" charset="0"/>
              </a:rPr>
              <a:t>aansluiting op het LSP in de regio</a:t>
            </a: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800">
                <a:solidFill>
                  <a:prstClr val="black"/>
                </a:solidFill>
                <a:latin typeface="Verdana" panose="020B0604030504040204" pitchFamily="34" charset="0"/>
                <a:ea typeface="Verdana" panose="020B0604030504040204" pitchFamily="34" charset="0"/>
              </a:rPr>
              <a:t>Analyseren benodigde technische aanpassingen t.b.v. technische aansluiting LSP</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800">
                <a:solidFill>
                  <a:prstClr val="black"/>
                </a:solidFill>
                <a:latin typeface="Verdana" panose="020B0604030504040204" pitchFamily="34" charset="0"/>
                <a:ea typeface="Verdana" panose="020B0604030504040204" pitchFamily="34" charset="0"/>
              </a:rPr>
              <a:t>Contact met VZVZ ter voorbereiding</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Kiezen koplopers</a:t>
            </a:r>
          </a:p>
          <a:p>
            <a:pPr marL="324000" indent="-108000">
              <a:buFont typeface="Arial" panose="020B0604020202020204" pitchFamily="34" charset="0"/>
              <a:buChar char="•"/>
              <a:defRPr/>
            </a:pPr>
            <a:r>
              <a:rPr lang="nl-NL" sz="800" b="1">
                <a:solidFill>
                  <a:srgbClr val="000000"/>
                </a:solidFill>
                <a:latin typeface="Verdana" panose="020B0604030504040204" pitchFamily="34" charset="0"/>
                <a:ea typeface="Verdana" panose="020B0604030504040204" pitchFamily="34" charset="0"/>
                <a:cs typeface="Arial"/>
              </a:rPr>
              <a:t>Projectplan met plan van aanpak </a:t>
            </a:r>
          </a:p>
          <a:p>
            <a:pPr marL="324000" indent="-108000">
              <a:buFont typeface="Arial" panose="020B0604020202020204" pitchFamily="34" charset="0"/>
              <a:buChar char="•"/>
              <a:defRPr/>
            </a:pPr>
            <a:endParaRPr lang="nl-NL" sz="800" b="1">
              <a:solidFill>
                <a:srgbClr val="000000"/>
              </a:solidFill>
              <a:latin typeface="Verdana" panose="020B0604030504040204" pitchFamily="34" charset="0"/>
              <a:ea typeface="Verdana" panose="020B0604030504040204" pitchFamily="34" charset="0"/>
              <a:cs typeface="Arial"/>
            </a:endParaRPr>
          </a:p>
          <a:p>
            <a:pPr marL="324000" indent="-108000">
              <a:buFont typeface="Arial" panose="020B0604020202020204" pitchFamily="34" charset="0"/>
              <a:buChar char="•"/>
              <a:defRPr/>
            </a:pPr>
            <a:endParaRPr lang="nl-NL" sz="800" b="1">
              <a:solidFill>
                <a:srgbClr val="000000"/>
              </a:solidFill>
              <a:latin typeface="Verdana" panose="020B0604030504040204" pitchFamily="34" charset="0"/>
              <a:ea typeface="Verdana" panose="020B0604030504040204" pitchFamily="34" charset="0"/>
              <a:cs typeface="Arial"/>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1" name="Rectangle: Rounded Corners 4">
            <a:extLst>
              <a:ext uri="{FF2B5EF4-FFF2-40B4-BE49-F238E27FC236}">
                <a16:creationId xmlns:a16="http://schemas.microsoft.com/office/drawing/2014/main" id="{022BB9C6-702D-543E-3C9D-ADC4C8C7A2CB}"/>
              </a:ext>
            </a:extLst>
          </p:cNvPr>
          <p:cNvSpPr>
            <a:spLocks/>
          </p:cNvSpPr>
          <p:nvPr/>
        </p:nvSpPr>
        <p:spPr>
          <a:xfrm>
            <a:off x="3431766" y="3752856"/>
            <a:ext cx="2545638" cy="1192794"/>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indent="-108000">
              <a:buFont typeface="Arial" panose="020B0604020202020204" pitchFamily="34" charset="0"/>
              <a:buChar char="•"/>
              <a:defRPr/>
            </a:pPr>
            <a: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Inventariseren benodigde standaarden per sector</a:t>
            </a:r>
          </a:p>
          <a:p>
            <a:pPr marL="324000" indent="-108000">
              <a:buFont typeface="Arial" panose="020B0604020202020204" pitchFamily="34" charset="0"/>
              <a:buChar char="•"/>
              <a:defRPr/>
            </a:pPr>
            <a: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Regionale afspraken over eenheid van taal opstellen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met oog voor landelijke ontwikkelingen (</a:t>
            </a:r>
            <a:r>
              <a:rPr kumimoji="0" lang="nl-NL"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Nictiz</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p>
          <a:p>
            <a:pPr marL="324000" indent="-108000">
              <a:buFont typeface="Arial" panose="020B0604020202020204" pitchFamily="34" charset="0"/>
              <a:buChar char="•"/>
              <a:defRPr/>
            </a:pPr>
            <a:r>
              <a:rPr lang="nl-NL" sz="900">
                <a:solidFill>
                  <a:prstClr val="black"/>
                </a:solidFill>
                <a:latin typeface="Verdana" panose="020B0604030504040204" pitchFamily="34" charset="0"/>
                <a:ea typeface="Verdana" panose="020B0604030504040204" pitchFamily="34" charset="0"/>
              </a:rPr>
              <a:t>Leveranciers voorbereiden</a:t>
            </a:r>
            <a:endPar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buFont typeface="Arial" panose="020B0604020202020204" pitchFamily="34" charset="0"/>
              <a:buChar char="•"/>
              <a:defRPr/>
            </a:pPr>
            <a:r>
              <a:rPr lang="nl-NL" sz="900" b="1">
                <a:solidFill>
                  <a:prstClr val="black"/>
                </a:solidFill>
                <a:latin typeface="Verdana" panose="020B0604030504040204" pitchFamily="34" charset="0"/>
                <a:ea typeface="Verdana" panose="020B0604030504040204" pitchFamily="34" charset="0"/>
              </a:rPr>
              <a:t>Werkafspraken eenheid van taal Medicatieoverdracht conceptversie</a:t>
            </a:r>
            <a:endParaRPr kumimoji="0" lang="nl-NL" sz="900" b="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buFont typeface="Arial" panose="020B0604020202020204" pitchFamily="34" charset="0"/>
              <a:buChar char="•"/>
              <a:defRPr/>
            </a:pPr>
            <a:endParaRPr kumimoji="0" lang="nl-NL" sz="9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tabLst/>
              <a:defRPr/>
            </a:pPr>
            <a:endParaRPr kumimoji="0" lang="nl-NL" sz="9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2" name="Oval 13">
            <a:extLst>
              <a:ext uri="{FF2B5EF4-FFF2-40B4-BE49-F238E27FC236}">
                <a16:creationId xmlns:a16="http://schemas.microsoft.com/office/drawing/2014/main" id="{99967F1D-C634-4EB1-258F-6210510CF9C0}"/>
              </a:ext>
            </a:extLst>
          </p:cNvPr>
          <p:cNvSpPr>
            <a:spLocks/>
          </p:cNvSpPr>
          <p:nvPr/>
        </p:nvSpPr>
        <p:spPr>
          <a:xfrm>
            <a:off x="4504533" y="1733665"/>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48" name="Rectangle: Rounded Corners 4">
            <a:extLst>
              <a:ext uri="{FF2B5EF4-FFF2-40B4-BE49-F238E27FC236}">
                <a16:creationId xmlns:a16="http://schemas.microsoft.com/office/drawing/2014/main" id="{8D1EE6CF-1442-576D-023C-6C30904B6007}"/>
              </a:ext>
            </a:extLst>
          </p:cNvPr>
          <p:cNvSpPr>
            <a:spLocks/>
          </p:cNvSpPr>
          <p:nvPr/>
        </p:nvSpPr>
        <p:spPr>
          <a:xfrm>
            <a:off x="6135442" y="2391599"/>
            <a:ext cx="2608845" cy="1138936"/>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nl-NL" sz="90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Accordering platform RTA en ALV, evt. aanscherpingen verwerken</a:t>
            </a:r>
          </a:p>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r>
              <a:rPr lang="nl-NL" sz="900">
                <a:solidFill>
                  <a:srgbClr val="000000"/>
                </a:solidFill>
                <a:latin typeface="Verdana" panose="020B0604030504040204" pitchFamily="34" charset="0"/>
                <a:ea typeface="Verdana" panose="020B0604030504040204" pitchFamily="34" charset="0"/>
                <a:cs typeface="Arial"/>
              </a:rPr>
              <a:t>Start i</a:t>
            </a:r>
            <a:r>
              <a:rPr kumimoji="0" lang="nl-NL" sz="90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Arial"/>
              </a:rPr>
              <a:t>mplementatie</a:t>
            </a:r>
            <a:r>
              <a:rPr kumimoji="0" lang="nl-NL" sz="90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 </a:t>
            </a:r>
            <a:br>
              <a:rPr kumimoji="0" lang="nl-NL" sz="90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br>
            <a:r>
              <a:rPr kumimoji="0" lang="nl-NL" sz="90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van werkafspraken </a:t>
            </a:r>
          </a:p>
          <a:p>
            <a:pPr marL="216000" marR="0" lvl="0" algn="l" defTabSz="914400" rtl="0" eaLnBrk="1" fontAlgn="auto" latinLnBrk="0" hangingPunct="1">
              <a:lnSpc>
                <a:spcPct val="100000"/>
              </a:lnSpc>
              <a:spcBef>
                <a:spcPts val="0"/>
              </a:spcBef>
              <a:buClrTx/>
              <a:buSzTx/>
              <a:tabLst/>
              <a:defRPr/>
            </a:pPr>
            <a:endParaRPr kumimoji="0" lang="nl-NL" sz="90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endParaRPr>
          </a:p>
          <a:p>
            <a:pPr marL="324000" marR="0" lvl="0" indent="-1080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nl-NL"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RTA Medicatieoverdracht vastgesteld en gepubliceerd</a:t>
            </a:r>
          </a:p>
        </p:txBody>
      </p:sp>
      <p:sp>
        <p:nvSpPr>
          <p:cNvPr id="49" name="Rectangle: Rounded Corners 4">
            <a:extLst>
              <a:ext uri="{FF2B5EF4-FFF2-40B4-BE49-F238E27FC236}">
                <a16:creationId xmlns:a16="http://schemas.microsoft.com/office/drawing/2014/main" id="{7490F51D-EE19-4E5F-2E35-00229D0D8C1A}"/>
              </a:ext>
            </a:extLst>
          </p:cNvPr>
          <p:cNvSpPr>
            <a:spLocks/>
          </p:cNvSpPr>
          <p:nvPr/>
        </p:nvSpPr>
        <p:spPr>
          <a:xfrm>
            <a:off x="8808069" y="3796387"/>
            <a:ext cx="2545638" cy="114926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indent="-108000">
              <a:buFont typeface="Arial" panose="020B0604020202020204" pitchFamily="34" charset="0"/>
              <a:buChar char="•"/>
            </a:pPr>
            <a:r>
              <a:rPr lang="nl-NL" sz="900">
                <a:solidFill>
                  <a:prstClr val="black"/>
                </a:solidFill>
                <a:latin typeface="Verdana" panose="020B0604030504040204" pitchFamily="34" charset="0"/>
                <a:ea typeface="Verdana" panose="020B0604030504040204" pitchFamily="34" charset="0"/>
              </a:rPr>
              <a:t>Evaluatie moment</a:t>
            </a:r>
          </a:p>
          <a:p>
            <a:pPr marL="324000" indent="-108000">
              <a:buFont typeface="Arial" panose="020B0604020202020204" pitchFamily="34" charset="0"/>
              <a:buChar char="•"/>
            </a:pPr>
            <a:r>
              <a:rPr lang="nl-NL" sz="900">
                <a:solidFill>
                  <a:prstClr val="black"/>
                </a:solidFill>
                <a:latin typeface="Verdana" panose="020B0604030504040204" pitchFamily="34" charset="0"/>
                <a:ea typeface="Verdana" panose="020B0604030504040204" pitchFamily="34" charset="0"/>
              </a:rPr>
              <a:t>Vervolg implementatie</a:t>
            </a:r>
          </a:p>
          <a:p>
            <a:pPr marL="324000" indent="-108000">
              <a:buFont typeface="Arial" panose="020B0604020202020204" pitchFamily="34" charset="0"/>
              <a:buChar cha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pPr>
            <a:r>
              <a:rPr lang="nl-NL" sz="900" b="1">
                <a:solidFill>
                  <a:srgbClr val="000000"/>
                </a:solidFill>
                <a:latin typeface="Verdana" panose="020B0604030504040204" pitchFamily="34" charset="0"/>
                <a:ea typeface="Verdana" panose="020B0604030504040204" pitchFamily="34" charset="0"/>
                <a:cs typeface="Arial"/>
              </a:rPr>
              <a:t>Werkafspraken geïmplementeerd</a:t>
            </a:r>
            <a:r>
              <a:rPr kumimoji="0" lang="nl-NL" sz="900" b="1" i="0" u="none" strike="noStrike" kern="1200" cap="none" spc="0" normalizeH="0" baseline="30000" noProof="0">
                <a:ln>
                  <a:noFill/>
                </a:ln>
                <a:solidFill>
                  <a:srgbClr val="000000"/>
                </a:solidFill>
                <a:effectLst/>
                <a:uLnTx/>
                <a:uFillTx/>
                <a:latin typeface="Verdana" panose="020B0604030504040204" pitchFamily="34" charset="0"/>
                <a:ea typeface="Verdana" panose="020B0604030504040204" pitchFamily="34" charset="0"/>
                <a:cs typeface="Arial"/>
              </a:rPr>
              <a:t>1</a:t>
            </a:r>
            <a:endParaRPr lang="nl-NL" sz="900" b="1">
              <a:solidFill>
                <a:srgbClr val="000000"/>
              </a:solidFill>
              <a:latin typeface="Verdana" panose="020B0604030504040204" pitchFamily="34" charset="0"/>
              <a:ea typeface="Verdana" panose="020B0604030504040204" pitchFamily="34" charset="0"/>
              <a:cs typeface="Arial"/>
            </a:endParaRPr>
          </a:p>
          <a:p>
            <a:pPr marL="324000" indent="-108000">
              <a:buFont typeface="Arial" panose="020B0604020202020204" pitchFamily="34" charset="0"/>
              <a:buChar cha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pPr>
            <a:endParaRPr lang="nl-NL" sz="900">
              <a:solidFill>
                <a:prstClr val="black"/>
              </a:solidFill>
              <a:latin typeface="Verdana" panose="020B0604030504040204" pitchFamily="34" charset="0"/>
              <a:ea typeface="Verdana" panose="020B0604030504040204" pitchFamily="34" charset="0"/>
            </a:endParaRPr>
          </a:p>
        </p:txBody>
      </p:sp>
      <p:sp>
        <p:nvSpPr>
          <p:cNvPr id="50" name="Oval 13">
            <a:extLst>
              <a:ext uri="{FF2B5EF4-FFF2-40B4-BE49-F238E27FC236}">
                <a16:creationId xmlns:a16="http://schemas.microsoft.com/office/drawing/2014/main" id="{E744467C-BD17-BAB8-CEC0-E385BDC33B9E}"/>
              </a:ext>
            </a:extLst>
          </p:cNvPr>
          <p:cNvSpPr>
            <a:spLocks/>
          </p:cNvSpPr>
          <p:nvPr/>
        </p:nvSpPr>
        <p:spPr>
          <a:xfrm>
            <a:off x="9952324" y="1733665"/>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52" name="Tekstvak 51">
            <a:extLst>
              <a:ext uri="{FF2B5EF4-FFF2-40B4-BE49-F238E27FC236}">
                <a16:creationId xmlns:a16="http://schemas.microsoft.com/office/drawing/2014/main" id="{1E3BD5C7-6374-8A58-F784-4B11C473432F}"/>
              </a:ext>
            </a:extLst>
          </p:cNvPr>
          <p:cNvSpPr txBox="1">
            <a:spLocks/>
          </p:cNvSpPr>
          <p:nvPr/>
        </p:nvSpPr>
        <p:spPr>
          <a:xfrm>
            <a:off x="761291" y="2156516"/>
            <a:ext cx="2545638" cy="2009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srgbClr val="000000"/>
                </a:solidFill>
                <a:effectLst/>
                <a:uLnTx/>
                <a:uFillTx/>
                <a:latin typeface="Verdana"/>
                <a:ea typeface="Verdana"/>
                <a:cs typeface="Arial"/>
              </a:rPr>
              <a:t>Analyse en voorbereidingsfase</a:t>
            </a:r>
          </a:p>
        </p:txBody>
      </p:sp>
      <p:sp>
        <p:nvSpPr>
          <p:cNvPr id="53" name="Tekstvak 52">
            <a:extLst>
              <a:ext uri="{FF2B5EF4-FFF2-40B4-BE49-F238E27FC236}">
                <a16:creationId xmlns:a16="http://schemas.microsoft.com/office/drawing/2014/main" id="{575E1D14-0506-7CB9-8C2C-7ABC690AB70E}"/>
              </a:ext>
            </a:extLst>
          </p:cNvPr>
          <p:cNvSpPr txBox="1">
            <a:spLocks/>
          </p:cNvSpPr>
          <p:nvPr/>
        </p:nvSpPr>
        <p:spPr>
          <a:xfrm>
            <a:off x="3382629" y="2130192"/>
            <a:ext cx="2545638" cy="2009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srgbClr val="000000"/>
                </a:solidFill>
                <a:effectLst/>
                <a:uLnTx/>
                <a:uFillTx/>
                <a:latin typeface="Verdana"/>
                <a:ea typeface="Verdana"/>
                <a:cs typeface="Arial"/>
              </a:rPr>
              <a:t>…</a:t>
            </a:r>
          </a:p>
        </p:txBody>
      </p:sp>
      <p:sp>
        <p:nvSpPr>
          <p:cNvPr id="54" name="Rectangle: Rounded Corners 28">
            <a:extLst>
              <a:ext uri="{FF2B5EF4-FFF2-40B4-BE49-F238E27FC236}">
                <a16:creationId xmlns:a16="http://schemas.microsoft.com/office/drawing/2014/main" id="{8105DAE2-B012-6378-E5DF-20BB8C8E6E2C}"/>
              </a:ext>
            </a:extLst>
          </p:cNvPr>
          <p:cNvSpPr>
            <a:spLocks/>
          </p:cNvSpPr>
          <p:nvPr/>
        </p:nvSpPr>
        <p:spPr>
          <a:xfrm>
            <a:off x="721458" y="2200751"/>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Werkafspraken</a:t>
            </a:r>
          </a:p>
        </p:txBody>
      </p:sp>
      <p:sp>
        <p:nvSpPr>
          <p:cNvPr id="55" name="Rectangle: Rounded Corners 28">
            <a:extLst>
              <a:ext uri="{FF2B5EF4-FFF2-40B4-BE49-F238E27FC236}">
                <a16:creationId xmlns:a16="http://schemas.microsoft.com/office/drawing/2014/main" id="{43CE7DCB-AB46-A474-D3B7-03962932EBAD}"/>
              </a:ext>
            </a:extLst>
          </p:cNvPr>
          <p:cNvSpPr>
            <a:spLocks/>
          </p:cNvSpPr>
          <p:nvPr/>
        </p:nvSpPr>
        <p:spPr>
          <a:xfrm>
            <a:off x="721458" y="3551490"/>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Eenheid van taal</a:t>
            </a:r>
          </a:p>
        </p:txBody>
      </p:sp>
      <p:sp>
        <p:nvSpPr>
          <p:cNvPr id="56" name="Rectangle: Rounded Corners 28">
            <a:extLst>
              <a:ext uri="{FF2B5EF4-FFF2-40B4-BE49-F238E27FC236}">
                <a16:creationId xmlns:a16="http://schemas.microsoft.com/office/drawing/2014/main" id="{0DC5110A-7454-FE80-CFF5-5748DB2CCC4A}"/>
              </a:ext>
            </a:extLst>
          </p:cNvPr>
          <p:cNvSpPr>
            <a:spLocks/>
          </p:cNvSpPr>
          <p:nvPr/>
        </p:nvSpPr>
        <p:spPr>
          <a:xfrm>
            <a:off x="721460" y="3785588"/>
            <a:ext cx="2545638" cy="1143075"/>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Expertgroep opstellen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Analyseren huidige situatie (gap-analyse) </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nl-NL" sz="900">
              <a:solidFill>
                <a:prstClr val="black"/>
              </a:solidFill>
              <a:latin typeface="Verdana" panose="020B0604030504040204" pitchFamily="34" charset="0"/>
              <a:ea typeface="Verdana" panose="020B0604030504040204" pitchFamily="34" charset="0"/>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b="1">
                <a:solidFill>
                  <a:srgbClr val="000000"/>
                </a:solidFill>
                <a:latin typeface="Verdana" panose="020B0604030504040204" pitchFamily="34" charset="0"/>
                <a:ea typeface="Verdana" panose="020B0604030504040204" pitchFamily="34" charset="0"/>
                <a:cs typeface="Arial"/>
              </a:rPr>
              <a:t>Expertgroep</a:t>
            </a:r>
          </a:p>
          <a:p>
            <a:pPr marL="324000" lvl="0" indent="-108000">
              <a:buFont typeface="Arial" panose="020B0604020202020204" pitchFamily="34" charset="0"/>
              <a:buChar char="•"/>
              <a:defRPr/>
            </a:pP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Gap-analyse </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b="1">
                <a:solidFill>
                  <a:srgbClr val="000000"/>
                </a:solidFill>
                <a:latin typeface="Verdana" panose="020B0604030504040204" pitchFamily="34" charset="0"/>
                <a:ea typeface="Verdana" panose="020B0604030504040204" pitchFamily="34" charset="0"/>
                <a:cs typeface="Arial"/>
              </a:rPr>
              <a:t>Plan van aanpak</a:t>
            </a:r>
          </a:p>
          <a:p>
            <a:pPr marL="324000" indent="-108000">
              <a:buFont typeface="Arial" panose="020B0604020202020204" pitchFamily="34" charset="0"/>
              <a:buChar char="•"/>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7" name="Rectangle: Rounded Corners 28">
            <a:extLst>
              <a:ext uri="{FF2B5EF4-FFF2-40B4-BE49-F238E27FC236}">
                <a16:creationId xmlns:a16="http://schemas.microsoft.com/office/drawing/2014/main" id="{E1B5F51C-49B2-7B8E-634D-2CBB74EF5521}"/>
              </a:ext>
            </a:extLst>
          </p:cNvPr>
          <p:cNvSpPr>
            <a:spLocks/>
          </p:cNvSpPr>
          <p:nvPr/>
        </p:nvSpPr>
        <p:spPr>
          <a:xfrm>
            <a:off x="717726" y="4966606"/>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R="0" lvl="0" algn="ctr" defTabSz="914400" rtl="0" eaLnBrk="1" fontAlgn="auto" latinLnBrk="0" hangingPunct="1">
              <a:lnSpc>
                <a:spcPct val="100000"/>
              </a:lnSpc>
              <a:spcBef>
                <a:spcPts val="0"/>
              </a:spcBef>
              <a:spcAft>
                <a:spcPts val="0"/>
              </a:spcAft>
              <a:buClrTx/>
              <a:buSzTx/>
              <a:tabLst/>
              <a:defRPr/>
            </a:pPr>
            <a:r>
              <a:rPr lang="nl-NL" sz="900" b="1">
                <a:solidFill>
                  <a:schemeClr val="bg1"/>
                </a:solidFill>
                <a:latin typeface="Verdana" panose="020B0604030504040204" pitchFamily="34" charset="0"/>
                <a:ea typeface="Verdana" panose="020B0604030504040204" pitchFamily="34" charset="0"/>
              </a:rPr>
              <a:t>Aansluiting op het LSP</a:t>
            </a:r>
          </a:p>
        </p:txBody>
      </p:sp>
      <p:sp>
        <p:nvSpPr>
          <p:cNvPr id="58" name="Rectangle: Rounded Corners 4">
            <a:extLst>
              <a:ext uri="{FF2B5EF4-FFF2-40B4-BE49-F238E27FC236}">
                <a16:creationId xmlns:a16="http://schemas.microsoft.com/office/drawing/2014/main" id="{ED0D8D75-C5A9-0654-E08F-D86BC27BBDAD}"/>
              </a:ext>
            </a:extLst>
          </p:cNvPr>
          <p:cNvSpPr>
            <a:spLocks/>
          </p:cNvSpPr>
          <p:nvPr/>
        </p:nvSpPr>
        <p:spPr>
          <a:xfrm>
            <a:off x="3428034" y="5220431"/>
            <a:ext cx="2545638" cy="1190763"/>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indent="-108000">
              <a:buFont typeface="Arial" panose="020B0604020202020204" pitchFamily="34" charset="0"/>
              <a:buChar char="•"/>
              <a:defRPr/>
            </a:pPr>
            <a:r>
              <a:rPr kumimoji="0" lang="nl-NL" sz="8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Voorbereiden organisaties</a:t>
            </a:r>
          </a:p>
          <a:p>
            <a:pPr marL="324000" indent="-108000">
              <a:buFont typeface="Arial" panose="020B0604020202020204" pitchFamily="34" charset="0"/>
              <a:buChar char="•"/>
              <a:defRPr/>
            </a:pPr>
            <a:r>
              <a:rPr kumimoji="0" lang="nl-NL" sz="8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Voorbereiden leveranciers voor </a:t>
            </a:r>
            <a:r>
              <a:rPr kumimoji="0" lang="nl-NL" sz="800" b="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roadmap</a:t>
            </a:r>
            <a:endParaRPr kumimoji="0" lang="nl-NL" sz="8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buFont typeface="Arial" panose="020B0604020202020204" pitchFamily="34" charset="0"/>
              <a:buChar char="•"/>
              <a:defRPr/>
            </a:pPr>
            <a:r>
              <a:rPr lang="nl-NL" sz="800">
                <a:solidFill>
                  <a:prstClr val="black"/>
                </a:solidFill>
                <a:latin typeface="Verdana" panose="020B0604030504040204" pitchFamily="34" charset="0"/>
                <a:ea typeface="Verdana" panose="020B0604030504040204" pitchFamily="34" charset="0"/>
              </a:rPr>
              <a:t>Start met 4 koploperorganisaties</a:t>
            </a:r>
          </a:p>
          <a:p>
            <a:pPr marL="324000" indent="-108000">
              <a:buFont typeface="Arial" panose="020B0604020202020204" pitchFamily="34" charset="0"/>
              <a:buChar char="•"/>
              <a:defRPr/>
            </a:pPr>
            <a:r>
              <a:rPr lang="nl-NL" sz="800">
                <a:solidFill>
                  <a:prstClr val="black"/>
                </a:solidFill>
                <a:latin typeface="Verdana" panose="020B0604030504040204" pitchFamily="34" charset="0"/>
                <a:ea typeface="Verdana" panose="020B0604030504040204" pitchFamily="34" charset="0"/>
              </a:rPr>
              <a:t>Start gefaseerde aansluiting overige organisaties op LSP</a:t>
            </a:r>
          </a:p>
          <a:p>
            <a:pPr marL="324000" indent="-108000">
              <a:buFont typeface="Arial" panose="020B0604020202020204" pitchFamily="34" charset="0"/>
              <a:buChar char="•"/>
              <a:defRPr/>
            </a:pPr>
            <a:r>
              <a:rPr lang="nl-NL" sz="800" b="1">
                <a:solidFill>
                  <a:srgbClr val="000000"/>
                </a:solidFill>
                <a:latin typeface="Verdana" panose="020B0604030504040204" pitchFamily="34" charset="0"/>
                <a:ea typeface="Verdana" panose="020B0604030504040204" pitchFamily="34" charset="0"/>
                <a:cs typeface="Arial"/>
              </a:rPr>
              <a:t>Koplopers realisatie technische aansluiting op LSP</a:t>
            </a:r>
          </a:p>
          <a:p>
            <a:pPr marL="324000" indent="-108000">
              <a:buFont typeface="Arial" panose="020B0604020202020204" pitchFamily="34" charset="0"/>
              <a:buChar char="•"/>
              <a:defRPr/>
            </a:pPr>
            <a:r>
              <a:rPr lang="nl-NL" sz="800" b="1">
                <a:solidFill>
                  <a:prstClr val="black"/>
                </a:solidFill>
                <a:latin typeface="Verdana" panose="020B0604030504040204" pitchFamily="34" charset="0"/>
                <a:ea typeface="Verdana" panose="020B0604030504040204" pitchFamily="34" charset="0"/>
              </a:rPr>
              <a:t>Kick off koploperorganisaties</a:t>
            </a:r>
            <a:endParaRPr kumimoji="0" lang="nl-NL" sz="800" b="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buFont typeface="Arial" panose="020B0604020202020204" pitchFamily="34" charset="0"/>
              <a:buChar char="•"/>
              <a:defRPr/>
            </a:pPr>
            <a:endPar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9" name="Rectangle: Rounded Corners 4">
            <a:extLst>
              <a:ext uri="{FF2B5EF4-FFF2-40B4-BE49-F238E27FC236}">
                <a16:creationId xmlns:a16="http://schemas.microsoft.com/office/drawing/2014/main" id="{EC324991-4C6E-85E4-E42B-A42AAEC4DF41}"/>
              </a:ext>
            </a:extLst>
          </p:cNvPr>
          <p:cNvSpPr>
            <a:spLocks/>
          </p:cNvSpPr>
          <p:nvPr/>
        </p:nvSpPr>
        <p:spPr>
          <a:xfrm>
            <a:off x="6126709" y="5220431"/>
            <a:ext cx="2545638" cy="1190763"/>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indent="-108000">
              <a:buFont typeface="Arial" panose="020B0604020202020204" pitchFamily="34" charset="0"/>
              <a:buChar char="•"/>
              <a:defRPr/>
            </a:pPr>
            <a:r>
              <a:rPr lang="nl-NL" sz="900">
                <a:solidFill>
                  <a:prstClr val="black"/>
                </a:solidFill>
                <a:latin typeface="Verdana" panose="020B0604030504040204" pitchFamily="34" charset="0"/>
                <a:ea typeface="Verdana" panose="020B0604030504040204" pitchFamily="34" charset="0"/>
              </a:rPr>
              <a:t>Vervolg gefaseerd aansluiten organisaties op LSP (niet koplopers)</a:t>
            </a:r>
          </a:p>
          <a:p>
            <a:pPr marL="324000" indent="-108000">
              <a:buFont typeface="Arial" panose="020B0604020202020204" pitchFamily="34" charset="0"/>
              <a:buChar char="•"/>
              <a:defRP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defRP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defRPr/>
            </a:pPr>
            <a:r>
              <a:rPr lang="nl-NL" sz="900" b="1">
                <a:solidFill>
                  <a:prstClr val="black"/>
                </a:solidFill>
                <a:latin typeface="Verdana" panose="020B0604030504040204" pitchFamily="34" charset="0"/>
                <a:ea typeface="Verdana" panose="020B0604030504040204" pitchFamily="34" charset="0"/>
              </a:rPr>
              <a:t>10% van VVT-organisaties is technisch aangesloten op het LSP</a:t>
            </a:r>
          </a:p>
          <a:p>
            <a:pPr marL="324000" indent="-108000">
              <a:buFont typeface="Arial" panose="020B0604020202020204" pitchFamily="34" charset="0"/>
              <a:buChar char="•"/>
              <a:defRP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defRPr/>
            </a:pPr>
            <a:endParaRPr lang="nl-NL" sz="900">
              <a:solidFill>
                <a:prstClr val="black"/>
              </a:solidFill>
              <a:latin typeface="Verdana" panose="020B0604030504040204" pitchFamily="34" charset="0"/>
              <a:ea typeface="Verdana" panose="020B0604030504040204" pitchFamily="34" charset="0"/>
            </a:endParaRPr>
          </a:p>
        </p:txBody>
      </p:sp>
      <p:sp>
        <p:nvSpPr>
          <p:cNvPr id="62" name="Rectangle: Rounded Corners 4">
            <a:extLst>
              <a:ext uri="{FF2B5EF4-FFF2-40B4-BE49-F238E27FC236}">
                <a16:creationId xmlns:a16="http://schemas.microsoft.com/office/drawing/2014/main" id="{CAE3B5C6-C56A-9A58-4B84-BA5EA29757D9}"/>
              </a:ext>
            </a:extLst>
          </p:cNvPr>
          <p:cNvSpPr>
            <a:spLocks/>
          </p:cNvSpPr>
          <p:nvPr/>
        </p:nvSpPr>
        <p:spPr>
          <a:xfrm>
            <a:off x="6130441" y="3787461"/>
            <a:ext cx="2545638" cy="114120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indent="-108000">
              <a:buFont typeface="Arial" panose="020B0604020202020204" pitchFamily="34" charset="0"/>
              <a:buChar char="•"/>
              <a:defRPr/>
            </a:pPr>
            <a:r>
              <a:rPr lang="nl-NL" sz="900">
                <a:solidFill>
                  <a:prstClr val="black"/>
                </a:solidFill>
                <a:latin typeface="Verdana" panose="020B0604030504040204" pitchFamily="34" charset="0"/>
                <a:ea typeface="Verdana" panose="020B0604030504040204" pitchFamily="34" charset="0"/>
              </a:rPr>
              <a:t>Accordering Platform </a:t>
            </a:r>
            <a: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RTA </a:t>
            </a:r>
            <a:r>
              <a:rPr kumimoji="0" lang="nl-NL" sz="90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evt. aanscherpingen verwerken</a:t>
            </a:r>
            <a:endPar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buFont typeface="Arial" panose="020B0604020202020204" pitchFamily="34" charset="0"/>
              <a:buChar char="•"/>
              <a:defRPr/>
            </a:pPr>
            <a: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implementatie </a:t>
            </a:r>
            <a:b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br>
            <a: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van afspraken</a:t>
            </a:r>
          </a:p>
          <a:p>
            <a:pPr marL="324000" indent="-108000">
              <a:buFont typeface="Arial" panose="020B0604020202020204" pitchFamily="34" charset="0"/>
              <a:buChar char="•"/>
              <a:defRPr/>
            </a:pPr>
            <a:endParaRPr lang="nl-NL" sz="900" b="1">
              <a:solidFill>
                <a:srgbClr val="000000"/>
              </a:solidFill>
              <a:latin typeface="Verdana" panose="020B0604030504040204" pitchFamily="34" charset="0"/>
              <a:ea typeface="Verdana" panose="020B0604030504040204" pitchFamily="34" charset="0"/>
              <a:cs typeface="Arial"/>
            </a:endParaRPr>
          </a:p>
          <a:p>
            <a:pPr marL="324000" indent="-108000">
              <a:buFont typeface="Arial" panose="020B0604020202020204" pitchFamily="34" charset="0"/>
              <a:buChar char="•"/>
              <a:defRPr/>
            </a:pPr>
            <a:r>
              <a:rPr lang="nl-NL" sz="900" b="1">
                <a:solidFill>
                  <a:srgbClr val="000000"/>
                </a:solidFill>
                <a:latin typeface="Verdana" panose="020B0604030504040204" pitchFamily="34" charset="0"/>
                <a:ea typeface="Verdana" panose="020B0604030504040204" pitchFamily="34" charset="0"/>
                <a:cs typeface="Arial"/>
              </a:rPr>
              <a:t>Werkafspraken vastgesteld en gepubliceerd</a:t>
            </a:r>
          </a:p>
          <a:p>
            <a:pPr marL="324000" indent="-108000">
              <a:buFont typeface="Arial" panose="020B0604020202020204" pitchFamily="34" charset="0"/>
              <a:buChar char="•"/>
              <a:defRPr/>
            </a:pPr>
            <a:endPar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buFont typeface="Arial" panose="020B0604020202020204" pitchFamily="34" charset="0"/>
              <a:buChar char="•"/>
              <a:defRPr/>
            </a:pPr>
            <a:endPar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indent="-108000">
              <a:buFont typeface="Arial" panose="020B0604020202020204" pitchFamily="34" charset="0"/>
              <a:buChar char="•"/>
              <a:defRPr/>
            </a:pPr>
            <a:endPar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3" name="Rectangle: Rounded Corners 4">
            <a:extLst>
              <a:ext uri="{FF2B5EF4-FFF2-40B4-BE49-F238E27FC236}">
                <a16:creationId xmlns:a16="http://schemas.microsoft.com/office/drawing/2014/main" id="{0DEBB35F-AA7B-53B1-8D1E-00E87DCAC62D}"/>
              </a:ext>
            </a:extLst>
          </p:cNvPr>
          <p:cNvSpPr>
            <a:spLocks/>
          </p:cNvSpPr>
          <p:nvPr/>
        </p:nvSpPr>
        <p:spPr>
          <a:xfrm>
            <a:off x="8775912" y="5220431"/>
            <a:ext cx="2545638" cy="1190763"/>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324000" indent="-108000">
              <a:buFont typeface="Arial" panose="020B0604020202020204" pitchFamily="34" charset="0"/>
              <a:buChar char="•"/>
            </a:pPr>
            <a:r>
              <a:rPr lang="nl-NL" sz="900">
                <a:solidFill>
                  <a:prstClr val="black"/>
                </a:solidFill>
                <a:latin typeface="Verdana" panose="020B0604030504040204" pitchFamily="34" charset="0"/>
                <a:ea typeface="Verdana" panose="020B0604030504040204" pitchFamily="34" charset="0"/>
              </a:rPr>
              <a:t>Vervolg gefaseerde aansluiting organisaties op LSP (niet koplopers)</a:t>
            </a:r>
            <a:endParaRPr lang="nl-NL" sz="900" b="1">
              <a:solidFill>
                <a:prstClr val="black"/>
              </a:solidFill>
              <a:latin typeface="Verdana" panose="020B0604030504040204" pitchFamily="34" charset="0"/>
              <a:ea typeface="Verdana" panose="020B0604030504040204" pitchFamily="34" charset="0"/>
              <a:cs typeface="Arial"/>
            </a:endParaRPr>
          </a:p>
          <a:p>
            <a:pPr marL="324000" indent="-108000">
              <a:buFont typeface="Arial" panose="020B0604020202020204" pitchFamily="34" charset="0"/>
              <a:buChar char="•"/>
            </a:pPr>
            <a:endParaRPr lang="nl-NL" sz="900" b="1">
              <a:solidFill>
                <a:prstClr val="black"/>
              </a:solidFill>
              <a:latin typeface="Verdana" panose="020B0604030504040204" pitchFamily="34" charset="0"/>
              <a:ea typeface="Verdana" panose="020B0604030504040204" pitchFamily="34" charset="0"/>
              <a:cs typeface="Arial"/>
            </a:endParaRPr>
          </a:p>
          <a:p>
            <a:pPr marL="324000" indent="-108000">
              <a:buFont typeface="Arial" panose="020B0604020202020204" pitchFamily="34" charset="0"/>
              <a:buChar char="•"/>
            </a:pPr>
            <a:endParaRPr lang="nl-NL" sz="900" b="1">
              <a:solidFill>
                <a:prstClr val="black"/>
              </a:solidFill>
              <a:latin typeface="Verdana" panose="020B0604030504040204" pitchFamily="34" charset="0"/>
              <a:ea typeface="Verdana" panose="020B0604030504040204" pitchFamily="34" charset="0"/>
              <a:cs typeface="Arial"/>
            </a:endParaRPr>
          </a:p>
          <a:p>
            <a:pPr marL="324000" indent="-108000">
              <a:buFont typeface="Arial" panose="020B0604020202020204" pitchFamily="34" charset="0"/>
              <a:buChar char="•"/>
            </a:pPr>
            <a:r>
              <a:rPr lang="nl-NL" sz="900" b="1">
                <a:solidFill>
                  <a:srgbClr val="000000"/>
                </a:solidFill>
                <a:latin typeface="Verdana" panose="020B0604030504040204" pitchFamily="34" charset="0"/>
                <a:ea typeface="Verdana" panose="020B0604030504040204" pitchFamily="34" charset="0"/>
                <a:cs typeface="Arial"/>
              </a:rPr>
              <a:t>Regionale realisatie volledige        aansluiting op LSP</a:t>
            </a:r>
          </a:p>
          <a:p>
            <a:pPr marL="324000" indent="-108000">
              <a:buFont typeface="Arial" panose="020B0604020202020204" pitchFamily="34" charset="0"/>
              <a:buChar char="•"/>
            </a:pPr>
            <a:endParaRPr lang="nl-NL" sz="900">
              <a:solidFill>
                <a:prstClr val="black"/>
              </a:solidFill>
              <a:latin typeface="Verdana" panose="020B0604030504040204" pitchFamily="34" charset="0"/>
              <a:ea typeface="Verdana" panose="020B0604030504040204" pitchFamily="34" charset="0"/>
            </a:endParaRPr>
          </a:p>
          <a:p>
            <a:pPr marL="324000" indent="-108000">
              <a:buFont typeface="Arial" panose="020B0604020202020204" pitchFamily="34" charset="0"/>
              <a:buChar char="•"/>
            </a:pPr>
            <a:endParaRPr lang="nl-NL" sz="900">
              <a:solidFill>
                <a:prstClr val="black"/>
              </a:solidFill>
              <a:latin typeface="Verdana" panose="020B0604030504040204" pitchFamily="34" charset="0"/>
              <a:ea typeface="Verdana" panose="020B0604030504040204" pitchFamily="34" charset="0"/>
            </a:endParaRPr>
          </a:p>
        </p:txBody>
      </p:sp>
      <p:sp>
        <p:nvSpPr>
          <p:cNvPr id="64" name="Rectangle: Rounded Corners 4">
            <a:extLst>
              <a:ext uri="{FF2B5EF4-FFF2-40B4-BE49-F238E27FC236}">
                <a16:creationId xmlns:a16="http://schemas.microsoft.com/office/drawing/2014/main" id="{6D096309-FB1E-405A-3623-7E73F63A1DDF}"/>
              </a:ext>
            </a:extLst>
          </p:cNvPr>
          <p:cNvSpPr>
            <a:spLocks/>
          </p:cNvSpPr>
          <p:nvPr/>
        </p:nvSpPr>
        <p:spPr>
          <a:xfrm>
            <a:off x="717726" y="6509093"/>
            <a:ext cx="10673661" cy="232871"/>
          </a:xfrm>
          <a:prstGeom prst="roundRect">
            <a:avLst/>
          </a:prstGeom>
          <a:solidFill>
            <a:srgbClr val="ECF4E4"/>
          </a:solidFill>
          <a:ln w="28575">
            <a:solidFill>
              <a:srgbClr val="92D050"/>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algn="ctr">
              <a:defRPr/>
            </a:pPr>
            <a: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Voorbereiden leveranciers op MP9, Lab2zorg en </a:t>
            </a:r>
            <a:r>
              <a:rPr kumimoji="0" lang="nl-NL" sz="900" b="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CiO</a:t>
            </a:r>
            <a:r>
              <a:rPr kumimoji="0" lang="nl-NL" sz="900" b="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(inspanning)</a:t>
            </a:r>
          </a:p>
        </p:txBody>
      </p:sp>
      <p:pic>
        <p:nvPicPr>
          <p:cNvPr id="65" name="Graphic 64">
            <a:extLst>
              <a:ext uri="{FF2B5EF4-FFF2-40B4-BE49-F238E27FC236}">
                <a16:creationId xmlns:a16="http://schemas.microsoft.com/office/drawing/2014/main" id="{11F31913-32DA-6DD1-CF6E-17079BBF3706}"/>
              </a:ext>
            </a:extLst>
          </p:cNvPr>
          <p:cNvPicPr>
            <a:picLocks noChangeAspect="1"/>
          </p:cNvPicPr>
          <p:nvPr>
            <p:custDataLst>
              <p:tags r:id="rId1"/>
            </p:custDataLst>
          </p:nvPr>
        </p:nvPicPr>
        <p:blipFill>
          <a:blip r:embed="rId16">
            <a:extLst>
              <a:ext uri="{96DAC541-7B7A-43D3-8B79-37D633B846F1}">
                <asvg:svgBlip xmlns:asvg="http://schemas.microsoft.com/office/drawing/2016/SVG/main" r:embed="rId17"/>
              </a:ext>
            </a:extLst>
          </a:blip>
          <a:stretch>
            <a:fillRect/>
          </a:stretch>
        </p:blipFill>
        <p:spPr>
          <a:xfrm>
            <a:off x="3414256" y="3144789"/>
            <a:ext cx="288000" cy="288000"/>
          </a:xfrm>
          <a:prstGeom prst="rect">
            <a:avLst/>
          </a:prstGeom>
        </p:spPr>
      </p:pic>
      <p:pic>
        <p:nvPicPr>
          <p:cNvPr id="66" name="Graphic 65">
            <a:extLst>
              <a:ext uri="{FF2B5EF4-FFF2-40B4-BE49-F238E27FC236}">
                <a16:creationId xmlns:a16="http://schemas.microsoft.com/office/drawing/2014/main" id="{DE01D82A-01AC-E5B0-BC8B-06D849052877}"/>
              </a:ext>
            </a:extLst>
          </p:cNvPr>
          <p:cNvPicPr>
            <a:picLocks/>
          </p:cNvPicPr>
          <p:nvPr>
            <p:custDataLst>
              <p:tags r:id="rId2"/>
            </p:custDataLst>
          </p:nvPr>
        </p:nvPicPr>
        <p:blipFill>
          <a:blip r:embed="rId16">
            <a:extLst>
              <a:ext uri="{96DAC541-7B7A-43D3-8B79-37D633B846F1}">
                <asvg:svgBlip xmlns:asvg="http://schemas.microsoft.com/office/drawing/2016/SVG/main" r:embed="rId17"/>
              </a:ext>
            </a:extLst>
          </a:blip>
          <a:stretch>
            <a:fillRect/>
          </a:stretch>
        </p:blipFill>
        <p:spPr>
          <a:xfrm>
            <a:off x="6138207" y="3144789"/>
            <a:ext cx="288000" cy="288000"/>
          </a:xfrm>
          <a:prstGeom prst="rect">
            <a:avLst/>
          </a:prstGeom>
        </p:spPr>
      </p:pic>
      <p:pic>
        <p:nvPicPr>
          <p:cNvPr id="67" name="Graphic 66">
            <a:extLst>
              <a:ext uri="{FF2B5EF4-FFF2-40B4-BE49-F238E27FC236}">
                <a16:creationId xmlns:a16="http://schemas.microsoft.com/office/drawing/2014/main" id="{E73A2C61-96F8-E7EC-8833-78D52172FABD}"/>
              </a:ext>
            </a:extLst>
          </p:cNvPr>
          <p:cNvPicPr>
            <a:picLocks noChangeAspect="1"/>
          </p:cNvPicPr>
          <p:nvPr>
            <p:custDataLst>
              <p:tags r:id="rId3"/>
            </p:custDataLst>
          </p:nvPr>
        </p:nvPicPr>
        <p:blipFill>
          <a:blip r:embed="rId16">
            <a:extLst>
              <a:ext uri="{96DAC541-7B7A-43D3-8B79-37D633B846F1}">
                <asvg:svgBlip xmlns:asvg="http://schemas.microsoft.com/office/drawing/2016/SVG/main" r:embed="rId17"/>
              </a:ext>
            </a:extLst>
          </a:blip>
          <a:stretch>
            <a:fillRect/>
          </a:stretch>
        </p:blipFill>
        <p:spPr>
          <a:xfrm>
            <a:off x="8919913" y="3135803"/>
            <a:ext cx="288000" cy="288000"/>
          </a:xfrm>
          <a:prstGeom prst="rect">
            <a:avLst/>
          </a:prstGeom>
        </p:spPr>
      </p:pic>
      <p:pic>
        <p:nvPicPr>
          <p:cNvPr id="68" name="Graphic 67">
            <a:extLst>
              <a:ext uri="{FF2B5EF4-FFF2-40B4-BE49-F238E27FC236}">
                <a16:creationId xmlns:a16="http://schemas.microsoft.com/office/drawing/2014/main" id="{A97E14AB-E528-EF0C-601B-3361E12269F9}"/>
              </a:ext>
            </a:extLst>
          </p:cNvPr>
          <p:cNvPicPr>
            <a:picLocks noChangeAspect="1"/>
          </p:cNvPicPr>
          <p:nvPr>
            <p:custDataLst>
              <p:tags r:id="rId4"/>
            </p:custDataLst>
          </p:nvPr>
        </p:nvPicPr>
        <p:blipFill>
          <a:blip r:embed="rId16">
            <a:extLst>
              <a:ext uri="{96DAC541-7B7A-43D3-8B79-37D633B846F1}">
                <asvg:svgBlip xmlns:asvg="http://schemas.microsoft.com/office/drawing/2016/SVG/main" r:embed="rId17"/>
              </a:ext>
            </a:extLst>
          </a:blip>
          <a:stretch>
            <a:fillRect/>
          </a:stretch>
        </p:blipFill>
        <p:spPr>
          <a:xfrm>
            <a:off x="3414256" y="4604498"/>
            <a:ext cx="288000" cy="288000"/>
          </a:xfrm>
          <a:prstGeom prst="rect">
            <a:avLst/>
          </a:prstGeom>
        </p:spPr>
      </p:pic>
      <p:pic>
        <p:nvPicPr>
          <p:cNvPr id="69" name="Graphic 68">
            <a:extLst>
              <a:ext uri="{FF2B5EF4-FFF2-40B4-BE49-F238E27FC236}">
                <a16:creationId xmlns:a16="http://schemas.microsoft.com/office/drawing/2014/main" id="{A59C1AD1-B24E-6EFE-F1EC-048E62F34DC8}"/>
              </a:ext>
            </a:extLst>
          </p:cNvPr>
          <p:cNvPicPr>
            <a:picLocks/>
          </p:cNvPicPr>
          <p:nvPr>
            <p:custDataLst>
              <p:tags r:id="rId5"/>
            </p:custDataLst>
          </p:nvPr>
        </p:nvPicPr>
        <p:blipFill>
          <a:blip r:embed="rId16">
            <a:extLst>
              <a:ext uri="{96DAC541-7B7A-43D3-8B79-37D633B846F1}">
                <asvg:svgBlip xmlns:asvg="http://schemas.microsoft.com/office/drawing/2016/SVG/main" r:embed="rId17"/>
              </a:ext>
            </a:extLst>
          </a:blip>
          <a:stretch>
            <a:fillRect/>
          </a:stretch>
        </p:blipFill>
        <p:spPr>
          <a:xfrm>
            <a:off x="6138207" y="4604498"/>
            <a:ext cx="288000" cy="288000"/>
          </a:xfrm>
          <a:prstGeom prst="rect">
            <a:avLst/>
          </a:prstGeom>
        </p:spPr>
      </p:pic>
      <p:pic>
        <p:nvPicPr>
          <p:cNvPr id="70" name="Graphic 69">
            <a:extLst>
              <a:ext uri="{FF2B5EF4-FFF2-40B4-BE49-F238E27FC236}">
                <a16:creationId xmlns:a16="http://schemas.microsoft.com/office/drawing/2014/main" id="{6D04A3D0-F19A-89DA-F33A-E9203A1D7755}"/>
              </a:ext>
            </a:extLst>
          </p:cNvPr>
          <p:cNvPicPr>
            <a:picLocks noChangeAspect="1"/>
          </p:cNvPicPr>
          <p:nvPr>
            <p:custDataLst>
              <p:tags r:id="rId6"/>
            </p:custDataLst>
          </p:nvPr>
        </p:nvPicPr>
        <p:blipFill>
          <a:blip r:embed="rId16">
            <a:extLst>
              <a:ext uri="{96DAC541-7B7A-43D3-8B79-37D633B846F1}">
                <asvg:svgBlip xmlns:asvg="http://schemas.microsoft.com/office/drawing/2016/SVG/main" r:embed="rId17"/>
              </a:ext>
            </a:extLst>
          </a:blip>
          <a:stretch>
            <a:fillRect/>
          </a:stretch>
        </p:blipFill>
        <p:spPr>
          <a:xfrm>
            <a:off x="8775913" y="4604498"/>
            <a:ext cx="288000" cy="288000"/>
          </a:xfrm>
          <a:prstGeom prst="rect">
            <a:avLst/>
          </a:prstGeom>
        </p:spPr>
      </p:pic>
      <p:pic>
        <p:nvPicPr>
          <p:cNvPr id="71" name="Graphic 70">
            <a:extLst>
              <a:ext uri="{FF2B5EF4-FFF2-40B4-BE49-F238E27FC236}">
                <a16:creationId xmlns:a16="http://schemas.microsoft.com/office/drawing/2014/main" id="{D0ADFA69-8D1A-B438-4A10-BFB6BF6037E4}"/>
              </a:ext>
            </a:extLst>
          </p:cNvPr>
          <p:cNvPicPr>
            <a:picLocks noChangeAspect="1"/>
          </p:cNvPicPr>
          <p:nvPr>
            <p:custDataLst>
              <p:tags r:id="rId7"/>
            </p:custDataLst>
          </p:nvPr>
        </p:nvPicPr>
        <p:blipFill>
          <a:blip r:embed="rId16">
            <a:extLst>
              <a:ext uri="{96DAC541-7B7A-43D3-8B79-37D633B846F1}">
                <asvg:svgBlip xmlns:asvg="http://schemas.microsoft.com/office/drawing/2016/SVG/main" r:embed="rId17"/>
              </a:ext>
            </a:extLst>
          </a:blip>
          <a:stretch>
            <a:fillRect/>
          </a:stretch>
        </p:blipFill>
        <p:spPr>
          <a:xfrm>
            <a:off x="3414256" y="6061318"/>
            <a:ext cx="288000" cy="288000"/>
          </a:xfrm>
          <a:prstGeom prst="rect">
            <a:avLst/>
          </a:prstGeom>
        </p:spPr>
      </p:pic>
      <p:pic>
        <p:nvPicPr>
          <p:cNvPr id="72" name="Graphic 71">
            <a:extLst>
              <a:ext uri="{FF2B5EF4-FFF2-40B4-BE49-F238E27FC236}">
                <a16:creationId xmlns:a16="http://schemas.microsoft.com/office/drawing/2014/main" id="{14599293-9997-982D-A1D5-16A3430F3C24}"/>
              </a:ext>
            </a:extLst>
          </p:cNvPr>
          <p:cNvPicPr>
            <a:picLocks/>
          </p:cNvPicPr>
          <p:nvPr>
            <p:custDataLst>
              <p:tags r:id="rId8"/>
            </p:custDataLst>
          </p:nvPr>
        </p:nvPicPr>
        <p:blipFill>
          <a:blip r:embed="rId16">
            <a:extLst>
              <a:ext uri="{96DAC541-7B7A-43D3-8B79-37D633B846F1}">
                <asvg:svgBlip xmlns:asvg="http://schemas.microsoft.com/office/drawing/2016/SVG/main" r:embed="rId17"/>
              </a:ext>
            </a:extLst>
          </a:blip>
          <a:stretch>
            <a:fillRect/>
          </a:stretch>
        </p:blipFill>
        <p:spPr>
          <a:xfrm>
            <a:off x="6138207" y="6061318"/>
            <a:ext cx="288000" cy="288000"/>
          </a:xfrm>
          <a:prstGeom prst="rect">
            <a:avLst/>
          </a:prstGeom>
        </p:spPr>
      </p:pic>
      <p:pic>
        <p:nvPicPr>
          <p:cNvPr id="73" name="Graphic 72">
            <a:extLst>
              <a:ext uri="{FF2B5EF4-FFF2-40B4-BE49-F238E27FC236}">
                <a16:creationId xmlns:a16="http://schemas.microsoft.com/office/drawing/2014/main" id="{1FEDEDB9-5F0F-D896-B624-CBF4A2A0CE1E}"/>
              </a:ext>
            </a:extLst>
          </p:cNvPr>
          <p:cNvPicPr>
            <a:picLocks noChangeAspect="1"/>
          </p:cNvPicPr>
          <p:nvPr>
            <p:custDataLst>
              <p:tags r:id="rId9"/>
            </p:custDataLst>
          </p:nvPr>
        </p:nvPicPr>
        <p:blipFill>
          <a:blip r:embed="rId16">
            <a:extLst>
              <a:ext uri="{96DAC541-7B7A-43D3-8B79-37D633B846F1}">
                <asvg:svgBlip xmlns:asvg="http://schemas.microsoft.com/office/drawing/2016/SVG/main" r:embed="rId17"/>
              </a:ext>
            </a:extLst>
          </a:blip>
          <a:stretch>
            <a:fillRect/>
          </a:stretch>
        </p:blipFill>
        <p:spPr>
          <a:xfrm>
            <a:off x="8775913" y="6061318"/>
            <a:ext cx="288000" cy="288000"/>
          </a:xfrm>
          <a:prstGeom prst="rect">
            <a:avLst/>
          </a:prstGeom>
        </p:spPr>
      </p:pic>
      <p:pic>
        <p:nvPicPr>
          <p:cNvPr id="74" name="Graphic 73">
            <a:extLst>
              <a:ext uri="{FF2B5EF4-FFF2-40B4-BE49-F238E27FC236}">
                <a16:creationId xmlns:a16="http://schemas.microsoft.com/office/drawing/2014/main" id="{18A6EF97-E13E-1010-25EE-5D83D7EA9DA7}"/>
              </a:ext>
            </a:extLst>
          </p:cNvPr>
          <p:cNvPicPr>
            <a:picLocks/>
          </p:cNvPicPr>
          <p:nvPr>
            <p:custDataLst>
              <p:tags r:id="rId10"/>
            </p:custDataLst>
          </p:nvPr>
        </p:nvPicPr>
        <p:blipFill>
          <a:blip r:embed="rId16">
            <a:extLst>
              <a:ext uri="{96DAC541-7B7A-43D3-8B79-37D633B846F1}">
                <asvg:svgBlip xmlns:asvg="http://schemas.microsoft.com/office/drawing/2016/SVG/main" r:embed="rId17"/>
              </a:ext>
            </a:extLst>
          </a:blip>
          <a:stretch>
            <a:fillRect/>
          </a:stretch>
        </p:blipFill>
        <p:spPr>
          <a:xfrm>
            <a:off x="721963" y="3144789"/>
            <a:ext cx="288000" cy="288000"/>
          </a:xfrm>
          <a:prstGeom prst="rect">
            <a:avLst/>
          </a:prstGeom>
        </p:spPr>
      </p:pic>
      <p:pic>
        <p:nvPicPr>
          <p:cNvPr id="75" name="Graphic 74">
            <a:extLst>
              <a:ext uri="{FF2B5EF4-FFF2-40B4-BE49-F238E27FC236}">
                <a16:creationId xmlns:a16="http://schemas.microsoft.com/office/drawing/2014/main" id="{5FA1EEB3-0C60-E4E3-B7D3-C3C1B7DFDBCA}"/>
              </a:ext>
            </a:extLst>
          </p:cNvPr>
          <p:cNvPicPr>
            <a:picLocks/>
          </p:cNvPicPr>
          <p:nvPr>
            <p:custDataLst>
              <p:tags r:id="rId11"/>
            </p:custDataLst>
          </p:nvPr>
        </p:nvPicPr>
        <p:blipFill>
          <a:blip r:embed="rId16">
            <a:extLst>
              <a:ext uri="{96DAC541-7B7A-43D3-8B79-37D633B846F1}">
                <asvg:svgBlip xmlns:asvg="http://schemas.microsoft.com/office/drawing/2016/SVG/main" r:embed="rId17"/>
              </a:ext>
            </a:extLst>
          </a:blip>
          <a:stretch>
            <a:fillRect/>
          </a:stretch>
        </p:blipFill>
        <p:spPr>
          <a:xfrm>
            <a:off x="721963" y="4604498"/>
            <a:ext cx="288000" cy="288000"/>
          </a:xfrm>
          <a:prstGeom prst="rect">
            <a:avLst/>
          </a:prstGeom>
        </p:spPr>
      </p:pic>
      <p:pic>
        <p:nvPicPr>
          <p:cNvPr id="76" name="Graphic 75">
            <a:extLst>
              <a:ext uri="{FF2B5EF4-FFF2-40B4-BE49-F238E27FC236}">
                <a16:creationId xmlns:a16="http://schemas.microsoft.com/office/drawing/2014/main" id="{94EA2996-0622-2109-3C7B-D3E4836C7D32}"/>
              </a:ext>
            </a:extLst>
          </p:cNvPr>
          <p:cNvPicPr>
            <a:picLocks/>
          </p:cNvPicPr>
          <p:nvPr>
            <p:custDataLst>
              <p:tags r:id="rId12"/>
            </p:custDataLst>
          </p:nvPr>
        </p:nvPicPr>
        <p:blipFill>
          <a:blip r:embed="rId16">
            <a:extLst>
              <a:ext uri="{96DAC541-7B7A-43D3-8B79-37D633B846F1}">
                <asvg:svgBlip xmlns:asvg="http://schemas.microsoft.com/office/drawing/2016/SVG/main" r:embed="rId17"/>
              </a:ext>
            </a:extLst>
          </a:blip>
          <a:stretch>
            <a:fillRect/>
          </a:stretch>
        </p:blipFill>
        <p:spPr>
          <a:xfrm>
            <a:off x="721963" y="6061318"/>
            <a:ext cx="288000" cy="288000"/>
          </a:xfrm>
          <a:prstGeom prst="rect">
            <a:avLst/>
          </a:prstGeom>
        </p:spPr>
      </p:pic>
      <p:sp>
        <p:nvSpPr>
          <p:cNvPr id="80" name="Rectangle: Rounded Corners 4">
            <a:extLst>
              <a:ext uri="{FF2B5EF4-FFF2-40B4-BE49-F238E27FC236}">
                <a16:creationId xmlns:a16="http://schemas.microsoft.com/office/drawing/2014/main" id="{71277915-101A-D80E-17C4-75A5B3E31600}"/>
              </a:ext>
            </a:extLst>
          </p:cNvPr>
          <p:cNvSpPr/>
          <p:nvPr/>
        </p:nvSpPr>
        <p:spPr>
          <a:xfrm>
            <a:off x="9096255" y="438634"/>
            <a:ext cx="3015312" cy="35298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324000" tIns="45720" rIns="91440" bIns="45720" rtlCol="0" anchor="t"/>
          <a:lstStyle/>
          <a:p>
            <a:pPr marR="0" lvl="0" algn="l" defTabSz="914400" rtl="0" eaLnBrk="1" fontAlgn="auto" latinLnBrk="0" hangingPunct="1">
              <a:lnSpc>
                <a:spcPct val="100000"/>
              </a:lnSpc>
              <a:spcBef>
                <a:spcPts val="0"/>
              </a:spcBef>
              <a:spcAft>
                <a:spcPts val="600"/>
              </a:spcAft>
              <a:buClrTx/>
              <a:buSzTx/>
              <a:tabLst/>
              <a:defRPr/>
            </a:pPr>
            <a:r>
              <a:rPr kumimoji="0" lang="nl-NL" sz="100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 = </a:t>
            </a:r>
            <a:r>
              <a:rPr kumimoji="0" lang="nl-NL"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rPr>
              <a:t>deliverable: Wat leveren we op</a:t>
            </a:r>
          </a:p>
        </p:txBody>
      </p:sp>
      <p:pic>
        <p:nvPicPr>
          <p:cNvPr id="78" name="Graphic 77">
            <a:extLst>
              <a:ext uri="{FF2B5EF4-FFF2-40B4-BE49-F238E27FC236}">
                <a16:creationId xmlns:a16="http://schemas.microsoft.com/office/drawing/2014/main" id="{436BEE6E-381F-FB94-66FC-F0EAFBA6C7AB}"/>
              </a:ext>
            </a:extLst>
          </p:cNvPr>
          <p:cNvPicPr>
            <a:picLocks/>
          </p:cNvPicPr>
          <p:nvPr>
            <p:custDataLst>
              <p:tags r:id="rId13"/>
            </p:custDataLst>
          </p:nvPr>
        </p:nvPicPr>
        <p:blipFill>
          <a:blip r:embed="rId16">
            <a:extLst>
              <a:ext uri="{96DAC541-7B7A-43D3-8B79-37D633B846F1}">
                <asvg:svgBlip xmlns:asvg="http://schemas.microsoft.com/office/drawing/2016/SVG/main" r:embed="rId17"/>
              </a:ext>
            </a:extLst>
          </a:blip>
          <a:stretch>
            <a:fillRect/>
          </a:stretch>
        </p:blipFill>
        <p:spPr>
          <a:xfrm>
            <a:off x="9096255" y="421700"/>
            <a:ext cx="288000" cy="288000"/>
          </a:xfrm>
          <a:prstGeom prst="rect">
            <a:avLst/>
          </a:prstGeom>
        </p:spPr>
      </p:pic>
      <p:sp>
        <p:nvSpPr>
          <p:cNvPr id="16" name="Rectangle: Top Corners Rounded 38">
            <a:hlinkClick r:id="rId18" action="ppaction://hlinksldjump"/>
            <a:extLst>
              <a:ext uri="{FF2B5EF4-FFF2-40B4-BE49-F238E27FC236}">
                <a16:creationId xmlns:a16="http://schemas.microsoft.com/office/drawing/2014/main" id="{1A4EE5A7-5AF7-A680-CDDE-48ED905B7A16}"/>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17" name="Graphic 16" descr="Introductiepagina silhouet">
            <a:hlinkClick r:id="rId19" action="ppaction://hlinksldjump"/>
            <a:extLst>
              <a:ext uri="{FF2B5EF4-FFF2-40B4-BE49-F238E27FC236}">
                <a16:creationId xmlns:a16="http://schemas.microsoft.com/office/drawing/2014/main" id="{7FD45F8A-FAF9-0FF3-92A1-369FCFBE62E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5136" y="147223"/>
            <a:ext cx="144000" cy="144000"/>
          </a:xfrm>
          <a:prstGeom prst="rect">
            <a:avLst/>
          </a:prstGeom>
        </p:spPr>
      </p:pic>
      <p:sp>
        <p:nvSpPr>
          <p:cNvPr id="18" name="Rectangle: Top Corners Rounded 1">
            <a:hlinkClick r:id="rId22" action="ppaction://hlinksldjump"/>
            <a:extLst>
              <a:ext uri="{FF2B5EF4-FFF2-40B4-BE49-F238E27FC236}">
                <a16:creationId xmlns:a16="http://schemas.microsoft.com/office/drawing/2014/main" id="{8518E3A9-132B-A58F-D16A-5689BA3E56F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9" name="Rectangle: Top Corners Rounded 1">
            <a:hlinkClick r:id="rId23" action="ppaction://hlinksldjump"/>
            <a:extLst>
              <a:ext uri="{FF2B5EF4-FFF2-40B4-BE49-F238E27FC236}">
                <a16:creationId xmlns:a16="http://schemas.microsoft.com/office/drawing/2014/main" id="{61107102-471E-FD22-21B0-CC0DA919A555}"/>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0" name="Rectangle: Top Corners Rounded 1">
            <a:hlinkClick r:id="rId24" action="ppaction://hlinksldjump"/>
            <a:extLst>
              <a:ext uri="{FF2B5EF4-FFF2-40B4-BE49-F238E27FC236}">
                <a16:creationId xmlns:a16="http://schemas.microsoft.com/office/drawing/2014/main" id="{23835CD0-1B12-5954-05D1-2695E63495D1}"/>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1" name="Rectangle: Top Corners Rounded 1">
            <a:hlinkClick r:id="rId25" action="ppaction://hlinksldjump"/>
            <a:extLst>
              <a:ext uri="{FF2B5EF4-FFF2-40B4-BE49-F238E27FC236}">
                <a16:creationId xmlns:a16="http://schemas.microsoft.com/office/drawing/2014/main" id="{97366B1E-BDC2-A911-E03E-5304C7DB1233}"/>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2" name="Rectangle: Top Corners Rounded 1">
            <a:hlinkClick r:id="rId26" action="ppaction://hlinksldjump"/>
            <a:extLst>
              <a:ext uri="{FF2B5EF4-FFF2-40B4-BE49-F238E27FC236}">
                <a16:creationId xmlns:a16="http://schemas.microsoft.com/office/drawing/2014/main" id="{1E9D3D38-F860-9488-DB53-B84BF6E05CC8}"/>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25" name="Rectangle: Top Corners Rounded 1">
            <a:hlinkClick r:id="rId27" action="ppaction://hlinksldjump"/>
            <a:extLst>
              <a:ext uri="{FF2B5EF4-FFF2-40B4-BE49-F238E27FC236}">
                <a16:creationId xmlns:a16="http://schemas.microsoft.com/office/drawing/2014/main" id="{EEBED946-49A7-87B6-A8FB-5C5E591938EB}"/>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6" name="Rectangle: Top Corners Rounded 1">
            <a:hlinkClick r:id="rId28" action="ppaction://hlinksldjump"/>
            <a:extLst>
              <a:ext uri="{FF2B5EF4-FFF2-40B4-BE49-F238E27FC236}">
                <a16:creationId xmlns:a16="http://schemas.microsoft.com/office/drawing/2014/main" id="{41224587-DDC3-E72E-5D78-572573B90C33}"/>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9" name="Rectangle: Top Corners Rounded 1">
            <a:hlinkClick r:id="rId29" action="ppaction://hlinksldjump"/>
            <a:extLst>
              <a:ext uri="{FF2B5EF4-FFF2-40B4-BE49-F238E27FC236}">
                <a16:creationId xmlns:a16="http://schemas.microsoft.com/office/drawing/2014/main" id="{69E3F4B8-EE4B-3DE3-9E58-99749297945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2" name="Rectangle: Top Corners Rounded 1">
            <a:hlinkClick r:id="rId30" action="ppaction://hlinksldjump"/>
            <a:extLst>
              <a:ext uri="{FF2B5EF4-FFF2-40B4-BE49-F238E27FC236}">
                <a16:creationId xmlns:a16="http://schemas.microsoft.com/office/drawing/2014/main" id="{534D0F9C-CE83-F0B8-DDBF-D48F1C72CCD8}"/>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3" name="Rectangle: Top Corners Rounded 1">
            <a:hlinkClick r:id="rId31" action="ppaction://hlinksldjump"/>
            <a:extLst>
              <a:ext uri="{FF2B5EF4-FFF2-40B4-BE49-F238E27FC236}">
                <a16:creationId xmlns:a16="http://schemas.microsoft.com/office/drawing/2014/main" id="{BE8E94FF-45E0-AA28-FCD4-F54651903445}"/>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4" name="Rectangle: Top Corners Rounded 1">
            <a:hlinkClick r:id="rId32" action="ppaction://hlinksldjump"/>
            <a:extLst>
              <a:ext uri="{FF2B5EF4-FFF2-40B4-BE49-F238E27FC236}">
                <a16:creationId xmlns:a16="http://schemas.microsoft.com/office/drawing/2014/main" id="{EF2D5190-0CC3-2038-F28E-47F75205E630}"/>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 name="TextBox 2">
            <a:extLst>
              <a:ext uri="{FF2B5EF4-FFF2-40B4-BE49-F238E27FC236}">
                <a16:creationId xmlns:a16="http://schemas.microsoft.com/office/drawing/2014/main" id="{13F7FAE4-EC46-F52B-5386-ECC22DA49768}"/>
              </a:ext>
            </a:extLst>
          </p:cNvPr>
          <p:cNvSpPr txBox="1"/>
          <p:nvPr/>
        </p:nvSpPr>
        <p:spPr>
          <a:xfrm>
            <a:off x="6100797" y="973873"/>
            <a:ext cx="4892541" cy="307777"/>
          </a:xfrm>
          <a:prstGeom prst="rect">
            <a:avLst/>
          </a:prstGeom>
          <a:noFill/>
        </p:spPr>
        <p:txBody>
          <a:bodyPr wrap="square" rtlCol="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NL" sz="700"/>
              <a:t>1. De werkafspraken die nog niet direct gelinkt zijn aan de toepassing van de MP9, Lab2Zorg en </a:t>
            </a:r>
            <a:r>
              <a:rPr lang="nl-NL" sz="700" err="1"/>
              <a:t>CiO</a:t>
            </a:r>
            <a:r>
              <a:rPr lang="nl-NL" sz="700"/>
              <a:t> zijn geïmplementeerd. De specifieke werkafspraken voor MP9, Lab2Zorg en </a:t>
            </a:r>
            <a:r>
              <a:rPr lang="nl-NL" sz="700" err="1"/>
              <a:t>CiO</a:t>
            </a:r>
            <a:r>
              <a:rPr lang="nl-NL" sz="700"/>
              <a:t> zijn voorbereid en worden geïmplementeerd tijdens de uitrol. </a:t>
            </a:r>
          </a:p>
        </p:txBody>
      </p:sp>
      <p:sp>
        <p:nvSpPr>
          <p:cNvPr id="4" name="Text Placeholder 16">
            <a:extLst>
              <a:ext uri="{FF2B5EF4-FFF2-40B4-BE49-F238E27FC236}">
                <a16:creationId xmlns:a16="http://schemas.microsoft.com/office/drawing/2014/main" id="{E6E77F22-5133-D5A4-7B87-9C58E721855D}"/>
              </a:ext>
            </a:extLst>
          </p:cNvPr>
          <p:cNvSpPr>
            <a:spLocks noGrp="1"/>
          </p:cNvSpPr>
          <p:nvPr>
            <p:ph type="body" sz="quarter" idx="10"/>
          </p:nvPr>
        </p:nvSpPr>
        <p:spPr>
          <a:xfrm>
            <a:off x="425302" y="969998"/>
            <a:ext cx="10544967" cy="504000"/>
          </a:xfrm>
        </p:spPr>
        <p:txBody>
          <a:bodyPr/>
          <a:lstStyle/>
          <a:p>
            <a:r>
              <a:rPr lang="nl-NL" sz="1200"/>
              <a:t>Voortborduren op de ervaring uit kickstartregio’s </a:t>
            </a:r>
          </a:p>
        </p:txBody>
      </p:sp>
    </p:spTree>
    <p:extLst>
      <p:ext uri="{BB962C8B-B14F-4D97-AF65-F5344CB8AC3E}">
        <p14:creationId xmlns:p14="http://schemas.microsoft.com/office/powerpoint/2010/main" val="15400604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5E859E6-1463-F638-1A44-379D6BD57BC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35E859E6-1463-F638-1A44-379D6BD57BC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Rounded Corners 7">
            <a:extLst>
              <a:ext uri="{FF2B5EF4-FFF2-40B4-BE49-F238E27FC236}">
                <a16:creationId xmlns:a16="http://schemas.microsoft.com/office/drawing/2014/main" id="{4BCB5237-58C9-7972-DC15-D92B70D36DB6}"/>
              </a:ext>
            </a:extLst>
          </p:cNvPr>
          <p:cNvSpPr/>
          <p:nvPr/>
        </p:nvSpPr>
        <p:spPr>
          <a:xfrm>
            <a:off x="838198" y="1555856"/>
            <a:ext cx="4158893" cy="5070581"/>
          </a:xfrm>
          <a:prstGeom prst="roundRect">
            <a:avLst>
              <a:gd name="adj" fmla="val 5821"/>
            </a:avLst>
          </a:prstGeom>
          <a:solidFill>
            <a:schemeClr val="bg1"/>
          </a:solidFill>
          <a:ln w="12700">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black"/>
                </a:solidFill>
                <a:effectLst/>
                <a:uLnTx/>
                <a:uFillTx/>
                <a:latin typeface="Aptos Display"/>
                <a:ea typeface="+mn-ea"/>
                <a:cs typeface="+mn-cs"/>
              </a:rPr>
              <a:t>Kwalitatieve impact</a:t>
            </a:r>
            <a:r>
              <a:rPr kumimoji="0" lang="nl-NL" sz="1400" b="1" i="0" u="none" strike="noStrike" kern="1200" cap="none" spc="0" normalizeH="0" baseline="30000" noProof="0">
                <a:ln>
                  <a:noFill/>
                </a:ln>
                <a:solidFill>
                  <a:prstClr val="black"/>
                </a:solidFill>
                <a:effectLst/>
                <a:uLnTx/>
                <a:uFillTx/>
                <a:latin typeface="Aptos Display"/>
                <a:ea typeface="+mn-ea"/>
                <a:cs typeface="+mn-cs"/>
              </a:rPr>
              <a:t>1</a:t>
            </a:r>
          </a:p>
        </p:txBody>
      </p:sp>
      <p:sp>
        <p:nvSpPr>
          <p:cNvPr id="7" name="Partial Circle 12">
            <a:extLst>
              <a:ext uri="{FF2B5EF4-FFF2-40B4-BE49-F238E27FC236}">
                <a16:creationId xmlns:a16="http://schemas.microsoft.com/office/drawing/2014/main" id="{ECF9A292-56AD-11DD-10BD-6C3B53D183D6}"/>
              </a:ext>
            </a:extLst>
          </p:cNvPr>
          <p:cNvSpPr/>
          <p:nvPr/>
        </p:nvSpPr>
        <p:spPr>
          <a:xfrm>
            <a:off x="586175" y="2064485"/>
            <a:ext cx="914400" cy="914400"/>
          </a:xfrm>
          <a:prstGeom prst="pie">
            <a:avLst>
              <a:gd name="adj1" fmla="val 10767649"/>
              <a:gd name="adj2" fmla="val 16200000"/>
            </a:avLst>
          </a:prstGeom>
          <a:solidFill>
            <a:srgbClr val="DDEBCE"/>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4" name="Partial Circle 8">
            <a:extLst>
              <a:ext uri="{FF2B5EF4-FFF2-40B4-BE49-F238E27FC236}">
                <a16:creationId xmlns:a16="http://schemas.microsoft.com/office/drawing/2014/main" id="{C35DFDDC-212E-91E2-F182-90F6A1637E7A}"/>
              </a:ext>
            </a:extLst>
          </p:cNvPr>
          <p:cNvSpPr/>
          <p:nvPr/>
        </p:nvSpPr>
        <p:spPr>
          <a:xfrm rot="5400000">
            <a:off x="146328" y="2802478"/>
            <a:ext cx="914400" cy="914400"/>
          </a:xfrm>
          <a:prstGeom prst="pie">
            <a:avLst>
              <a:gd name="adj1" fmla="val 10767649"/>
              <a:gd name="adj2" fmla="val 16200000"/>
            </a:avLst>
          </a:prstGeom>
          <a:solidFill>
            <a:srgbClr val="21BBEF"/>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6" name="Partial Circle 9">
            <a:extLst>
              <a:ext uri="{FF2B5EF4-FFF2-40B4-BE49-F238E27FC236}">
                <a16:creationId xmlns:a16="http://schemas.microsoft.com/office/drawing/2014/main" id="{2CB31942-4D71-072E-77D6-7C246A8B629A}"/>
              </a:ext>
            </a:extLst>
          </p:cNvPr>
          <p:cNvSpPr/>
          <p:nvPr/>
        </p:nvSpPr>
        <p:spPr>
          <a:xfrm rot="10800000">
            <a:off x="156580" y="3284934"/>
            <a:ext cx="914400" cy="914400"/>
          </a:xfrm>
          <a:prstGeom prst="pie">
            <a:avLst>
              <a:gd name="adj1" fmla="val 10767649"/>
              <a:gd name="adj2" fmla="val 16200000"/>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7" name="Partial Circle 10">
            <a:extLst>
              <a:ext uri="{FF2B5EF4-FFF2-40B4-BE49-F238E27FC236}">
                <a16:creationId xmlns:a16="http://schemas.microsoft.com/office/drawing/2014/main" id="{139BA4B5-7FE8-2F18-CC97-8B76E696DF92}"/>
              </a:ext>
            </a:extLst>
          </p:cNvPr>
          <p:cNvSpPr/>
          <p:nvPr/>
        </p:nvSpPr>
        <p:spPr>
          <a:xfrm rot="16200000">
            <a:off x="531522" y="4930646"/>
            <a:ext cx="914400" cy="914400"/>
          </a:xfrm>
          <a:prstGeom prst="pie">
            <a:avLst>
              <a:gd name="adj1" fmla="val 10767649"/>
              <a:gd name="adj2" fmla="val 16200000"/>
            </a:avLst>
          </a:prstGeom>
          <a:solidFill>
            <a:srgbClr val="0E9D90"/>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20" name="Tekstvak 19">
            <a:extLst>
              <a:ext uri="{FF2B5EF4-FFF2-40B4-BE49-F238E27FC236}">
                <a16:creationId xmlns:a16="http://schemas.microsoft.com/office/drawing/2014/main" id="{93246308-D83A-A11E-DEF4-F1CEF9CADAEF}"/>
              </a:ext>
            </a:extLst>
          </p:cNvPr>
          <p:cNvSpPr txBox="1"/>
          <p:nvPr/>
        </p:nvSpPr>
        <p:spPr>
          <a:xfrm>
            <a:off x="719136" y="2203695"/>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1</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21" name="Tekstvak 20">
            <a:extLst>
              <a:ext uri="{FF2B5EF4-FFF2-40B4-BE49-F238E27FC236}">
                <a16:creationId xmlns:a16="http://schemas.microsoft.com/office/drawing/2014/main" id="{04A416FE-7CBC-D8DD-5B25-80EBF569FD19}"/>
              </a:ext>
            </a:extLst>
          </p:cNvPr>
          <p:cNvSpPr txBox="1"/>
          <p:nvPr/>
        </p:nvSpPr>
        <p:spPr>
          <a:xfrm>
            <a:off x="664416" y="2929728"/>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2</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22" name="Tekstvak 21">
            <a:extLst>
              <a:ext uri="{FF2B5EF4-FFF2-40B4-BE49-F238E27FC236}">
                <a16:creationId xmlns:a16="http://schemas.microsoft.com/office/drawing/2014/main" id="{DB7CF8FA-25FF-85C8-43F4-42AB7DF60F9B}"/>
              </a:ext>
            </a:extLst>
          </p:cNvPr>
          <p:cNvSpPr txBox="1"/>
          <p:nvPr/>
        </p:nvSpPr>
        <p:spPr>
          <a:xfrm>
            <a:off x="647700" y="3826985"/>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3</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23" name="Tekstvak 22">
            <a:extLst>
              <a:ext uri="{FF2B5EF4-FFF2-40B4-BE49-F238E27FC236}">
                <a16:creationId xmlns:a16="http://schemas.microsoft.com/office/drawing/2014/main" id="{5C14E282-9AE0-96BB-7DBB-30CB50158E99}"/>
              </a:ext>
            </a:extLst>
          </p:cNvPr>
          <p:cNvSpPr txBox="1"/>
          <p:nvPr/>
        </p:nvSpPr>
        <p:spPr>
          <a:xfrm>
            <a:off x="664416" y="5423644"/>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Aptos"/>
                <a:ea typeface="+mn-ea"/>
                <a:cs typeface="+mn-cs"/>
              </a:rPr>
              <a:t>4</a:t>
            </a:r>
          </a:p>
        </p:txBody>
      </p:sp>
      <p:sp>
        <p:nvSpPr>
          <p:cNvPr id="24" name="Tekstvak 23">
            <a:extLst>
              <a:ext uri="{FF2B5EF4-FFF2-40B4-BE49-F238E27FC236}">
                <a16:creationId xmlns:a16="http://schemas.microsoft.com/office/drawing/2014/main" id="{FB65C5C6-F832-B411-8027-ABB3ABE2C52D}"/>
              </a:ext>
            </a:extLst>
          </p:cNvPr>
          <p:cNvSpPr txBox="1"/>
          <p:nvPr/>
        </p:nvSpPr>
        <p:spPr>
          <a:xfrm>
            <a:off x="1070980" y="2088031"/>
            <a:ext cx="3953715" cy="369332"/>
          </a:xfrm>
          <a:prstGeom prst="rect">
            <a:avLst/>
          </a:prstGeom>
          <a:noFill/>
        </p:spPr>
        <p:txBody>
          <a:bodyPr wrap="square" rtlCol="0">
            <a:spAutoFit/>
          </a:bodyPr>
          <a:lstStyle/>
          <a:p>
            <a:pPr marL="171450" indent="-171450">
              <a:buFont typeface="Arial" panose="020B0604020202020204" pitchFamily="34" charset="0"/>
              <a:buChar char="•"/>
            </a:pPr>
            <a:r>
              <a:rPr lang="nl-NL" sz="900" b="0">
                <a:solidFill>
                  <a:schemeClr val="tx1"/>
                </a:solidFill>
                <a:latin typeface="Verdana" panose="020B0604030504040204" pitchFamily="34" charset="0"/>
                <a:ea typeface="Verdana" panose="020B0604030504040204" pitchFamily="34" charset="0"/>
                <a:cs typeface="Verdana" panose="020B0604030504040204" pitchFamily="34" charset="0"/>
              </a:rPr>
              <a:t>Verbetering van kwaliteit van zorg  door vermeden ziektelasten voor inwoners</a:t>
            </a:r>
          </a:p>
        </p:txBody>
      </p:sp>
      <p:sp>
        <p:nvSpPr>
          <p:cNvPr id="25" name="Tekstvak 24">
            <a:extLst>
              <a:ext uri="{FF2B5EF4-FFF2-40B4-BE49-F238E27FC236}">
                <a16:creationId xmlns:a16="http://schemas.microsoft.com/office/drawing/2014/main" id="{02DD7E21-9A77-E834-4751-66938E636F63}"/>
              </a:ext>
            </a:extLst>
          </p:cNvPr>
          <p:cNvSpPr txBox="1"/>
          <p:nvPr/>
        </p:nvSpPr>
        <p:spPr>
          <a:xfrm>
            <a:off x="1043376" y="2660449"/>
            <a:ext cx="3953715" cy="784830"/>
          </a:xfrm>
          <a:prstGeom prst="rect">
            <a:avLst/>
          </a:prstGeom>
          <a:noFill/>
        </p:spPr>
        <p:txBody>
          <a:bodyPr wrap="square" rtlCol="0">
            <a:spAutoFit/>
          </a:bodyPr>
          <a:lstStyle/>
          <a:p>
            <a:pPr marL="171450" lvl="2" indent="-171450">
              <a:buFont typeface="Arial" panose="020B0604020202020204" pitchFamily="34" charset="0"/>
              <a:buChar char="•"/>
            </a:pP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Minder herhaling van vragen van zorgverleners gedurende het zorgtraject</a:t>
            </a:r>
          </a:p>
          <a:p>
            <a:pPr marL="171450" lvl="2" indent="-171450">
              <a:buFont typeface="Arial" panose="020B0604020202020204" pitchFamily="34" charset="0"/>
              <a:buChar char="•"/>
            </a:pP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Meer vertrouwen in zorg omdat reeds eerder verstrekte informatie bekend is bij zorgprofessional</a:t>
            </a:r>
          </a:p>
          <a:p>
            <a:pPr marL="171450" lvl="2" indent="-171450">
              <a:buFont typeface="Arial" panose="020B0604020202020204" pitchFamily="34" charset="0"/>
              <a:buChar char="•"/>
            </a:pP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Soepelere overgang tussen zorgverleners voor inwoners</a:t>
            </a:r>
          </a:p>
        </p:txBody>
      </p:sp>
      <p:sp>
        <p:nvSpPr>
          <p:cNvPr id="26" name="Tekstvak 25">
            <a:extLst>
              <a:ext uri="{FF2B5EF4-FFF2-40B4-BE49-F238E27FC236}">
                <a16:creationId xmlns:a16="http://schemas.microsoft.com/office/drawing/2014/main" id="{349725FC-5DB1-B3E0-237B-85C1DF0C5EFD}"/>
              </a:ext>
            </a:extLst>
          </p:cNvPr>
          <p:cNvSpPr txBox="1"/>
          <p:nvPr/>
        </p:nvSpPr>
        <p:spPr>
          <a:xfrm>
            <a:off x="1034689" y="3487514"/>
            <a:ext cx="3953715" cy="1615827"/>
          </a:xfrm>
          <a:prstGeom prst="rect">
            <a:avLst/>
          </a:prstGeom>
          <a:noFill/>
        </p:spPr>
        <p:txBody>
          <a:bodyPr wrap="square" rtlCol="0">
            <a:spAutoFit/>
          </a:bodyPr>
          <a:lstStyle/>
          <a:p>
            <a:pPr marL="171450" lvl="2" indent="-171450">
              <a:buFont typeface="Arial" panose="020B0604020202020204" pitchFamily="34" charset="0"/>
              <a:buChar char="•"/>
            </a:pP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Meer tijd voor zorgtaken door minder administratie en meer eenheid van taal.</a:t>
            </a:r>
          </a:p>
          <a:p>
            <a:pPr marL="171450" lvl="2" indent="-171450">
              <a:buFont typeface="Arial" panose="020B0604020202020204" pitchFamily="34" charset="0"/>
              <a:buChar char="•"/>
            </a:pP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Beter inzicht in totale medicatiegebruik, ook wat door andere zorgverleners is voorgeschreven, verstrekt of is gewijzigd. Dit faciliteert betere samenwerking in de zorgketen tussen zorgverleners.</a:t>
            </a:r>
          </a:p>
          <a:p>
            <a:pPr marL="171450" lvl="2" indent="-171450">
              <a:buFont typeface="Arial" panose="020B0604020202020204" pitchFamily="34" charset="0"/>
              <a:buChar char="•"/>
            </a:pP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Minder </a:t>
            </a:r>
            <a:r>
              <a:rPr lang="nl-NL" sz="900" err="1">
                <a:solidFill>
                  <a:schemeClr val="tx1"/>
                </a:solidFill>
                <a:latin typeface="Verdana" panose="020B0604030504040204" pitchFamily="34" charset="0"/>
                <a:ea typeface="Verdana" panose="020B0604030504040204" pitchFamily="34" charset="0"/>
                <a:cs typeface="Verdana" panose="020B0604030504040204" pitchFamily="34" charset="0"/>
              </a:rPr>
              <a:t>werkgerelateerde</a:t>
            </a: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 stress en meer plezier voor zorgprofessionals, aangezien er minder (telefonisch) contact nodig is om inzicht te krijgen in medicatie van een inwoner. Zorgprofessionals hebben ook  meer vertrouwen in de informatie die zij hebben/krijgen.</a:t>
            </a:r>
          </a:p>
        </p:txBody>
      </p:sp>
      <p:sp>
        <p:nvSpPr>
          <p:cNvPr id="27" name="Tekstvak 26">
            <a:extLst>
              <a:ext uri="{FF2B5EF4-FFF2-40B4-BE49-F238E27FC236}">
                <a16:creationId xmlns:a16="http://schemas.microsoft.com/office/drawing/2014/main" id="{7151017D-5D55-06B3-408A-A7A0EAAC078A}"/>
              </a:ext>
            </a:extLst>
          </p:cNvPr>
          <p:cNvSpPr txBox="1"/>
          <p:nvPr/>
        </p:nvSpPr>
        <p:spPr>
          <a:xfrm>
            <a:off x="1043376" y="5149109"/>
            <a:ext cx="3953715" cy="1338828"/>
          </a:xfrm>
          <a:prstGeom prst="rect">
            <a:avLst/>
          </a:prstGeom>
          <a:noFill/>
        </p:spPr>
        <p:txBody>
          <a:bodyPr wrap="square" lIns="91440" tIns="45720" rIns="91440" bIns="45720" rtlCol="0" anchor="t">
            <a:spAutoFit/>
          </a:bodyPr>
          <a:lstStyle/>
          <a:p>
            <a:pPr marL="171450" lvl="2" indent="-171450">
              <a:buFont typeface="Arial" panose="020B0604020202020204" pitchFamily="34" charset="0"/>
              <a:buChar char="•"/>
            </a:pPr>
            <a:r>
              <a:rPr lang="nl-NL" sz="900" b="0">
                <a:solidFill>
                  <a:schemeClr val="tx1"/>
                </a:solidFill>
                <a:latin typeface="Verdana" panose="020B0604030504040204" pitchFamily="34" charset="0"/>
                <a:ea typeface="Verdana" panose="020B0604030504040204" pitchFamily="34" charset="0"/>
                <a:cs typeface="Verdana" panose="020B0604030504040204" pitchFamily="34" charset="0"/>
              </a:rPr>
              <a:t>Betere kwaliteit van behandeling, met als gevolg </a:t>
            </a: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onder andere m</a:t>
            </a:r>
            <a:r>
              <a:rPr lang="nl-NL" sz="900" b="0">
                <a:solidFill>
                  <a:schemeClr val="tx1"/>
                </a:solidFill>
                <a:latin typeface="Verdana" panose="020B0604030504040204" pitchFamily="34" charset="0"/>
                <a:ea typeface="Verdana" panose="020B0604030504040204" pitchFamily="34" charset="0"/>
                <a:cs typeface="Verdana" panose="020B0604030504040204" pitchFamily="34" charset="0"/>
              </a:rPr>
              <a:t>inder dubbele voorschriften of medicatieverspilling door inzage in actuele gegevens.</a:t>
            </a:r>
          </a:p>
          <a:p>
            <a:pPr marL="171450" lvl="2" indent="-171450">
              <a:buFont typeface="Arial" panose="020B0604020202020204" pitchFamily="34" charset="0"/>
              <a:buChar char="•"/>
            </a:pPr>
            <a:r>
              <a:rPr lang="nl-NL" sz="900" b="0">
                <a:solidFill>
                  <a:schemeClr val="tx1"/>
                </a:solidFill>
                <a:latin typeface="Verdana" panose="020B0604030504040204" pitchFamily="34" charset="0"/>
                <a:ea typeface="Verdana" panose="020B0604030504040204" pitchFamily="34" charset="0"/>
                <a:cs typeface="Verdana" panose="020B0604030504040204" pitchFamily="34" charset="0"/>
              </a:rPr>
              <a:t>Zorgprofessionals </a:t>
            </a: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zijn per saldo minder tijd kwijt aan handelingen rond medicatie (voorschrijven, verstrekken, toedienen) omdat zij minder tijd kwijt zijn aan het verifiëren </a:t>
            </a:r>
          </a:p>
          <a:p>
            <a:pPr marL="171450" lvl="2" indent="-171450">
              <a:buFont typeface="Arial" panose="020B0604020202020204" pitchFamily="34" charset="0"/>
              <a:buChar char="•"/>
            </a:pPr>
            <a:r>
              <a:rPr lang="nl-NL" sz="900" b="0">
                <a:solidFill>
                  <a:schemeClr val="tx1"/>
                </a:solidFill>
                <a:latin typeface="Verdana" panose="020B0604030504040204" pitchFamily="34" charset="0"/>
                <a:ea typeface="Verdana" panose="020B0604030504040204" pitchFamily="34" charset="0"/>
                <a:cs typeface="Verdana" panose="020B0604030504040204" pitchFamily="34" charset="0"/>
              </a:rPr>
              <a:t>Minder zorghandelingen</a:t>
            </a:r>
            <a:r>
              <a:rPr lang="nl-NL" sz="900">
                <a:solidFill>
                  <a:schemeClr val="tx1"/>
                </a:solidFill>
                <a:latin typeface="Verdana" panose="020B0604030504040204" pitchFamily="34" charset="0"/>
                <a:ea typeface="Verdana" panose="020B0604030504040204" pitchFamily="34" charset="0"/>
                <a:cs typeface="Verdana" panose="020B0604030504040204" pitchFamily="34" charset="0"/>
              </a:rPr>
              <a:t> zoals ziekenhuisopnames of consulten bij huisartsen, instellingsartsen of de spoedeisende hulp door afname incidenten</a:t>
            </a:r>
          </a:p>
        </p:txBody>
      </p:sp>
      <p:sp>
        <p:nvSpPr>
          <p:cNvPr id="3" name="Title 2">
            <a:extLst>
              <a:ext uri="{FF2B5EF4-FFF2-40B4-BE49-F238E27FC236}">
                <a16:creationId xmlns:a16="http://schemas.microsoft.com/office/drawing/2014/main" id="{F2BC7C09-DB67-0B07-49C8-09D1680B116C}"/>
              </a:ext>
            </a:extLst>
          </p:cNvPr>
          <p:cNvSpPr>
            <a:spLocks noGrp="1"/>
          </p:cNvSpPr>
          <p:nvPr>
            <p:ph type="title"/>
          </p:nvPr>
        </p:nvSpPr>
        <p:spPr/>
        <p:txBody>
          <a:bodyPr/>
          <a:lstStyle/>
          <a:p>
            <a:r>
              <a:rPr lang="en-GB"/>
              <a:t>Medicatieoverdracht – Impact </a:t>
            </a:r>
            <a:br>
              <a:rPr lang="en-GB"/>
            </a:br>
            <a:endParaRPr lang="en-GB"/>
          </a:p>
        </p:txBody>
      </p:sp>
      <p:sp>
        <p:nvSpPr>
          <p:cNvPr id="12" name="Text Placeholder 11">
            <a:extLst>
              <a:ext uri="{FF2B5EF4-FFF2-40B4-BE49-F238E27FC236}">
                <a16:creationId xmlns:a16="http://schemas.microsoft.com/office/drawing/2014/main" id="{E8DBD6AD-8A94-CFD4-1070-21D8B134DBA0}"/>
              </a:ext>
            </a:extLst>
          </p:cNvPr>
          <p:cNvSpPr>
            <a:spLocks noGrp="1"/>
          </p:cNvSpPr>
          <p:nvPr>
            <p:ph type="body" sz="quarter" idx="10"/>
          </p:nvPr>
        </p:nvSpPr>
        <p:spPr>
          <a:xfrm>
            <a:off x="425302" y="969998"/>
            <a:ext cx="10856738" cy="504000"/>
          </a:xfrm>
        </p:spPr>
        <p:txBody>
          <a:bodyPr/>
          <a:lstStyle/>
          <a:p>
            <a:r>
              <a:rPr lang="nl-NL" sz="1200"/>
              <a:t>Regionale tijdswinst door verzenden en ontvangen medicatieoverdracht in 2026 meer dan 9 miljoen per jaar</a:t>
            </a:r>
            <a:endParaRPr lang="en-GB" sz="1200"/>
          </a:p>
        </p:txBody>
      </p:sp>
      <p:pic>
        <p:nvPicPr>
          <p:cNvPr id="56" name="Afbeelding 55">
            <a:extLst>
              <a:ext uri="{FF2B5EF4-FFF2-40B4-BE49-F238E27FC236}">
                <a16:creationId xmlns:a16="http://schemas.microsoft.com/office/drawing/2014/main" id="{38F19DB8-F617-3F65-6506-27EAF7309FE2}"/>
              </a:ext>
            </a:extLst>
          </p:cNvPr>
          <p:cNvPicPr>
            <a:picLocks noChangeAspect="1"/>
          </p:cNvPicPr>
          <p:nvPr/>
        </p:nvPicPr>
        <p:blipFill>
          <a:blip r:embed="rId6"/>
          <a:stretch>
            <a:fillRect/>
          </a:stretch>
        </p:blipFill>
        <p:spPr>
          <a:xfrm>
            <a:off x="586175" y="1592438"/>
            <a:ext cx="436562" cy="436562"/>
          </a:xfrm>
          <a:prstGeom prst="rect">
            <a:avLst/>
          </a:prstGeom>
        </p:spPr>
      </p:pic>
      <p:sp>
        <p:nvSpPr>
          <p:cNvPr id="41" name="Text Placeholder 2">
            <a:extLst>
              <a:ext uri="{FF2B5EF4-FFF2-40B4-BE49-F238E27FC236}">
                <a16:creationId xmlns:a16="http://schemas.microsoft.com/office/drawing/2014/main" id="{5F90E444-965F-2D7C-63CB-BAC41B0DE694}"/>
              </a:ext>
            </a:extLst>
          </p:cNvPr>
          <p:cNvSpPr txBox="1">
            <a:spLocks/>
          </p:cNvSpPr>
          <p:nvPr/>
        </p:nvSpPr>
        <p:spPr>
          <a:xfrm>
            <a:off x="439871" y="1012954"/>
            <a:ext cx="11023623" cy="461380"/>
          </a:xfrm>
          <a:prstGeom prst="rect">
            <a:avLst/>
          </a:prstGeom>
        </p:spPr>
        <p:txBody>
          <a:bodyPr lIns="91440" tIns="45720" rIns="91440" bIns="45720" anchor="t">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05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nl-NL" sz="11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t>
            </a:r>
            <a:endParaRPr kumimoji="0" lang="nl-NL" sz="1100" b="0" i="0" u="none" strike="noStrike" kern="1200" cap="none" spc="0" normalizeH="0" baseline="0" noProof="0">
              <a:ln>
                <a:noFill/>
              </a:ln>
              <a:solidFill>
                <a:prstClr val="black"/>
              </a:solidFill>
              <a:effectLst/>
              <a:uLnTx/>
              <a:uFillTx/>
              <a:latin typeface="Verdana"/>
              <a:ea typeface="Verdana"/>
              <a:cs typeface="+mn-cs"/>
            </a:endParaRPr>
          </a:p>
        </p:txBody>
      </p:sp>
      <p:sp>
        <p:nvSpPr>
          <p:cNvPr id="8" name="Rectangle 14">
            <a:extLst>
              <a:ext uri="{FF2B5EF4-FFF2-40B4-BE49-F238E27FC236}">
                <a16:creationId xmlns:a16="http://schemas.microsoft.com/office/drawing/2014/main" id="{0EF8CF0E-4809-99A6-B246-30C64C890F9F}"/>
              </a:ext>
            </a:extLst>
          </p:cNvPr>
          <p:cNvSpPr/>
          <p:nvPr/>
        </p:nvSpPr>
        <p:spPr>
          <a:xfrm>
            <a:off x="5134004" y="1397146"/>
            <a:ext cx="6811974" cy="5229291"/>
          </a:xfrm>
          <a:prstGeom prst="rect">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Kwantitatieve impact </a:t>
            </a:r>
            <a:r>
              <a:rPr kumimoji="0" lang="nl-NL" sz="1800" b="1" i="0" u="none" strike="noStrike" kern="1200" cap="none" spc="0" normalizeH="0" baseline="30000" noProof="0">
                <a:ln>
                  <a:noFill/>
                </a:ln>
                <a:solidFill>
                  <a:prstClr val="black"/>
                </a:solidFill>
                <a:effectLst/>
                <a:uLnTx/>
                <a:uFillTx/>
                <a:latin typeface="Verdana" panose="020B0604030504040204" pitchFamily="34" charset="0"/>
                <a:ea typeface="Verdana" panose="020B0604030504040204" pitchFamily="34" charset="0"/>
                <a:cs typeface="+mn-cs"/>
              </a:rPr>
              <a:t>2 </a:t>
            </a:r>
            <a:endPar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 name="Tekstvak 8">
            <a:extLst>
              <a:ext uri="{FF2B5EF4-FFF2-40B4-BE49-F238E27FC236}">
                <a16:creationId xmlns:a16="http://schemas.microsoft.com/office/drawing/2014/main" id="{70D6FC15-744F-5E19-6E9B-0D146FF13CCF}"/>
              </a:ext>
            </a:extLst>
          </p:cNvPr>
          <p:cNvSpPr txBox="1"/>
          <p:nvPr/>
        </p:nvSpPr>
        <p:spPr>
          <a:xfrm>
            <a:off x="5613765" y="5815393"/>
            <a:ext cx="6338116" cy="615553"/>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De kwalitatieve impact is beschreven aan de hand van de </a:t>
            </a:r>
            <a:r>
              <a:rPr kumimoji="0" lang="nl-NL" sz="800" b="0" i="0" u="none" strike="noStrike" kern="1200" cap="none" spc="0" normalizeH="0" baseline="0" noProof="0" err="1">
                <a:ln>
                  <a:noFill/>
                </a:ln>
                <a:solidFill>
                  <a:prstClr val="black"/>
                </a:solidFill>
                <a:effectLst/>
                <a:uLnTx/>
                <a:uFillTx/>
                <a:latin typeface="Aptos"/>
                <a:ea typeface="+mn-ea"/>
                <a:cs typeface="+mn-cs"/>
              </a:rPr>
              <a:t>quadruple</a:t>
            </a:r>
            <a:r>
              <a:rPr kumimoji="0" lang="nl-NL" sz="800" b="0" i="0" u="none" strike="noStrike" kern="1200" cap="none" spc="0" normalizeH="0" baseline="0" noProof="0">
                <a:ln>
                  <a:noFill/>
                </a:ln>
                <a:solidFill>
                  <a:prstClr val="black"/>
                </a:solidFill>
                <a:effectLst/>
                <a:uLnTx/>
                <a:uFillTx/>
                <a:latin typeface="Aptos"/>
                <a:ea typeface="+mn-ea"/>
                <a:cs typeface="+mn-cs"/>
              </a:rPr>
              <a:t> </a:t>
            </a:r>
            <a:r>
              <a:rPr kumimoji="0" lang="nl-NL" sz="800" b="0" i="0" u="none" strike="noStrike" kern="1200" cap="none" spc="0" normalizeH="0" baseline="0" noProof="0" err="1">
                <a:ln>
                  <a:noFill/>
                </a:ln>
                <a:solidFill>
                  <a:prstClr val="black"/>
                </a:solidFill>
                <a:effectLst/>
                <a:uLnTx/>
                <a:uFillTx/>
                <a:latin typeface="Aptos"/>
                <a:ea typeface="+mn-ea"/>
                <a:cs typeface="+mn-cs"/>
              </a:rPr>
              <a:t>aim</a:t>
            </a:r>
            <a:r>
              <a:rPr kumimoji="0" lang="nl-NL" sz="800" b="0" i="0" u="none" strike="noStrike" kern="1200" cap="none" spc="0" normalizeH="0" baseline="0" noProof="0">
                <a:ln>
                  <a:noFill/>
                </a:ln>
                <a:solidFill>
                  <a:prstClr val="black"/>
                </a:solidFill>
                <a:effectLst/>
                <a:uLnTx/>
                <a:uFillTx/>
                <a:latin typeface="Aptos"/>
                <a:ea typeface="+mn-ea"/>
                <a:cs typeface="+mn-cs"/>
              </a:rPr>
              <a:t> model, waarin de impact op (1) gezondheidsuitkomsten, (2) inwonertevredenheid, (3) zorgprofessionaltevredenheid en (4) zorgkosten is beschreven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Disclaimer: Voor de impactanalyse zijn alleen zorgorganisaties in de huidige scope meegenomen. Dit vertegenwoordigt de ondergrens van de potentiële scope, aangezien er mogelijkheden zijn om een breder zorglandschap te betrekken</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nl-NL" sz="800">
                <a:solidFill>
                  <a:prstClr val="black"/>
                </a:solidFill>
                <a:latin typeface="Aptos"/>
              </a:rPr>
              <a:t>x € 1.000</a:t>
            </a:r>
            <a:endParaRPr kumimoji="0" lang="nl-NL" sz="800" b="0" i="0" u="none" strike="noStrike" kern="1200" cap="none" spc="0" normalizeH="0" baseline="0" noProof="0">
              <a:ln>
                <a:noFill/>
              </a:ln>
              <a:solidFill>
                <a:prstClr val="black"/>
              </a:solidFill>
              <a:effectLst/>
              <a:uLnTx/>
              <a:uFillTx/>
              <a:latin typeface="Aptos"/>
              <a:ea typeface="+mn-ea"/>
              <a:cs typeface="+mn-cs"/>
            </a:endParaRPr>
          </a:p>
        </p:txBody>
      </p:sp>
      <p:graphicFrame>
        <p:nvGraphicFramePr>
          <p:cNvPr id="10" name="Tabel 9">
            <a:extLst>
              <a:ext uri="{FF2B5EF4-FFF2-40B4-BE49-F238E27FC236}">
                <a16:creationId xmlns:a16="http://schemas.microsoft.com/office/drawing/2014/main" id="{C436C377-54D6-E4FA-90F8-D8BFCDAC856C}"/>
              </a:ext>
            </a:extLst>
          </p:cNvPr>
          <p:cNvGraphicFramePr>
            <a:graphicFrameLocks noGrp="1"/>
          </p:cNvGraphicFramePr>
          <p:nvPr>
            <p:extLst>
              <p:ext uri="{D42A27DB-BD31-4B8C-83A1-F6EECF244321}">
                <p14:modId xmlns:p14="http://schemas.microsoft.com/office/powerpoint/2010/main" val="2591400839"/>
              </p:ext>
            </p:extLst>
          </p:nvPr>
        </p:nvGraphicFramePr>
        <p:xfrm>
          <a:off x="5191585" y="1793615"/>
          <a:ext cx="6718300" cy="3733816"/>
        </p:xfrm>
        <a:graphic>
          <a:graphicData uri="http://schemas.openxmlformats.org/drawingml/2006/table">
            <a:tbl>
              <a:tblPr/>
              <a:tblGrid>
                <a:gridCol w="609600">
                  <a:extLst>
                    <a:ext uri="{9D8B030D-6E8A-4147-A177-3AD203B41FA5}">
                      <a16:colId xmlns:a16="http://schemas.microsoft.com/office/drawing/2014/main" val="3293314837"/>
                    </a:ext>
                  </a:extLst>
                </a:gridCol>
                <a:gridCol w="609600">
                  <a:extLst>
                    <a:ext uri="{9D8B030D-6E8A-4147-A177-3AD203B41FA5}">
                      <a16:colId xmlns:a16="http://schemas.microsoft.com/office/drawing/2014/main" val="770108754"/>
                    </a:ext>
                  </a:extLst>
                </a:gridCol>
                <a:gridCol w="850900">
                  <a:extLst>
                    <a:ext uri="{9D8B030D-6E8A-4147-A177-3AD203B41FA5}">
                      <a16:colId xmlns:a16="http://schemas.microsoft.com/office/drawing/2014/main" val="3836903680"/>
                    </a:ext>
                  </a:extLst>
                </a:gridCol>
                <a:gridCol w="1079500">
                  <a:extLst>
                    <a:ext uri="{9D8B030D-6E8A-4147-A177-3AD203B41FA5}">
                      <a16:colId xmlns:a16="http://schemas.microsoft.com/office/drawing/2014/main" val="3404048997"/>
                    </a:ext>
                  </a:extLst>
                </a:gridCol>
                <a:gridCol w="762000">
                  <a:extLst>
                    <a:ext uri="{9D8B030D-6E8A-4147-A177-3AD203B41FA5}">
                      <a16:colId xmlns:a16="http://schemas.microsoft.com/office/drawing/2014/main" val="1674234088"/>
                    </a:ext>
                  </a:extLst>
                </a:gridCol>
                <a:gridCol w="1003300">
                  <a:extLst>
                    <a:ext uri="{9D8B030D-6E8A-4147-A177-3AD203B41FA5}">
                      <a16:colId xmlns:a16="http://schemas.microsoft.com/office/drawing/2014/main" val="2964502661"/>
                    </a:ext>
                  </a:extLst>
                </a:gridCol>
                <a:gridCol w="762000">
                  <a:extLst>
                    <a:ext uri="{9D8B030D-6E8A-4147-A177-3AD203B41FA5}">
                      <a16:colId xmlns:a16="http://schemas.microsoft.com/office/drawing/2014/main" val="3447126489"/>
                    </a:ext>
                  </a:extLst>
                </a:gridCol>
                <a:gridCol w="1041400">
                  <a:extLst>
                    <a:ext uri="{9D8B030D-6E8A-4147-A177-3AD203B41FA5}">
                      <a16:colId xmlns:a16="http://schemas.microsoft.com/office/drawing/2014/main" val="3214275468"/>
                    </a:ext>
                  </a:extLst>
                </a:gridCol>
              </a:tblGrid>
              <a:tr h="243898">
                <a:tc gridSpan="2">
                  <a:txBody>
                    <a:bodyPr/>
                    <a:lstStyle/>
                    <a:p>
                      <a:pPr algn="l" rtl="0" fontAlgn="ctr"/>
                      <a:r>
                        <a:rPr lang="nl-NL" sz="1000" b="1" i="0" u="none" strike="noStrike">
                          <a:solidFill>
                            <a:srgbClr val="000000"/>
                          </a:solidFill>
                          <a:effectLst/>
                          <a:latin typeface="Verdana" panose="020B0604030504040204" pitchFamily="34" charset="0"/>
                        </a:rPr>
                        <a:t>Doelgroep</a:t>
                      </a:r>
                    </a:p>
                  </a:txBody>
                  <a:tcPr marL="7620" marR="7620" marT="7620" marB="0" anchor="ctr">
                    <a:lnL>
                      <a:noFill/>
                    </a:lnL>
                    <a:lnR>
                      <a:noFill/>
                    </a:lnR>
                    <a:lnT>
                      <a:noFill/>
                    </a:lnT>
                    <a:lnB>
                      <a:noFill/>
                    </a:lnB>
                    <a:solidFill>
                      <a:srgbClr val="E2F0D9"/>
                    </a:solidFill>
                  </a:tcPr>
                </a:tc>
                <a:tc hMerge="1">
                  <a:txBody>
                    <a:bodyPr/>
                    <a:lstStyle/>
                    <a:p>
                      <a:endParaRPr lang="en-NL"/>
                    </a:p>
                  </a:txBody>
                  <a:tcPr/>
                </a:tc>
                <a:tc gridSpan="2">
                  <a:txBody>
                    <a:bodyPr/>
                    <a:lstStyle/>
                    <a:p>
                      <a:pPr algn="ctr" rtl="0" fontAlgn="ctr"/>
                      <a:r>
                        <a:rPr lang="nl-NL" sz="1100" b="0" i="0" u="none" strike="noStrike" baseline="30000">
                          <a:solidFill>
                            <a:srgbClr val="000000"/>
                          </a:solidFill>
                          <a:effectLst/>
                          <a:latin typeface="Verdana" panose="020B0604030504040204" pitchFamily="34" charset="0"/>
                        </a:rPr>
                        <a:t>Aantal ziekenhuisopnames door medicatie-incidenten</a:t>
                      </a:r>
                      <a:br>
                        <a:rPr lang="nl-NL" sz="1100" b="0" i="0" u="none" strike="noStrike" baseline="30000">
                          <a:solidFill>
                            <a:srgbClr val="000000"/>
                          </a:solidFill>
                          <a:effectLst/>
                          <a:latin typeface="Verdana" panose="020B0604030504040204" pitchFamily="34" charset="0"/>
                        </a:rPr>
                      </a:br>
                      <a:r>
                        <a:rPr lang="nl-NL" sz="1100" b="0" i="1" u="none" strike="noStrike" baseline="30000">
                          <a:solidFill>
                            <a:srgbClr val="000000"/>
                          </a:solidFill>
                          <a:effectLst/>
                          <a:latin typeface="Verdana" panose="020B0604030504040204" pitchFamily="34" charset="0"/>
                        </a:rPr>
                        <a:t>ca. 4.900 per jaar</a:t>
                      </a:r>
                      <a:endParaRPr lang="nl-NL" sz="1100" b="0" i="1" u="none" strike="noStrike">
                        <a:solidFill>
                          <a:srgbClr val="000000"/>
                        </a:solidFill>
                        <a:effectLst/>
                        <a:latin typeface="Verdana" panose="020B0604030504040204" pitchFamily="34" charset="0"/>
                      </a:endParaRPr>
                    </a:p>
                  </a:txBody>
                  <a:tcPr marL="7620" marR="7620" marT="54000" marB="0">
                    <a:lnL>
                      <a:noFill/>
                    </a:lnL>
                    <a:lnR>
                      <a:noFill/>
                    </a:lnR>
                    <a:lnT>
                      <a:noFill/>
                    </a:lnT>
                    <a:lnB>
                      <a:noFill/>
                    </a:lnB>
                    <a:solidFill>
                      <a:srgbClr val="FFFFFF"/>
                    </a:solidFill>
                  </a:tcPr>
                </a:tc>
                <a:tc hMerge="1">
                  <a:txBody>
                    <a:bodyPr/>
                    <a:lstStyle/>
                    <a:p>
                      <a:endParaRPr lang="en-NL"/>
                    </a:p>
                  </a:txBody>
                  <a:tcPr/>
                </a:tc>
                <a:tc gridSpan="2">
                  <a:txBody>
                    <a:bodyPr/>
                    <a:lstStyle/>
                    <a:p>
                      <a:pPr algn="ctr" rtl="0" fontAlgn="ctr"/>
                      <a:r>
                        <a:rPr lang="nl-NL" sz="1100" b="0" i="0" u="none" strike="noStrike" baseline="30000">
                          <a:solidFill>
                            <a:srgbClr val="000000"/>
                          </a:solidFill>
                          <a:effectLst/>
                          <a:latin typeface="Verdana" panose="020B0604030504040204" pitchFamily="34" charset="0"/>
                        </a:rPr>
                        <a:t>Aantal medicatie-incidenten;</a:t>
                      </a:r>
                      <a:br>
                        <a:rPr lang="nl-NL" sz="1100" b="0" i="0" u="none" strike="noStrike" baseline="30000">
                          <a:solidFill>
                            <a:srgbClr val="000000"/>
                          </a:solidFill>
                          <a:effectLst/>
                          <a:latin typeface="Verdana" panose="020B0604030504040204" pitchFamily="34" charset="0"/>
                        </a:rPr>
                      </a:br>
                      <a:r>
                        <a:rPr lang="nl-NL" sz="1100" b="0" i="1" u="none" strike="noStrike" baseline="30000">
                          <a:solidFill>
                            <a:srgbClr val="000000"/>
                          </a:solidFill>
                          <a:effectLst/>
                          <a:latin typeface="Verdana" panose="020B0604030504040204" pitchFamily="34" charset="0"/>
                        </a:rPr>
                        <a:t>ca. 7.400 per jaar</a:t>
                      </a:r>
                      <a:endParaRPr lang="nl-NL" sz="1100" b="0" i="1" u="none" strike="noStrike">
                        <a:solidFill>
                          <a:srgbClr val="000000"/>
                        </a:solidFill>
                        <a:effectLst/>
                        <a:latin typeface="Verdana" panose="020B0604030504040204" pitchFamily="34" charset="0"/>
                      </a:endParaRPr>
                    </a:p>
                  </a:txBody>
                  <a:tcPr marL="7620" marR="7620" marT="54000" marB="0">
                    <a:lnL>
                      <a:noFill/>
                    </a:lnL>
                    <a:lnR>
                      <a:noFill/>
                    </a:lnR>
                    <a:lnT>
                      <a:noFill/>
                    </a:lnT>
                    <a:lnB>
                      <a:noFill/>
                    </a:lnB>
                    <a:solidFill>
                      <a:srgbClr val="FFFFFF"/>
                    </a:solidFill>
                  </a:tcPr>
                </a:tc>
                <a:tc hMerge="1">
                  <a:txBody>
                    <a:bodyPr/>
                    <a:lstStyle/>
                    <a:p>
                      <a:endParaRPr lang="en-NL"/>
                    </a:p>
                  </a:txBody>
                  <a:tcPr/>
                </a:tc>
                <a:tc gridSpan="2">
                  <a:txBody>
                    <a:bodyPr/>
                    <a:lstStyle/>
                    <a:p>
                      <a:pPr algn="ctr" rtl="0" fontAlgn="ctr"/>
                      <a:r>
                        <a:rPr lang="nl-NL" sz="1100" b="0" i="0" u="none" strike="noStrike" baseline="30000">
                          <a:solidFill>
                            <a:srgbClr val="000000"/>
                          </a:solidFill>
                          <a:effectLst/>
                          <a:latin typeface="Verdana" panose="020B0604030504040204" pitchFamily="34" charset="0"/>
                        </a:rPr>
                        <a:t>Aantal contactmomenten m.b.t. medicatie-gebruik</a:t>
                      </a:r>
                      <a:br>
                        <a:rPr lang="nl-NL" sz="1100" b="0" i="0" u="none" strike="noStrike" baseline="30000">
                          <a:solidFill>
                            <a:srgbClr val="000000"/>
                          </a:solidFill>
                          <a:effectLst/>
                          <a:latin typeface="Verdana" panose="020B0604030504040204" pitchFamily="34" charset="0"/>
                        </a:rPr>
                      </a:br>
                      <a:r>
                        <a:rPr lang="nl-NL" sz="1100" b="0" i="1" u="none" strike="noStrike" baseline="30000">
                          <a:solidFill>
                            <a:srgbClr val="000000"/>
                          </a:solidFill>
                          <a:effectLst/>
                          <a:latin typeface="Verdana" panose="020B0604030504040204" pitchFamily="34" charset="0"/>
                        </a:rPr>
                        <a:t>ca. 20 miljoen per jaar</a:t>
                      </a:r>
                      <a:endParaRPr lang="nl-NL" sz="1100" b="0" i="1" u="none" strike="noStrike">
                        <a:solidFill>
                          <a:srgbClr val="000000"/>
                        </a:solidFill>
                        <a:effectLst/>
                        <a:latin typeface="Verdana" panose="020B0604030504040204" pitchFamily="34" charset="0"/>
                      </a:endParaRPr>
                    </a:p>
                  </a:txBody>
                  <a:tcPr marL="7620" marR="7620" marT="54000" marB="0">
                    <a:lnL>
                      <a:noFill/>
                    </a:lnL>
                    <a:lnR>
                      <a:noFill/>
                    </a:lnR>
                    <a:lnT>
                      <a:noFill/>
                    </a:lnT>
                    <a:lnB>
                      <a:noFill/>
                    </a:lnB>
                    <a:solidFill>
                      <a:srgbClr val="FFFFFF"/>
                    </a:solidFill>
                  </a:tcPr>
                </a:tc>
                <a:tc hMerge="1">
                  <a:txBody>
                    <a:bodyPr/>
                    <a:lstStyle/>
                    <a:p>
                      <a:endParaRPr lang="en-NL"/>
                    </a:p>
                  </a:txBody>
                  <a:tcPr/>
                </a:tc>
                <a:extLst>
                  <a:ext uri="{0D108BD9-81ED-4DB2-BD59-A6C34878D82A}">
                    <a16:rowId xmlns:a16="http://schemas.microsoft.com/office/drawing/2014/main" val="839441250"/>
                  </a:ext>
                </a:extLst>
              </a:tr>
              <a:tr h="164796">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extLst>
                  <a:ext uri="{0D108BD9-81ED-4DB2-BD59-A6C34878D82A}">
                    <a16:rowId xmlns:a16="http://schemas.microsoft.com/office/drawing/2014/main" val="2636371558"/>
                  </a:ext>
                </a:extLst>
              </a:tr>
              <a:tr h="673004">
                <a:tc gridSpan="2">
                  <a:txBody>
                    <a:bodyPr/>
                    <a:lstStyle/>
                    <a:p>
                      <a:pPr algn="l" rtl="0" fontAlgn="ctr"/>
                      <a:r>
                        <a:rPr lang="nl-NL" sz="1000" b="1" i="0" u="none" strike="noStrike">
                          <a:solidFill>
                            <a:srgbClr val="000000"/>
                          </a:solidFill>
                          <a:effectLst/>
                          <a:latin typeface="Verdana" panose="020B0604030504040204" pitchFamily="34" charset="0"/>
                        </a:rPr>
                        <a:t>Effect </a:t>
                      </a:r>
                      <a:r>
                        <a:rPr lang="nl-NL" sz="1000" b="0" i="0" u="none" strike="noStrike">
                          <a:solidFill>
                            <a:srgbClr val="000000"/>
                          </a:solidFill>
                          <a:effectLst/>
                          <a:latin typeface="Verdana" panose="020B0604030504040204" pitchFamily="34" charset="0"/>
                        </a:rPr>
                        <a:t>van </a:t>
                      </a:r>
                      <a:br>
                        <a:rPr lang="nl-NL" sz="1000" b="0" i="0" u="none" strike="noStrike">
                          <a:solidFill>
                            <a:srgbClr val="000000"/>
                          </a:solidFill>
                          <a:effectLst/>
                          <a:latin typeface="Verdana" panose="020B0604030504040204" pitchFamily="34" charset="0"/>
                        </a:rPr>
                      </a:br>
                      <a:r>
                        <a:rPr lang="nl-NL" sz="1000" b="0" i="0" u="none" strike="noStrike">
                          <a:solidFill>
                            <a:srgbClr val="000000"/>
                          </a:solidFill>
                          <a:effectLst/>
                          <a:latin typeface="Verdana" panose="020B0604030504040204" pitchFamily="34" charset="0"/>
                        </a:rPr>
                        <a:t>de usecase medicatie- overdracht</a:t>
                      </a:r>
                      <a:endParaRPr lang="nl-NL" sz="1000" b="1" i="0" u="none" strike="noStrike">
                        <a:solidFill>
                          <a:srgbClr val="000000"/>
                        </a:solidFill>
                        <a:effectLst/>
                        <a:latin typeface="Verdana" panose="020B0604030504040204" pitchFamily="34" charset="0"/>
                      </a:endParaRP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13% minder </a:t>
                      </a:r>
                      <a:r>
                        <a:rPr lang="nl-NL" sz="800" b="0" i="0" u="none" strike="noStrike">
                          <a:solidFill>
                            <a:srgbClr val="000000"/>
                          </a:solidFill>
                          <a:effectLst/>
                          <a:latin typeface="Verdana" panose="020B0604030504040204" pitchFamily="34" charset="0"/>
                        </a:rPr>
                        <a:t>medicatie-incidenten die leiden tot ziekenhuisopnames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50% minder </a:t>
                      </a:r>
                      <a:r>
                        <a:rPr lang="nl-NL" sz="800" b="0" i="0" u="none" strike="noStrike">
                          <a:solidFill>
                            <a:srgbClr val="000000"/>
                          </a:solidFill>
                          <a:effectLst/>
                          <a:latin typeface="Verdana" panose="020B0604030504040204" pitchFamily="34" charset="0"/>
                        </a:rPr>
                        <a:t>potentieel vermijdbare indicatie-incidenten – die niet leiden tot ziekenhuisopname –maar wel tot hogere zorgkosten leiden</a:t>
                      </a:r>
                      <a:endParaRPr lang="nl-NL" sz="800" b="0" i="0" u="none" strike="noStrike">
                        <a:solidFill>
                          <a:srgbClr val="000000"/>
                        </a:solidFill>
                        <a:effectLst/>
                        <a:highlight>
                          <a:srgbClr val="FFFF00"/>
                        </a:highligh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Ca. 1.12 minuten minder </a:t>
                      </a:r>
                      <a:r>
                        <a:rPr lang="nl-NL" sz="800" b="0" i="0" u="none" strike="noStrike">
                          <a:solidFill>
                            <a:srgbClr val="000000"/>
                          </a:solidFill>
                          <a:effectLst/>
                          <a:latin typeface="Verdana" panose="020B0604030504040204" pitchFamily="34" charset="0"/>
                        </a:rPr>
                        <a:t>tijd nodig per contactmoment m.b.t. medicatiegebruik</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extLst>
                  <a:ext uri="{0D108BD9-81ED-4DB2-BD59-A6C34878D82A}">
                    <a16:rowId xmlns:a16="http://schemas.microsoft.com/office/drawing/2014/main" val="1576964807"/>
                  </a:ext>
                </a:extLst>
              </a:tr>
              <a:tr h="348099">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rgbClr val="7EB572"/>
                      </a:solidFill>
                      <a:prstDash val="solid"/>
                      <a:round/>
                      <a:headEnd type="none" w="med" len="med"/>
                      <a:tailEnd type="none" w="med" len="med"/>
                    </a:lnR>
                    <a:lnT>
                      <a:noFill/>
                    </a:lnT>
                    <a:lnB>
                      <a:noFill/>
                    </a:lnB>
                    <a:solidFill>
                      <a:srgbClr val="7EB572"/>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7EB572"/>
                      </a:solidFill>
                      <a:prstDash val="solid"/>
                      <a:round/>
                      <a:headEnd type="none" w="med" len="med"/>
                      <a:tailEnd type="none" w="med" len="med"/>
                    </a:lnL>
                    <a:lnR w="12700" cap="flat" cmpd="sng" algn="ctr">
                      <a:solidFill>
                        <a:srgbClr val="7EB572"/>
                      </a:solidFill>
                      <a:prstDash val="solid"/>
                      <a:round/>
                      <a:headEnd type="none" w="med" len="med"/>
                      <a:tailEnd type="none" w="med" len="med"/>
                    </a:lnR>
                    <a:lnT>
                      <a:noFill/>
                    </a:lnT>
                    <a:lnB>
                      <a:noFill/>
                    </a:lnB>
                    <a:solidFill>
                      <a:srgbClr val="7EB572"/>
                    </a:solidFill>
                  </a:tcPr>
                </a:tc>
                <a:tc gridSpan="6">
                  <a:txBody>
                    <a:bodyPr/>
                    <a:lstStyle/>
                    <a:p>
                      <a:pPr algn="ctr" rtl="0" fontAlgn="ctr"/>
                      <a:r>
                        <a:rPr lang="nl-NL" sz="1000" b="0" i="1" u="none" strike="noStrike">
                          <a:solidFill>
                            <a:srgbClr val="000000"/>
                          </a:solidFill>
                          <a:effectLst/>
                          <a:latin typeface="Verdana" panose="020B0604030504040204" pitchFamily="34" charset="0"/>
                        </a:rPr>
                        <a:t>Onderstaande inclusiepercentages gelden voor alle doelgroepen en effecten (NB: volgorde van implementatie staat nog niet definitief vast)</a:t>
                      </a:r>
                    </a:p>
                  </a:txBody>
                  <a:tcPr marL="7620" marR="7620" marT="7620" marB="0" anchor="ctr">
                    <a:lnL w="12700" cap="flat" cmpd="sng" algn="ctr">
                      <a:solidFill>
                        <a:srgbClr val="7EB572"/>
                      </a:solidFill>
                      <a:prstDash val="solid"/>
                      <a:round/>
                      <a:headEnd type="none" w="med" len="med"/>
                      <a:tailEnd type="none" w="med" len="med"/>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377944239"/>
                  </a:ext>
                </a:extLst>
              </a:tr>
              <a:tr h="158204">
                <a:tc gridSpan="2">
                  <a:txBody>
                    <a:bodyPr/>
                    <a:lstStyle/>
                    <a:p>
                      <a:pPr algn="l" rtl="0" fontAlgn="ctr"/>
                      <a:r>
                        <a:rPr lang="nl-NL" sz="1000" b="1" i="0" u="none" strike="noStrike">
                          <a:solidFill>
                            <a:srgbClr val="000000"/>
                          </a:solidFill>
                          <a:effectLst/>
                          <a:latin typeface="Verdana" panose="020B0604030504040204" pitchFamily="34" charset="0"/>
                        </a:rPr>
                        <a:t>Inclusie</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extLst>
                  <a:ext uri="{0D108BD9-81ED-4DB2-BD59-A6C34878D82A}">
                    <a16:rowId xmlns:a16="http://schemas.microsoft.com/office/drawing/2014/main" val="3361457935"/>
                  </a:ext>
                </a:extLst>
              </a:tr>
              <a:tr h="158204">
                <a:tc gridSpan="2">
                  <a:txBody>
                    <a:bodyPr/>
                    <a:lstStyle/>
                    <a:p>
                      <a:pPr algn="r" rtl="0" fontAlgn="ctr"/>
                      <a:r>
                        <a:rPr lang="en-NL" sz="1000" b="0" i="1" u="none" strike="noStrike">
                          <a:solidFill>
                            <a:srgbClr val="000000"/>
                          </a:solidFill>
                          <a:effectLst/>
                          <a:latin typeface="Verdana" panose="020B0604030504040204" pitchFamily="34" charset="0"/>
                        </a:rPr>
                        <a:t>2024</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extLst>
                  <a:ext uri="{0D108BD9-81ED-4DB2-BD59-A6C34878D82A}">
                    <a16:rowId xmlns:a16="http://schemas.microsoft.com/office/drawing/2014/main" val="2403409201"/>
                  </a:ext>
                </a:extLst>
              </a:tr>
              <a:tr h="158204">
                <a:tc gridSpan="2">
                  <a:txBody>
                    <a:bodyPr/>
                    <a:lstStyle/>
                    <a:p>
                      <a:pPr algn="r" rtl="0" fontAlgn="ctr"/>
                      <a:r>
                        <a:rPr lang="en-NL" sz="1000" b="0" i="1" u="none" strike="noStrike">
                          <a:solidFill>
                            <a:srgbClr val="000000"/>
                          </a:solidFill>
                          <a:effectLst/>
                          <a:latin typeface="Verdana" panose="020B0604030504040204" pitchFamily="34" charset="0"/>
                        </a:rPr>
                        <a:t>2025</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10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10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10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extLst>
                  <a:ext uri="{0D108BD9-81ED-4DB2-BD59-A6C34878D82A}">
                    <a16:rowId xmlns:a16="http://schemas.microsoft.com/office/drawing/2014/main" val="4109188749"/>
                  </a:ext>
                </a:extLst>
              </a:tr>
              <a:tr h="164796">
                <a:tc gridSpan="2">
                  <a:txBody>
                    <a:bodyPr/>
                    <a:lstStyle/>
                    <a:p>
                      <a:pPr algn="r" rtl="0" fontAlgn="ctr"/>
                      <a:r>
                        <a:rPr lang="en-NL" sz="1000" b="0" i="1" u="none" strike="noStrike">
                          <a:solidFill>
                            <a:srgbClr val="000000"/>
                          </a:solidFill>
                          <a:effectLst/>
                          <a:latin typeface="Verdana" panose="020B0604030504040204" pitchFamily="34" charset="0"/>
                        </a:rPr>
                        <a:t>2026</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30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30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30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extLst>
                  <a:ext uri="{0D108BD9-81ED-4DB2-BD59-A6C34878D82A}">
                    <a16:rowId xmlns:a16="http://schemas.microsoft.com/office/drawing/2014/main" val="4155878543"/>
                  </a:ext>
                </a:extLst>
              </a:tr>
              <a:tr h="164796">
                <a:tc gridSpan="2">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rgbClr val="F2F2F2"/>
                      </a:solidFill>
                      <a:prstDash val="solid"/>
                      <a:round/>
                      <a:headEnd type="none" w="med" len="med"/>
                      <a:tailEnd type="none" w="med" len="med"/>
                    </a:lnR>
                    <a:lnT>
                      <a:noFill/>
                    </a:lnT>
                    <a:lnB>
                      <a:noFill/>
                    </a:lnB>
                    <a:solidFill>
                      <a:srgbClr val="7EB572"/>
                    </a:solidFill>
                  </a:tcPr>
                </a:tc>
                <a:tc hMerge="1">
                  <a:txBody>
                    <a:bodyPr/>
                    <a:lstStyle/>
                    <a:p>
                      <a:endParaRPr lang="en-NL"/>
                    </a:p>
                  </a:txBody>
                  <a:tcPr/>
                </a:tc>
                <a:tc gridSpan="6">
                  <a:txBody>
                    <a:bodyPr/>
                    <a:lstStyle/>
                    <a:p>
                      <a:pPr algn="ctr"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516959528"/>
                  </a:ext>
                </a:extLst>
              </a:tr>
              <a:tr h="276857">
                <a:tc gridSpan="2">
                  <a:txBody>
                    <a:bodyPr/>
                    <a:lstStyle/>
                    <a:p>
                      <a:pPr fontAlgn="base">
                        <a:lnSpc>
                          <a:spcPts val="1050"/>
                        </a:lnSpc>
                      </a:pPr>
                      <a:r>
                        <a:rPr lang="nl-NL" sz="900" b="1" i="1">
                          <a:effectLst/>
                          <a:latin typeface="Verdana"/>
                        </a:rPr>
                        <a:t>Zorgkosten </a:t>
                      </a:r>
                      <a:r>
                        <a:rPr lang="nl-NL" sz="900" i="1" baseline="30000">
                          <a:effectLst/>
                          <a:latin typeface="Verdana"/>
                        </a:rPr>
                        <a:t>3</a:t>
                      </a:r>
                      <a:r>
                        <a:rPr lang="nl-NL" sz="900" i="1">
                          <a:effectLst/>
                          <a:latin typeface="Verdana"/>
                        </a:rPr>
                        <a:t> (Z)  of FTE</a:t>
                      </a:r>
                      <a:endParaRPr lang="nl-NL">
                        <a:effectLst/>
                        <a:latin typeface="Verdana"/>
                      </a:endParaRPr>
                    </a:p>
                  </a:txBody>
                  <a:tcPr marL="7620" marR="7620" marT="762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nl-NL"/>
                    </a:p>
                  </a:txBody>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585303323"/>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2024</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GB" sz="1000" b="0" i="0" u="none" strike="noStrike">
                          <a:solidFill>
                            <a:srgbClr val="000000"/>
                          </a:solidFill>
                          <a:effectLst/>
                          <a:latin typeface="Verdana" panose="020B0604030504040204" pitchFamily="34" charset="0"/>
                        </a:rPr>
                        <a:t>0</a:t>
                      </a:r>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4201755329"/>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2025</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479</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67</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2.356</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390901235"/>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2026</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1.491</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209</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GB" sz="1000" b="0" i="0" u="none" strike="noStrike">
                          <a:solidFill>
                            <a:srgbClr val="000000"/>
                          </a:solidFill>
                          <a:effectLst/>
                          <a:latin typeface="Verdana" panose="020B0604030504040204" pitchFamily="34" charset="0"/>
                        </a:rPr>
                        <a:t>7.330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GB"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593740747"/>
                  </a:ext>
                </a:extLst>
              </a:tr>
              <a:tr h="164796">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extLst>
                  <a:ext uri="{0D108BD9-81ED-4DB2-BD59-A6C34878D82A}">
                    <a16:rowId xmlns:a16="http://schemas.microsoft.com/office/drawing/2014/main" val="228499642"/>
                  </a:ext>
                </a:extLst>
              </a:tr>
              <a:tr h="270266">
                <a:tc gridSpan="2">
                  <a:txBody>
                    <a:bodyPr/>
                    <a:lstStyle/>
                    <a:p>
                      <a:pPr algn="l" rtl="0" fontAlgn="ctr"/>
                      <a:r>
                        <a:rPr lang="fr-FR" sz="1000" b="1" i="0" u="none" strike="noStrike">
                          <a:solidFill>
                            <a:srgbClr val="000000"/>
                          </a:solidFill>
                          <a:effectLst/>
                          <a:latin typeface="Verdana" panose="020B0604030504040204" pitchFamily="34" charset="0"/>
                        </a:rPr>
                        <a:t>Cum. impact t/m 2026</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ctr"/>
                      <a:r>
                        <a:rPr lang="en-GB" sz="1000" b="1" i="0" u="none" strike="noStrike">
                          <a:solidFill>
                            <a:srgbClr val="000000"/>
                          </a:solidFill>
                          <a:effectLst/>
                          <a:latin typeface="Verdana" panose="020B0604030504040204" pitchFamily="34" charset="0"/>
                        </a:rPr>
                        <a:t>1.970</a:t>
                      </a:r>
                      <a:r>
                        <a:rPr lang="en-NL" sz="1000" b="1" i="0" u="none" strike="noStrike">
                          <a:solidFill>
                            <a:srgbClr val="000000"/>
                          </a:solidFill>
                          <a:effectLst/>
                          <a:latin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US" sz="1000" b="1" i="0" u="none" strike="noStrike">
                          <a:solidFill>
                            <a:srgbClr val="000000"/>
                          </a:solidFill>
                          <a:effectLst/>
                          <a:latin typeface="Verdana" panose="020B0604030504040204" pitchFamily="34" charset="0"/>
                        </a:rPr>
                        <a:t>x</a:t>
                      </a:r>
                      <a:r>
                        <a:rPr lang="en-NL" sz="1000" b="1" i="0" u="none" strike="noStrike">
                          <a:solidFill>
                            <a:srgbClr val="000000"/>
                          </a:solidFill>
                          <a:effectLst/>
                          <a:latin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NL" sz="1000" b="1" i="0" u="none" strike="noStrike">
                          <a:solidFill>
                            <a:srgbClr val="000000"/>
                          </a:solidFill>
                          <a:effectLst/>
                          <a:latin typeface="Verdana" panose="020B0604030504040204" pitchFamily="34" charset="0"/>
                        </a:rPr>
                        <a:t> </a:t>
                      </a:r>
                      <a:r>
                        <a:rPr lang="en-GB" sz="1000" b="1" i="0" u="none" strike="noStrike">
                          <a:solidFill>
                            <a:srgbClr val="000000"/>
                          </a:solidFill>
                          <a:effectLst/>
                          <a:latin typeface="Verdana" panose="020B0604030504040204" pitchFamily="34" charset="0"/>
                        </a:rPr>
                        <a:t>277</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US" sz="1000" b="1" i="0" u="none" strike="noStrike">
                          <a:solidFill>
                            <a:srgbClr val="000000"/>
                          </a:solidFill>
                          <a:effectLst/>
                          <a:latin typeface="Verdana" panose="020B0604030504040204" pitchFamily="34" charset="0"/>
                        </a:rPr>
                        <a:t>x</a:t>
                      </a:r>
                      <a:r>
                        <a:rPr lang="en-NL" sz="1000" b="1" i="0" u="none" strike="noStrike">
                          <a:solidFill>
                            <a:srgbClr val="000000"/>
                          </a:solidFill>
                          <a:effectLst/>
                          <a:latin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GB" sz="1000" b="1" i="0" u="none" strike="noStrike">
                          <a:solidFill>
                            <a:srgbClr val="000000"/>
                          </a:solidFill>
                          <a:effectLst/>
                          <a:latin typeface="Verdana" panose="020B0604030504040204" pitchFamily="34" charset="0"/>
                        </a:rPr>
                        <a:t>9.686</a:t>
                      </a:r>
                      <a:r>
                        <a:rPr lang="en-NL" sz="1000" b="1" i="0" u="none" strike="noStrike">
                          <a:solidFill>
                            <a:srgbClr val="000000"/>
                          </a:solidFill>
                          <a:effectLst/>
                          <a:latin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NL" sz="1000" b="1" i="0" u="none" strike="noStrike">
                          <a:solidFill>
                            <a:srgbClr val="000000"/>
                          </a:solidFill>
                          <a:effectLst/>
                          <a:latin typeface="Verdana" panose="020B0604030504040204" pitchFamily="34" charset="0"/>
                        </a:rPr>
                        <a:t> </a:t>
                      </a:r>
                      <a:r>
                        <a:rPr lang="en-US" sz="1000" b="1" i="0" u="none" strike="noStrike">
                          <a:solidFill>
                            <a:srgbClr val="000000"/>
                          </a:solidFill>
                          <a:effectLst/>
                          <a:latin typeface="Verdana" panose="020B0604030504040204" pitchFamily="34" charset="0"/>
                        </a:rPr>
                        <a:t>x</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724753538"/>
                  </a:ext>
                </a:extLst>
              </a:tr>
            </a:tbl>
          </a:graphicData>
        </a:graphic>
      </p:graphicFrame>
      <p:sp>
        <p:nvSpPr>
          <p:cNvPr id="5" name="Rechthoek: afgeronde hoeken 4">
            <a:extLst>
              <a:ext uri="{FF2B5EF4-FFF2-40B4-BE49-F238E27FC236}">
                <a16:creationId xmlns:a16="http://schemas.microsoft.com/office/drawing/2014/main" id="{2B2B2695-5496-6277-EC39-E1CDDEEF9B5B}"/>
              </a:ext>
            </a:extLst>
          </p:cNvPr>
          <p:cNvSpPr/>
          <p:nvPr/>
        </p:nvSpPr>
        <p:spPr>
          <a:xfrm>
            <a:off x="-1" y="-311498"/>
            <a:ext cx="122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Top Corners Rounded 38">
            <a:hlinkClick r:id="rId7" action="ppaction://hlinksldjump"/>
            <a:extLst>
              <a:ext uri="{FF2B5EF4-FFF2-40B4-BE49-F238E27FC236}">
                <a16:creationId xmlns:a16="http://schemas.microsoft.com/office/drawing/2014/main" id="{ECA6F32C-045E-6622-F318-A4F75257B43A}"/>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7" name="Graphic 36" descr="Introductiepagina silhouet">
            <a:hlinkClick r:id="rId8" action="ppaction://hlinksldjump"/>
            <a:extLst>
              <a:ext uri="{FF2B5EF4-FFF2-40B4-BE49-F238E27FC236}">
                <a16:creationId xmlns:a16="http://schemas.microsoft.com/office/drawing/2014/main" id="{8B597AA3-74DF-656A-5F0E-6EF2BEB8BE1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136" y="147223"/>
            <a:ext cx="144000" cy="144000"/>
          </a:xfrm>
          <a:prstGeom prst="rect">
            <a:avLst/>
          </a:prstGeom>
        </p:spPr>
      </p:pic>
      <p:sp>
        <p:nvSpPr>
          <p:cNvPr id="38" name="Rectangle: Top Corners Rounded 1">
            <a:hlinkClick r:id="rId11" action="ppaction://hlinksldjump"/>
            <a:extLst>
              <a:ext uri="{FF2B5EF4-FFF2-40B4-BE49-F238E27FC236}">
                <a16:creationId xmlns:a16="http://schemas.microsoft.com/office/drawing/2014/main" id="{286BD0E2-01EF-2AC6-F71B-F8A746DA12E3}"/>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9" name="Rectangle: Top Corners Rounded 1">
            <a:hlinkClick r:id="rId12" action="ppaction://hlinksldjump"/>
            <a:extLst>
              <a:ext uri="{FF2B5EF4-FFF2-40B4-BE49-F238E27FC236}">
                <a16:creationId xmlns:a16="http://schemas.microsoft.com/office/drawing/2014/main" id="{7F136A32-B226-B13F-95B3-3E59F9E5F92A}"/>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40" name="Rectangle: Top Corners Rounded 1">
            <a:hlinkClick r:id="rId13" action="ppaction://hlinksldjump"/>
            <a:extLst>
              <a:ext uri="{FF2B5EF4-FFF2-40B4-BE49-F238E27FC236}">
                <a16:creationId xmlns:a16="http://schemas.microsoft.com/office/drawing/2014/main" id="{72A06460-09B8-7A56-7180-9910DD3B5C0B}"/>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42" name="Rectangle: Top Corners Rounded 1">
            <a:hlinkClick r:id="rId14" action="ppaction://hlinksldjump"/>
            <a:extLst>
              <a:ext uri="{FF2B5EF4-FFF2-40B4-BE49-F238E27FC236}">
                <a16:creationId xmlns:a16="http://schemas.microsoft.com/office/drawing/2014/main" id="{B2702E24-7F3C-EC5C-2C82-801F2571ACA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3" name="Rectangle: Top Corners Rounded 1">
            <a:hlinkClick r:id="rId15" action="ppaction://hlinksldjump"/>
            <a:extLst>
              <a:ext uri="{FF2B5EF4-FFF2-40B4-BE49-F238E27FC236}">
                <a16:creationId xmlns:a16="http://schemas.microsoft.com/office/drawing/2014/main" id="{EE716D74-16C1-BACC-F449-C3B57D3ACAD8}"/>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44" name="Rectangle: Top Corners Rounded 1">
            <a:hlinkClick r:id="rId16" action="ppaction://hlinksldjump"/>
            <a:extLst>
              <a:ext uri="{FF2B5EF4-FFF2-40B4-BE49-F238E27FC236}">
                <a16:creationId xmlns:a16="http://schemas.microsoft.com/office/drawing/2014/main" id="{E671A3BF-73CC-1135-54A0-650BDCEB9806}"/>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5" name="Rectangle: Top Corners Rounded 1">
            <a:hlinkClick r:id="rId17" action="ppaction://hlinksldjump"/>
            <a:extLst>
              <a:ext uri="{FF2B5EF4-FFF2-40B4-BE49-F238E27FC236}">
                <a16:creationId xmlns:a16="http://schemas.microsoft.com/office/drawing/2014/main" id="{BEAF0FFF-78D9-5564-2F80-79123D4EB94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6" name="Rectangle: Top Corners Rounded 1">
            <a:hlinkClick r:id="rId18" action="ppaction://hlinksldjump"/>
            <a:extLst>
              <a:ext uri="{FF2B5EF4-FFF2-40B4-BE49-F238E27FC236}">
                <a16:creationId xmlns:a16="http://schemas.microsoft.com/office/drawing/2014/main" id="{85C69826-9116-7C16-062A-6CF2EA6A45CF}"/>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7" name="Rectangle: Top Corners Rounded 1">
            <a:hlinkClick r:id="rId19" action="ppaction://hlinksldjump"/>
            <a:extLst>
              <a:ext uri="{FF2B5EF4-FFF2-40B4-BE49-F238E27FC236}">
                <a16:creationId xmlns:a16="http://schemas.microsoft.com/office/drawing/2014/main" id="{320CEBDA-4881-ADA3-9E10-7261A7061370}"/>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8" name="Rectangle: Top Corners Rounded 1">
            <a:hlinkClick r:id="rId20" action="ppaction://hlinksldjump"/>
            <a:extLst>
              <a:ext uri="{FF2B5EF4-FFF2-40B4-BE49-F238E27FC236}">
                <a16:creationId xmlns:a16="http://schemas.microsoft.com/office/drawing/2014/main" id="{5E09B108-55F5-15B1-8974-3FF055C7B16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9" name="Rectangle: Top Corners Rounded 1">
            <a:hlinkClick r:id="rId21" action="ppaction://hlinksldjump"/>
            <a:extLst>
              <a:ext uri="{FF2B5EF4-FFF2-40B4-BE49-F238E27FC236}">
                <a16:creationId xmlns:a16="http://schemas.microsoft.com/office/drawing/2014/main" id="{413D812E-CC5D-00A7-27CC-346E9A03FA6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5" name="Rectangle 14">
            <a:extLst>
              <a:ext uri="{FF2B5EF4-FFF2-40B4-BE49-F238E27FC236}">
                <a16:creationId xmlns:a16="http://schemas.microsoft.com/office/drawing/2014/main" id="{90BD43F1-FB80-6682-7454-32162CBD600C}"/>
              </a:ext>
            </a:extLst>
          </p:cNvPr>
          <p:cNvSpPr/>
          <p:nvPr/>
        </p:nvSpPr>
        <p:spPr>
          <a:xfrm>
            <a:off x="8412861" y="533401"/>
            <a:ext cx="2557408" cy="436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a:t>Getallen zijn indicatief en worden nog gevalideerd!!</a:t>
            </a:r>
          </a:p>
        </p:txBody>
      </p:sp>
    </p:spTree>
    <p:extLst>
      <p:ext uri="{BB962C8B-B14F-4D97-AF65-F5344CB8AC3E}">
        <p14:creationId xmlns:p14="http://schemas.microsoft.com/office/powerpoint/2010/main" val="8469803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63FF8D-C3BB-6880-B933-E9F45049C577}"/>
              </a:ext>
            </a:extLst>
          </p:cNvPr>
          <p:cNvSpPr>
            <a:spLocks noGrp="1"/>
          </p:cNvSpPr>
          <p:nvPr>
            <p:ph type="title"/>
          </p:nvPr>
        </p:nvSpPr>
        <p:spPr/>
        <p:txBody>
          <a:bodyPr/>
          <a:lstStyle/>
          <a:p>
            <a:r>
              <a:rPr lang="nl-NL" err="1"/>
              <a:t>Usecase</a:t>
            </a:r>
            <a:r>
              <a:rPr lang="nl-NL"/>
              <a:t> 2.3 – Verpleegkundige Overdracht (</a:t>
            </a:r>
            <a:r>
              <a:rPr lang="nl-NL" err="1"/>
              <a:t>eOverdracht</a:t>
            </a:r>
            <a:r>
              <a:rPr lang="nl-NL"/>
              <a:t>)</a:t>
            </a:r>
            <a:endParaRPr lang="en-NL"/>
          </a:p>
        </p:txBody>
      </p:sp>
    </p:spTree>
    <p:extLst>
      <p:ext uri="{BB962C8B-B14F-4D97-AF65-F5344CB8AC3E}">
        <p14:creationId xmlns:p14="http://schemas.microsoft.com/office/powerpoint/2010/main" val="13314039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C6625A3-0776-9EB4-9D79-A68B87029641}"/>
              </a:ext>
            </a:extLst>
          </p:cNvPr>
          <p:cNvSpPr>
            <a:spLocks noGrp="1"/>
          </p:cNvSpPr>
          <p:nvPr>
            <p:ph type="title"/>
          </p:nvPr>
        </p:nvSpPr>
        <p:spPr/>
        <p:txBody>
          <a:bodyPr/>
          <a:lstStyle/>
          <a:p>
            <a:r>
              <a:rPr lang="en-GB" err="1"/>
              <a:t>Verpleegkundige</a:t>
            </a:r>
            <a:r>
              <a:rPr lang="en-GB"/>
              <a:t> </a:t>
            </a:r>
            <a:r>
              <a:rPr lang="en-GB" err="1"/>
              <a:t>Overdracht</a:t>
            </a:r>
            <a:r>
              <a:rPr lang="en-GB"/>
              <a:t> – </a:t>
            </a:r>
            <a:r>
              <a:rPr lang="en-GB" err="1"/>
              <a:t>Ambitie</a:t>
            </a:r>
            <a:endParaRPr lang="en-GB"/>
          </a:p>
        </p:txBody>
      </p:sp>
      <p:sp>
        <p:nvSpPr>
          <p:cNvPr id="11" name="Text Placeholder 10">
            <a:extLst>
              <a:ext uri="{FF2B5EF4-FFF2-40B4-BE49-F238E27FC236}">
                <a16:creationId xmlns:a16="http://schemas.microsoft.com/office/drawing/2014/main" id="{8C9BF9D1-6BB0-02D0-4604-592BEDDEBEBE}"/>
              </a:ext>
            </a:extLst>
          </p:cNvPr>
          <p:cNvSpPr>
            <a:spLocks noGrp="1"/>
          </p:cNvSpPr>
          <p:nvPr>
            <p:ph type="body" sz="quarter" idx="10"/>
          </p:nvPr>
        </p:nvSpPr>
        <p:spPr/>
        <p:txBody>
          <a:bodyPr/>
          <a:lstStyle/>
          <a:p>
            <a:r>
              <a:rPr lang="nl-NL" sz="1200"/>
              <a:t>Implementeren van de </a:t>
            </a:r>
            <a:r>
              <a:rPr lang="nl-NL" sz="1200" err="1"/>
              <a:t>eOverdracht</a:t>
            </a:r>
            <a:r>
              <a:rPr lang="nl-NL" sz="1200"/>
              <a:t>-informatiestandaard volgens de wettelijke bepaling, voor gegevensuitwisseling tussen organisaties, voor betere zorguitkomsten, meer continuïteit van zorg en tijdsbesparing. </a:t>
            </a:r>
          </a:p>
          <a:p>
            <a:endParaRPr lang="nl-NL" sz="1200"/>
          </a:p>
          <a:p>
            <a:endParaRPr lang="en-GB" sz="1200"/>
          </a:p>
        </p:txBody>
      </p:sp>
      <p:sp>
        <p:nvSpPr>
          <p:cNvPr id="26" name="Rectangle 1">
            <a:extLst>
              <a:ext uri="{FF2B5EF4-FFF2-40B4-BE49-F238E27FC236}">
                <a16:creationId xmlns:a16="http://schemas.microsoft.com/office/drawing/2014/main" id="{FDD9953D-5149-BE29-0071-A4416B214985}"/>
              </a:ext>
            </a:extLst>
          </p:cNvPr>
          <p:cNvSpPr/>
          <p:nvPr/>
        </p:nvSpPr>
        <p:spPr>
          <a:xfrm>
            <a:off x="3812274" y="5584986"/>
            <a:ext cx="7839563" cy="1141068"/>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Doorontwikkeling, na 2026:</a:t>
            </a:r>
          </a:p>
          <a:p>
            <a:pPr marL="228600" marR="0" lvl="0" indent="-228600" algn="just" defTabSz="914400" rtl="0" eaLnBrk="1" fontAlgn="auto" latinLnBrk="0" hangingPunct="1">
              <a:lnSpc>
                <a:spcPct val="100000"/>
              </a:lnSpc>
              <a:spcBef>
                <a:spcPts val="0"/>
              </a:spcBef>
              <a:spcAft>
                <a:spcPts val="200"/>
              </a:spcAft>
              <a:buClrTx/>
              <a:buSzTx/>
              <a:buFontTx/>
              <a:buAutoNum type="arabicPeriod"/>
              <a:tabLst/>
              <a:defRPr/>
            </a:pPr>
            <a:r>
              <a:rPr kumimoji="0" lang="nl-NL" sz="1050" b="0" i="0" u="none" strike="noStrike" kern="1200" cap="none" spc="0" normalizeH="0" baseline="0" noProof="0">
                <a:ln>
                  <a:noFill/>
                </a:ln>
                <a:solidFill>
                  <a:prstClr val="black"/>
                </a:solidFill>
                <a:effectLst/>
                <a:uLnTx/>
                <a:uFillTx/>
                <a:latin typeface="Verdana"/>
                <a:ea typeface="Verdana"/>
                <a:cs typeface="+mn-cs"/>
              </a:rPr>
              <a:t>Gegevens worden secundair gebruikt voor onderzoek en kwaliteit voor procesoptimalisatie. </a:t>
            </a:r>
          </a:p>
          <a:p>
            <a:pPr marL="228600" marR="0" lvl="0" indent="-228600" algn="just" defTabSz="914400" rtl="0" eaLnBrk="1" fontAlgn="auto" latinLnBrk="0" hangingPunct="1">
              <a:lnSpc>
                <a:spcPct val="100000"/>
              </a:lnSpc>
              <a:spcBef>
                <a:spcPts val="0"/>
              </a:spcBef>
              <a:spcAft>
                <a:spcPts val="200"/>
              </a:spcAft>
              <a:buClrTx/>
              <a:buSzTx/>
              <a:buFontTx/>
              <a:buAutoNum type="arabicPeriod"/>
              <a:tabLst/>
              <a:defRPr/>
            </a:pPr>
            <a:r>
              <a:rPr kumimoji="0" lang="nl-NL" sz="1050" b="0" i="0" u="none" strike="noStrike" kern="1200" cap="none" spc="0" normalizeH="0" baseline="0" noProof="0">
                <a:ln>
                  <a:noFill/>
                </a:ln>
                <a:solidFill>
                  <a:prstClr val="black"/>
                </a:solidFill>
                <a:effectLst/>
                <a:uLnTx/>
                <a:uFillTx/>
                <a:latin typeface="Verdana"/>
                <a:ea typeface="Verdana"/>
                <a:cs typeface="+mn-cs"/>
              </a:rPr>
              <a:t>AI voorspelt hoe lang een inwoner bepaalde type zorg nodig heeft, waardoor capaciteit beter ingeschat wordt.</a:t>
            </a:r>
          </a:p>
          <a:p>
            <a:pPr marL="228600" marR="0" lvl="0" indent="-228600" algn="just" defTabSz="914400" rtl="0" eaLnBrk="1" fontAlgn="auto" latinLnBrk="0" hangingPunct="1">
              <a:lnSpc>
                <a:spcPct val="100000"/>
              </a:lnSpc>
              <a:spcBef>
                <a:spcPts val="0"/>
              </a:spcBef>
              <a:spcAft>
                <a:spcPts val="200"/>
              </a:spcAft>
              <a:buClrTx/>
              <a:buSzTx/>
              <a:buFontTx/>
              <a:buAutoNum type="arabicPeriod"/>
              <a:tabLst/>
              <a:defRPr/>
            </a:pPr>
            <a:r>
              <a:rPr kumimoji="0" lang="nl-NL" sz="1050" b="0" i="0" u="none" strike="noStrike" kern="1200" cap="none" spc="0" normalizeH="0" baseline="0" noProof="0">
                <a:ln>
                  <a:noFill/>
                </a:ln>
                <a:solidFill>
                  <a:prstClr val="black"/>
                </a:solidFill>
                <a:effectLst/>
                <a:uLnTx/>
                <a:uFillTx/>
                <a:latin typeface="Verdana"/>
                <a:ea typeface="Verdana"/>
                <a:cs typeface="+mn-cs"/>
              </a:rPr>
              <a:t>AI leert patronen uit gestandaardiseerde data en doet suggesties voor ingevulde velden, wat tijdswinst oplevert in het overdrachtsproces. </a:t>
            </a:r>
          </a:p>
          <a:p>
            <a:pPr marL="228600" marR="0" lvl="0" indent="-228600" algn="just" defTabSz="914400" rtl="0" eaLnBrk="1" fontAlgn="auto" latinLnBrk="0" hangingPunct="1">
              <a:lnSpc>
                <a:spcPct val="100000"/>
              </a:lnSpc>
              <a:spcBef>
                <a:spcPts val="0"/>
              </a:spcBef>
              <a:spcAft>
                <a:spcPts val="200"/>
              </a:spcAft>
              <a:buClrTx/>
              <a:buSzTx/>
              <a:buFontTx/>
              <a:buAutoNum type="arabicPeriod"/>
              <a:tabLst/>
              <a:defRPr/>
            </a:pPr>
            <a:r>
              <a:rPr kumimoji="0" lang="nl-NL" sz="1050" b="0" i="0" u="none" strike="noStrike" kern="1200" cap="none" spc="0" normalizeH="0" baseline="0" noProof="0">
                <a:ln>
                  <a:noFill/>
                </a:ln>
                <a:solidFill>
                  <a:prstClr val="black"/>
                </a:solidFill>
                <a:effectLst/>
                <a:uLnTx/>
                <a:uFillTx/>
                <a:latin typeface="Verdana"/>
                <a:ea typeface="Verdana"/>
                <a:cs typeface="+mn-cs"/>
              </a:rPr>
              <a:t>AI maakt een dossiersamenvatting, wat het dossier makkelijker te lezen maakt. </a:t>
            </a:r>
          </a:p>
        </p:txBody>
      </p:sp>
      <p:sp>
        <p:nvSpPr>
          <p:cNvPr id="27" name="Rectangle: Rounded Corners 25">
            <a:extLst>
              <a:ext uri="{FF2B5EF4-FFF2-40B4-BE49-F238E27FC236}">
                <a16:creationId xmlns:a16="http://schemas.microsoft.com/office/drawing/2014/main" id="{DA9A3274-D430-EBE3-49CE-947ED3020A6F}"/>
              </a:ext>
            </a:extLst>
          </p:cNvPr>
          <p:cNvSpPr/>
          <p:nvPr/>
        </p:nvSpPr>
        <p:spPr>
          <a:xfrm>
            <a:off x="-204674" y="1467826"/>
            <a:ext cx="3722767" cy="2920423"/>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28" name="TextBox 16">
            <a:extLst>
              <a:ext uri="{FF2B5EF4-FFF2-40B4-BE49-F238E27FC236}">
                <a16:creationId xmlns:a16="http://schemas.microsoft.com/office/drawing/2014/main" id="{DEBFCA04-3A1C-3D42-F36F-A5510877045A}"/>
              </a:ext>
            </a:extLst>
          </p:cNvPr>
          <p:cNvSpPr txBox="1"/>
          <p:nvPr/>
        </p:nvSpPr>
        <p:spPr>
          <a:xfrm>
            <a:off x="80917" y="1477479"/>
            <a:ext cx="3275894" cy="2939266"/>
          </a:xfrm>
          <a:prstGeom prst="rect">
            <a:avLst/>
          </a:prstGeom>
          <a:noFill/>
        </p:spPr>
        <p:txBody>
          <a:bodyPr wrap="square" lIns="91440" tIns="45720" rIns="91440" bIns="45720" rtlCol="0" anchor="t">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Kernproblematiek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85725" indent="-85725" algn="just">
              <a:spcAft>
                <a:spcPts val="200"/>
              </a:spcAft>
              <a:buFont typeface="Arial" panose="020B0604020202020204" pitchFamily="34" charset="0"/>
              <a:buChar char="•"/>
              <a:defRPr/>
            </a:pPr>
            <a:r>
              <a:rPr lang="nl-NL" sz="1000">
                <a:solidFill>
                  <a:prstClr val="black"/>
                </a:solidFill>
                <a:latin typeface="Verdana"/>
                <a:ea typeface="Verdana"/>
              </a:rPr>
              <a:t>Zorgprofessionals</a:t>
            </a:r>
            <a:r>
              <a:rPr kumimoji="0" lang="nl-NL" sz="1000" b="0" i="0" u="none" strike="noStrike" kern="1200" cap="none" spc="0" normalizeH="0" baseline="0" noProof="0">
                <a:ln>
                  <a:noFill/>
                </a:ln>
                <a:solidFill>
                  <a:prstClr val="black"/>
                </a:solidFill>
                <a:effectLst/>
                <a:uLnTx/>
                <a:uFillTx/>
                <a:latin typeface="Verdana"/>
                <a:ea typeface="Verdana"/>
                <a:cs typeface="+mn-cs"/>
              </a:rPr>
              <a:t> </a:t>
            </a:r>
            <a:r>
              <a:rPr lang="nl-NL" sz="1000">
                <a:solidFill>
                  <a:prstClr val="black"/>
                </a:solidFill>
                <a:latin typeface="Verdana"/>
                <a:ea typeface="Verdana"/>
              </a:rPr>
              <a:t>ervaren</a:t>
            </a:r>
            <a:r>
              <a:rPr kumimoji="0" lang="nl-NL" sz="1000" b="0" i="0" u="none" strike="noStrike" kern="1200" cap="none" spc="0" normalizeH="0" baseline="0" noProof="0">
                <a:ln>
                  <a:noFill/>
                </a:ln>
                <a:solidFill>
                  <a:prstClr val="black"/>
                </a:solidFill>
                <a:effectLst/>
                <a:uLnTx/>
                <a:uFillTx/>
                <a:latin typeface="Verdana"/>
                <a:ea typeface="Verdana"/>
                <a:cs typeface="+mn-cs"/>
              </a:rPr>
              <a:t> hoge administratie-last door dubbel invoeren, extra controles door onvolledige informatie </a:t>
            </a:r>
            <a:r>
              <a:rPr lang="nl-NL" sz="1000">
                <a:solidFill>
                  <a:prstClr val="black"/>
                </a:solidFill>
                <a:latin typeface="Verdana"/>
                <a:ea typeface="Verdana"/>
              </a:rPr>
              <a:t>en </a:t>
            </a:r>
            <a:r>
              <a:rPr kumimoji="0" lang="nl-NL" sz="1000" b="0" i="0" u="none" strike="noStrike" kern="1200" cap="none" spc="0" normalizeH="0" baseline="0" noProof="0">
                <a:ln>
                  <a:noFill/>
                </a:ln>
                <a:solidFill>
                  <a:prstClr val="black"/>
                </a:solidFill>
                <a:effectLst/>
                <a:uLnTx/>
                <a:uFillTx/>
                <a:latin typeface="Verdana"/>
                <a:ea typeface="Verdana"/>
                <a:cs typeface="+mn-cs"/>
              </a:rPr>
              <a:t>het ongestructureerd ontvangen van data. </a:t>
            </a:r>
            <a:endParaRPr lang="nl-NL" sz="1000" b="0" i="0" u="none" strike="noStrike" kern="1200" cap="none" spc="0" normalizeH="0" baseline="0" noProof="0">
              <a:ln>
                <a:noFill/>
              </a:ln>
              <a:solidFill>
                <a:prstClr val="black"/>
              </a:solidFill>
              <a:effectLst/>
              <a:uLnTx/>
              <a:uFillTx/>
              <a:latin typeface="Verdana"/>
              <a:ea typeface="Verdana"/>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mn-cs"/>
              </a:rPr>
              <a:t>De inwoner krijgt niet-passende behandeling door het niet hebben van volledige, juiste of meest recente informatie van de inwoner. </a:t>
            </a:r>
            <a:endParaRPr lang="nl-NL" sz="1000" b="0" i="0" u="none" strike="noStrike" kern="1200" cap="none" spc="0" normalizeH="0" baseline="0" noProof="0">
              <a:ln>
                <a:noFill/>
              </a:ln>
              <a:solidFill>
                <a:prstClr val="black"/>
              </a:solidFill>
              <a:effectLst/>
              <a:uLnTx/>
              <a:uFillTx/>
              <a:latin typeface="Verdana"/>
              <a:ea typeface="Verdana"/>
            </a:endParaRPr>
          </a:p>
          <a:p>
            <a:pPr marL="85725" indent="-85725" algn="just">
              <a:spcAft>
                <a:spcPts val="200"/>
              </a:spcAft>
              <a:buFont typeface="Arial" panose="020B0604020202020204" pitchFamily="34" charset="0"/>
              <a:buChar char="•"/>
              <a:defRPr/>
            </a:pPr>
            <a:r>
              <a:rPr kumimoji="0" lang="nl-NL" sz="1000" b="0" i="0" u="none" strike="noStrike" kern="1200" cap="none" spc="0" normalizeH="0" baseline="0" noProof="0">
                <a:ln>
                  <a:noFill/>
                </a:ln>
                <a:solidFill>
                  <a:prstClr val="black"/>
                </a:solidFill>
                <a:effectLst/>
                <a:uLnTx/>
                <a:uFillTx/>
                <a:latin typeface="Verdana"/>
                <a:ea typeface="Verdana"/>
                <a:cs typeface="+mn-cs"/>
              </a:rPr>
              <a:t>Er wordt lagere kwaliteit van zorg geleverd door het ontbreken van een gestructureerd overzicht, waardoor zorg niet </a:t>
            </a:r>
            <a:r>
              <a:rPr lang="nl-NL" sz="1000">
                <a:solidFill>
                  <a:prstClr val="black"/>
                </a:solidFill>
                <a:latin typeface="Verdana"/>
                <a:ea typeface="Verdana"/>
              </a:rPr>
              <a:t>gepland kan worden</a:t>
            </a:r>
            <a:r>
              <a:rPr kumimoji="0" lang="nl-NL" sz="1000" b="0" i="0" u="none" strike="noStrike" kern="1200" cap="none" spc="0" normalizeH="0" baseline="0" noProof="0">
                <a:ln>
                  <a:noFill/>
                </a:ln>
                <a:solidFill>
                  <a:prstClr val="black"/>
                </a:solidFill>
                <a:effectLst/>
                <a:uLnTx/>
                <a:uFillTx/>
                <a:latin typeface="Verdana"/>
                <a:ea typeface="Verdana"/>
                <a:cs typeface="+mn-cs"/>
              </a:rPr>
              <a:t> of niet de juiste vragen </a:t>
            </a:r>
            <a:r>
              <a:rPr lang="nl-NL" sz="1000">
                <a:solidFill>
                  <a:prstClr val="black"/>
                </a:solidFill>
                <a:latin typeface="Verdana"/>
                <a:ea typeface="Verdana"/>
              </a:rPr>
              <a:t>gesteld kunnen</a:t>
            </a:r>
            <a:r>
              <a:rPr kumimoji="0" lang="nl-NL" sz="1000" b="0" i="0" u="none" strike="noStrike" kern="1200" cap="none" spc="0" normalizeH="0" baseline="0" noProof="0">
                <a:ln>
                  <a:noFill/>
                </a:ln>
                <a:solidFill>
                  <a:prstClr val="black"/>
                </a:solidFill>
                <a:effectLst/>
                <a:uLnTx/>
                <a:uFillTx/>
                <a:latin typeface="Verdana"/>
                <a:ea typeface="Verdana"/>
                <a:cs typeface="+mn-cs"/>
              </a:rPr>
              <a:t> </a:t>
            </a:r>
            <a:r>
              <a:rPr lang="nl-NL" sz="1000">
                <a:solidFill>
                  <a:prstClr val="black"/>
                </a:solidFill>
                <a:latin typeface="Verdana"/>
                <a:ea typeface="Verdana"/>
              </a:rPr>
              <a:t>worden aan</a:t>
            </a:r>
            <a:r>
              <a:rPr kumimoji="0" lang="nl-NL" sz="1000" b="0" i="0" u="none" strike="noStrike" kern="1200" cap="none" spc="0" normalizeH="0" baseline="0" noProof="0">
                <a:ln>
                  <a:noFill/>
                </a:ln>
                <a:solidFill>
                  <a:prstClr val="black"/>
                </a:solidFill>
                <a:effectLst/>
                <a:uLnTx/>
                <a:uFillTx/>
                <a:latin typeface="Verdana"/>
                <a:ea typeface="Verdana"/>
                <a:cs typeface="+mn-cs"/>
              </a:rPr>
              <a:t> de inwoner.</a:t>
            </a:r>
            <a:endParaRPr lang="nl-NL" sz="1000" b="0" i="0" u="none" strike="noStrike" kern="1200" cap="none" spc="0" normalizeH="0" baseline="0" noProof="0">
              <a:ln>
                <a:noFill/>
              </a:ln>
              <a:solidFill>
                <a:prstClr val="black"/>
              </a:solidFill>
              <a:effectLst/>
              <a:uLnTx/>
              <a:uFillTx/>
              <a:latin typeface="Verdana"/>
              <a:ea typeface="Verdana"/>
            </a:endParaRPr>
          </a:p>
          <a:p>
            <a:pPr marL="85725" indent="-85725" algn="just">
              <a:spcAft>
                <a:spcPts val="200"/>
              </a:spcAft>
              <a:buFont typeface="Arial" panose="020B0604020202020204" pitchFamily="34" charset="0"/>
              <a:buChar char="•"/>
              <a:defRPr/>
            </a:pPr>
            <a:r>
              <a:rPr lang="nl-NL" sz="1000">
                <a:solidFill>
                  <a:prstClr val="black"/>
                </a:solidFill>
                <a:latin typeface="Verdana"/>
                <a:ea typeface="Verdana"/>
              </a:rPr>
              <a:t>Het</a:t>
            </a:r>
            <a:r>
              <a:rPr kumimoji="0" lang="nl-NL" sz="1000" b="0" i="0" u="none" strike="noStrike" kern="1200" cap="none" spc="0" normalizeH="0" baseline="0" noProof="0">
                <a:ln>
                  <a:noFill/>
                </a:ln>
                <a:solidFill>
                  <a:prstClr val="black"/>
                </a:solidFill>
                <a:effectLst/>
                <a:uLnTx/>
                <a:uFillTx/>
                <a:latin typeface="Verdana"/>
                <a:ea typeface="Verdana"/>
                <a:cs typeface="+mn-cs"/>
              </a:rPr>
              <a:t> veroorzaken </a:t>
            </a:r>
            <a:r>
              <a:rPr lang="nl-NL" sz="1000">
                <a:solidFill>
                  <a:prstClr val="black"/>
                </a:solidFill>
                <a:latin typeface="Verdana"/>
                <a:ea typeface="Verdana"/>
              </a:rPr>
              <a:t>van </a:t>
            </a:r>
            <a:r>
              <a:rPr kumimoji="0" lang="nl-NL" sz="1000" b="0" i="0" u="none" strike="noStrike" kern="1200" cap="none" spc="0" normalizeH="0" baseline="0" noProof="0">
                <a:ln>
                  <a:noFill/>
                </a:ln>
                <a:solidFill>
                  <a:prstClr val="black"/>
                </a:solidFill>
                <a:effectLst/>
                <a:uLnTx/>
                <a:uFillTx/>
                <a:latin typeface="Verdana"/>
                <a:ea typeface="Verdana"/>
                <a:cs typeface="+mn-cs"/>
              </a:rPr>
              <a:t>onnodig hoge vraaglast voor de inwoner en naasten, omdat</a:t>
            </a:r>
            <a:r>
              <a:rPr lang="nl-NL" sz="1000">
                <a:solidFill>
                  <a:prstClr val="black"/>
                </a:solidFill>
                <a:latin typeface="Verdana"/>
                <a:ea typeface="Verdana"/>
              </a:rPr>
              <a:t> er</a:t>
            </a:r>
            <a:r>
              <a:rPr kumimoji="0" lang="nl-NL" sz="1000" b="0" i="0" u="none" strike="noStrike" kern="1200" cap="none" spc="0" normalizeH="0" baseline="0" noProof="0">
                <a:ln>
                  <a:noFill/>
                </a:ln>
                <a:solidFill>
                  <a:prstClr val="black"/>
                </a:solidFill>
                <a:effectLst/>
                <a:uLnTx/>
                <a:uFillTx/>
                <a:latin typeface="Verdana"/>
                <a:ea typeface="Verdana"/>
                <a:cs typeface="+mn-cs"/>
              </a:rPr>
              <a:t> meermaals om dezelfde informatie </a:t>
            </a:r>
            <a:r>
              <a:rPr lang="nl-NL" sz="1000">
                <a:solidFill>
                  <a:prstClr val="black"/>
                </a:solidFill>
                <a:latin typeface="Verdana"/>
                <a:ea typeface="Verdana"/>
              </a:rPr>
              <a:t>wordt gevraagd</a:t>
            </a:r>
            <a:r>
              <a:rPr kumimoji="0" lang="nl-NL" sz="1000" b="0" i="0" u="none" strike="noStrike" kern="1200" cap="none" spc="0" normalizeH="0" baseline="0" noProof="0">
                <a:ln>
                  <a:noFill/>
                </a:ln>
                <a:solidFill>
                  <a:prstClr val="black"/>
                </a:solidFill>
                <a:effectLst/>
                <a:uLnTx/>
                <a:uFillTx/>
                <a:latin typeface="Verdana"/>
                <a:ea typeface="Verdana"/>
                <a:cs typeface="+mn-cs"/>
              </a:rPr>
              <a:t>.</a:t>
            </a:r>
            <a:endParaRPr lang="nl-NL" sz="1000" b="0" i="0" u="none" strike="noStrike" kern="1200" cap="none" spc="0" normalizeH="0" baseline="0" noProof="0">
              <a:ln>
                <a:noFill/>
              </a:ln>
              <a:solidFill>
                <a:prstClr val="black"/>
              </a:solidFill>
              <a:effectLst/>
              <a:uLnTx/>
              <a:uFillTx/>
              <a:latin typeface="Verdana"/>
              <a:ea typeface="Verdana"/>
            </a:endParaRPr>
          </a:p>
        </p:txBody>
      </p:sp>
      <p:sp>
        <p:nvSpPr>
          <p:cNvPr id="29" name="Rectangle 18">
            <a:extLst>
              <a:ext uri="{FF2B5EF4-FFF2-40B4-BE49-F238E27FC236}">
                <a16:creationId xmlns:a16="http://schemas.microsoft.com/office/drawing/2014/main" id="{0862E701-2DFE-8D74-7EAF-8B2D20243C3E}"/>
              </a:ext>
            </a:extLst>
          </p:cNvPr>
          <p:cNvSpPr/>
          <p:nvPr/>
        </p:nvSpPr>
        <p:spPr>
          <a:xfrm>
            <a:off x="3801978" y="3312020"/>
            <a:ext cx="7839563" cy="1957429"/>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Ambitie, eind 2026:</a:t>
            </a:r>
          </a:p>
          <a:p>
            <a:pPr marL="171450" marR="0" lvl="0" indent="-171450" algn="just" defTabSz="914400" rtl="0" eaLnBrk="1" fontAlgn="auto" latinLnBrk="0" hangingPunct="1">
              <a:lnSpc>
                <a:spcPct val="110000"/>
              </a:lnSpc>
              <a:spcBef>
                <a:spcPts val="0"/>
              </a:spcBef>
              <a:spcAft>
                <a:spcPts val="0"/>
              </a:spcAft>
              <a:buClr>
                <a:prstClr val="black"/>
              </a:buClr>
              <a:buSzPts val="2000"/>
              <a:buFont typeface="Arial" panose="020B0604020202020204" pitchFamily="34" charset="0"/>
              <a:buChar char="•"/>
              <a:tabLst/>
              <a:defRPr/>
            </a:pPr>
            <a:r>
              <a:rPr kumimoji="0" lang="nl-NL" sz="1050" b="0" i="0" u="none" strike="noStrike" kern="1200" cap="none" spc="0" normalizeH="0" baseline="0" noProof="0">
                <a:ln>
                  <a:noFill/>
                </a:ln>
                <a:solidFill>
                  <a:prstClr val="black"/>
                </a:solidFill>
                <a:effectLst/>
                <a:uLnTx/>
                <a:uFillTx/>
                <a:latin typeface="Verdana"/>
                <a:ea typeface="Verdana"/>
                <a:cs typeface="Calibri"/>
              </a:rPr>
              <a:t>Het realiseren van de </a:t>
            </a:r>
            <a:r>
              <a:rPr kumimoji="0" lang="nl-NL" sz="1050" b="0" i="0" u="none" strike="noStrike" kern="1200" cap="none" spc="0" normalizeH="0" baseline="0" noProof="0" err="1">
                <a:ln>
                  <a:noFill/>
                </a:ln>
                <a:solidFill>
                  <a:prstClr val="black"/>
                </a:solidFill>
                <a:effectLst/>
                <a:uLnTx/>
                <a:uFillTx/>
                <a:latin typeface="Verdana"/>
                <a:ea typeface="Verdana"/>
                <a:cs typeface="Calibri"/>
              </a:rPr>
              <a:t>eOverdracht</a:t>
            </a:r>
            <a:r>
              <a:rPr kumimoji="0" lang="nl-NL" sz="1050" b="0" i="0" u="none" strike="noStrike" kern="1200" cap="none" spc="0" normalizeH="0" baseline="0" noProof="0">
                <a:ln>
                  <a:noFill/>
                </a:ln>
                <a:solidFill>
                  <a:prstClr val="black"/>
                </a:solidFill>
                <a:effectLst/>
                <a:uLnTx/>
                <a:uFillTx/>
                <a:latin typeface="Verdana"/>
                <a:ea typeface="Verdana"/>
                <a:cs typeface="Calibri"/>
              </a:rPr>
              <a:t>-gegevensuitwisseling; een veilige, gestandaardiseerde, gestructureerde en geautomatiseerde overdracht van verpleegkundige zorg op basis van zorginformatiebouwstenen (57 </a:t>
            </a:r>
            <a:r>
              <a:rPr kumimoji="0" lang="nl-NL" sz="1050" b="0" i="0" u="none" strike="noStrike" kern="1200" cap="none" spc="0" normalizeH="0" baseline="0" noProof="0" err="1">
                <a:ln>
                  <a:noFill/>
                </a:ln>
                <a:solidFill>
                  <a:prstClr val="black"/>
                </a:solidFill>
                <a:effectLst/>
                <a:uLnTx/>
                <a:uFillTx/>
                <a:latin typeface="Verdana"/>
                <a:ea typeface="Verdana"/>
                <a:cs typeface="Calibri"/>
              </a:rPr>
              <a:t>zibs</a:t>
            </a:r>
            <a:r>
              <a:rPr kumimoji="0" lang="nl-NL" sz="1050" b="0" i="0" u="none" strike="noStrike" kern="1200" cap="none" spc="0" normalizeH="0" baseline="0" noProof="0">
                <a:ln>
                  <a:noFill/>
                </a:ln>
                <a:solidFill>
                  <a:prstClr val="black"/>
                </a:solidFill>
                <a:effectLst/>
                <a:uLnTx/>
                <a:uFillTx/>
                <a:latin typeface="Verdana"/>
                <a:ea typeface="Verdana"/>
                <a:cs typeface="Calibri"/>
              </a:rPr>
              <a:t>). Met de Minimale </a:t>
            </a:r>
            <a:r>
              <a:rPr kumimoji="0" lang="nl-NL" sz="1050" b="0" i="0" u="none" strike="noStrike" kern="1200" cap="none" spc="0" normalizeH="0" baseline="0" noProof="0" err="1">
                <a:ln>
                  <a:noFill/>
                </a:ln>
                <a:solidFill>
                  <a:prstClr val="black"/>
                </a:solidFill>
                <a:effectLst/>
                <a:uLnTx/>
                <a:uFillTx/>
                <a:latin typeface="Verdana"/>
                <a:ea typeface="Verdana"/>
                <a:cs typeface="Calibri"/>
              </a:rPr>
              <a:t>eOverdracht</a:t>
            </a:r>
            <a:r>
              <a:rPr kumimoji="0" lang="nl-NL" sz="1050" b="0" i="0" u="none" strike="noStrike" kern="1200" cap="none" spc="0" normalizeH="0" baseline="0" noProof="0">
                <a:ln>
                  <a:noFill/>
                </a:ln>
                <a:solidFill>
                  <a:prstClr val="black"/>
                </a:solidFill>
                <a:effectLst/>
                <a:uLnTx/>
                <a:uFillTx/>
                <a:latin typeface="Verdana"/>
                <a:ea typeface="Verdana"/>
                <a:cs typeface="Calibri"/>
              </a:rPr>
              <a:t> (</a:t>
            </a:r>
            <a:r>
              <a:rPr kumimoji="0" lang="nl-NL" sz="1050" b="0" i="0" u="none" strike="noStrike" kern="1200" cap="none" spc="0" normalizeH="0" baseline="0" noProof="0" err="1">
                <a:ln>
                  <a:noFill/>
                </a:ln>
                <a:solidFill>
                  <a:prstClr val="black"/>
                </a:solidFill>
                <a:effectLst/>
                <a:uLnTx/>
                <a:uFillTx/>
                <a:latin typeface="Verdana"/>
                <a:ea typeface="Verdana"/>
                <a:cs typeface="Calibri"/>
              </a:rPr>
              <a:t>MeO</a:t>
            </a:r>
            <a:r>
              <a:rPr kumimoji="0" lang="nl-NL" sz="1050" b="0" i="0" u="none" strike="noStrike" kern="1200" cap="none" spc="0" normalizeH="0" baseline="0" noProof="0">
                <a:ln>
                  <a:noFill/>
                </a:ln>
                <a:solidFill>
                  <a:prstClr val="black"/>
                </a:solidFill>
                <a:effectLst/>
                <a:uLnTx/>
                <a:uFillTx/>
                <a:latin typeface="Verdana"/>
                <a:ea typeface="Verdana"/>
                <a:cs typeface="Calibri"/>
              </a:rPr>
              <a:t>) komen in eerste instantie 14 </a:t>
            </a:r>
            <a:r>
              <a:rPr kumimoji="0" lang="nl-NL" sz="1050" b="0" i="0" u="none" strike="noStrike" kern="1200" cap="none" spc="0" normalizeH="0" baseline="0" noProof="0" err="1">
                <a:ln>
                  <a:noFill/>
                </a:ln>
                <a:solidFill>
                  <a:prstClr val="black"/>
                </a:solidFill>
                <a:effectLst/>
                <a:uLnTx/>
                <a:uFillTx/>
                <a:latin typeface="Verdana"/>
                <a:ea typeface="Verdana"/>
                <a:cs typeface="Calibri"/>
              </a:rPr>
              <a:t>zibs</a:t>
            </a:r>
            <a:r>
              <a:rPr kumimoji="0" lang="nl-NL" sz="1050" b="0" i="0" u="none" strike="noStrike" kern="1200" cap="none" spc="0" normalizeH="0" baseline="0" noProof="0">
                <a:ln>
                  <a:noFill/>
                </a:ln>
                <a:solidFill>
                  <a:prstClr val="black"/>
                </a:solidFill>
                <a:effectLst/>
                <a:uLnTx/>
                <a:uFillTx/>
                <a:latin typeface="Verdana"/>
                <a:ea typeface="Verdana"/>
                <a:cs typeface="Calibri"/>
              </a:rPr>
              <a:t> + de overige </a:t>
            </a:r>
            <a:r>
              <a:rPr kumimoji="0" lang="nl-NL" sz="1050" b="0" i="0" u="none" strike="noStrike" kern="1200" cap="none" spc="0" normalizeH="0" baseline="0" noProof="0" err="1">
                <a:ln>
                  <a:noFill/>
                </a:ln>
                <a:solidFill>
                  <a:prstClr val="black"/>
                </a:solidFill>
                <a:effectLst/>
                <a:uLnTx/>
                <a:uFillTx/>
                <a:latin typeface="Verdana"/>
                <a:ea typeface="Verdana"/>
                <a:cs typeface="Calibri"/>
              </a:rPr>
              <a:t>zibs</a:t>
            </a:r>
            <a:r>
              <a:rPr kumimoji="0" lang="nl-NL" sz="1050" b="0" i="0" u="none" strike="noStrike" kern="1200" cap="none" spc="0" normalizeH="0" baseline="0" noProof="0">
                <a:ln>
                  <a:noFill/>
                </a:ln>
                <a:solidFill>
                  <a:prstClr val="black"/>
                </a:solidFill>
                <a:effectLst/>
                <a:uLnTx/>
                <a:uFillTx/>
                <a:latin typeface="Verdana"/>
                <a:ea typeface="Verdana"/>
                <a:cs typeface="Calibri"/>
              </a:rPr>
              <a:t> in PDF beschikbaar voor uitwisseling van bron naar bron. Vóór 2027 kunnen zorgorganisaties de </a:t>
            </a:r>
            <a:r>
              <a:rPr kumimoji="0" lang="nl-NL" sz="1050" b="0" i="0" u="none" strike="noStrike" kern="1200" cap="none" spc="0" normalizeH="0" baseline="0" noProof="0" err="1">
                <a:ln>
                  <a:noFill/>
                </a:ln>
                <a:solidFill>
                  <a:prstClr val="black"/>
                </a:solidFill>
                <a:effectLst/>
                <a:uLnTx/>
                <a:uFillTx/>
                <a:latin typeface="Verdana"/>
                <a:ea typeface="Verdana"/>
                <a:cs typeface="Calibri"/>
              </a:rPr>
              <a:t>eOverdracht</a:t>
            </a:r>
            <a:r>
              <a:rPr kumimoji="0" lang="nl-NL" sz="1050" b="0" i="0" u="none" strike="noStrike" kern="1200" cap="none" spc="0" normalizeH="0" baseline="0" noProof="0">
                <a:ln>
                  <a:noFill/>
                </a:ln>
                <a:solidFill>
                  <a:prstClr val="black"/>
                </a:solidFill>
                <a:effectLst/>
                <a:uLnTx/>
                <a:uFillTx/>
                <a:latin typeface="Verdana"/>
                <a:ea typeface="Verdana"/>
                <a:cs typeface="Calibri"/>
              </a:rPr>
              <a:t> digitaal verzenden en beschikbaar stellen, opvragen/ontvangen, inzien en (al dan niet selectief) overnemen van het </a:t>
            </a:r>
            <a:r>
              <a:rPr lang="nl-NL" sz="1050">
                <a:solidFill>
                  <a:prstClr val="black"/>
                </a:solidFill>
                <a:latin typeface="Verdana"/>
                <a:ea typeface="Verdana"/>
                <a:cs typeface="Calibri"/>
              </a:rPr>
              <a:t>overdrachtsbericht</a:t>
            </a:r>
            <a:r>
              <a:rPr kumimoji="0" lang="nl-NL" sz="1050" b="0" i="0" u="none" strike="noStrike" kern="1200" cap="none" spc="0" normalizeH="0" baseline="0" noProof="0">
                <a:ln>
                  <a:noFill/>
                </a:ln>
                <a:solidFill>
                  <a:prstClr val="black"/>
                </a:solidFill>
                <a:effectLst/>
                <a:uLnTx/>
                <a:uFillTx/>
                <a:latin typeface="Verdana"/>
                <a:ea typeface="Verdana"/>
                <a:cs typeface="Calibri"/>
              </a:rPr>
              <a:t>. </a:t>
            </a:r>
            <a:endParaRPr lang="nl-NL" sz="1050" b="0" i="0" u="none" strike="noStrike" kern="1200" cap="none" spc="0" normalizeH="0" baseline="0" noProof="0">
              <a:ln>
                <a:noFill/>
              </a:ln>
              <a:solidFill>
                <a:prstClr val="black"/>
              </a:solidFill>
              <a:effectLst/>
              <a:uLnTx/>
              <a:uFillTx/>
              <a:latin typeface="Verdana"/>
              <a:ea typeface="Verdana"/>
              <a:cs typeface="Calibri"/>
            </a:endParaRPr>
          </a:p>
          <a:p>
            <a:pPr marL="171450" marR="0" lvl="0" indent="-171450" algn="just" defTabSz="914400" rtl="0" eaLnBrk="1" fontAlgn="auto" latinLnBrk="0" hangingPunct="1">
              <a:lnSpc>
                <a:spcPct val="110000"/>
              </a:lnSpc>
              <a:spcBef>
                <a:spcPts val="0"/>
              </a:spcBef>
              <a:spcAft>
                <a:spcPts val="0"/>
              </a:spcAft>
              <a:buClr>
                <a:prstClr val="black"/>
              </a:buClr>
              <a:buSzPts val="2000"/>
              <a:buFont typeface="Arial" panose="020B0604020202020204" pitchFamily="34" charset="0"/>
              <a:buChar char="•"/>
              <a:tabLst/>
              <a:defRPr/>
            </a:pPr>
            <a:r>
              <a:rPr kumimoji="0" lang="nl-NL" sz="1050" b="0" i="0" u="none" strike="noStrike" kern="1200" cap="none" spc="0" normalizeH="0" baseline="0" noProof="0">
                <a:ln>
                  <a:noFill/>
                </a:ln>
                <a:solidFill>
                  <a:prstClr val="black"/>
                </a:solidFill>
                <a:effectLst/>
                <a:uLnTx/>
                <a:uFillTx/>
                <a:latin typeface="Verdana"/>
                <a:ea typeface="Verdana"/>
                <a:cs typeface="Calibri"/>
              </a:rPr>
              <a:t>In de volgende richtingen: </a:t>
            </a:r>
            <a:r>
              <a:rPr lang="nl-NL" sz="1050">
                <a:solidFill>
                  <a:prstClr val="black"/>
                </a:solidFill>
                <a:latin typeface="Verdana"/>
                <a:ea typeface="Verdana"/>
                <a:cs typeface="Calibri"/>
              </a:rPr>
              <a:t>ZKH</a:t>
            </a:r>
            <a:r>
              <a:rPr kumimoji="0" lang="nl-NL" sz="105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VVT; VVTVVT; VVT</a:t>
            </a:r>
            <a:r>
              <a:rPr lang="nl-NL" sz="1050">
                <a:solidFill>
                  <a:prstClr val="black"/>
                </a:solidFill>
                <a:latin typeface="Verdana"/>
                <a:ea typeface="Verdana"/>
                <a:cs typeface="Calibri"/>
                <a:sym typeface="Wingdings" panose="05000000000000000000" pitchFamily="2" charset="2"/>
              </a:rPr>
              <a:t>ZKH</a:t>
            </a:r>
            <a:r>
              <a:rPr kumimoji="0" lang="nl-NL" sz="105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a:t>
            </a:r>
            <a:r>
              <a:rPr lang="nl-NL" sz="1050">
                <a:solidFill>
                  <a:prstClr val="black"/>
                </a:solidFill>
                <a:latin typeface="Verdana"/>
                <a:ea typeface="Verdana"/>
                <a:cs typeface="Calibri"/>
              </a:rPr>
              <a:t>ZKH</a:t>
            </a:r>
            <a:r>
              <a:rPr kumimoji="0" lang="nl-NL" sz="105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a:t>
            </a:r>
            <a:r>
              <a:rPr lang="nl-NL" sz="1050">
                <a:solidFill>
                  <a:prstClr val="black"/>
                </a:solidFill>
                <a:latin typeface="Verdana"/>
                <a:ea typeface="Verdana"/>
                <a:cs typeface="Calibri"/>
                <a:sym typeface="Wingdings" panose="05000000000000000000" pitchFamily="2" charset="2"/>
              </a:rPr>
              <a:t>ZKH</a:t>
            </a:r>
            <a:r>
              <a:rPr kumimoji="0" lang="nl-NL" sz="105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VVTGGZ; GGZVVT </a:t>
            </a:r>
            <a:endParaRPr kumimoji="0" lang="nl-NL" sz="1050" b="0" i="0" u="none" strike="noStrike" kern="1200" cap="none" spc="0" normalizeH="0" baseline="0" noProof="0">
              <a:ln>
                <a:noFill/>
              </a:ln>
              <a:solidFill>
                <a:prstClr val="black"/>
              </a:solidFill>
              <a:effectLst/>
              <a:uLnTx/>
              <a:uFillTx/>
              <a:latin typeface="Verdana"/>
              <a:ea typeface="Verdana"/>
              <a:cs typeface="Calibri"/>
            </a:endParaRPr>
          </a:p>
          <a:p>
            <a:pPr marL="171450" indent="-171450" algn="just">
              <a:lnSpc>
                <a:spcPct val="110000"/>
              </a:lnSpc>
              <a:buClr>
                <a:prstClr val="black"/>
              </a:buClr>
              <a:buSzPts val="2000"/>
              <a:buFont typeface="Arial" panose="020B0604020202020204" pitchFamily="34" charset="0"/>
              <a:buChar char="•"/>
              <a:defRPr/>
            </a:pPr>
            <a:r>
              <a:rPr kumimoji="0" lang="nl-NL" sz="105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We besparen tijd per overdracht in alle richtingen, wat we kunnen besteden aan </a:t>
            </a:r>
            <a:r>
              <a:rPr lang="nl-NL" sz="1050">
                <a:solidFill>
                  <a:prstClr val="black"/>
                </a:solidFill>
                <a:latin typeface="Verdana"/>
                <a:ea typeface="Verdana"/>
                <a:cs typeface="Calibri"/>
                <a:sym typeface="Wingdings" panose="05000000000000000000" pitchFamily="2" charset="2"/>
              </a:rPr>
              <a:t>directe</a:t>
            </a:r>
            <a:r>
              <a:rPr kumimoji="0" lang="nl-NL" sz="105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zorg</a:t>
            </a:r>
            <a:r>
              <a:rPr lang="nl-NL" sz="1050">
                <a:solidFill>
                  <a:prstClr val="black"/>
                </a:solidFill>
                <a:latin typeface="Verdana"/>
                <a:ea typeface="Verdana"/>
                <a:cs typeface="Calibri"/>
                <a:sym typeface="Wingdings" panose="05000000000000000000" pitchFamily="2" charset="2"/>
              </a:rPr>
              <a:t> aan de inwoner</a:t>
            </a:r>
            <a:r>
              <a:rPr kumimoji="0" lang="nl-NL" sz="105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 We verminderen ook de stressbelasting bij inwoners, mantelzorgers en zorgprofessionals.</a:t>
            </a:r>
            <a:endParaRPr kumimoji="0" lang="nl-NL" sz="1050" b="0" i="0" u="none" strike="noStrike" kern="1200" cap="none" spc="0" normalizeH="0" baseline="0" noProof="0">
              <a:ln>
                <a:noFill/>
              </a:ln>
              <a:solidFill>
                <a:prstClr val="black"/>
              </a:solidFill>
              <a:effectLst/>
              <a:uLnTx/>
              <a:uFillTx/>
              <a:latin typeface="Verdana"/>
              <a:ea typeface="Verdana"/>
              <a:cs typeface="Calibri"/>
            </a:endParaRPr>
          </a:p>
        </p:txBody>
      </p:sp>
      <p:sp>
        <p:nvSpPr>
          <p:cNvPr id="30" name="Rectangle: Rounded Corners 19">
            <a:extLst>
              <a:ext uri="{FF2B5EF4-FFF2-40B4-BE49-F238E27FC236}">
                <a16:creationId xmlns:a16="http://schemas.microsoft.com/office/drawing/2014/main" id="{5188B7DF-4075-F4D5-A1E6-EDFC39F0774C}"/>
              </a:ext>
            </a:extLst>
          </p:cNvPr>
          <p:cNvSpPr/>
          <p:nvPr/>
        </p:nvSpPr>
        <p:spPr>
          <a:xfrm>
            <a:off x="-199663" y="4532837"/>
            <a:ext cx="3717758" cy="2050430"/>
          </a:xfrm>
          <a:prstGeom prst="roundRect">
            <a:avLst/>
          </a:prstGeom>
          <a:solidFill>
            <a:srgbClr val="21BBEF"/>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31" name="Rectangle 3">
            <a:extLst>
              <a:ext uri="{FF2B5EF4-FFF2-40B4-BE49-F238E27FC236}">
                <a16:creationId xmlns:a16="http://schemas.microsoft.com/office/drawing/2014/main" id="{D7D06C2E-E68C-740D-A0A7-DD836889C533}"/>
              </a:ext>
            </a:extLst>
          </p:cNvPr>
          <p:cNvSpPr/>
          <p:nvPr/>
        </p:nvSpPr>
        <p:spPr>
          <a:xfrm>
            <a:off x="3812274" y="1470722"/>
            <a:ext cx="7839563" cy="1542807"/>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Huidige situatie</a:t>
            </a:r>
          </a:p>
          <a:p>
            <a:pPr>
              <a:defRPr/>
            </a:pPr>
            <a:r>
              <a:rPr kumimoji="0" lang="nl-NL" sz="1050" b="0" i="0" u="none" strike="noStrike" kern="1200" cap="none" spc="0" normalizeH="0" baseline="0" noProof="0">
                <a:ln>
                  <a:noFill/>
                </a:ln>
                <a:solidFill>
                  <a:prstClr val="black"/>
                </a:solidFill>
                <a:effectLst/>
                <a:uLnTx/>
                <a:uFillTx/>
                <a:latin typeface="Verdana"/>
                <a:ea typeface="Verdana"/>
                <a:cs typeface="Calibri"/>
              </a:rPr>
              <a:t>Verpleegkundigen en verzorgenden ervaren amper de voordelen van digitale vastlegging en gegevensuitwisseling bij de verpleegkundige overdracht. Gegevens worden ongestructureerd opgeslagen in gescheiden systemen, wat leidt tot extra registratielast voor zorgprofessionals. Bovendien wisselen de systemen gegevens niet automatisch uit, waardoor verpleegkundigen </a:t>
            </a:r>
            <a:r>
              <a:rPr lang="nl-NL" sz="1050">
                <a:solidFill>
                  <a:prstClr val="black"/>
                </a:solidFill>
                <a:latin typeface="Verdana"/>
                <a:ea typeface="Verdana"/>
                <a:cs typeface="Calibri"/>
              </a:rPr>
              <a:t>en verzorgenden extra</a:t>
            </a:r>
            <a:r>
              <a:rPr kumimoji="0" lang="nl-NL" sz="1050" b="0" i="0" u="none" strike="noStrike" kern="1200" cap="none" spc="0" normalizeH="0" baseline="0" noProof="0">
                <a:ln>
                  <a:noFill/>
                </a:ln>
                <a:solidFill>
                  <a:prstClr val="black"/>
                </a:solidFill>
                <a:effectLst/>
                <a:uLnTx/>
                <a:uFillTx/>
                <a:latin typeface="Verdana"/>
                <a:ea typeface="Verdana"/>
                <a:cs typeface="Calibri"/>
              </a:rPr>
              <a:t> moeten uitzoeken en gegevens handmatig moeten overtypen bij de overdracht. Daarnaast is de overdracht vaak onvolledig, bevat veel overbodige informatie of ontbreekt zelfs volledig, wat dit een kwetsbaar onderdeel maakt in het zorgproces. Dit brengt risico’s met zich mee voor de kwaliteit en continuïteit van zorg voor de inwoner. </a:t>
            </a:r>
            <a:endParaRPr kumimoji="0" lang="nl-NL" sz="1050" b="0" i="0" u="none" strike="noStrike" kern="1200" cap="none" spc="0" normalizeH="0" baseline="0" noProof="0">
              <a:ln>
                <a:noFill/>
              </a:ln>
              <a:solidFill>
                <a:prstClr val="black"/>
              </a:solidFill>
              <a:effectLst/>
              <a:uLnTx/>
              <a:uFillTx/>
              <a:latin typeface="Verdana"/>
              <a:ea typeface="Verdana"/>
              <a:cs typeface="+mn-cs"/>
            </a:endParaRPr>
          </a:p>
        </p:txBody>
      </p:sp>
      <p:sp>
        <p:nvSpPr>
          <p:cNvPr id="32" name="Oval 35">
            <a:extLst>
              <a:ext uri="{FF2B5EF4-FFF2-40B4-BE49-F238E27FC236}">
                <a16:creationId xmlns:a16="http://schemas.microsoft.com/office/drawing/2014/main" id="{214E4393-402A-0589-1EEA-D433BDC220F6}"/>
              </a:ext>
            </a:extLst>
          </p:cNvPr>
          <p:cNvSpPr>
            <a:spLocks/>
          </p:cNvSpPr>
          <p:nvPr/>
        </p:nvSpPr>
        <p:spPr>
          <a:xfrm>
            <a:off x="3621977" y="1405953"/>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33" name="Graphic 32">
            <a:extLst>
              <a:ext uri="{FF2B5EF4-FFF2-40B4-BE49-F238E27FC236}">
                <a16:creationId xmlns:a16="http://schemas.microsoft.com/office/drawing/2014/main" id="{A4860964-EA3A-66D0-99E0-D3E16BA2CDEC}"/>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3711977" y="1491455"/>
            <a:ext cx="180000" cy="180000"/>
          </a:xfrm>
          <a:prstGeom prst="rect">
            <a:avLst/>
          </a:prstGeom>
        </p:spPr>
      </p:pic>
      <p:sp>
        <p:nvSpPr>
          <p:cNvPr id="34" name="Oval 35">
            <a:extLst>
              <a:ext uri="{FF2B5EF4-FFF2-40B4-BE49-F238E27FC236}">
                <a16:creationId xmlns:a16="http://schemas.microsoft.com/office/drawing/2014/main" id="{F8DF2AF1-5C85-951A-3ED4-CB3553B244BA}"/>
              </a:ext>
            </a:extLst>
          </p:cNvPr>
          <p:cNvSpPr>
            <a:spLocks/>
          </p:cNvSpPr>
          <p:nvPr/>
        </p:nvSpPr>
        <p:spPr>
          <a:xfrm>
            <a:off x="3647779" y="3085648"/>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35" name="Freeform: Shape 14">
            <a:extLst>
              <a:ext uri="{FF2B5EF4-FFF2-40B4-BE49-F238E27FC236}">
                <a16:creationId xmlns:a16="http://schemas.microsoft.com/office/drawing/2014/main" id="{3690322D-DAB7-7FBC-6AAD-41D3D66AE619}"/>
              </a:ext>
            </a:extLst>
          </p:cNvPr>
          <p:cNvSpPr/>
          <p:nvPr/>
        </p:nvSpPr>
        <p:spPr>
          <a:xfrm>
            <a:off x="3730814" y="3179954"/>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sp>
        <p:nvSpPr>
          <p:cNvPr id="36" name="Oval 35">
            <a:extLst>
              <a:ext uri="{FF2B5EF4-FFF2-40B4-BE49-F238E27FC236}">
                <a16:creationId xmlns:a16="http://schemas.microsoft.com/office/drawing/2014/main" id="{0205391D-9C8E-B982-F91A-4CECDC030C86}"/>
              </a:ext>
            </a:extLst>
          </p:cNvPr>
          <p:cNvSpPr>
            <a:spLocks/>
          </p:cNvSpPr>
          <p:nvPr/>
        </p:nvSpPr>
        <p:spPr>
          <a:xfrm>
            <a:off x="3650914" y="5446758"/>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37" name="Graphic 36" descr="A cloud though bubble">
            <a:extLst>
              <a:ext uri="{FF2B5EF4-FFF2-40B4-BE49-F238E27FC236}">
                <a16:creationId xmlns:a16="http://schemas.microsoft.com/office/drawing/2014/main" id="{C76122AD-BD54-4E57-3AB8-54D750058BA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21436" y="5535193"/>
            <a:ext cx="180000" cy="159763"/>
          </a:xfrm>
          <a:prstGeom prst="rect">
            <a:avLst/>
          </a:prstGeom>
        </p:spPr>
      </p:pic>
      <p:grpSp>
        <p:nvGrpSpPr>
          <p:cNvPr id="38" name="Groep 37">
            <a:extLst>
              <a:ext uri="{FF2B5EF4-FFF2-40B4-BE49-F238E27FC236}">
                <a16:creationId xmlns:a16="http://schemas.microsoft.com/office/drawing/2014/main" id="{5F3D3E4E-EA57-9B5D-BF43-AE601882E35A}"/>
              </a:ext>
            </a:extLst>
          </p:cNvPr>
          <p:cNvGrpSpPr/>
          <p:nvPr/>
        </p:nvGrpSpPr>
        <p:grpSpPr>
          <a:xfrm>
            <a:off x="550460" y="1400560"/>
            <a:ext cx="360000" cy="360000"/>
            <a:chOff x="80917" y="1266253"/>
            <a:chExt cx="360000" cy="360000"/>
          </a:xfrm>
        </p:grpSpPr>
        <p:sp>
          <p:nvSpPr>
            <p:cNvPr id="39" name="Oval 35">
              <a:extLst>
                <a:ext uri="{FF2B5EF4-FFF2-40B4-BE49-F238E27FC236}">
                  <a16:creationId xmlns:a16="http://schemas.microsoft.com/office/drawing/2014/main" id="{44232DEB-042F-1354-1A0D-79B12FEAA66F}"/>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40" name="Graphic 39">
              <a:extLst>
                <a:ext uri="{FF2B5EF4-FFF2-40B4-BE49-F238E27FC236}">
                  <a16:creationId xmlns:a16="http://schemas.microsoft.com/office/drawing/2014/main" id="{F06DBD2B-A3DB-2FAA-02E3-5F80B3E8CD07}"/>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70917" y="1351755"/>
              <a:ext cx="180000" cy="180000"/>
            </a:xfrm>
            <a:prstGeom prst="rect">
              <a:avLst/>
            </a:prstGeom>
          </p:spPr>
        </p:pic>
      </p:grpSp>
      <p:sp>
        <p:nvSpPr>
          <p:cNvPr id="41" name="TextBox 16">
            <a:extLst>
              <a:ext uri="{FF2B5EF4-FFF2-40B4-BE49-F238E27FC236}">
                <a16:creationId xmlns:a16="http://schemas.microsoft.com/office/drawing/2014/main" id="{37FD1DD7-D7AA-F301-1702-4BB84E460ECB}"/>
              </a:ext>
            </a:extLst>
          </p:cNvPr>
          <p:cNvSpPr txBox="1"/>
          <p:nvPr/>
        </p:nvSpPr>
        <p:spPr>
          <a:xfrm>
            <a:off x="109854" y="4856706"/>
            <a:ext cx="3275894" cy="1700466"/>
          </a:xfrm>
          <a:prstGeom prst="rect">
            <a:avLst/>
          </a:prstGeom>
          <a:noFill/>
        </p:spPr>
        <p:txBody>
          <a:bodyPr wrap="square" lIns="91440" tIns="45720" rIns="91440" bIns="45720" rtlCol="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5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Verminderen administratieve lasten om zorgprofessionals te ontlasten; </a:t>
            </a:r>
            <a:r>
              <a:rPr kumimoji="0" lang="nl-NL"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minder handmatige dubbele registraties.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5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Behouden van beschikbare zorgprofessionals; </a:t>
            </a:r>
            <a:r>
              <a:rPr kumimoji="0" lang="nl-NL"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door vergroten werkplezier en meer tijdsbesteding aan zorg.</a:t>
            </a:r>
            <a:endParaRPr kumimoji="0" lang="nl-NL"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Helvetica"/>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5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Inzetten op elektronische gegevensuitwisseling; </a:t>
            </a:r>
            <a:r>
              <a:rPr kumimoji="0" lang="nl-NL"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wettelijk bepaald. </a:t>
            </a:r>
            <a:r>
              <a:rPr kumimoji="0" lang="nl-NL" sz="105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 </a:t>
            </a:r>
            <a:endParaRPr kumimoji="0" lang="nl-NL" sz="105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Helvetica"/>
            </a:endParaRPr>
          </a:p>
        </p:txBody>
      </p:sp>
      <p:sp>
        <p:nvSpPr>
          <p:cNvPr id="44" name="Gelijkbenige driehoek 43">
            <a:extLst>
              <a:ext uri="{FF2B5EF4-FFF2-40B4-BE49-F238E27FC236}">
                <a16:creationId xmlns:a16="http://schemas.microsoft.com/office/drawing/2014/main" id="{A8170C24-D9C4-0CF7-BDCB-81719616E274}"/>
              </a:ext>
            </a:extLst>
          </p:cNvPr>
          <p:cNvSpPr/>
          <p:nvPr/>
        </p:nvSpPr>
        <p:spPr>
          <a:xfrm rot="10800000">
            <a:off x="6715433" y="5313812"/>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Gelijkbenige driehoek 2">
            <a:extLst>
              <a:ext uri="{FF2B5EF4-FFF2-40B4-BE49-F238E27FC236}">
                <a16:creationId xmlns:a16="http://schemas.microsoft.com/office/drawing/2014/main" id="{D6EE4E0E-18B5-D5AA-CC1A-1081ECA6AF1A}"/>
              </a:ext>
            </a:extLst>
          </p:cNvPr>
          <p:cNvSpPr/>
          <p:nvPr/>
        </p:nvSpPr>
        <p:spPr>
          <a:xfrm rot="10800000">
            <a:off x="6715433" y="3037835"/>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Top Corners Rounded 38">
            <a:hlinkClick r:id="rId11" action="ppaction://hlinksldjump"/>
            <a:extLst>
              <a:ext uri="{FF2B5EF4-FFF2-40B4-BE49-F238E27FC236}">
                <a16:creationId xmlns:a16="http://schemas.microsoft.com/office/drawing/2014/main" id="{EF8C40E0-7843-CB18-DE80-252CD5D11106}"/>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20" name="Graphic 19" descr="Introductiepagina silhouet">
            <a:hlinkClick r:id="rId12" action="ppaction://hlinksldjump"/>
            <a:extLst>
              <a:ext uri="{FF2B5EF4-FFF2-40B4-BE49-F238E27FC236}">
                <a16:creationId xmlns:a16="http://schemas.microsoft.com/office/drawing/2014/main" id="{7283936C-D440-C588-006F-EDF2ECAB65B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136" y="147223"/>
            <a:ext cx="144000" cy="144000"/>
          </a:xfrm>
          <a:prstGeom prst="rect">
            <a:avLst/>
          </a:prstGeom>
        </p:spPr>
      </p:pic>
      <p:sp>
        <p:nvSpPr>
          <p:cNvPr id="21" name="Rectangle: Top Corners Rounded 1">
            <a:hlinkClick r:id="rId15" action="ppaction://hlinksldjump"/>
            <a:extLst>
              <a:ext uri="{FF2B5EF4-FFF2-40B4-BE49-F238E27FC236}">
                <a16:creationId xmlns:a16="http://schemas.microsoft.com/office/drawing/2014/main" id="{2163C7BC-F126-22CE-E474-45B2C804B418}"/>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2" name="Rectangle: Top Corners Rounded 1">
            <a:hlinkClick r:id="rId16" action="ppaction://hlinksldjump"/>
            <a:extLst>
              <a:ext uri="{FF2B5EF4-FFF2-40B4-BE49-F238E27FC236}">
                <a16:creationId xmlns:a16="http://schemas.microsoft.com/office/drawing/2014/main" id="{B29D7185-8924-50FF-7B71-291C6D3A14B9}"/>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3" name="Rectangle: Top Corners Rounded 1">
            <a:hlinkClick r:id="rId17" action="ppaction://hlinksldjump"/>
            <a:extLst>
              <a:ext uri="{FF2B5EF4-FFF2-40B4-BE49-F238E27FC236}">
                <a16:creationId xmlns:a16="http://schemas.microsoft.com/office/drawing/2014/main" id="{6DAD9468-8C7C-5DE2-8F7E-BF806AD173F5}"/>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4" name="Rectangle: Top Corners Rounded 1">
            <a:hlinkClick r:id="rId18" action="ppaction://hlinksldjump"/>
            <a:extLst>
              <a:ext uri="{FF2B5EF4-FFF2-40B4-BE49-F238E27FC236}">
                <a16:creationId xmlns:a16="http://schemas.microsoft.com/office/drawing/2014/main" id="{733C18B5-74D0-6C85-D63F-59898C5B9B66}"/>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5" name="Rectangle: Top Corners Rounded 1">
            <a:hlinkClick r:id="rId19" action="ppaction://hlinksldjump"/>
            <a:extLst>
              <a:ext uri="{FF2B5EF4-FFF2-40B4-BE49-F238E27FC236}">
                <a16:creationId xmlns:a16="http://schemas.microsoft.com/office/drawing/2014/main" id="{71879391-387E-1614-EA92-3F9D20D96CE6}"/>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42" name="Rectangle: Top Corners Rounded 1">
            <a:hlinkClick r:id="rId20" action="ppaction://hlinksldjump"/>
            <a:extLst>
              <a:ext uri="{FF2B5EF4-FFF2-40B4-BE49-F238E27FC236}">
                <a16:creationId xmlns:a16="http://schemas.microsoft.com/office/drawing/2014/main" id="{EA4214A1-3BE9-4EFF-E503-CFFFE6760452}"/>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3" name="Rectangle: Top Corners Rounded 1">
            <a:hlinkClick r:id="rId21" action="ppaction://hlinksldjump"/>
            <a:extLst>
              <a:ext uri="{FF2B5EF4-FFF2-40B4-BE49-F238E27FC236}">
                <a16:creationId xmlns:a16="http://schemas.microsoft.com/office/drawing/2014/main" id="{82D1A980-AF1A-E111-6C72-0624244FAD5C}"/>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5" name="Rectangle: Top Corners Rounded 1">
            <a:hlinkClick r:id="rId22" action="ppaction://hlinksldjump"/>
            <a:extLst>
              <a:ext uri="{FF2B5EF4-FFF2-40B4-BE49-F238E27FC236}">
                <a16:creationId xmlns:a16="http://schemas.microsoft.com/office/drawing/2014/main" id="{EDA72759-1D18-05E2-9DCE-DF44C81868DB}"/>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6" name="Rectangle: Top Corners Rounded 1">
            <a:hlinkClick r:id="rId23" action="ppaction://hlinksldjump"/>
            <a:extLst>
              <a:ext uri="{FF2B5EF4-FFF2-40B4-BE49-F238E27FC236}">
                <a16:creationId xmlns:a16="http://schemas.microsoft.com/office/drawing/2014/main" id="{25176392-0AA6-0403-E1F5-DFEBD0CCFC5D}"/>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7" name="Rectangle: Top Corners Rounded 1">
            <a:hlinkClick r:id="rId24" action="ppaction://hlinksldjump"/>
            <a:extLst>
              <a:ext uri="{FF2B5EF4-FFF2-40B4-BE49-F238E27FC236}">
                <a16:creationId xmlns:a16="http://schemas.microsoft.com/office/drawing/2014/main" id="{6474F3CC-E528-C4AF-9579-00B8E685E78C}"/>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8" name="Rectangle: Top Corners Rounded 1">
            <a:hlinkClick r:id="rId25" action="ppaction://hlinksldjump"/>
            <a:extLst>
              <a:ext uri="{FF2B5EF4-FFF2-40B4-BE49-F238E27FC236}">
                <a16:creationId xmlns:a16="http://schemas.microsoft.com/office/drawing/2014/main" id="{36A1373D-4361-B1A2-38EE-F739D218262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548277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E0C83C-7BAC-4EB2-E3DC-F1669C5FEC3A}"/>
              </a:ext>
            </a:extLst>
          </p:cNvPr>
          <p:cNvSpPr>
            <a:spLocks noGrp="1"/>
          </p:cNvSpPr>
          <p:nvPr>
            <p:ph type="title"/>
          </p:nvPr>
        </p:nvSpPr>
        <p:spPr/>
        <p:txBody>
          <a:bodyPr/>
          <a:lstStyle/>
          <a:p>
            <a:r>
              <a:rPr lang="en-GB" err="1"/>
              <a:t>Verpleegkundige</a:t>
            </a:r>
            <a:r>
              <a:rPr lang="en-GB"/>
              <a:t> </a:t>
            </a:r>
            <a:r>
              <a:rPr lang="en-GB" err="1"/>
              <a:t>Overdracht</a:t>
            </a:r>
            <a:r>
              <a:rPr lang="en-GB"/>
              <a:t> – </a:t>
            </a:r>
            <a:r>
              <a:rPr lang="en-GB" err="1"/>
              <a:t>Projectfasering</a:t>
            </a:r>
            <a:r>
              <a:rPr lang="en-GB"/>
              <a:t> </a:t>
            </a:r>
            <a:br>
              <a:rPr lang="en-GB"/>
            </a:br>
            <a:endParaRPr lang="en-GB"/>
          </a:p>
        </p:txBody>
      </p:sp>
      <p:sp>
        <p:nvSpPr>
          <p:cNvPr id="15" name="Text Placeholder 14">
            <a:extLst>
              <a:ext uri="{FF2B5EF4-FFF2-40B4-BE49-F238E27FC236}">
                <a16:creationId xmlns:a16="http://schemas.microsoft.com/office/drawing/2014/main" id="{A6A5BE5F-C858-D51F-D4FE-B5164A0F15F7}"/>
              </a:ext>
            </a:extLst>
          </p:cNvPr>
          <p:cNvSpPr>
            <a:spLocks noGrp="1"/>
          </p:cNvSpPr>
          <p:nvPr>
            <p:ph type="body" sz="quarter" idx="10"/>
          </p:nvPr>
        </p:nvSpPr>
        <p:spPr/>
        <p:txBody>
          <a:bodyPr vert="horz" lIns="91440" tIns="45720" rIns="91440" bIns="45720" rtlCol="0" anchor="t">
            <a:noAutofit/>
          </a:bodyPr>
          <a:lstStyle/>
          <a:p>
            <a:r>
              <a:rPr lang="nl-NL" sz="1200">
                <a:latin typeface="Verdana Pro"/>
                <a:ea typeface="Verdana"/>
              </a:rPr>
              <a:t>Na het concretiseren en inrichten, starten koplopers met de Minimale </a:t>
            </a:r>
            <a:r>
              <a:rPr lang="nl-NL" sz="1200" err="1">
                <a:latin typeface="Verdana Pro"/>
                <a:ea typeface="Verdana"/>
              </a:rPr>
              <a:t>eOverdracht</a:t>
            </a:r>
            <a:r>
              <a:rPr lang="nl-NL" sz="1200">
                <a:latin typeface="Verdana Pro"/>
                <a:ea typeface="Verdana"/>
              </a:rPr>
              <a:t>, gevolgd door opschaling naar meer </a:t>
            </a:r>
            <a:r>
              <a:rPr lang="nl-NL" sz="1200">
                <a:ea typeface="Verdana"/>
              </a:rPr>
              <a:t>zorgorganisaties</a:t>
            </a:r>
            <a:r>
              <a:rPr lang="nl-NL" sz="1200">
                <a:latin typeface="Verdana Pro"/>
                <a:ea typeface="Verdana"/>
              </a:rPr>
              <a:t> en de volledige </a:t>
            </a:r>
            <a:r>
              <a:rPr lang="nl-NL" sz="1200" err="1">
                <a:latin typeface="Verdana Pro"/>
                <a:ea typeface="Verdana"/>
              </a:rPr>
              <a:t>eOverdracht</a:t>
            </a:r>
            <a:r>
              <a:rPr lang="nl-NL" sz="1200">
                <a:latin typeface="Verdana Pro"/>
                <a:ea typeface="Verdana"/>
              </a:rPr>
              <a:t>.</a:t>
            </a:r>
          </a:p>
          <a:p>
            <a:endParaRPr lang="en-GB" sz="1200"/>
          </a:p>
        </p:txBody>
      </p:sp>
      <p:sp>
        <p:nvSpPr>
          <p:cNvPr id="14" name="Tekstvak 13">
            <a:extLst>
              <a:ext uri="{FF2B5EF4-FFF2-40B4-BE49-F238E27FC236}">
                <a16:creationId xmlns:a16="http://schemas.microsoft.com/office/drawing/2014/main" id="{3EE12F08-59A5-9CB8-EC8F-F0B2C13CA135}"/>
              </a:ext>
            </a:extLst>
          </p:cNvPr>
          <p:cNvSpPr txBox="1"/>
          <p:nvPr/>
        </p:nvSpPr>
        <p:spPr>
          <a:xfrm>
            <a:off x="-319168" y="4528954"/>
            <a:ext cx="738664" cy="804268"/>
          </a:xfrm>
          <a:prstGeom prst="rect">
            <a:avLst/>
          </a:prstGeom>
          <a:noFill/>
        </p:spPr>
        <p:txBody>
          <a:bodyPr vert="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Relevante partijen</a:t>
            </a:r>
          </a:p>
        </p:txBody>
      </p:sp>
      <p:sp>
        <p:nvSpPr>
          <p:cNvPr id="100" name="TextBox 13">
            <a:extLst>
              <a:ext uri="{FF2B5EF4-FFF2-40B4-BE49-F238E27FC236}">
                <a16:creationId xmlns:a16="http://schemas.microsoft.com/office/drawing/2014/main" id="{620307B4-E72D-0F58-BBD1-5593BC9B59FE}"/>
              </a:ext>
            </a:extLst>
          </p:cNvPr>
          <p:cNvSpPr txBox="1"/>
          <p:nvPr/>
        </p:nvSpPr>
        <p:spPr>
          <a:xfrm>
            <a:off x="7800177" y="1395173"/>
            <a:ext cx="2075817"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nl-NL" sz="1100" b="1">
                <a:solidFill>
                  <a:srgbClr val="333333"/>
                </a:solidFill>
                <a:latin typeface="Verdana"/>
                <a:ea typeface="Verdana"/>
                <a:cs typeface="Arial"/>
              </a:rPr>
              <a:t>Fase 4</a:t>
            </a:r>
            <a:br>
              <a:rPr lang="nl-NL" sz="1100" b="1">
                <a:solidFill>
                  <a:srgbClr val="333333"/>
                </a:solidFill>
                <a:latin typeface="Verdana"/>
                <a:ea typeface="Verdana"/>
                <a:cs typeface="Arial"/>
              </a:rPr>
            </a:br>
            <a:r>
              <a:rPr kumimoji="0" lang="nl-NL" sz="1000" b="1" i="1" u="none" strike="noStrike" kern="1200" cap="none" spc="0" normalizeH="0" baseline="0" noProof="0">
                <a:ln>
                  <a:noFill/>
                </a:ln>
                <a:solidFill>
                  <a:srgbClr val="333333"/>
                </a:solidFill>
                <a:effectLst/>
                <a:uLnTx/>
                <a:uFillTx/>
                <a:latin typeface="Verdana"/>
                <a:ea typeface="Verdana"/>
                <a:cs typeface="Arial"/>
              </a:rPr>
              <a:t>Q4 </a:t>
            </a:r>
            <a:r>
              <a:rPr lang="nl-NL" sz="1000" b="1" i="1">
                <a:solidFill>
                  <a:srgbClr val="333333"/>
                </a:solidFill>
                <a:latin typeface="Verdana"/>
                <a:ea typeface="Verdana"/>
                <a:cs typeface="Arial"/>
              </a:rPr>
              <a:t>2025 -</a:t>
            </a:r>
            <a:r>
              <a:rPr kumimoji="0" lang="nl-NL" sz="1000" b="1" i="1" u="none" strike="noStrike" kern="1200" cap="none" spc="0" normalizeH="0" baseline="0" noProof="0">
                <a:ln>
                  <a:noFill/>
                </a:ln>
                <a:solidFill>
                  <a:srgbClr val="333333"/>
                </a:solidFill>
                <a:effectLst/>
                <a:uLnTx/>
                <a:uFillTx/>
                <a:latin typeface="Verdana"/>
                <a:ea typeface="Verdana"/>
                <a:cs typeface="Arial"/>
              </a:rPr>
              <a:t> </a:t>
            </a:r>
            <a:r>
              <a:rPr lang="nl-NL" sz="1000" b="1" i="1">
                <a:solidFill>
                  <a:srgbClr val="333333"/>
                </a:solidFill>
                <a:latin typeface="Verdana"/>
                <a:ea typeface="Verdana"/>
                <a:cs typeface="Arial"/>
              </a:rPr>
              <a:t>Q1</a:t>
            </a:r>
            <a:r>
              <a:rPr kumimoji="0" lang="nl-NL" sz="1000" b="1" i="1" u="none" strike="noStrike" kern="1200" cap="none" spc="0" normalizeH="0" baseline="0" noProof="0">
                <a:ln>
                  <a:noFill/>
                </a:ln>
                <a:solidFill>
                  <a:srgbClr val="333333"/>
                </a:solidFill>
                <a:effectLst/>
                <a:uLnTx/>
                <a:uFillTx/>
                <a:latin typeface="Verdana"/>
                <a:ea typeface="Verdana"/>
                <a:cs typeface="Arial"/>
              </a:rPr>
              <a:t> 2026</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01" name="TextBox 13">
            <a:extLst>
              <a:ext uri="{FF2B5EF4-FFF2-40B4-BE49-F238E27FC236}">
                <a16:creationId xmlns:a16="http://schemas.microsoft.com/office/drawing/2014/main" id="{1896483D-5E0B-067C-46CD-17CD43703ECD}"/>
              </a:ext>
            </a:extLst>
          </p:cNvPr>
          <p:cNvSpPr txBox="1"/>
          <p:nvPr/>
        </p:nvSpPr>
        <p:spPr>
          <a:xfrm>
            <a:off x="529983" y="1395173"/>
            <a:ext cx="2962210"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1</a:t>
            </a:r>
            <a:br>
              <a:rPr lang="nl-NL" sz="1100" b="1" i="0" u="none" strike="noStrike" kern="1200" cap="none" spc="0" normalizeH="0" baseline="0" noProof="0">
                <a:ln>
                  <a:noFill/>
                </a:ln>
                <a:effectLst/>
                <a:uLnTx/>
                <a:uFillTx/>
                <a:latin typeface="Verdana"/>
                <a:ea typeface="Verdana"/>
                <a:cs typeface="Arial"/>
              </a:rPr>
            </a:br>
            <a:r>
              <a:rPr lang="nl-NL" sz="1000" b="1" i="1">
                <a:solidFill>
                  <a:srgbClr val="333333"/>
                </a:solidFill>
                <a:latin typeface="Verdana"/>
                <a:ea typeface="Verdana"/>
                <a:cs typeface="Arial"/>
              </a:rPr>
              <a:t> Q4 2024 - Q1 2025</a:t>
            </a:r>
            <a:endParaRPr lang="nl-NL" sz="1000" b="1" i="1" u="none" strike="noStrike" kern="1200" cap="none" spc="0" normalizeH="0" baseline="0" noProof="0">
              <a:ln>
                <a:noFill/>
              </a:ln>
              <a:solidFill>
                <a:srgbClr val="333333"/>
              </a:solidFill>
              <a:effectLst/>
              <a:uLnTx/>
              <a:uFillTx/>
              <a:latin typeface="Verdana"/>
              <a:ea typeface="Verdana"/>
              <a:cs typeface="Arial"/>
            </a:endParaRPr>
          </a:p>
        </p:txBody>
      </p:sp>
      <p:cxnSp>
        <p:nvCxnSpPr>
          <p:cNvPr id="102" name="Straight Arrow Connector 29">
            <a:extLst>
              <a:ext uri="{FF2B5EF4-FFF2-40B4-BE49-F238E27FC236}">
                <a16:creationId xmlns:a16="http://schemas.microsoft.com/office/drawing/2014/main" id="{B2190B64-1085-D27C-819D-DF612A790D58}"/>
              </a:ext>
            </a:extLst>
          </p:cNvPr>
          <p:cNvCxnSpPr>
            <a:cxnSpLocks/>
          </p:cNvCxnSpPr>
          <p:nvPr/>
        </p:nvCxnSpPr>
        <p:spPr>
          <a:xfrm flipV="1">
            <a:off x="529982" y="2043303"/>
            <a:ext cx="11473945" cy="658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3" name="Oval 17">
            <a:extLst>
              <a:ext uri="{FF2B5EF4-FFF2-40B4-BE49-F238E27FC236}">
                <a16:creationId xmlns:a16="http://schemas.microsoft.com/office/drawing/2014/main" id="{3126AB93-1854-F68A-484E-6E65357C92DB}"/>
              </a:ext>
            </a:extLst>
          </p:cNvPr>
          <p:cNvSpPr/>
          <p:nvPr/>
        </p:nvSpPr>
        <p:spPr>
          <a:xfrm>
            <a:off x="1816027"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04" name="TextBox 13">
            <a:extLst>
              <a:ext uri="{FF2B5EF4-FFF2-40B4-BE49-F238E27FC236}">
                <a16:creationId xmlns:a16="http://schemas.microsoft.com/office/drawing/2014/main" id="{2A6178A3-872D-1606-A316-A17465933A07}"/>
              </a:ext>
            </a:extLst>
          </p:cNvPr>
          <p:cNvSpPr txBox="1"/>
          <p:nvPr/>
        </p:nvSpPr>
        <p:spPr>
          <a:xfrm>
            <a:off x="5672244" y="1395173"/>
            <a:ext cx="2075816"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3</a:t>
            </a:r>
            <a:br>
              <a:rPr lang="nl-NL"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a:rPr>
            </a:br>
            <a:r>
              <a:rPr lang="nl-NL" sz="1000" b="1" i="1">
                <a:solidFill>
                  <a:srgbClr val="333333"/>
                </a:solidFill>
                <a:latin typeface="Verdana"/>
                <a:ea typeface="Verdana"/>
                <a:cs typeface="Arial"/>
              </a:rPr>
              <a:t>Q3 2025 – Q4 2025</a:t>
            </a:r>
            <a:endParaRPr kumimoji="0"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05" name="Rectangle: Rounded Corners 28">
            <a:extLst>
              <a:ext uri="{FF2B5EF4-FFF2-40B4-BE49-F238E27FC236}">
                <a16:creationId xmlns:a16="http://schemas.microsoft.com/office/drawing/2014/main" id="{A18AE8BD-0093-73DD-E2AC-73FF6895B0AE}"/>
              </a:ext>
            </a:extLst>
          </p:cNvPr>
          <p:cNvSpPr/>
          <p:nvPr/>
        </p:nvSpPr>
        <p:spPr>
          <a:xfrm>
            <a:off x="424854" y="2532869"/>
            <a:ext cx="3067338" cy="208566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0" bIns="45720" rtlCol="0" anchor="t"/>
          <a:lstStyle/>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Concretiseren van regionaal beleid, visie, intentieverklaring en werkafspraken vanuit alle </a:t>
            </a:r>
            <a:r>
              <a:rPr lang="nl-NL" sz="1000">
                <a:solidFill>
                  <a:prstClr val="black"/>
                </a:solidFill>
                <a:latin typeface="Verdana"/>
                <a:ea typeface="Verdana"/>
              </a:rPr>
              <a:t>zorgorganisaties</a:t>
            </a:r>
            <a:r>
              <a:rPr kumimoji="0" lang="nl-NL" sz="1000" b="0" i="0" u="none" strike="noStrike" kern="1200" cap="none" spc="0" normalizeH="0" baseline="0" noProof="0">
                <a:ln>
                  <a:noFill/>
                </a:ln>
                <a:solidFill>
                  <a:prstClr val="black"/>
                </a:solidFill>
                <a:effectLst/>
                <a:uLnTx/>
                <a:uFillTx/>
                <a:latin typeface="Verdana"/>
                <a:ea typeface="Verdana"/>
              </a:rPr>
              <a:t>.</a:t>
            </a:r>
          </a:p>
          <a:p>
            <a:pPr marR="0" lvl="0" algn="l" defTabSz="914400" rtl="0" eaLnBrk="1" fontAlgn="auto" latinLnBrk="0" hangingPunct="1">
              <a:lnSpc>
                <a:spcPct val="100000"/>
              </a:lnSpc>
              <a:spcBef>
                <a:spcPts val="0"/>
              </a:spcBef>
              <a:spcAft>
                <a:spcPts val="0"/>
              </a:spcAft>
              <a:buClrTx/>
              <a:buSzTx/>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Verkrijgen van inzicht in lopende programma’s, initiatieven, gebruikte applicaties en stand van zaken binnen de </a:t>
            </a:r>
            <a:r>
              <a:rPr lang="nl-NL" sz="1000">
                <a:solidFill>
                  <a:prstClr val="black"/>
                </a:solidFill>
                <a:latin typeface="Verdana"/>
                <a:ea typeface="Verdana"/>
              </a:rPr>
              <a:t>zorgorganisaties</a:t>
            </a:r>
            <a:r>
              <a:rPr kumimoji="0" lang="nl-NL" sz="1000" b="0" i="0" u="none" strike="noStrike" kern="1200" cap="none" spc="0" normalizeH="0" baseline="0" noProof="0">
                <a:ln>
                  <a:noFill/>
                </a:ln>
                <a:solidFill>
                  <a:prstClr val="black"/>
                </a:solidFill>
                <a:effectLst/>
                <a:uLnTx/>
                <a:uFillTx/>
                <a:latin typeface="Verdana"/>
                <a:ea typeface="Verdana"/>
              </a:rPr>
              <a:t> t.o.v. realisatie </a:t>
            </a:r>
            <a:r>
              <a:rPr kumimoji="0" lang="nl-NL" sz="1000" b="0" i="0" u="none" strike="noStrike" kern="1200" cap="none" spc="0" normalizeH="0" baseline="0" noProof="0" err="1">
                <a:ln>
                  <a:noFill/>
                </a:ln>
                <a:solidFill>
                  <a:prstClr val="black"/>
                </a:solidFill>
                <a:effectLst/>
                <a:uLnTx/>
                <a:uFillTx/>
                <a:latin typeface="Verdana"/>
                <a:ea typeface="Verdana"/>
              </a:rPr>
              <a:t>eOverdracht</a:t>
            </a:r>
            <a:r>
              <a:rPr kumimoji="0" lang="nl-NL" sz="1000" b="0" i="0" u="none" strike="noStrike" kern="1200" cap="none" spc="0" normalizeH="0" baseline="0" noProof="0">
                <a:ln>
                  <a:noFill/>
                </a:ln>
                <a:solidFill>
                  <a:prstClr val="black"/>
                </a:solidFill>
                <a:effectLst/>
                <a:uLnTx/>
                <a:uFillTx/>
                <a:latin typeface="Verdana"/>
                <a:ea typeface="Verdana"/>
              </a:rPr>
              <a:t> met volwassenheidsscan.</a:t>
            </a:r>
            <a:endParaRPr lang="nl-NL" sz="1000" b="0" i="0" u="none" strike="noStrike" kern="1200" cap="none" spc="0" normalizeH="0" baseline="0" noProof="0">
              <a:ln>
                <a:noFill/>
              </a:ln>
              <a:solidFill>
                <a:prstClr val="black"/>
              </a:solidFill>
              <a:effectLst/>
              <a:uLnTx/>
              <a:uFillTx/>
              <a:latin typeface="Verdana"/>
              <a:ea typeface="Verdana"/>
            </a:endParaRPr>
          </a:p>
          <a:p>
            <a:pPr marR="0" lvl="0" algn="l" defTabSz="914400" rtl="0" eaLnBrk="1" fontAlgn="auto" latinLnBrk="0" hangingPunct="1">
              <a:lnSpc>
                <a:spcPct val="100000"/>
              </a:lnSpc>
              <a:spcBef>
                <a:spcPts val="0"/>
              </a:spcBef>
              <a:spcAft>
                <a:spcPts val="0"/>
              </a:spcAft>
              <a:buClrTx/>
              <a:buSzTx/>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We definiëren en maken de technische en functionele inrichting van systemen klaar.</a:t>
            </a:r>
            <a:endParaRPr lang="nl-NL" sz="1000" b="0" i="0" u="none" strike="noStrike" kern="1200" cap="none" spc="0" normalizeH="0" baseline="0" noProof="0">
              <a:ln>
                <a:noFill/>
              </a:ln>
              <a:solidFill>
                <a:prstClr val="black"/>
              </a:solidFill>
              <a:effectLst/>
              <a:uLnTx/>
              <a:uFillTx/>
              <a:latin typeface="Verdana"/>
              <a:ea typeface="Verdana"/>
            </a:endParaRPr>
          </a:p>
        </p:txBody>
      </p:sp>
      <p:sp>
        <p:nvSpPr>
          <p:cNvPr id="106" name="Oval 13">
            <a:extLst>
              <a:ext uri="{FF2B5EF4-FFF2-40B4-BE49-F238E27FC236}">
                <a16:creationId xmlns:a16="http://schemas.microsoft.com/office/drawing/2014/main" id="{BAA7B938-2ED8-947C-A93E-19BB8383B8EB}"/>
              </a:ext>
            </a:extLst>
          </p:cNvPr>
          <p:cNvSpPr/>
          <p:nvPr/>
        </p:nvSpPr>
        <p:spPr>
          <a:xfrm>
            <a:off x="4336332"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07" name="TextBox 13">
            <a:extLst>
              <a:ext uri="{FF2B5EF4-FFF2-40B4-BE49-F238E27FC236}">
                <a16:creationId xmlns:a16="http://schemas.microsoft.com/office/drawing/2014/main" id="{62000C82-0313-9320-F103-DACDB42A989C}"/>
              </a:ext>
            </a:extLst>
          </p:cNvPr>
          <p:cNvSpPr txBox="1"/>
          <p:nvPr/>
        </p:nvSpPr>
        <p:spPr>
          <a:xfrm>
            <a:off x="3544310" y="1395173"/>
            <a:ext cx="2075817"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2</a:t>
            </a:r>
            <a:br>
              <a:rPr kumimoji="0" lang="nl-NL" sz="1100" b="1" i="0" u="none" strike="noStrike" kern="1200" cap="none" spc="0" normalizeH="0" baseline="0" noProof="0">
                <a:ln>
                  <a:noFill/>
                </a:ln>
                <a:solidFill>
                  <a:srgbClr val="333333"/>
                </a:solidFill>
                <a:effectLst/>
                <a:uLnTx/>
                <a:uFillTx/>
                <a:latin typeface="Verdana"/>
                <a:ea typeface="Verdana"/>
                <a:cs typeface="Arial"/>
              </a:rPr>
            </a:br>
            <a:r>
              <a:rPr lang="nl-NL" sz="1000" b="1" i="1">
                <a:solidFill>
                  <a:srgbClr val="333333"/>
                </a:solidFill>
                <a:latin typeface="Verdana"/>
                <a:ea typeface="Verdana"/>
                <a:cs typeface="Arial"/>
              </a:rPr>
              <a:t>Q2 2025 - Q3 2025</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08" name="Rectangle: Rounded Corners 47">
            <a:extLst>
              <a:ext uri="{FF2B5EF4-FFF2-40B4-BE49-F238E27FC236}">
                <a16:creationId xmlns:a16="http://schemas.microsoft.com/office/drawing/2014/main" id="{B4370B40-A401-0C0F-1A27-56988B19A4C4}"/>
              </a:ext>
            </a:extLst>
          </p:cNvPr>
          <p:cNvSpPr/>
          <p:nvPr/>
        </p:nvSpPr>
        <p:spPr>
          <a:xfrm>
            <a:off x="420890" y="5186655"/>
            <a:ext cx="3067339" cy="1616399"/>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Overzicht huidige initiatieven en applicaties</a:t>
            </a:r>
            <a:endParaRPr lang="nl-NL">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00">
                <a:solidFill>
                  <a:prstClr val="black"/>
                </a:solidFill>
                <a:latin typeface="Verdana" panose="020B0604030504040204" pitchFamily="34" charset="0"/>
                <a:ea typeface="Verdana" panose="020B0604030504040204" pitchFamily="34" charset="0"/>
              </a:rPr>
              <a:t>Regionale werkafspraak</a:t>
            </a: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Gedetailleerd plan van aanpak inclusief communicatieplan</a:t>
            </a:r>
          </a:p>
          <a:p>
            <a:pPr marL="171450" indent="-171450">
              <a:buFont typeface="Arial" panose="020B0604020202020204" pitchFamily="34" charset="0"/>
              <a:buChar char="•"/>
              <a:defRPr/>
            </a:pPr>
            <a:r>
              <a:rPr kumimoji="0" lang="nl-NL" sz="1000" b="0" i="0" u="none" strike="noStrike" kern="1200" cap="none" spc="0" normalizeH="0" baseline="0" noProof="0">
                <a:ln>
                  <a:noFill/>
                </a:ln>
                <a:solidFill>
                  <a:prstClr val="black"/>
                </a:solidFill>
                <a:effectLst/>
                <a:uLnTx/>
                <a:uFillTx/>
                <a:latin typeface="Verdana"/>
                <a:ea typeface="Verdana"/>
              </a:rPr>
              <a:t>Overzicht </a:t>
            </a:r>
            <a:r>
              <a:rPr lang="nl-NL" sz="1000">
                <a:solidFill>
                  <a:prstClr val="black"/>
                </a:solidFill>
                <a:latin typeface="Verdana"/>
                <a:ea typeface="Verdana"/>
              </a:rPr>
              <a:t>koplopers en volgers</a:t>
            </a:r>
            <a:endParaRPr lang="nl-NL" sz="1000" b="0" i="0" u="none" strike="noStrike" kern="1200" cap="none" spc="0" normalizeH="0" baseline="0" noProof="0">
              <a:ln>
                <a:noFill/>
              </a:ln>
              <a:solidFill>
                <a:prstClr val="black"/>
              </a:solidFill>
              <a:effectLst/>
              <a:uLnTx/>
              <a:uFillTx/>
              <a:latin typeface="Verdana"/>
              <a:ea typeface="Verdan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Organisatie en draaiboek voor implementatie</a:t>
            </a:r>
          </a:p>
        </p:txBody>
      </p:sp>
      <p:sp>
        <p:nvSpPr>
          <p:cNvPr id="109" name="Tekstvak 108">
            <a:extLst>
              <a:ext uri="{FF2B5EF4-FFF2-40B4-BE49-F238E27FC236}">
                <a16:creationId xmlns:a16="http://schemas.microsoft.com/office/drawing/2014/main" id="{598988E9-3251-2236-67D2-8AFF3F324CC8}"/>
              </a:ext>
            </a:extLst>
          </p:cNvPr>
          <p:cNvSpPr txBox="1"/>
          <p:nvPr/>
        </p:nvSpPr>
        <p:spPr>
          <a:xfrm>
            <a:off x="50764" y="3061356"/>
            <a:ext cx="323165" cy="1010323"/>
          </a:xfrm>
          <a:prstGeom prst="rect">
            <a:avLst/>
          </a:prstGeom>
          <a:noFill/>
        </p:spPr>
        <p:txBody>
          <a:bodyPr vert="vert" wrap="square">
            <a:spAutoFit/>
          </a:bodyPr>
          <a:lstStyle/>
          <a:p>
            <a:pPr algn="ct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Activiteiten</a:t>
            </a:r>
          </a:p>
        </p:txBody>
      </p:sp>
      <p:sp>
        <p:nvSpPr>
          <p:cNvPr id="110" name="Tekstvak 109">
            <a:extLst>
              <a:ext uri="{FF2B5EF4-FFF2-40B4-BE49-F238E27FC236}">
                <a16:creationId xmlns:a16="http://schemas.microsoft.com/office/drawing/2014/main" id="{C7AA61B3-B9FA-90DD-AF4D-4F51D4B7D3D4}"/>
              </a:ext>
            </a:extLst>
          </p:cNvPr>
          <p:cNvSpPr txBox="1"/>
          <p:nvPr/>
        </p:nvSpPr>
        <p:spPr>
          <a:xfrm>
            <a:off x="51401" y="5635811"/>
            <a:ext cx="323165" cy="944848"/>
          </a:xfrm>
          <a:prstGeom prst="rect">
            <a:avLst/>
          </a:prstGeom>
          <a:noFill/>
        </p:spPr>
        <p:txBody>
          <a:bodyPr vert="vert" wrap="square">
            <a:spAutoFit/>
          </a:bodyPr>
          <a:lstStyle/>
          <a:p>
            <a:pPr algn="ct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Deliverables</a:t>
            </a:r>
          </a:p>
        </p:txBody>
      </p:sp>
      <p:sp>
        <p:nvSpPr>
          <p:cNvPr id="111" name="TextBox 13">
            <a:extLst>
              <a:ext uri="{FF2B5EF4-FFF2-40B4-BE49-F238E27FC236}">
                <a16:creationId xmlns:a16="http://schemas.microsoft.com/office/drawing/2014/main" id="{435B0E21-D792-AD08-0055-698988279835}"/>
              </a:ext>
            </a:extLst>
          </p:cNvPr>
          <p:cNvSpPr txBox="1"/>
          <p:nvPr/>
        </p:nvSpPr>
        <p:spPr>
          <a:xfrm>
            <a:off x="9928113" y="1395173"/>
            <a:ext cx="2075817"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nl-NL" sz="1100" b="1">
                <a:solidFill>
                  <a:srgbClr val="333333"/>
                </a:solidFill>
                <a:latin typeface="Verdana"/>
                <a:ea typeface="Verdana"/>
                <a:cs typeface="Arial"/>
              </a:rPr>
              <a:t>Fase 5</a:t>
            </a:r>
            <a:br>
              <a:rPr lang="nl-NL" sz="1100" b="1">
                <a:solidFill>
                  <a:srgbClr val="333333"/>
                </a:solidFill>
                <a:latin typeface="Verdana"/>
                <a:ea typeface="Verdana"/>
                <a:cs typeface="Arial"/>
              </a:rPr>
            </a:br>
            <a:r>
              <a:rPr kumimoji="0" lang="nl-NL" sz="1000" b="1" i="1" u="none" strike="noStrike" kern="1200" cap="none" spc="0" normalizeH="0" baseline="0" noProof="0">
                <a:ln>
                  <a:noFill/>
                </a:ln>
                <a:solidFill>
                  <a:srgbClr val="333333"/>
                </a:solidFill>
                <a:effectLst/>
                <a:uLnTx/>
                <a:uFillTx/>
                <a:latin typeface="Verdana"/>
                <a:ea typeface="Verdana"/>
                <a:cs typeface="Arial"/>
              </a:rPr>
              <a:t>Q4 </a:t>
            </a:r>
            <a:r>
              <a:rPr lang="nl-NL" sz="1000" b="1" i="1">
                <a:solidFill>
                  <a:srgbClr val="333333"/>
                </a:solidFill>
                <a:latin typeface="Verdana"/>
                <a:ea typeface="Verdana"/>
                <a:cs typeface="Arial"/>
              </a:rPr>
              <a:t>2025 -</a:t>
            </a:r>
            <a:r>
              <a:rPr kumimoji="0" lang="nl-NL" sz="1000" b="1" i="1" u="none" strike="noStrike" kern="1200" cap="none" spc="0" normalizeH="0" baseline="0" noProof="0">
                <a:ln>
                  <a:noFill/>
                </a:ln>
                <a:solidFill>
                  <a:srgbClr val="333333"/>
                </a:solidFill>
                <a:effectLst/>
                <a:uLnTx/>
                <a:uFillTx/>
                <a:latin typeface="Verdana"/>
                <a:ea typeface="Verdana"/>
                <a:cs typeface="Arial"/>
              </a:rPr>
              <a:t> </a:t>
            </a:r>
            <a:r>
              <a:rPr lang="nl-NL" sz="1000" b="1" i="1">
                <a:solidFill>
                  <a:srgbClr val="333333"/>
                </a:solidFill>
                <a:latin typeface="Verdana"/>
                <a:ea typeface="Verdana"/>
                <a:cs typeface="Arial"/>
              </a:rPr>
              <a:t>Q4</a:t>
            </a:r>
            <a:r>
              <a:rPr kumimoji="0" lang="nl-NL" sz="1000" b="1" i="1" u="none" strike="noStrike" kern="1200" cap="none" spc="0" normalizeH="0" baseline="0" noProof="0">
                <a:ln>
                  <a:noFill/>
                </a:ln>
                <a:solidFill>
                  <a:srgbClr val="333333"/>
                </a:solidFill>
                <a:effectLst/>
                <a:uLnTx/>
                <a:uFillTx/>
                <a:latin typeface="Verdana"/>
                <a:ea typeface="Verdana"/>
                <a:cs typeface="Arial"/>
              </a:rPr>
              <a:t> 2026</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12" name="Oval 18">
            <a:extLst>
              <a:ext uri="{FF2B5EF4-FFF2-40B4-BE49-F238E27FC236}">
                <a16:creationId xmlns:a16="http://schemas.microsoft.com/office/drawing/2014/main" id="{063B3879-AA25-2FAD-3B03-64BEB1435A5D}"/>
              </a:ext>
            </a:extLst>
          </p:cNvPr>
          <p:cNvSpPr/>
          <p:nvPr/>
        </p:nvSpPr>
        <p:spPr>
          <a:xfrm>
            <a:off x="10720134"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13" name="Oval 13">
            <a:extLst>
              <a:ext uri="{FF2B5EF4-FFF2-40B4-BE49-F238E27FC236}">
                <a16:creationId xmlns:a16="http://schemas.microsoft.com/office/drawing/2014/main" id="{D216DCC1-2A65-8AA1-2FAD-A7CE279E5141}"/>
              </a:ext>
            </a:extLst>
          </p:cNvPr>
          <p:cNvSpPr/>
          <p:nvPr/>
        </p:nvSpPr>
        <p:spPr>
          <a:xfrm>
            <a:off x="8592200"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14" name="Rectangle: Rounded Corners 4">
            <a:extLst>
              <a:ext uri="{FF2B5EF4-FFF2-40B4-BE49-F238E27FC236}">
                <a16:creationId xmlns:a16="http://schemas.microsoft.com/office/drawing/2014/main" id="{FDAE7679-DB12-B7CF-8754-B049815BD3C9}"/>
              </a:ext>
            </a:extLst>
          </p:cNvPr>
          <p:cNvSpPr/>
          <p:nvPr/>
        </p:nvSpPr>
        <p:spPr>
          <a:xfrm>
            <a:off x="3540577" y="5632474"/>
            <a:ext cx="2075815" cy="110940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a:p>
            <a:pPr>
              <a:spcAft>
                <a:spcPts val="600"/>
              </a:spcAft>
              <a:defRPr/>
            </a:pPr>
            <a:endParaRPr lang="nl-NL" sz="1000">
              <a:solidFill>
                <a:srgbClr val="000000"/>
              </a:solidFill>
              <a:latin typeface="Verdana"/>
              <a:ea typeface="Verdana"/>
              <a:cs typeface="Arial"/>
            </a:endParaRPr>
          </a:p>
        </p:txBody>
      </p:sp>
      <p:sp>
        <p:nvSpPr>
          <p:cNvPr id="115" name="Rectangle: Rounded Corners 47">
            <a:extLst>
              <a:ext uri="{FF2B5EF4-FFF2-40B4-BE49-F238E27FC236}">
                <a16:creationId xmlns:a16="http://schemas.microsoft.com/office/drawing/2014/main" id="{40F85D27-D9BD-D47E-C7DB-B6A62C102A6B}"/>
              </a:ext>
            </a:extLst>
          </p:cNvPr>
          <p:cNvSpPr/>
          <p:nvPr/>
        </p:nvSpPr>
        <p:spPr>
          <a:xfrm>
            <a:off x="424853" y="4664966"/>
            <a:ext cx="3067339" cy="445245"/>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R="0" lvl="0" algn="l" defTabSz="914400" rtl="0" eaLnBrk="1" fontAlgn="auto" latinLnBrk="0" hangingPunct="1">
              <a:lnSpc>
                <a:spcPct val="100000"/>
              </a:lnSpc>
              <a:spcBef>
                <a:spcPts val="0"/>
              </a:spcBef>
              <a:spcAft>
                <a:spcPts val="0"/>
              </a:spcAft>
              <a:buClrTx/>
              <a:buSzTx/>
              <a:tabLst/>
              <a:defRPr/>
            </a:pPr>
            <a:r>
              <a:rPr lang="nl-NL" sz="1000">
                <a:solidFill>
                  <a:prstClr val="black"/>
                </a:solidFill>
                <a:latin typeface="Verdana"/>
                <a:ea typeface="Verdana"/>
              </a:rPr>
              <a:t>Alle deelnemende ziekenhuizen, VVT- en GGZ-organisaties in d</a:t>
            </a:r>
            <a:r>
              <a:rPr kumimoji="0" lang="nl-NL" sz="1000" b="0" i="0" u="none" strike="noStrike" kern="1200" cap="none" spc="0" normalizeH="0" baseline="0" noProof="0">
                <a:ln>
                  <a:noFill/>
                </a:ln>
                <a:solidFill>
                  <a:prstClr val="black"/>
                </a:solidFill>
                <a:effectLst/>
                <a:uLnTx/>
                <a:uFillTx/>
                <a:latin typeface="Verdana"/>
                <a:ea typeface="Verdana"/>
              </a:rPr>
              <a:t>e regio </a:t>
            </a:r>
            <a:endParaRPr lang="nl-NL">
              <a:solidFill>
                <a:prstClr val="black"/>
              </a:solidFill>
              <a:latin typeface="Verdana"/>
              <a:ea typeface="Verdana"/>
            </a:endParaRPr>
          </a:p>
        </p:txBody>
      </p:sp>
      <p:sp>
        <p:nvSpPr>
          <p:cNvPr id="116" name="Rectangle: Rounded Corners 4">
            <a:extLst>
              <a:ext uri="{FF2B5EF4-FFF2-40B4-BE49-F238E27FC236}">
                <a16:creationId xmlns:a16="http://schemas.microsoft.com/office/drawing/2014/main" id="{8A5DE3A5-B7B0-AAEC-AC24-92FA4FB88B5C}"/>
              </a:ext>
            </a:extLst>
          </p:cNvPr>
          <p:cNvSpPr/>
          <p:nvPr/>
        </p:nvSpPr>
        <p:spPr>
          <a:xfrm>
            <a:off x="3540577" y="2845809"/>
            <a:ext cx="2075815" cy="1242848"/>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85725" indent="-85725">
              <a:spcAft>
                <a:spcPts val="600"/>
              </a:spcAft>
              <a:buFont typeface="Arial" panose="020B0604020202020204" pitchFamily="34" charset="0"/>
              <a:buChar char="•"/>
              <a:defRPr/>
            </a:pPr>
            <a:r>
              <a:rPr lang="nl-NL" sz="1000">
                <a:solidFill>
                  <a:srgbClr val="000000"/>
                </a:solidFill>
                <a:latin typeface="Verdana"/>
                <a:ea typeface="Verdana"/>
                <a:cs typeface="Arial"/>
              </a:rPr>
              <a:t>Kick-off </a:t>
            </a:r>
          </a:p>
          <a:p>
            <a:pPr marL="85725" indent="-85725">
              <a:spcAft>
                <a:spcPts val="600"/>
              </a:spcAft>
              <a:buFont typeface="Arial" panose="020B0604020202020204" pitchFamily="34" charset="0"/>
              <a:buChar char="•"/>
              <a:defRPr/>
            </a:pPr>
            <a:r>
              <a:rPr lang="nl-NL" sz="1000">
                <a:solidFill>
                  <a:srgbClr val="000000"/>
                </a:solidFill>
                <a:latin typeface="Verdana"/>
                <a:ea typeface="Verdana"/>
                <a:cs typeface="Arial"/>
              </a:rPr>
              <a:t>Koplopers ZKH-VVT ; </a:t>
            </a:r>
            <a:r>
              <a:rPr lang="nl-NL" sz="1000" b="0" i="0" u="none" strike="noStrike" kern="1200" cap="none" spc="0" normalizeH="0" baseline="0" noProof="0">
                <a:ln>
                  <a:noFill/>
                </a:ln>
                <a:solidFill>
                  <a:srgbClr val="000000"/>
                </a:solidFill>
                <a:effectLst/>
                <a:uLnTx/>
                <a:uFillTx/>
                <a:latin typeface="Verdana"/>
                <a:ea typeface="Verdana"/>
                <a:cs typeface="Arial"/>
              </a:rPr>
              <a:t>VVT-VVT </a:t>
            </a:r>
            <a:r>
              <a:rPr lang="nl-NL" sz="1000">
                <a:solidFill>
                  <a:srgbClr val="000000"/>
                </a:solidFill>
                <a:latin typeface="Verdana"/>
                <a:ea typeface="Verdana"/>
                <a:cs typeface="Arial"/>
              </a:rPr>
              <a:t>(2 ziekenhuizen en 3 VVT-instellingen)</a:t>
            </a:r>
          </a:p>
          <a:p>
            <a:pPr marL="85725" indent="-85725">
              <a:spcAft>
                <a:spcPts val="600"/>
              </a:spcAft>
              <a:buFont typeface="Arial" panose="020B0604020202020204" pitchFamily="34" charset="0"/>
              <a:buChar char="•"/>
              <a:defRPr/>
            </a:pPr>
            <a:endParaRPr lang="nl-NL" sz="1000" b="0" i="0" u="none" strike="noStrike" kern="1200" cap="none" spc="0" normalizeH="0" baseline="0" noProof="0">
              <a:ln>
                <a:noFill/>
              </a:ln>
              <a:solidFill>
                <a:srgbClr val="000000"/>
              </a:solidFill>
              <a:effectLst/>
              <a:uLnTx/>
              <a:uFillTx/>
              <a:latin typeface="Verdana"/>
              <a:ea typeface="Verdana"/>
              <a:cs typeface="Arial"/>
            </a:endParaRPr>
          </a:p>
          <a:p>
            <a:pPr>
              <a:spcAft>
                <a:spcPts val="600"/>
              </a:spcAft>
              <a:defRPr/>
            </a:pPr>
            <a:endParaRPr lang="nl-NL" sz="1000" b="1">
              <a:solidFill>
                <a:srgbClr val="000000"/>
              </a:solidFill>
              <a:latin typeface="Verdana" panose="020B0604030504040204" pitchFamily="34" charset="0"/>
              <a:ea typeface="Verdana" panose="020B0604030504040204" pitchFamily="34" charset="0"/>
              <a:cs typeface="Arial"/>
            </a:endParaRPr>
          </a:p>
        </p:txBody>
      </p:sp>
      <p:sp>
        <p:nvSpPr>
          <p:cNvPr id="117" name="Rectangle: Rounded Corners 4">
            <a:extLst>
              <a:ext uri="{FF2B5EF4-FFF2-40B4-BE49-F238E27FC236}">
                <a16:creationId xmlns:a16="http://schemas.microsoft.com/office/drawing/2014/main" id="{1467647F-63DF-F9F2-C693-1287DF1233CE}"/>
              </a:ext>
            </a:extLst>
          </p:cNvPr>
          <p:cNvSpPr/>
          <p:nvPr/>
        </p:nvSpPr>
        <p:spPr>
          <a:xfrm>
            <a:off x="5668512" y="2845808"/>
            <a:ext cx="2075815" cy="122191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latin typeface="Verdana"/>
                <a:ea typeface="Verdana"/>
              </a:rPr>
              <a:t>Evaluatie en optimaliseren uitrol</a:t>
            </a:r>
          </a:p>
          <a:p>
            <a:pPr marL="171450" indent="-171450">
              <a:spcAft>
                <a:spcPts val="600"/>
              </a:spcAft>
              <a:buFont typeface="Arial" panose="020B0604020202020204" pitchFamily="34" charset="0"/>
              <a:buChar char="•"/>
              <a:defRPr/>
            </a:pPr>
            <a:r>
              <a:rPr lang="nl-NL" sz="1000">
                <a:latin typeface="Verdana"/>
                <a:ea typeface="Verdana"/>
              </a:rPr>
              <a:t>V</a:t>
            </a:r>
            <a:r>
              <a:rPr lang="nl-NL" sz="1000">
                <a:effectLst/>
                <a:latin typeface="Verdana"/>
                <a:ea typeface="Verdana"/>
              </a:rPr>
              <a:t>olgers </a:t>
            </a:r>
            <a:r>
              <a:rPr lang="nl-NL" sz="1000">
                <a:latin typeface="Verdana"/>
                <a:ea typeface="Verdana"/>
              </a:rPr>
              <a:t>ZKH-VVT</a:t>
            </a:r>
            <a:r>
              <a:rPr lang="nl-NL" sz="1000">
                <a:effectLst/>
                <a:latin typeface="Verdana"/>
                <a:ea typeface="Verdana"/>
              </a:rPr>
              <a:t>;VVT-VVT</a:t>
            </a:r>
            <a:endParaRPr lang="nl-NL" sz="1000">
              <a:effectLst/>
              <a:latin typeface="Verdana" panose="020B0604030504040204" pitchFamily="34" charset="0"/>
              <a:ea typeface="Verdana" panose="020B0604030504040204" pitchFamily="34" charset="0"/>
            </a:endParaRPr>
          </a:p>
          <a:p>
            <a:pPr marL="171450" indent="-171450">
              <a:spcAft>
                <a:spcPts val="600"/>
              </a:spcAft>
              <a:buFont typeface="Arial" panose="020B0604020202020204" pitchFamily="34" charset="0"/>
              <a:buChar char="•"/>
              <a:defRPr/>
            </a:pPr>
            <a:r>
              <a:rPr lang="nl-NL" sz="1000">
                <a:effectLst/>
                <a:latin typeface="Verdana"/>
                <a:ea typeface="Verdana"/>
              </a:rPr>
              <a:t>VVT-GGZ en GGZ-VVT</a:t>
            </a:r>
            <a:endParaRPr lang="nl-NL" sz="1000">
              <a:solidFill>
                <a:srgbClr val="000000"/>
              </a:solidFill>
              <a:latin typeface="Verdana"/>
              <a:ea typeface="Verdana"/>
              <a:cs typeface="Arial"/>
            </a:endParaRPr>
          </a:p>
        </p:txBody>
      </p:sp>
      <p:sp>
        <p:nvSpPr>
          <p:cNvPr id="118" name="Rectangle: Rounded Corners 4">
            <a:extLst>
              <a:ext uri="{FF2B5EF4-FFF2-40B4-BE49-F238E27FC236}">
                <a16:creationId xmlns:a16="http://schemas.microsoft.com/office/drawing/2014/main" id="{45183719-4385-DDD2-3DB3-61AD4D9131D7}"/>
              </a:ext>
            </a:extLst>
          </p:cNvPr>
          <p:cNvSpPr/>
          <p:nvPr/>
        </p:nvSpPr>
        <p:spPr>
          <a:xfrm>
            <a:off x="7796444" y="2845808"/>
            <a:ext cx="2075815" cy="122191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Voorbereiding opschaling</a:t>
            </a:r>
          </a:p>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VVT-ZKH en ZKH-ZKH (eerst koplopers, daarna volgers en dan de rest)</a:t>
            </a:r>
          </a:p>
        </p:txBody>
      </p:sp>
      <p:sp>
        <p:nvSpPr>
          <p:cNvPr id="119" name="Rectangle: Rounded Corners 4">
            <a:extLst>
              <a:ext uri="{FF2B5EF4-FFF2-40B4-BE49-F238E27FC236}">
                <a16:creationId xmlns:a16="http://schemas.microsoft.com/office/drawing/2014/main" id="{4D142A37-824A-A008-BD5E-2D7F3620C604}"/>
              </a:ext>
            </a:extLst>
          </p:cNvPr>
          <p:cNvSpPr/>
          <p:nvPr/>
        </p:nvSpPr>
        <p:spPr>
          <a:xfrm>
            <a:off x="9924379" y="2845808"/>
            <a:ext cx="2216220" cy="1242504"/>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prstClr val="black"/>
                </a:solidFill>
                <a:latin typeface="Verdana"/>
                <a:ea typeface="Verdana"/>
              </a:rPr>
              <a:t>Opschalen </a:t>
            </a:r>
            <a:r>
              <a:rPr lang="nl-NL" sz="1000" err="1">
                <a:solidFill>
                  <a:prstClr val="black"/>
                </a:solidFill>
                <a:latin typeface="Verdana"/>
                <a:ea typeface="Verdana"/>
              </a:rPr>
              <a:t>eOverdracht</a:t>
            </a:r>
            <a:endParaRPr lang="nl-NL" sz="1000">
              <a:solidFill>
                <a:prstClr val="black"/>
              </a:solidFill>
              <a:latin typeface="Verdana"/>
              <a:ea typeface="Verdana"/>
            </a:endParaRPr>
          </a:p>
          <a:p>
            <a:pPr marL="171450" indent="-171450">
              <a:spcAft>
                <a:spcPts val="600"/>
              </a:spcAft>
              <a:buFont typeface="Arial" panose="020B0604020202020204" pitchFamily="34" charset="0"/>
              <a:buChar char="•"/>
              <a:defRPr/>
            </a:pPr>
            <a:r>
              <a:rPr lang="nl-NL" sz="1000">
                <a:solidFill>
                  <a:prstClr val="black"/>
                </a:solidFill>
                <a:latin typeface="Verdana"/>
                <a:ea typeface="Verdana"/>
              </a:rPr>
              <a:t>Alle deelnemende ziekenhuizen, VVT- en GGZ-organisaties in d</a:t>
            </a:r>
            <a:r>
              <a:rPr kumimoji="0" lang="nl-NL" sz="1000" b="0" i="0" u="none" strike="noStrike" kern="1200" cap="none" spc="0" normalizeH="0" baseline="0" noProof="0">
                <a:ln>
                  <a:noFill/>
                </a:ln>
                <a:solidFill>
                  <a:prstClr val="black"/>
                </a:solidFill>
                <a:effectLst/>
                <a:uLnTx/>
                <a:uFillTx/>
                <a:latin typeface="Verdana"/>
                <a:ea typeface="Verdana"/>
              </a:rPr>
              <a:t>e regio</a:t>
            </a:r>
            <a:endParaRPr lang="nl-NL" sz="1000" b="0" i="0" u="none" strike="noStrike" kern="1200" cap="none" spc="0" normalizeH="0" baseline="0" noProof="0">
              <a:ln>
                <a:noFill/>
              </a:ln>
              <a:solidFill>
                <a:prstClr val="black"/>
              </a:solidFill>
              <a:effectLst/>
              <a:uLnTx/>
              <a:uFillTx/>
              <a:latin typeface="Verdana"/>
              <a:ea typeface="Verdana"/>
            </a:endParaRPr>
          </a:p>
        </p:txBody>
      </p:sp>
      <p:sp>
        <p:nvSpPr>
          <p:cNvPr id="120" name="Tekstvak 119">
            <a:extLst>
              <a:ext uri="{FF2B5EF4-FFF2-40B4-BE49-F238E27FC236}">
                <a16:creationId xmlns:a16="http://schemas.microsoft.com/office/drawing/2014/main" id="{5CB45DB0-A6D1-4F55-27B8-CED05248B354}"/>
              </a:ext>
            </a:extLst>
          </p:cNvPr>
          <p:cNvSpPr txBox="1"/>
          <p:nvPr/>
        </p:nvSpPr>
        <p:spPr>
          <a:xfrm>
            <a:off x="931942" y="2298888"/>
            <a:ext cx="2252662"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050" b="1" i="0" u="none" strike="noStrike" kern="1200" cap="none" spc="0" normalizeH="0" baseline="0" noProof="0">
                <a:ln>
                  <a:noFill/>
                </a:ln>
                <a:solidFill>
                  <a:srgbClr val="000000"/>
                </a:solidFill>
                <a:effectLst/>
                <a:uLnTx/>
                <a:uFillTx/>
                <a:latin typeface="Verdana"/>
                <a:ea typeface="Verdana"/>
                <a:cs typeface="Arial"/>
              </a:rPr>
              <a:t>Concretiseren en </a:t>
            </a:r>
            <a:r>
              <a:rPr kumimoji="0" lang="nl-NL" sz="1050" b="1" i="0" u="none" strike="noStrike" kern="1200" cap="none" spc="0" normalizeH="0" baseline="0" noProof="0" err="1">
                <a:ln>
                  <a:noFill/>
                </a:ln>
                <a:solidFill>
                  <a:srgbClr val="000000"/>
                </a:solidFill>
                <a:effectLst/>
                <a:uLnTx/>
                <a:uFillTx/>
                <a:latin typeface="Verdana"/>
                <a:ea typeface="Verdana"/>
                <a:cs typeface="Arial"/>
              </a:rPr>
              <a:t>inri</a:t>
            </a:r>
            <a:r>
              <a:rPr lang="nl-NL" sz="1050" b="1" err="1">
                <a:solidFill>
                  <a:srgbClr val="000000"/>
                </a:solidFill>
                <a:latin typeface="Verdana"/>
                <a:ea typeface="Verdana"/>
                <a:cs typeface="Arial"/>
              </a:rPr>
              <a:t>chten</a:t>
            </a:r>
            <a:r>
              <a:rPr lang="nl-NL" sz="1050" b="1">
                <a:solidFill>
                  <a:srgbClr val="000000"/>
                </a:solidFill>
                <a:latin typeface="Verdana"/>
                <a:ea typeface="Verdana"/>
                <a:cs typeface="Arial"/>
              </a:rPr>
              <a:t> </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1" name="Tekstvak 120">
            <a:extLst>
              <a:ext uri="{FF2B5EF4-FFF2-40B4-BE49-F238E27FC236}">
                <a16:creationId xmlns:a16="http://schemas.microsoft.com/office/drawing/2014/main" id="{53F64C16-B463-0EFD-714F-F2D1D1F4142A}"/>
              </a:ext>
            </a:extLst>
          </p:cNvPr>
          <p:cNvSpPr txBox="1"/>
          <p:nvPr/>
        </p:nvSpPr>
        <p:spPr>
          <a:xfrm>
            <a:off x="3641763" y="2306306"/>
            <a:ext cx="1886095" cy="253916"/>
          </a:xfrm>
          <a:prstGeom prst="rect">
            <a:avLst/>
          </a:prstGeom>
          <a:noFill/>
        </p:spPr>
        <p:txBody>
          <a:bodyPr wrap="square" lIns="91440" tIns="45720" rIns="91440" bIns="45720" anchor="t">
            <a:spAutoFit/>
          </a:bodyPr>
          <a:lstStyle/>
          <a:p>
            <a:pPr algn="ctr">
              <a:spcAft>
                <a:spcPts val="600"/>
              </a:spcAft>
              <a:defRPr/>
            </a:pPr>
            <a:r>
              <a:rPr lang="nl-NL" sz="1050" b="1" err="1">
                <a:solidFill>
                  <a:srgbClr val="000000"/>
                </a:solidFill>
                <a:latin typeface="Verdana"/>
                <a:ea typeface="Verdana"/>
                <a:cs typeface="Arial"/>
              </a:rPr>
              <a:t>MeO</a:t>
            </a:r>
            <a:r>
              <a:rPr lang="nl-NL" sz="1050" b="1">
                <a:solidFill>
                  <a:srgbClr val="000000"/>
                </a:solidFill>
                <a:latin typeface="Verdana"/>
                <a:ea typeface="Verdana"/>
                <a:cs typeface="Arial"/>
              </a:rPr>
              <a:t> koplopers</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2" name="Tekstvak 121">
            <a:extLst>
              <a:ext uri="{FF2B5EF4-FFF2-40B4-BE49-F238E27FC236}">
                <a16:creationId xmlns:a16="http://schemas.microsoft.com/office/drawing/2014/main" id="{CEAC2D72-D6EF-9B4C-CBFC-A0DE5FF58FCC}"/>
              </a:ext>
            </a:extLst>
          </p:cNvPr>
          <p:cNvSpPr txBox="1"/>
          <p:nvPr/>
        </p:nvSpPr>
        <p:spPr>
          <a:xfrm>
            <a:off x="8071220" y="2298888"/>
            <a:ext cx="1533728" cy="253916"/>
          </a:xfrm>
          <a:prstGeom prst="rect">
            <a:avLst/>
          </a:prstGeom>
          <a:noFill/>
        </p:spPr>
        <p:txBody>
          <a:bodyPr wrap="square" lIns="91440" tIns="45720" rIns="91440" bIns="45720" anchor="t">
            <a:spAutoFit/>
          </a:bodyPr>
          <a:lstStyle/>
          <a:p>
            <a:pPr algn="ctr">
              <a:spcAft>
                <a:spcPts val="600"/>
              </a:spcAft>
              <a:defRPr/>
            </a:pPr>
            <a:r>
              <a:rPr lang="nl-NL" sz="1050" b="1" err="1">
                <a:solidFill>
                  <a:srgbClr val="000000"/>
                </a:solidFill>
                <a:latin typeface="Verdana"/>
                <a:ea typeface="Verdana"/>
                <a:cs typeface="Arial"/>
              </a:rPr>
              <a:t>MeO</a:t>
            </a:r>
            <a:r>
              <a:rPr lang="nl-NL" sz="1050" b="1">
                <a:solidFill>
                  <a:srgbClr val="000000"/>
                </a:solidFill>
                <a:latin typeface="Verdana"/>
                <a:ea typeface="Verdana"/>
                <a:cs typeface="Arial"/>
              </a:rPr>
              <a:t> alle</a:t>
            </a:r>
            <a:r>
              <a:rPr kumimoji="0" lang="nl-NL" sz="1050" b="1" i="0" u="none" strike="noStrike" kern="1200" cap="none" spc="0" normalizeH="0" baseline="0" noProof="0">
                <a:ln>
                  <a:noFill/>
                </a:ln>
                <a:solidFill>
                  <a:srgbClr val="000000"/>
                </a:solidFill>
                <a:effectLst/>
                <a:uLnTx/>
                <a:uFillTx/>
                <a:latin typeface="Verdana"/>
                <a:ea typeface="Verdana"/>
                <a:cs typeface="Arial"/>
              </a:rPr>
              <a:t> routes</a:t>
            </a:r>
          </a:p>
        </p:txBody>
      </p:sp>
      <p:sp>
        <p:nvSpPr>
          <p:cNvPr id="123" name="Oval 17">
            <a:extLst>
              <a:ext uri="{FF2B5EF4-FFF2-40B4-BE49-F238E27FC236}">
                <a16:creationId xmlns:a16="http://schemas.microsoft.com/office/drawing/2014/main" id="{AFA15633-6C78-3A31-77D3-5ACE8B48CBA7}"/>
              </a:ext>
            </a:extLst>
          </p:cNvPr>
          <p:cNvSpPr/>
          <p:nvPr/>
        </p:nvSpPr>
        <p:spPr>
          <a:xfrm>
            <a:off x="6464266" y="18118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24" name="Tekstvak 123">
            <a:extLst>
              <a:ext uri="{FF2B5EF4-FFF2-40B4-BE49-F238E27FC236}">
                <a16:creationId xmlns:a16="http://schemas.microsoft.com/office/drawing/2014/main" id="{104336ED-FD1C-D419-4BC2-28EDC327B96C}"/>
              </a:ext>
            </a:extLst>
          </p:cNvPr>
          <p:cNvSpPr txBox="1"/>
          <p:nvPr/>
        </p:nvSpPr>
        <p:spPr>
          <a:xfrm>
            <a:off x="9928108" y="2287109"/>
            <a:ext cx="1962863"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nl-NL" sz="1050" b="1">
                <a:solidFill>
                  <a:srgbClr val="000000"/>
                </a:solidFill>
                <a:latin typeface="Verdana"/>
                <a:ea typeface="Verdana"/>
                <a:cs typeface="Arial"/>
              </a:rPr>
              <a:t>Opschalen </a:t>
            </a:r>
            <a:r>
              <a:rPr lang="nl-NL" sz="1050" b="1" err="1">
                <a:solidFill>
                  <a:srgbClr val="000000"/>
                </a:solidFill>
                <a:latin typeface="Verdana"/>
                <a:ea typeface="Verdana"/>
                <a:cs typeface="Arial"/>
              </a:rPr>
              <a:t>eOverdracht</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5" name="Tekstvak 124">
            <a:extLst>
              <a:ext uri="{FF2B5EF4-FFF2-40B4-BE49-F238E27FC236}">
                <a16:creationId xmlns:a16="http://schemas.microsoft.com/office/drawing/2014/main" id="{E2A81D43-CFBD-9702-8306-20A9229D486F}"/>
              </a:ext>
            </a:extLst>
          </p:cNvPr>
          <p:cNvSpPr txBox="1"/>
          <p:nvPr/>
        </p:nvSpPr>
        <p:spPr>
          <a:xfrm>
            <a:off x="5762566" y="2314596"/>
            <a:ext cx="1886095" cy="253916"/>
          </a:xfrm>
          <a:prstGeom prst="rect">
            <a:avLst/>
          </a:prstGeom>
          <a:noFill/>
        </p:spPr>
        <p:txBody>
          <a:bodyPr wrap="square" lIns="91440" tIns="45720" rIns="91440" bIns="45720" anchor="t">
            <a:spAutoFit/>
          </a:bodyPr>
          <a:lstStyle/>
          <a:p>
            <a:pPr algn="ctr">
              <a:spcAft>
                <a:spcPts val="600"/>
              </a:spcAft>
              <a:defRPr/>
            </a:pPr>
            <a:r>
              <a:rPr lang="nl-NL" sz="1050" b="1" err="1">
                <a:solidFill>
                  <a:srgbClr val="000000"/>
                </a:solidFill>
                <a:latin typeface="Verdana"/>
                <a:ea typeface="Verdana"/>
                <a:cs typeface="Arial"/>
              </a:rPr>
              <a:t>MeO</a:t>
            </a:r>
            <a:r>
              <a:rPr lang="nl-NL" sz="1050" b="1">
                <a:solidFill>
                  <a:srgbClr val="000000"/>
                </a:solidFill>
                <a:latin typeface="Verdana"/>
                <a:ea typeface="Verdana"/>
                <a:cs typeface="Arial"/>
              </a:rPr>
              <a:t> volgers</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6" name="Rectangle: Rounded Corners 28">
            <a:extLst>
              <a:ext uri="{FF2B5EF4-FFF2-40B4-BE49-F238E27FC236}">
                <a16:creationId xmlns:a16="http://schemas.microsoft.com/office/drawing/2014/main" id="{7E0E32EA-D4FC-DCF7-76B0-25B4CAA3EC2B}"/>
              </a:ext>
            </a:extLst>
          </p:cNvPr>
          <p:cNvSpPr>
            <a:spLocks/>
          </p:cNvSpPr>
          <p:nvPr/>
        </p:nvSpPr>
        <p:spPr>
          <a:xfrm>
            <a:off x="3550247" y="4125059"/>
            <a:ext cx="8590352" cy="236895"/>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1">
                <a:solidFill>
                  <a:schemeClr val="tx1"/>
                </a:solidFill>
                <a:latin typeface="Verdana" panose="020B0604030504040204" pitchFamily="34" charset="0"/>
                <a:ea typeface="Verdana" panose="020B0604030504040204" pitchFamily="34" charset="0"/>
              </a:rPr>
              <a:t>Technisch gereed</a:t>
            </a:r>
            <a:endParaRPr kumimoji="0" lang="nl-NL" sz="10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endParaRPr>
          </a:p>
        </p:txBody>
      </p:sp>
      <p:sp>
        <p:nvSpPr>
          <p:cNvPr id="127" name="Rectangle: Rounded Corners 28">
            <a:extLst>
              <a:ext uri="{FF2B5EF4-FFF2-40B4-BE49-F238E27FC236}">
                <a16:creationId xmlns:a16="http://schemas.microsoft.com/office/drawing/2014/main" id="{DE5D7BD9-9D3A-D55F-DF59-0EBB1164C551}"/>
              </a:ext>
            </a:extLst>
          </p:cNvPr>
          <p:cNvSpPr>
            <a:spLocks/>
          </p:cNvSpPr>
          <p:nvPr/>
        </p:nvSpPr>
        <p:spPr>
          <a:xfrm>
            <a:off x="3603376" y="5379372"/>
            <a:ext cx="8537224" cy="241179"/>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1">
                <a:solidFill>
                  <a:schemeClr val="tx1"/>
                </a:solidFill>
                <a:latin typeface="Verdana"/>
                <a:ea typeface="Verdana"/>
              </a:rPr>
              <a:t>Procesmatig gereed</a:t>
            </a:r>
            <a:endParaRPr kumimoji="0" lang="nl-NL" sz="1000" b="1" i="0" u="none" strike="noStrike" kern="1200" cap="none" spc="0" normalizeH="0" baseline="0" noProof="0">
              <a:ln>
                <a:noFill/>
              </a:ln>
              <a:solidFill>
                <a:schemeClr val="tx1"/>
              </a:solidFill>
              <a:effectLst/>
              <a:uLnTx/>
              <a:uFillTx/>
              <a:latin typeface="Verdana"/>
              <a:ea typeface="Verdana"/>
            </a:endParaRPr>
          </a:p>
        </p:txBody>
      </p:sp>
      <p:sp>
        <p:nvSpPr>
          <p:cNvPr id="128" name="Rectangle: Rounded Corners 28">
            <a:extLst>
              <a:ext uri="{FF2B5EF4-FFF2-40B4-BE49-F238E27FC236}">
                <a16:creationId xmlns:a16="http://schemas.microsoft.com/office/drawing/2014/main" id="{CA357EA2-1530-55E2-C82C-FFE483546A0B}"/>
              </a:ext>
            </a:extLst>
          </p:cNvPr>
          <p:cNvSpPr>
            <a:spLocks/>
          </p:cNvSpPr>
          <p:nvPr/>
        </p:nvSpPr>
        <p:spPr>
          <a:xfrm>
            <a:off x="3540576" y="2561997"/>
            <a:ext cx="8600023" cy="251916"/>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rPr>
              <a:t>Doelgroepen</a:t>
            </a:r>
          </a:p>
        </p:txBody>
      </p:sp>
      <p:sp>
        <p:nvSpPr>
          <p:cNvPr id="129" name="Rectangle: Rounded Corners 4">
            <a:extLst>
              <a:ext uri="{FF2B5EF4-FFF2-40B4-BE49-F238E27FC236}">
                <a16:creationId xmlns:a16="http://schemas.microsoft.com/office/drawing/2014/main" id="{0E0667E6-86B7-F10E-B443-2F8E471C9CDC}"/>
              </a:ext>
            </a:extLst>
          </p:cNvPr>
          <p:cNvSpPr/>
          <p:nvPr/>
        </p:nvSpPr>
        <p:spPr>
          <a:xfrm>
            <a:off x="3540577" y="4412937"/>
            <a:ext cx="2075815" cy="931659"/>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Implementatie </a:t>
            </a:r>
            <a:r>
              <a:rPr lang="nl-NL" sz="1000" err="1">
                <a:solidFill>
                  <a:srgbClr val="000000"/>
                </a:solidFill>
                <a:latin typeface="Verdana"/>
                <a:ea typeface="Verdana"/>
                <a:cs typeface="Arial"/>
              </a:rPr>
              <a:t>MeO</a:t>
            </a:r>
          </a:p>
        </p:txBody>
      </p:sp>
      <p:sp>
        <p:nvSpPr>
          <p:cNvPr id="130" name="Rectangle: Rounded Corners 4">
            <a:extLst>
              <a:ext uri="{FF2B5EF4-FFF2-40B4-BE49-F238E27FC236}">
                <a16:creationId xmlns:a16="http://schemas.microsoft.com/office/drawing/2014/main" id="{589BE72C-1EA2-0BC2-3803-7B0DED56EE3C}"/>
              </a:ext>
            </a:extLst>
          </p:cNvPr>
          <p:cNvSpPr/>
          <p:nvPr/>
        </p:nvSpPr>
        <p:spPr>
          <a:xfrm>
            <a:off x="5668512" y="5624971"/>
            <a:ext cx="2075815" cy="110940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a:p>
            <a:pPr>
              <a:spcAft>
                <a:spcPts val="600"/>
              </a:spcAft>
              <a:defRPr/>
            </a:pPr>
            <a:endParaRPr lang="nl-NL" sz="1000">
              <a:solidFill>
                <a:srgbClr val="000000"/>
              </a:solidFill>
              <a:latin typeface="Verdana"/>
              <a:ea typeface="Verdana"/>
              <a:cs typeface="Arial"/>
            </a:endParaRPr>
          </a:p>
        </p:txBody>
      </p:sp>
      <p:sp>
        <p:nvSpPr>
          <p:cNvPr id="131" name="Rectangle: Rounded Corners 4">
            <a:extLst>
              <a:ext uri="{FF2B5EF4-FFF2-40B4-BE49-F238E27FC236}">
                <a16:creationId xmlns:a16="http://schemas.microsoft.com/office/drawing/2014/main" id="{7F3D2627-D163-B0D0-0885-9F8594B1ACD0}"/>
              </a:ext>
            </a:extLst>
          </p:cNvPr>
          <p:cNvSpPr/>
          <p:nvPr/>
        </p:nvSpPr>
        <p:spPr>
          <a:xfrm>
            <a:off x="5668512" y="4405434"/>
            <a:ext cx="2075815" cy="931659"/>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Implementatie </a:t>
            </a:r>
            <a:r>
              <a:rPr lang="nl-NL" sz="1000" err="1">
                <a:solidFill>
                  <a:srgbClr val="000000"/>
                </a:solidFill>
                <a:latin typeface="Verdana"/>
                <a:ea typeface="Verdana"/>
                <a:cs typeface="Arial"/>
              </a:rPr>
              <a:t>MeO</a:t>
            </a:r>
            <a:endParaRPr lang="nl-NL" sz="1000">
              <a:solidFill>
                <a:srgbClr val="000000"/>
              </a:solidFill>
              <a:latin typeface="Verdana"/>
              <a:ea typeface="Verdana"/>
              <a:cs typeface="Arial"/>
            </a:endParaRPr>
          </a:p>
        </p:txBody>
      </p:sp>
      <p:pic>
        <p:nvPicPr>
          <p:cNvPr id="132" name="Graphic 131">
            <a:extLst>
              <a:ext uri="{FF2B5EF4-FFF2-40B4-BE49-F238E27FC236}">
                <a16:creationId xmlns:a16="http://schemas.microsoft.com/office/drawing/2014/main" id="{9A12224F-69F5-4B19-5B78-7D38957F68D4}"/>
              </a:ext>
            </a:extLst>
          </p:cNvPr>
          <p:cNvPicPr>
            <a:picLocks noChangeAspect="1"/>
          </p:cNvPicPr>
          <p:nvPr>
            <p:custDataLst>
              <p:tags r:id="rId1"/>
            </p:custDataLst>
          </p:nvPr>
        </p:nvPicPr>
        <p:blipFill>
          <a:blip r:embed="rId11">
            <a:extLst>
              <a:ext uri="{96DAC541-7B7A-43D3-8B79-37D633B846F1}">
                <asvg:svgBlip xmlns:asvg="http://schemas.microsoft.com/office/drawing/2016/SVG/main" r:embed="rId12"/>
              </a:ext>
            </a:extLst>
          </a:blip>
          <a:stretch>
            <a:fillRect/>
          </a:stretch>
        </p:blipFill>
        <p:spPr>
          <a:xfrm>
            <a:off x="3582781" y="6261767"/>
            <a:ext cx="370686" cy="370686"/>
          </a:xfrm>
          <a:prstGeom prst="rect">
            <a:avLst/>
          </a:prstGeom>
        </p:spPr>
      </p:pic>
      <p:sp>
        <p:nvSpPr>
          <p:cNvPr id="133" name="Tekstvak 132">
            <a:extLst>
              <a:ext uri="{FF2B5EF4-FFF2-40B4-BE49-F238E27FC236}">
                <a16:creationId xmlns:a16="http://schemas.microsoft.com/office/drawing/2014/main" id="{93032D57-E70F-4EDE-8833-C63B36851961}"/>
              </a:ext>
            </a:extLst>
          </p:cNvPr>
          <p:cNvSpPr txBox="1"/>
          <p:nvPr/>
        </p:nvSpPr>
        <p:spPr>
          <a:xfrm>
            <a:off x="3953467" y="6038123"/>
            <a:ext cx="1693541" cy="577081"/>
          </a:xfrm>
          <a:prstGeom prst="rect">
            <a:avLst/>
          </a:prstGeom>
          <a:noFill/>
        </p:spPr>
        <p:txBody>
          <a:bodyPr wrap="square" anchor="ctr">
            <a:spAutoFit/>
          </a:bodyPr>
          <a:lstStyle/>
          <a:p>
            <a:pPr>
              <a:spcAft>
                <a:spcPts val="600"/>
              </a:spcAft>
              <a:defRPr/>
            </a:pPr>
            <a:r>
              <a:rPr lang="nl-NL" sz="1050" b="1" err="1">
                <a:solidFill>
                  <a:srgbClr val="000000"/>
                </a:solidFill>
                <a:latin typeface="Verdana"/>
                <a:ea typeface="Verdana"/>
                <a:cs typeface="Arial"/>
              </a:rPr>
              <a:t>MeO</a:t>
            </a:r>
            <a:r>
              <a:rPr lang="nl-NL" sz="1050" b="1">
                <a:solidFill>
                  <a:srgbClr val="000000"/>
                </a:solidFill>
                <a:latin typeface="Verdana"/>
                <a:ea typeface="Verdana"/>
                <a:cs typeface="Arial"/>
              </a:rPr>
              <a:t> opgenomen in werkproces bij koplopers</a:t>
            </a:r>
            <a:endParaRPr lang="nl-NL" sz="1050" b="1">
              <a:solidFill>
                <a:srgbClr val="000000"/>
              </a:solidFill>
              <a:latin typeface="Verdana" panose="020B0604030504040204" pitchFamily="34" charset="0"/>
              <a:ea typeface="Verdana" panose="020B0604030504040204" pitchFamily="34" charset="0"/>
              <a:cs typeface="Arial"/>
            </a:endParaRPr>
          </a:p>
        </p:txBody>
      </p:sp>
      <p:pic>
        <p:nvPicPr>
          <p:cNvPr id="134" name="Graphic 133">
            <a:extLst>
              <a:ext uri="{FF2B5EF4-FFF2-40B4-BE49-F238E27FC236}">
                <a16:creationId xmlns:a16="http://schemas.microsoft.com/office/drawing/2014/main" id="{CAD10574-6D4C-80E1-3590-7F006F306EFB}"/>
              </a:ext>
            </a:extLst>
          </p:cNvPr>
          <p:cNvPicPr>
            <a:picLocks noChangeAspect="1"/>
          </p:cNvPicPr>
          <p:nvPr>
            <p:custDataLst>
              <p:tags r:id="rId2"/>
            </p:custDataLst>
          </p:nvPr>
        </p:nvPicPr>
        <p:blipFill>
          <a:blip r:embed="rId11">
            <a:extLst>
              <a:ext uri="{96DAC541-7B7A-43D3-8B79-37D633B846F1}">
                <asvg:svgBlip xmlns:asvg="http://schemas.microsoft.com/office/drawing/2016/SVG/main" r:embed="rId12"/>
              </a:ext>
            </a:extLst>
          </a:blip>
          <a:stretch>
            <a:fillRect/>
          </a:stretch>
        </p:blipFill>
        <p:spPr>
          <a:xfrm>
            <a:off x="3613953" y="4918908"/>
            <a:ext cx="370686" cy="370686"/>
          </a:xfrm>
          <a:prstGeom prst="rect">
            <a:avLst/>
          </a:prstGeom>
        </p:spPr>
      </p:pic>
      <p:sp>
        <p:nvSpPr>
          <p:cNvPr id="135" name="Tekstvak 134">
            <a:extLst>
              <a:ext uri="{FF2B5EF4-FFF2-40B4-BE49-F238E27FC236}">
                <a16:creationId xmlns:a16="http://schemas.microsoft.com/office/drawing/2014/main" id="{9DC6476F-EFB4-728D-2C07-1E758BD00D54}"/>
              </a:ext>
            </a:extLst>
          </p:cNvPr>
          <p:cNvSpPr txBox="1"/>
          <p:nvPr/>
        </p:nvSpPr>
        <p:spPr>
          <a:xfrm>
            <a:off x="4044927" y="4625064"/>
            <a:ext cx="1693541" cy="738664"/>
          </a:xfrm>
          <a:prstGeom prst="rect">
            <a:avLst/>
          </a:prstGeom>
          <a:noFill/>
        </p:spPr>
        <p:txBody>
          <a:bodyPr wrap="square" anchor="ctr">
            <a:spAutoFit/>
          </a:bodyPr>
          <a:lstStyle/>
          <a:p>
            <a:pPr>
              <a:spcAft>
                <a:spcPts val="600"/>
              </a:spcAft>
              <a:defRPr/>
            </a:pPr>
            <a:r>
              <a:rPr lang="nl-NL" sz="1050" b="1" err="1">
                <a:solidFill>
                  <a:srgbClr val="000000"/>
                </a:solidFill>
                <a:latin typeface="Verdana"/>
                <a:ea typeface="Verdana"/>
                <a:cs typeface="Arial"/>
              </a:rPr>
              <a:t>MeO</a:t>
            </a:r>
            <a:r>
              <a:rPr lang="nl-NL" sz="1050" b="1">
                <a:solidFill>
                  <a:srgbClr val="000000"/>
                </a:solidFill>
                <a:latin typeface="Verdana"/>
                <a:ea typeface="Verdana"/>
                <a:cs typeface="Arial"/>
              </a:rPr>
              <a:t> technisch gerealiseerd en beschikbaar bij koplopers</a:t>
            </a:r>
            <a:endParaRPr lang="nl-NL" sz="1050" b="1">
              <a:solidFill>
                <a:srgbClr val="000000"/>
              </a:solidFill>
              <a:latin typeface="Verdana" panose="020B0604030504040204" pitchFamily="34" charset="0"/>
              <a:ea typeface="Verdana" panose="020B0604030504040204" pitchFamily="34" charset="0"/>
              <a:cs typeface="Arial"/>
            </a:endParaRPr>
          </a:p>
        </p:txBody>
      </p:sp>
      <p:pic>
        <p:nvPicPr>
          <p:cNvPr id="136" name="Graphic 135">
            <a:extLst>
              <a:ext uri="{FF2B5EF4-FFF2-40B4-BE49-F238E27FC236}">
                <a16:creationId xmlns:a16="http://schemas.microsoft.com/office/drawing/2014/main" id="{2C0FFE33-9D63-8051-2C3B-3E2E3A3F55EF}"/>
              </a:ext>
            </a:extLst>
          </p:cNvPr>
          <p:cNvPicPr>
            <a:picLocks noChangeAspect="1"/>
          </p:cNvPicPr>
          <p:nvPr>
            <p:custDataLst>
              <p:tags r:id="rId3"/>
            </p:custDataLst>
          </p:nvPr>
        </p:nvPicPr>
        <p:blipFill>
          <a:blip r:embed="rId11">
            <a:extLst>
              <a:ext uri="{96DAC541-7B7A-43D3-8B79-37D633B846F1}">
                <asvg:svgBlip xmlns:asvg="http://schemas.microsoft.com/office/drawing/2016/SVG/main" r:embed="rId12"/>
              </a:ext>
            </a:extLst>
          </a:blip>
          <a:stretch>
            <a:fillRect/>
          </a:stretch>
        </p:blipFill>
        <p:spPr>
          <a:xfrm>
            <a:off x="5774001" y="6261767"/>
            <a:ext cx="370686" cy="370686"/>
          </a:xfrm>
          <a:prstGeom prst="rect">
            <a:avLst/>
          </a:prstGeom>
        </p:spPr>
      </p:pic>
      <p:pic>
        <p:nvPicPr>
          <p:cNvPr id="137" name="Graphic 136">
            <a:extLst>
              <a:ext uri="{FF2B5EF4-FFF2-40B4-BE49-F238E27FC236}">
                <a16:creationId xmlns:a16="http://schemas.microsoft.com/office/drawing/2014/main" id="{54190746-C62F-4666-C941-EAE397245745}"/>
              </a:ext>
            </a:extLst>
          </p:cNvPr>
          <p:cNvPicPr>
            <a:picLocks noChangeAspect="1"/>
          </p:cNvPicPr>
          <p:nvPr>
            <p:custDataLst>
              <p:tags r:id="rId4"/>
            </p:custDataLst>
          </p:nvPr>
        </p:nvPicPr>
        <p:blipFill>
          <a:blip r:embed="rId11">
            <a:extLst>
              <a:ext uri="{96DAC541-7B7A-43D3-8B79-37D633B846F1}">
                <asvg:svgBlip xmlns:asvg="http://schemas.microsoft.com/office/drawing/2016/SVG/main" r:embed="rId12"/>
              </a:ext>
            </a:extLst>
          </a:blip>
          <a:stretch>
            <a:fillRect/>
          </a:stretch>
        </p:blipFill>
        <p:spPr>
          <a:xfrm>
            <a:off x="5805173" y="4918908"/>
            <a:ext cx="370686" cy="370686"/>
          </a:xfrm>
          <a:prstGeom prst="rect">
            <a:avLst/>
          </a:prstGeom>
        </p:spPr>
      </p:pic>
      <p:sp>
        <p:nvSpPr>
          <p:cNvPr id="138" name="Rectangle: Rounded Corners 4">
            <a:extLst>
              <a:ext uri="{FF2B5EF4-FFF2-40B4-BE49-F238E27FC236}">
                <a16:creationId xmlns:a16="http://schemas.microsoft.com/office/drawing/2014/main" id="{C63E8B32-21E7-6744-D178-6AA72BA27F81}"/>
              </a:ext>
            </a:extLst>
          </p:cNvPr>
          <p:cNvSpPr/>
          <p:nvPr/>
        </p:nvSpPr>
        <p:spPr>
          <a:xfrm>
            <a:off x="7796444" y="5616267"/>
            <a:ext cx="2075815" cy="110940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p:txBody>
      </p:sp>
      <p:sp>
        <p:nvSpPr>
          <p:cNvPr id="139" name="Rectangle: Rounded Corners 4">
            <a:extLst>
              <a:ext uri="{FF2B5EF4-FFF2-40B4-BE49-F238E27FC236}">
                <a16:creationId xmlns:a16="http://schemas.microsoft.com/office/drawing/2014/main" id="{8EA359C4-76C5-1E59-256B-E65982E42CF4}"/>
              </a:ext>
            </a:extLst>
          </p:cNvPr>
          <p:cNvSpPr/>
          <p:nvPr/>
        </p:nvSpPr>
        <p:spPr>
          <a:xfrm>
            <a:off x="7796444" y="4407027"/>
            <a:ext cx="2075815" cy="92136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Implementatie </a:t>
            </a:r>
            <a:r>
              <a:rPr lang="nl-NL" sz="1000" err="1">
                <a:solidFill>
                  <a:srgbClr val="000000"/>
                </a:solidFill>
                <a:latin typeface="Verdana"/>
                <a:ea typeface="Verdana"/>
                <a:cs typeface="Arial"/>
              </a:rPr>
              <a:t>MeO</a:t>
            </a:r>
          </a:p>
          <a:p>
            <a:pPr lvl="1">
              <a:spcAft>
                <a:spcPts val="600"/>
              </a:spcAft>
              <a:defRPr/>
            </a:pPr>
            <a:endParaRPr lang="nl-NL" sz="1000" b="1">
              <a:solidFill>
                <a:srgbClr val="000000"/>
              </a:solidFill>
              <a:latin typeface="Verdana" panose="020B0604030504040204" pitchFamily="34" charset="0"/>
              <a:ea typeface="Verdana" panose="020B0604030504040204" pitchFamily="34" charset="0"/>
              <a:cs typeface="Arial"/>
            </a:endParaRPr>
          </a:p>
        </p:txBody>
      </p:sp>
      <p:pic>
        <p:nvPicPr>
          <p:cNvPr id="140" name="Graphic 139">
            <a:extLst>
              <a:ext uri="{FF2B5EF4-FFF2-40B4-BE49-F238E27FC236}">
                <a16:creationId xmlns:a16="http://schemas.microsoft.com/office/drawing/2014/main" id="{031CAF22-3DC0-283B-398E-55ED6AB1376F}"/>
              </a:ext>
            </a:extLst>
          </p:cNvPr>
          <p:cNvPicPr>
            <a:picLocks noChangeAspect="1"/>
          </p:cNvPicPr>
          <p:nvPr>
            <p:custDataLst>
              <p:tags r:id="rId5"/>
            </p:custDataLst>
          </p:nvPr>
        </p:nvPicPr>
        <p:blipFill>
          <a:blip r:embed="rId11">
            <a:extLst>
              <a:ext uri="{96DAC541-7B7A-43D3-8B79-37D633B846F1}">
                <asvg:svgBlip xmlns:asvg="http://schemas.microsoft.com/office/drawing/2016/SVG/main" r:embed="rId12"/>
              </a:ext>
            </a:extLst>
          </a:blip>
          <a:stretch>
            <a:fillRect/>
          </a:stretch>
        </p:blipFill>
        <p:spPr>
          <a:xfrm>
            <a:off x="7906590" y="6253063"/>
            <a:ext cx="370686" cy="370686"/>
          </a:xfrm>
          <a:prstGeom prst="rect">
            <a:avLst/>
          </a:prstGeom>
        </p:spPr>
      </p:pic>
      <p:pic>
        <p:nvPicPr>
          <p:cNvPr id="141" name="Graphic 140">
            <a:extLst>
              <a:ext uri="{FF2B5EF4-FFF2-40B4-BE49-F238E27FC236}">
                <a16:creationId xmlns:a16="http://schemas.microsoft.com/office/drawing/2014/main" id="{258BE27E-7FA2-B753-4934-63D629CD3446}"/>
              </a:ext>
            </a:extLst>
          </p:cNvPr>
          <p:cNvPicPr>
            <a:picLocks noChangeAspect="1"/>
          </p:cNvPicPr>
          <p:nvPr>
            <p:custDataLst>
              <p:tags r:id="rId6"/>
            </p:custDataLst>
          </p:nvPr>
        </p:nvPicPr>
        <p:blipFill>
          <a:blip r:embed="rId11">
            <a:extLst>
              <a:ext uri="{96DAC541-7B7A-43D3-8B79-37D633B846F1}">
                <asvg:svgBlip xmlns:asvg="http://schemas.microsoft.com/office/drawing/2016/SVG/main" r:embed="rId12"/>
              </a:ext>
            </a:extLst>
          </a:blip>
          <a:stretch>
            <a:fillRect/>
          </a:stretch>
        </p:blipFill>
        <p:spPr>
          <a:xfrm>
            <a:off x="7937762" y="4910204"/>
            <a:ext cx="370686" cy="370686"/>
          </a:xfrm>
          <a:prstGeom prst="rect">
            <a:avLst/>
          </a:prstGeom>
        </p:spPr>
      </p:pic>
      <p:sp>
        <p:nvSpPr>
          <p:cNvPr id="142" name="Rectangle: Rounded Corners 4">
            <a:extLst>
              <a:ext uri="{FF2B5EF4-FFF2-40B4-BE49-F238E27FC236}">
                <a16:creationId xmlns:a16="http://schemas.microsoft.com/office/drawing/2014/main" id="{243B667C-D65F-6379-8DBA-6C23A1F7F983}"/>
              </a:ext>
            </a:extLst>
          </p:cNvPr>
          <p:cNvSpPr/>
          <p:nvPr/>
        </p:nvSpPr>
        <p:spPr>
          <a:xfrm>
            <a:off x="9924379" y="5632474"/>
            <a:ext cx="2216220" cy="110940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p:txBody>
      </p:sp>
      <p:sp>
        <p:nvSpPr>
          <p:cNvPr id="143" name="Rectangle: Rounded Corners 4">
            <a:extLst>
              <a:ext uri="{FF2B5EF4-FFF2-40B4-BE49-F238E27FC236}">
                <a16:creationId xmlns:a16="http://schemas.microsoft.com/office/drawing/2014/main" id="{B6F8457D-FF05-62D0-3E52-3FF7A3EEFD90}"/>
              </a:ext>
            </a:extLst>
          </p:cNvPr>
          <p:cNvSpPr/>
          <p:nvPr/>
        </p:nvSpPr>
        <p:spPr>
          <a:xfrm>
            <a:off x="9924380" y="4412937"/>
            <a:ext cx="2216220" cy="92136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Implementatie </a:t>
            </a:r>
            <a:r>
              <a:rPr lang="nl-NL" sz="1000" err="1">
                <a:solidFill>
                  <a:srgbClr val="000000"/>
                </a:solidFill>
                <a:latin typeface="Verdana"/>
                <a:ea typeface="Verdana"/>
                <a:cs typeface="Arial"/>
              </a:rPr>
              <a:t>eOverdracht</a:t>
            </a:r>
            <a:endParaRPr lang="nl-NL" sz="1000">
              <a:solidFill>
                <a:srgbClr val="000000"/>
              </a:solidFill>
              <a:latin typeface="Verdana"/>
              <a:ea typeface="Verdana"/>
              <a:cs typeface="Arial"/>
            </a:endParaRPr>
          </a:p>
        </p:txBody>
      </p:sp>
      <p:pic>
        <p:nvPicPr>
          <p:cNvPr id="144" name="Graphic 143">
            <a:extLst>
              <a:ext uri="{FF2B5EF4-FFF2-40B4-BE49-F238E27FC236}">
                <a16:creationId xmlns:a16="http://schemas.microsoft.com/office/drawing/2014/main" id="{7C591A85-33C9-0051-1854-0ECB10F3A711}"/>
              </a:ext>
            </a:extLst>
          </p:cNvPr>
          <p:cNvPicPr>
            <a:picLocks noChangeAspect="1"/>
          </p:cNvPicPr>
          <p:nvPr>
            <p:custDataLst>
              <p:tags r:id="rId7"/>
            </p:custDataLst>
          </p:nvPr>
        </p:nvPicPr>
        <p:blipFill>
          <a:blip r:embed="rId11">
            <a:extLst>
              <a:ext uri="{96DAC541-7B7A-43D3-8B79-37D633B846F1}">
                <asvg:svgBlip xmlns:asvg="http://schemas.microsoft.com/office/drawing/2016/SVG/main" r:embed="rId12"/>
              </a:ext>
            </a:extLst>
          </a:blip>
          <a:stretch>
            <a:fillRect/>
          </a:stretch>
        </p:blipFill>
        <p:spPr>
          <a:xfrm>
            <a:off x="10041407" y="6269270"/>
            <a:ext cx="370686" cy="370686"/>
          </a:xfrm>
          <a:prstGeom prst="rect">
            <a:avLst/>
          </a:prstGeom>
        </p:spPr>
      </p:pic>
      <p:pic>
        <p:nvPicPr>
          <p:cNvPr id="145" name="Graphic 144">
            <a:extLst>
              <a:ext uri="{FF2B5EF4-FFF2-40B4-BE49-F238E27FC236}">
                <a16:creationId xmlns:a16="http://schemas.microsoft.com/office/drawing/2014/main" id="{D8FCA71C-CF14-649A-677F-507990CB2AA0}"/>
              </a:ext>
            </a:extLst>
          </p:cNvPr>
          <p:cNvPicPr>
            <a:picLocks noChangeAspect="1"/>
          </p:cNvPicPr>
          <p:nvPr>
            <p:custDataLst>
              <p:tags r:id="rId8"/>
            </p:custDataLst>
          </p:nvPr>
        </p:nvPicPr>
        <p:blipFill>
          <a:blip r:embed="rId11">
            <a:extLst>
              <a:ext uri="{96DAC541-7B7A-43D3-8B79-37D633B846F1}">
                <asvg:svgBlip xmlns:asvg="http://schemas.microsoft.com/office/drawing/2016/SVG/main" r:embed="rId12"/>
              </a:ext>
            </a:extLst>
          </a:blip>
          <a:stretch>
            <a:fillRect/>
          </a:stretch>
        </p:blipFill>
        <p:spPr>
          <a:xfrm>
            <a:off x="10072579" y="4926411"/>
            <a:ext cx="370686" cy="370686"/>
          </a:xfrm>
          <a:prstGeom prst="rect">
            <a:avLst/>
          </a:prstGeom>
        </p:spPr>
      </p:pic>
      <p:sp>
        <p:nvSpPr>
          <p:cNvPr id="146" name="Tekstvak 145">
            <a:extLst>
              <a:ext uri="{FF2B5EF4-FFF2-40B4-BE49-F238E27FC236}">
                <a16:creationId xmlns:a16="http://schemas.microsoft.com/office/drawing/2014/main" id="{44C16C9D-2504-CCD8-FB28-2DF5B8AB7559}"/>
              </a:ext>
            </a:extLst>
          </p:cNvPr>
          <p:cNvSpPr txBox="1"/>
          <p:nvPr/>
        </p:nvSpPr>
        <p:spPr>
          <a:xfrm>
            <a:off x="10357151" y="4625064"/>
            <a:ext cx="1708219" cy="707886"/>
          </a:xfrm>
          <a:prstGeom prst="rect">
            <a:avLst/>
          </a:prstGeom>
          <a:noFill/>
        </p:spPr>
        <p:txBody>
          <a:bodyPr wrap="square" lIns="91440" tIns="45720" rIns="91440" bIns="45720" anchor="t">
            <a:spAutoFit/>
          </a:bodyPr>
          <a:lstStyle/>
          <a:p>
            <a:pPr>
              <a:spcAft>
                <a:spcPts val="600"/>
              </a:spcAft>
              <a:defRPr/>
            </a:pPr>
            <a:r>
              <a:rPr lang="nl-NL" sz="1000" b="1" err="1">
                <a:solidFill>
                  <a:srgbClr val="000000"/>
                </a:solidFill>
                <a:latin typeface="Verdana"/>
                <a:ea typeface="Verdana"/>
                <a:cs typeface="Arial"/>
              </a:rPr>
              <a:t>eOverdracht</a:t>
            </a:r>
            <a:r>
              <a:rPr lang="nl-NL" sz="1000" b="1">
                <a:solidFill>
                  <a:srgbClr val="000000"/>
                </a:solidFill>
                <a:latin typeface="Verdana"/>
                <a:ea typeface="Verdana"/>
                <a:cs typeface="Arial"/>
              </a:rPr>
              <a:t> technisch ingericht en geïmplementeerd bij alle organisaties </a:t>
            </a:r>
            <a:endParaRPr lang="nl-NL" sz="1000" b="1">
              <a:solidFill>
                <a:srgbClr val="000000"/>
              </a:solidFill>
              <a:latin typeface="Verdana" panose="020B0604030504040204" pitchFamily="34" charset="0"/>
              <a:ea typeface="Verdana" panose="020B0604030504040204" pitchFamily="34" charset="0"/>
              <a:cs typeface="Arial"/>
            </a:endParaRPr>
          </a:p>
        </p:txBody>
      </p:sp>
      <p:sp>
        <p:nvSpPr>
          <p:cNvPr id="147" name="Tekstvak 146">
            <a:extLst>
              <a:ext uri="{FF2B5EF4-FFF2-40B4-BE49-F238E27FC236}">
                <a16:creationId xmlns:a16="http://schemas.microsoft.com/office/drawing/2014/main" id="{C63C85C1-4F3A-20D2-FF91-0F2F59C4C73F}"/>
              </a:ext>
            </a:extLst>
          </p:cNvPr>
          <p:cNvSpPr txBox="1"/>
          <p:nvPr/>
        </p:nvSpPr>
        <p:spPr>
          <a:xfrm>
            <a:off x="10377777" y="6038123"/>
            <a:ext cx="1883272" cy="707886"/>
          </a:xfrm>
          <a:prstGeom prst="rect">
            <a:avLst/>
          </a:prstGeom>
          <a:noFill/>
        </p:spPr>
        <p:txBody>
          <a:bodyPr wrap="square" lIns="91440" tIns="45720" rIns="91440" bIns="45720" anchor="t">
            <a:spAutoFit/>
          </a:bodyPr>
          <a:lstStyle/>
          <a:p>
            <a:pPr>
              <a:spcAft>
                <a:spcPts val="600"/>
              </a:spcAft>
              <a:defRPr/>
            </a:pPr>
            <a:r>
              <a:rPr lang="nl-NL" sz="1000" b="1" err="1">
                <a:solidFill>
                  <a:srgbClr val="000000"/>
                </a:solidFill>
                <a:latin typeface="Verdana"/>
                <a:ea typeface="Verdana"/>
                <a:cs typeface="Arial"/>
              </a:rPr>
              <a:t>eOverdracht</a:t>
            </a:r>
            <a:r>
              <a:rPr lang="nl-NL" sz="1000" b="1">
                <a:solidFill>
                  <a:srgbClr val="000000"/>
                </a:solidFill>
                <a:latin typeface="Verdana"/>
                <a:ea typeface="Verdana"/>
                <a:cs typeface="Arial"/>
              </a:rPr>
              <a:t> opgenomen in werkproces bij alle organisaties</a:t>
            </a:r>
            <a:endParaRPr lang="nl-NL" sz="1000" b="1">
              <a:solidFill>
                <a:srgbClr val="000000"/>
              </a:solidFill>
              <a:latin typeface="Verdana" panose="020B0604030504040204" pitchFamily="34" charset="0"/>
              <a:ea typeface="Verdana" panose="020B0604030504040204" pitchFamily="34" charset="0"/>
              <a:cs typeface="Arial"/>
            </a:endParaRPr>
          </a:p>
        </p:txBody>
      </p:sp>
      <p:sp>
        <p:nvSpPr>
          <p:cNvPr id="148" name="Tekstvak 147">
            <a:extLst>
              <a:ext uri="{FF2B5EF4-FFF2-40B4-BE49-F238E27FC236}">
                <a16:creationId xmlns:a16="http://schemas.microsoft.com/office/drawing/2014/main" id="{3D1EF566-7C19-B7DB-B3F4-0492C9944339}"/>
              </a:ext>
            </a:extLst>
          </p:cNvPr>
          <p:cNvSpPr txBox="1"/>
          <p:nvPr/>
        </p:nvSpPr>
        <p:spPr>
          <a:xfrm>
            <a:off x="8246206" y="4625064"/>
            <a:ext cx="1677327" cy="728480"/>
          </a:xfrm>
          <a:prstGeom prst="rect">
            <a:avLst/>
          </a:prstGeom>
          <a:noFill/>
        </p:spPr>
        <p:txBody>
          <a:bodyPr wrap="square" lIns="91440" tIns="45720" rIns="91440" bIns="45720" anchor="t">
            <a:spAutoFit/>
          </a:bodyPr>
          <a:lstStyle/>
          <a:p>
            <a:pPr>
              <a:spcAft>
                <a:spcPts val="600"/>
              </a:spcAft>
              <a:defRPr/>
            </a:pPr>
            <a:r>
              <a:rPr lang="nl-NL" sz="1000" b="1" err="1">
                <a:solidFill>
                  <a:srgbClr val="000000"/>
                </a:solidFill>
                <a:latin typeface="Verdana"/>
                <a:ea typeface="Verdana"/>
                <a:cs typeface="Arial"/>
              </a:rPr>
              <a:t>MeO</a:t>
            </a:r>
            <a:r>
              <a:rPr lang="nl-NL" sz="1000" b="1">
                <a:solidFill>
                  <a:srgbClr val="000000"/>
                </a:solidFill>
                <a:latin typeface="Verdana"/>
                <a:ea typeface="Verdana"/>
                <a:cs typeface="Arial"/>
              </a:rPr>
              <a:t> technisch ingericht en geïmplementeerd bij alle organisaties </a:t>
            </a:r>
            <a:endParaRPr lang="nl-NL" sz="1000" b="1">
              <a:solidFill>
                <a:srgbClr val="000000"/>
              </a:solidFill>
              <a:latin typeface="Verdana" panose="020B0604030504040204" pitchFamily="34" charset="0"/>
              <a:ea typeface="Verdana" panose="020B0604030504040204" pitchFamily="34" charset="0"/>
              <a:cs typeface="Arial"/>
            </a:endParaRPr>
          </a:p>
        </p:txBody>
      </p:sp>
      <p:sp>
        <p:nvSpPr>
          <p:cNvPr id="157" name="Tekstvak 156">
            <a:extLst>
              <a:ext uri="{FF2B5EF4-FFF2-40B4-BE49-F238E27FC236}">
                <a16:creationId xmlns:a16="http://schemas.microsoft.com/office/drawing/2014/main" id="{F9153C78-3537-B807-32D3-932F56F42250}"/>
              </a:ext>
            </a:extLst>
          </p:cNvPr>
          <p:cNvSpPr txBox="1"/>
          <p:nvPr/>
        </p:nvSpPr>
        <p:spPr>
          <a:xfrm>
            <a:off x="7730231" y="6038123"/>
            <a:ext cx="2252662" cy="553998"/>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err="1">
                <a:ln>
                  <a:noFill/>
                </a:ln>
                <a:solidFill>
                  <a:srgbClr val="000000"/>
                </a:solidFill>
                <a:effectLst/>
                <a:uLnTx/>
                <a:uFillTx/>
                <a:latin typeface="Verdana"/>
                <a:ea typeface="Verdana"/>
                <a:cs typeface="Arial"/>
              </a:rPr>
              <a:t>MeO</a:t>
            </a:r>
            <a:r>
              <a:rPr kumimoji="0" lang="nl-NL" sz="1000" b="1" i="0" u="none" strike="noStrike" kern="1200" cap="none" spc="0" normalizeH="0" baseline="0" noProof="0">
                <a:ln>
                  <a:noFill/>
                </a:ln>
                <a:solidFill>
                  <a:srgbClr val="000000"/>
                </a:solidFill>
                <a:effectLst/>
                <a:uLnTx/>
                <a:uFillTx/>
                <a:latin typeface="Verdana"/>
                <a:ea typeface="Verdana"/>
                <a:cs typeface="Arial"/>
              </a:rPr>
              <a:t> opgenomen in werkproces bij alle organisaties</a:t>
            </a:r>
            <a:endParaRPr kumimoji="0" lang="nl-NL"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endParaRPr>
          </a:p>
        </p:txBody>
      </p:sp>
      <p:sp>
        <p:nvSpPr>
          <p:cNvPr id="158" name="Tekstvak 157">
            <a:extLst>
              <a:ext uri="{FF2B5EF4-FFF2-40B4-BE49-F238E27FC236}">
                <a16:creationId xmlns:a16="http://schemas.microsoft.com/office/drawing/2014/main" id="{B589EC83-EB89-5781-6CA4-3942F9AF1823}"/>
              </a:ext>
            </a:extLst>
          </p:cNvPr>
          <p:cNvSpPr txBox="1"/>
          <p:nvPr/>
        </p:nvSpPr>
        <p:spPr>
          <a:xfrm>
            <a:off x="5648172" y="6038123"/>
            <a:ext cx="2252662" cy="553998"/>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err="1">
                <a:ln>
                  <a:noFill/>
                </a:ln>
                <a:solidFill>
                  <a:srgbClr val="000000"/>
                </a:solidFill>
                <a:effectLst/>
                <a:uLnTx/>
                <a:uFillTx/>
                <a:latin typeface="Verdana"/>
                <a:ea typeface="Verdana"/>
                <a:cs typeface="Arial"/>
              </a:rPr>
              <a:t>MeO</a:t>
            </a:r>
            <a:r>
              <a:rPr kumimoji="0" lang="nl-NL" sz="1000" b="1" i="0" u="none" strike="noStrike" kern="1200" cap="none" spc="0" normalizeH="0" baseline="0" noProof="0">
                <a:ln>
                  <a:noFill/>
                </a:ln>
                <a:solidFill>
                  <a:srgbClr val="000000"/>
                </a:solidFill>
                <a:effectLst/>
                <a:uLnTx/>
                <a:uFillTx/>
                <a:latin typeface="Verdana"/>
                <a:ea typeface="Verdana"/>
                <a:cs typeface="Arial"/>
              </a:rPr>
              <a:t> opgenomen in werkproces bij volgers</a:t>
            </a:r>
            <a:endParaRPr kumimoji="0" lang="nl-NL"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endParaRPr>
          </a:p>
        </p:txBody>
      </p:sp>
      <p:sp>
        <p:nvSpPr>
          <p:cNvPr id="162" name="Tekstvak 161">
            <a:extLst>
              <a:ext uri="{FF2B5EF4-FFF2-40B4-BE49-F238E27FC236}">
                <a16:creationId xmlns:a16="http://schemas.microsoft.com/office/drawing/2014/main" id="{A66A65FC-6FB3-E9CB-AF6D-91AECF387077}"/>
              </a:ext>
            </a:extLst>
          </p:cNvPr>
          <p:cNvSpPr txBox="1"/>
          <p:nvPr/>
        </p:nvSpPr>
        <p:spPr>
          <a:xfrm>
            <a:off x="5756509" y="4625064"/>
            <a:ext cx="1973721" cy="707886"/>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err="1">
                <a:ln>
                  <a:noFill/>
                </a:ln>
                <a:solidFill>
                  <a:srgbClr val="000000"/>
                </a:solidFill>
                <a:effectLst/>
                <a:uLnTx/>
                <a:uFillTx/>
                <a:latin typeface="Verdana"/>
                <a:ea typeface="Verdana"/>
                <a:cs typeface="Arial"/>
              </a:rPr>
              <a:t>MeO</a:t>
            </a:r>
            <a:r>
              <a:rPr kumimoji="0" lang="nl-NL" sz="1000" b="1" i="0" u="none" strike="noStrike" kern="1200" cap="none" spc="0" normalizeH="0" baseline="0" noProof="0">
                <a:ln>
                  <a:noFill/>
                </a:ln>
                <a:solidFill>
                  <a:srgbClr val="000000"/>
                </a:solidFill>
                <a:effectLst/>
                <a:uLnTx/>
                <a:uFillTx/>
                <a:latin typeface="Verdana"/>
                <a:ea typeface="Verdana"/>
                <a:cs typeface="Arial"/>
              </a:rPr>
              <a:t> technisch ingericht en geïmplementeerd bij volgers</a:t>
            </a:r>
            <a:endParaRPr kumimoji="0" lang="nl-NL" sz="10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rial"/>
            </a:endParaRPr>
          </a:p>
        </p:txBody>
      </p:sp>
      <p:sp>
        <p:nvSpPr>
          <p:cNvPr id="2" name="Rectangle: Top Corners Rounded 38">
            <a:hlinkClick r:id="rId13" action="ppaction://hlinksldjump"/>
            <a:extLst>
              <a:ext uri="{FF2B5EF4-FFF2-40B4-BE49-F238E27FC236}">
                <a16:creationId xmlns:a16="http://schemas.microsoft.com/office/drawing/2014/main" id="{77E69C89-A25B-2B43-8311-0D15B7D2006A}"/>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 name="Graphic 2" descr="Introductiepagina silhouet">
            <a:hlinkClick r:id="rId14" action="ppaction://hlinksldjump"/>
            <a:extLst>
              <a:ext uri="{FF2B5EF4-FFF2-40B4-BE49-F238E27FC236}">
                <a16:creationId xmlns:a16="http://schemas.microsoft.com/office/drawing/2014/main" id="{8E9E94DB-78F7-9463-B4A5-E87922C0FB2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136" y="147223"/>
            <a:ext cx="144000" cy="144000"/>
          </a:xfrm>
          <a:prstGeom prst="rect">
            <a:avLst/>
          </a:prstGeom>
        </p:spPr>
      </p:pic>
      <p:sp>
        <p:nvSpPr>
          <p:cNvPr id="4" name="Rectangle: Top Corners Rounded 1">
            <a:hlinkClick r:id="rId17" action="ppaction://hlinksldjump"/>
            <a:extLst>
              <a:ext uri="{FF2B5EF4-FFF2-40B4-BE49-F238E27FC236}">
                <a16:creationId xmlns:a16="http://schemas.microsoft.com/office/drawing/2014/main" id="{4DA4C1DE-4DE0-CCD7-42ED-1D2C618D78B4}"/>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5" name="Rectangle: Top Corners Rounded 1">
            <a:hlinkClick r:id="rId18" action="ppaction://hlinksldjump"/>
            <a:extLst>
              <a:ext uri="{FF2B5EF4-FFF2-40B4-BE49-F238E27FC236}">
                <a16:creationId xmlns:a16="http://schemas.microsoft.com/office/drawing/2014/main" id="{A80BF51B-D461-D406-E930-B0E22C5CB12D}"/>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6" name="Rectangle: Top Corners Rounded 1">
            <a:hlinkClick r:id="rId19" action="ppaction://hlinksldjump"/>
            <a:extLst>
              <a:ext uri="{FF2B5EF4-FFF2-40B4-BE49-F238E27FC236}">
                <a16:creationId xmlns:a16="http://schemas.microsoft.com/office/drawing/2014/main" id="{96643565-DA45-4FEF-D00B-52FBC2BFBD95}"/>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8" name="Rectangle: Top Corners Rounded 1">
            <a:hlinkClick r:id="rId20" action="ppaction://hlinksldjump"/>
            <a:extLst>
              <a:ext uri="{FF2B5EF4-FFF2-40B4-BE49-F238E27FC236}">
                <a16:creationId xmlns:a16="http://schemas.microsoft.com/office/drawing/2014/main" id="{19233B6B-65E5-9680-498E-92CBCC2C6455}"/>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1" name="Rectangle: Top Corners Rounded 1">
            <a:hlinkClick r:id="rId21" action="ppaction://hlinksldjump"/>
            <a:extLst>
              <a:ext uri="{FF2B5EF4-FFF2-40B4-BE49-F238E27FC236}">
                <a16:creationId xmlns:a16="http://schemas.microsoft.com/office/drawing/2014/main" id="{D17DF456-7F85-E22B-ABC6-ADD2BF795825}"/>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22" action="ppaction://hlinksldjump"/>
            <a:extLst>
              <a:ext uri="{FF2B5EF4-FFF2-40B4-BE49-F238E27FC236}">
                <a16:creationId xmlns:a16="http://schemas.microsoft.com/office/drawing/2014/main" id="{3D4DF387-3A89-2EF2-B148-7A2E8A09036A}"/>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7" name="Rectangle: Top Corners Rounded 1">
            <a:hlinkClick r:id="rId23" action="ppaction://hlinksldjump"/>
            <a:extLst>
              <a:ext uri="{FF2B5EF4-FFF2-40B4-BE49-F238E27FC236}">
                <a16:creationId xmlns:a16="http://schemas.microsoft.com/office/drawing/2014/main" id="{E49388D8-65B6-6141-10B1-135DCFD5EB6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8" name="Rectangle: Top Corners Rounded 1">
            <a:hlinkClick r:id="rId24" action="ppaction://hlinksldjump"/>
            <a:extLst>
              <a:ext uri="{FF2B5EF4-FFF2-40B4-BE49-F238E27FC236}">
                <a16:creationId xmlns:a16="http://schemas.microsoft.com/office/drawing/2014/main" id="{E057E71F-C918-1A70-A43F-DBF965DCB2E3}"/>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9" name="Rectangle: Top Corners Rounded 1">
            <a:hlinkClick r:id="rId25" action="ppaction://hlinksldjump"/>
            <a:extLst>
              <a:ext uri="{FF2B5EF4-FFF2-40B4-BE49-F238E27FC236}">
                <a16:creationId xmlns:a16="http://schemas.microsoft.com/office/drawing/2014/main" id="{36E1698C-5FAD-28D7-2DE6-478D8D700653}"/>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1" name="Rectangle: Top Corners Rounded 1">
            <a:hlinkClick r:id="rId26" action="ppaction://hlinksldjump"/>
            <a:extLst>
              <a:ext uri="{FF2B5EF4-FFF2-40B4-BE49-F238E27FC236}">
                <a16:creationId xmlns:a16="http://schemas.microsoft.com/office/drawing/2014/main" id="{FB60B017-2584-C88C-C36D-1A7538FB90C8}"/>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2" name="Rectangle: Top Corners Rounded 1">
            <a:hlinkClick r:id="rId27" action="ppaction://hlinksldjump"/>
            <a:extLst>
              <a:ext uri="{FF2B5EF4-FFF2-40B4-BE49-F238E27FC236}">
                <a16:creationId xmlns:a16="http://schemas.microsoft.com/office/drawing/2014/main" id="{0AEE1E54-BD8D-769B-9B0F-F91100EDFC80}"/>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0523175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2008BE-44C8-F036-0FF8-CCC23CDDDDAD}"/>
              </a:ext>
            </a:extLst>
          </p:cNvPr>
          <p:cNvSpPr>
            <a:spLocks noGrp="1"/>
          </p:cNvSpPr>
          <p:nvPr>
            <p:ph type="title"/>
          </p:nvPr>
        </p:nvSpPr>
        <p:spPr/>
        <p:txBody>
          <a:bodyPr/>
          <a:lstStyle/>
          <a:p>
            <a:r>
              <a:rPr lang="en-GB" err="1"/>
              <a:t>Verpleegkundige</a:t>
            </a:r>
            <a:r>
              <a:rPr lang="en-GB"/>
              <a:t> </a:t>
            </a:r>
            <a:r>
              <a:rPr lang="en-GB" err="1"/>
              <a:t>Overdracht</a:t>
            </a:r>
            <a:r>
              <a:rPr lang="en-GB"/>
              <a:t> – Impact </a:t>
            </a:r>
          </a:p>
        </p:txBody>
      </p:sp>
      <p:sp>
        <p:nvSpPr>
          <p:cNvPr id="10" name="Text Placeholder 9">
            <a:extLst>
              <a:ext uri="{FF2B5EF4-FFF2-40B4-BE49-F238E27FC236}">
                <a16:creationId xmlns:a16="http://schemas.microsoft.com/office/drawing/2014/main" id="{6C800C85-D040-E533-B63D-0A50C153ABC3}"/>
              </a:ext>
            </a:extLst>
          </p:cNvPr>
          <p:cNvSpPr>
            <a:spLocks noGrp="1"/>
          </p:cNvSpPr>
          <p:nvPr>
            <p:ph type="body" sz="quarter" idx="10"/>
          </p:nvPr>
        </p:nvSpPr>
        <p:spPr>
          <a:xfrm>
            <a:off x="425302" y="969998"/>
            <a:ext cx="10856738" cy="314466"/>
          </a:xfrm>
        </p:spPr>
        <p:txBody>
          <a:bodyPr/>
          <a:lstStyle/>
          <a:p>
            <a:r>
              <a:rPr lang="nl-NL" sz="1200"/>
              <a:t>Regionale tijdswinst door uitwisseling van de </a:t>
            </a:r>
            <a:r>
              <a:rPr lang="nl-NL" sz="1200" err="1"/>
              <a:t>eOverdracht</a:t>
            </a:r>
            <a:r>
              <a:rPr lang="nl-NL" sz="1200"/>
              <a:t> in 2026, meer dan 1.1 miljoen per jaar, ofwel 14 FTE </a:t>
            </a:r>
          </a:p>
        </p:txBody>
      </p:sp>
      <p:graphicFrame>
        <p:nvGraphicFramePr>
          <p:cNvPr id="6" name="think-cell data - do not delete" hidden="1">
            <a:extLst>
              <a:ext uri="{FF2B5EF4-FFF2-40B4-BE49-F238E27FC236}">
                <a16:creationId xmlns:a16="http://schemas.microsoft.com/office/drawing/2014/main" id="{35E859E6-1463-F638-1A44-379D6BD57BC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35E859E6-1463-F638-1A44-379D6BD57BC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Rounded Corners 7">
            <a:extLst>
              <a:ext uri="{FF2B5EF4-FFF2-40B4-BE49-F238E27FC236}">
                <a16:creationId xmlns:a16="http://schemas.microsoft.com/office/drawing/2014/main" id="{4BCB5237-58C9-7972-DC15-D92B70D36DB6}"/>
              </a:ext>
            </a:extLst>
          </p:cNvPr>
          <p:cNvSpPr/>
          <p:nvPr/>
        </p:nvSpPr>
        <p:spPr>
          <a:xfrm>
            <a:off x="838198" y="1389345"/>
            <a:ext cx="4158893" cy="5310469"/>
          </a:xfrm>
          <a:prstGeom prst="roundRect">
            <a:avLst>
              <a:gd name="adj" fmla="val 5821"/>
            </a:avLst>
          </a:prstGeom>
          <a:solidFill>
            <a:schemeClr val="bg1"/>
          </a:solidFill>
          <a:ln w="12700">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black"/>
                </a:solidFill>
                <a:effectLst/>
                <a:uLnTx/>
                <a:uFillTx/>
                <a:latin typeface="Aptos Display"/>
                <a:ea typeface="+mn-ea"/>
                <a:cs typeface="+mn-cs"/>
              </a:rPr>
              <a:t>Kwalitatieve impact</a:t>
            </a:r>
            <a:r>
              <a:rPr kumimoji="0" lang="nl-NL" sz="1400" b="1" i="0" u="none" strike="noStrike" kern="1200" cap="none" spc="0" normalizeH="0" baseline="30000" noProof="0">
                <a:ln>
                  <a:noFill/>
                </a:ln>
                <a:solidFill>
                  <a:prstClr val="black"/>
                </a:solidFill>
                <a:effectLst/>
                <a:uLnTx/>
                <a:uFillTx/>
                <a:latin typeface="Aptos Display"/>
                <a:ea typeface="+mn-ea"/>
                <a:cs typeface="+mn-cs"/>
              </a:rPr>
              <a:t>1</a:t>
            </a:r>
          </a:p>
        </p:txBody>
      </p:sp>
      <p:sp>
        <p:nvSpPr>
          <p:cNvPr id="7" name="Partial Circle 12">
            <a:extLst>
              <a:ext uri="{FF2B5EF4-FFF2-40B4-BE49-F238E27FC236}">
                <a16:creationId xmlns:a16="http://schemas.microsoft.com/office/drawing/2014/main" id="{ECF9A292-56AD-11DD-10BD-6C3B53D183D6}"/>
              </a:ext>
            </a:extLst>
          </p:cNvPr>
          <p:cNvSpPr/>
          <p:nvPr/>
        </p:nvSpPr>
        <p:spPr>
          <a:xfrm>
            <a:off x="586176" y="2027880"/>
            <a:ext cx="914400" cy="914400"/>
          </a:xfrm>
          <a:prstGeom prst="pie">
            <a:avLst>
              <a:gd name="adj1" fmla="val 10767649"/>
              <a:gd name="adj2" fmla="val 16200000"/>
            </a:avLst>
          </a:prstGeom>
          <a:solidFill>
            <a:srgbClr val="DDEBCE"/>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4" name="Partial Circle 8">
            <a:extLst>
              <a:ext uri="{FF2B5EF4-FFF2-40B4-BE49-F238E27FC236}">
                <a16:creationId xmlns:a16="http://schemas.microsoft.com/office/drawing/2014/main" id="{C35DFDDC-212E-91E2-F182-90F6A1637E7A}"/>
              </a:ext>
            </a:extLst>
          </p:cNvPr>
          <p:cNvSpPr/>
          <p:nvPr/>
        </p:nvSpPr>
        <p:spPr>
          <a:xfrm rot="5400000">
            <a:off x="128976" y="3245019"/>
            <a:ext cx="914400" cy="914400"/>
          </a:xfrm>
          <a:prstGeom prst="pie">
            <a:avLst>
              <a:gd name="adj1" fmla="val 10767649"/>
              <a:gd name="adj2" fmla="val 16200000"/>
            </a:avLst>
          </a:prstGeom>
          <a:solidFill>
            <a:srgbClr val="21BBEF"/>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6" name="Partial Circle 9">
            <a:extLst>
              <a:ext uri="{FF2B5EF4-FFF2-40B4-BE49-F238E27FC236}">
                <a16:creationId xmlns:a16="http://schemas.microsoft.com/office/drawing/2014/main" id="{2CB31942-4D71-072E-77D6-7C246A8B629A}"/>
              </a:ext>
            </a:extLst>
          </p:cNvPr>
          <p:cNvSpPr/>
          <p:nvPr/>
        </p:nvSpPr>
        <p:spPr>
          <a:xfrm rot="10800000">
            <a:off x="128976" y="4080729"/>
            <a:ext cx="914400" cy="914400"/>
          </a:xfrm>
          <a:prstGeom prst="pie">
            <a:avLst>
              <a:gd name="adj1" fmla="val 10767649"/>
              <a:gd name="adj2" fmla="val 16200000"/>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7" name="Partial Circle 10">
            <a:extLst>
              <a:ext uri="{FF2B5EF4-FFF2-40B4-BE49-F238E27FC236}">
                <a16:creationId xmlns:a16="http://schemas.microsoft.com/office/drawing/2014/main" id="{139BA4B5-7FE8-2F18-CC97-8B76E696DF92}"/>
              </a:ext>
            </a:extLst>
          </p:cNvPr>
          <p:cNvSpPr/>
          <p:nvPr/>
        </p:nvSpPr>
        <p:spPr>
          <a:xfrm rot="16200000">
            <a:off x="573821" y="5150703"/>
            <a:ext cx="914400" cy="914400"/>
          </a:xfrm>
          <a:prstGeom prst="pie">
            <a:avLst>
              <a:gd name="adj1" fmla="val 10767649"/>
              <a:gd name="adj2" fmla="val 16200000"/>
            </a:avLst>
          </a:prstGeom>
          <a:solidFill>
            <a:srgbClr val="0E9D90"/>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20" name="Tekstvak 19">
            <a:extLst>
              <a:ext uri="{FF2B5EF4-FFF2-40B4-BE49-F238E27FC236}">
                <a16:creationId xmlns:a16="http://schemas.microsoft.com/office/drawing/2014/main" id="{93246308-D83A-A11E-DEF4-F1CEF9CADAEF}"/>
              </a:ext>
            </a:extLst>
          </p:cNvPr>
          <p:cNvSpPr txBox="1"/>
          <p:nvPr/>
        </p:nvSpPr>
        <p:spPr>
          <a:xfrm>
            <a:off x="723901" y="2162160"/>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1</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21" name="Tekstvak 20">
            <a:extLst>
              <a:ext uri="{FF2B5EF4-FFF2-40B4-BE49-F238E27FC236}">
                <a16:creationId xmlns:a16="http://schemas.microsoft.com/office/drawing/2014/main" id="{04A416FE-7CBC-D8DD-5B25-80EBF569FD19}"/>
              </a:ext>
            </a:extLst>
          </p:cNvPr>
          <p:cNvSpPr txBox="1"/>
          <p:nvPr/>
        </p:nvSpPr>
        <p:spPr>
          <a:xfrm>
            <a:off x="647701" y="3388070"/>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2</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22" name="Tekstvak 21">
            <a:extLst>
              <a:ext uri="{FF2B5EF4-FFF2-40B4-BE49-F238E27FC236}">
                <a16:creationId xmlns:a16="http://schemas.microsoft.com/office/drawing/2014/main" id="{DB7CF8FA-25FF-85C8-43F4-42AB7DF60F9B}"/>
              </a:ext>
            </a:extLst>
          </p:cNvPr>
          <p:cNvSpPr txBox="1"/>
          <p:nvPr/>
        </p:nvSpPr>
        <p:spPr>
          <a:xfrm>
            <a:off x="647700" y="4589437"/>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3</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23" name="Tekstvak 22">
            <a:extLst>
              <a:ext uri="{FF2B5EF4-FFF2-40B4-BE49-F238E27FC236}">
                <a16:creationId xmlns:a16="http://schemas.microsoft.com/office/drawing/2014/main" id="{5C14E282-9AE0-96BB-7DBB-30CB50158E99}"/>
              </a:ext>
            </a:extLst>
          </p:cNvPr>
          <p:cNvSpPr txBox="1"/>
          <p:nvPr/>
        </p:nvSpPr>
        <p:spPr>
          <a:xfrm>
            <a:off x="719136" y="5671280"/>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Aptos"/>
                <a:ea typeface="+mn-ea"/>
                <a:cs typeface="+mn-cs"/>
              </a:rPr>
              <a:t>4</a:t>
            </a:r>
          </a:p>
        </p:txBody>
      </p:sp>
      <p:sp>
        <p:nvSpPr>
          <p:cNvPr id="24" name="Tekstvak 23">
            <a:extLst>
              <a:ext uri="{FF2B5EF4-FFF2-40B4-BE49-F238E27FC236}">
                <a16:creationId xmlns:a16="http://schemas.microsoft.com/office/drawing/2014/main" id="{FB65C5C6-F832-B411-8027-ABB3ABE2C52D}"/>
              </a:ext>
            </a:extLst>
          </p:cNvPr>
          <p:cNvSpPr txBox="1"/>
          <p:nvPr/>
        </p:nvSpPr>
        <p:spPr>
          <a:xfrm>
            <a:off x="1043376" y="1782609"/>
            <a:ext cx="3953715" cy="1041311"/>
          </a:xfrm>
          <a:prstGeom prst="rect">
            <a:avLst/>
          </a:prstGeom>
          <a:noFill/>
        </p:spPr>
        <p:txBody>
          <a:bodyPr wrap="square" lIns="91440" tIns="45720" rIns="91440" bIns="45720" rtlCol="0" anchor="t">
            <a:spAutoFit/>
          </a:bodyPr>
          <a:lstStyle/>
          <a:p>
            <a:pPr marL="85725" lvl="2" indent="-85725">
              <a:spcAft>
                <a:spcPts val="100"/>
              </a:spcAft>
              <a:buClr>
                <a:srgbClr val="0C3512"/>
              </a:buClr>
              <a:buFont typeface="Arial,Sans-Serif" panose="020B0604020202020204" pitchFamily="34" charset="0"/>
              <a:buChar char="•"/>
              <a:defRPr/>
            </a:pPr>
            <a:r>
              <a:rPr lang="nl-NL" sz="1000">
                <a:solidFill>
                  <a:srgbClr val="0C3512"/>
                </a:solidFill>
                <a:latin typeface="Verdana"/>
                <a:ea typeface="Verdana"/>
              </a:rPr>
              <a:t>We verbeteren de </a:t>
            </a:r>
            <a:r>
              <a:rPr kumimoji="0" lang="nl-NL" sz="1000" b="0" i="0" u="none" strike="noStrike" kern="1200" cap="none" spc="0" normalizeH="0" baseline="0" noProof="0">
                <a:ln>
                  <a:noFill/>
                </a:ln>
                <a:solidFill>
                  <a:srgbClr val="0C3512"/>
                </a:solidFill>
                <a:effectLst/>
                <a:uLnTx/>
                <a:uFillTx/>
                <a:latin typeface="Verdana"/>
                <a:ea typeface="Verdana"/>
              </a:rPr>
              <a:t>kwaliteit van zorg voor de inwoner door volledige informatie</a:t>
            </a:r>
            <a:r>
              <a:rPr lang="nl-NL" sz="1000">
                <a:solidFill>
                  <a:srgbClr val="0C3512"/>
                </a:solidFill>
                <a:latin typeface="Verdana"/>
                <a:ea typeface="Verdana"/>
              </a:rPr>
              <a:t> te hebben</a:t>
            </a:r>
            <a:r>
              <a:rPr kumimoji="0" lang="nl-NL" sz="1000" b="0" i="0" u="none" strike="noStrike" kern="1200" cap="none" spc="0" normalizeH="0" baseline="0" noProof="0">
                <a:ln>
                  <a:noFill/>
                </a:ln>
                <a:solidFill>
                  <a:srgbClr val="0C3512"/>
                </a:solidFill>
                <a:effectLst/>
                <a:uLnTx/>
                <a:uFillTx/>
                <a:latin typeface="Verdana"/>
                <a:ea typeface="Verdana"/>
              </a:rPr>
              <a:t>.</a:t>
            </a:r>
            <a:endParaRPr lang="en-US" sz="1000" b="0" i="0" u="none" strike="noStrike" kern="1200" cap="none" spc="0" normalizeH="0" baseline="0" noProof="0">
              <a:ln>
                <a:noFill/>
              </a:ln>
              <a:solidFill>
                <a:srgbClr val="000000"/>
              </a:solidFill>
              <a:effectLst/>
              <a:uLnTx/>
              <a:uFillTx/>
              <a:latin typeface="Verdana"/>
              <a:ea typeface="Verdana"/>
            </a:endParaRPr>
          </a:p>
          <a:p>
            <a:pPr marL="85725" lvl="2" indent="-85725">
              <a:spcAft>
                <a:spcPts val="100"/>
              </a:spcAft>
              <a:buFont typeface="Arial,Sans-Serif" panose="020B0604020202020204" pitchFamily="34" charset="0"/>
              <a:buChar char="•"/>
              <a:defRPr/>
            </a:pPr>
            <a:r>
              <a:rPr kumimoji="0" lang="nl-NL" sz="1000" b="0" i="0" u="none" strike="noStrike" kern="1200" cap="none" spc="0" normalizeH="0" baseline="0" noProof="0">
                <a:ln>
                  <a:noFill/>
                </a:ln>
                <a:solidFill>
                  <a:srgbClr val="0C3512"/>
                </a:solidFill>
                <a:effectLst/>
                <a:uLnTx/>
                <a:uFillTx/>
                <a:latin typeface="Verdana"/>
                <a:ea typeface="Verdana"/>
              </a:rPr>
              <a:t>De zorgverlening </a:t>
            </a:r>
            <a:r>
              <a:rPr lang="nl-NL" sz="1000">
                <a:solidFill>
                  <a:srgbClr val="0C3512"/>
                </a:solidFill>
                <a:latin typeface="Verdana"/>
                <a:ea typeface="Verdana"/>
              </a:rPr>
              <a:t>loopt </a:t>
            </a:r>
            <a:r>
              <a:rPr kumimoji="0" lang="nl-NL" sz="1000" b="0" i="0" u="none" strike="noStrike" kern="1200" cap="none" spc="0" normalizeH="0" baseline="0" noProof="0">
                <a:ln>
                  <a:noFill/>
                </a:ln>
                <a:solidFill>
                  <a:srgbClr val="0C3512"/>
                </a:solidFill>
                <a:effectLst/>
                <a:uLnTx/>
                <a:uFillTx/>
                <a:latin typeface="Verdana"/>
                <a:ea typeface="Verdana"/>
              </a:rPr>
              <a:t>efficiënter door gestructureerd inzicht in de overdracht voor zorgprofessional.</a:t>
            </a:r>
            <a:endParaRPr lang="en-US" sz="1000" b="0" i="0" u="none" strike="noStrike" kern="1200" cap="none" spc="0" normalizeH="0" baseline="0" noProof="0">
              <a:ln>
                <a:noFill/>
              </a:ln>
              <a:solidFill>
                <a:srgbClr val="000000"/>
              </a:solidFill>
              <a:effectLst/>
              <a:uLnTx/>
              <a:uFillTx/>
              <a:latin typeface="Verdana"/>
              <a:ea typeface="Verdana"/>
            </a:endParaRPr>
          </a:p>
          <a:p>
            <a:pPr marL="85725" marR="0" lvl="2" indent="-85725" algn="l" defTabSz="914400">
              <a:lnSpc>
                <a:spcPct val="100000"/>
              </a:lnSpc>
              <a:spcBef>
                <a:spcPts val="0"/>
              </a:spcBef>
              <a:spcAft>
                <a:spcPts val="100"/>
              </a:spcAft>
              <a:buSzTx/>
              <a:buFont typeface="Arial,Sans-Serif" panose="020B0604020202020204" pitchFamily="34" charset="0"/>
              <a:buChar char="•"/>
              <a:tabLst/>
              <a:defRPr/>
            </a:pPr>
            <a:r>
              <a:rPr lang="nl-NL" sz="1000">
                <a:solidFill>
                  <a:srgbClr val="0C3512"/>
                </a:solidFill>
                <a:latin typeface="Verdana"/>
                <a:ea typeface="Verdana"/>
              </a:rPr>
              <a:t>Inwoners</a:t>
            </a:r>
            <a:r>
              <a:rPr kumimoji="0" lang="nl-NL" sz="1000" b="0" i="0" u="none" strike="noStrike" kern="1200" cap="none" spc="0" normalizeH="0" baseline="0" noProof="0">
                <a:ln>
                  <a:noFill/>
                </a:ln>
                <a:solidFill>
                  <a:srgbClr val="0C3512"/>
                </a:solidFill>
                <a:effectLst/>
                <a:uLnTx/>
                <a:uFillTx/>
                <a:latin typeface="Verdana"/>
                <a:ea typeface="Verdana"/>
              </a:rPr>
              <a:t> krijgen een passend zorgplan, omdat alle benodigde informatie beschikbaar is. </a:t>
            </a:r>
            <a:endParaRPr lang="nl-NL">
              <a:latin typeface="Verdana"/>
              <a:ea typeface="Verdana"/>
            </a:endParaRPr>
          </a:p>
        </p:txBody>
      </p:sp>
      <p:sp>
        <p:nvSpPr>
          <p:cNvPr id="25" name="Tekstvak 24">
            <a:extLst>
              <a:ext uri="{FF2B5EF4-FFF2-40B4-BE49-F238E27FC236}">
                <a16:creationId xmlns:a16="http://schemas.microsoft.com/office/drawing/2014/main" id="{02DD7E21-9A77-E834-4751-66938E636F63}"/>
              </a:ext>
            </a:extLst>
          </p:cNvPr>
          <p:cNvSpPr txBox="1"/>
          <p:nvPr/>
        </p:nvSpPr>
        <p:spPr>
          <a:xfrm>
            <a:off x="1068414" y="2951226"/>
            <a:ext cx="3953715" cy="1195199"/>
          </a:xfrm>
          <a:prstGeom prst="rect">
            <a:avLst/>
          </a:prstGeom>
          <a:noFill/>
        </p:spPr>
        <p:txBody>
          <a:bodyPr wrap="square" lIns="91440" tIns="45720" rIns="91440" bIns="45720" rtlCol="0" anchor="t">
            <a:spAutoFit/>
          </a:bodyPr>
          <a:lstStyle/>
          <a:p>
            <a:pPr marL="85725" lvl="2" indent="-85725">
              <a:spcAft>
                <a:spcPts val="100"/>
              </a:spcAft>
              <a:buClr>
                <a:srgbClr val="0C3512"/>
              </a:buClr>
              <a:buFont typeface="Arial,Sans-Serif" panose="020B0604020202020204" pitchFamily="34" charset="0"/>
              <a:buChar char="•"/>
              <a:defRPr/>
            </a:pPr>
            <a:r>
              <a:rPr kumimoji="0" lang="nl-NL" sz="1000" b="0" i="0" u="none" strike="noStrike" kern="1200" cap="none" spc="0" normalizeH="0" baseline="0" noProof="0">
                <a:ln>
                  <a:noFill/>
                </a:ln>
                <a:solidFill>
                  <a:srgbClr val="0C3512"/>
                </a:solidFill>
                <a:effectLst/>
                <a:uLnTx/>
                <a:uFillTx/>
                <a:latin typeface="Verdana"/>
                <a:ea typeface="Verdana"/>
              </a:rPr>
              <a:t>Inwoners krijgen </a:t>
            </a:r>
            <a:r>
              <a:rPr lang="nl-NL" sz="1000">
                <a:solidFill>
                  <a:srgbClr val="0C3512"/>
                </a:solidFill>
                <a:latin typeface="Verdana"/>
                <a:ea typeface="Verdana"/>
              </a:rPr>
              <a:t>sneller </a:t>
            </a:r>
            <a:r>
              <a:rPr kumimoji="0" lang="nl-NL" sz="1000" b="0" i="0" u="none" strike="noStrike" kern="1200" cap="none" spc="0" normalizeH="0" baseline="0" noProof="0">
                <a:ln>
                  <a:noFill/>
                </a:ln>
                <a:solidFill>
                  <a:srgbClr val="0C3512"/>
                </a:solidFill>
                <a:effectLst/>
                <a:uLnTx/>
                <a:uFillTx/>
                <a:latin typeface="Verdana"/>
                <a:ea typeface="Verdana"/>
              </a:rPr>
              <a:t>de juiste zorg. </a:t>
            </a:r>
            <a:endParaRPr lang="en-US" sz="1000" b="0" i="0" u="none" strike="noStrike" kern="1200" cap="none" spc="0" normalizeH="0" baseline="0" noProof="0">
              <a:ln>
                <a:noFill/>
              </a:ln>
              <a:solidFill>
                <a:srgbClr val="000000"/>
              </a:solidFill>
              <a:effectLst/>
              <a:uLnTx/>
              <a:uFillTx/>
              <a:latin typeface="Verdana"/>
              <a:ea typeface="Verdana"/>
            </a:endParaRPr>
          </a:p>
          <a:p>
            <a:pPr marL="85725" lvl="2" indent="-85725">
              <a:spcAft>
                <a:spcPts val="100"/>
              </a:spcAft>
              <a:buFont typeface="Arial,Sans-Serif" panose="020B0604020202020204" pitchFamily="34" charset="0"/>
              <a:buChar char="•"/>
              <a:defRPr/>
            </a:pPr>
            <a:r>
              <a:rPr lang="nl-NL" sz="1000">
                <a:solidFill>
                  <a:srgbClr val="0C3512"/>
                </a:solidFill>
                <a:latin typeface="Verdana"/>
                <a:ea typeface="Verdana"/>
              </a:rPr>
              <a:t>Inwoners </a:t>
            </a:r>
            <a:r>
              <a:rPr kumimoji="0" lang="nl-NL" sz="1000" b="0" i="0" u="none" strike="noStrike" kern="1200" cap="none" spc="0" normalizeH="0" baseline="0" noProof="0">
                <a:ln>
                  <a:noFill/>
                </a:ln>
                <a:solidFill>
                  <a:srgbClr val="0C3512"/>
                </a:solidFill>
                <a:effectLst/>
                <a:uLnTx/>
                <a:uFillTx/>
                <a:latin typeface="Verdana"/>
                <a:ea typeface="Verdana"/>
              </a:rPr>
              <a:t>en hun naasten </a:t>
            </a:r>
            <a:r>
              <a:rPr lang="nl-NL" sz="1000">
                <a:solidFill>
                  <a:srgbClr val="0C3512"/>
                </a:solidFill>
                <a:latin typeface="Verdana"/>
                <a:ea typeface="Verdana"/>
              </a:rPr>
              <a:t>ervaren minder ongemak, omdat </a:t>
            </a:r>
            <a:r>
              <a:rPr kumimoji="0" lang="nl-NL" sz="1000" b="0" i="0" u="none" strike="noStrike" kern="1200" cap="none" spc="0" normalizeH="0" baseline="0" noProof="0">
                <a:ln>
                  <a:noFill/>
                </a:ln>
                <a:solidFill>
                  <a:srgbClr val="0C3512"/>
                </a:solidFill>
                <a:effectLst/>
                <a:uLnTx/>
                <a:uFillTx/>
                <a:latin typeface="Verdana"/>
                <a:ea typeface="Verdana"/>
              </a:rPr>
              <a:t>ze </a:t>
            </a:r>
            <a:r>
              <a:rPr lang="nl-NL" sz="1000">
                <a:solidFill>
                  <a:srgbClr val="0C3512"/>
                </a:solidFill>
                <a:latin typeface="Verdana"/>
                <a:ea typeface="Verdana"/>
              </a:rPr>
              <a:t>hun verhaal </a:t>
            </a:r>
            <a:r>
              <a:rPr kumimoji="0" lang="nl-NL" sz="1000" b="0" i="0" u="none" strike="noStrike" kern="1200" cap="none" spc="0" normalizeH="0" baseline="0" noProof="0">
                <a:ln>
                  <a:noFill/>
                </a:ln>
                <a:solidFill>
                  <a:srgbClr val="0C3512"/>
                </a:solidFill>
                <a:effectLst/>
                <a:uLnTx/>
                <a:uFillTx/>
                <a:latin typeface="Verdana"/>
                <a:ea typeface="Verdana"/>
              </a:rPr>
              <a:t>minder </a:t>
            </a:r>
            <a:r>
              <a:rPr lang="nl-NL" sz="1000">
                <a:solidFill>
                  <a:srgbClr val="0C3512"/>
                </a:solidFill>
                <a:latin typeface="Verdana"/>
                <a:ea typeface="Verdana"/>
              </a:rPr>
              <a:t>vaak </a:t>
            </a:r>
            <a:r>
              <a:rPr kumimoji="0" lang="nl-NL" sz="1000" b="0" i="0" u="none" strike="noStrike" kern="1200" cap="none" spc="0" normalizeH="0" baseline="0" noProof="0">
                <a:ln>
                  <a:noFill/>
                </a:ln>
                <a:solidFill>
                  <a:srgbClr val="0C3512"/>
                </a:solidFill>
                <a:effectLst/>
                <a:uLnTx/>
                <a:uFillTx/>
                <a:latin typeface="Verdana"/>
                <a:ea typeface="Verdana"/>
              </a:rPr>
              <a:t>hoeven te </a:t>
            </a:r>
            <a:r>
              <a:rPr lang="nl-NL" sz="1000">
                <a:solidFill>
                  <a:srgbClr val="0C3512"/>
                </a:solidFill>
                <a:latin typeface="Verdana"/>
                <a:ea typeface="Verdana"/>
              </a:rPr>
              <a:t>herhalen </a:t>
            </a:r>
            <a:r>
              <a:rPr kumimoji="0" lang="nl-NL" sz="1000" b="0" i="0" u="none" strike="noStrike" kern="1200" cap="none" spc="0" normalizeH="0" baseline="0" noProof="0">
                <a:ln>
                  <a:noFill/>
                </a:ln>
                <a:solidFill>
                  <a:srgbClr val="0C3512"/>
                </a:solidFill>
                <a:effectLst/>
                <a:uLnTx/>
                <a:uFillTx/>
                <a:latin typeface="Verdana"/>
                <a:ea typeface="Verdana"/>
              </a:rPr>
              <a:t>en de overdracht digitaal </a:t>
            </a:r>
            <a:r>
              <a:rPr lang="nl-NL" sz="1000">
                <a:solidFill>
                  <a:srgbClr val="0C3512"/>
                </a:solidFill>
                <a:latin typeface="Verdana"/>
                <a:ea typeface="Verdana"/>
              </a:rPr>
              <a:t>gebeurt</a:t>
            </a:r>
            <a:endParaRPr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endParaRPr>
          </a:p>
          <a:p>
            <a:pPr marL="85725" lvl="2" indent="-85725">
              <a:spcAft>
                <a:spcPts val="100"/>
              </a:spcAft>
              <a:buFont typeface="Arial,Sans-Serif" panose="020B0604020202020204" pitchFamily="34" charset="0"/>
              <a:buChar char="•"/>
              <a:defRPr/>
            </a:pPr>
            <a:r>
              <a:rPr lang="nl-NL" sz="1000">
                <a:solidFill>
                  <a:srgbClr val="0C3512"/>
                </a:solidFill>
                <a:latin typeface="Verdana"/>
                <a:ea typeface="Verdana"/>
              </a:rPr>
              <a:t>Inwoners ervaren een </a:t>
            </a:r>
            <a:r>
              <a:rPr kumimoji="0" lang="nl-NL" sz="1000" b="0" i="0" u="none" strike="noStrike" kern="1200" cap="none" spc="0" normalizeH="0" baseline="0" noProof="0">
                <a:ln>
                  <a:noFill/>
                </a:ln>
                <a:solidFill>
                  <a:srgbClr val="0C3512"/>
                </a:solidFill>
                <a:effectLst/>
                <a:uLnTx/>
                <a:uFillTx/>
                <a:latin typeface="Verdana"/>
                <a:ea typeface="Verdana"/>
              </a:rPr>
              <a:t>soepele overgang </a:t>
            </a:r>
            <a:r>
              <a:rPr lang="nl-NL" sz="1000">
                <a:solidFill>
                  <a:srgbClr val="0C3512"/>
                </a:solidFill>
                <a:latin typeface="Verdana"/>
                <a:ea typeface="Verdana"/>
              </a:rPr>
              <a:t>tussen zorgorganisaties, omdat </a:t>
            </a:r>
            <a:r>
              <a:rPr kumimoji="0" lang="nl-NL" sz="1000" b="0" i="0" u="none" strike="noStrike" kern="1200" cap="none" spc="0" normalizeH="0" baseline="0" noProof="0">
                <a:ln>
                  <a:noFill/>
                </a:ln>
                <a:solidFill>
                  <a:srgbClr val="0C3512"/>
                </a:solidFill>
                <a:effectLst/>
                <a:uLnTx/>
                <a:uFillTx/>
                <a:latin typeface="Verdana"/>
                <a:ea typeface="Verdana"/>
              </a:rPr>
              <a:t>de zorgverlener </a:t>
            </a:r>
            <a:r>
              <a:rPr lang="nl-NL" sz="1000">
                <a:solidFill>
                  <a:srgbClr val="0C3512"/>
                </a:solidFill>
                <a:latin typeface="Verdana"/>
                <a:ea typeface="Verdana"/>
              </a:rPr>
              <a:t>zich </a:t>
            </a:r>
            <a:r>
              <a:rPr kumimoji="0" lang="nl-NL" sz="1000" b="0" i="0" u="none" strike="noStrike" kern="1200" cap="none" spc="0" normalizeH="0" baseline="0" noProof="0">
                <a:ln>
                  <a:noFill/>
                </a:ln>
                <a:solidFill>
                  <a:srgbClr val="0C3512"/>
                </a:solidFill>
                <a:effectLst/>
                <a:uLnTx/>
                <a:uFillTx/>
                <a:latin typeface="Verdana"/>
                <a:ea typeface="Verdana"/>
              </a:rPr>
              <a:t>al kan </a:t>
            </a:r>
            <a:r>
              <a:rPr lang="nl-NL" sz="1000">
                <a:solidFill>
                  <a:srgbClr val="0C3512"/>
                </a:solidFill>
                <a:latin typeface="Verdana"/>
                <a:ea typeface="Verdana"/>
              </a:rPr>
              <a:t>voorbereiden </a:t>
            </a:r>
            <a:r>
              <a:rPr kumimoji="0" lang="nl-NL" sz="1000" b="0" i="0" u="none" strike="noStrike" kern="1200" cap="none" spc="0" normalizeH="0" baseline="0" noProof="0">
                <a:ln>
                  <a:noFill/>
                </a:ln>
                <a:solidFill>
                  <a:srgbClr val="0C3512"/>
                </a:solidFill>
                <a:effectLst/>
                <a:uLnTx/>
                <a:uFillTx/>
                <a:latin typeface="Verdana"/>
                <a:ea typeface="Verdana"/>
              </a:rPr>
              <a:t>op de </a:t>
            </a:r>
            <a:r>
              <a:rPr lang="nl-NL" sz="1000">
                <a:solidFill>
                  <a:srgbClr val="0C3512"/>
                </a:solidFill>
                <a:latin typeface="Verdana"/>
                <a:ea typeface="Verdana"/>
              </a:rPr>
              <a:t>benodigde </a:t>
            </a:r>
            <a:r>
              <a:rPr kumimoji="0" lang="nl-NL" sz="1000" b="0" i="0" u="none" strike="noStrike" kern="1200" cap="none" spc="0" normalizeH="0" baseline="0" noProof="0">
                <a:ln>
                  <a:noFill/>
                </a:ln>
                <a:solidFill>
                  <a:srgbClr val="0C3512"/>
                </a:solidFill>
                <a:effectLst/>
                <a:uLnTx/>
                <a:uFillTx/>
                <a:latin typeface="Verdana"/>
                <a:ea typeface="Verdana"/>
              </a:rPr>
              <a:t>zorg.</a:t>
            </a:r>
            <a:endParaRPr lang="nl-NL">
              <a:latin typeface="Verdana"/>
              <a:ea typeface="Verdana"/>
            </a:endParaRPr>
          </a:p>
        </p:txBody>
      </p:sp>
      <p:sp>
        <p:nvSpPr>
          <p:cNvPr id="26" name="Tekstvak 25">
            <a:extLst>
              <a:ext uri="{FF2B5EF4-FFF2-40B4-BE49-F238E27FC236}">
                <a16:creationId xmlns:a16="http://schemas.microsoft.com/office/drawing/2014/main" id="{349725FC-5DB1-B3E0-237B-85C1DF0C5EFD}"/>
              </a:ext>
            </a:extLst>
          </p:cNvPr>
          <p:cNvSpPr txBox="1"/>
          <p:nvPr/>
        </p:nvSpPr>
        <p:spPr>
          <a:xfrm>
            <a:off x="1057487" y="4279022"/>
            <a:ext cx="3953715" cy="887422"/>
          </a:xfrm>
          <a:prstGeom prst="rect">
            <a:avLst/>
          </a:prstGeom>
          <a:noFill/>
        </p:spPr>
        <p:txBody>
          <a:bodyPr wrap="square" lIns="91440" tIns="45720" rIns="91440" bIns="45720" rtlCol="0" anchor="t">
            <a:spAutoFit/>
          </a:bodyPr>
          <a:lstStyle/>
          <a:p>
            <a:pPr marL="85725" lvl="2" indent="-85725">
              <a:spcAft>
                <a:spcPts val="100"/>
              </a:spcAft>
              <a:buClr>
                <a:srgbClr val="0C3512"/>
              </a:buClr>
              <a:buFont typeface="Arial,Sans-Serif" panose="020B0604020202020204" pitchFamily="34" charset="0"/>
              <a:buChar char="•"/>
              <a:defRPr/>
            </a:pPr>
            <a:r>
              <a:rPr lang="nl-NL" sz="1000">
                <a:solidFill>
                  <a:srgbClr val="0C3512"/>
                </a:solidFill>
                <a:latin typeface="Verdana"/>
                <a:ea typeface="Verdana"/>
              </a:rPr>
              <a:t>Zorgverleners hebben meer </a:t>
            </a:r>
            <a:r>
              <a:rPr kumimoji="0" lang="nl-NL" sz="1000" b="0" i="0" u="none" strike="noStrike" kern="1200" cap="none" spc="0" normalizeH="0" baseline="0" noProof="0">
                <a:ln>
                  <a:noFill/>
                </a:ln>
                <a:solidFill>
                  <a:srgbClr val="0C3512"/>
                </a:solidFill>
                <a:effectLst/>
                <a:uLnTx/>
                <a:uFillTx/>
                <a:latin typeface="Verdana"/>
                <a:ea typeface="Verdana"/>
              </a:rPr>
              <a:t>tijd voor </a:t>
            </a:r>
            <a:r>
              <a:rPr lang="nl-NL" sz="1000">
                <a:solidFill>
                  <a:srgbClr val="0C3512"/>
                </a:solidFill>
                <a:latin typeface="Verdana"/>
                <a:ea typeface="Verdana"/>
              </a:rPr>
              <a:t>echte zorg </a:t>
            </a:r>
            <a:r>
              <a:rPr kumimoji="0" lang="nl-NL" sz="1000" b="0" i="0" u="none" strike="noStrike" kern="1200" cap="none" spc="0" normalizeH="0" baseline="0" noProof="0">
                <a:ln>
                  <a:noFill/>
                </a:ln>
                <a:solidFill>
                  <a:srgbClr val="0C3512"/>
                </a:solidFill>
                <a:effectLst/>
                <a:uLnTx/>
                <a:uFillTx/>
                <a:latin typeface="Verdana"/>
                <a:ea typeface="Verdana"/>
              </a:rPr>
              <a:t>in plaats van administratie en </a:t>
            </a:r>
            <a:r>
              <a:rPr lang="nl-NL" sz="1000">
                <a:solidFill>
                  <a:srgbClr val="0C3512"/>
                </a:solidFill>
                <a:latin typeface="Verdana"/>
                <a:ea typeface="Verdana"/>
              </a:rPr>
              <a:t>nabellen</a:t>
            </a:r>
            <a:r>
              <a:rPr kumimoji="0" lang="nl-NL" sz="1000" b="0" i="0" u="none" strike="noStrike" kern="1200" cap="none" spc="0" normalizeH="0" baseline="0" noProof="0">
                <a:ln>
                  <a:noFill/>
                </a:ln>
                <a:solidFill>
                  <a:srgbClr val="0C3512"/>
                </a:solidFill>
                <a:effectLst/>
                <a:uLnTx/>
                <a:uFillTx/>
                <a:latin typeface="Verdana"/>
                <a:ea typeface="Verdana"/>
              </a:rPr>
              <a:t>.</a:t>
            </a:r>
            <a:endParaRPr lang="en-US" sz="1000" b="0" i="0" u="none" strike="noStrike" kern="1200" cap="none" spc="0" normalizeH="0" baseline="0" noProof="0">
              <a:ln>
                <a:noFill/>
              </a:ln>
              <a:solidFill>
                <a:srgbClr val="000000"/>
              </a:solidFill>
              <a:effectLst/>
              <a:uLnTx/>
              <a:uFillTx/>
              <a:latin typeface="Verdana"/>
              <a:ea typeface="Verdana"/>
            </a:endParaRPr>
          </a:p>
          <a:p>
            <a:pPr marL="85725" lvl="2" indent="-85725">
              <a:spcAft>
                <a:spcPts val="100"/>
              </a:spcAft>
              <a:buFont typeface="Arial,Sans-Serif" panose="020B0604020202020204" pitchFamily="34" charset="0"/>
              <a:buChar char="•"/>
              <a:defRPr/>
            </a:pPr>
            <a:r>
              <a:rPr lang="nl-NL" sz="1000">
                <a:solidFill>
                  <a:srgbClr val="0C3512"/>
                </a:solidFill>
                <a:latin typeface="Verdana"/>
                <a:ea typeface="Verdana"/>
              </a:rPr>
              <a:t>Zorgverleners </a:t>
            </a:r>
            <a:r>
              <a:rPr kumimoji="0" lang="nl-NL" sz="1000" b="0" i="0" u="none" strike="noStrike" kern="1200" cap="none" spc="0" normalizeH="0" baseline="0" noProof="0">
                <a:ln>
                  <a:noFill/>
                </a:ln>
                <a:solidFill>
                  <a:srgbClr val="0C3512"/>
                </a:solidFill>
                <a:effectLst/>
                <a:uLnTx/>
                <a:uFillTx/>
                <a:latin typeface="Verdana"/>
                <a:ea typeface="Verdana"/>
              </a:rPr>
              <a:t>zoeken </a:t>
            </a:r>
            <a:r>
              <a:rPr lang="nl-NL" sz="1000">
                <a:solidFill>
                  <a:srgbClr val="0C3512"/>
                </a:solidFill>
                <a:latin typeface="Verdana"/>
                <a:ea typeface="Verdana"/>
              </a:rPr>
              <a:t>minder </a:t>
            </a:r>
            <a:r>
              <a:rPr kumimoji="0" lang="nl-NL" sz="1000" b="0" i="0" u="none" strike="noStrike" kern="1200" cap="none" spc="0" normalizeH="0" baseline="0" noProof="0">
                <a:ln>
                  <a:noFill/>
                </a:ln>
                <a:solidFill>
                  <a:srgbClr val="0C3512"/>
                </a:solidFill>
                <a:effectLst/>
                <a:uLnTx/>
                <a:uFillTx/>
                <a:latin typeface="Verdana"/>
                <a:ea typeface="Verdana"/>
              </a:rPr>
              <a:t>naar de juiste informatie en </a:t>
            </a:r>
            <a:r>
              <a:rPr lang="nl-NL" sz="1000">
                <a:solidFill>
                  <a:srgbClr val="0C3512"/>
                </a:solidFill>
                <a:latin typeface="Verdana"/>
                <a:ea typeface="Verdana"/>
              </a:rPr>
              <a:t>hebben minder </a:t>
            </a:r>
            <a:r>
              <a:rPr kumimoji="0" lang="nl-NL" sz="1000" b="0" i="0" u="none" strike="noStrike" kern="1200" cap="none" spc="0" normalizeH="0" baseline="0" noProof="0">
                <a:ln>
                  <a:noFill/>
                </a:ln>
                <a:solidFill>
                  <a:srgbClr val="0C3512"/>
                </a:solidFill>
                <a:effectLst/>
                <a:uLnTx/>
                <a:uFillTx/>
                <a:latin typeface="Verdana"/>
                <a:ea typeface="Verdana"/>
              </a:rPr>
              <a:t>onzekerheid over het zorgplan.</a:t>
            </a:r>
            <a:endParaRPr lang="en-US" sz="1000" b="0" i="0" u="none" strike="noStrike" kern="1200" cap="none" spc="0" normalizeH="0" baseline="0" noProof="0">
              <a:ln>
                <a:noFill/>
              </a:ln>
              <a:solidFill>
                <a:srgbClr val="000000"/>
              </a:solidFill>
              <a:effectLst/>
              <a:uLnTx/>
              <a:uFillTx/>
              <a:latin typeface="Verdana"/>
              <a:ea typeface="Verdana"/>
            </a:endParaRPr>
          </a:p>
          <a:p>
            <a:pPr marL="85725" lvl="2" indent="-85725">
              <a:spcAft>
                <a:spcPts val="100"/>
              </a:spcAft>
              <a:buFont typeface="Arial,Sans-Serif" panose="020B0604020202020204" pitchFamily="34" charset="0"/>
              <a:buChar char="•"/>
              <a:defRPr/>
            </a:pPr>
            <a:r>
              <a:rPr lang="nl-NL" sz="1000">
                <a:solidFill>
                  <a:srgbClr val="0C3512"/>
                </a:solidFill>
                <a:latin typeface="Verdana"/>
                <a:ea typeface="Verdana"/>
              </a:rPr>
              <a:t>Zorgverleners kunnen </a:t>
            </a:r>
            <a:r>
              <a:rPr kumimoji="0" lang="nl-NL" sz="1000" b="0" i="0" u="none" strike="noStrike" kern="1200" cap="none" spc="0" normalizeH="0" baseline="0" noProof="0">
                <a:ln>
                  <a:noFill/>
                </a:ln>
                <a:solidFill>
                  <a:srgbClr val="0C3512"/>
                </a:solidFill>
                <a:effectLst/>
                <a:uLnTx/>
                <a:uFillTx/>
                <a:latin typeface="Verdana"/>
                <a:ea typeface="Verdana"/>
              </a:rPr>
              <a:t>de zorg </a:t>
            </a:r>
            <a:r>
              <a:rPr lang="nl-NL" sz="1000">
                <a:solidFill>
                  <a:srgbClr val="0C3512"/>
                </a:solidFill>
                <a:latin typeface="Verdana"/>
                <a:ea typeface="Verdana"/>
              </a:rPr>
              <a:t>beter voorbereiden</a:t>
            </a:r>
            <a:r>
              <a:rPr kumimoji="0" lang="nl-NL" sz="1000" b="0" i="0" u="none" strike="noStrike" kern="1200" cap="none" spc="0" normalizeH="0" baseline="0" noProof="0">
                <a:ln>
                  <a:noFill/>
                </a:ln>
                <a:solidFill>
                  <a:srgbClr val="0C3512"/>
                </a:solidFill>
                <a:effectLst/>
                <a:uLnTx/>
                <a:uFillTx/>
                <a:latin typeface="Verdana"/>
                <a:ea typeface="Verdana"/>
              </a:rPr>
              <a:t>.</a:t>
            </a:r>
            <a:endParaRPr lang="nl-NL">
              <a:latin typeface="Verdana"/>
              <a:ea typeface="Verdana"/>
            </a:endParaRPr>
          </a:p>
        </p:txBody>
      </p:sp>
      <p:sp>
        <p:nvSpPr>
          <p:cNvPr id="27" name="Tekstvak 26">
            <a:extLst>
              <a:ext uri="{FF2B5EF4-FFF2-40B4-BE49-F238E27FC236}">
                <a16:creationId xmlns:a16="http://schemas.microsoft.com/office/drawing/2014/main" id="{7151017D-5D55-06B3-408A-A7A0EAAC078A}"/>
              </a:ext>
            </a:extLst>
          </p:cNvPr>
          <p:cNvSpPr txBox="1"/>
          <p:nvPr/>
        </p:nvSpPr>
        <p:spPr>
          <a:xfrm>
            <a:off x="1029265" y="5276977"/>
            <a:ext cx="3953715" cy="1349087"/>
          </a:xfrm>
          <a:prstGeom prst="rect">
            <a:avLst/>
          </a:prstGeom>
          <a:noFill/>
        </p:spPr>
        <p:txBody>
          <a:bodyPr wrap="square" lIns="91440" tIns="45720" rIns="91440" bIns="45720" rtlCol="0" anchor="t">
            <a:spAutoFit/>
          </a:bodyPr>
          <a:lstStyle/>
          <a:p>
            <a:pPr marL="85725" lvl="2" indent="-85725">
              <a:spcAft>
                <a:spcPts val="100"/>
              </a:spcAft>
              <a:buClr>
                <a:srgbClr val="0C3512"/>
              </a:buClr>
              <a:buFont typeface="Arial,Sans-Serif" panose="020B0604020202020204" pitchFamily="34" charset="0"/>
              <a:buChar char="•"/>
              <a:defRPr/>
            </a:pPr>
            <a:r>
              <a:rPr kumimoji="0" lang="nl-NL" sz="1000" b="0" i="0" u="none" strike="noStrike" kern="1200" cap="none" spc="0" normalizeH="0" baseline="0" noProof="0">
                <a:ln>
                  <a:noFill/>
                </a:ln>
                <a:solidFill>
                  <a:srgbClr val="0C3512"/>
                </a:solidFill>
                <a:effectLst/>
                <a:uLnTx/>
                <a:uFillTx/>
                <a:latin typeface="Verdana"/>
                <a:ea typeface="Verdana"/>
              </a:rPr>
              <a:t>Digitale </a:t>
            </a:r>
            <a:r>
              <a:rPr lang="nl-NL" sz="1000">
                <a:solidFill>
                  <a:srgbClr val="0C3512"/>
                </a:solidFill>
                <a:latin typeface="Verdana"/>
                <a:ea typeface="Verdana"/>
              </a:rPr>
              <a:t>aanvragen </a:t>
            </a:r>
            <a:r>
              <a:rPr kumimoji="0" lang="nl-NL" sz="1000" b="0" i="0" u="none" strike="noStrike" kern="1200" cap="none" spc="0" normalizeH="0" baseline="0" noProof="0">
                <a:ln>
                  <a:noFill/>
                </a:ln>
                <a:solidFill>
                  <a:srgbClr val="0C3512"/>
                </a:solidFill>
                <a:effectLst/>
                <a:uLnTx/>
                <a:uFillTx/>
                <a:latin typeface="Verdana"/>
                <a:ea typeface="Verdana"/>
              </a:rPr>
              <a:t>en een gestandaardiseerd overzicht van de overdracht </a:t>
            </a:r>
            <a:r>
              <a:rPr lang="nl-NL" sz="1000">
                <a:solidFill>
                  <a:srgbClr val="0C3512"/>
                </a:solidFill>
                <a:latin typeface="Verdana"/>
                <a:ea typeface="Verdana"/>
              </a:rPr>
              <a:t>besparen </a:t>
            </a:r>
            <a:r>
              <a:rPr kumimoji="0" lang="nl-NL" sz="1000" b="0" i="0" u="none" strike="noStrike" kern="1200" cap="none" spc="0" normalizeH="0" baseline="0" noProof="0">
                <a:ln>
                  <a:noFill/>
                </a:ln>
                <a:solidFill>
                  <a:srgbClr val="0C3512"/>
                </a:solidFill>
                <a:effectLst/>
                <a:uLnTx/>
                <a:uFillTx/>
                <a:latin typeface="Verdana"/>
                <a:ea typeface="Verdana"/>
              </a:rPr>
              <a:t>zorgprofessionals</a:t>
            </a:r>
            <a:r>
              <a:rPr lang="nl-NL" sz="1000">
                <a:solidFill>
                  <a:srgbClr val="0C3512"/>
                </a:solidFill>
                <a:latin typeface="Verdana"/>
                <a:ea typeface="Verdana"/>
              </a:rPr>
              <a:t> tijd</a:t>
            </a:r>
            <a:r>
              <a:rPr kumimoji="0" lang="nl-NL" sz="1000" b="0" i="0" u="none" strike="noStrike" kern="1200" cap="none" spc="0" normalizeH="0" baseline="0" noProof="0">
                <a:ln>
                  <a:noFill/>
                </a:ln>
                <a:solidFill>
                  <a:srgbClr val="0C3512"/>
                </a:solidFill>
                <a:effectLst/>
                <a:uLnTx/>
                <a:uFillTx/>
                <a:latin typeface="Verdana"/>
                <a:ea typeface="Verdana"/>
              </a:rPr>
              <a:t>, die </a:t>
            </a:r>
            <a:r>
              <a:rPr lang="nl-NL" sz="1000">
                <a:solidFill>
                  <a:srgbClr val="0C3512"/>
                </a:solidFill>
                <a:latin typeface="Verdana"/>
                <a:ea typeface="Verdana"/>
              </a:rPr>
              <a:t>ze </a:t>
            </a:r>
            <a:r>
              <a:rPr kumimoji="0" lang="nl-NL" sz="1000" b="0" i="0" u="none" strike="noStrike" kern="1200" cap="none" spc="0" normalizeH="0" baseline="0" noProof="0">
                <a:ln>
                  <a:noFill/>
                </a:ln>
                <a:solidFill>
                  <a:srgbClr val="0C3512"/>
                </a:solidFill>
                <a:effectLst/>
                <a:uLnTx/>
                <a:uFillTx/>
                <a:latin typeface="Verdana"/>
                <a:ea typeface="Verdana"/>
              </a:rPr>
              <a:t>aan zorgtaken </a:t>
            </a:r>
            <a:r>
              <a:rPr lang="nl-NL" sz="1000">
                <a:solidFill>
                  <a:srgbClr val="0C3512"/>
                </a:solidFill>
                <a:latin typeface="Verdana"/>
                <a:ea typeface="Verdana"/>
              </a:rPr>
              <a:t>kunnen besteden</a:t>
            </a:r>
            <a:r>
              <a:rPr kumimoji="0" lang="nl-NL" sz="1000" b="0" i="0" u="none" strike="noStrike" kern="1200" cap="none" spc="0" normalizeH="0" baseline="0" noProof="0">
                <a:ln>
                  <a:noFill/>
                </a:ln>
                <a:solidFill>
                  <a:srgbClr val="0C3512"/>
                </a:solidFill>
                <a:effectLst/>
                <a:uLnTx/>
                <a:uFillTx/>
                <a:latin typeface="Verdana"/>
                <a:ea typeface="Verdana"/>
              </a:rPr>
              <a:t>.</a:t>
            </a:r>
            <a:endParaRPr lang="en-US" sz="1000" b="0" i="0" u="none" strike="noStrike" kern="1200" cap="none" spc="0" normalizeH="0" baseline="0" noProof="0">
              <a:ln>
                <a:noFill/>
              </a:ln>
              <a:solidFill>
                <a:srgbClr val="000000"/>
              </a:solidFill>
              <a:effectLst/>
              <a:uLnTx/>
              <a:uFillTx/>
              <a:latin typeface="Verdana"/>
              <a:ea typeface="Verdana"/>
            </a:endParaRPr>
          </a:p>
          <a:p>
            <a:pPr marL="85725" lvl="2" indent="-85725">
              <a:spcAft>
                <a:spcPts val="100"/>
              </a:spcAft>
              <a:buFont typeface="Arial,Sans-Serif" panose="020B0604020202020204" pitchFamily="34" charset="0"/>
              <a:buChar char="•"/>
              <a:defRPr/>
            </a:pPr>
            <a:r>
              <a:rPr lang="nl-NL" sz="1000">
                <a:solidFill>
                  <a:srgbClr val="0C3512"/>
                </a:solidFill>
                <a:latin typeface="Verdana"/>
                <a:ea typeface="Verdana"/>
              </a:rPr>
              <a:t>We voorkomen verkeerde behandelingen</a:t>
            </a:r>
            <a:r>
              <a:rPr kumimoji="0" lang="nl-NL" sz="1000" b="0" i="0" u="none" strike="noStrike" kern="1200" cap="none" spc="0" normalizeH="0" baseline="0" noProof="0">
                <a:ln>
                  <a:noFill/>
                </a:ln>
                <a:solidFill>
                  <a:srgbClr val="0C3512"/>
                </a:solidFill>
                <a:effectLst/>
                <a:uLnTx/>
                <a:uFillTx/>
                <a:latin typeface="Verdana"/>
                <a:ea typeface="Verdana"/>
              </a:rPr>
              <a:t>, dubbele diagnostiek, onnodige </a:t>
            </a:r>
            <a:r>
              <a:rPr lang="nl-NL" sz="1000">
                <a:solidFill>
                  <a:srgbClr val="0C3512"/>
                </a:solidFill>
                <a:latin typeface="Verdana"/>
                <a:ea typeface="Verdana"/>
              </a:rPr>
              <a:t>heropnames </a:t>
            </a:r>
            <a:r>
              <a:rPr kumimoji="0" lang="nl-NL" sz="1000" b="0" i="0" u="none" strike="noStrike" kern="1200" cap="none" spc="0" normalizeH="0" baseline="0" noProof="0">
                <a:ln>
                  <a:noFill/>
                </a:ln>
                <a:solidFill>
                  <a:srgbClr val="0C3512"/>
                </a:solidFill>
                <a:effectLst/>
                <a:uLnTx/>
                <a:uFillTx/>
                <a:latin typeface="Verdana"/>
                <a:ea typeface="Verdana"/>
              </a:rPr>
              <a:t>en verspilling van materiaal door missende of foutieve informatie, wat </a:t>
            </a:r>
            <a:r>
              <a:rPr lang="nl-NL" sz="1000">
                <a:solidFill>
                  <a:srgbClr val="0C3512"/>
                </a:solidFill>
                <a:latin typeface="Verdana"/>
                <a:ea typeface="Verdana"/>
              </a:rPr>
              <a:t>leidt tot </a:t>
            </a:r>
            <a:r>
              <a:rPr kumimoji="0" lang="nl-NL" sz="1000" b="0" i="0" u="none" strike="noStrike" kern="1200" cap="none" spc="0" normalizeH="0" baseline="0" noProof="0">
                <a:ln>
                  <a:noFill/>
                </a:ln>
                <a:solidFill>
                  <a:srgbClr val="0C3512"/>
                </a:solidFill>
                <a:effectLst/>
                <a:uLnTx/>
                <a:uFillTx/>
                <a:latin typeface="Verdana"/>
                <a:ea typeface="Verdana"/>
              </a:rPr>
              <a:t>minder uitgaven</a:t>
            </a:r>
            <a:r>
              <a:rPr lang="nl-NL" sz="1000">
                <a:solidFill>
                  <a:srgbClr val="0C3512"/>
                </a:solidFill>
                <a:latin typeface="Verdana"/>
                <a:ea typeface="Verdana"/>
              </a:rPr>
              <a:t>.</a:t>
            </a:r>
            <a:endParaRPr lang="en-US" sz="1000">
              <a:solidFill>
                <a:srgbClr val="000000"/>
              </a:solidFill>
              <a:latin typeface="Verdana"/>
              <a:ea typeface="Verdana"/>
            </a:endParaRPr>
          </a:p>
          <a:p>
            <a:pPr marL="85725" lvl="2" indent="-85725">
              <a:spcAft>
                <a:spcPts val="100"/>
              </a:spcAft>
              <a:buFont typeface="Arial,Sans-Serif" panose="020B0604020202020204" pitchFamily="34" charset="0"/>
              <a:buChar char="•"/>
              <a:defRPr/>
            </a:pPr>
            <a:r>
              <a:rPr lang="nl-NL" sz="1000">
                <a:solidFill>
                  <a:srgbClr val="0C3512"/>
                </a:solidFill>
                <a:latin typeface="Verdana"/>
                <a:ea typeface="Verdana"/>
              </a:rPr>
              <a:t>Verlagen kosten zorgmiddelen en papier</a:t>
            </a:r>
            <a:r>
              <a:rPr kumimoji="0" lang="nl-NL" sz="1000" b="0" i="0" u="none" strike="noStrike" kern="1200" cap="none" spc="0" normalizeH="0" baseline="0" noProof="0">
                <a:ln>
                  <a:noFill/>
                </a:ln>
                <a:solidFill>
                  <a:srgbClr val="0C3512"/>
                </a:solidFill>
                <a:effectLst/>
                <a:uLnTx/>
                <a:uFillTx/>
                <a:latin typeface="Verdana"/>
                <a:ea typeface="Verdana"/>
              </a:rPr>
              <a:t>. </a:t>
            </a:r>
            <a:endParaRPr lang="nl-NL">
              <a:latin typeface="Verdana"/>
              <a:ea typeface="Verdana"/>
            </a:endParaRPr>
          </a:p>
        </p:txBody>
      </p:sp>
      <p:pic>
        <p:nvPicPr>
          <p:cNvPr id="56" name="Afbeelding 55">
            <a:extLst>
              <a:ext uri="{FF2B5EF4-FFF2-40B4-BE49-F238E27FC236}">
                <a16:creationId xmlns:a16="http://schemas.microsoft.com/office/drawing/2014/main" id="{38F19DB8-F617-3F65-6506-27EAF7309FE2}"/>
              </a:ext>
            </a:extLst>
          </p:cNvPr>
          <p:cNvPicPr>
            <a:picLocks noChangeAspect="1"/>
          </p:cNvPicPr>
          <p:nvPr/>
        </p:nvPicPr>
        <p:blipFill>
          <a:blip r:embed="rId6"/>
          <a:stretch>
            <a:fillRect/>
          </a:stretch>
        </p:blipFill>
        <p:spPr>
          <a:xfrm>
            <a:off x="586175" y="1440038"/>
            <a:ext cx="436562" cy="436562"/>
          </a:xfrm>
          <a:prstGeom prst="rect">
            <a:avLst/>
          </a:prstGeom>
        </p:spPr>
      </p:pic>
      <p:sp>
        <p:nvSpPr>
          <p:cNvPr id="8" name="Rectangle 14">
            <a:extLst>
              <a:ext uri="{FF2B5EF4-FFF2-40B4-BE49-F238E27FC236}">
                <a16:creationId xmlns:a16="http://schemas.microsoft.com/office/drawing/2014/main" id="{0EF8CF0E-4809-99A6-B246-30C64C890F9F}"/>
              </a:ext>
            </a:extLst>
          </p:cNvPr>
          <p:cNvSpPr/>
          <p:nvPr/>
        </p:nvSpPr>
        <p:spPr>
          <a:xfrm>
            <a:off x="5162226" y="1329412"/>
            <a:ext cx="6783752" cy="5525623"/>
          </a:xfrm>
          <a:prstGeom prst="rect">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Kwantitatieve impact</a:t>
            </a:r>
            <a:r>
              <a:rPr kumimoji="0" lang="nl-NL" sz="1800" b="1" i="0" u="none" strike="noStrike" kern="1200" cap="none" spc="0" normalizeH="0" baseline="30000" noProof="0">
                <a:ln>
                  <a:noFill/>
                </a:ln>
                <a:solidFill>
                  <a:prstClr val="black"/>
                </a:solidFill>
                <a:effectLst/>
                <a:uLnTx/>
                <a:uFillTx/>
                <a:latin typeface="Verdana" panose="020B0604030504040204" pitchFamily="34" charset="0"/>
                <a:ea typeface="Verdana" panose="020B0604030504040204" pitchFamily="34" charset="0"/>
                <a:cs typeface="+mn-cs"/>
              </a:rPr>
              <a:t>2 </a:t>
            </a:r>
            <a:endPar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 name="Tekstvak 8">
            <a:extLst>
              <a:ext uri="{FF2B5EF4-FFF2-40B4-BE49-F238E27FC236}">
                <a16:creationId xmlns:a16="http://schemas.microsoft.com/office/drawing/2014/main" id="{70D6FC15-744F-5E19-6E9B-0D146FF13CCF}"/>
              </a:ext>
            </a:extLst>
          </p:cNvPr>
          <p:cNvSpPr txBox="1"/>
          <p:nvPr/>
        </p:nvSpPr>
        <p:spPr>
          <a:xfrm>
            <a:off x="5317432" y="6216105"/>
            <a:ext cx="6338116" cy="615553"/>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De kwalitatieve impact is beschreven aan de hand van de </a:t>
            </a:r>
            <a:r>
              <a:rPr kumimoji="0" lang="nl-NL" sz="800" b="0" i="0" u="none" strike="noStrike" kern="1200" cap="none" spc="0" normalizeH="0" baseline="0" noProof="0" err="1">
                <a:ln>
                  <a:noFill/>
                </a:ln>
                <a:solidFill>
                  <a:prstClr val="black"/>
                </a:solidFill>
                <a:effectLst/>
                <a:uLnTx/>
                <a:uFillTx/>
                <a:latin typeface="Aptos"/>
                <a:ea typeface="+mn-ea"/>
                <a:cs typeface="+mn-cs"/>
              </a:rPr>
              <a:t>quadruple</a:t>
            </a:r>
            <a:r>
              <a:rPr kumimoji="0" lang="nl-NL" sz="800" b="0" i="0" u="none" strike="noStrike" kern="1200" cap="none" spc="0" normalizeH="0" baseline="0" noProof="0">
                <a:ln>
                  <a:noFill/>
                </a:ln>
                <a:solidFill>
                  <a:prstClr val="black"/>
                </a:solidFill>
                <a:effectLst/>
                <a:uLnTx/>
                <a:uFillTx/>
                <a:latin typeface="Aptos"/>
                <a:ea typeface="+mn-ea"/>
                <a:cs typeface="+mn-cs"/>
              </a:rPr>
              <a:t> </a:t>
            </a:r>
            <a:r>
              <a:rPr kumimoji="0" lang="nl-NL" sz="800" b="0" i="0" u="none" strike="noStrike" kern="1200" cap="none" spc="0" normalizeH="0" baseline="0" noProof="0" err="1">
                <a:ln>
                  <a:noFill/>
                </a:ln>
                <a:solidFill>
                  <a:prstClr val="black"/>
                </a:solidFill>
                <a:effectLst/>
                <a:uLnTx/>
                <a:uFillTx/>
                <a:latin typeface="Aptos"/>
                <a:ea typeface="+mn-ea"/>
                <a:cs typeface="+mn-cs"/>
              </a:rPr>
              <a:t>aim</a:t>
            </a:r>
            <a:r>
              <a:rPr kumimoji="0" lang="nl-NL" sz="800" b="0" i="0" u="none" strike="noStrike" kern="1200" cap="none" spc="0" normalizeH="0" baseline="0" noProof="0">
                <a:ln>
                  <a:noFill/>
                </a:ln>
                <a:solidFill>
                  <a:prstClr val="black"/>
                </a:solidFill>
                <a:effectLst/>
                <a:uLnTx/>
                <a:uFillTx/>
                <a:latin typeface="Aptos"/>
                <a:ea typeface="+mn-ea"/>
                <a:cs typeface="+mn-cs"/>
              </a:rPr>
              <a:t> model, waarin de impact op (1) gezondheidsuitkomsten, (2) inwonertevredenheid, (3) zorgprofessionaltevredenheid en (4) zorgkosten is beschreven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Disclaimer: Voor de impactanalyse zijn alleen zorgorganisaties in de huidige scope meegenomen. Dit vertegenwoordigt de ondergrens van de potentiële scope, aangezien er mogelijkheden zijn om een breder zorglandschap te betrekken</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nl-NL" sz="800">
                <a:solidFill>
                  <a:prstClr val="black"/>
                </a:solidFill>
                <a:latin typeface="Aptos"/>
              </a:rPr>
              <a:t>x € 1.000</a:t>
            </a:r>
            <a:endParaRPr kumimoji="0" lang="nl-NL" sz="800" b="0" i="0" u="none" strike="noStrike" kern="1200" cap="none" spc="0" normalizeH="0" baseline="0" noProof="0">
              <a:ln>
                <a:noFill/>
              </a:ln>
              <a:solidFill>
                <a:prstClr val="black"/>
              </a:solidFill>
              <a:effectLst/>
              <a:uLnTx/>
              <a:uFillTx/>
              <a:latin typeface="Aptos"/>
              <a:ea typeface="+mn-ea"/>
              <a:cs typeface="+mn-cs"/>
            </a:endParaRPr>
          </a:p>
        </p:txBody>
      </p:sp>
      <p:graphicFrame>
        <p:nvGraphicFramePr>
          <p:cNvPr id="5" name="Tabel 4">
            <a:extLst>
              <a:ext uri="{FF2B5EF4-FFF2-40B4-BE49-F238E27FC236}">
                <a16:creationId xmlns:a16="http://schemas.microsoft.com/office/drawing/2014/main" id="{5989E1D1-DFE4-B6E4-CA9F-6983FD545124}"/>
              </a:ext>
            </a:extLst>
          </p:cNvPr>
          <p:cNvGraphicFramePr>
            <a:graphicFrameLocks noGrp="1"/>
          </p:cNvGraphicFramePr>
          <p:nvPr>
            <p:extLst>
              <p:ext uri="{D42A27DB-BD31-4B8C-83A1-F6EECF244321}">
                <p14:modId xmlns:p14="http://schemas.microsoft.com/office/powerpoint/2010/main" val="3460615812"/>
              </p:ext>
            </p:extLst>
          </p:nvPr>
        </p:nvGraphicFramePr>
        <p:xfrm>
          <a:off x="5319888" y="1636888"/>
          <a:ext cx="6496050" cy="4528748"/>
        </p:xfrm>
        <a:graphic>
          <a:graphicData uri="http://schemas.openxmlformats.org/drawingml/2006/table">
            <a:tbl>
              <a:tblPr bandRow="1">
                <a:tableStyleId>{5C22544A-7EE6-4342-B048-85BDC9FD1C3A}</a:tableStyleId>
              </a:tblPr>
              <a:tblGrid>
                <a:gridCol w="542925">
                  <a:extLst>
                    <a:ext uri="{9D8B030D-6E8A-4147-A177-3AD203B41FA5}">
                      <a16:colId xmlns:a16="http://schemas.microsoft.com/office/drawing/2014/main" val="1564364800"/>
                    </a:ext>
                  </a:extLst>
                </a:gridCol>
                <a:gridCol w="542925">
                  <a:extLst>
                    <a:ext uri="{9D8B030D-6E8A-4147-A177-3AD203B41FA5}">
                      <a16:colId xmlns:a16="http://schemas.microsoft.com/office/drawing/2014/main" val="1673984157"/>
                    </a:ext>
                  </a:extLst>
                </a:gridCol>
                <a:gridCol w="742950">
                  <a:extLst>
                    <a:ext uri="{9D8B030D-6E8A-4147-A177-3AD203B41FA5}">
                      <a16:colId xmlns:a16="http://schemas.microsoft.com/office/drawing/2014/main" val="3662809365"/>
                    </a:ext>
                  </a:extLst>
                </a:gridCol>
                <a:gridCol w="752475">
                  <a:extLst>
                    <a:ext uri="{9D8B030D-6E8A-4147-A177-3AD203B41FA5}">
                      <a16:colId xmlns:a16="http://schemas.microsoft.com/office/drawing/2014/main" val="2781839197"/>
                    </a:ext>
                  </a:extLst>
                </a:gridCol>
                <a:gridCol w="742950">
                  <a:extLst>
                    <a:ext uri="{9D8B030D-6E8A-4147-A177-3AD203B41FA5}">
                      <a16:colId xmlns:a16="http://schemas.microsoft.com/office/drawing/2014/main" val="1208126368"/>
                    </a:ext>
                  </a:extLst>
                </a:gridCol>
                <a:gridCol w="752475">
                  <a:extLst>
                    <a:ext uri="{9D8B030D-6E8A-4147-A177-3AD203B41FA5}">
                      <a16:colId xmlns:a16="http://schemas.microsoft.com/office/drawing/2014/main" val="1187313747"/>
                    </a:ext>
                  </a:extLst>
                </a:gridCol>
                <a:gridCol w="742950">
                  <a:extLst>
                    <a:ext uri="{9D8B030D-6E8A-4147-A177-3AD203B41FA5}">
                      <a16:colId xmlns:a16="http://schemas.microsoft.com/office/drawing/2014/main" val="1606983169"/>
                    </a:ext>
                  </a:extLst>
                </a:gridCol>
                <a:gridCol w="752475">
                  <a:extLst>
                    <a:ext uri="{9D8B030D-6E8A-4147-A177-3AD203B41FA5}">
                      <a16:colId xmlns:a16="http://schemas.microsoft.com/office/drawing/2014/main" val="3242068942"/>
                    </a:ext>
                  </a:extLst>
                </a:gridCol>
                <a:gridCol w="419100">
                  <a:extLst>
                    <a:ext uri="{9D8B030D-6E8A-4147-A177-3AD203B41FA5}">
                      <a16:colId xmlns:a16="http://schemas.microsoft.com/office/drawing/2014/main" val="11634806"/>
                    </a:ext>
                  </a:extLst>
                </a:gridCol>
                <a:gridCol w="504825">
                  <a:extLst>
                    <a:ext uri="{9D8B030D-6E8A-4147-A177-3AD203B41FA5}">
                      <a16:colId xmlns:a16="http://schemas.microsoft.com/office/drawing/2014/main" val="1319891636"/>
                    </a:ext>
                  </a:extLst>
                </a:gridCol>
              </a:tblGrid>
              <a:tr h="311015">
                <a:tc gridSpan="2">
                  <a:txBody>
                    <a:bodyPr/>
                    <a:lstStyle/>
                    <a:p>
                      <a:pPr fontAlgn="base">
                        <a:lnSpc>
                          <a:spcPts val="1200"/>
                        </a:lnSpc>
                      </a:pPr>
                      <a:r>
                        <a:rPr lang="nl-NL" sz="1000" b="1">
                          <a:effectLst/>
                          <a:latin typeface="Verdana"/>
                        </a:rPr>
                        <a:t>Doelgroep</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gridSpan="2">
                  <a:txBody>
                    <a:bodyPr/>
                    <a:lstStyle/>
                    <a:p>
                      <a:pPr algn="ctr" fontAlgn="base">
                        <a:lnSpc>
                          <a:spcPct val="100000"/>
                        </a:lnSpc>
                      </a:pPr>
                      <a:r>
                        <a:rPr lang="nl-NL" sz="1000" b="0" baseline="30000">
                          <a:effectLst/>
                          <a:latin typeface="Verdana"/>
                        </a:rPr>
                        <a:t># Verpleegkundige overdrachten van en naar het ziekenhuis</a:t>
                      </a:r>
                      <a:endParaRPr lang="nl-NL" sz="1000" b="0">
                        <a:effectLst/>
                        <a:latin typeface="Verdana"/>
                      </a:endParaRPr>
                    </a:p>
                  </a:txBody>
                  <a:tcPr marL="7620" marR="7620" marT="7620" marB="720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nl-NL"/>
                    </a:p>
                  </a:txBody>
                  <a:tcPr/>
                </a:tc>
                <a:tc gridSpan="2">
                  <a:txBody>
                    <a:bodyPr/>
                    <a:lstStyle/>
                    <a:p>
                      <a:pPr algn="ctr" fontAlgn="base">
                        <a:lnSpc>
                          <a:spcPct val="100000"/>
                        </a:lnSpc>
                      </a:pPr>
                      <a:r>
                        <a:rPr lang="nl-NL" sz="1000" b="0" baseline="30000">
                          <a:effectLst/>
                          <a:latin typeface="Verdana"/>
                        </a:rPr>
                        <a:t># Verpleegkundige overdrachten van en naar de VVT</a:t>
                      </a:r>
                      <a:endParaRPr lang="nl-NL" sz="1000" b="0">
                        <a:effectLst/>
                        <a:latin typeface="Verdana"/>
                      </a:endParaRPr>
                    </a:p>
                  </a:txBody>
                  <a:tcPr marL="7620" marR="7620" marT="7620" marB="720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nl-NL"/>
                    </a:p>
                  </a:txBody>
                  <a:tcPr/>
                </a:tc>
                <a:tc gridSpan="2">
                  <a:txBody>
                    <a:bodyPr/>
                    <a:lstStyle/>
                    <a:p>
                      <a:pPr algn="ctr" fontAlgn="base">
                        <a:lnSpc>
                          <a:spcPct val="100000"/>
                        </a:lnSpc>
                      </a:pPr>
                      <a:r>
                        <a:rPr lang="nl-NL" sz="1000" b="0" baseline="30000">
                          <a:effectLst/>
                          <a:latin typeface="Verdana"/>
                        </a:rPr>
                        <a:t># Verpleegkundige overdrachten van en naar de GGZ</a:t>
                      </a:r>
                      <a:endParaRPr lang="nl-NL" sz="1000" b="0">
                        <a:effectLst/>
                        <a:latin typeface="Verdana"/>
                      </a:endParaRPr>
                    </a:p>
                  </a:txBody>
                  <a:tcPr marL="7620" marR="7620" marT="7620" marB="720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nl-NL"/>
                    </a:p>
                  </a:txBody>
                  <a:tcPr/>
                </a:tc>
                <a:tc gridSpan="2">
                  <a:txBody>
                    <a:bodyPr/>
                    <a:lstStyle/>
                    <a:p>
                      <a:pPr algn="ctr" fontAlgn="base">
                        <a:lnSpc>
                          <a:spcPct val="100000"/>
                        </a:lnSpc>
                      </a:pPr>
                      <a:r>
                        <a:rPr lang="nl-NL" sz="1000" b="0" baseline="30000">
                          <a:effectLst/>
                          <a:latin typeface="Verdana"/>
                        </a:rPr>
                        <a:t># Heropnames in het ziekenhuis</a:t>
                      </a:r>
                      <a:endParaRPr lang="nl-NL" sz="1000" b="0">
                        <a:effectLst/>
                        <a:latin typeface="Verdana"/>
                      </a:endParaRPr>
                    </a:p>
                  </a:txBody>
                  <a:tcPr marL="7620" marR="7620" marT="7620" marB="7200"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813360611"/>
                  </a:ext>
                </a:extLst>
              </a:tr>
              <a:tr h="206582">
                <a:tc>
                  <a:txBody>
                    <a:bodyPr/>
                    <a:lstStyle/>
                    <a:p>
                      <a:pPr fontAlgn="base">
                        <a:lnSpc>
                          <a:spcPts val="1200"/>
                        </a:lnSpc>
                      </a:pPr>
                      <a:endParaRPr lang="en-US">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extLst>
                  <a:ext uri="{0D108BD9-81ED-4DB2-BD59-A6C34878D82A}">
                    <a16:rowId xmlns:a16="http://schemas.microsoft.com/office/drawing/2014/main" val="1346424145"/>
                  </a:ext>
                </a:extLst>
              </a:tr>
              <a:tr h="623102">
                <a:tc gridSpan="2">
                  <a:txBody>
                    <a:bodyPr/>
                    <a:lstStyle/>
                    <a:p>
                      <a:pPr fontAlgn="base">
                        <a:lnSpc>
                          <a:spcPts val="1200"/>
                        </a:lnSpc>
                      </a:pPr>
                      <a:r>
                        <a:rPr lang="nl-NL" sz="1000" b="1">
                          <a:effectLst/>
                          <a:latin typeface="Verdana"/>
                        </a:rPr>
                        <a:t>Effect </a:t>
                      </a:r>
                      <a:r>
                        <a:rPr lang="nl-NL" sz="1000">
                          <a:effectLst/>
                          <a:latin typeface="Verdana"/>
                        </a:rPr>
                        <a:t>van realisatie verpl. Overdracht</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gridSpan="2">
                  <a:txBody>
                    <a:bodyPr/>
                    <a:lstStyle/>
                    <a:p>
                      <a:pPr fontAlgn="base">
                        <a:lnSpc>
                          <a:spcPts val="1200"/>
                        </a:lnSpc>
                      </a:pPr>
                      <a:r>
                        <a:rPr lang="nl-NL" sz="900">
                          <a:effectLst/>
                          <a:latin typeface="Verdana"/>
                        </a:rPr>
                        <a:t>10 min tijdswinst bij verzending,</a:t>
                      </a:r>
                      <a:br>
                        <a:rPr lang="nl-NL" sz="900">
                          <a:effectLst/>
                          <a:latin typeface="Verdana"/>
                        </a:rPr>
                      </a:br>
                      <a:r>
                        <a:rPr lang="nl-NL" sz="900">
                          <a:effectLst/>
                          <a:latin typeface="Verdana"/>
                        </a:rPr>
                        <a:t>15 min tijdwinst bij ontvangst</a:t>
                      </a:r>
                      <a:endParaRPr lang="nl-NL" sz="1600">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tc gridSpan="2">
                  <a:txBody>
                    <a:bodyPr/>
                    <a:lstStyle/>
                    <a:p>
                      <a:pPr fontAlgn="base">
                        <a:lnSpc>
                          <a:spcPts val="1200"/>
                        </a:lnSpc>
                      </a:pPr>
                      <a:r>
                        <a:rPr lang="nl-NL" sz="900">
                          <a:effectLst/>
                          <a:latin typeface="Verdana"/>
                        </a:rPr>
                        <a:t>5 min tijdswinst bij verzending,</a:t>
                      </a:r>
                      <a:br>
                        <a:rPr lang="nl-NL" sz="900">
                          <a:effectLst/>
                          <a:latin typeface="Verdana"/>
                        </a:rPr>
                      </a:br>
                      <a:r>
                        <a:rPr lang="nl-NL" sz="900">
                          <a:effectLst/>
                          <a:latin typeface="Verdana"/>
                        </a:rPr>
                        <a:t>60 min tijdwinst bij ontvangst</a:t>
                      </a:r>
                      <a:endParaRPr lang="nl-NL" sz="1600">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tc gridSpan="2">
                  <a:txBody>
                    <a:bodyPr/>
                    <a:lstStyle/>
                    <a:p>
                      <a:pPr fontAlgn="base">
                        <a:lnSpc>
                          <a:spcPts val="1200"/>
                        </a:lnSpc>
                      </a:pPr>
                      <a:r>
                        <a:rPr lang="nl-NL" sz="900">
                          <a:effectLst/>
                          <a:latin typeface="Verdana"/>
                        </a:rPr>
                        <a:t>5 min tijdswinst bij verzending,</a:t>
                      </a:r>
                      <a:br>
                        <a:rPr lang="nl-NL" sz="900">
                          <a:effectLst/>
                          <a:latin typeface="Verdana"/>
                        </a:rPr>
                      </a:br>
                      <a:r>
                        <a:rPr lang="nl-NL" sz="900">
                          <a:effectLst/>
                          <a:latin typeface="Verdana"/>
                        </a:rPr>
                        <a:t>34 min tijdwinst bij ontvangst</a:t>
                      </a:r>
                      <a:endParaRPr lang="nl-NL" sz="1600">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tc gridSpan="2">
                  <a:txBody>
                    <a:bodyPr/>
                    <a:lstStyle/>
                    <a:p>
                      <a:pPr fontAlgn="base">
                        <a:lnSpc>
                          <a:spcPts val="1200"/>
                        </a:lnSpc>
                      </a:pPr>
                      <a:r>
                        <a:rPr lang="nl-NL" sz="900">
                          <a:effectLst/>
                          <a:latin typeface="Verdana"/>
                        </a:rPr>
                        <a:t>Afname van heropnames met 1%</a:t>
                      </a:r>
                      <a:endParaRPr lang="nl-NL" sz="1600">
                        <a:effectLst/>
                        <a:latin typeface="Verdana"/>
                      </a:endParaRPr>
                    </a:p>
                  </a:txBody>
                  <a:tcPr marL="7620" marR="7620" marT="7620" anchor="ctr">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438769458"/>
                  </a:ext>
                </a:extLst>
              </a:tr>
              <a:tr h="344100">
                <a:tc>
                  <a:txBody>
                    <a:bodyPr/>
                    <a:lstStyle/>
                    <a:p>
                      <a:pPr fontAlgn="base">
                        <a:lnSpc>
                          <a:spcPts val="1200"/>
                        </a:lnSpc>
                      </a:pPr>
                      <a:endParaRPr lang="en-US">
                        <a:effectLst/>
                        <a:latin typeface="Verdana"/>
                      </a:endParaRPr>
                    </a:p>
                  </a:txBody>
                  <a:tcPr marL="7620" marR="7620" marT="7620">
                    <a:lnL w="12700" cap="flat" cmpd="sng" algn="ctr">
                      <a:solidFill>
                        <a:schemeClr val="tx1"/>
                      </a:solidFill>
                      <a:prstDash val="solid"/>
                      <a:round/>
                      <a:headEnd type="none" w="med" len="med"/>
                      <a:tailEnd type="none" w="med" len="med"/>
                    </a:lnL>
                    <a:lnR w="9525" cap="flat" cmpd="sng" algn="ctr">
                      <a:solidFill>
                        <a:srgbClr val="7EB57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EB572"/>
                    </a:solidFill>
                  </a:tcPr>
                </a:tc>
                <a:tc>
                  <a:txBody>
                    <a:bodyPr/>
                    <a:lstStyle/>
                    <a:p>
                      <a:pPr fontAlgn="base">
                        <a:lnSpc>
                          <a:spcPts val="1200"/>
                        </a:lnSpc>
                      </a:pPr>
                      <a:endParaRPr lang="en-US">
                        <a:effectLst/>
                        <a:latin typeface="Verdana"/>
                      </a:endParaRPr>
                    </a:p>
                  </a:txBody>
                  <a:tcPr marL="7620" marR="7620" marT="7620">
                    <a:lnL w="9525" cap="flat" cmpd="sng" algn="ctr">
                      <a:solidFill>
                        <a:srgbClr val="7EB572"/>
                      </a:solidFill>
                      <a:prstDash val="solid"/>
                      <a:round/>
                      <a:headEnd type="none" w="med" len="med"/>
                      <a:tailEnd type="none" w="med" len="med"/>
                    </a:lnL>
                    <a:lnR w="9525" cap="flat" cmpd="sng" algn="ctr">
                      <a:solidFill>
                        <a:srgbClr val="7EB57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EB572"/>
                    </a:solidFill>
                  </a:tcPr>
                </a:tc>
                <a:tc gridSpan="8">
                  <a:txBody>
                    <a:bodyPr/>
                    <a:lstStyle/>
                    <a:p>
                      <a:pPr algn="ctr" fontAlgn="base">
                        <a:lnSpc>
                          <a:spcPts val="1200"/>
                        </a:lnSpc>
                      </a:pPr>
                      <a:r>
                        <a:rPr lang="nl-NL" sz="1000" i="1">
                          <a:effectLst/>
                          <a:latin typeface="Verdana"/>
                        </a:rPr>
                        <a:t>Onderstaande inclusiepercentages gelden voor alle doelgroepen en effecten (NB: volgorde van implementatie staat nog niet definitief vast)</a:t>
                      </a:r>
                      <a:endParaRPr lang="nl-NL">
                        <a:effectLst/>
                        <a:latin typeface="Verdana"/>
                      </a:endParaRPr>
                    </a:p>
                  </a:txBody>
                  <a:tcPr marL="7620" marR="7620" marT="7620" anchor="ctr">
                    <a:lnL w="9525" cap="flat" cmpd="sng" algn="ctr">
                      <a:solidFill>
                        <a:srgbClr val="7EB57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7EB572"/>
                    </a:solidFill>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extLst>
                  <a:ext uri="{0D108BD9-81ED-4DB2-BD59-A6C34878D82A}">
                    <a16:rowId xmlns:a16="http://schemas.microsoft.com/office/drawing/2014/main" val="3629797034"/>
                  </a:ext>
                </a:extLst>
              </a:tr>
              <a:tr h="206582">
                <a:tc gridSpan="2">
                  <a:txBody>
                    <a:bodyPr/>
                    <a:lstStyle/>
                    <a:p>
                      <a:pPr fontAlgn="base">
                        <a:lnSpc>
                          <a:spcPts val="1200"/>
                        </a:lnSpc>
                      </a:pPr>
                      <a:r>
                        <a:rPr lang="nl-NL" sz="1000" b="1">
                          <a:effectLst/>
                          <a:latin typeface="Verdana"/>
                        </a:rPr>
                        <a:t>Inclusie</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nl-NL" sz="1000">
                          <a:effectLst/>
                          <a:latin typeface="Verdana"/>
                        </a:rPr>
                        <a:t>Verzenden</a:t>
                      </a:r>
                      <a:endParaRPr lang="nl-NL">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nl-NL" sz="1000">
                          <a:effectLst/>
                          <a:latin typeface="Verdana"/>
                        </a:rPr>
                        <a:t>Ontvangen</a:t>
                      </a:r>
                      <a:endParaRPr lang="nl-NL">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ase">
                        <a:lnSpc>
                          <a:spcPts val="1200"/>
                        </a:lnSpc>
                      </a:pPr>
                      <a:r>
                        <a:rPr lang="nl-NL" sz="1000">
                          <a:effectLst/>
                          <a:latin typeface="Verdana"/>
                        </a:rPr>
                        <a:t>Verzenden</a:t>
                      </a:r>
                      <a:endParaRPr lang="nl-NL">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ase">
                        <a:lnSpc>
                          <a:spcPts val="1200"/>
                        </a:lnSpc>
                      </a:pPr>
                      <a:r>
                        <a:rPr lang="nl-NL" sz="1000">
                          <a:effectLst/>
                          <a:latin typeface="Verdana"/>
                        </a:rPr>
                        <a:t>Ontvangen</a:t>
                      </a:r>
                      <a:endParaRPr lang="nl-NL">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ase">
                        <a:lnSpc>
                          <a:spcPts val="1200"/>
                        </a:lnSpc>
                      </a:pPr>
                      <a:r>
                        <a:rPr lang="nl-NL" sz="1000">
                          <a:effectLst/>
                          <a:latin typeface="Verdana"/>
                        </a:rPr>
                        <a:t>Verzenden</a:t>
                      </a:r>
                      <a:endParaRPr lang="nl-NL">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ase">
                        <a:lnSpc>
                          <a:spcPts val="1200"/>
                        </a:lnSpc>
                      </a:pPr>
                      <a:r>
                        <a:rPr lang="nl-NL" sz="1000">
                          <a:effectLst/>
                          <a:latin typeface="Verdana"/>
                        </a:rPr>
                        <a:t>Ontvangen</a:t>
                      </a:r>
                      <a:endParaRPr lang="nl-NL">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ase">
                        <a:lnSpc>
                          <a:spcPts val="1200"/>
                        </a:lnSpc>
                      </a:pPr>
                      <a:endParaRPr lang="en-US">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ase">
                        <a:lnSpc>
                          <a:spcPts val="1200"/>
                        </a:lnSpc>
                      </a:pPr>
                      <a:endParaRPr lang="en-US">
                        <a:effectLst/>
                        <a:latin typeface="Verdana"/>
                      </a:endParaRPr>
                    </a:p>
                  </a:txBody>
                  <a:tcPr marL="7620" marR="7620" marT="762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6404643"/>
                  </a:ext>
                </a:extLst>
              </a:tr>
              <a:tr h="197675">
                <a:tc gridSpan="2">
                  <a:txBody>
                    <a:bodyPr/>
                    <a:lstStyle/>
                    <a:p>
                      <a:pPr algn="r" fontAlgn="base">
                        <a:lnSpc>
                          <a:spcPts val="1200"/>
                        </a:lnSpc>
                      </a:pPr>
                      <a:r>
                        <a:rPr lang="en-US" sz="1000" i="1">
                          <a:effectLst/>
                          <a:latin typeface="Verdana"/>
                        </a:rPr>
                        <a:t>2024</a:t>
                      </a:r>
                      <a:endParaRPr lang="en-US">
                        <a:effectLst/>
                        <a:latin typeface="Verdana"/>
                      </a:endParaRPr>
                    </a:p>
                  </a:txBody>
                  <a:tcPr marL="7620" marR="6858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1762077137"/>
                  </a:ext>
                </a:extLst>
              </a:tr>
              <a:tr h="197675">
                <a:tc gridSpan="2">
                  <a:txBody>
                    <a:bodyPr/>
                    <a:lstStyle/>
                    <a:p>
                      <a:pPr algn="r" fontAlgn="base">
                        <a:lnSpc>
                          <a:spcPts val="1200"/>
                        </a:lnSpc>
                      </a:pPr>
                      <a:r>
                        <a:rPr lang="en-US" sz="1000" i="1">
                          <a:effectLst/>
                          <a:latin typeface="Verdana"/>
                        </a:rPr>
                        <a:t>2025</a:t>
                      </a:r>
                      <a:endParaRPr lang="en-US">
                        <a:effectLst/>
                        <a:latin typeface="Verdana"/>
                      </a:endParaRPr>
                    </a:p>
                  </a:txBody>
                  <a:tcPr marL="7620" marR="6858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a:effectLst/>
                          <a:latin typeface="Verdana"/>
                        </a:rPr>
                        <a:t>30%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30%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30%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30%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30%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30%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3810944349"/>
                  </a:ext>
                </a:extLst>
              </a:tr>
              <a:tr h="197675">
                <a:tc gridSpan="2">
                  <a:txBody>
                    <a:bodyPr/>
                    <a:lstStyle/>
                    <a:p>
                      <a:pPr algn="r" fontAlgn="base">
                        <a:lnSpc>
                          <a:spcPts val="1200"/>
                        </a:lnSpc>
                      </a:pPr>
                      <a:r>
                        <a:rPr lang="en-US" sz="1000" i="1">
                          <a:effectLst/>
                          <a:latin typeface="Verdana"/>
                        </a:rPr>
                        <a:t>2026</a:t>
                      </a:r>
                      <a:endParaRPr lang="en-US">
                        <a:effectLst/>
                        <a:latin typeface="Verdana"/>
                      </a:endParaRPr>
                    </a:p>
                  </a:txBody>
                  <a:tcPr marL="7620" marR="6858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a:effectLst/>
                          <a:latin typeface="Verdana"/>
                        </a:rPr>
                        <a:t>100%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100%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100%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100%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100%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100%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gridSpan="2">
                  <a:txBody>
                    <a:bodyPr/>
                    <a:lstStyle/>
                    <a:p>
                      <a:pPr algn="ctr" fontAlgn="base">
                        <a:lnSpc>
                          <a:spcPts val="1200"/>
                        </a:lnSpc>
                      </a:pPr>
                      <a:r>
                        <a:rPr lang="en-US" sz="1000">
                          <a:effectLst/>
                          <a:latin typeface="Verdana"/>
                        </a:rPr>
                        <a:t>60%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2161247110"/>
                  </a:ext>
                </a:extLst>
              </a:tr>
              <a:tr h="245537">
                <a:tc gridSpan="2">
                  <a:txBody>
                    <a:bodyPr/>
                    <a:lstStyle/>
                    <a:p>
                      <a:pPr fontAlgn="base">
                        <a:lnSpc>
                          <a:spcPts val="1200"/>
                        </a:lnSpc>
                      </a:pPr>
                      <a:endParaRPr lang="en-US">
                        <a:effectLst/>
                        <a:latin typeface="Verdana"/>
                      </a:endParaRPr>
                    </a:p>
                  </a:txBody>
                  <a:tcPr marL="7620" marR="7620" marT="7620">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EB572"/>
                    </a:solidFill>
                  </a:tcPr>
                </a:tc>
                <a:tc hMerge="1">
                  <a:txBody>
                    <a:bodyPr/>
                    <a:lstStyle/>
                    <a:p>
                      <a:endParaRPr lang="nl-NL"/>
                    </a:p>
                  </a:txBody>
                  <a:tcPr/>
                </a:tc>
                <a:tc gridSpan="8">
                  <a:txBody>
                    <a:bodyPr/>
                    <a:lstStyle/>
                    <a:p>
                      <a:pPr algn="ctr" fontAlgn="base">
                        <a:lnSpc>
                          <a:spcPts val="1200"/>
                        </a:lnSpc>
                      </a:pP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7EB572"/>
                    </a:solidFill>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a:p>
                  </a:txBody>
                  <a:tcPr/>
                </a:tc>
                <a:extLst>
                  <a:ext uri="{0D108BD9-81ED-4DB2-BD59-A6C34878D82A}">
                    <a16:rowId xmlns:a16="http://schemas.microsoft.com/office/drawing/2014/main" val="3061856488"/>
                  </a:ext>
                </a:extLst>
              </a:tr>
              <a:tr h="425600">
                <a:tc gridSpan="2">
                  <a:txBody>
                    <a:bodyPr/>
                    <a:lstStyle/>
                    <a:p>
                      <a:pPr fontAlgn="base">
                        <a:lnSpc>
                          <a:spcPts val="1050"/>
                        </a:lnSpc>
                      </a:pPr>
                      <a:r>
                        <a:rPr lang="nl-NL" sz="900" b="1" i="1">
                          <a:effectLst/>
                          <a:latin typeface="Verdana"/>
                        </a:rPr>
                        <a:t>Zorgkosten </a:t>
                      </a:r>
                      <a:r>
                        <a:rPr lang="nl-NL" sz="900" i="1" baseline="30000">
                          <a:effectLst/>
                          <a:latin typeface="Verdana"/>
                        </a:rPr>
                        <a:t>3</a:t>
                      </a:r>
                      <a:r>
                        <a:rPr lang="nl-NL" sz="900" i="1">
                          <a:effectLst/>
                          <a:latin typeface="Verdana"/>
                        </a:rPr>
                        <a:t> (Z)  of FTE</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effectLst/>
                          <a:latin typeface="Verdana"/>
                        </a:rPr>
                        <a:t>Z </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FTE</a:t>
                      </a:r>
                      <a:endParaRPr lang="en-US" b="1">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27925163"/>
                  </a:ext>
                </a:extLst>
              </a:tr>
              <a:tr h="245537">
                <a:tc gridSpan="2">
                  <a:txBody>
                    <a:bodyPr/>
                    <a:lstStyle/>
                    <a:p>
                      <a:pPr fontAlgn="base">
                        <a:lnSpc>
                          <a:spcPts val="1200"/>
                        </a:lnSpc>
                      </a:pPr>
                      <a:r>
                        <a:rPr lang="nl-NL" sz="1000">
                          <a:effectLst/>
                          <a:latin typeface="Verdana"/>
                        </a:rPr>
                        <a:t>Impact 2024</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a:effectLst/>
                          <a:latin typeface="Verdana"/>
                        </a:rPr>
                        <a:t> 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solidFill>
                            <a:schemeClr val="tx1"/>
                          </a:solidFill>
                          <a:effectLst/>
                          <a:latin typeface="Verdana"/>
                        </a:rPr>
                        <a:t>0</a:t>
                      </a:r>
                      <a:endParaRPr lang="en-US">
                        <a:solidFill>
                          <a:schemeClr val="tx1"/>
                        </a:solidFill>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solidFill>
                            <a:schemeClr val="tx1"/>
                          </a:solidFill>
                          <a:effectLst/>
                          <a:latin typeface="Verdana"/>
                        </a:rPr>
                        <a:t>0</a:t>
                      </a:r>
                      <a:endParaRPr lang="en-US">
                        <a:solidFill>
                          <a:schemeClr val="tx1"/>
                        </a:solidFill>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3854055"/>
                  </a:ext>
                </a:extLst>
              </a:tr>
              <a:tr h="245537">
                <a:tc gridSpan="2">
                  <a:txBody>
                    <a:bodyPr/>
                    <a:lstStyle/>
                    <a:p>
                      <a:pPr fontAlgn="base">
                        <a:lnSpc>
                          <a:spcPts val="1200"/>
                        </a:lnSpc>
                      </a:pPr>
                      <a:r>
                        <a:rPr lang="nl-NL" sz="1000">
                          <a:effectLst/>
                          <a:latin typeface="Verdana"/>
                        </a:rPr>
                        <a:t>Impact 2025</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a:effectLst/>
                          <a:latin typeface="Verdana"/>
                        </a:rPr>
                        <a:t> 107</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1,2 </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effectLst/>
                          <a:latin typeface="Verdana"/>
                        </a:rPr>
                        <a:t> 181</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 3,0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effectLst/>
                          <a:latin typeface="Verdana"/>
                        </a:rPr>
                        <a:t> 108</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 1,8</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solidFill>
                            <a:schemeClr val="tx1"/>
                          </a:solidFill>
                          <a:effectLst/>
                          <a:latin typeface="Verdana"/>
                        </a:rPr>
                        <a:t>7 </a:t>
                      </a:r>
                      <a:endParaRPr lang="en-US">
                        <a:solidFill>
                          <a:schemeClr val="tx1"/>
                        </a:solidFill>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solidFill>
                            <a:schemeClr val="tx1"/>
                          </a:solidFill>
                          <a:effectLst/>
                          <a:latin typeface="Verdana"/>
                        </a:rPr>
                        <a:t>0,01 </a:t>
                      </a:r>
                      <a:endParaRPr lang="en-US">
                        <a:solidFill>
                          <a:schemeClr val="tx1"/>
                        </a:solidFill>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44170900"/>
                  </a:ext>
                </a:extLst>
              </a:tr>
              <a:tr h="245537">
                <a:tc gridSpan="2">
                  <a:txBody>
                    <a:bodyPr/>
                    <a:lstStyle/>
                    <a:p>
                      <a:pPr fontAlgn="base">
                        <a:lnSpc>
                          <a:spcPts val="1200"/>
                        </a:lnSpc>
                      </a:pPr>
                      <a:r>
                        <a:rPr lang="nl-NL" sz="1000">
                          <a:effectLst/>
                          <a:latin typeface="Verdana"/>
                        </a:rPr>
                        <a:t>Impact 2026</a:t>
                      </a:r>
                      <a:endParaRPr lang="nl-NL">
                        <a:effectLst/>
                        <a:latin typeface="Verdana"/>
                      </a:endParaRPr>
                    </a:p>
                  </a:txBody>
                  <a:tcPr marL="7620" marR="762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a:effectLst/>
                          <a:latin typeface="Verdana"/>
                        </a:rPr>
                        <a:t> 224</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 2,3</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effectLst/>
                          <a:latin typeface="Verdana"/>
                        </a:rPr>
                        <a:t> 380</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 6,2</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effectLst/>
                          <a:latin typeface="Verdana"/>
                        </a:rPr>
                        <a:t> 228</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effectLst/>
                          <a:latin typeface="Verdana"/>
                        </a:rPr>
                        <a:t> 3,7</a:t>
                      </a:r>
                      <a:endParaRPr lang="en-US">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a:solidFill>
                            <a:schemeClr val="tx1"/>
                          </a:solidFill>
                          <a:effectLst/>
                          <a:latin typeface="Verdana"/>
                        </a:rPr>
                        <a:t> 12</a:t>
                      </a:r>
                      <a:endParaRPr lang="en-US">
                        <a:solidFill>
                          <a:schemeClr val="tx1"/>
                        </a:solidFill>
                        <a:effectLst/>
                        <a:latin typeface="Verdana"/>
                      </a:endParaRPr>
                    </a:p>
                  </a:txBody>
                  <a:tcPr marL="7620" marR="7620" marT="7620">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FFFFFF"/>
                    </a:solidFill>
                  </a:tcPr>
                </a:tc>
                <a:tc>
                  <a:txBody>
                    <a:bodyPr/>
                    <a:lstStyle/>
                    <a:p>
                      <a:pPr algn="ctr" fontAlgn="base">
                        <a:lnSpc>
                          <a:spcPts val="1200"/>
                        </a:lnSpc>
                      </a:pPr>
                      <a:r>
                        <a:rPr lang="en-US" sz="1000">
                          <a:solidFill>
                            <a:schemeClr val="tx1"/>
                          </a:solidFill>
                          <a:effectLst/>
                          <a:latin typeface="Verdana"/>
                        </a:rPr>
                        <a:t> 0,02</a:t>
                      </a:r>
                      <a:endParaRPr lang="en-US">
                        <a:solidFill>
                          <a:schemeClr val="tx1"/>
                        </a:solidFill>
                        <a:effectLst/>
                        <a:latin typeface="Verdana"/>
                      </a:endParaRPr>
                    </a:p>
                  </a:txBody>
                  <a:tcPr marL="7620" marR="7620" marT="7620">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37113560"/>
                  </a:ext>
                </a:extLst>
              </a:tr>
              <a:tr h="245537">
                <a:tc>
                  <a:txBody>
                    <a:bodyPr/>
                    <a:lstStyle/>
                    <a:p>
                      <a:pPr fontAlgn="base">
                        <a:lnSpc>
                          <a:spcPts val="1200"/>
                        </a:lnSpc>
                      </a:pPr>
                      <a:endParaRPr lang="en-US">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solidFill>
                          <a:schemeClr val="tx1"/>
                        </a:solidFill>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tc>
                  <a:txBody>
                    <a:bodyPr/>
                    <a:lstStyle/>
                    <a:p>
                      <a:pPr fontAlgn="base">
                        <a:lnSpc>
                          <a:spcPts val="1200"/>
                        </a:lnSpc>
                      </a:pPr>
                      <a:endParaRPr lang="en-US">
                        <a:solidFill>
                          <a:schemeClr val="tx1"/>
                        </a:solidFill>
                        <a:effectLst/>
                        <a:latin typeface="Verdana"/>
                      </a:endParaRPr>
                    </a:p>
                  </a:txBody>
                  <a:tcPr marL="7620" marR="7620" marT="762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9525" cap="flat" cmpd="sng" algn="ctr">
                      <a:solidFill>
                        <a:srgbClr val="F2F2F2"/>
                      </a:solidFill>
                      <a:prstDash val="solid"/>
                      <a:round/>
                      <a:headEnd type="none" w="med" len="med"/>
                      <a:tailEnd type="none" w="med" len="med"/>
                    </a:lnB>
                    <a:solidFill>
                      <a:srgbClr val="E2F0D9"/>
                    </a:solidFill>
                  </a:tcPr>
                </a:tc>
                <a:extLst>
                  <a:ext uri="{0D108BD9-81ED-4DB2-BD59-A6C34878D82A}">
                    <a16:rowId xmlns:a16="http://schemas.microsoft.com/office/drawing/2014/main" val="442959857"/>
                  </a:ext>
                </a:extLst>
              </a:tr>
              <a:tr h="490526">
                <a:tc gridSpan="2">
                  <a:txBody>
                    <a:bodyPr/>
                    <a:lstStyle/>
                    <a:p>
                      <a:pPr fontAlgn="base">
                        <a:lnSpc>
                          <a:spcPts val="1200"/>
                        </a:lnSpc>
                      </a:pPr>
                      <a:r>
                        <a:rPr lang="fr-FR" sz="1000" b="1">
                          <a:effectLst/>
                          <a:latin typeface="Verdana"/>
                        </a:rPr>
                        <a:t>Cum. impact t/m 2026</a:t>
                      </a:r>
                      <a:endParaRPr lang="fr-FR">
                        <a:effectLst/>
                        <a:latin typeface="Verdana"/>
                      </a:endParaRPr>
                    </a:p>
                  </a:txBody>
                  <a:tcPr marL="7620" marR="7620" marT="7620" anchor="ctr">
                    <a:lnL w="12700" cap="flat" cmpd="sng" algn="ctr">
                      <a:solidFill>
                        <a:schemeClr val="tx1"/>
                      </a:solidFill>
                      <a:prstDash val="solid"/>
                      <a:round/>
                      <a:headEnd type="none" w="med" len="med"/>
                      <a:tailEnd type="none" w="med" len="med"/>
                    </a:lnL>
                    <a:lnR w="9525" cap="flat" cmpd="sng" algn="ctr">
                      <a:solidFill>
                        <a:srgbClr val="F2F2F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F0D9"/>
                    </a:solidFill>
                  </a:tcPr>
                </a:tc>
                <a:tc hMerge="1">
                  <a:txBody>
                    <a:bodyPr/>
                    <a:lstStyle/>
                    <a:p>
                      <a:endParaRPr lang="nl-NL"/>
                    </a:p>
                  </a:txBody>
                  <a:tcPr/>
                </a:tc>
                <a:tc>
                  <a:txBody>
                    <a:bodyPr/>
                    <a:lstStyle/>
                    <a:p>
                      <a:pPr algn="ctr" fontAlgn="base">
                        <a:lnSpc>
                          <a:spcPts val="1200"/>
                        </a:lnSpc>
                      </a:pPr>
                      <a:r>
                        <a:rPr lang="en-US" sz="1000" b="1">
                          <a:effectLst/>
                          <a:latin typeface="Verdana"/>
                        </a:rPr>
                        <a:t> 331</a:t>
                      </a:r>
                      <a:endParaRPr lang="en-US" b="1">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3,5 </a:t>
                      </a:r>
                      <a:endParaRPr lang="en-US" b="1">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effectLst/>
                          <a:latin typeface="Verdana"/>
                        </a:rPr>
                        <a:t>561 </a:t>
                      </a:r>
                      <a:endParaRPr lang="en-US" b="1">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9,2 </a:t>
                      </a:r>
                      <a:endParaRPr lang="en-US" b="1">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effectLst/>
                          <a:latin typeface="Verdana"/>
                        </a:rPr>
                        <a:t> 336</a:t>
                      </a:r>
                      <a:endParaRPr lang="en-US" b="1">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1200"/>
                        </a:lnSpc>
                      </a:pPr>
                      <a:r>
                        <a:rPr lang="en-US" sz="1000" b="1">
                          <a:effectLst/>
                          <a:latin typeface="Verdana"/>
                        </a:rPr>
                        <a:t> 5,5</a:t>
                      </a:r>
                      <a:endParaRPr lang="en-US" b="1">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ase">
                        <a:lnSpc>
                          <a:spcPts val="1200"/>
                        </a:lnSpc>
                      </a:pPr>
                      <a:r>
                        <a:rPr lang="en-US" sz="1000" b="1">
                          <a:solidFill>
                            <a:schemeClr val="tx1"/>
                          </a:solidFill>
                          <a:effectLst/>
                          <a:latin typeface="Verdana"/>
                        </a:rPr>
                        <a:t>19 </a:t>
                      </a:r>
                      <a:endParaRPr lang="en-US" b="1">
                        <a:solidFill>
                          <a:schemeClr val="tx1"/>
                        </a:solidFill>
                        <a:effectLst/>
                        <a:latin typeface="Verdana"/>
                      </a:endParaRPr>
                    </a:p>
                  </a:txBody>
                  <a:tcPr marL="7620" marR="7620" marT="7620" anchor="ctr">
                    <a:lnL w="9525" cap="flat" cmpd="sng" algn="ctr">
                      <a:solidFill>
                        <a:srgbClr val="F2F2F2"/>
                      </a:solidFill>
                      <a:prstDash val="solid"/>
                      <a:round/>
                      <a:headEnd type="none" w="med" len="med"/>
                      <a:tailEnd type="none" w="med" len="med"/>
                    </a:lnL>
                    <a:lnR w="9525" cap="flat" cmpd="sng" algn="ctr">
                      <a:solidFill>
                        <a:srgbClr val="F2F2F2"/>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ts val="1200"/>
                        </a:lnSpc>
                      </a:pPr>
                      <a:r>
                        <a:rPr lang="en-US" sz="1000" b="1">
                          <a:solidFill>
                            <a:schemeClr val="tx1"/>
                          </a:solidFill>
                          <a:effectLst/>
                          <a:latin typeface="Verdana"/>
                        </a:rPr>
                        <a:t>0,03 </a:t>
                      </a:r>
                      <a:endParaRPr lang="en-US" b="1">
                        <a:solidFill>
                          <a:schemeClr val="tx1"/>
                        </a:solidFill>
                        <a:effectLst/>
                        <a:latin typeface="Verdana"/>
                      </a:endParaRPr>
                    </a:p>
                  </a:txBody>
                  <a:tcPr marL="7620" marR="7620" marT="7620" anchor="ctr">
                    <a:lnL w="9525" cap="flat" cmpd="sng" algn="ctr">
                      <a:solidFill>
                        <a:srgbClr val="F2F2F2"/>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F2F2F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7123351"/>
                  </a:ext>
                </a:extLst>
              </a:tr>
            </a:tbl>
          </a:graphicData>
        </a:graphic>
      </p:graphicFrame>
      <p:sp>
        <p:nvSpPr>
          <p:cNvPr id="31" name="Rectangle: Top Corners Rounded 38">
            <a:hlinkClick r:id="rId7" action="ppaction://hlinksldjump"/>
            <a:extLst>
              <a:ext uri="{FF2B5EF4-FFF2-40B4-BE49-F238E27FC236}">
                <a16:creationId xmlns:a16="http://schemas.microsoft.com/office/drawing/2014/main" id="{BFDA655F-57A2-F56E-8E9A-C5454BBD5EB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4" name="Graphic 33" descr="Introductiepagina silhouet">
            <a:hlinkClick r:id="rId8" action="ppaction://hlinksldjump"/>
            <a:extLst>
              <a:ext uri="{FF2B5EF4-FFF2-40B4-BE49-F238E27FC236}">
                <a16:creationId xmlns:a16="http://schemas.microsoft.com/office/drawing/2014/main" id="{C10EC9CF-F5E8-6D23-6142-BEE0583350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136" y="147223"/>
            <a:ext cx="144000" cy="144000"/>
          </a:xfrm>
          <a:prstGeom prst="rect">
            <a:avLst/>
          </a:prstGeom>
        </p:spPr>
      </p:pic>
      <p:sp>
        <p:nvSpPr>
          <p:cNvPr id="35" name="Rectangle: Top Corners Rounded 1">
            <a:hlinkClick r:id="rId11" action="ppaction://hlinksldjump"/>
            <a:extLst>
              <a:ext uri="{FF2B5EF4-FFF2-40B4-BE49-F238E27FC236}">
                <a16:creationId xmlns:a16="http://schemas.microsoft.com/office/drawing/2014/main" id="{72D1FD04-9CA9-51A8-E07D-A32E0BA008C7}"/>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6" name="Rectangle: Top Corners Rounded 1">
            <a:hlinkClick r:id="rId12" action="ppaction://hlinksldjump"/>
            <a:extLst>
              <a:ext uri="{FF2B5EF4-FFF2-40B4-BE49-F238E27FC236}">
                <a16:creationId xmlns:a16="http://schemas.microsoft.com/office/drawing/2014/main" id="{B1411609-FB48-74DA-E89E-AE4DF6A447ED}"/>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7" name="Rectangle: Top Corners Rounded 1">
            <a:hlinkClick r:id="rId13" action="ppaction://hlinksldjump"/>
            <a:extLst>
              <a:ext uri="{FF2B5EF4-FFF2-40B4-BE49-F238E27FC236}">
                <a16:creationId xmlns:a16="http://schemas.microsoft.com/office/drawing/2014/main" id="{2B6B9457-57E6-0987-98DB-CF51E7CE49A4}"/>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8" name="Rectangle: Top Corners Rounded 1">
            <a:hlinkClick r:id="rId14" action="ppaction://hlinksldjump"/>
            <a:extLst>
              <a:ext uri="{FF2B5EF4-FFF2-40B4-BE49-F238E27FC236}">
                <a16:creationId xmlns:a16="http://schemas.microsoft.com/office/drawing/2014/main" id="{648A388A-0419-1811-BDAC-00C9E47BCFA8}"/>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9" name="Rectangle: Top Corners Rounded 1">
            <a:hlinkClick r:id="rId15" action="ppaction://hlinksldjump"/>
            <a:extLst>
              <a:ext uri="{FF2B5EF4-FFF2-40B4-BE49-F238E27FC236}">
                <a16:creationId xmlns:a16="http://schemas.microsoft.com/office/drawing/2014/main" id="{C1498C3A-9C39-E162-C597-F4E1B2E248F5}"/>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40" name="Rectangle: Top Corners Rounded 1">
            <a:hlinkClick r:id="rId16" action="ppaction://hlinksldjump"/>
            <a:extLst>
              <a:ext uri="{FF2B5EF4-FFF2-40B4-BE49-F238E27FC236}">
                <a16:creationId xmlns:a16="http://schemas.microsoft.com/office/drawing/2014/main" id="{84F40B17-29FF-32B1-E212-C9A36283F978}"/>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2" name="Rectangle: Top Corners Rounded 1">
            <a:hlinkClick r:id="rId17" action="ppaction://hlinksldjump"/>
            <a:extLst>
              <a:ext uri="{FF2B5EF4-FFF2-40B4-BE49-F238E27FC236}">
                <a16:creationId xmlns:a16="http://schemas.microsoft.com/office/drawing/2014/main" id="{7F956B33-56F8-F61E-C519-11298143CBE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3" name="Rectangle: Top Corners Rounded 1">
            <a:hlinkClick r:id="rId18" action="ppaction://hlinksldjump"/>
            <a:extLst>
              <a:ext uri="{FF2B5EF4-FFF2-40B4-BE49-F238E27FC236}">
                <a16:creationId xmlns:a16="http://schemas.microsoft.com/office/drawing/2014/main" id="{9E7C0873-FC2E-4BDB-7039-3D2FCCBDE9FD}"/>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4" name="Rectangle: Top Corners Rounded 1">
            <a:hlinkClick r:id="rId19" action="ppaction://hlinksldjump"/>
            <a:extLst>
              <a:ext uri="{FF2B5EF4-FFF2-40B4-BE49-F238E27FC236}">
                <a16:creationId xmlns:a16="http://schemas.microsoft.com/office/drawing/2014/main" id="{3D42EED9-B3B9-3C87-B835-C48F47D50160}"/>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5" name="Rectangle: Top Corners Rounded 1">
            <a:hlinkClick r:id="rId20" action="ppaction://hlinksldjump"/>
            <a:extLst>
              <a:ext uri="{FF2B5EF4-FFF2-40B4-BE49-F238E27FC236}">
                <a16:creationId xmlns:a16="http://schemas.microsoft.com/office/drawing/2014/main" id="{8C6CF351-47C6-B81C-95A4-7BDA56DC61B8}"/>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6" name="Rectangle: Top Corners Rounded 1">
            <a:hlinkClick r:id="rId21" action="ppaction://hlinksldjump"/>
            <a:extLst>
              <a:ext uri="{FF2B5EF4-FFF2-40B4-BE49-F238E27FC236}">
                <a16:creationId xmlns:a16="http://schemas.microsoft.com/office/drawing/2014/main" id="{5BC02EBB-7505-5D39-937C-676F32E7E3A6}"/>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1" name="Rectangle 10">
            <a:extLst>
              <a:ext uri="{FF2B5EF4-FFF2-40B4-BE49-F238E27FC236}">
                <a16:creationId xmlns:a16="http://schemas.microsoft.com/office/drawing/2014/main" id="{2C3DA34B-8E05-D956-4830-BF617E8AA7C7}"/>
              </a:ext>
            </a:extLst>
          </p:cNvPr>
          <p:cNvSpPr/>
          <p:nvPr/>
        </p:nvSpPr>
        <p:spPr>
          <a:xfrm>
            <a:off x="8412861" y="533401"/>
            <a:ext cx="2557408" cy="436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a:t>Getallen zijn indicatief en worden nog gevalideerd!!</a:t>
            </a:r>
          </a:p>
        </p:txBody>
      </p:sp>
    </p:spTree>
    <p:extLst>
      <p:ext uri="{BB962C8B-B14F-4D97-AF65-F5344CB8AC3E}">
        <p14:creationId xmlns:p14="http://schemas.microsoft.com/office/powerpoint/2010/main" val="16267425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63FF8D-C3BB-6880-B933-E9F45049C577}"/>
              </a:ext>
            </a:extLst>
          </p:cNvPr>
          <p:cNvSpPr>
            <a:spLocks noGrp="1"/>
          </p:cNvSpPr>
          <p:nvPr>
            <p:ph type="title"/>
          </p:nvPr>
        </p:nvSpPr>
        <p:spPr/>
        <p:txBody>
          <a:bodyPr>
            <a:normAutofit/>
          </a:bodyPr>
          <a:lstStyle/>
          <a:p>
            <a:r>
              <a:rPr lang="nl-NL" err="1"/>
              <a:t>Usecase</a:t>
            </a:r>
            <a:r>
              <a:rPr lang="nl-NL"/>
              <a:t> 2.4 – Databeschikbaarheid in acute zorg</a:t>
            </a:r>
            <a:endParaRPr lang="en-NL"/>
          </a:p>
        </p:txBody>
      </p:sp>
    </p:spTree>
    <p:extLst>
      <p:ext uri="{BB962C8B-B14F-4D97-AF65-F5344CB8AC3E}">
        <p14:creationId xmlns:p14="http://schemas.microsoft.com/office/powerpoint/2010/main" val="24615433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82FBABC-7D6E-3244-FBF5-F95A5BBF8EC4}"/>
              </a:ext>
            </a:extLst>
          </p:cNvPr>
          <p:cNvSpPr/>
          <p:nvPr/>
        </p:nvSpPr>
        <p:spPr>
          <a:xfrm>
            <a:off x="3801977" y="5519030"/>
            <a:ext cx="7839563" cy="1166809"/>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Doorontwikkeling, na 2026:</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kumimoji="0" lang="nl-NL" sz="1200" b="0" i="0" u="none" strike="noStrike" kern="1200" cap="none" spc="0" normalizeH="0" baseline="0" noProof="0">
                <a:ln>
                  <a:noFill/>
                </a:ln>
                <a:solidFill>
                  <a:prstClr val="black"/>
                </a:solidFill>
                <a:effectLst/>
                <a:uLnTx/>
                <a:uFillTx/>
                <a:latin typeface="Calibri"/>
                <a:ea typeface="Verdana"/>
                <a:cs typeface="Calibri"/>
              </a:rPr>
              <a:t>Een selectie van bericht-nummers. Er komt vanuit </a:t>
            </a:r>
            <a:r>
              <a:rPr kumimoji="0" lang="nl-NL" sz="1200" b="0" i="0" u="none" strike="noStrike" kern="1200" cap="none" spc="0" normalizeH="0" baseline="0" noProof="0" err="1">
                <a:ln>
                  <a:noFill/>
                </a:ln>
                <a:solidFill>
                  <a:prstClr val="black"/>
                </a:solidFill>
                <a:effectLst/>
                <a:uLnTx/>
                <a:uFillTx/>
                <a:latin typeface="Calibri"/>
                <a:ea typeface="Verdana"/>
                <a:cs typeface="Calibri"/>
              </a:rPr>
              <a:t>MetSpoed</a:t>
            </a:r>
            <a:r>
              <a:rPr kumimoji="0" lang="nl-NL" sz="1200" b="0" i="0" u="none" strike="noStrike" kern="1200" cap="none" spc="0" normalizeH="0" baseline="0" noProof="0">
                <a:ln>
                  <a:noFill/>
                </a:ln>
                <a:solidFill>
                  <a:prstClr val="black"/>
                </a:solidFill>
                <a:effectLst/>
                <a:uLnTx/>
                <a:uFillTx/>
                <a:latin typeface="Calibri"/>
                <a:ea typeface="Verdana"/>
                <a:cs typeface="Calibri"/>
              </a:rPr>
              <a:t>-Beschikbaar een rationalisatieslag om definitieve berichtnummers te bepalen: 1, 2, 3, 4, 5, 6, 17, 18, 19, 20, 23, 24. Berichtnummers 7, 11, 13 en 14 zullen worden geïmplementeerd.</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rPr>
              <a:t>Acute VVT &amp; GGZ: </a:t>
            </a:r>
            <a:r>
              <a:rPr kumimoji="0" lang="nl-NL" sz="1200" b="0" i="0" u="none" strike="noStrike" kern="1200" cap="none" spc="0" normalizeH="0" baseline="0" noProof="0">
                <a:ln>
                  <a:noFill/>
                </a:ln>
                <a:solidFill>
                  <a:prstClr val="black"/>
                </a:solidFill>
                <a:effectLst/>
                <a:uLnTx/>
                <a:uFillTx/>
                <a:latin typeface="Calibri"/>
                <a:ea typeface="Verdana"/>
                <a:cs typeface="Calibri"/>
              </a:rPr>
              <a:t>Opschaling naar betrekking digitale beschikbaarheid patiëntgegevens.</a:t>
            </a:r>
            <a:endParaRPr kumimoji="0" lang="en-US" sz="1200" b="0" i="0" u="none" strike="noStrike" kern="1200" cap="none" spc="0" normalizeH="0" baseline="0" noProof="0">
              <a:ln>
                <a:noFill/>
              </a:ln>
              <a:solidFill>
                <a:prstClr val="black"/>
              </a:solidFill>
              <a:effectLst/>
              <a:uLnTx/>
              <a:uFillTx/>
              <a:latin typeface="Calibri"/>
              <a:ea typeface="Verdana"/>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kumimoji="0" lang="nl-NL" sz="1200" b="0" i="0" u="none" strike="noStrike" kern="1200" cap="none" spc="0" normalizeH="0" baseline="0" noProof="0">
                <a:ln>
                  <a:noFill/>
                </a:ln>
                <a:solidFill>
                  <a:prstClr val="black"/>
                </a:solidFill>
                <a:effectLst/>
                <a:uLnTx/>
                <a:uFillTx/>
                <a:latin typeface="Calibri"/>
                <a:ea typeface="Verdana"/>
                <a:cs typeface="Calibri"/>
              </a:rPr>
              <a:t>Digitale zelftriage: Verdere multidisciplinaire opschaling </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endParaRPr kumimoji="0" lang="nl-NL" sz="1200" b="0" i="0" u="none" strike="noStrike" kern="1200" cap="none" spc="0" normalizeH="0" baseline="0" noProof="0">
              <a:ln>
                <a:noFill/>
              </a:ln>
              <a:solidFill>
                <a:prstClr val="black"/>
              </a:solidFill>
              <a:effectLst/>
              <a:uLnTx/>
              <a:uFillTx/>
              <a:latin typeface="Calibri"/>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endParaRPr kumimoji="0" lang="nl-NL" sz="1200" b="0" i="0" u="none" strike="noStrike" kern="1200" cap="none" spc="0" normalizeH="0" baseline="0" noProof="0">
              <a:ln>
                <a:noFill/>
              </a:ln>
              <a:solidFill>
                <a:prstClr val="black"/>
              </a:solidFill>
              <a:effectLst/>
              <a:uLnTx/>
              <a:uFillTx/>
              <a:latin typeface="Calibri"/>
              <a:ea typeface="Verdana" panose="020B0604030504040204" pitchFamily="34" charset="0"/>
              <a:cs typeface="Calibri"/>
            </a:endParaRPr>
          </a:p>
          <a:p>
            <a:pPr marL="171450" marR="0" lvl="0" indent="-171450" algn="l" defTabSz="914400" rtl="0" eaLnBrk="1" fontAlgn="auto" latinLnBrk="0" hangingPunct="1">
              <a:lnSpc>
                <a:spcPct val="100000"/>
              </a:lnSpc>
              <a:spcBef>
                <a:spcPts val="0"/>
              </a:spcBef>
              <a:spcAft>
                <a:spcPts val="200"/>
              </a:spcAft>
              <a:buClrTx/>
              <a:buSzTx/>
              <a:buFont typeface="Arial"/>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p:txBody>
      </p:sp>
      <p:sp>
        <p:nvSpPr>
          <p:cNvPr id="5" name="Rectangle: Rounded Corners 25">
            <a:extLst>
              <a:ext uri="{FF2B5EF4-FFF2-40B4-BE49-F238E27FC236}">
                <a16:creationId xmlns:a16="http://schemas.microsoft.com/office/drawing/2014/main" id="{126C3CA7-E440-96CB-733B-9AF6F9685104}"/>
              </a:ext>
            </a:extLst>
          </p:cNvPr>
          <p:cNvSpPr/>
          <p:nvPr/>
        </p:nvSpPr>
        <p:spPr>
          <a:xfrm>
            <a:off x="-320420" y="1437359"/>
            <a:ext cx="3809577" cy="2779832"/>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6" name="TextBox 16">
            <a:extLst>
              <a:ext uri="{FF2B5EF4-FFF2-40B4-BE49-F238E27FC236}">
                <a16:creationId xmlns:a16="http://schemas.microsoft.com/office/drawing/2014/main" id="{5B76B5DD-B45D-B676-33E0-25BBF90A8F40}"/>
              </a:ext>
            </a:extLst>
          </p:cNvPr>
          <p:cNvSpPr txBox="1"/>
          <p:nvPr/>
        </p:nvSpPr>
        <p:spPr>
          <a:xfrm>
            <a:off x="80917" y="1466303"/>
            <a:ext cx="3275894" cy="2785378"/>
          </a:xfrm>
          <a:prstGeom prst="rect">
            <a:avLst/>
          </a:prstGeom>
          <a:noFill/>
        </p:spPr>
        <p:txBody>
          <a:bodyPr wrap="square" lIns="91440" tIns="45720" rIns="91440" bIns="45720" rtlCol="0" anchor="t">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Kernproblematiek</a:t>
            </a:r>
          </a:p>
          <a:p>
            <a:pPr marL="85725" marR="0" lvl="0" indent="-8572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85725" marR="0" lvl="0" indent="-8572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rPr>
              <a:t>Veel zorgorganisaties houden aparte dossiers bij, wat leidt tot een gebrek aan uniform inzicht in relevante en actuele patiëntgegevens</a:t>
            </a:r>
          </a:p>
          <a:p>
            <a:pPr marL="85725" marR="0" lvl="0" indent="-8572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rPr>
              <a:t>Er is behoefte aan digitale gegevensuitwisseling in de gehele acute zorgketen. Het gebrek aan een gestandaardiseerde regionale data-architectuur, versnipperde terminologie, en strenge (wettelijke) eisen omtrent privacy en beveiliging, bemoeilijken deze uitwisseling.</a:t>
            </a:r>
          </a:p>
          <a:p>
            <a:pPr marL="85725" marR="0" lvl="0" indent="-8572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a:ea typeface="Verdana"/>
                <a:cs typeface="Calibri"/>
              </a:rPr>
              <a:t>Er is onvoldoende inzicht in het behandelbeleid en de wensen van patiënten, wat essentieel is voor proactieve zorgplanning.</a:t>
            </a: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 name="Rectangle 18">
            <a:extLst>
              <a:ext uri="{FF2B5EF4-FFF2-40B4-BE49-F238E27FC236}">
                <a16:creationId xmlns:a16="http://schemas.microsoft.com/office/drawing/2014/main" id="{820C6127-087E-DEDD-67EA-975666C239C1}"/>
              </a:ext>
            </a:extLst>
          </p:cNvPr>
          <p:cNvSpPr/>
          <p:nvPr/>
        </p:nvSpPr>
        <p:spPr>
          <a:xfrm>
            <a:off x="3801978" y="3036083"/>
            <a:ext cx="7839563" cy="2151158"/>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a:t>
            </a:r>
            <a:r>
              <a:rPr kumimoji="0" lang="nl-NL" sz="900" b="1" i="0" u="none" strike="noStrike" kern="1200" cap="none" spc="0" normalizeH="0" baseline="0" noProof="0">
                <a:ln>
                  <a:noFill/>
                </a:ln>
                <a:solidFill>
                  <a:prstClr val="black"/>
                </a:solidFill>
                <a:effectLst/>
                <a:uLnTx/>
                <a:uFillTx/>
                <a:latin typeface="Verdana"/>
                <a:ea typeface="Verdana"/>
                <a:cs typeface="+mn-cs"/>
              </a:rPr>
              <a:t>Ambitie, eind 2026:</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Light"/>
              </a:rPr>
              <a:t>Relevante data die beschikbaar is vanuit één bron. Nu zijn er soms verschillende databronnen die op inhoud niet overeenkomen.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mn-cs"/>
              </a:rPr>
              <a:t>Zoveel mogelijk digitale overdracht en verwijzing met kloppende data, tussen </a:t>
            </a:r>
            <a:r>
              <a:rPr kumimoji="0" lang="nl-NL" sz="900" b="0" i="0" u="none" strike="noStrike" kern="1200" cap="none" spc="0" normalizeH="0" baseline="0" noProof="0">
                <a:ln>
                  <a:noFill/>
                </a:ln>
                <a:solidFill>
                  <a:prstClr val="black"/>
                </a:solidFill>
                <a:effectLst/>
                <a:uLnTx/>
                <a:uFillTx/>
                <a:latin typeface="Verdana"/>
                <a:ea typeface="Verdana"/>
                <a:cs typeface="Calibri Light"/>
              </a:rPr>
              <a:t>stakeholders uit de acute zorgketen.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Light"/>
              </a:rPr>
              <a:t>Praten in eenheid van taal: gegevens vastleggen en uitwisselen via dezelfde (informatie)standaarden.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Light"/>
              </a:rPr>
              <a:t>Praten in eenheid van techniek: registreren en raadplegen in hetzelfde platform (i.p.v. PDF en telefonische overdrachten).</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Light"/>
              </a:rPr>
              <a:t>Informatie mag niet verloren gegaan tussen stappen in</a:t>
            </a:r>
            <a:r>
              <a:rPr kumimoji="0" lang="nl-NL" sz="900" b="0" i="0" u="none" strike="noStrike" kern="1200" cap="none" spc="0" normalizeH="0" baseline="0" noProof="0">
                <a:ln>
                  <a:noFill/>
                </a:ln>
                <a:solidFill>
                  <a:prstClr val="black"/>
                </a:solidFill>
                <a:effectLst/>
                <a:uLnTx/>
                <a:uFillTx/>
                <a:latin typeface="Verdana"/>
                <a:ea typeface="Verdana"/>
                <a:cs typeface="Calibri Light"/>
                <a:sym typeface="Wingdings" panose="05000000000000000000" pitchFamily="2" charset="2"/>
              </a:rPr>
              <a:t> </a:t>
            </a:r>
            <a:r>
              <a:rPr kumimoji="0" lang="nl-NL" sz="900" b="0" i="0" u="none" strike="noStrike" kern="1200" cap="none" spc="0" normalizeH="0" baseline="0" noProof="0">
                <a:ln>
                  <a:noFill/>
                </a:ln>
                <a:solidFill>
                  <a:prstClr val="black"/>
                </a:solidFill>
                <a:effectLst/>
                <a:uLnTx/>
                <a:uFillTx/>
                <a:latin typeface="Verdana"/>
                <a:ea typeface="Verdana"/>
                <a:cs typeface="Calibri Light"/>
              </a:rPr>
              <a:t>het </a:t>
            </a:r>
            <a:r>
              <a:rPr kumimoji="0" lang="nl-NL" sz="900" b="0" i="0" u="none" strike="noStrike" kern="1200" cap="none" spc="0" normalizeH="0" baseline="0" noProof="0">
                <a:ln>
                  <a:noFill/>
                </a:ln>
                <a:solidFill>
                  <a:prstClr val="black"/>
                </a:solidFill>
                <a:effectLst/>
                <a:uLnTx/>
                <a:uFillTx/>
                <a:latin typeface="Verdana"/>
                <a:ea typeface="Verdana"/>
                <a:cs typeface="Calibri Light"/>
                <a:sym typeface="Wingdings" panose="05000000000000000000" pitchFamily="2" charset="2"/>
              </a:rPr>
              <a:t>zorgproces en </a:t>
            </a:r>
            <a:r>
              <a:rPr kumimoji="0" lang="nl-NL" sz="900" b="0" i="0" u="none" strike="noStrike" kern="1200" cap="none" spc="0" normalizeH="0" baseline="0" noProof="0" err="1">
                <a:ln>
                  <a:noFill/>
                </a:ln>
                <a:solidFill>
                  <a:prstClr val="black"/>
                </a:solidFill>
                <a:effectLst/>
                <a:uLnTx/>
                <a:uFillTx/>
                <a:latin typeface="Verdana"/>
                <a:ea typeface="Verdana"/>
                <a:cs typeface="Calibri Light"/>
              </a:rPr>
              <a:t>en</a:t>
            </a:r>
            <a:r>
              <a:rPr kumimoji="0" lang="nl-NL" sz="900" b="0" i="0" u="none" strike="noStrike" kern="1200" cap="none" spc="0" normalizeH="0" baseline="0" noProof="0">
                <a:ln>
                  <a:noFill/>
                </a:ln>
                <a:solidFill>
                  <a:prstClr val="black"/>
                </a:solidFill>
                <a:effectLst/>
                <a:uLnTx/>
                <a:uFillTx/>
                <a:latin typeface="Verdana"/>
                <a:ea typeface="Verdana"/>
                <a:cs typeface="Calibri Light"/>
              </a:rPr>
              <a:t> </a:t>
            </a:r>
            <a:r>
              <a:rPr kumimoji="0" lang="nl-NL" sz="900" b="0" i="0" u="none" strike="noStrike" kern="1200" cap="none" spc="0" normalizeH="0" baseline="0" noProof="0">
                <a:ln>
                  <a:noFill/>
                </a:ln>
                <a:solidFill>
                  <a:prstClr val="black"/>
                </a:solidFill>
                <a:effectLst/>
                <a:uLnTx/>
                <a:uFillTx/>
                <a:latin typeface="Verdana"/>
                <a:ea typeface="Verdana"/>
                <a:cs typeface="Calibri Light"/>
                <a:sym typeface="Wingdings" panose="05000000000000000000" pitchFamily="2" charset="2"/>
              </a:rPr>
              <a:t>bij overdrachten. Het moet niet in aparte dossiers opgeslagen blijven, zoals huisartsendossier. En er moet vanuit zorgverleners en – organisaties commitment zijn om data beschikbaar te stellen.</a:t>
            </a:r>
            <a:endParaRPr kumimoji="0" lang="nl-NL" sz="900" b="0" i="0" u="none" strike="noStrike" kern="1200" cap="none" spc="0" normalizeH="0" baseline="0" noProof="0">
              <a:ln>
                <a:noFill/>
              </a:ln>
              <a:solidFill>
                <a:prstClr val="black"/>
              </a:solidFill>
              <a:effectLst/>
              <a:uLnTx/>
              <a:uFillTx/>
              <a:latin typeface="Verdana"/>
              <a:ea typeface="Verdana"/>
              <a:cs typeface="+mn-cs"/>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Light"/>
                <a:sym typeface="Wingdings" panose="05000000000000000000" pitchFamily="2" charset="2"/>
              </a:rPr>
              <a:t>Focus op de informatiebehoefte van de ontvanger, inzicht in capaciteit2 voor snelle doorverwijzing.</a:t>
            </a:r>
            <a:endParaRPr kumimoji="0" lang="nl-NL" sz="900" b="0" i="0" u="none" strike="noStrike" kern="1200" cap="none" spc="0" normalizeH="0" baseline="0" noProof="0">
              <a:ln>
                <a:noFill/>
              </a:ln>
              <a:solidFill>
                <a:prstClr val="black"/>
              </a:solidFill>
              <a:effectLst/>
              <a:uLnTx/>
              <a:uFillTx/>
              <a:latin typeface="Verdana"/>
              <a:ea typeface="Verdana"/>
              <a:cs typeface="+mn-cs"/>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Light"/>
                <a:sym typeface="Wingdings" panose="05000000000000000000" pitchFamily="2" charset="2"/>
              </a:rPr>
              <a:t>Het verwijderen van de muren van kantoortijden: tijdstip moet geen invloed hebben op databeschikbaarheid (kantooruren vs. ANW-uren)</a:t>
            </a:r>
            <a:endParaRPr kumimoji="0" lang="nl-NL" sz="900" b="0" i="0" u="none" strike="noStrike" kern="1200" cap="none" spc="0" normalizeH="0" baseline="0" noProof="0">
              <a:ln>
                <a:noFill/>
              </a:ln>
              <a:solidFill>
                <a:prstClr val="black"/>
              </a:solidFill>
              <a:effectLst/>
              <a:uLnTx/>
              <a:uFillTx/>
              <a:latin typeface="Verdana"/>
              <a:ea typeface="Verdana"/>
              <a:cs typeface="+mn-cs"/>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a:ea typeface="Verdana"/>
                <a:cs typeface="Calibri Light"/>
                <a:sym typeface="Wingdings" panose="05000000000000000000" pitchFamily="2" charset="2"/>
              </a:rPr>
              <a:t>Er is een wens voor een centraal punt in de GGZ van waaruit regio's informatie kunnen verkrijgen. Oftewel regio-breed toegang tot GGZ-informatie voor crisisdiensten en andere GGZ-instellingen</a:t>
            </a:r>
            <a:r>
              <a:rPr kumimoji="0" lang="nl-NL" sz="900" b="0" i="0" u="none" strike="noStrike" kern="1200" cap="none" spc="0" normalizeH="0" baseline="0" noProof="0">
                <a:ln>
                  <a:noFill/>
                </a:ln>
                <a:solidFill>
                  <a:prstClr val="black"/>
                </a:solidFill>
                <a:effectLst/>
                <a:uLnTx/>
                <a:uFillTx/>
                <a:latin typeface="Verdana"/>
                <a:ea typeface="Verdana"/>
                <a:cs typeface="Calibri"/>
                <a:sym typeface="Wingdings" panose="05000000000000000000" pitchFamily="2" charset="2"/>
              </a:rPr>
              <a:t>.</a:t>
            </a:r>
            <a:endParaRPr kumimoji="0" lang="nl-NL" sz="900" b="0" i="0" u="none" strike="noStrike" kern="1200" cap="none" spc="0" normalizeH="0" baseline="0" noProof="0">
              <a:ln>
                <a:noFill/>
              </a:ln>
              <a:solidFill>
                <a:prstClr val="black"/>
              </a:solidFill>
              <a:effectLst/>
              <a:uLnTx/>
              <a:uFillTx/>
              <a:latin typeface="Calibri"/>
              <a:ea typeface="+mn-ea"/>
              <a:cs typeface="Calibri"/>
            </a:endParaRPr>
          </a:p>
          <a:p>
            <a:pPr marL="0" marR="0" lvl="0" indent="0" algn="just" defTabSz="914400" rtl="0" eaLnBrk="1" fontAlgn="auto" latinLnBrk="0" hangingPunct="1">
              <a:lnSpc>
                <a:spcPct val="110000"/>
              </a:lnSpc>
              <a:spcBef>
                <a:spcPts val="0"/>
              </a:spcBef>
              <a:spcAft>
                <a:spcPts val="0"/>
              </a:spcAft>
              <a:buClrTx/>
              <a:buSzPts val="2000"/>
              <a:buFontTx/>
              <a:buNone/>
              <a:tabLst/>
              <a:defRPr/>
            </a:pPr>
            <a:endParaRPr kumimoji="0" lang="nl-NL" sz="900" b="0" i="0" u="none" strike="noStrike" kern="1200" cap="none" spc="0" normalizeH="0" baseline="0" noProof="0">
              <a:ln>
                <a:noFill/>
              </a:ln>
              <a:solidFill>
                <a:prstClr val="black"/>
              </a:solidFill>
              <a:effectLst/>
              <a:uLnTx/>
              <a:uFillTx/>
              <a:latin typeface="Verdana"/>
              <a:ea typeface="Verdana"/>
              <a:cs typeface="Calibri"/>
            </a:endParaRPr>
          </a:p>
        </p:txBody>
      </p:sp>
      <p:sp>
        <p:nvSpPr>
          <p:cNvPr id="8" name="Rectangle: Rounded Corners 19">
            <a:extLst>
              <a:ext uri="{FF2B5EF4-FFF2-40B4-BE49-F238E27FC236}">
                <a16:creationId xmlns:a16="http://schemas.microsoft.com/office/drawing/2014/main" id="{9D961019-0E88-05B0-8706-58DDD7C06DF3}"/>
              </a:ext>
            </a:extLst>
          </p:cNvPr>
          <p:cNvSpPr/>
          <p:nvPr/>
        </p:nvSpPr>
        <p:spPr>
          <a:xfrm>
            <a:off x="-228600" y="4259444"/>
            <a:ext cx="3717758" cy="2451334"/>
          </a:xfrm>
          <a:prstGeom prst="roundRect">
            <a:avLst/>
          </a:prstGeom>
          <a:solidFill>
            <a:srgbClr val="5BCBF3"/>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9" name="Rectangle 3">
            <a:extLst>
              <a:ext uri="{FF2B5EF4-FFF2-40B4-BE49-F238E27FC236}">
                <a16:creationId xmlns:a16="http://schemas.microsoft.com/office/drawing/2014/main" id="{CA949A71-98DC-5F3A-83D9-50F7D55BB504}"/>
              </a:ext>
            </a:extLst>
          </p:cNvPr>
          <p:cNvSpPr/>
          <p:nvPr/>
        </p:nvSpPr>
        <p:spPr>
          <a:xfrm>
            <a:off x="3801977" y="1409783"/>
            <a:ext cx="7839563" cy="1368101"/>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a:ea typeface="Verdana"/>
                <a:cs typeface="+mn-cs"/>
              </a:rPr>
              <a:t>    Huidige situatie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0" i="0" u="none" strike="noStrike" kern="1200" cap="none" spc="0" normalizeH="0" baseline="0" noProof="0">
                <a:ln>
                  <a:noFill/>
                </a:ln>
                <a:solidFill>
                  <a:srgbClr val="000000"/>
                </a:solidFill>
                <a:effectLst/>
                <a:uLnTx/>
                <a:uFillTx/>
                <a:latin typeface="Verdana"/>
                <a:ea typeface="Verdana"/>
                <a:cs typeface="Helvetica"/>
              </a:rPr>
              <a:t>In de acute zorg is het zeer belangrijk dat zorgverleners toegang hebben tot relevante patiëntgegevens. Zeker in acute situaties moet dit snel en overzichtelijk beschikbaar zijn.</a:t>
            </a:r>
            <a:endParaRPr kumimoji="0" lang="nl-NL" sz="900" b="0" i="0" u="none" strike="noStrike" kern="1200" cap="none" spc="0" normalizeH="0" baseline="0" noProof="0">
              <a:ln>
                <a:noFill/>
              </a:ln>
              <a:solidFill>
                <a:prstClr val="black"/>
              </a:solidFill>
              <a:effectLst/>
              <a:uLnTx/>
              <a:uFillTx/>
              <a:latin typeface="Verdana"/>
              <a:ea typeface="Verdan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0" i="0" u="none" strike="noStrike" kern="1200" cap="none" spc="0" normalizeH="0" baseline="0" noProof="0">
                <a:ln>
                  <a:noFill/>
                </a:ln>
                <a:solidFill>
                  <a:srgbClr val="000000"/>
                </a:solidFill>
                <a:effectLst/>
                <a:uLnTx/>
                <a:uFillTx/>
                <a:latin typeface="Verdana"/>
                <a:ea typeface="Verdana"/>
                <a:cs typeface="Helvetica"/>
              </a:rPr>
              <a:t>De Richtlijn Gegevensuitwisseling acute zorg beschrijft welke gegevens van belang zijn om digitaal uit te wisselen. Deze richtlijn is in het Integraal Zorg Akkoord toegevoegd aan de lijst van prioritaire gegevensuitwisselingen.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0" i="0" u="none" strike="noStrike" kern="1200" cap="none" spc="0" normalizeH="0" baseline="0" noProof="0">
                <a:ln>
                  <a:noFill/>
                </a:ln>
                <a:solidFill>
                  <a:srgbClr val="000000"/>
                </a:solidFill>
                <a:effectLst/>
                <a:uLnTx/>
                <a:uFillTx/>
                <a:latin typeface="Verdana"/>
                <a:ea typeface="Verdana"/>
                <a:cs typeface="Helvetica"/>
              </a:rPr>
              <a:t>Gegevensuitwisseling in de acute keten vindt nog veelal plaats middels telefonisch contact of papieren brieven. Hierdoor moeten zorgorganisaties geregeld actuele informatie opnieuw uitvragen onderling of bij inwoners/patiënten. Dit leidt tot onnodige extra tijd en administratie, foutgevoeligheid en frustratie.</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nl-NL" sz="900" b="0" i="0" u="none" strike="noStrike" kern="1200" cap="none" spc="0" normalizeH="0" baseline="0" noProof="0">
              <a:ln>
                <a:noFill/>
              </a:ln>
              <a:solidFill>
                <a:prstClr val="black"/>
              </a:solidFill>
              <a:effectLst/>
              <a:uLnTx/>
              <a:uFillTx/>
              <a:latin typeface="Verdana"/>
              <a:ea typeface="Verdana"/>
              <a:cs typeface="+mn-cs"/>
            </a:endParaRPr>
          </a:p>
        </p:txBody>
      </p:sp>
      <p:sp>
        <p:nvSpPr>
          <p:cNvPr id="10" name="Oval 35">
            <a:extLst>
              <a:ext uri="{FF2B5EF4-FFF2-40B4-BE49-F238E27FC236}">
                <a16:creationId xmlns:a16="http://schemas.microsoft.com/office/drawing/2014/main" id="{22780AE3-6202-F6BD-5C9D-A4CF536B1420}"/>
              </a:ext>
            </a:extLst>
          </p:cNvPr>
          <p:cNvSpPr>
            <a:spLocks/>
          </p:cNvSpPr>
          <p:nvPr/>
        </p:nvSpPr>
        <p:spPr>
          <a:xfrm>
            <a:off x="3621977" y="1266628"/>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1" name="Graphic 10">
            <a:extLst>
              <a:ext uri="{FF2B5EF4-FFF2-40B4-BE49-F238E27FC236}">
                <a16:creationId xmlns:a16="http://schemas.microsoft.com/office/drawing/2014/main" id="{9B154836-2C2B-14CC-4A5D-00DA6916B207}"/>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3711977" y="1364621"/>
            <a:ext cx="180000" cy="180000"/>
          </a:xfrm>
          <a:prstGeom prst="rect">
            <a:avLst/>
          </a:prstGeom>
        </p:spPr>
      </p:pic>
      <p:sp>
        <p:nvSpPr>
          <p:cNvPr id="12" name="Oval 35">
            <a:extLst>
              <a:ext uri="{FF2B5EF4-FFF2-40B4-BE49-F238E27FC236}">
                <a16:creationId xmlns:a16="http://schemas.microsoft.com/office/drawing/2014/main" id="{B0D5ADC1-12DE-E071-3753-C5BD19D8B2ED}"/>
              </a:ext>
            </a:extLst>
          </p:cNvPr>
          <p:cNvSpPr>
            <a:spLocks/>
          </p:cNvSpPr>
          <p:nvPr/>
        </p:nvSpPr>
        <p:spPr>
          <a:xfrm>
            <a:off x="3621977" y="2917987"/>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13" name="Freeform: Shape 14">
            <a:extLst>
              <a:ext uri="{FF2B5EF4-FFF2-40B4-BE49-F238E27FC236}">
                <a16:creationId xmlns:a16="http://schemas.microsoft.com/office/drawing/2014/main" id="{55E577A7-50EA-DF50-53A0-A810C63C3771}"/>
              </a:ext>
            </a:extLst>
          </p:cNvPr>
          <p:cNvSpPr/>
          <p:nvPr/>
        </p:nvSpPr>
        <p:spPr>
          <a:xfrm>
            <a:off x="3711977" y="3023453"/>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sp>
        <p:nvSpPr>
          <p:cNvPr id="14" name="Oval 35">
            <a:extLst>
              <a:ext uri="{FF2B5EF4-FFF2-40B4-BE49-F238E27FC236}">
                <a16:creationId xmlns:a16="http://schemas.microsoft.com/office/drawing/2014/main" id="{D28AE7C0-7A24-E0CB-EB63-A6B5367B1F0F}"/>
              </a:ext>
            </a:extLst>
          </p:cNvPr>
          <p:cNvSpPr>
            <a:spLocks/>
          </p:cNvSpPr>
          <p:nvPr/>
        </p:nvSpPr>
        <p:spPr>
          <a:xfrm>
            <a:off x="3621977" y="5343529"/>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5" name="Graphic 14" descr="A cloud though bubble">
            <a:extLst>
              <a:ext uri="{FF2B5EF4-FFF2-40B4-BE49-F238E27FC236}">
                <a16:creationId xmlns:a16="http://schemas.microsoft.com/office/drawing/2014/main" id="{7DFA6C71-9479-A8B6-8DAD-C144213F1E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11977" y="5447188"/>
            <a:ext cx="180000" cy="159763"/>
          </a:xfrm>
          <a:prstGeom prst="rect">
            <a:avLst/>
          </a:prstGeom>
        </p:spPr>
      </p:pic>
      <p:grpSp>
        <p:nvGrpSpPr>
          <p:cNvPr id="16" name="Groep 15">
            <a:extLst>
              <a:ext uri="{FF2B5EF4-FFF2-40B4-BE49-F238E27FC236}">
                <a16:creationId xmlns:a16="http://schemas.microsoft.com/office/drawing/2014/main" id="{41B778C2-85FD-B5A1-FFB1-5C0A40407937}"/>
              </a:ext>
            </a:extLst>
          </p:cNvPr>
          <p:cNvGrpSpPr/>
          <p:nvPr/>
        </p:nvGrpSpPr>
        <p:grpSpPr>
          <a:xfrm>
            <a:off x="550460" y="1275194"/>
            <a:ext cx="360000" cy="360000"/>
            <a:chOff x="80917" y="1266253"/>
            <a:chExt cx="360000" cy="360000"/>
          </a:xfrm>
        </p:grpSpPr>
        <p:sp>
          <p:nvSpPr>
            <p:cNvPr id="17" name="Oval 35">
              <a:extLst>
                <a:ext uri="{FF2B5EF4-FFF2-40B4-BE49-F238E27FC236}">
                  <a16:creationId xmlns:a16="http://schemas.microsoft.com/office/drawing/2014/main" id="{9D0F5997-4F1D-A2B8-FF23-07529D657CB0}"/>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18" name="Graphic 17">
              <a:extLst>
                <a:ext uri="{FF2B5EF4-FFF2-40B4-BE49-F238E27FC236}">
                  <a16:creationId xmlns:a16="http://schemas.microsoft.com/office/drawing/2014/main" id="{D46533CB-16E6-8C2E-118D-CE25B3C8958A}"/>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70917" y="1351755"/>
              <a:ext cx="180000" cy="180000"/>
            </a:xfrm>
            <a:prstGeom prst="rect">
              <a:avLst/>
            </a:prstGeom>
          </p:spPr>
        </p:pic>
      </p:grpSp>
      <p:sp>
        <p:nvSpPr>
          <p:cNvPr id="19" name="TextBox 16">
            <a:extLst>
              <a:ext uri="{FF2B5EF4-FFF2-40B4-BE49-F238E27FC236}">
                <a16:creationId xmlns:a16="http://schemas.microsoft.com/office/drawing/2014/main" id="{B2CFD2D9-3434-31BC-5696-D50E9CEF68D0}"/>
              </a:ext>
            </a:extLst>
          </p:cNvPr>
          <p:cNvSpPr txBox="1"/>
          <p:nvPr/>
        </p:nvSpPr>
        <p:spPr>
          <a:xfrm>
            <a:off x="80917" y="4592958"/>
            <a:ext cx="3408240" cy="2092881"/>
          </a:xfrm>
          <a:prstGeom prst="rect">
            <a:avLst/>
          </a:prstGeom>
          <a:noFill/>
        </p:spPr>
        <p:txBody>
          <a:bodyPr wrap="square" lIns="91440" tIns="45720" rIns="91440" bIns="45720" rtlCol="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a:ea typeface="Verdana"/>
                <a:cs typeface="Calibri"/>
              </a:rPr>
              <a:t>Verminderen administratieve lasten om zorgprofessionals te ontlasten: </a:t>
            </a:r>
            <a:r>
              <a:rPr kumimoji="0" lang="nl-NL" sz="1000" b="0" i="0" u="none" strike="noStrike" kern="1200" cap="none" spc="0" normalizeH="0" baseline="0" noProof="0">
                <a:ln>
                  <a:noFill/>
                </a:ln>
                <a:solidFill>
                  <a:prstClr val="white"/>
                </a:solidFill>
                <a:effectLst/>
                <a:uLnTx/>
                <a:uFillTx/>
                <a:latin typeface="Verdana"/>
                <a:ea typeface="Verdana"/>
                <a:cs typeface="Calibri"/>
              </a:rPr>
              <a:t>minder nabellen en handmatige stappen om verificatie te doen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a:ea typeface="Verdana"/>
                <a:cs typeface="Calibri"/>
              </a:rPr>
              <a:t>Behouden van beschikbare zorgprofessionals: </a:t>
            </a:r>
            <a:r>
              <a:rPr kumimoji="0" lang="nl-NL" sz="1000" b="0" i="0" u="none" strike="noStrike" kern="1200" cap="none" spc="0" normalizeH="0" baseline="0" noProof="0">
                <a:ln>
                  <a:noFill/>
                </a:ln>
                <a:solidFill>
                  <a:prstClr val="white"/>
                </a:solidFill>
                <a:effectLst/>
                <a:uLnTx/>
                <a:uFillTx/>
                <a:latin typeface="Verdana"/>
                <a:ea typeface="Verdana"/>
                <a:cs typeface="Calibri"/>
              </a:rPr>
              <a:t>door vergroten werkplezier en meer beschikbare tijd voor zorg.</a:t>
            </a:r>
            <a:endParaRPr kumimoji="0" lang="nl-NL" sz="1000" b="1" i="0" u="none" strike="noStrike" kern="1200" cap="none" spc="0" normalizeH="0" baseline="0" noProof="0">
              <a:ln>
                <a:noFill/>
              </a:ln>
              <a:solidFill>
                <a:prstClr val="white"/>
              </a:solidFill>
              <a:effectLst/>
              <a:uLnTx/>
              <a:uFillTx/>
              <a:latin typeface="Verdana"/>
              <a:ea typeface="Verdana"/>
              <a:cs typeface="Calibri"/>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Inzetten op elektronische gegevensuitwisseling; </a:t>
            </a:r>
            <a:r>
              <a:rPr kumimoji="0" lang="nl-NL" sz="10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betere zorgcoördinatie en interoperabiliteit voor een toekomstbestendig en efficiënter zorgsysteem.</a:t>
            </a:r>
            <a:endParaRPr kumimoji="0" lang="nl-NL"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0" name="Gelijkbenige driehoek 19">
            <a:extLst>
              <a:ext uri="{FF2B5EF4-FFF2-40B4-BE49-F238E27FC236}">
                <a16:creationId xmlns:a16="http://schemas.microsoft.com/office/drawing/2014/main" id="{63B8BD2C-38FF-4C74-3B90-31139C0554CC}"/>
              </a:ext>
            </a:extLst>
          </p:cNvPr>
          <p:cNvSpPr/>
          <p:nvPr/>
        </p:nvSpPr>
        <p:spPr>
          <a:xfrm rot="10800000">
            <a:off x="6715433" y="2836549"/>
            <a:ext cx="1814052" cy="208949"/>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Gelijkbenige driehoek 20">
            <a:extLst>
              <a:ext uri="{FF2B5EF4-FFF2-40B4-BE49-F238E27FC236}">
                <a16:creationId xmlns:a16="http://schemas.microsoft.com/office/drawing/2014/main" id="{88502E1B-1EB6-FC47-D285-64DFBEDA0FFB}"/>
              </a:ext>
            </a:extLst>
          </p:cNvPr>
          <p:cNvSpPr/>
          <p:nvPr/>
        </p:nvSpPr>
        <p:spPr>
          <a:xfrm rot="10800000">
            <a:off x="6715433" y="5256926"/>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 Placeholder 2">
            <a:extLst>
              <a:ext uri="{FF2B5EF4-FFF2-40B4-BE49-F238E27FC236}">
                <a16:creationId xmlns:a16="http://schemas.microsoft.com/office/drawing/2014/main" id="{382EAEEE-79D4-E96E-CAD9-9882898CF0D6}"/>
              </a:ext>
            </a:extLst>
          </p:cNvPr>
          <p:cNvSpPr txBox="1">
            <a:spLocks/>
          </p:cNvSpPr>
          <p:nvPr/>
        </p:nvSpPr>
        <p:spPr>
          <a:xfrm>
            <a:off x="425302" y="962670"/>
            <a:ext cx="10544967"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7" name="Rectangle: Top Corners Rounded 38">
            <a:hlinkClick r:id="rId11" action="ppaction://hlinksldjump"/>
            <a:extLst>
              <a:ext uri="{FF2B5EF4-FFF2-40B4-BE49-F238E27FC236}">
                <a16:creationId xmlns:a16="http://schemas.microsoft.com/office/drawing/2014/main" id="{A0FAC04D-1BDC-498C-62C2-6574B1AF4A62}"/>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8" name="Graphic 37" descr="Introductiepagina silhouet">
            <a:hlinkClick r:id="rId12" action="ppaction://hlinksldjump"/>
            <a:extLst>
              <a:ext uri="{FF2B5EF4-FFF2-40B4-BE49-F238E27FC236}">
                <a16:creationId xmlns:a16="http://schemas.microsoft.com/office/drawing/2014/main" id="{29FB7AC5-08D3-8419-F057-3EE6D19E941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136" y="147223"/>
            <a:ext cx="144000" cy="144000"/>
          </a:xfrm>
          <a:prstGeom prst="rect">
            <a:avLst/>
          </a:prstGeom>
        </p:spPr>
      </p:pic>
      <p:sp>
        <p:nvSpPr>
          <p:cNvPr id="39" name="Rectangle: Top Corners Rounded 1">
            <a:hlinkClick r:id="rId15" action="ppaction://hlinksldjump"/>
            <a:extLst>
              <a:ext uri="{FF2B5EF4-FFF2-40B4-BE49-F238E27FC236}">
                <a16:creationId xmlns:a16="http://schemas.microsoft.com/office/drawing/2014/main" id="{0DA3144A-4F4F-742B-640D-3BF58798C8C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40" name="Rectangle: Top Corners Rounded 1">
            <a:hlinkClick r:id="rId16" action="ppaction://hlinksldjump"/>
            <a:extLst>
              <a:ext uri="{FF2B5EF4-FFF2-40B4-BE49-F238E27FC236}">
                <a16:creationId xmlns:a16="http://schemas.microsoft.com/office/drawing/2014/main" id="{02D2100B-9072-1CAB-F043-6F1A2CAA3285}"/>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41" name="Rectangle: Top Corners Rounded 1">
            <a:hlinkClick r:id="rId17" action="ppaction://hlinksldjump"/>
            <a:extLst>
              <a:ext uri="{FF2B5EF4-FFF2-40B4-BE49-F238E27FC236}">
                <a16:creationId xmlns:a16="http://schemas.microsoft.com/office/drawing/2014/main" id="{CEAFDCD1-C062-CC4E-3ADA-B4A604AE67EA}"/>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42" name="Rectangle: Top Corners Rounded 1">
            <a:hlinkClick r:id="rId18" action="ppaction://hlinksldjump"/>
            <a:extLst>
              <a:ext uri="{FF2B5EF4-FFF2-40B4-BE49-F238E27FC236}">
                <a16:creationId xmlns:a16="http://schemas.microsoft.com/office/drawing/2014/main" id="{3CC51235-5646-5BC9-CF90-D1F78BBE4BB3}"/>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3" name="Rectangle: Top Corners Rounded 1">
            <a:hlinkClick r:id="rId19" action="ppaction://hlinksldjump"/>
            <a:extLst>
              <a:ext uri="{FF2B5EF4-FFF2-40B4-BE49-F238E27FC236}">
                <a16:creationId xmlns:a16="http://schemas.microsoft.com/office/drawing/2014/main" id="{A5F96726-7ACD-85C5-1B52-230C429A891A}"/>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44" name="Rectangle: Top Corners Rounded 1">
            <a:hlinkClick r:id="rId20" action="ppaction://hlinksldjump"/>
            <a:extLst>
              <a:ext uri="{FF2B5EF4-FFF2-40B4-BE49-F238E27FC236}">
                <a16:creationId xmlns:a16="http://schemas.microsoft.com/office/drawing/2014/main" id="{85AEC998-3FB0-0FD6-7BB0-5E5C562F83AE}"/>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5" name="Rectangle: Top Corners Rounded 1">
            <a:hlinkClick r:id="rId21" action="ppaction://hlinksldjump"/>
            <a:extLst>
              <a:ext uri="{FF2B5EF4-FFF2-40B4-BE49-F238E27FC236}">
                <a16:creationId xmlns:a16="http://schemas.microsoft.com/office/drawing/2014/main" id="{F1E8457F-9B84-4992-5540-6A9C23F50BE6}"/>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6" name="Rectangle: Top Corners Rounded 1">
            <a:hlinkClick r:id="rId22" action="ppaction://hlinksldjump"/>
            <a:extLst>
              <a:ext uri="{FF2B5EF4-FFF2-40B4-BE49-F238E27FC236}">
                <a16:creationId xmlns:a16="http://schemas.microsoft.com/office/drawing/2014/main" id="{3D45906C-0ED8-51E0-9A26-F219DE8E477C}"/>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7" name="Rectangle: Top Corners Rounded 1">
            <a:hlinkClick r:id="rId23" action="ppaction://hlinksldjump"/>
            <a:extLst>
              <a:ext uri="{FF2B5EF4-FFF2-40B4-BE49-F238E27FC236}">
                <a16:creationId xmlns:a16="http://schemas.microsoft.com/office/drawing/2014/main" id="{44561EED-2337-8619-D520-E3199091FBEA}"/>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8" name="Rectangle: Top Corners Rounded 1">
            <a:hlinkClick r:id="rId24" action="ppaction://hlinksldjump"/>
            <a:extLst>
              <a:ext uri="{FF2B5EF4-FFF2-40B4-BE49-F238E27FC236}">
                <a16:creationId xmlns:a16="http://schemas.microsoft.com/office/drawing/2014/main" id="{C923C542-FD02-F073-0857-14C8F03A5800}"/>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9" name="Rectangle: Top Corners Rounded 1">
            <a:hlinkClick r:id="rId25" action="ppaction://hlinksldjump"/>
            <a:extLst>
              <a:ext uri="{FF2B5EF4-FFF2-40B4-BE49-F238E27FC236}">
                <a16:creationId xmlns:a16="http://schemas.microsoft.com/office/drawing/2014/main" id="{477E320E-4D19-5D39-D591-DB70370CCC1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50" name="Text Placeholder 2">
            <a:extLst>
              <a:ext uri="{FF2B5EF4-FFF2-40B4-BE49-F238E27FC236}">
                <a16:creationId xmlns:a16="http://schemas.microsoft.com/office/drawing/2014/main" id="{709448D1-7875-FE6D-8E1C-DFA937E923F3}"/>
              </a:ext>
            </a:extLst>
          </p:cNvPr>
          <p:cNvSpPr txBox="1">
            <a:spLocks/>
          </p:cNvSpPr>
          <p:nvPr/>
        </p:nvSpPr>
        <p:spPr>
          <a:xfrm>
            <a:off x="425302" y="806240"/>
            <a:ext cx="11341396" cy="482972"/>
          </a:xfrm>
          <a:prstGeom prst="rect">
            <a:avLst/>
          </a:prstGeom>
        </p:spPr>
        <p:txBody>
          <a:bodyPr vert="horz" lIns="91440" tIns="45720" rIns="91440" bIns="45720" rtlCol="0" anchor="t">
            <a:no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nl-NL" b="1">
                <a:solidFill>
                  <a:prstClr val="black"/>
                </a:solidFill>
              </a:rPr>
              <a:t>Naast het i</a:t>
            </a:r>
            <a:r>
              <a:rPr kumimoji="0" lang="nl-NL"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mplementeren</a:t>
            </a:r>
            <a:r>
              <a:rPr kumimoji="0" lang="nl-NL"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van </a:t>
            </a:r>
            <a:r>
              <a:rPr lang="nl-NL" b="1">
                <a:solidFill>
                  <a:prstClr val="black"/>
                </a:solidFill>
              </a:rPr>
              <a:t>(selectieve) berichten en gegevensuitwisseling in het netwerk acute zorg </a:t>
            </a:r>
            <a:r>
              <a:rPr kumimoji="0" lang="nl-NL"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volgens de wettelijke bepaling, ligt de focus op het beschikbaar kunnen stellen van (acute zorg) data, voor betere continuïteit en uitkomsten van zorg. </a:t>
            </a:r>
          </a:p>
        </p:txBody>
      </p:sp>
      <p:sp>
        <p:nvSpPr>
          <p:cNvPr id="51" name="Tekstvak 65">
            <a:extLst>
              <a:ext uri="{FF2B5EF4-FFF2-40B4-BE49-F238E27FC236}">
                <a16:creationId xmlns:a16="http://schemas.microsoft.com/office/drawing/2014/main" id="{64AC1E0B-4987-E2FF-4AD2-67DF657CEBFC}"/>
              </a:ext>
            </a:extLst>
          </p:cNvPr>
          <p:cNvSpPr txBox="1"/>
          <p:nvPr/>
        </p:nvSpPr>
        <p:spPr>
          <a:xfrm>
            <a:off x="425302" y="358026"/>
            <a:ext cx="11371252" cy="523220"/>
          </a:xfrm>
          <a:prstGeom prst="rect">
            <a:avLst/>
          </a:prstGeom>
          <a:noFill/>
        </p:spPr>
        <p:txBody>
          <a:bodyPr wrap="square" lIns="91440" tIns="45720" rIns="91440" bIns="45720" anchor="t">
            <a:spAutoFit/>
          </a:bodyPr>
          <a:lstStyle/>
          <a:p>
            <a:pPr>
              <a:defRPr/>
            </a:pPr>
            <a:r>
              <a:rPr lang="nl-NL" sz="2800" b="1">
                <a:solidFill>
                  <a:srgbClr val="8C95CD"/>
                </a:solidFill>
                <a:latin typeface="Verdana Pro" panose="020B0604030504040204" pitchFamily="34" charset="0"/>
              </a:rPr>
              <a:t>Databeschikbaarheid in de acute zorg </a:t>
            </a:r>
            <a:r>
              <a:rPr kumimoji="0" lang="nl-NL" sz="2800" b="1" i="0" u="none" strike="noStrike" kern="1200" cap="none" spc="0" normalizeH="0" baseline="0" noProof="0">
                <a:ln>
                  <a:noFill/>
                </a:ln>
                <a:solidFill>
                  <a:srgbClr val="8C95CD"/>
                </a:solidFill>
                <a:effectLst/>
                <a:uLnTx/>
                <a:uFillTx/>
                <a:latin typeface="Verdana Pro" panose="020B0604030504040204" pitchFamily="34" charset="0"/>
              </a:rPr>
              <a:t>– Ambitie</a:t>
            </a:r>
            <a:endParaRPr kumimoji="0" lang="en-NL" sz="1400" b="0" i="0" u="none" strike="noStrike" kern="1200" cap="none" spc="0" normalizeH="0" baseline="0" noProof="0">
              <a:ln>
                <a:noFill/>
              </a:ln>
              <a:solidFill>
                <a:prstClr val="black"/>
              </a:solidFill>
              <a:effectLst/>
              <a:uLnTx/>
              <a:uFillTx/>
              <a:latin typeface="Verdana Pro" panose="020B0604030504040204" pitchFamily="34" charset="0"/>
            </a:endParaRPr>
          </a:p>
        </p:txBody>
      </p:sp>
    </p:spTree>
    <p:extLst>
      <p:ext uri="{BB962C8B-B14F-4D97-AF65-F5344CB8AC3E}">
        <p14:creationId xmlns:p14="http://schemas.microsoft.com/office/powerpoint/2010/main" val="2630381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13">
            <a:extLst>
              <a:ext uri="{FF2B5EF4-FFF2-40B4-BE49-F238E27FC236}">
                <a16:creationId xmlns:a16="http://schemas.microsoft.com/office/drawing/2014/main" id="{B6869031-FFC9-ECC0-E023-CEE75EAA5B92}"/>
              </a:ext>
            </a:extLst>
          </p:cNvPr>
          <p:cNvSpPr txBox="1"/>
          <p:nvPr/>
        </p:nvSpPr>
        <p:spPr>
          <a:xfrm>
            <a:off x="8753767" y="876934"/>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Fase 4</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Q3 - Q4 2026</a:t>
            </a:r>
          </a:p>
        </p:txBody>
      </p:sp>
      <p:sp>
        <p:nvSpPr>
          <p:cNvPr id="30" name="TextBox 13">
            <a:extLst>
              <a:ext uri="{FF2B5EF4-FFF2-40B4-BE49-F238E27FC236}">
                <a16:creationId xmlns:a16="http://schemas.microsoft.com/office/drawing/2014/main" id="{67952659-9492-D19E-E280-F6B187632C78}"/>
              </a:ext>
            </a:extLst>
          </p:cNvPr>
          <p:cNvSpPr txBox="1"/>
          <p:nvPr/>
        </p:nvSpPr>
        <p:spPr>
          <a:xfrm>
            <a:off x="637342" y="876870"/>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Fase 1</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Q1 - Q2 2025</a:t>
            </a:r>
          </a:p>
        </p:txBody>
      </p:sp>
      <p:sp>
        <p:nvSpPr>
          <p:cNvPr id="39" name="TextBox 13">
            <a:extLst>
              <a:ext uri="{FF2B5EF4-FFF2-40B4-BE49-F238E27FC236}">
                <a16:creationId xmlns:a16="http://schemas.microsoft.com/office/drawing/2014/main" id="{3E11984B-C084-E766-D2CE-846425D5FF77}"/>
              </a:ext>
            </a:extLst>
          </p:cNvPr>
          <p:cNvSpPr txBox="1"/>
          <p:nvPr/>
        </p:nvSpPr>
        <p:spPr>
          <a:xfrm>
            <a:off x="6043820" y="873996"/>
            <a:ext cx="2700000" cy="506536"/>
          </a:xfrm>
          <a:prstGeom prst="rect">
            <a:avLst/>
          </a:prstGeom>
          <a:noFill/>
          <a:ln>
            <a:solidFill>
              <a:schemeClr val="tx1">
                <a:lumMod val="50000"/>
                <a:lumOff val="50000"/>
              </a:schemeClr>
            </a:solidFill>
          </a:ln>
        </p:spPr>
        <p:txBody>
          <a:bodyPr wrap="square">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panose="020B0604030504040204" pitchFamily="34" charset="0"/>
                <a:ea typeface="Verdana" panose="020B0604030504040204" pitchFamily="34" charset="0"/>
                <a:cs typeface="Arial"/>
              </a:rPr>
              <a:t>Fase 3</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panose="020B0604030504040204" pitchFamily="34" charset="0"/>
                <a:ea typeface="Verdana" panose="020B0604030504040204" pitchFamily="34" charset="0"/>
                <a:cs typeface="Arial"/>
              </a:rPr>
              <a:t>Q1 – Q2 2026</a:t>
            </a:r>
          </a:p>
        </p:txBody>
      </p:sp>
      <p:sp>
        <p:nvSpPr>
          <p:cNvPr id="43" name="TextBox 13">
            <a:extLst>
              <a:ext uri="{FF2B5EF4-FFF2-40B4-BE49-F238E27FC236}">
                <a16:creationId xmlns:a16="http://schemas.microsoft.com/office/drawing/2014/main" id="{6C25BC07-320C-5D25-572A-D98012D45762}"/>
              </a:ext>
            </a:extLst>
          </p:cNvPr>
          <p:cNvSpPr txBox="1"/>
          <p:nvPr/>
        </p:nvSpPr>
        <p:spPr>
          <a:xfrm>
            <a:off x="3333873" y="876870"/>
            <a:ext cx="2700000" cy="506536"/>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Fase 2</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100" b="1" i="0" u="none" strike="noStrike" kern="1200" cap="none" spc="0" normalizeH="0" baseline="0" noProof="0">
                <a:ln>
                  <a:noFill/>
                </a:ln>
                <a:solidFill>
                  <a:srgbClr val="E7E6E6">
                    <a:lumMod val="50000"/>
                  </a:srgbClr>
                </a:solidFill>
                <a:effectLst/>
                <a:uLnTx/>
                <a:uFillTx/>
                <a:latin typeface="Verdana"/>
                <a:ea typeface="Verdana"/>
                <a:cs typeface="Arial"/>
              </a:rPr>
              <a:t>Q3 – Q4 2025</a:t>
            </a:r>
          </a:p>
        </p:txBody>
      </p:sp>
      <p:sp>
        <p:nvSpPr>
          <p:cNvPr id="23" name="Rectangle: Rounded Corners 4">
            <a:extLst>
              <a:ext uri="{FF2B5EF4-FFF2-40B4-BE49-F238E27FC236}">
                <a16:creationId xmlns:a16="http://schemas.microsoft.com/office/drawing/2014/main" id="{C2CE15A6-B62B-5749-316A-3B64BDC63A18}"/>
              </a:ext>
            </a:extLst>
          </p:cNvPr>
          <p:cNvSpPr>
            <a:spLocks/>
          </p:cNvSpPr>
          <p:nvPr/>
        </p:nvSpPr>
        <p:spPr>
          <a:xfrm>
            <a:off x="3351382" y="1884818"/>
            <a:ext cx="2545638" cy="137706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Opstellen projectplan implementatie</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implementatie benodigde werkafspraken*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Begeleiden projectplan implementatie</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pilot bericht #7 en #11 indien mogelijk</a:t>
            </a: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Projectplan</a:t>
            </a: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4" name="Rectangle: Rounded Corners 4">
            <a:extLst>
              <a:ext uri="{FF2B5EF4-FFF2-40B4-BE49-F238E27FC236}">
                <a16:creationId xmlns:a16="http://schemas.microsoft.com/office/drawing/2014/main" id="{3FA4097A-396D-F2F5-CE69-76BEBC227BFE}"/>
              </a:ext>
            </a:extLst>
          </p:cNvPr>
          <p:cNvSpPr>
            <a:spLocks/>
          </p:cNvSpPr>
          <p:nvPr/>
        </p:nvSpPr>
        <p:spPr>
          <a:xfrm>
            <a:off x="8769097" y="1884818"/>
            <a:ext cx="2545638" cy="137706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Opstellen projectplan implementatie</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implementatie* benodigde werkafspraken</a:t>
            </a: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Bericht #7 geïmplementeerd</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Bericht #11 geïmplementeerd</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Bericht #13 geïmplementeerd</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Bericht #14 geïmplementeerd</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7" name="Rectangle: Rounded Corners 28">
            <a:extLst>
              <a:ext uri="{FF2B5EF4-FFF2-40B4-BE49-F238E27FC236}">
                <a16:creationId xmlns:a16="http://schemas.microsoft.com/office/drawing/2014/main" id="{7EA053B6-2644-CBA8-F554-610D3AEB7122}"/>
              </a:ext>
            </a:extLst>
          </p:cNvPr>
          <p:cNvSpPr>
            <a:spLocks/>
          </p:cNvSpPr>
          <p:nvPr/>
        </p:nvSpPr>
        <p:spPr>
          <a:xfrm>
            <a:off x="641076" y="1884819"/>
            <a:ext cx="2556000" cy="1412098"/>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Aansluiting (deels) zoeken bij bestaande werkgroep(en) </a:t>
            </a:r>
            <a:r>
              <a:rPr kumimoji="0" lang="nl-NL" sz="8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MetSpoedBeschikbaar</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Analyseren huidige werkprocessen (gap-analyse) t.b.v. bericht #7 en #11</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Inventariseren en opstellen benodigde werkafspraken bericht #7 en #11</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Inventarisatie benodigde werkafspraken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a:p>
            <a:pPr marL="324000" marR="0" lvl="0" indent="-10800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31" name="Straight Arrow Connector 29">
            <a:extLst>
              <a:ext uri="{FF2B5EF4-FFF2-40B4-BE49-F238E27FC236}">
                <a16:creationId xmlns:a16="http://schemas.microsoft.com/office/drawing/2014/main" id="{36B8428A-E58F-5CD0-E4CF-EF36B9844C02}"/>
              </a:ext>
            </a:extLst>
          </p:cNvPr>
          <p:cNvCxnSpPr>
            <a:cxnSpLocks/>
          </p:cNvCxnSpPr>
          <p:nvPr/>
        </p:nvCxnSpPr>
        <p:spPr>
          <a:xfrm flipV="1">
            <a:off x="641075" y="1490469"/>
            <a:ext cx="10752814" cy="55946"/>
          </a:xfrm>
          <a:prstGeom prst="straightConnector1">
            <a:avLst/>
          </a:prstGeom>
          <a:ln w="38100">
            <a:solidFill>
              <a:schemeClr val="bg2">
                <a:lumMod val="75000"/>
              </a:schemeClr>
            </a:solidFill>
            <a:tailEnd type="triangle"/>
          </a:ln>
        </p:spPr>
        <p:style>
          <a:lnRef idx="3">
            <a:schemeClr val="dk1"/>
          </a:lnRef>
          <a:fillRef idx="0">
            <a:schemeClr val="dk1"/>
          </a:fillRef>
          <a:effectRef idx="2">
            <a:schemeClr val="dk1"/>
          </a:effectRef>
          <a:fontRef idx="minor">
            <a:schemeClr val="tx1"/>
          </a:fontRef>
        </p:style>
      </p:cxnSp>
      <p:sp>
        <p:nvSpPr>
          <p:cNvPr id="35" name="Oval 17">
            <a:extLst>
              <a:ext uri="{FF2B5EF4-FFF2-40B4-BE49-F238E27FC236}">
                <a16:creationId xmlns:a16="http://schemas.microsoft.com/office/drawing/2014/main" id="{C1D9CE12-4B22-0FCC-53F2-557C2A9B4086}"/>
              </a:ext>
            </a:extLst>
          </p:cNvPr>
          <p:cNvSpPr>
            <a:spLocks/>
          </p:cNvSpPr>
          <p:nvPr/>
        </p:nvSpPr>
        <p:spPr>
          <a:xfrm>
            <a:off x="1673986" y="1337972"/>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38" name="Oval 18">
            <a:extLst>
              <a:ext uri="{FF2B5EF4-FFF2-40B4-BE49-F238E27FC236}">
                <a16:creationId xmlns:a16="http://schemas.microsoft.com/office/drawing/2014/main" id="{EF9CD2A3-AF46-87C8-2D86-CB4B69866131}"/>
              </a:ext>
            </a:extLst>
          </p:cNvPr>
          <p:cNvSpPr>
            <a:spLocks/>
          </p:cNvSpPr>
          <p:nvPr/>
        </p:nvSpPr>
        <p:spPr>
          <a:xfrm>
            <a:off x="7128403" y="1356957"/>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40" name="Rectangle: Rounded Corners 28">
            <a:extLst>
              <a:ext uri="{FF2B5EF4-FFF2-40B4-BE49-F238E27FC236}">
                <a16:creationId xmlns:a16="http://schemas.microsoft.com/office/drawing/2014/main" id="{10F20DEE-2443-A9F0-7E27-A32BE021DFF6}"/>
              </a:ext>
            </a:extLst>
          </p:cNvPr>
          <p:cNvSpPr>
            <a:spLocks/>
          </p:cNvSpPr>
          <p:nvPr/>
        </p:nvSpPr>
        <p:spPr>
          <a:xfrm>
            <a:off x="680907" y="4965734"/>
            <a:ext cx="2556000" cy="140400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Verdiepende werksessies met twee leveranciers, met deelname </a:t>
            </a:r>
            <a:r>
              <a:rPr kumimoji="0" lang="nl-NL" sz="8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triagisten</a:t>
            </a: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huisartsen en inwoners, voor r</a:t>
            </a: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egionale gebruik (digitale) zelftriage voor contact met HAP</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Leverancierskeuze </a:t>
            </a:r>
          </a:p>
          <a:p>
            <a:pPr marL="324000" marR="0" lvl="0" indent="-10800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1" name="Rectangle: Rounded Corners 4">
            <a:extLst>
              <a:ext uri="{FF2B5EF4-FFF2-40B4-BE49-F238E27FC236}">
                <a16:creationId xmlns:a16="http://schemas.microsoft.com/office/drawing/2014/main" id="{022BB9C6-702D-543E-3C9D-ADC4C8C7A2CB}"/>
              </a:ext>
            </a:extLst>
          </p:cNvPr>
          <p:cNvSpPr>
            <a:spLocks/>
          </p:cNvSpPr>
          <p:nvPr/>
        </p:nvSpPr>
        <p:spPr>
          <a:xfrm>
            <a:off x="3351382" y="3541351"/>
            <a:ext cx="2545638" cy="1192794"/>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Opstellen </a:t>
            </a:r>
            <a:r>
              <a:rPr kumimoji="0" lang="nl-NL" sz="8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PvE</a:t>
            </a: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oplossingen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Inventarisatie oplossingen en mogelijke leveranciers</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Keuze van leverancier en oplossing</a:t>
            </a: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PvE</a:t>
            </a: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inzake oplossingen digitale overdracht en verwijzing</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Leverancierskeuze</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2" name="Oval 13">
            <a:extLst>
              <a:ext uri="{FF2B5EF4-FFF2-40B4-BE49-F238E27FC236}">
                <a16:creationId xmlns:a16="http://schemas.microsoft.com/office/drawing/2014/main" id="{99967F1D-C634-4EB1-258F-6210510CF9C0}"/>
              </a:ext>
            </a:extLst>
          </p:cNvPr>
          <p:cNvSpPr>
            <a:spLocks/>
          </p:cNvSpPr>
          <p:nvPr/>
        </p:nvSpPr>
        <p:spPr>
          <a:xfrm>
            <a:off x="4424149" y="1322135"/>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48" name="Rectangle: Rounded Corners 4">
            <a:extLst>
              <a:ext uri="{FF2B5EF4-FFF2-40B4-BE49-F238E27FC236}">
                <a16:creationId xmlns:a16="http://schemas.microsoft.com/office/drawing/2014/main" id="{8D1EE6CF-1442-576D-023C-6C30904B6007}"/>
              </a:ext>
            </a:extLst>
          </p:cNvPr>
          <p:cNvSpPr>
            <a:spLocks/>
          </p:cNvSpPr>
          <p:nvPr/>
        </p:nvSpPr>
        <p:spPr>
          <a:xfrm>
            <a:off x="6055059" y="1884818"/>
            <a:ext cx="2545638" cy="137706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Aansluiting (deels) zoeken bij bestaande werkgroep(en) </a:t>
            </a:r>
            <a:r>
              <a:rPr kumimoji="0" lang="nl-NL" sz="8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MetSpoedBeschikbaar</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Analyseren huidige werkprocessen (gap-analyse) t.b.v. bericht #13 en #14</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Inventariseren en opstellen benodigde werkafspraken bericht #13 en #14</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Benodigde werkafspraken</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9" name="Rectangle: Rounded Corners 4">
            <a:extLst>
              <a:ext uri="{FF2B5EF4-FFF2-40B4-BE49-F238E27FC236}">
                <a16:creationId xmlns:a16="http://schemas.microsoft.com/office/drawing/2014/main" id="{7490F51D-EE19-4E5F-2E35-00229D0D8C1A}"/>
              </a:ext>
            </a:extLst>
          </p:cNvPr>
          <p:cNvSpPr>
            <a:spLocks/>
          </p:cNvSpPr>
          <p:nvPr/>
        </p:nvSpPr>
        <p:spPr>
          <a:xfrm>
            <a:off x="8727685" y="3584882"/>
            <a:ext cx="2545638" cy="114926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Afronden pilot</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Coördinatie technische implementatie en verdere opschaling</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Realisatie digitale overdracht en verwijzing</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0" name="Oval 13">
            <a:extLst>
              <a:ext uri="{FF2B5EF4-FFF2-40B4-BE49-F238E27FC236}">
                <a16:creationId xmlns:a16="http://schemas.microsoft.com/office/drawing/2014/main" id="{E744467C-BD17-BAB8-CEC0-E385BDC33B9E}"/>
              </a:ext>
            </a:extLst>
          </p:cNvPr>
          <p:cNvSpPr>
            <a:spLocks/>
          </p:cNvSpPr>
          <p:nvPr/>
        </p:nvSpPr>
        <p:spPr>
          <a:xfrm>
            <a:off x="9871940" y="1322135"/>
            <a:ext cx="463654" cy="428056"/>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53" name="Tekstvak 52">
            <a:extLst>
              <a:ext uri="{FF2B5EF4-FFF2-40B4-BE49-F238E27FC236}">
                <a16:creationId xmlns:a16="http://schemas.microsoft.com/office/drawing/2014/main" id="{575E1D14-0506-7CB9-8C2C-7ABC690AB70E}"/>
              </a:ext>
            </a:extLst>
          </p:cNvPr>
          <p:cNvSpPr txBox="1">
            <a:spLocks/>
          </p:cNvSpPr>
          <p:nvPr/>
        </p:nvSpPr>
        <p:spPr>
          <a:xfrm>
            <a:off x="3302245" y="1718662"/>
            <a:ext cx="2545638" cy="2009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sz="900" b="1" i="0" u="none" strike="noStrike" kern="1200" cap="none" spc="0" normalizeH="0" baseline="0" noProof="0">
                <a:ln>
                  <a:noFill/>
                </a:ln>
                <a:solidFill>
                  <a:srgbClr val="000000"/>
                </a:solidFill>
                <a:effectLst/>
                <a:uLnTx/>
                <a:uFillTx/>
                <a:latin typeface="Verdana"/>
                <a:ea typeface="Verdana"/>
                <a:cs typeface="Arial"/>
              </a:rPr>
              <a:t>…</a:t>
            </a:r>
          </a:p>
        </p:txBody>
      </p:sp>
      <p:sp>
        <p:nvSpPr>
          <p:cNvPr id="55" name="Rectangle: Rounded Corners 28">
            <a:extLst>
              <a:ext uri="{FF2B5EF4-FFF2-40B4-BE49-F238E27FC236}">
                <a16:creationId xmlns:a16="http://schemas.microsoft.com/office/drawing/2014/main" id="{43CE7DCB-AB46-A474-D3B7-03962932EBAD}"/>
              </a:ext>
            </a:extLst>
          </p:cNvPr>
          <p:cNvSpPr>
            <a:spLocks/>
          </p:cNvSpPr>
          <p:nvPr/>
        </p:nvSpPr>
        <p:spPr>
          <a:xfrm>
            <a:off x="641074" y="3339985"/>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Uitwisseling acute VVT / GGZ</a:t>
            </a:r>
            <a:r>
              <a:rPr kumimoji="0" lang="nl-NL" sz="900" b="1" i="0" u="none" strike="noStrike" kern="1200" cap="none" spc="0" normalizeH="0" baseline="30000" noProof="0">
                <a:ln>
                  <a:noFill/>
                </a:ln>
                <a:solidFill>
                  <a:prstClr val="white"/>
                </a:solidFill>
                <a:effectLst/>
                <a:uLnTx/>
                <a:uFillTx/>
                <a:latin typeface="Verdana" panose="020B0604030504040204" pitchFamily="34" charset="0"/>
                <a:ea typeface="Verdana" panose="020B0604030504040204" pitchFamily="34" charset="0"/>
                <a:cs typeface="+mn-cs"/>
              </a:rPr>
              <a:t>2</a:t>
            </a:r>
            <a:endParaRPr kumimoji="0" lang="nl-NL"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6" name="Rectangle: Rounded Corners 28">
            <a:extLst>
              <a:ext uri="{FF2B5EF4-FFF2-40B4-BE49-F238E27FC236}">
                <a16:creationId xmlns:a16="http://schemas.microsoft.com/office/drawing/2014/main" id="{0DC5110A-7454-FE80-CFF5-5748DB2CCC4A}"/>
              </a:ext>
            </a:extLst>
          </p:cNvPr>
          <p:cNvSpPr>
            <a:spLocks/>
          </p:cNvSpPr>
          <p:nvPr/>
        </p:nvSpPr>
        <p:spPr>
          <a:xfrm>
            <a:off x="641076" y="3574083"/>
            <a:ext cx="2556000" cy="1143075"/>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Inrichten expertgroep uitwisselingen acute VVT en GGZ</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Analyseren huidige werkprocessen (gap-analyse) uitwisseling VVT/GGZ</a:t>
            </a: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Expertgroep</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Gap-analyse</a:t>
            </a:r>
          </a:p>
        </p:txBody>
      </p:sp>
      <p:sp>
        <p:nvSpPr>
          <p:cNvPr id="58" name="Rectangle: Rounded Corners 4">
            <a:extLst>
              <a:ext uri="{FF2B5EF4-FFF2-40B4-BE49-F238E27FC236}">
                <a16:creationId xmlns:a16="http://schemas.microsoft.com/office/drawing/2014/main" id="{ED0D8D75-C5A9-0654-E08F-D86BC27BBDAD}"/>
              </a:ext>
            </a:extLst>
          </p:cNvPr>
          <p:cNvSpPr>
            <a:spLocks/>
          </p:cNvSpPr>
          <p:nvPr/>
        </p:nvSpPr>
        <p:spPr>
          <a:xfrm>
            <a:off x="3347650" y="4999400"/>
            <a:ext cx="2545638" cy="140400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Versterking van regionale monodisciplinaire triage met focus op huisartsenspoedzorg en </a:t>
            </a:r>
            <a:r>
              <a:rPr kumimoji="0" lang="nl-NL" sz="80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afschalingsmogelijkheden</a:t>
            </a:r>
            <a:r>
              <a:rPr kumimoji="0" lang="nl-NL" sz="8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voor centralisten, inhoudelijk uitgewerkt in het TP van </a:t>
            </a:r>
            <a:r>
              <a:rPr kumimoji="0" lang="nl-NL" sz="80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Zorgcoordinatie</a:t>
            </a:r>
            <a:r>
              <a:rPr kumimoji="0" lang="nl-NL" sz="8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Midden-Nederland en van invloed op de implementatie.</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Benodigde werkafspraken (monodisciplinair)</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i</a:t>
            </a:r>
            <a:r>
              <a:rPr kumimoji="0" lang="nl-NL" sz="8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mplementatie</a:t>
            </a: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pilot bij selecte groep HAP’s in regio</a:t>
            </a: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9" name="Rectangle: Rounded Corners 4">
            <a:extLst>
              <a:ext uri="{FF2B5EF4-FFF2-40B4-BE49-F238E27FC236}">
                <a16:creationId xmlns:a16="http://schemas.microsoft.com/office/drawing/2014/main" id="{EC324991-4C6E-85E4-E42B-A42AAEC4DF41}"/>
              </a:ext>
            </a:extLst>
          </p:cNvPr>
          <p:cNvSpPr>
            <a:spLocks/>
          </p:cNvSpPr>
          <p:nvPr/>
        </p:nvSpPr>
        <p:spPr>
          <a:xfrm>
            <a:off x="6046325" y="4999400"/>
            <a:ext cx="2545638" cy="144707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a:ea typeface="Verdana"/>
                <a:cs typeface="+mn-cs"/>
              </a:rPr>
              <a:t>Afronden pilot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a:ea typeface="Verdana"/>
                <a:cs typeface="+mn-cs"/>
              </a:rPr>
              <a:t>Verdere opschaling en scholing</a:t>
            </a:r>
            <a:endParaRPr kumimoji="0" lang="nl-NL" sz="8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Verdere implementatie overige </a:t>
            </a:r>
            <a:r>
              <a:rPr kumimoji="0" lang="nl-NL" sz="8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HAP’s</a:t>
            </a: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2" name="Rectangle: Rounded Corners 4">
            <a:extLst>
              <a:ext uri="{FF2B5EF4-FFF2-40B4-BE49-F238E27FC236}">
                <a16:creationId xmlns:a16="http://schemas.microsoft.com/office/drawing/2014/main" id="{CAE3B5C6-C56A-9A58-4B84-BA5EA29757D9}"/>
              </a:ext>
            </a:extLst>
          </p:cNvPr>
          <p:cNvSpPr>
            <a:spLocks/>
          </p:cNvSpPr>
          <p:nvPr/>
        </p:nvSpPr>
        <p:spPr>
          <a:xfrm>
            <a:off x="6050057" y="3575956"/>
            <a:ext cx="2545638" cy="114120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Opstellen van een technisch project- en implementatieplan i.s.m. de leverancier.</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Start implementatie bij pilotgroep</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a:t>
            </a:r>
            <a:r>
              <a:rPr kumimoji="0" lang="nl-NL" sz="8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roject</a:t>
            </a: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en implementatieplan</a:t>
            </a:r>
          </a:p>
        </p:txBody>
      </p:sp>
      <p:sp>
        <p:nvSpPr>
          <p:cNvPr id="63" name="Rectangle: Rounded Corners 4">
            <a:extLst>
              <a:ext uri="{FF2B5EF4-FFF2-40B4-BE49-F238E27FC236}">
                <a16:creationId xmlns:a16="http://schemas.microsoft.com/office/drawing/2014/main" id="{0DEBB35F-AA7B-53B1-8D1E-00E87DCAC62D}"/>
              </a:ext>
            </a:extLst>
          </p:cNvPr>
          <p:cNvSpPr>
            <a:spLocks/>
          </p:cNvSpPr>
          <p:nvPr/>
        </p:nvSpPr>
        <p:spPr>
          <a:xfrm>
            <a:off x="8695528" y="4999400"/>
            <a:ext cx="2545638" cy="140400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0" tIns="36000" rIns="36000" bIns="36000"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0" i="0" u="none" strike="noStrike" kern="1200" cap="none" spc="0" normalizeH="0" baseline="0" noProof="0">
                <a:ln>
                  <a:noFill/>
                </a:ln>
                <a:solidFill>
                  <a:prstClr val="black"/>
                </a:solidFill>
                <a:effectLst/>
                <a:uLnTx/>
                <a:uFillTx/>
                <a:latin typeface="Verdana"/>
                <a:ea typeface="Verdana"/>
                <a:cs typeface="+mn-cs"/>
              </a:rPr>
              <a:t>Multidisciplinaire voorziening om niet- eenduidige vragen te beoordelen, voor de hele ROAZ-regio. Dit wordt inhoudelijk uitgewerkt in het TP Zorgcoördinatie Midden-Nederland en zal van invloed zijn op de implementatie.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21600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Benodigde werkafspraken (multidisciplinair)</a:t>
            </a: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24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pic>
        <p:nvPicPr>
          <p:cNvPr id="65" name="Graphic 64">
            <a:extLst>
              <a:ext uri="{FF2B5EF4-FFF2-40B4-BE49-F238E27FC236}">
                <a16:creationId xmlns:a16="http://schemas.microsoft.com/office/drawing/2014/main" id="{11F31913-32DA-6DD1-CF6E-17079BBF3706}"/>
              </a:ext>
            </a:extLst>
          </p:cNvPr>
          <p:cNvPicPr>
            <a:picLocks noChangeAspect="1"/>
          </p:cNvPicPr>
          <p:nvPr>
            <p:custDataLst>
              <p:tags r:id="rId1"/>
            </p:custDataLst>
          </p:nvPr>
        </p:nvPicPr>
        <p:blipFill>
          <a:blip r:embed="rId16">
            <a:extLst>
              <a:ext uri="{96DAC541-7B7A-43D3-8B79-37D633B846F1}">
                <asvg:svgBlip xmlns:asvg="http://schemas.microsoft.com/office/drawing/2016/SVG/main" r:embed="rId17"/>
              </a:ext>
            </a:extLst>
          </a:blip>
          <a:stretch>
            <a:fillRect/>
          </a:stretch>
        </p:blipFill>
        <p:spPr>
          <a:xfrm>
            <a:off x="3333872" y="2904709"/>
            <a:ext cx="288000" cy="288000"/>
          </a:xfrm>
          <a:prstGeom prst="rect">
            <a:avLst/>
          </a:prstGeom>
        </p:spPr>
      </p:pic>
      <p:pic>
        <p:nvPicPr>
          <p:cNvPr id="66" name="Graphic 65">
            <a:extLst>
              <a:ext uri="{FF2B5EF4-FFF2-40B4-BE49-F238E27FC236}">
                <a16:creationId xmlns:a16="http://schemas.microsoft.com/office/drawing/2014/main" id="{DE01D82A-01AC-E5B0-BC8B-06D849052877}"/>
              </a:ext>
            </a:extLst>
          </p:cNvPr>
          <p:cNvPicPr>
            <a:picLocks/>
          </p:cNvPicPr>
          <p:nvPr>
            <p:custDataLst>
              <p:tags r:id="rId2"/>
            </p:custDataLst>
          </p:nvPr>
        </p:nvPicPr>
        <p:blipFill>
          <a:blip r:embed="rId16">
            <a:extLst>
              <a:ext uri="{96DAC541-7B7A-43D3-8B79-37D633B846F1}">
                <asvg:svgBlip xmlns:asvg="http://schemas.microsoft.com/office/drawing/2016/SVG/main" r:embed="rId17"/>
              </a:ext>
            </a:extLst>
          </a:blip>
          <a:stretch>
            <a:fillRect/>
          </a:stretch>
        </p:blipFill>
        <p:spPr>
          <a:xfrm>
            <a:off x="6057823" y="2904709"/>
            <a:ext cx="288000" cy="288000"/>
          </a:xfrm>
          <a:prstGeom prst="rect">
            <a:avLst/>
          </a:prstGeom>
        </p:spPr>
      </p:pic>
      <p:pic>
        <p:nvPicPr>
          <p:cNvPr id="67" name="Graphic 66">
            <a:extLst>
              <a:ext uri="{FF2B5EF4-FFF2-40B4-BE49-F238E27FC236}">
                <a16:creationId xmlns:a16="http://schemas.microsoft.com/office/drawing/2014/main" id="{E73A2C61-96F8-E7EC-8833-78D52172FABD}"/>
              </a:ext>
            </a:extLst>
          </p:cNvPr>
          <p:cNvPicPr>
            <a:picLocks noChangeAspect="1"/>
          </p:cNvPicPr>
          <p:nvPr>
            <p:custDataLst>
              <p:tags r:id="rId3"/>
            </p:custDataLst>
          </p:nvPr>
        </p:nvPicPr>
        <p:blipFill>
          <a:blip r:embed="rId16">
            <a:extLst>
              <a:ext uri="{96DAC541-7B7A-43D3-8B79-37D633B846F1}">
                <asvg:svgBlip xmlns:asvg="http://schemas.microsoft.com/office/drawing/2016/SVG/main" r:embed="rId17"/>
              </a:ext>
            </a:extLst>
          </a:blip>
          <a:stretch>
            <a:fillRect/>
          </a:stretch>
        </p:blipFill>
        <p:spPr>
          <a:xfrm>
            <a:off x="8695529" y="2904709"/>
            <a:ext cx="288000" cy="288000"/>
          </a:xfrm>
          <a:prstGeom prst="rect">
            <a:avLst/>
          </a:prstGeom>
        </p:spPr>
      </p:pic>
      <p:pic>
        <p:nvPicPr>
          <p:cNvPr id="68" name="Graphic 67">
            <a:extLst>
              <a:ext uri="{FF2B5EF4-FFF2-40B4-BE49-F238E27FC236}">
                <a16:creationId xmlns:a16="http://schemas.microsoft.com/office/drawing/2014/main" id="{A97E14AB-E528-EF0C-601B-3361E12269F9}"/>
              </a:ext>
            </a:extLst>
          </p:cNvPr>
          <p:cNvPicPr>
            <a:picLocks noChangeAspect="1"/>
          </p:cNvPicPr>
          <p:nvPr>
            <p:custDataLst>
              <p:tags r:id="rId4"/>
            </p:custDataLst>
          </p:nvPr>
        </p:nvPicPr>
        <p:blipFill>
          <a:blip r:embed="rId16">
            <a:extLst>
              <a:ext uri="{96DAC541-7B7A-43D3-8B79-37D633B846F1}">
                <asvg:svgBlip xmlns:asvg="http://schemas.microsoft.com/office/drawing/2016/SVG/main" r:embed="rId17"/>
              </a:ext>
            </a:extLst>
          </a:blip>
          <a:stretch>
            <a:fillRect/>
          </a:stretch>
        </p:blipFill>
        <p:spPr>
          <a:xfrm>
            <a:off x="3333872" y="4392993"/>
            <a:ext cx="288000" cy="288000"/>
          </a:xfrm>
          <a:prstGeom prst="rect">
            <a:avLst/>
          </a:prstGeom>
        </p:spPr>
      </p:pic>
      <p:pic>
        <p:nvPicPr>
          <p:cNvPr id="69" name="Graphic 68">
            <a:extLst>
              <a:ext uri="{FF2B5EF4-FFF2-40B4-BE49-F238E27FC236}">
                <a16:creationId xmlns:a16="http://schemas.microsoft.com/office/drawing/2014/main" id="{A59C1AD1-B24E-6EFE-F1EC-048E62F34DC8}"/>
              </a:ext>
            </a:extLst>
          </p:cNvPr>
          <p:cNvPicPr>
            <a:picLocks/>
          </p:cNvPicPr>
          <p:nvPr>
            <p:custDataLst>
              <p:tags r:id="rId5"/>
            </p:custDataLst>
          </p:nvPr>
        </p:nvPicPr>
        <p:blipFill>
          <a:blip r:embed="rId16">
            <a:extLst>
              <a:ext uri="{96DAC541-7B7A-43D3-8B79-37D633B846F1}">
                <asvg:svgBlip xmlns:asvg="http://schemas.microsoft.com/office/drawing/2016/SVG/main" r:embed="rId17"/>
              </a:ext>
            </a:extLst>
          </a:blip>
          <a:stretch>
            <a:fillRect/>
          </a:stretch>
        </p:blipFill>
        <p:spPr>
          <a:xfrm>
            <a:off x="6057823" y="4392993"/>
            <a:ext cx="288000" cy="288000"/>
          </a:xfrm>
          <a:prstGeom prst="rect">
            <a:avLst/>
          </a:prstGeom>
        </p:spPr>
      </p:pic>
      <p:pic>
        <p:nvPicPr>
          <p:cNvPr id="70" name="Graphic 69">
            <a:extLst>
              <a:ext uri="{FF2B5EF4-FFF2-40B4-BE49-F238E27FC236}">
                <a16:creationId xmlns:a16="http://schemas.microsoft.com/office/drawing/2014/main" id="{6D04A3D0-F19A-89DA-F33A-E9203A1D7755}"/>
              </a:ext>
            </a:extLst>
          </p:cNvPr>
          <p:cNvPicPr>
            <a:picLocks noChangeAspect="1"/>
          </p:cNvPicPr>
          <p:nvPr>
            <p:custDataLst>
              <p:tags r:id="rId6"/>
            </p:custDataLst>
          </p:nvPr>
        </p:nvPicPr>
        <p:blipFill>
          <a:blip r:embed="rId16">
            <a:extLst>
              <a:ext uri="{96DAC541-7B7A-43D3-8B79-37D633B846F1}">
                <asvg:svgBlip xmlns:asvg="http://schemas.microsoft.com/office/drawing/2016/SVG/main" r:embed="rId17"/>
              </a:ext>
            </a:extLst>
          </a:blip>
          <a:stretch>
            <a:fillRect/>
          </a:stretch>
        </p:blipFill>
        <p:spPr>
          <a:xfrm>
            <a:off x="8695529" y="4392993"/>
            <a:ext cx="288000" cy="288000"/>
          </a:xfrm>
          <a:prstGeom prst="rect">
            <a:avLst/>
          </a:prstGeom>
        </p:spPr>
      </p:pic>
      <p:pic>
        <p:nvPicPr>
          <p:cNvPr id="71" name="Graphic 70">
            <a:extLst>
              <a:ext uri="{FF2B5EF4-FFF2-40B4-BE49-F238E27FC236}">
                <a16:creationId xmlns:a16="http://schemas.microsoft.com/office/drawing/2014/main" id="{D0ADFA69-8D1A-B438-4A10-BFB6BF6037E4}"/>
              </a:ext>
            </a:extLst>
          </p:cNvPr>
          <p:cNvPicPr>
            <a:picLocks noChangeAspect="1"/>
          </p:cNvPicPr>
          <p:nvPr>
            <p:custDataLst>
              <p:tags r:id="rId7"/>
            </p:custDataLst>
          </p:nvPr>
        </p:nvPicPr>
        <p:blipFill>
          <a:blip r:embed="rId16">
            <a:extLst>
              <a:ext uri="{96DAC541-7B7A-43D3-8B79-37D633B846F1}">
                <asvg:svgBlip xmlns:asvg="http://schemas.microsoft.com/office/drawing/2016/SVG/main" r:embed="rId17"/>
              </a:ext>
            </a:extLst>
          </a:blip>
          <a:stretch>
            <a:fillRect/>
          </a:stretch>
        </p:blipFill>
        <p:spPr>
          <a:xfrm>
            <a:off x="3333872" y="5983163"/>
            <a:ext cx="288000" cy="288000"/>
          </a:xfrm>
          <a:prstGeom prst="rect">
            <a:avLst/>
          </a:prstGeom>
        </p:spPr>
      </p:pic>
      <p:pic>
        <p:nvPicPr>
          <p:cNvPr id="72" name="Graphic 71">
            <a:extLst>
              <a:ext uri="{FF2B5EF4-FFF2-40B4-BE49-F238E27FC236}">
                <a16:creationId xmlns:a16="http://schemas.microsoft.com/office/drawing/2014/main" id="{14599293-9997-982D-A1D5-16A3430F3C24}"/>
              </a:ext>
            </a:extLst>
          </p:cNvPr>
          <p:cNvPicPr>
            <a:picLocks/>
          </p:cNvPicPr>
          <p:nvPr>
            <p:custDataLst>
              <p:tags r:id="rId8"/>
            </p:custDataLst>
          </p:nvPr>
        </p:nvPicPr>
        <p:blipFill>
          <a:blip r:embed="rId16">
            <a:extLst>
              <a:ext uri="{96DAC541-7B7A-43D3-8B79-37D633B846F1}">
                <asvg:svgBlip xmlns:asvg="http://schemas.microsoft.com/office/drawing/2016/SVG/main" r:embed="rId17"/>
              </a:ext>
            </a:extLst>
          </a:blip>
          <a:stretch>
            <a:fillRect/>
          </a:stretch>
        </p:blipFill>
        <p:spPr>
          <a:xfrm>
            <a:off x="6057823" y="5983163"/>
            <a:ext cx="288000" cy="288000"/>
          </a:xfrm>
          <a:prstGeom prst="rect">
            <a:avLst/>
          </a:prstGeom>
        </p:spPr>
      </p:pic>
      <p:pic>
        <p:nvPicPr>
          <p:cNvPr id="73" name="Graphic 72">
            <a:extLst>
              <a:ext uri="{FF2B5EF4-FFF2-40B4-BE49-F238E27FC236}">
                <a16:creationId xmlns:a16="http://schemas.microsoft.com/office/drawing/2014/main" id="{1FEDEDB9-5F0F-D896-B624-CBF4A2A0CE1E}"/>
              </a:ext>
            </a:extLst>
          </p:cNvPr>
          <p:cNvPicPr>
            <a:picLocks noChangeAspect="1"/>
          </p:cNvPicPr>
          <p:nvPr>
            <p:custDataLst>
              <p:tags r:id="rId9"/>
            </p:custDataLst>
          </p:nvPr>
        </p:nvPicPr>
        <p:blipFill>
          <a:blip r:embed="rId16">
            <a:extLst>
              <a:ext uri="{96DAC541-7B7A-43D3-8B79-37D633B846F1}">
                <asvg:svgBlip xmlns:asvg="http://schemas.microsoft.com/office/drawing/2016/SVG/main" r:embed="rId17"/>
              </a:ext>
            </a:extLst>
          </a:blip>
          <a:stretch>
            <a:fillRect/>
          </a:stretch>
        </p:blipFill>
        <p:spPr>
          <a:xfrm>
            <a:off x="8695529" y="5983163"/>
            <a:ext cx="288000" cy="288000"/>
          </a:xfrm>
          <a:prstGeom prst="rect">
            <a:avLst/>
          </a:prstGeom>
        </p:spPr>
      </p:pic>
      <p:pic>
        <p:nvPicPr>
          <p:cNvPr id="74" name="Graphic 73">
            <a:extLst>
              <a:ext uri="{FF2B5EF4-FFF2-40B4-BE49-F238E27FC236}">
                <a16:creationId xmlns:a16="http://schemas.microsoft.com/office/drawing/2014/main" id="{18A6EF97-E13E-1010-25EE-5D83D7EA9DA7}"/>
              </a:ext>
            </a:extLst>
          </p:cNvPr>
          <p:cNvPicPr>
            <a:picLocks/>
          </p:cNvPicPr>
          <p:nvPr>
            <p:custDataLst>
              <p:tags r:id="rId10"/>
            </p:custDataLst>
          </p:nvPr>
        </p:nvPicPr>
        <p:blipFill>
          <a:blip r:embed="rId16">
            <a:extLst>
              <a:ext uri="{96DAC541-7B7A-43D3-8B79-37D633B846F1}">
                <asvg:svgBlip xmlns:asvg="http://schemas.microsoft.com/office/drawing/2016/SVG/main" r:embed="rId17"/>
              </a:ext>
            </a:extLst>
          </a:blip>
          <a:stretch>
            <a:fillRect/>
          </a:stretch>
        </p:blipFill>
        <p:spPr>
          <a:xfrm>
            <a:off x="641579" y="2904709"/>
            <a:ext cx="288000" cy="288000"/>
          </a:xfrm>
          <a:prstGeom prst="rect">
            <a:avLst/>
          </a:prstGeom>
        </p:spPr>
      </p:pic>
      <p:pic>
        <p:nvPicPr>
          <p:cNvPr id="75" name="Graphic 74">
            <a:extLst>
              <a:ext uri="{FF2B5EF4-FFF2-40B4-BE49-F238E27FC236}">
                <a16:creationId xmlns:a16="http://schemas.microsoft.com/office/drawing/2014/main" id="{5FA1EEB3-0C60-E4E3-B7D3-C3C1B7DFDBCA}"/>
              </a:ext>
            </a:extLst>
          </p:cNvPr>
          <p:cNvPicPr>
            <a:picLocks/>
          </p:cNvPicPr>
          <p:nvPr>
            <p:custDataLst>
              <p:tags r:id="rId11"/>
            </p:custDataLst>
          </p:nvPr>
        </p:nvPicPr>
        <p:blipFill>
          <a:blip r:embed="rId16">
            <a:extLst>
              <a:ext uri="{96DAC541-7B7A-43D3-8B79-37D633B846F1}">
                <asvg:svgBlip xmlns:asvg="http://schemas.microsoft.com/office/drawing/2016/SVG/main" r:embed="rId17"/>
              </a:ext>
            </a:extLst>
          </a:blip>
          <a:stretch>
            <a:fillRect/>
          </a:stretch>
        </p:blipFill>
        <p:spPr>
          <a:xfrm>
            <a:off x="641579" y="4392993"/>
            <a:ext cx="288000" cy="288000"/>
          </a:xfrm>
          <a:prstGeom prst="rect">
            <a:avLst/>
          </a:prstGeom>
        </p:spPr>
      </p:pic>
      <p:pic>
        <p:nvPicPr>
          <p:cNvPr id="76" name="Graphic 75">
            <a:extLst>
              <a:ext uri="{FF2B5EF4-FFF2-40B4-BE49-F238E27FC236}">
                <a16:creationId xmlns:a16="http://schemas.microsoft.com/office/drawing/2014/main" id="{94EA2996-0622-2109-3C7B-D3E4836C7D32}"/>
              </a:ext>
            </a:extLst>
          </p:cNvPr>
          <p:cNvPicPr>
            <a:picLocks/>
          </p:cNvPicPr>
          <p:nvPr>
            <p:custDataLst>
              <p:tags r:id="rId12"/>
            </p:custDataLst>
          </p:nvPr>
        </p:nvPicPr>
        <p:blipFill>
          <a:blip r:embed="rId16">
            <a:extLst>
              <a:ext uri="{96DAC541-7B7A-43D3-8B79-37D633B846F1}">
                <asvg:svgBlip xmlns:asvg="http://schemas.microsoft.com/office/drawing/2016/SVG/main" r:embed="rId17"/>
              </a:ext>
            </a:extLst>
          </a:blip>
          <a:stretch>
            <a:fillRect/>
          </a:stretch>
        </p:blipFill>
        <p:spPr>
          <a:xfrm>
            <a:off x="641579" y="5983163"/>
            <a:ext cx="288000" cy="288000"/>
          </a:xfrm>
          <a:prstGeom prst="rect">
            <a:avLst/>
          </a:prstGeom>
        </p:spPr>
      </p:pic>
      <p:sp>
        <p:nvSpPr>
          <p:cNvPr id="57" name="Rectangle: Rounded Corners 28">
            <a:extLst>
              <a:ext uri="{FF2B5EF4-FFF2-40B4-BE49-F238E27FC236}">
                <a16:creationId xmlns:a16="http://schemas.microsoft.com/office/drawing/2014/main" id="{E1B5F51C-49B2-7B8E-634D-2CBB74EF5521}"/>
              </a:ext>
            </a:extLst>
          </p:cNvPr>
          <p:cNvSpPr>
            <a:spLocks/>
          </p:cNvSpPr>
          <p:nvPr/>
        </p:nvSpPr>
        <p:spPr>
          <a:xfrm>
            <a:off x="637342" y="4802726"/>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Digitale zelftriage</a:t>
            </a:r>
            <a:r>
              <a:rPr kumimoji="0" lang="nl-NL" sz="900" b="1" i="0" u="none" strike="noStrike" kern="1200" cap="none" spc="0" normalizeH="0" baseline="30000" noProof="0">
                <a:ln>
                  <a:noFill/>
                </a:ln>
                <a:solidFill>
                  <a:prstClr val="white"/>
                </a:solidFill>
                <a:effectLst/>
                <a:uLnTx/>
                <a:uFillTx/>
                <a:latin typeface="Verdana" panose="020B0604030504040204" pitchFamily="34" charset="0"/>
                <a:ea typeface="Verdana" panose="020B0604030504040204" pitchFamily="34" charset="0"/>
                <a:cs typeface="+mn-cs"/>
              </a:rPr>
              <a:t>3</a:t>
            </a:r>
            <a:endParaRPr kumimoji="0" lang="nl-NL"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4" name="Rectangle: Rounded Corners 28">
            <a:extLst>
              <a:ext uri="{FF2B5EF4-FFF2-40B4-BE49-F238E27FC236}">
                <a16:creationId xmlns:a16="http://schemas.microsoft.com/office/drawing/2014/main" id="{8105DAE2-B012-6378-E5DF-20BB8C8E6E2C}"/>
              </a:ext>
            </a:extLst>
          </p:cNvPr>
          <p:cNvSpPr>
            <a:spLocks/>
          </p:cNvSpPr>
          <p:nvPr/>
        </p:nvSpPr>
        <p:spPr>
          <a:xfrm>
            <a:off x="641074" y="1693971"/>
            <a:ext cx="10657737" cy="232870"/>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Berichtnummers richtlijn</a:t>
            </a:r>
            <a:r>
              <a:rPr kumimoji="0" lang="nl-NL" sz="900" b="1" i="0" u="none" strike="noStrike" kern="1200" cap="none" spc="0" normalizeH="0" baseline="30000" noProof="0">
                <a:ln>
                  <a:noFill/>
                </a:ln>
                <a:solidFill>
                  <a:prstClr val="white"/>
                </a:solidFill>
                <a:effectLst/>
                <a:uLnTx/>
                <a:uFillTx/>
                <a:latin typeface="Verdana" panose="020B0604030504040204" pitchFamily="34" charset="0"/>
                <a:ea typeface="Verdana" panose="020B0604030504040204" pitchFamily="34" charset="0"/>
                <a:cs typeface="+mn-cs"/>
              </a:rPr>
              <a:t>1</a:t>
            </a:r>
            <a:endParaRPr kumimoji="0" lang="nl-NL" sz="9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 name="TextBox 4">
            <a:extLst>
              <a:ext uri="{FF2B5EF4-FFF2-40B4-BE49-F238E27FC236}">
                <a16:creationId xmlns:a16="http://schemas.microsoft.com/office/drawing/2014/main" id="{66F7F08D-4DF5-B89A-77B4-646852EFF58F}"/>
              </a:ext>
            </a:extLst>
          </p:cNvPr>
          <p:cNvSpPr txBox="1"/>
          <p:nvPr/>
        </p:nvSpPr>
        <p:spPr>
          <a:xfrm>
            <a:off x="680907" y="6392167"/>
            <a:ext cx="9812146" cy="584775"/>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nl-NL" sz="800" b="0" i="0" u="none" strike="noStrike" kern="1200" cap="none" spc="0" normalizeH="0" baseline="0" noProof="0">
                <a:ln>
                  <a:noFill/>
                </a:ln>
                <a:solidFill>
                  <a:prstClr val="black"/>
                </a:solidFill>
                <a:effectLst/>
                <a:uLnTx/>
                <a:uFillTx/>
                <a:latin typeface="Calibri"/>
                <a:ea typeface="+mn-ea"/>
                <a:cs typeface="+mn-cs"/>
              </a:rPr>
              <a:t>Werkafspraken worden opgesteld ter ondersteuning van de technische implementatie van de berichtnummers vanuit </a:t>
            </a:r>
            <a:r>
              <a:rPr kumimoji="0" lang="nl-NL" sz="800" b="0" i="0" u="none" strike="noStrike" kern="1200" cap="none" spc="0" normalizeH="0" baseline="0" noProof="0" err="1">
                <a:ln>
                  <a:noFill/>
                </a:ln>
                <a:solidFill>
                  <a:prstClr val="black"/>
                </a:solidFill>
                <a:effectLst/>
                <a:uLnTx/>
                <a:uFillTx/>
                <a:latin typeface="Calibri"/>
                <a:ea typeface="+mn-ea"/>
                <a:cs typeface="+mn-cs"/>
              </a:rPr>
              <a:t>MetSpoedBeschikbaar</a:t>
            </a:r>
            <a:r>
              <a:rPr kumimoji="0" lang="nl-NL" sz="800" b="0" i="0" u="none" strike="noStrike" kern="1200" cap="none" spc="0" normalizeH="0" baseline="0" noProof="0">
                <a:ln>
                  <a:noFill/>
                </a:ln>
                <a:solidFill>
                  <a:prstClr val="black"/>
                </a:solidFill>
                <a:effectLst/>
                <a:uLnTx/>
                <a:uFillTx/>
                <a:latin typeface="Calibri"/>
                <a:ea typeface="+mn-ea"/>
                <a:cs typeface="+mn-cs"/>
              </a:rPr>
              <a:t>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nl-NL" sz="800" b="0" i="0" u="none" strike="noStrike" kern="1200" cap="none" spc="0" normalizeH="0" baseline="0" noProof="0" err="1">
                <a:ln>
                  <a:noFill/>
                </a:ln>
                <a:solidFill>
                  <a:prstClr val="black"/>
                </a:solidFill>
                <a:effectLst/>
                <a:uLnTx/>
                <a:uFillTx/>
                <a:latin typeface="Calibri"/>
                <a:ea typeface="+mn-ea"/>
                <a:cs typeface="+mn-cs"/>
              </a:rPr>
              <a:t>Nictiz</a:t>
            </a:r>
            <a:r>
              <a:rPr kumimoji="0" lang="nl-NL" sz="800" b="0" i="0" u="none" strike="noStrike" kern="1200" cap="none" spc="0" normalizeH="0" baseline="0" noProof="0">
                <a:ln>
                  <a:noFill/>
                </a:ln>
                <a:solidFill>
                  <a:prstClr val="black"/>
                </a:solidFill>
                <a:effectLst/>
                <a:uLnTx/>
                <a:uFillTx/>
                <a:latin typeface="Calibri"/>
                <a:ea typeface="+mn-ea"/>
                <a:cs typeface="+mn-cs"/>
              </a:rPr>
              <a:t> zal ook gaan starten met een verkenning rond de aansluiting van acute VVT en GGZ bij </a:t>
            </a:r>
            <a:r>
              <a:rPr kumimoji="0" lang="nl-NL" sz="800" b="0" i="0" u="none" strike="noStrike" kern="1200" cap="none" spc="0" normalizeH="0" baseline="0" noProof="0" err="1">
                <a:ln>
                  <a:noFill/>
                </a:ln>
                <a:solidFill>
                  <a:prstClr val="black"/>
                </a:solidFill>
                <a:effectLst/>
                <a:uLnTx/>
                <a:uFillTx/>
                <a:latin typeface="Calibri"/>
                <a:ea typeface="+mn-ea"/>
                <a:cs typeface="+mn-cs"/>
              </a:rPr>
              <a:t>MetSpoedBeschikbaar</a:t>
            </a:r>
            <a:r>
              <a:rPr kumimoji="0" lang="nl-NL" sz="800" b="0" i="0" u="none" strike="noStrike" kern="1200" cap="none" spc="0" normalizeH="0" baseline="0" noProof="0">
                <a:ln>
                  <a:noFill/>
                </a:ln>
                <a:solidFill>
                  <a:prstClr val="black"/>
                </a:solidFill>
                <a:effectLst/>
                <a:uLnTx/>
                <a:uFillTx/>
                <a:latin typeface="Calibri"/>
                <a:ea typeface="+mn-ea"/>
                <a:cs typeface="+mn-cs"/>
              </a:rPr>
              <a:t>/berichtnummers richtlijn. Dit wordt in de loop van 2025 opgeleverd.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nl-NL" sz="800" b="0" i="0" u="none" strike="noStrike" kern="1200" cap="none" spc="0" normalizeH="0" baseline="0" noProof="0">
                <a:ln>
                  <a:noFill/>
                </a:ln>
                <a:solidFill>
                  <a:prstClr val="black"/>
                </a:solidFill>
                <a:effectLst/>
                <a:uLnTx/>
                <a:uFillTx/>
                <a:latin typeface="Calibri"/>
                <a:ea typeface="+mn-ea"/>
                <a:cs typeface="+mn-cs"/>
              </a:rPr>
              <a:t>Projectopdracht wordt opgesteld als onderdeel van transformatieplan Zorgcoördinatie Midden-Nederland en er is daarom onderlinge afhankelijkheid met die planning.</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nl-NL" sz="8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D86F3FE7-BDBA-D7E0-D64F-2152D72BD95B}"/>
              </a:ext>
            </a:extLst>
          </p:cNvPr>
          <p:cNvSpPr txBox="1"/>
          <p:nvPr/>
        </p:nvSpPr>
        <p:spPr>
          <a:xfrm>
            <a:off x="6579591" y="50031"/>
            <a:ext cx="623184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a:ln>
                  <a:noFill/>
                </a:ln>
                <a:solidFill>
                  <a:prstClr val="black"/>
                </a:solidFill>
                <a:effectLst/>
                <a:uLnTx/>
                <a:uFillTx/>
                <a:latin typeface="Calibri"/>
                <a:ea typeface="+mn-ea"/>
                <a:cs typeface="+mn-cs"/>
              </a:rPr>
              <a:t>* </a:t>
            </a:r>
            <a:r>
              <a:rPr kumimoji="0" lang="nl-NL" sz="800" b="0" i="0" u="none" strike="noStrike" kern="1200" cap="none" spc="0" normalizeH="0" baseline="0" noProof="0">
                <a:ln>
                  <a:noFill/>
                </a:ln>
                <a:solidFill>
                  <a:prstClr val="black"/>
                </a:solidFill>
                <a:effectLst/>
                <a:uLnTx/>
                <a:uFillTx/>
                <a:latin typeface="Calibri"/>
                <a:ea typeface="Verdana" panose="020B0604030504040204" pitchFamily="34" charset="0"/>
                <a:cs typeface="+mn-cs"/>
              </a:rPr>
              <a:t>aansluitend bij en afhankelijk van planning en verdere ontwikkeling programma </a:t>
            </a:r>
            <a:r>
              <a:rPr kumimoji="0" lang="nl-NL" sz="800" b="0" i="0" u="none" strike="noStrike" kern="1200" cap="none" spc="0" normalizeH="0" baseline="0" noProof="0" err="1">
                <a:ln>
                  <a:noFill/>
                </a:ln>
                <a:solidFill>
                  <a:prstClr val="black"/>
                </a:solidFill>
                <a:effectLst/>
                <a:uLnTx/>
                <a:uFillTx/>
                <a:latin typeface="Calibri"/>
                <a:ea typeface="Verdana" panose="020B0604030504040204" pitchFamily="34" charset="0"/>
                <a:cs typeface="+mn-cs"/>
              </a:rPr>
              <a:t>MetSpoedBeschikbaar</a:t>
            </a:r>
            <a:endParaRPr kumimoji="0" lang="nl-NL" sz="800" b="0" i="0" u="none" strike="noStrike" kern="1200" cap="none" spc="0" normalizeH="0" baseline="0" noProof="0">
              <a:ln>
                <a:noFill/>
              </a:ln>
              <a:solidFill>
                <a:prstClr val="black"/>
              </a:solidFill>
              <a:effectLst/>
              <a:uLnTx/>
              <a:uFillTx/>
              <a:latin typeface="Calibri"/>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800" b="0" i="0" u="none" strike="noStrike" kern="1200" cap="none" spc="0" normalizeH="0" baseline="0" noProof="0">
              <a:ln>
                <a:noFill/>
              </a:ln>
              <a:solidFill>
                <a:prstClr val="black"/>
              </a:solidFill>
              <a:effectLst/>
              <a:uLnTx/>
              <a:uFillTx/>
              <a:latin typeface="Calibri"/>
              <a:ea typeface="+mn-ea"/>
              <a:cs typeface="+mn-cs"/>
            </a:endParaRPr>
          </a:p>
        </p:txBody>
      </p:sp>
      <p:pic>
        <p:nvPicPr>
          <p:cNvPr id="21" name="Graphic 20">
            <a:extLst>
              <a:ext uri="{FF2B5EF4-FFF2-40B4-BE49-F238E27FC236}">
                <a16:creationId xmlns:a16="http://schemas.microsoft.com/office/drawing/2014/main" id="{477E714B-D976-CAF7-EF2B-E349FE097D3E}"/>
              </a:ext>
            </a:extLst>
          </p:cNvPr>
          <p:cNvPicPr>
            <a:picLocks/>
          </p:cNvPicPr>
          <p:nvPr>
            <p:custDataLst>
              <p:tags r:id="rId13"/>
            </p:custDataLst>
          </p:nvPr>
        </p:nvPicPr>
        <p:blipFill>
          <a:blip r:embed="rId16">
            <a:extLst>
              <a:ext uri="{96DAC541-7B7A-43D3-8B79-37D633B846F1}">
                <asvg:svgBlip xmlns:asvg="http://schemas.microsoft.com/office/drawing/2016/SVG/main" r:embed="rId17"/>
              </a:ext>
            </a:extLst>
          </a:blip>
          <a:stretch>
            <a:fillRect/>
          </a:stretch>
        </p:blipFill>
        <p:spPr>
          <a:xfrm>
            <a:off x="9096255" y="10220"/>
            <a:ext cx="288000" cy="288000"/>
          </a:xfrm>
          <a:prstGeom prst="rect">
            <a:avLst/>
          </a:prstGeom>
        </p:spPr>
      </p:pic>
      <p:sp>
        <p:nvSpPr>
          <p:cNvPr id="22" name="Rectangle: Top Corners Rounded 38">
            <a:hlinkClick r:id="rId18" action="ppaction://hlinksldjump"/>
            <a:extLst>
              <a:ext uri="{FF2B5EF4-FFF2-40B4-BE49-F238E27FC236}">
                <a16:creationId xmlns:a16="http://schemas.microsoft.com/office/drawing/2014/main" id="{4046EC1C-AA26-0467-6B6E-609816DD479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25" name="Graphic 24" descr="Introductiepagina silhouet">
            <a:hlinkClick r:id="rId19" action="ppaction://hlinksldjump"/>
            <a:extLst>
              <a:ext uri="{FF2B5EF4-FFF2-40B4-BE49-F238E27FC236}">
                <a16:creationId xmlns:a16="http://schemas.microsoft.com/office/drawing/2014/main" id="{EF775B43-E026-0BA4-B352-E6D318547D6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5136" y="147223"/>
            <a:ext cx="144000" cy="144000"/>
          </a:xfrm>
          <a:prstGeom prst="rect">
            <a:avLst/>
          </a:prstGeom>
        </p:spPr>
      </p:pic>
      <p:sp>
        <p:nvSpPr>
          <p:cNvPr id="26" name="Rectangle: Top Corners Rounded 1">
            <a:hlinkClick r:id="rId22" action="ppaction://hlinksldjump"/>
            <a:extLst>
              <a:ext uri="{FF2B5EF4-FFF2-40B4-BE49-F238E27FC236}">
                <a16:creationId xmlns:a16="http://schemas.microsoft.com/office/drawing/2014/main" id="{10C16A20-D520-647B-5FF6-C78A804F5538}"/>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9" name="Rectangle: Top Corners Rounded 1">
            <a:hlinkClick r:id="rId23" action="ppaction://hlinksldjump"/>
            <a:extLst>
              <a:ext uri="{FF2B5EF4-FFF2-40B4-BE49-F238E27FC236}">
                <a16:creationId xmlns:a16="http://schemas.microsoft.com/office/drawing/2014/main" id="{57589A9F-8C60-A1C3-97F6-911F827B0389}"/>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2" name="Rectangle: Top Corners Rounded 1">
            <a:hlinkClick r:id="rId24" action="ppaction://hlinksldjump"/>
            <a:extLst>
              <a:ext uri="{FF2B5EF4-FFF2-40B4-BE49-F238E27FC236}">
                <a16:creationId xmlns:a16="http://schemas.microsoft.com/office/drawing/2014/main" id="{95961338-900A-CA2F-9E2A-EE719BA34E13}"/>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3" name="Rectangle: Top Corners Rounded 1">
            <a:hlinkClick r:id="rId25" action="ppaction://hlinksldjump"/>
            <a:extLst>
              <a:ext uri="{FF2B5EF4-FFF2-40B4-BE49-F238E27FC236}">
                <a16:creationId xmlns:a16="http://schemas.microsoft.com/office/drawing/2014/main" id="{F058BE74-4920-DF2A-5137-E2A0FB8B5378}"/>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4" name="Rectangle: Top Corners Rounded 1">
            <a:hlinkClick r:id="rId26" action="ppaction://hlinksldjump"/>
            <a:extLst>
              <a:ext uri="{FF2B5EF4-FFF2-40B4-BE49-F238E27FC236}">
                <a16:creationId xmlns:a16="http://schemas.microsoft.com/office/drawing/2014/main" id="{558DC7A1-C53D-1B60-D8C7-F73A2ADC3EBE}"/>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36" name="Rectangle: Top Corners Rounded 1">
            <a:hlinkClick r:id="rId27" action="ppaction://hlinksldjump"/>
            <a:extLst>
              <a:ext uri="{FF2B5EF4-FFF2-40B4-BE49-F238E27FC236}">
                <a16:creationId xmlns:a16="http://schemas.microsoft.com/office/drawing/2014/main" id="{87C98476-F58D-490E-5A9E-56C3E0C0F6BB}"/>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7" name="Rectangle: Top Corners Rounded 1">
            <a:hlinkClick r:id="rId28" action="ppaction://hlinksldjump"/>
            <a:extLst>
              <a:ext uri="{FF2B5EF4-FFF2-40B4-BE49-F238E27FC236}">
                <a16:creationId xmlns:a16="http://schemas.microsoft.com/office/drawing/2014/main" id="{70493C27-3116-1B16-7DD3-9DBDCD300B4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4" name="Rectangle: Top Corners Rounded 1">
            <a:hlinkClick r:id="rId29" action="ppaction://hlinksldjump"/>
            <a:extLst>
              <a:ext uri="{FF2B5EF4-FFF2-40B4-BE49-F238E27FC236}">
                <a16:creationId xmlns:a16="http://schemas.microsoft.com/office/drawing/2014/main" id="{FD314F8D-DDFD-67E3-5A3D-CD7E3008A435}"/>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5" name="Rectangle: Top Corners Rounded 1">
            <a:hlinkClick r:id="rId30" action="ppaction://hlinksldjump"/>
            <a:extLst>
              <a:ext uri="{FF2B5EF4-FFF2-40B4-BE49-F238E27FC236}">
                <a16:creationId xmlns:a16="http://schemas.microsoft.com/office/drawing/2014/main" id="{477EC2F3-8B9B-6DF4-6BCF-0C35F939AF99}"/>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6" name="Rectangle: Top Corners Rounded 1">
            <a:hlinkClick r:id="rId31" action="ppaction://hlinksldjump"/>
            <a:extLst>
              <a:ext uri="{FF2B5EF4-FFF2-40B4-BE49-F238E27FC236}">
                <a16:creationId xmlns:a16="http://schemas.microsoft.com/office/drawing/2014/main" id="{C9AB67EC-2292-0F31-78F2-8694407D6231}"/>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7" name="Rectangle: Top Corners Rounded 1">
            <a:hlinkClick r:id="rId32" action="ppaction://hlinksldjump"/>
            <a:extLst>
              <a:ext uri="{FF2B5EF4-FFF2-40B4-BE49-F238E27FC236}">
                <a16:creationId xmlns:a16="http://schemas.microsoft.com/office/drawing/2014/main" id="{C7B39054-FCE7-E5C9-FEEA-C147E6C0ECF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51" name="Title 17">
            <a:extLst>
              <a:ext uri="{FF2B5EF4-FFF2-40B4-BE49-F238E27FC236}">
                <a16:creationId xmlns:a16="http://schemas.microsoft.com/office/drawing/2014/main" id="{9BFEE081-0EBB-DD2D-C8B1-9C055C518F2E}"/>
              </a:ext>
            </a:extLst>
          </p:cNvPr>
          <p:cNvSpPr>
            <a:spLocks noGrp="1"/>
          </p:cNvSpPr>
          <p:nvPr>
            <p:ph type="title"/>
          </p:nvPr>
        </p:nvSpPr>
        <p:spPr>
          <a:xfrm>
            <a:off x="425302" y="186597"/>
            <a:ext cx="11359028" cy="1008000"/>
          </a:xfrm>
        </p:spPr>
        <p:txBody>
          <a:bodyPr>
            <a:normAutofit/>
          </a:bodyPr>
          <a:lstStyle/>
          <a:p>
            <a:r>
              <a:rPr lang="nl-NL" sz="2800">
                <a:latin typeface="Verdana Pro" panose="020B0604030504040204" pitchFamily="34" charset="0"/>
              </a:rPr>
              <a:t>Databeschikbaarheid in de acute zorg – Projectfasering </a:t>
            </a:r>
            <a:endParaRPr lang="en-GB" sz="2800">
              <a:latin typeface="Verdana Pro" panose="020B0604030504040204" pitchFamily="34" charset="0"/>
            </a:endParaRPr>
          </a:p>
        </p:txBody>
      </p:sp>
    </p:spTree>
    <p:extLst>
      <p:ext uri="{BB962C8B-B14F-4D97-AF65-F5344CB8AC3E}">
        <p14:creationId xmlns:p14="http://schemas.microsoft.com/office/powerpoint/2010/main" val="3054867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5E859E6-1463-F638-1A44-379D6BD57BC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35E859E6-1463-F638-1A44-379D6BD57BC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2BC7C09-DB67-0B07-49C8-09D1680B116C}"/>
              </a:ext>
            </a:extLst>
          </p:cNvPr>
          <p:cNvSpPr>
            <a:spLocks noGrp="1"/>
          </p:cNvSpPr>
          <p:nvPr>
            <p:ph type="title"/>
          </p:nvPr>
        </p:nvSpPr>
        <p:spPr/>
        <p:txBody>
          <a:bodyPr/>
          <a:lstStyle/>
          <a:p>
            <a:r>
              <a:rPr lang="en-GB"/>
              <a:t>Acute Zorg – Impact </a:t>
            </a:r>
            <a:br>
              <a:rPr lang="en-GB"/>
            </a:br>
            <a:endParaRPr lang="en-GB"/>
          </a:p>
        </p:txBody>
      </p:sp>
      <p:sp>
        <p:nvSpPr>
          <p:cNvPr id="12" name="Text Placeholder 11">
            <a:extLst>
              <a:ext uri="{FF2B5EF4-FFF2-40B4-BE49-F238E27FC236}">
                <a16:creationId xmlns:a16="http://schemas.microsoft.com/office/drawing/2014/main" id="{E8DBD6AD-8A94-CFD4-1070-21D8B134DBA0}"/>
              </a:ext>
            </a:extLst>
          </p:cNvPr>
          <p:cNvSpPr>
            <a:spLocks noGrp="1"/>
          </p:cNvSpPr>
          <p:nvPr>
            <p:ph type="body" sz="quarter" idx="10"/>
          </p:nvPr>
        </p:nvSpPr>
        <p:spPr>
          <a:xfrm>
            <a:off x="425302" y="969998"/>
            <a:ext cx="10856738" cy="504000"/>
          </a:xfrm>
        </p:spPr>
        <p:txBody>
          <a:bodyPr/>
          <a:lstStyle/>
          <a:p>
            <a:r>
              <a:rPr lang="nl-NL" sz="1200"/>
              <a:t>……</a:t>
            </a:r>
            <a:endParaRPr lang="en-GB" sz="1200"/>
          </a:p>
        </p:txBody>
      </p:sp>
      <p:sp>
        <p:nvSpPr>
          <p:cNvPr id="41" name="Text Placeholder 2">
            <a:extLst>
              <a:ext uri="{FF2B5EF4-FFF2-40B4-BE49-F238E27FC236}">
                <a16:creationId xmlns:a16="http://schemas.microsoft.com/office/drawing/2014/main" id="{5F90E444-965F-2D7C-63CB-BAC41B0DE694}"/>
              </a:ext>
            </a:extLst>
          </p:cNvPr>
          <p:cNvSpPr txBox="1">
            <a:spLocks/>
          </p:cNvSpPr>
          <p:nvPr/>
        </p:nvSpPr>
        <p:spPr>
          <a:xfrm>
            <a:off x="439871" y="1012954"/>
            <a:ext cx="11023623" cy="461380"/>
          </a:xfrm>
          <a:prstGeom prst="rect">
            <a:avLst/>
          </a:prstGeom>
        </p:spPr>
        <p:txBody>
          <a:bodyPr lIns="91440" tIns="45720" rIns="91440" bIns="45720" anchor="t">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05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nl-NL" sz="11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t>
            </a:r>
            <a:endParaRPr kumimoji="0" lang="nl-NL" sz="1100" b="0" i="0" u="none" strike="noStrike" kern="1200" cap="none" spc="0" normalizeH="0" baseline="0" noProof="0">
              <a:ln>
                <a:noFill/>
              </a:ln>
              <a:solidFill>
                <a:prstClr val="black"/>
              </a:solidFill>
              <a:effectLst/>
              <a:uLnTx/>
              <a:uFillTx/>
              <a:latin typeface="Verdana"/>
              <a:ea typeface="Verdana"/>
              <a:cs typeface="+mn-cs"/>
            </a:endParaRPr>
          </a:p>
        </p:txBody>
      </p:sp>
      <p:sp>
        <p:nvSpPr>
          <p:cNvPr id="5" name="Rechthoek: afgeronde hoeken 4">
            <a:extLst>
              <a:ext uri="{FF2B5EF4-FFF2-40B4-BE49-F238E27FC236}">
                <a16:creationId xmlns:a16="http://schemas.microsoft.com/office/drawing/2014/main" id="{2B2B2695-5496-6277-EC39-E1CDDEEF9B5B}"/>
              </a:ext>
            </a:extLst>
          </p:cNvPr>
          <p:cNvSpPr/>
          <p:nvPr/>
        </p:nvSpPr>
        <p:spPr>
          <a:xfrm>
            <a:off x="-1" y="-311498"/>
            <a:ext cx="122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Top Corners Rounded 38">
            <a:hlinkClick r:id="rId6" action="ppaction://hlinksldjump"/>
            <a:extLst>
              <a:ext uri="{FF2B5EF4-FFF2-40B4-BE49-F238E27FC236}">
                <a16:creationId xmlns:a16="http://schemas.microsoft.com/office/drawing/2014/main" id="{ECA6F32C-045E-6622-F318-A4F75257B43A}"/>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37" name="Graphic 36" descr="Introductiepagina silhouet">
            <a:hlinkClick r:id="rId7" action="ppaction://hlinksldjump"/>
            <a:extLst>
              <a:ext uri="{FF2B5EF4-FFF2-40B4-BE49-F238E27FC236}">
                <a16:creationId xmlns:a16="http://schemas.microsoft.com/office/drawing/2014/main" id="{8B597AA3-74DF-656A-5F0E-6EF2BEB8BE1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6" y="147223"/>
            <a:ext cx="144000" cy="144000"/>
          </a:xfrm>
          <a:prstGeom prst="rect">
            <a:avLst/>
          </a:prstGeom>
        </p:spPr>
      </p:pic>
      <p:sp>
        <p:nvSpPr>
          <p:cNvPr id="38" name="Rectangle: Top Corners Rounded 1">
            <a:hlinkClick r:id="rId10" action="ppaction://hlinksldjump"/>
            <a:extLst>
              <a:ext uri="{FF2B5EF4-FFF2-40B4-BE49-F238E27FC236}">
                <a16:creationId xmlns:a16="http://schemas.microsoft.com/office/drawing/2014/main" id="{286BD0E2-01EF-2AC6-F71B-F8A746DA12E3}"/>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39" name="Rectangle: Top Corners Rounded 1">
            <a:hlinkClick r:id="rId11" action="ppaction://hlinksldjump"/>
            <a:extLst>
              <a:ext uri="{FF2B5EF4-FFF2-40B4-BE49-F238E27FC236}">
                <a16:creationId xmlns:a16="http://schemas.microsoft.com/office/drawing/2014/main" id="{7F136A32-B226-B13F-95B3-3E59F9E5F92A}"/>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40" name="Rectangle: Top Corners Rounded 1">
            <a:hlinkClick r:id="rId12" action="ppaction://hlinksldjump"/>
            <a:extLst>
              <a:ext uri="{FF2B5EF4-FFF2-40B4-BE49-F238E27FC236}">
                <a16:creationId xmlns:a16="http://schemas.microsoft.com/office/drawing/2014/main" id="{72A06460-09B8-7A56-7180-9910DD3B5C0B}"/>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42" name="Rectangle: Top Corners Rounded 1">
            <a:hlinkClick r:id="rId13" action="ppaction://hlinksldjump"/>
            <a:extLst>
              <a:ext uri="{FF2B5EF4-FFF2-40B4-BE49-F238E27FC236}">
                <a16:creationId xmlns:a16="http://schemas.microsoft.com/office/drawing/2014/main" id="{B2702E24-7F3C-EC5C-2C82-801F2571ACA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Digitale (zorg) communicatie</a:t>
            </a:r>
          </a:p>
        </p:txBody>
      </p:sp>
      <p:sp>
        <p:nvSpPr>
          <p:cNvPr id="43" name="Rectangle: Top Corners Rounded 1">
            <a:hlinkClick r:id="rId14" action="ppaction://hlinksldjump"/>
            <a:extLst>
              <a:ext uri="{FF2B5EF4-FFF2-40B4-BE49-F238E27FC236}">
                <a16:creationId xmlns:a16="http://schemas.microsoft.com/office/drawing/2014/main" id="{EE716D74-16C1-BACC-F449-C3B57D3ACAD8}"/>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44" name="Rectangle: Top Corners Rounded 1">
            <a:hlinkClick r:id="rId15" action="ppaction://hlinksldjump"/>
            <a:extLst>
              <a:ext uri="{FF2B5EF4-FFF2-40B4-BE49-F238E27FC236}">
                <a16:creationId xmlns:a16="http://schemas.microsoft.com/office/drawing/2014/main" id="{E671A3BF-73CC-1135-54A0-650BDCEB9806}"/>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45" name="Rectangle: Top Corners Rounded 1">
            <a:hlinkClick r:id="rId16" action="ppaction://hlinksldjump"/>
            <a:extLst>
              <a:ext uri="{FF2B5EF4-FFF2-40B4-BE49-F238E27FC236}">
                <a16:creationId xmlns:a16="http://schemas.microsoft.com/office/drawing/2014/main" id="{BEAF0FFF-78D9-5564-2F80-79123D4EB94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46" name="Rectangle: Top Corners Rounded 1">
            <a:hlinkClick r:id="rId17" action="ppaction://hlinksldjump"/>
            <a:extLst>
              <a:ext uri="{FF2B5EF4-FFF2-40B4-BE49-F238E27FC236}">
                <a16:creationId xmlns:a16="http://schemas.microsoft.com/office/drawing/2014/main" id="{85C69826-9116-7C16-062A-6CF2EA6A45CF}"/>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47" name="Rectangle: Top Corners Rounded 1">
            <a:hlinkClick r:id="rId18" action="ppaction://hlinksldjump"/>
            <a:extLst>
              <a:ext uri="{FF2B5EF4-FFF2-40B4-BE49-F238E27FC236}">
                <a16:creationId xmlns:a16="http://schemas.microsoft.com/office/drawing/2014/main" id="{320CEBDA-4881-ADA3-9E10-7261A7061370}"/>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48" name="Rectangle: Top Corners Rounded 1">
            <a:hlinkClick r:id="rId19" action="ppaction://hlinksldjump"/>
            <a:extLst>
              <a:ext uri="{FF2B5EF4-FFF2-40B4-BE49-F238E27FC236}">
                <a16:creationId xmlns:a16="http://schemas.microsoft.com/office/drawing/2014/main" id="{5E09B108-55F5-15B1-8974-3FF055C7B16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49" name="Rectangle: Top Corners Rounded 1">
            <a:hlinkClick r:id="rId20" action="ppaction://hlinksldjump"/>
            <a:extLst>
              <a:ext uri="{FF2B5EF4-FFF2-40B4-BE49-F238E27FC236}">
                <a16:creationId xmlns:a16="http://schemas.microsoft.com/office/drawing/2014/main" id="{413D812E-CC5D-00A7-27CC-346E9A03FA6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sp>
        <p:nvSpPr>
          <p:cNvPr id="4" name="Rectangle: Rounded Corners 7">
            <a:extLst>
              <a:ext uri="{FF2B5EF4-FFF2-40B4-BE49-F238E27FC236}">
                <a16:creationId xmlns:a16="http://schemas.microsoft.com/office/drawing/2014/main" id="{A8A720E1-5A27-D94D-15F3-9C6BFB4CF14D}"/>
              </a:ext>
            </a:extLst>
          </p:cNvPr>
          <p:cNvSpPr/>
          <p:nvPr/>
        </p:nvSpPr>
        <p:spPr>
          <a:xfrm>
            <a:off x="823821" y="1368950"/>
            <a:ext cx="4158893" cy="5336650"/>
          </a:xfrm>
          <a:prstGeom prst="roundRect">
            <a:avLst>
              <a:gd name="adj" fmla="val 5821"/>
            </a:avLst>
          </a:prstGeom>
          <a:solidFill>
            <a:schemeClr val="bg1"/>
          </a:solidFill>
          <a:ln w="12700">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Display"/>
                <a:ea typeface="+mn-ea"/>
                <a:cs typeface="+mn-cs"/>
              </a:rPr>
              <a:t>Kwalitatieve impact</a:t>
            </a:r>
            <a:r>
              <a:rPr kumimoji="0" lang="nl-NL" sz="1200" b="1" i="0" u="none" strike="noStrike" kern="1200" cap="none" spc="0" normalizeH="0" baseline="30000" noProof="0">
                <a:ln>
                  <a:noFill/>
                </a:ln>
                <a:solidFill>
                  <a:prstClr val="black"/>
                </a:solidFill>
                <a:effectLst/>
                <a:uLnTx/>
                <a:uFillTx/>
                <a:latin typeface="Aptos Display"/>
                <a:ea typeface="+mn-ea"/>
                <a:cs typeface="+mn-cs"/>
              </a:rPr>
              <a:t>1</a:t>
            </a:r>
          </a:p>
        </p:txBody>
      </p:sp>
      <p:sp>
        <p:nvSpPr>
          <p:cNvPr id="11" name="Partial Circle 12">
            <a:extLst>
              <a:ext uri="{FF2B5EF4-FFF2-40B4-BE49-F238E27FC236}">
                <a16:creationId xmlns:a16="http://schemas.microsoft.com/office/drawing/2014/main" id="{2CA2FA8A-4F33-2CA0-D697-6B3B9C2CD26F}"/>
              </a:ext>
            </a:extLst>
          </p:cNvPr>
          <p:cNvSpPr/>
          <p:nvPr/>
        </p:nvSpPr>
        <p:spPr>
          <a:xfrm>
            <a:off x="586175" y="2064485"/>
            <a:ext cx="914400" cy="914400"/>
          </a:xfrm>
          <a:prstGeom prst="pie">
            <a:avLst>
              <a:gd name="adj1" fmla="val 10767649"/>
              <a:gd name="adj2" fmla="val 16200000"/>
            </a:avLst>
          </a:prstGeom>
          <a:solidFill>
            <a:srgbClr val="DDEBCE"/>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3" name="Partial Circle 8">
            <a:extLst>
              <a:ext uri="{FF2B5EF4-FFF2-40B4-BE49-F238E27FC236}">
                <a16:creationId xmlns:a16="http://schemas.microsoft.com/office/drawing/2014/main" id="{D8B90CD6-442A-490F-0C4E-A5F4109A16B0}"/>
              </a:ext>
            </a:extLst>
          </p:cNvPr>
          <p:cNvSpPr/>
          <p:nvPr/>
        </p:nvSpPr>
        <p:spPr>
          <a:xfrm rot="5400000">
            <a:off x="146328" y="2802478"/>
            <a:ext cx="914400" cy="914400"/>
          </a:xfrm>
          <a:prstGeom prst="pie">
            <a:avLst>
              <a:gd name="adj1" fmla="val 10767649"/>
              <a:gd name="adj2" fmla="val 16200000"/>
            </a:avLst>
          </a:prstGeom>
          <a:solidFill>
            <a:srgbClr val="21BBEF"/>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8" name="Partial Circle 9">
            <a:extLst>
              <a:ext uri="{FF2B5EF4-FFF2-40B4-BE49-F238E27FC236}">
                <a16:creationId xmlns:a16="http://schemas.microsoft.com/office/drawing/2014/main" id="{473B4DEA-98CF-D978-7649-4F5E9DEE0ABB}"/>
              </a:ext>
            </a:extLst>
          </p:cNvPr>
          <p:cNvSpPr/>
          <p:nvPr/>
        </p:nvSpPr>
        <p:spPr>
          <a:xfrm rot="10800000">
            <a:off x="156580" y="3673123"/>
            <a:ext cx="914400" cy="914400"/>
          </a:xfrm>
          <a:prstGeom prst="pie">
            <a:avLst>
              <a:gd name="adj1" fmla="val 10767649"/>
              <a:gd name="adj2" fmla="val 16200000"/>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9" name="Partial Circle 10">
            <a:extLst>
              <a:ext uri="{FF2B5EF4-FFF2-40B4-BE49-F238E27FC236}">
                <a16:creationId xmlns:a16="http://schemas.microsoft.com/office/drawing/2014/main" id="{20FB36D6-1C73-659F-9393-6F4B22C8C788}"/>
              </a:ext>
            </a:extLst>
          </p:cNvPr>
          <p:cNvSpPr/>
          <p:nvPr/>
        </p:nvSpPr>
        <p:spPr>
          <a:xfrm rot="16200000">
            <a:off x="531522" y="4930646"/>
            <a:ext cx="914400" cy="914400"/>
          </a:xfrm>
          <a:prstGeom prst="pie">
            <a:avLst>
              <a:gd name="adj1" fmla="val 10767649"/>
              <a:gd name="adj2" fmla="val 16200000"/>
            </a:avLst>
          </a:prstGeom>
          <a:solidFill>
            <a:srgbClr val="0E9D90"/>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28" name="Tekstvak 27">
            <a:extLst>
              <a:ext uri="{FF2B5EF4-FFF2-40B4-BE49-F238E27FC236}">
                <a16:creationId xmlns:a16="http://schemas.microsoft.com/office/drawing/2014/main" id="{65478F2D-927F-46BB-43CA-3A80CD0EB211}"/>
              </a:ext>
            </a:extLst>
          </p:cNvPr>
          <p:cNvSpPr txBox="1"/>
          <p:nvPr/>
        </p:nvSpPr>
        <p:spPr>
          <a:xfrm>
            <a:off x="719136" y="2203695"/>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1</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30" name="Tekstvak 29">
            <a:extLst>
              <a:ext uri="{FF2B5EF4-FFF2-40B4-BE49-F238E27FC236}">
                <a16:creationId xmlns:a16="http://schemas.microsoft.com/office/drawing/2014/main" id="{B1D99C00-5C6F-7238-1659-BA6EB408A25B}"/>
              </a:ext>
            </a:extLst>
          </p:cNvPr>
          <p:cNvSpPr txBox="1"/>
          <p:nvPr/>
        </p:nvSpPr>
        <p:spPr>
          <a:xfrm>
            <a:off x="664416" y="2929728"/>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2</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31" name="Tekstvak 30">
            <a:extLst>
              <a:ext uri="{FF2B5EF4-FFF2-40B4-BE49-F238E27FC236}">
                <a16:creationId xmlns:a16="http://schemas.microsoft.com/office/drawing/2014/main" id="{9F5A71FA-B5A9-F486-E8D0-DEF0A046E729}"/>
              </a:ext>
            </a:extLst>
          </p:cNvPr>
          <p:cNvSpPr txBox="1"/>
          <p:nvPr/>
        </p:nvSpPr>
        <p:spPr>
          <a:xfrm>
            <a:off x="647700" y="4215174"/>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3</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32" name="Tekstvak 31">
            <a:extLst>
              <a:ext uri="{FF2B5EF4-FFF2-40B4-BE49-F238E27FC236}">
                <a16:creationId xmlns:a16="http://schemas.microsoft.com/office/drawing/2014/main" id="{FAC2D1E3-47E3-9CED-8F3A-58339AA4784E}"/>
              </a:ext>
            </a:extLst>
          </p:cNvPr>
          <p:cNvSpPr txBox="1"/>
          <p:nvPr/>
        </p:nvSpPr>
        <p:spPr>
          <a:xfrm>
            <a:off x="664416" y="5423644"/>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Aptos"/>
                <a:ea typeface="+mn-ea"/>
                <a:cs typeface="+mn-cs"/>
              </a:rPr>
              <a:t>4</a:t>
            </a:r>
          </a:p>
        </p:txBody>
      </p:sp>
      <p:sp>
        <p:nvSpPr>
          <p:cNvPr id="33" name="Tekstvak 32">
            <a:extLst>
              <a:ext uri="{FF2B5EF4-FFF2-40B4-BE49-F238E27FC236}">
                <a16:creationId xmlns:a16="http://schemas.microsoft.com/office/drawing/2014/main" id="{691A44EE-F172-A7D9-3E0F-9F117809B55E}"/>
              </a:ext>
            </a:extLst>
          </p:cNvPr>
          <p:cNvSpPr txBox="1"/>
          <p:nvPr/>
        </p:nvSpPr>
        <p:spPr>
          <a:xfrm>
            <a:off x="1043376" y="1713021"/>
            <a:ext cx="3953715" cy="784830"/>
          </a:xfrm>
          <a:prstGeom prst="rect">
            <a:avLst/>
          </a:prstGeom>
          <a:noFill/>
        </p:spPr>
        <p:txBody>
          <a:bodyPr wrap="square" lIns="91440" tIns="45720" rIns="91440" bIns="45720"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Verbetering van kwaliteit van zorg door nauwkeurige overdracht van informatie wat leidt tot snellere en gerichte interventies</a:t>
            </a: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Vermindering van ziektelasten door adequaat ingrijpen op basis van volledige patiënt informatie.</a:t>
            </a: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34" name="Tekstvak 33">
            <a:extLst>
              <a:ext uri="{FF2B5EF4-FFF2-40B4-BE49-F238E27FC236}">
                <a16:creationId xmlns:a16="http://schemas.microsoft.com/office/drawing/2014/main" id="{4384F1AE-6EBC-909B-C9CE-788E928F9AE7}"/>
              </a:ext>
            </a:extLst>
          </p:cNvPr>
          <p:cNvSpPr txBox="1"/>
          <p:nvPr/>
        </p:nvSpPr>
        <p:spPr>
          <a:xfrm>
            <a:off x="1043376" y="2468272"/>
            <a:ext cx="3953715" cy="1615827"/>
          </a:xfrm>
          <a:prstGeom prst="rect">
            <a:avLst/>
          </a:prstGeom>
          <a:noFill/>
        </p:spPr>
        <p:txBody>
          <a:bodyPr wrap="square" lIns="91440" tIns="45720" rIns="91440" bIns="45720"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Minder herhaling van vragen van zorgverleners gedurende het zorgtraject</a:t>
            </a: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Patiënten ervaren minder vertragingen bij verwijzingen en behandelingen, doordat gegevensuitwisseling soepel verloopt tussen betrokken zorgverleners</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Betere informatievoorziening aan patiënten en naasten: Door goede gegevensuitwisseling kunnen zorgverleners sneller en accurater antwoord geven op vragen van patiënten en hun familie. Dit verhoogt het vertrouwen en de tevredenheid van patiënten over de zorg die ze ontvangen.</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35" name="Tekstvak 34">
            <a:extLst>
              <a:ext uri="{FF2B5EF4-FFF2-40B4-BE49-F238E27FC236}">
                <a16:creationId xmlns:a16="http://schemas.microsoft.com/office/drawing/2014/main" id="{0B6BC5C1-6D22-6433-7DE5-5EC5C4252553}"/>
              </a:ext>
            </a:extLst>
          </p:cNvPr>
          <p:cNvSpPr txBox="1"/>
          <p:nvPr/>
        </p:nvSpPr>
        <p:spPr>
          <a:xfrm>
            <a:off x="1043376" y="3901822"/>
            <a:ext cx="3953715" cy="1615827"/>
          </a:xfrm>
          <a:prstGeom prst="rect">
            <a:avLst/>
          </a:prstGeom>
          <a:noFill/>
        </p:spPr>
        <p:txBody>
          <a:bodyPr wrap="square" lIns="91440" tIns="45720" rIns="91440" bIns="45720"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Minder administratieve druk door gestandaardiseerde gegevensuitwisseling en meer tijd voor zorgtaken door minder administratie</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Beter samenwerken in multidisciplinaire teams:). Door uniforme gegevensstandaarden en toegang tot dezelfde data, kunnen verschillende teams efficiënter samenwerken en communiceren.</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Gemakkelijkere toegang tot relevante informatie vanuit één bron, wat leidt tot minder frustraties over verouderde systemen, en minder (telefonisch) contact tussen zorgverleners.</a:t>
            </a:r>
          </a:p>
        </p:txBody>
      </p:sp>
      <p:sp>
        <p:nvSpPr>
          <p:cNvPr id="50" name="Tekstvak 49">
            <a:extLst>
              <a:ext uri="{FF2B5EF4-FFF2-40B4-BE49-F238E27FC236}">
                <a16:creationId xmlns:a16="http://schemas.microsoft.com/office/drawing/2014/main" id="{478A01FA-286F-9A36-A9C1-2C5C8A8B3292}"/>
              </a:ext>
            </a:extLst>
          </p:cNvPr>
          <p:cNvSpPr txBox="1"/>
          <p:nvPr/>
        </p:nvSpPr>
        <p:spPr>
          <a:xfrm>
            <a:off x="1043376" y="5326909"/>
            <a:ext cx="3953715" cy="1477328"/>
          </a:xfrm>
          <a:prstGeom prst="rect">
            <a:avLst/>
          </a:prstGeom>
          <a:noFill/>
        </p:spPr>
        <p:txBody>
          <a:bodyPr wrap="square" lIns="91440" tIns="45720" rIns="91440" bIns="45720"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Minder herhaalde onderzoeken en procedures, doordat gegevens niet verloren gaan en toegankelijk blijven voor alle betrokken partijen</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Efficiëntere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zorgketen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met minder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tijdsverlies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door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geautomatiseerde digitale overdracht, resulterend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in minder </a:t>
            </a: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administratieve lasten en kostenbesparing </a:t>
            </a:r>
          </a:p>
          <a:p>
            <a:pPr marL="1714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Doordat er betere zorg verleend wordt voorkomt dat onnodige gezondheidsschade en ook zorgkosten</a:t>
            </a:r>
          </a:p>
          <a:p>
            <a:pPr marL="0" marR="0" lvl="2"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p:txBody>
      </p:sp>
      <p:pic>
        <p:nvPicPr>
          <p:cNvPr id="51" name="Afbeelding 50">
            <a:extLst>
              <a:ext uri="{FF2B5EF4-FFF2-40B4-BE49-F238E27FC236}">
                <a16:creationId xmlns:a16="http://schemas.microsoft.com/office/drawing/2014/main" id="{E66F8B01-D1AF-21C3-6F9D-1EB1C78E18A4}"/>
              </a:ext>
            </a:extLst>
          </p:cNvPr>
          <p:cNvPicPr>
            <a:picLocks noChangeAspect="1"/>
          </p:cNvPicPr>
          <p:nvPr/>
        </p:nvPicPr>
        <p:blipFill>
          <a:blip r:embed="rId21"/>
          <a:stretch>
            <a:fillRect/>
          </a:stretch>
        </p:blipFill>
        <p:spPr>
          <a:xfrm>
            <a:off x="586175" y="1592438"/>
            <a:ext cx="436562" cy="436562"/>
          </a:xfrm>
          <a:prstGeom prst="rect">
            <a:avLst/>
          </a:prstGeom>
        </p:spPr>
      </p:pic>
      <p:sp>
        <p:nvSpPr>
          <p:cNvPr id="52" name="Text Placeholder 2">
            <a:extLst>
              <a:ext uri="{FF2B5EF4-FFF2-40B4-BE49-F238E27FC236}">
                <a16:creationId xmlns:a16="http://schemas.microsoft.com/office/drawing/2014/main" id="{D67C74AB-6E4A-0BC5-D15A-A64F6AADB14A}"/>
              </a:ext>
            </a:extLst>
          </p:cNvPr>
          <p:cNvSpPr txBox="1">
            <a:spLocks/>
          </p:cNvSpPr>
          <p:nvPr/>
        </p:nvSpPr>
        <p:spPr>
          <a:xfrm>
            <a:off x="439871" y="1012954"/>
            <a:ext cx="11023623" cy="461380"/>
          </a:xfrm>
          <a:prstGeom prst="rect">
            <a:avLst/>
          </a:prstGeom>
        </p:spPr>
        <p:txBody>
          <a:bodyPr lIns="91440" tIns="45720" rIns="91440" bIns="45720" anchor="t">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114000"/>
              </a:lnSpc>
              <a:spcBef>
                <a:spcPts val="500"/>
              </a:spcBef>
              <a:buFont typeface="Arial" panose="020B0604020202020204" pitchFamily="34" charset="0"/>
              <a:buChar char="•"/>
              <a:defRPr sz="105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nl-NL" sz="11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t>
            </a:r>
            <a:endParaRPr kumimoji="0" lang="nl-NL" sz="1100" b="0" i="0" u="none" strike="noStrike" kern="1200" cap="none" spc="0" normalizeH="0" baseline="0" noProof="0">
              <a:ln>
                <a:noFill/>
              </a:ln>
              <a:solidFill>
                <a:prstClr val="black"/>
              </a:solidFill>
              <a:effectLst/>
              <a:uLnTx/>
              <a:uFillTx/>
              <a:latin typeface="Verdana"/>
              <a:ea typeface="Verdana"/>
              <a:cs typeface="+mn-cs"/>
            </a:endParaRPr>
          </a:p>
        </p:txBody>
      </p:sp>
      <p:sp>
        <p:nvSpPr>
          <p:cNvPr id="53" name="Rectangle 14">
            <a:extLst>
              <a:ext uri="{FF2B5EF4-FFF2-40B4-BE49-F238E27FC236}">
                <a16:creationId xmlns:a16="http://schemas.microsoft.com/office/drawing/2014/main" id="{127E4E0B-1E7D-C8DF-D35D-93D576A0C87A}"/>
              </a:ext>
            </a:extLst>
          </p:cNvPr>
          <p:cNvSpPr/>
          <p:nvPr/>
        </p:nvSpPr>
        <p:spPr>
          <a:xfrm>
            <a:off x="5134003" y="881580"/>
            <a:ext cx="7069996" cy="5824020"/>
          </a:xfrm>
          <a:prstGeom prst="rect">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Kwantitatieve impact </a:t>
            </a:r>
            <a:r>
              <a:rPr kumimoji="0" lang="nl-NL" sz="1800" b="1" i="0" u="none" strike="noStrike" kern="1200" cap="none" spc="0" normalizeH="0" baseline="30000" noProof="0">
                <a:ln>
                  <a:noFill/>
                </a:ln>
                <a:solidFill>
                  <a:prstClr val="black"/>
                </a:solidFill>
                <a:effectLst/>
                <a:uLnTx/>
                <a:uFillTx/>
                <a:latin typeface="Verdana" panose="020B0604030504040204" pitchFamily="34" charset="0"/>
                <a:ea typeface="Verdana" panose="020B0604030504040204" pitchFamily="34" charset="0"/>
                <a:cs typeface="+mn-cs"/>
              </a:rPr>
              <a:t>2 </a:t>
            </a:r>
            <a:endParaRPr kumimoji="0" lang="nl-NL" sz="1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4" name="Tekstvak 53">
            <a:extLst>
              <a:ext uri="{FF2B5EF4-FFF2-40B4-BE49-F238E27FC236}">
                <a16:creationId xmlns:a16="http://schemas.microsoft.com/office/drawing/2014/main" id="{361E1D58-8036-BDD6-D98D-444A139A99C8}"/>
              </a:ext>
            </a:extLst>
          </p:cNvPr>
          <p:cNvSpPr txBox="1"/>
          <p:nvPr/>
        </p:nvSpPr>
        <p:spPr>
          <a:xfrm>
            <a:off x="5148380" y="5847012"/>
            <a:ext cx="7006982" cy="738664"/>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De kwalitatieve impact is beschreven aan de hand van de </a:t>
            </a:r>
            <a:r>
              <a:rPr kumimoji="0" lang="nl-NL" sz="800" b="0" i="0" u="none" strike="noStrike" kern="1200" cap="none" spc="0" normalizeH="0" baseline="0" noProof="0" err="1">
                <a:ln>
                  <a:noFill/>
                </a:ln>
                <a:solidFill>
                  <a:prstClr val="black"/>
                </a:solidFill>
                <a:effectLst/>
                <a:uLnTx/>
                <a:uFillTx/>
                <a:latin typeface="Aptos"/>
                <a:ea typeface="+mn-ea"/>
                <a:cs typeface="+mn-cs"/>
              </a:rPr>
              <a:t>quadruple</a:t>
            </a:r>
            <a:r>
              <a:rPr kumimoji="0" lang="nl-NL" sz="800" b="0" i="0" u="none" strike="noStrike" kern="1200" cap="none" spc="0" normalizeH="0" baseline="0" noProof="0">
                <a:ln>
                  <a:noFill/>
                </a:ln>
                <a:solidFill>
                  <a:prstClr val="black"/>
                </a:solidFill>
                <a:effectLst/>
                <a:uLnTx/>
                <a:uFillTx/>
                <a:latin typeface="Aptos"/>
                <a:ea typeface="+mn-ea"/>
                <a:cs typeface="+mn-cs"/>
              </a:rPr>
              <a:t> </a:t>
            </a:r>
            <a:r>
              <a:rPr kumimoji="0" lang="nl-NL" sz="800" b="0" i="0" u="none" strike="noStrike" kern="1200" cap="none" spc="0" normalizeH="0" baseline="0" noProof="0" err="1">
                <a:ln>
                  <a:noFill/>
                </a:ln>
                <a:solidFill>
                  <a:prstClr val="black"/>
                </a:solidFill>
                <a:effectLst/>
                <a:uLnTx/>
                <a:uFillTx/>
                <a:latin typeface="Aptos"/>
                <a:ea typeface="+mn-ea"/>
                <a:cs typeface="+mn-cs"/>
              </a:rPr>
              <a:t>aim</a:t>
            </a:r>
            <a:r>
              <a:rPr kumimoji="0" lang="nl-NL" sz="800" b="0" i="0" u="none" strike="noStrike" kern="1200" cap="none" spc="0" normalizeH="0" baseline="0" noProof="0">
                <a:ln>
                  <a:noFill/>
                </a:ln>
                <a:solidFill>
                  <a:prstClr val="black"/>
                </a:solidFill>
                <a:effectLst/>
                <a:uLnTx/>
                <a:uFillTx/>
                <a:latin typeface="Aptos"/>
                <a:ea typeface="+mn-ea"/>
                <a:cs typeface="+mn-cs"/>
              </a:rPr>
              <a:t> model, waarin de impact op (1) gezondheidsuitkomsten, (2) inwonertevredenheid, (3) zorgprofessionaltevredenheid en (4) zorgkosten is beschreven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Disclaimer: Voor de impactanalyse zijn alleen zorgorganisaties in de huidige scope meegenomen. Dit vertegenwoordigt de ondergrens van de potentiële scope, aangezien er mogelijkheden zijn om een breder zorglandschap te betrekken</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nl-NL" sz="800" b="0" i="0" u="none" strike="noStrike" kern="1200" cap="none" spc="0" normalizeH="0" baseline="0" noProof="0">
                <a:ln>
                  <a:noFill/>
                </a:ln>
                <a:solidFill>
                  <a:prstClr val="black"/>
                </a:solidFill>
                <a:effectLst/>
                <a:uLnTx/>
                <a:uFillTx/>
                <a:latin typeface="Aptos"/>
                <a:ea typeface="+mn-ea"/>
                <a:cs typeface="+mn-cs"/>
              </a:rPr>
              <a:t>Aanname is dat deze werkstroom van dit transformatieplan over de jaren heen voor max. 25% zal bijdragen aan het behalen van totale potentiële effect, aangezien dit voortbouwt op lopende projecten</a:t>
            </a:r>
          </a:p>
        </p:txBody>
      </p:sp>
      <p:graphicFrame>
        <p:nvGraphicFramePr>
          <p:cNvPr id="55" name="Tabel 54">
            <a:extLst>
              <a:ext uri="{FF2B5EF4-FFF2-40B4-BE49-F238E27FC236}">
                <a16:creationId xmlns:a16="http://schemas.microsoft.com/office/drawing/2014/main" id="{1DB694D8-EC00-2DEE-8AC7-393095146E94}"/>
              </a:ext>
            </a:extLst>
          </p:cNvPr>
          <p:cNvGraphicFramePr>
            <a:graphicFrameLocks noGrp="1"/>
          </p:cNvGraphicFramePr>
          <p:nvPr>
            <p:extLst>
              <p:ext uri="{D42A27DB-BD31-4B8C-83A1-F6EECF244321}">
                <p14:modId xmlns:p14="http://schemas.microsoft.com/office/powerpoint/2010/main" val="3020186076"/>
              </p:ext>
            </p:extLst>
          </p:nvPr>
        </p:nvGraphicFramePr>
        <p:xfrm>
          <a:off x="5191585" y="1352447"/>
          <a:ext cx="6952897" cy="4359171"/>
        </p:xfrm>
        <a:graphic>
          <a:graphicData uri="http://schemas.openxmlformats.org/drawingml/2006/table">
            <a:tbl>
              <a:tblPr/>
              <a:tblGrid>
                <a:gridCol w="537464">
                  <a:extLst>
                    <a:ext uri="{9D8B030D-6E8A-4147-A177-3AD203B41FA5}">
                      <a16:colId xmlns:a16="http://schemas.microsoft.com/office/drawing/2014/main" val="3293314837"/>
                    </a:ext>
                  </a:extLst>
                </a:gridCol>
                <a:gridCol w="537464">
                  <a:extLst>
                    <a:ext uri="{9D8B030D-6E8A-4147-A177-3AD203B41FA5}">
                      <a16:colId xmlns:a16="http://schemas.microsoft.com/office/drawing/2014/main" val="770108754"/>
                    </a:ext>
                  </a:extLst>
                </a:gridCol>
                <a:gridCol w="750210">
                  <a:extLst>
                    <a:ext uri="{9D8B030D-6E8A-4147-A177-3AD203B41FA5}">
                      <a16:colId xmlns:a16="http://schemas.microsoft.com/office/drawing/2014/main" val="3836903680"/>
                    </a:ext>
                  </a:extLst>
                </a:gridCol>
                <a:gridCol w="951759">
                  <a:extLst>
                    <a:ext uri="{9D8B030D-6E8A-4147-A177-3AD203B41FA5}">
                      <a16:colId xmlns:a16="http://schemas.microsoft.com/office/drawing/2014/main" val="3404048997"/>
                    </a:ext>
                  </a:extLst>
                </a:gridCol>
                <a:gridCol w="684000">
                  <a:extLst>
                    <a:ext uri="{9D8B030D-6E8A-4147-A177-3AD203B41FA5}">
                      <a16:colId xmlns:a16="http://schemas.microsoft.com/office/drawing/2014/main" val="1674234088"/>
                    </a:ext>
                  </a:extLst>
                </a:gridCol>
                <a:gridCol w="684000">
                  <a:extLst>
                    <a:ext uri="{9D8B030D-6E8A-4147-A177-3AD203B41FA5}">
                      <a16:colId xmlns:a16="http://schemas.microsoft.com/office/drawing/2014/main" val="2964502661"/>
                    </a:ext>
                  </a:extLst>
                </a:gridCol>
                <a:gridCol w="468000">
                  <a:extLst>
                    <a:ext uri="{9D8B030D-6E8A-4147-A177-3AD203B41FA5}">
                      <a16:colId xmlns:a16="http://schemas.microsoft.com/office/drawing/2014/main" val="3447126489"/>
                    </a:ext>
                  </a:extLst>
                </a:gridCol>
                <a:gridCol w="468000">
                  <a:extLst>
                    <a:ext uri="{9D8B030D-6E8A-4147-A177-3AD203B41FA5}">
                      <a16:colId xmlns:a16="http://schemas.microsoft.com/office/drawing/2014/main" val="3214275468"/>
                    </a:ext>
                  </a:extLst>
                </a:gridCol>
                <a:gridCol w="432000">
                  <a:extLst>
                    <a:ext uri="{9D8B030D-6E8A-4147-A177-3AD203B41FA5}">
                      <a16:colId xmlns:a16="http://schemas.microsoft.com/office/drawing/2014/main" val="437443372"/>
                    </a:ext>
                  </a:extLst>
                </a:gridCol>
                <a:gridCol w="432000">
                  <a:extLst>
                    <a:ext uri="{9D8B030D-6E8A-4147-A177-3AD203B41FA5}">
                      <a16:colId xmlns:a16="http://schemas.microsoft.com/office/drawing/2014/main" val="387421798"/>
                    </a:ext>
                  </a:extLst>
                </a:gridCol>
                <a:gridCol w="504000">
                  <a:extLst>
                    <a:ext uri="{9D8B030D-6E8A-4147-A177-3AD203B41FA5}">
                      <a16:colId xmlns:a16="http://schemas.microsoft.com/office/drawing/2014/main" val="393101758"/>
                    </a:ext>
                  </a:extLst>
                </a:gridCol>
                <a:gridCol w="504000">
                  <a:extLst>
                    <a:ext uri="{9D8B030D-6E8A-4147-A177-3AD203B41FA5}">
                      <a16:colId xmlns:a16="http://schemas.microsoft.com/office/drawing/2014/main" val="1973689731"/>
                    </a:ext>
                  </a:extLst>
                </a:gridCol>
              </a:tblGrid>
              <a:tr h="243898">
                <a:tc gridSpan="2">
                  <a:txBody>
                    <a:bodyPr/>
                    <a:lstStyle/>
                    <a:p>
                      <a:pPr algn="l" rtl="0" fontAlgn="ctr"/>
                      <a:r>
                        <a:rPr lang="nl-NL" sz="1000" b="1" i="0" u="none" strike="noStrike">
                          <a:solidFill>
                            <a:srgbClr val="000000"/>
                          </a:solidFill>
                          <a:effectLst/>
                          <a:latin typeface="Verdana" panose="020B0604030504040204" pitchFamily="34" charset="0"/>
                        </a:rPr>
                        <a:t>Doelgroep</a:t>
                      </a:r>
                    </a:p>
                  </a:txBody>
                  <a:tcPr marL="7620" marR="7620" marT="7620" marB="0" anchor="ctr">
                    <a:lnL>
                      <a:noFill/>
                    </a:lnL>
                    <a:lnR>
                      <a:noFill/>
                    </a:lnR>
                    <a:lnT>
                      <a:noFill/>
                    </a:lnT>
                    <a:lnB>
                      <a:noFill/>
                    </a:lnB>
                    <a:solidFill>
                      <a:srgbClr val="E2F0D9"/>
                    </a:solidFill>
                  </a:tcPr>
                </a:tc>
                <a:tc hMerge="1">
                  <a:txBody>
                    <a:bodyPr/>
                    <a:lstStyle/>
                    <a:p>
                      <a:endParaRPr lang="en-NL"/>
                    </a:p>
                  </a:txBody>
                  <a:tcPr/>
                </a:tc>
                <a:tc gridSpan="2">
                  <a:txBody>
                    <a:bodyPr/>
                    <a:lstStyle/>
                    <a:p>
                      <a:pPr marL="0" algn="ctr" defTabSz="914400" rtl="0" eaLnBrk="1" fontAlgn="ctr" latinLnBrk="0" hangingPunct="1"/>
                      <a:r>
                        <a:rPr lang="nl-NL" sz="800" b="0" i="0" u="none" strike="noStrike" kern="1200">
                          <a:solidFill>
                            <a:srgbClr val="000000"/>
                          </a:solidFill>
                          <a:effectLst/>
                          <a:latin typeface="Verdana" panose="020B0604030504040204" pitchFamily="34" charset="0"/>
                          <a:ea typeface="+mn-ea"/>
                          <a:cs typeface="+mn-cs"/>
                        </a:rPr>
                        <a:t>Tijdsbesparing acute situaties </a:t>
                      </a:r>
                      <a:r>
                        <a:rPr lang="nl-NL" sz="800" b="1" i="0" u="none" strike="noStrike" kern="1200">
                          <a:solidFill>
                            <a:srgbClr val="000000"/>
                          </a:solidFill>
                          <a:effectLst/>
                          <a:latin typeface="Verdana" panose="020B0604030504040204" pitchFamily="34" charset="0"/>
                          <a:ea typeface="+mn-ea"/>
                          <a:cs typeface="+mn-cs"/>
                        </a:rPr>
                        <a:t>van/naar VVT en GGZ tijdens ANW-uren</a:t>
                      </a:r>
                      <a:br>
                        <a:rPr lang="nl-NL" sz="800" b="1" i="0" u="none" strike="noStrike" kern="1200">
                          <a:solidFill>
                            <a:srgbClr val="000000"/>
                          </a:solidFill>
                          <a:effectLst/>
                          <a:latin typeface="Verdana" panose="020B0604030504040204" pitchFamily="34" charset="0"/>
                          <a:ea typeface="+mn-ea"/>
                          <a:cs typeface="+mn-cs"/>
                        </a:rPr>
                      </a:br>
                      <a:r>
                        <a:rPr lang="nl-NL" sz="800" b="0" i="1" u="none" strike="noStrike" kern="1200">
                          <a:solidFill>
                            <a:srgbClr val="000000"/>
                          </a:solidFill>
                          <a:effectLst/>
                          <a:latin typeface="Verdana" panose="020B0604030504040204" pitchFamily="34" charset="0"/>
                          <a:ea typeface="+mn-ea"/>
                          <a:cs typeface="+mn-cs"/>
                        </a:rPr>
                        <a:t>ca. 4.200 per jaar</a:t>
                      </a:r>
                    </a:p>
                  </a:txBody>
                  <a:tcPr marL="7620" marR="7620" marT="7620" marB="0" anchor="ctr">
                    <a:lnL>
                      <a:noFill/>
                    </a:lnL>
                    <a:lnR>
                      <a:noFill/>
                    </a:lnR>
                    <a:lnT>
                      <a:noFill/>
                    </a:lnT>
                    <a:lnB>
                      <a:noFill/>
                    </a:lnB>
                    <a:solidFill>
                      <a:srgbClr val="FFFFFF"/>
                    </a:solidFill>
                  </a:tcPr>
                </a:tc>
                <a:tc hMerge="1">
                  <a:txBody>
                    <a:bodyPr/>
                    <a:lstStyle/>
                    <a:p>
                      <a:endParaRPr lang="en-NL"/>
                    </a:p>
                  </a:txBody>
                  <a:tcPr/>
                </a:tc>
                <a:tc gridSpan="2">
                  <a:txBody>
                    <a:bodyPr/>
                    <a:lstStyle/>
                    <a:p>
                      <a:pPr algn="ctr" rtl="0" fontAlgn="ctr"/>
                      <a:r>
                        <a:rPr lang="nl-NL" sz="800" b="0" i="0" u="none" strike="noStrike" kern="1200">
                          <a:solidFill>
                            <a:srgbClr val="000000"/>
                          </a:solidFill>
                          <a:effectLst/>
                          <a:latin typeface="Verdana" panose="020B0604030504040204" pitchFamily="34" charset="0"/>
                          <a:ea typeface="+mn-ea"/>
                          <a:cs typeface="+mn-cs"/>
                        </a:rPr>
                        <a:t>Tijdsbesparing door </a:t>
                      </a:r>
                      <a:r>
                        <a:rPr lang="nl-NL" sz="800" b="1" i="0" u="none" strike="noStrike" kern="1200">
                          <a:solidFill>
                            <a:srgbClr val="000000"/>
                          </a:solidFill>
                          <a:effectLst/>
                          <a:latin typeface="Verdana" panose="020B0604030504040204" pitchFamily="34" charset="0"/>
                          <a:ea typeface="+mn-ea"/>
                          <a:cs typeface="+mn-cs"/>
                        </a:rPr>
                        <a:t>impl. MSB berichtnr. 7, 11, 13 , 14</a:t>
                      </a:r>
                      <a:r>
                        <a:rPr lang="nl-NL" sz="800" b="1" i="0" u="none" strike="noStrike" kern="1200" baseline="30000">
                          <a:solidFill>
                            <a:srgbClr val="000000"/>
                          </a:solidFill>
                          <a:effectLst/>
                          <a:latin typeface="Verdana" panose="020B0604030504040204" pitchFamily="34" charset="0"/>
                          <a:ea typeface="+mn-ea"/>
                          <a:cs typeface="+mn-cs"/>
                        </a:rPr>
                        <a:t>3</a:t>
                      </a:r>
                      <a:br>
                        <a:rPr lang="nl-NL" sz="800" b="1" i="0" u="none" strike="noStrike" kern="1200" baseline="30000">
                          <a:solidFill>
                            <a:srgbClr val="000000"/>
                          </a:solidFill>
                          <a:effectLst/>
                          <a:latin typeface="Verdana" panose="020B0604030504040204" pitchFamily="34" charset="0"/>
                          <a:ea typeface="+mn-ea"/>
                          <a:cs typeface="+mn-cs"/>
                        </a:rPr>
                      </a:br>
                      <a:r>
                        <a:rPr lang="nl-NL" sz="800" b="0" i="1" u="none" strike="noStrike" kern="1200">
                          <a:solidFill>
                            <a:srgbClr val="000000"/>
                          </a:solidFill>
                          <a:effectLst/>
                          <a:latin typeface="Verdana" panose="020B0604030504040204" pitchFamily="34" charset="0"/>
                          <a:ea typeface="+mn-ea"/>
                          <a:cs typeface="+mn-cs"/>
                        </a:rPr>
                        <a:t>ca. 3.800 per jaar</a:t>
                      </a:r>
                      <a:endParaRPr lang="nl-NL" sz="800" b="1" i="0" u="none" strike="noStrike" kern="1200">
                        <a:solidFill>
                          <a:srgbClr val="000000"/>
                        </a:solidFill>
                        <a:effectLst/>
                        <a:latin typeface="Verdana" panose="020B0604030504040204" pitchFamily="34" charset="0"/>
                        <a:ea typeface="+mn-ea"/>
                        <a:cs typeface="+mn-cs"/>
                      </a:endParaRPr>
                    </a:p>
                  </a:txBody>
                  <a:tcPr marL="7620" marR="7620" marT="7620" marB="0" anchor="ctr">
                    <a:lnL>
                      <a:noFill/>
                    </a:lnL>
                    <a:lnR>
                      <a:noFill/>
                    </a:lnR>
                    <a:lnT>
                      <a:noFill/>
                    </a:lnT>
                    <a:lnB>
                      <a:noFill/>
                    </a:lnB>
                    <a:solidFill>
                      <a:srgbClr val="FFFFFF"/>
                    </a:solidFill>
                  </a:tcPr>
                </a:tc>
                <a:tc hMerge="1">
                  <a:txBody>
                    <a:bodyPr/>
                    <a:lstStyle/>
                    <a:p>
                      <a:endParaRPr lang="en-NL"/>
                    </a:p>
                  </a:txBody>
                  <a:tcPr/>
                </a:tc>
                <a:tc gridSpan="4">
                  <a:txBody>
                    <a:bodyPr/>
                    <a:lstStyle/>
                    <a:p>
                      <a:pPr algn="ctr" rtl="0" fontAlgn="ctr"/>
                      <a:r>
                        <a:rPr lang="nl-NL" sz="800" b="0" i="0" u="none" strike="noStrike" kern="1200">
                          <a:solidFill>
                            <a:srgbClr val="000000"/>
                          </a:solidFill>
                          <a:effectLst/>
                          <a:latin typeface="Verdana" panose="020B0604030504040204" pitchFamily="34" charset="0"/>
                          <a:ea typeface="+mn-ea"/>
                          <a:cs typeface="+mn-cs"/>
                        </a:rPr>
                        <a:t>Kostenbesparing door </a:t>
                      </a:r>
                      <a:r>
                        <a:rPr lang="nl-NL" sz="800" b="1" i="0" u="none" strike="noStrike" kern="1200">
                          <a:solidFill>
                            <a:srgbClr val="000000"/>
                          </a:solidFill>
                          <a:effectLst/>
                          <a:latin typeface="Verdana" panose="020B0604030504040204" pitchFamily="34" charset="0"/>
                          <a:ea typeface="+mn-ea"/>
                          <a:cs typeface="+mn-cs"/>
                        </a:rPr>
                        <a:t>voorkomen onnodige zorghandelingen</a:t>
                      </a:r>
                    </a:p>
                  </a:txBody>
                  <a:tcPr marL="7620" marR="7620" marT="7620" marB="0" anchor="ctr">
                    <a:lnL>
                      <a:noFill/>
                    </a:lnL>
                    <a:lnR>
                      <a:noFill/>
                    </a:lnR>
                    <a:lnT>
                      <a:noFill/>
                    </a:lnT>
                    <a:lnB>
                      <a:noFill/>
                    </a:lnB>
                    <a:solidFill>
                      <a:srgbClr val="FFFFFF"/>
                    </a:solidFill>
                  </a:tcPr>
                </a:tc>
                <a:tc hMerge="1">
                  <a:txBody>
                    <a:bodyPr/>
                    <a:lstStyle/>
                    <a:p>
                      <a:endParaRPr lang="en-NL"/>
                    </a:p>
                  </a:txBody>
                  <a:tcPr/>
                </a:tc>
                <a:tc hMerge="1">
                  <a:txBody>
                    <a:bodyPr/>
                    <a:lstStyle/>
                    <a:p>
                      <a:endParaRPr lang="nl-NL"/>
                    </a:p>
                  </a:txBody>
                  <a:tcPr/>
                </a:tc>
                <a:tc hMerge="1">
                  <a:txBody>
                    <a:bodyPr/>
                    <a:lstStyle/>
                    <a:p>
                      <a:endParaRPr lang="nl-NL"/>
                    </a:p>
                  </a:txBody>
                  <a:tcPr/>
                </a:tc>
                <a:tc gridSpan="2">
                  <a:txBody>
                    <a:bodyPr/>
                    <a:lstStyle/>
                    <a:p>
                      <a:pPr algn="ctr" rtl="0" fontAlgn="ctr"/>
                      <a:r>
                        <a:rPr lang="nl-NL" sz="800" b="0" i="0" u="none" strike="noStrike" kern="1200">
                          <a:solidFill>
                            <a:srgbClr val="000000"/>
                          </a:solidFill>
                          <a:effectLst/>
                          <a:latin typeface="Verdana" panose="020B0604030504040204" pitchFamily="34" charset="0"/>
                          <a:ea typeface="+mn-ea"/>
                          <a:cs typeface="+mn-cs"/>
                        </a:rPr>
                        <a:t>Tijdsbesparing door </a:t>
                      </a:r>
                      <a:r>
                        <a:rPr lang="nl-NL" sz="800" b="1" i="0" u="none" strike="noStrike" kern="1200">
                          <a:solidFill>
                            <a:srgbClr val="000000"/>
                          </a:solidFill>
                          <a:effectLst/>
                          <a:latin typeface="Verdana" panose="020B0604030504040204" pitchFamily="34" charset="0"/>
                          <a:ea typeface="+mn-ea"/>
                          <a:cs typeface="+mn-cs"/>
                        </a:rPr>
                        <a:t>implementatie digitale zelftriage </a:t>
                      </a:r>
                      <a:r>
                        <a:rPr lang="nl-NL" sz="800" b="1" i="0" u="none" strike="noStrike" kern="1200" err="1">
                          <a:solidFill>
                            <a:srgbClr val="000000"/>
                          </a:solidFill>
                          <a:effectLst/>
                          <a:latin typeface="Verdana" panose="020B0604030504040204" pitchFamily="34" charset="0"/>
                          <a:ea typeface="+mn-ea"/>
                          <a:cs typeface="+mn-cs"/>
                        </a:rPr>
                        <a:t>HAP’s</a:t>
                      </a:r>
                      <a:endParaRPr lang="nl-NL" sz="800" b="1" i="0" u="none" strike="noStrike" kern="1200">
                        <a:solidFill>
                          <a:srgbClr val="000000"/>
                        </a:solidFill>
                        <a:effectLst/>
                        <a:latin typeface="Verdana" panose="020B0604030504040204" pitchFamily="34" charset="0"/>
                        <a:ea typeface="+mn-ea"/>
                        <a:cs typeface="+mn-cs"/>
                      </a:endParaRPr>
                    </a:p>
                  </a:txBody>
                  <a:tcPr marL="7620" marR="7620" marT="7620" marB="0" anchor="ctr">
                    <a:lnL>
                      <a:noFill/>
                    </a:lnL>
                    <a:lnR>
                      <a:noFill/>
                    </a:lnR>
                    <a:lnT>
                      <a:noFill/>
                    </a:lnT>
                    <a:lnB>
                      <a:noFill/>
                    </a:lnB>
                    <a:solidFill>
                      <a:srgbClr val="FFFFFF"/>
                    </a:solidFill>
                  </a:tcPr>
                </a:tc>
                <a:tc hMerge="1">
                  <a:txBody>
                    <a:bodyPr/>
                    <a:lstStyle/>
                    <a:p>
                      <a:endParaRPr lang="nl-NL"/>
                    </a:p>
                  </a:txBody>
                  <a:tcPr/>
                </a:tc>
                <a:extLst>
                  <a:ext uri="{0D108BD9-81ED-4DB2-BD59-A6C34878D82A}">
                    <a16:rowId xmlns:a16="http://schemas.microsoft.com/office/drawing/2014/main" val="839441250"/>
                  </a:ext>
                </a:extLst>
              </a:tr>
              <a:tr h="164796">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8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8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8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8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gridSpan="3">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lang="nl-NL"/>
                    </a:p>
                  </a:txBody>
                  <a:tcPr/>
                </a:tc>
                <a:tc hMerge="1">
                  <a:txBody>
                    <a:bodyPr/>
                    <a:lstStyle/>
                    <a:p>
                      <a:endParaRPr lang="nl-NL"/>
                    </a:p>
                  </a:txBody>
                  <a:tcPr/>
                </a:tc>
                <a:tc gridSpan="2">
                  <a:txBody>
                    <a:bodyPr/>
                    <a:lstStyle/>
                    <a:p>
                      <a:pPr algn="l" fontAlgn="t"/>
                      <a:endParaRPr lang="en-NL" sz="1000" b="0" i="0" u="none" strike="noStrike">
                        <a:solidFill>
                          <a:srgbClr val="000000"/>
                        </a:solidFill>
                        <a:effectLst/>
                        <a:latin typeface="Verdana" panose="020B0604030504040204" pitchFamily="34" charset="0"/>
                      </a:endParaRPr>
                    </a:p>
                  </a:txBody>
                  <a:tcPr marL="7620" marR="7620" marT="7620" marB="0">
                    <a:lnL>
                      <a:noFill/>
                    </a:lnL>
                    <a:lnR>
                      <a:noFill/>
                    </a:lnR>
                    <a:lnT>
                      <a:noFill/>
                    </a:lnT>
                    <a:lnB w="12700" cap="flat" cmpd="sng" algn="ctr">
                      <a:solidFill>
                        <a:srgbClr val="F2F2F2"/>
                      </a:solidFill>
                      <a:prstDash val="solid"/>
                      <a:round/>
                      <a:headEnd type="none" w="med" len="med"/>
                      <a:tailEnd type="none" w="med" len="med"/>
                    </a:lnB>
                    <a:solidFill>
                      <a:srgbClr val="E2F0D9"/>
                    </a:solidFill>
                  </a:tcPr>
                </a:tc>
                <a:tc hMerge="1">
                  <a:txBody>
                    <a:bodyPr/>
                    <a:lstStyle/>
                    <a:p>
                      <a:endParaRPr lang="nl-NL"/>
                    </a:p>
                  </a:txBody>
                  <a:tcPr/>
                </a:tc>
                <a:extLst>
                  <a:ext uri="{0D108BD9-81ED-4DB2-BD59-A6C34878D82A}">
                    <a16:rowId xmlns:a16="http://schemas.microsoft.com/office/drawing/2014/main" val="2636371558"/>
                  </a:ext>
                </a:extLst>
              </a:tr>
              <a:tr h="969001">
                <a:tc gridSpan="2">
                  <a:txBody>
                    <a:bodyPr/>
                    <a:lstStyle/>
                    <a:p>
                      <a:pPr algn="l" rtl="0" fontAlgn="ctr"/>
                      <a:r>
                        <a:rPr lang="nl-NL" sz="1000" b="1" i="0" u="none" strike="noStrike">
                          <a:solidFill>
                            <a:srgbClr val="000000"/>
                          </a:solidFill>
                          <a:effectLst/>
                          <a:latin typeface="Verdana" panose="020B0604030504040204" pitchFamily="34" charset="0"/>
                        </a:rPr>
                        <a:t>Effect </a:t>
                      </a:r>
                      <a:r>
                        <a:rPr lang="nl-NL" sz="1000" b="0" i="0" u="none" strike="noStrike">
                          <a:solidFill>
                            <a:srgbClr val="000000"/>
                          </a:solidFill>
                          <a:effectLst/>
                          <a:latin typeface="Verdana" panose="020B0604030504040204" pitchFamily="34" charset="0"/>
                        </a:rPr>
                        <a:t>van de </a:t>
                      </a:r>
                      <a:r>
                        <a:rPr lang="nl-NL" sz="1000" b="0" i="0" u="none" strike="noStrike" err="1">
                          <a:solidFill>
                            <a:srgbClr val="000000"/>
                          </a:solidFill>
                          <a:effectLst/>
                          <a:latin typeface="Verdana" panose="020B0604030504040204" pitchFamily="34" charset="0"/>
                        </a:rPr>
                        <a:t>usecase</a:t>
                      </a:r>
                      <a:endParaRPr lang="nl-NL" sz="1000" b="1" i="0" u="none" strike="noStrike">
                        <a:solidFill>
                          <a:srgbClr val="000000"/>
                        </a:solidFill>
                        <a:effectLst/>
                        <a:latin typeface="Verdana" panose="020B0604030504040204" pitchFamily="34" charset="0"/>
                      </a:endParaRP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nl-NL" sz="800" b="1" i="0" u="none" strike="noStrike">
                          <a:solidFill>
                            <a:srgbClr val="000000"/>
                          </a:solidFill>
                          <a:effectLst/>
                          <a:latin typeface="Verdana" panose="020B0604030504040204" pitchFamily="34" charset="0"/>
                        </a:rPr>
                        <a:t>30 minuten </a:t>
                      </a:r>
                      <a:r>
                        <a:rPr lang="nl-NL" sz="800" b="0" i="0" u="none" strike="noStrike">
                          <a:solidFill>
                            <a:srgbClr val="000000"/>
                          </a:solidFill>
                          <a:effectLst/>
                          <a:latin typeface="Verdana" panose="020B0604030504040204" pitchFamily="34" charset="0"/>
                        </a:rPr>
                        <a:t>bespaarde tijd per overdracht van/naar GGZ</a:t>
                      </a:r>
                    </a:p>
                    <a:p>
                      <a:pPr algn="l" rtl="0" fontAlgn="ctr"/>
                      <a:endParaRPr lang="nl-NL" sz="800" b="0" i="0" u="none" strike="noStrike">
                        <a:solidFill>
                          <a:srgbClr val="000000"/>
                        </a:solidFill>
                        <a:effectLst/>
                        <a:latin typeface="Verdana" panose="020B0604030504040204" pitchFamily="34" charset="0"/>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nl-NL" sz="800" b="1" i="0" u="none" strike="noStrike">
                          <a:solidFill>
                            <a:srgbClr val="000000"/>
                          </a:solidFill>
                          <a:effectLst/>
                          <a:latin typeface="Verdana" panose="020B0604030504040204" pitchFamily="34" charset="0"/>
                        </a:rPr>
                        <a:t>30 minuten </a:t>
                      </a:r>
                      <a:r>
                        <a:rPr lang="nl-NL" sz="800" b="0" i="0" u="none" strike="noStrike">
                          <a:solidFill>
                            <a:srgbClr val="000000"/>
                          </a:solidFill>
                          <a:effectLst/>
                          <a:latin typeface="Verdana" panose="020B0604030504040204" pitchFamily="34" charset="0"/>
                        </a:rPr>
                        <a:t>bespaarde tijd per overdracht van/naar VVT</a:t>
                      </a:r>
                    </a:p>
                    <a:p>
                      <a:pPr algn="l" rtl="0" fontAlgn="ctr"/>
                      <a:endParaRPr lang="nl-NL" sz="8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l" rtl="0" fontAlgn="ctr"/>
                      <a:r>
                        <a:rPr lang="nl-NL" sz="800" b="1" i="0" u="none" strike="noStrike">
                          <a:solidFill>
                            <a:srgbClr val="000000"/>
                          </a:solidFill>
                          <a:effectLst/>
                          <a:latin typeface="Verdana" panose="020B0604030504040204" pitchFamily="34" charset="0"/>
                        </a:rPr>
                        <a:t>Bericht #13: 30 seconden tijdbesparing </a:t>
                      </a:r>
                      <a:r>
                        <a:rPr lang="nl-NL" sz="800" b="0" i="0" u="none" strike="noStrike">
                          <a:solidFill>
                            <a:srgbClr val="000000"/>
                          </a:solidFill>
                          <a:effectLst/>
                          <a:latin typeface="Verdana" panose="020B0604030504040204" pitchFamily="34" charset="0"/>
                        </a:rPr>
                        <a:t>per uitwisseling</a:t>
                      </a:r>
                    </a:p>
                    <a:p>
                      <a:pPr algn="l" rtl="0" fontAlgn="ctr"/>
                      <a:endParaRPr lang="nl-NL" sz="800" b="0" i="0" u="none" strike="noStrike">
                        <a:solidFill>
                          <a:srgbClr val="000000"/>
                        </a:solidFill>
                        <a:effectLst/>
                        <a:latin typeface="Verdana" panose="020B0604030504040204" pitchFamily="34" charset="0"/>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nl-NL" sz="800" b="1" i="0" u="none" strike="noStrike">
                          <a:solidFill>
                            <a:srgbClr val="000000"/>
                          </a:solidFill>
                          <a:effectLst/>
                          <a:latin typeface="Verdana" panose="020B0604030504040204" pitchFamily="34" charset="0"/>
                        </a:rPr>
                        <a:t>Bericht #14: 90 </a:t>
                      </a:r>
                      <a:r>
                        <a:rPr lang="nl-NL" sz="800" b="0" i="0" u="none" strike="noStrike">
                          <a:solidFill>
                            <a:srgbClr val="000000"/>
                          </a:solidFill>
                          <a:effectLst/>
                          <a:latin typeface="Verdana" panose="020B0604030504040204" pitchFamily="34" charset="0"/>
                        </a:rPr>
                        <a:t>seconden tijdbesparing per uitwisseling</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4">
                  <a:txBody>
                    <a:bodyPr/>
                    <a:lstStyle/>
                    <a:p>
                      <a:pPr algn="l" rtl="0" fontAlgn="ctr"/>
                      <a:r>
                        <a:rPr lang="nl-NL" sz="800" b="1" i="0" u="none" strike="noStrike">
                          <a:solidFill>
                            <a:srgbClr val="000000"/>
                          </a:solidFill>
                          <a:effectLst/>
                          <a:latin typeface="Verdana" panose="020B0604030504040204" pitchFamily="34" charset="0"/>
                        </a:rPr>
                        <a:t>75 euro besparing </a:t>
                      </a:r>
                      <a:r>
                        <a:rPr lang="nl-NL" sz="800" b="0" i="0" u="none" strike="noStrike">
                          <a:solidFill>
                            <a:srgbClr val="000000"/>
                          </a:solidFill>
                          <a:effectLst/>
                          <a:latin typeface="Verdana" panose="020B0604030504040204" pitchFamily="34" charset="0"/>
                        </a:rPr>
                        <a:t>per voorkomen onnodige zorghandeling, als gevolg van:</a:t>
                      </a:r>
                    </a:p>
                    <a:p>
                      <a:pPr marL="171450" indent="-171450" algn="l" rtl="0" fontAlgn="ctr">
                        <a:buFont typeface="Arial" panose="020B0604020202020204" pitchFamily="34" charset="0"/>
                        <a:buChar char="•"/>
                      </a:pPr>
                      <a:r>
                        <a:rPr lang="nl-NL" sz="800" b="0" i="0" u="none" strike="noStrike">
                          <a:solidFill>
                            <a:srgbClr val="000000"/>
                          </a:solidFill>
                          <a:effectLst/>
                          <a:latin typeface="Verdana" panose="020B0604030504040204" pitchFamily="34" charset="0"/>
                        </a:rPr>
                        <a:t>Effecten VVT en GGZ</a:t>
                      </a:r>
                    </a:p>
                    <a:p>
                      <a:pPr marL="171450" indent="-171450" algn="l" rtl="0" fontAlgn="ctr">
                        <a:buFont typeface="Arial" panose="020B0604020202020204" pitchFamily="34" charset="0"/>
                        <a:buChar char="•"/>
                      </a:pPr>
                      <a:r>
                        <a:rPr lang="nl-NL" sz="800" b="0" i="0" u="none" strike="noStrike">
                          <a:solidFill>
                            <a:srgbClr val="000000"/>
                          </a:solidFill>
                          <a:effectLst/>
                          <a:latin typeface="Verdana" panose="020B0604030504040204" pitchFamily="34" charset="0"/>
                        </a:rPr>
                        <a:t>Implementatie berichtnummers 7, 11, 13, 14</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hMerge="1">
                  <a:txBody>
                    <a:bodyPr/>
                    <a:lstStyle/>
                    <a:p>
                      <a:endParaRPr lang="nl-NL"/>
                    </a:p>
                  </a:txBody>
                  <a:tcPr/>
                </a:tc>
                <a:tc hMerge="1">
                  <a:txBody>
                    <a:bodyPr/>
                    <a:lstStyle/>
                    <a:p>
                      <a:endParaRPr lang="nl-NL"/>
                    </a:p>
                  </a:txBody>
                  <a:tcPr/>
                </a:tc>
                <a:tc gridSpan="2">
                  <a:txBody>
                    <a:bodyPr/>
                    <a:lstStyle/>
                    <a:p>
                      <a:pPr marL="0" indent="0" algn="l" rtl="0" fontAlgn="ctr">
                        <a:buFont typeface="Arial" panose="020B0604020202020204" pitchFamily="34" charset="0"/>
                        <a:buNone/>
                      </a:pPr>
                      <a:r>
                        <a:rPr lang="nl-NL" sz="800" b="0" i="0" u="none" strike="noStrike">
                          <a:solidFill>
                            <a:srgbClr val="000000"/>
                          </a:solidFill>
                          <a:effectLst/>
                          <a:latin typeface="Verdana" panose="020B0604030504040204" pitchFamily="34" charset="0"/>
                        </a:rPr>
                        <a:t>Jaarlijks </a:t>
                      </a:r>
                      <a:r>
                        <a:rPr lang="nl-NL" sz="800" b="1" i="0" u="none" strike="noStrike">
                          <a:solidFill>
                            <a:srgbClr val="000000"/>
                          </a:solidFill>
                          <a:effectLst/>
                          <a:latin typeface="Verdana" panose="020B0604030504040204" pitchFamily="34" charset="0"/>
                        </a:rPr>
                        <a:t>205.200 HAP-tel. gesprekken </a:t>
                      </a:r>
                      <a:r>
                        <a:rPr lang="nl-NL" sz="800" b="0" i="0" u="none" strike="noStrike">
                          <a:solidFill>
                            <a:srgbClr val="000000"/>
                          </a:solidFill>
                          <a:effectLst/>
                          <a:latin typeface="Verdana" panose="020B0604030504040204" pitchFamily="34" charset="0"/>
                        </a:rPr>
                        <a:t>te vervangen door digitale zelftriage. Gemiddelde gespreksduur </a:t>
                      </a:r>
                      <a:r>
                        <a:rPr lang="nl-NL" sz="800" b="1" i="0" u="none" strike="noStrike">
                          <a:solidFill>
                            <a:srgbClr val="000000"/>
                          </a:solidFill>
                          <a:effectLst/>
                          <a:latin typeface="Verdana" panose="020B0604030504040204" pitchFamily="34" charset="0"/>
                        </a:rPr>
                        <a:t>6,97 minuten.</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1576964807"/>
                  </a:ext>
                </a:extLst>
              </a:tr>
              <a:tr h="348099">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rgbClr val="7EB572"/>
                      </a:solidFill>
                      <a:prstDash val="solid"/>
                      <a:round/>
                      <a:headEnd type="none" w="med" len="med"/>
                      <a:tailEnd type="none" w="med" len="med"/>
                    </a:lnR>
                    <a:lnT>
                      <a:noFill/>
                    </a:lnT>
                    <a:lnB>
                      <a:noFill/>
                    </a:lnB>
                    <a:solidFill>
                      <a:srgbClr val="7EB572"/>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7EB572"/>
                      </a:solidFill>
                      <a:prstDash val="solid"/>
                      <a:round/>
                      <a:headEnd type="none" w="med" len="med"/>
                      <a:tailEnd type="none" w="med" len="med"/>
                    </a:lnL>
                    <a:lnR w="12700" cap="flat" cmpd="sng" algn="ctr">
                      <a:solidFill>
                        <a:srgbClr val="7EB572"/>
                      </a:solidFill>
                      <a:prstDash val="solid"/>
                      <a:round/>
                      <a:headEnd type="none" w="med" len="med"/>
                      <a:tailEnd type="none" w="med" len="med"/>
                    </a:lnR>
                    <a:lnT>
                      <a:noFill/>
                    </a:lnT>
                    <a:lnB>
                      <a:noFill/>
                    </a:lnB>
                    <a:solidFill>
                      <a:srgbClr val="7EB572"/>
                    </a:solidFill>
                  </a:tcPr>
                </a:tc>
                <a:tc gridSpan="8">
                  <a:txBody>
                    <a:bodyPr/>
                    <a:lstStyle/>
                    <a:p>
                      <a:pPr algn="ctr" rtl="0" fontAlgn="ctr"/>
                      <a:r>
                        <a:rPr lang="nl-NL" sz="1000" b="0" i="1" u="none" strike="noStrike">
                          <a:solidFill>
                            <a:srgbClr val="000000"/>
                          </a:solidFill>
                          <a:effectLst/>
                          <a:latin typeface="Verdana" panose="020B0604030504040204" pitchFamily="34" charset="0"/>
                        </a:rPr>
                        <a:t>Onderstaande inclusiepercentages gelden voor alle doelgroepen en effecten (NB: volgorde van implementatie staat nog niet definitief vast)</a:t>
                      </a:r>
                    </a:p>
                  </a:txBody>
                  <a:tcPr marL="7620" marR="7620" marT="7620" marB="0" anchor="ctr">
                    <a:lnL w="12700" cap="flat" cmpd="sng" algn="ctr">
                      <a:solidFill>
                        <a:srgbClr val="7EB572"/>
                      </a:solidFill>
                      <a:prstDash val="solid"/>
                      <a:round/>
                      <a:headEnd type="none" w="med" len="med"/>
                      <a:tailEnd type="none" w="med" len="med"/>
                    </a:lnL>
                    <a:lnR w="12700" cap="flat" cmpd="sng" algn="ctr">
                      <a:solidFill>
                        <a:srgbClr val="7EB57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nl-NL"/>
                    </a:p>
                  </a:txBody>
                  <a:tcPr/>
                </a:tc>
                <a:tc hMerge="1">
                  <a:txBody>
                    <a:bodyPr/>
                    <a:lstStyle/>
                    <a:p>
                      <a:endParaRPr lang="nl-NL"/>
                    </a:p>
                  </a:txBody>
                  <a:tcPr/>
                </a:tc>
                <a:tc gridSpan="2">
                  <a:txBody>
                    <a:bodyPr/>
                    <a:lstStyle/>
                    <a:p>
                      <a:pPr algn="ctr" rtl="0" fontAlgn="ctr"/>
                      <a:endParaRPr lang="nl-NL" sz="1000" b="0" i="1" u="none" strike="noStrike">
                        <a:solidFill>
                          <a:srgbClr val="000000"/>
                        </a:solidFill>
                        <a:effectLst/>
                        <a:latin typeface="Verdana" panose="020B0604030504040204" pitchFamily="34" charset="0"/>
                      </a:endParaRPr>
                    </a:p>
                  </a:txBody>
                  <a:tcPr marL="7620" marR="7620" marT="7620" marB="0" anchor="ctr">
                    <a:lnL w="12700" cap="flat" cmpd="sng" algn="ctr">
                      <a:solidFill>
                        <a:srgbClr val="7EB572"/>
                      </a:solidFill>
                      <a:prstDash val="solid"/>
                      <a:round/>
                      <a:headEnd type="none" w="med" len="med"/>
                      <a:tailEnd type="none" w="med" len="med"/>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nl-NL"/>
                    </a:p>
                  </a:txBody>
                  <a:tcPr/>
                </a:tc>
                <a:extLst>
                  <a:ext uri="{0D108BD9-81ED-4DB2-BD59-A6C34878D82A}">
                    <a16:rowId xmlns:a16="http://schemas.microsoft.com/office/drawing/2014/main" val="3377944239"/>
                  </a:ext>
                </a:extLst>
              </a:tr>
              <a:tr h="158204">
                <a:tc gridSpan="2">
                  <a:txBody>
                    <a:bodyPr/>
                    <a:lstStyle/>
                    <a:p>
                      <a:pPr algn="l" rtl="0" fontAlgn="ctr"/>
                      <a:r>
                        <a:rPr lang="nl-NL" sz="1000" b="1" i="0" u="none" strike="noStrike">
                          <a:solidFill>
                            <a:srgbClr val="000000"/>
                          </a:solidFill>
                          <a:effectLst/>
                          <a:latin typeface="Verdana" panose="020B0604030504040204" pitchFamily="34" charset="0"/>
                        </a:rPr>
                        <a:t>Inclusie</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endParaRPr lang="nl-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r>
                        <a:rPr lang="nl-NL" sz="800" b="0" i="0" u="none" strike="noStrike">
                          <a:solidFill>
                            <a:srgbClr val="000000"/>
                          </a:solidFill>
                          <a:effectLst/>
                          <a:latin typeface="Verdana" panose="020B0604030504040204" pitchFamily="34" charset="0"/>
                        </a:rPr>
                        <a:t>VVT/GGZ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en-NL"/>
                    </a:p>
                  </a:txBody>
                  <a:tcPr/>
                </a:tc>
                <a:tc gridSpan="2">
                  <a:txBody>
                    <a:bodyPr/>
                    <a:lstStyle/>
                    <a:p>
                      <a:pPr algn="ctr" fontAlgn="t"/>
                      <a:r>
                        <a:rPr lang="nl-NL" sz="800" b="0" i="0" u="none" strike="noStrike">
                          <a:solidFill>
                            <a:srgbClr val="000000"/>
                          </a:solidFill>
                          <a:effectLst/>
                          <a:latin typeface="Verdana" panose="020B0604030504040204" pitchFamily="34" charset="0"/>
                        </a:rPr>
                        <a:t>Berichtnummers</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nl-NL"/>
                    </a:p>
                  </a:txBody>
                  <a:tcPr/>
                </a:tc>
                <a:tc gridSpan="2">
                  <a:txBody>
                    <a:bodyPr/>
                    <a:lstStyle/>
                    <a:p>
                      <a:pPr algn="ctr" fontAlgn="t"/>
                      <a:endParaRPr lang="nl-NL" sz="8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a:noFill/>
                    </a:lnB>
                    <a:solidFill>
                      <a:srgbClr val="FFFFFF"/>
                    </a:solidFill>
                  </a:tcPr>
                </a:tc>
                <a:tc hMerge="1">
                  <a:txBody>
                    <a:bodyPr/>
                    <a:lstStyle/>
                    <a:p>
                      <a:endParaRPr lang="nl-NL"/>
                    </a:p>
                  </a:txBody>
                  <a:tcPr/>
                </a:tc>
                <a:extLst>
                  <a:ext uri="{0D108BD9-81ED-4DB2-BD59-A6C34878D82A}">
                    <a16:rowId xmlns:a16="http://schemas.microsoft.com/office/drawing/2014/main" val="3361457935"/>
                  </a:ext>
                </a:extLst>
              </a:tr>
              <a:tr h="158204">
                <a:tc gridSpan="2">
                  <a:txBody>
                    <a:bodyPr/>
                    <a:lstStyle/>
                    <a:p>
                      <a:pPr algn="r" rtl="0" fontAlgn="ctr"/>
                      <a:r>
                        <a:rPr lang="en-NL" sz="1000" b="0" i="1" u="none" strike="noStrike">
                          <a:solidFill>
                            <a:srgbClr val="000000"/>
                          </a:solidFill>
                          <a:effectLst/>
                          <a:latin typeface="Verdana" panose="020B0604030504040204" pitchFamily="34" charset="0"/>
                        </a:rPr>
                        <a:t>2024</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NL" sz="1000" b="0" i="0" u="none" strike="noStrike">
                          <a:solidFill>
                            <a:srgbClr val="000000"/>
                          </a:solidFill>
                          <a:effectLst/>
                          <a:latin typeface="Verdana" panose="020B0604030504040204" pitchFamily="34" charset="0"/>
                        </a:rPr>
                        <a:t>0%</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nl-NL"/>
                    </a:p>
                  </a:txBody>
                  <a:tcPr/>
                </a:tc>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nl-NL"/>
                    </a:p>
                  </a:txBody>
                  <a:tcPr/>
                </a:tc>
                <a:extLst>
                  <a:ext uri="{0D108BD9-81ED-4DB2-BD59-A6C34878D82A}">
                    <a16:rowId xmlns:a16="http://schemas.microsoft.com/office/drawing/2014/main" val="2403409201"/>
                  </a:ext>
                </a:extLst>
              </a:tr>
              <a:tr h="148243">
                <a:tc gridSpan="2">
                  <a:txBody>
                    <a:bodyPr/>
                    <a:lstStyle/>
                    <a:p>
                      <a:pPr algn="r" rtl="0" fontAlgn="ctr"/>
                      <a:r>
                        <a:rPr lang="en-NL" sz="1000" b="0" i="1" u="none" strike="noStrike">
                          <a:solidFill>
                            <a:srgbClr val="000000"/>
                          </a:solidFill>
                          <a:effectLst/>
                          <a:latin typeface="Verdana" panose="020B0604030504040204" pitchFamily="34" charset="0"/>
                        </a:rPr>
                        <a:t>2025</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6,25%</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en-NL"/>
                    </a:p>
                  </a:txBody>
                  <a:tcPr/>
                </a:tc>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000" b="0" i="0" u="none" strike="noStrike">
                          <a:solidFill>
                            <a:srgbClr val="000000"/>
                          </a:solidFill>
                          <a:effectLst/>
                          <a:latin typeface="Verdana" panose="020B0604030504040204" pitchFamily="34" charset="0"/>
                        </a:rPr>
                        <a:t>6,25%</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nl-NL"/>
                    </a:p>
                  </a:txBody>
                  <a:tcPr/>
                </a:tc>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000" b="0" i="0" u="none" strike="noStrike">
                          <a:solidFill>
                            <a:srgbClr val="000000"/>
                          </a:solidFill>
                          <a:effectLst/>
                          <a:latin typeface="Verdana" panose="020B0604030504040204" pitchFamily="34" charset="0"/>
                        </a:rPr>
                        <a:t>6,25%</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a:noFill/>
                    </a:lnB>
                    <a:solidFill>
                      <a:srgbClr val="FFFFFF"/>
                    </a:solidFill>
                  </a:tcPr>
                </a:tc>
                <a:tc hMerge="1">
                  <a:txBody>
                    <a:bodyPr/>
                    <a:lstStyle/>
                    <a:p>
                      <a:endParaRPr lang="nl-NL"/>
                    </a:p>
                  </a:txBody>
                  <a:tcPr/>
                </a:tc>
                <a:extLst>
                  <a:ext uri="{0D108BD9-81ED-4DB2-BD59-A6C34878D82A}">
                    <a16:rowId xmlns:a16="http://schemas.microsoft.com/office/drawing/2014/main" val="4109188749"/>
                  </a:ext>
                </a:extLst>
              </a:tr>
              <a:tr h="164796">
                <a:tc gridSpan="2">
                  <a:txBody>
                    <a:bodyPr/>
                    <a:lstStyle/>
                    <a:p>
                      <a:pPr algn="r" rtl="0" fontAlgn="ctr"/>
                      <a:r>
                        <a:rPr lang="en-NL" sz="1000" b="0" i="1" u="none" strike="noStrike">
                          <a:solidFill>
                            <a:srgbClr val="000000"/>
                          </a:solidFill>
                          <a:effectLst/>
                          <a:latin typeface="Verdana" panose="020B0604030504040204" pitchFamily="34" charset="0"/>
                        </a:rPr>
                        <a:t>2026</a:t>
                      </a:r>
                    </a:p>
                  </a:txBody>
                  <a:tcPr marL="7620" marR="6858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10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25%</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algn="ctr" fontAlgn="t"/>
                      <a:r>
                        <a:rPr lang="en-GB" sz="1000" b="0" i="0" u="none" strike="noStrike">
                          <a:solidFill>
                            <a:srgbClr val="000000"/>
                          </a:solidFill>
                          <a:effectLst/>
                          <a:latin typeface="Verdana" panose="020B0604030504040204" pitchFamily="34" charset="0"/>
                        </a:rPr>
                        <a:t>10</a:t>
                      </a:r>
                      <a:r>
                        <a:rPr lang="en-NL" sz="1000" b="0" i="0" u="none" strike="noStrike">
                          <a:solidFill>
                            <a:srgbClr val="000000"/>
                          </a:solidFill>
                          <a:effectLst/>
                          <a:latin typeface="Verdana" panose="020B0604030504040204" pitchFamily="34" charset="0"/>
                        </a:rPr>
                        <a:t>%</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en-NL"/>
                    </a:p>
                  </a:txBody>
                  <a:tcPr/>
                </a:tc>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000" b="0" i="0" u="none" strike="noStrike">
                          <a:solidFill>
                            <a:srgbClr val="000000"/>
                          </a:solidFill>
                          <a:effectLst/>
                          <a:latin typeface="Verdana" panose="020B0604030504040204" pitchFamily="34" charset="0"/>
                        </a:rPr>
                        <a:t>25%</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GB" sz="1000" b="0" i="0" u="none" strike="noStrike">
                          <a:solidFill>
                            <a:srgbClr val="000000"/>
                          </a:solidFill>
                          <a:effectLst/>
                          <a:latin typeface="Verdana" panose="020B0604030504040204" pitchFamily="34" charset="0"/>
                        </a:rPr>
                        <a:t>12,5%</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12700" cap="flat" cmpd="sng" algn="ctr">
                      <a:solidFill>
                        <a:srgbClr val="F2F2F2"/>
                      </a:solidFill>
                      <a:prstDash val="solid"/>
                      <a:round/>
                      <a:headEnd type="none" w="med" len="med"/>
                      <a:tailEnd type="none" w="med" len="med"/>
                    </a:lnB>
                    <a:solidFill>
                      <a:srgbClr val="FFFFFF"/>
                    </a:solidFill>
                  </a:tcPr>
                </a:tc>
                <a:tc hMerge="1">
                  <a:txBody>
                    <a:bodyPr/>
                    <a:lstStyle/>
                    <a:p>
                      <a:endParaRPr lang="nl-NL"/>
                    </a:p>
                  </a:txBody>
                  <a:tcPr/>
                </a:tc>
                <a:extLst>
                  <a:ext uri="{0D108BD9-81ED-4DB2-BD59-A6C34878D82A}">
                    <a16:rowId xmlns:a16="http://schemas.microsoft.com/office/drawing/2014/main" val="4155878543"/>
                  </a:ext>
                </a:extLst>
              </a:tr>
              <a:tr h="164796">
                <a:tc gridSpan="2">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w="12700" cap="flat" cmpd="sng" algn="ctr">
                      <a:solidFill>
                        <a:srgbClr val="F2F2F2"/>
                      </a:solidFill>
                      <a:prstDash val="solid"/>
                      <a:round/>
                      <a:headEnd type="none" w="med" len="med"/>
                      <a:tailEnd type="none" w="med" len="med"/>
                    </a:lnR>
                    <a:lnT>
                      <a:noFill/>
                    </a:lnT>
                    <a:lnB>
                      <a:noFill/>
                    </a:lnB>
                    <a:solidFill>
                      <a:srgbClr val="7EB572"/>
                    </a:solidFill>
                  </a:tcPr>
                </a:tc>
                <a:tc hMerge="1">
                  <a:txBody>
                    <a:bodyPr/>
                    <a:lstStyle/>
                    <a:p>
                      <a:endParaRPr lang="en-NL"/>
                    </a:p>
                  </a:txBody>
                  <a:tcPr/>
                </a:tc>
                <a:tc gridSpan="8">
                  <a:txBody>
                    <a:bodyPr/>
                    <a:lstStyle/>
                    <a:p>
                      <a:pPr algn="ctr" fontAlgn="t"/>
                      <a:r>
                        <a:rPr lang="en-NL" sz="1000" b="0" i="0" u="none" strike="noStrike">
                          <a:solidFill>
                            <a:srgbClr val="000000"/>
                          </a:solidFill>
                          <a:effectLst/>
                          <a:latin typeface="Verdana" panose="020B0604030504040204" pitchFamily="34" charset="0"/>
                        </a:rPr>
                        <a:t>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nl-NL"/>
                    </a:p>
                  </a:txBody>
                  <a:tcPr/>
                </a:tc>
                <a:tc hMerge="1">
                  <a:txBody>
                    <a:bodyPr/>
                    <a:lstStyle/>
                    <a:p>
                      <a:endParaRPr lang="nl-NL"/>
                    </a:p>
                  </a:txBody>
                  <a:tcPr/>
                </a:tc>
                <a:tc gridSpan="2">
                  <a:txBody>
                    <a:bodyPr/>
                    <a:lstStyle/>
                    <a:p>
                      <a:pPr algn="ctr" fontAlgn="t"/>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7EB572"/>
                    </a:solidFill>
                  </a:tcPr>
                </a:tc>
                <a:tc hMerge="1">
                  <a:txBody>
                    <a:bodyPr/>
                    <a:lstStyle/>
                    <a:p>
                      <a:endParaRPr lang="nl-NL"/>
                    </a:p>
                  </a:txBody>
                  <a:tcPr/>
                </a:tc>
                <a:extLst>
                  <a:ext uri="{0D108BD9-81ED-4DB2-BD59-A6C34878D82A}">
                    <a16:rowId xmlns:a16="http://schemas.microsoft.com/office/drawing/2014/main" val="3516959528"/>
                  </a:ext>
                </a:extLst>
              </a:tr>
              <a:tr h="276857">
                <a:tc gridSpan="2">
                  <a:txBody>
                    <a:bodyPr/>
                    <a:lstStyle/>
                    <a:p>
                      <a:pPr algn="l" rtl="0" fontAlgn="ctr"/>
                      <a:r>
                        <a:rPr lang="nl-NL" sz="1000" b="0" i="1" u="none" strike="noStrike">
                          <a:solidFill>
                            <a:srgbClr val="000000"/>
                          </a:solidFill>
                          <a:effectLst/>
                          <a:latin typeface="Verdana" panose="020B0604030504040204" pitchFamily="34" charset="0"/>
                        </a:rPr>
                        <a:t>Zorgkosten (in EUR 1000) of FTE</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 Z</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nl-NL" sz="1000" b="1" i="0" u="none" strike="noStrike">
                          <a:solidFill>
                            <a:srgbClr val="000000"/>
                          </a:solidFill>
                          <a:effectLst/>
                          <a:latin typeface="Verdana" panose="020B0604030504040204" pitchFamily="34" charset="0"/>
                        </a:rPr>
                        <a:t>FTE </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585303323"/>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2024</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NL" sz="1000" b="0" i="0" u="none" strike="noStrike">
                          <a:solidFill>
                            <a:srgbClr val="000000"/>
                          </a:solidFill>
                          <a:effectLst/>
                          <a:latin typeface="Verdana" panose="020B0604030504040204" pitchFamily="34" charset="0"/>
                        </a:rPr>
                        <a:t> </a:t>
                      </a:r>
                      <a:r>
                        <a:rPr lang="en-US"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US"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x</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en-NL" sz="1000" b="0" i="0" u="none" strike="noStrike">
                          <a:solidFill>
                            <a:srgbClr val="000000"/>
                          </a:solidFill>
                          <a:effectLst/>
                          <a:latin typeface="Verdana" panose="020B0604030504040204" pitchFamily="34" charset="0"/>
                          <a:ea typeface="Verdana" panose="020B0604030504040204" pitchFamily="34" charset="0"/>
                        </a:rPr>
                        <a:t> </a:t>
                      </a:r>
                      <a:r>
                        <a:rPr lang="en-US" sz="1000" b="0" i="0" u="none" strike="noStrike">
                          <a:solidFill>
                            <a:srgbClr val="000000"/>
                          </a:solidFill>
                          <a:effectLst/>
                          <a:latin typeface="Verdana" panose="020B0604030504040204" pitchFamily="34" charset="0"/>
                          <a:ea typeface="Verdana" panose="020B0604030504040204" pitchFamily="34" charset="0"/>
                        </a:rPr>
                        <a:t>0</a:t>
                      </a:r>
                      <a:endParaRPr lang="nl-NL" sz="1000">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nl-NL" sz="100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en-NL" sz="1000" b="0" i="0" u="none" strike="noStrike">
                          <a:solidFill>
                            <a:srgbClr val="000000"/>
                          </a:solidFill>
                          <a:effectLst/>
                          <a:latin typeface="Verdana" panose="020B0604030504040204" pitchFamily="34" charset="0"/>
                          <a:ea typeface="Verdana" panose="020B0604030504040204" pitchFamily="34" charset="0"/>
                        </a:rPr>
                        <a:t> </a:t>
                      </a:r>
                      <a:r>
                        <a:rPr lang="en-US" sz="1000" b="0" i="0" u="none" strike="noStrike">
                          <a:solidFill>
                            <a:srgbClr val="000000"/>
                          </a:solidFill>
                          <a:effectLst/>
                          <a:latin typeface="Verdana" panose="020B0604030504040204" pitchFamily="34" charset="0"/>
                          <a:ea typeface="Verdana" panose="020B0604030504040204" pitchFamily="34" charset="0"/>
                        </a:rPr>
                        <a:t>0</a:t>
                      </a:r>
                      <a:endParaRPr lang="nl-NL" sz="1000">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nl-NL" sz="100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0</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x</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4201755329"/>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2025</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NL" sz="1000" b="0" i="0" u="none" strike="noStrike">
                          <a:solidFill>
                            <a:srgbClr val="000000"/>
                          </a:solidFill>
                          <a:effectLst/>
                          <a:latin typeface="Verdana" panose="020B0604030504040204" pitchFamily="34" charset="0"/>
                        </a:rPr>
                        <a:t> </a:t>
                      </a:r>
                      <a:r>
                        <a:rPr lang="en-US" sz="1000" b="0" i="0" u="none" strike="noStrike">
                          <a:solidFill>
                            <a:srgbClr val="000000"/>
                          </a:solidFill>
                          <a:effectLst/>
                          <a:latin typeface="Verdana" panose="020B0604030504040204" pitchFamily="34" charset="0"/>
                        </a:rPr>
                        <a:t>0</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US" sz="1000" b="0" i="0" u="none" strike="noStrike">
                          <a:solidFill>
                            <a:srgbClr val="000000"/>
                          </a:solidFill>
                          <a:effectLst/>
                          <a:latin typeface="Verdana" panose="020B0604030504040204" pitchFamily="34" charset="0"/>
                        </a:rPr>
                        <a:t>17</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x</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en-NL" sz="1000" b="0" i="0" u="none" strike="noStrike">
                          <a:solidFill>
                            <a:srgbClr val="000000"/>
                          </a:solidFill>
                          <a:effectLst/>
                          <a:latin typeface="Verdana" panose="020B0604030504040204" pitchFamily="34" charset="0"/>
                          <a:ea typeface="Verdana" panose="020B0604030504040204" pitchFamily="34" charset="0"/>
                        </a:rPr>
                        <a:t> </a:t>
                      </a:r>
                      <a:r>
                        <a:rPr lang="en-US" sz="1000" b="0" i="0" u="none" strike="noStrike">
                          <a:solidFill>
                            <a:srgbClr val="000000"/>
                          </a:solidFill>
                          <a:effectLst/>
                          <a:latin typeface="Verdana" panose="020B0604030504040204" pitchFamily="34" charset="0"/>
                          <a:ea typeface="Verdana" panose="020B0604030504040204" pitchFamily="34" charset="0"/>
                        </a:rPr>
                        <a:t>0</a:t>
                      </a:r>
                      <a:endParaRPr lang="nl-NL" sz="1000">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nl-NL" sz="100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en-NL" sz="1000" b="0" i="0" u="none" strike="noStrike">
                          <a:solidFill>
                            <a:srgbClr val="000000"/>
                          </a:solidFill>
                          <a:effectLst/>
                          <a:latin typeface="Verdana" panose="020B0604030504040204" pitchFamily="34" charset="0"/>
                          <a:ea typeface="Verdana" panose="020B0604030504040204" pitchFamily="34" charset="0"/>
                        </a:rPr>
                        <a:t> </a:t>
                      </a:r>
                      <a:r>
                        <a:rPr lang="en-US" sz="1000" b="0" i="0" u="none" strike="noStrike">
                          <a:solidFill>
                            <a:srgbClr val="000000"/>
                          </a:solidFill>
                          <a:effectLst/>
                          <a:latin typeface="Verdana" panose="020B0604030504040204" pitchFamily="34" charset="0"/>
                          <a:ea typeface="Verdana" panose="020B0604030504040204" pitchFamily="34" charset="0"/>
                        </a:rPr>
                        <a:t>89</a:t>
                      </a:r>
                      <a:endParaRPr lang="nl-NL" sz="1000">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nl-NL" sz="100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45</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x</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390901235"/>
                  </a:ext>
                </a:extLst>
              </a:tr>
              <a:tr h="164796">
                <a:tc gridSpan="2">
                  <a:txBody>
                    <a:bodyPr/>
                    <a:lstStyle/>
                    <a:p>
                      <a:pPr algn="l" rtl="0" fontAlgn="ctr"/>
                      <a:r>
                        <a:rPr lang="nl-NL" sz="1000" b="0" i="0" u="none" strike="noStrike">
                          <a:solidFill>
                            <a:srgbClr val="000000"/>
                          </a:solidFill>
                          <a:effectLst/>
                          <a:latin typeface="Verdana" panose="020B0604030504040204" pitchFamily="34" charset="0"/>
                        </a:rPr>
                        <a:t>Impact 2026</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t"/>
                      <a:r>
                        <a:rPr lang="en-US" sz="1000" b="0" i="0" u="none" strike="noStrike">
                          <a:solidFill>
                            <a:srgbClr val="000000"/>
                          </a:solidFill>
                          <a:effectLst/>
                          <a:latin typeface="Verdana" panose="020B0604030504040204" pitchFamily="34" charset="0"/>
                        </a:rPr>
                        <a:t>14</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rPr>
                        <a:t>x</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NL" sz="1000" b="0" i="0" u="none" strike="noStrike">
                          <a:solidFill>
                            <a:srgbClr val="000000"/>
                          </a:solidFill>
                          <a:effectLst/>
                          <a:latin typeface="Verdana" panose="020B0604030504040204" pitchFamily="34" charset="0"/>
                        </a:rPr>
                        <a:t> </a:t>
                      </a:r>
                      <a:r>
                        <a:rPr lang="en-US" sz="1000" b="0" i="0" u="none" strike="noStrike">
                          <a:solidFill>
                            <a:srgbClr val="000000"/>
                          </a:solidFill>
                          <a:effectLst/>
                          <a:latin typeface="Verdana" panose="020B0604030504040204" pitchFamily="34" charset="0"/>
                        </a:rPr>
                        <a:t>69</a:t>
                      </a:r>
                      <a:endParaRPr lang="en-NL" sz="1000" b="0" i="0" u="none" strike="noStrike">
                        <a:solidFill>
                          <a:srgbClr val="000000"/>
                        </a:solidFill>
                        <a:effectLst/>
                        <a:latin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x</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en-NL" sz="1000" b="0" i="0" u="none" strike="noStrike">
                          <a:solidFill>
                            <a:srgbClr val="000000"/>
                          </a:solidFill>
                          <a:effectLst/>
                          <a:latin typeface="Verdana" panose="020B0604030504040204" pitchFamily="34" charset="0"/>
                          <a:ea typeface="Verdana" panose="020B0604030504040204" pitchFamily="34" charset="0"/>
                        </a:rPr>
                        <a:t> </a:t>
                      </a:r>
                      <a:r>
                        <a:rPr lang="en-US" sz="1000" b="0" i="0" u="none" strike="noStrike">
                          <a:solidFill>
                            <a:srgbClr val="000000"/>
                          </a:solidFill>
                          <a:effectLst/>
                          <a:latin typeface="Verdana" panose="020B0604030504040204" pitchFamily="34" charset="0"/>
                          <a:ea typeface="Verdana" panose="020B0604030504040204" pitchFamily="34" charset="0"/>
                        </a:rPr>
                        <a:t>68</a:t>
                      </a:r>
                      <a:endParaRPr lang="nl-NL" sz="1000">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nl-NL" sz="100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en-NL" sz="1000" b="0" i="0" u="none" strike="noStrike">
                          <a:solidFill>
                            <a:srgbClr val="000000"/>
                          </a:solidFill>
                          <a:effectLst/>
                          <a:latin typeface="Verdana" panose="020B0604030504040204" pitchFamily="34" charset="0"/>
                          <a:ea typeface="Verdana" panose="020B0604030504040204" pitchFamily="34" charset="0"/>
                        </a:rPr>
                        <a:t> </a:t>
                      </a:r>
                      <a:r>
                        <a:rPr lang="en-US" sz="1000" b="0" i="0" u="none" strike="noStrike">
                          <a:solidFill>
                            <a:srgbClr val="000000"/>
                          </a:solidFill>
                          <a:effectLst/>
                          <a:latin typeface="Verdana" panose="020B0604030504040204" pitchFamily="34" charset="0"/>
                          <a:ea typeface="Verdana" panose="020B0604030504040204" pitchFamily="34" charset="0"/>
                        </a:rPr>
                        <a:t>371</a:t>
                      </a:r>
                      <a:endParaRPr lang="nl-NL" sz="1000">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nl-NL" sz="1000">
                          <a:latin typeface="Verdana" panose="020B0604030504040204" pitchFamily="34" charset="0"/>
                          <a:ea typeface="Verdana" panose="020B0604030504040204" pitchFamily="34" charset="0"/>
                        </a:rPr>
                        <a:t>x</a:t>
                      </a: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94</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t"/>
                      <a:r>
                        <a:rPr lang="en-US" sz="1000" b="0" i="0" u="none" strike="noStrike">
                          <a:solidFill>
                            <a:srgbClr val="000000"/>
                          </a:solidFill>
                          <a:effectLst/>
                          <a:latin typeface="Verdana" panose="020B0604030504040204" pitchFamily="34" charset="0"/>
                          <a:ea typeface="Verdana" panose="020B0604030504040204" pitchFamily="34" charset="0"/>
                        </a:rPr>
                        <a:t>x</a:t>
                      </a:r>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593740747"/>
                  </a:ext>
                </a:extLst>
              </a:tr>
              <a:tr h="164796">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a:noFill/>
                    </a:lnT>
                    <a:lnB>
                      <a:noFill/>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a:txBody>
                    <a:bodyPr/>
                    <a:lstStyle/>
                    <a:p>
                      <a:pPr algn="ctr" fontAlgn="t"/>
                      <a:r>
                        <a:rPr lang="en-NL" sz="1000" b="0" i="0" u="none" strike="noStrike">
                          <a:solidFill>
                            <a:srgbClr val="000000"/>
                          </a:solidFill>
                          <a:effectLst/>
                          <a:latin typeface="Verdana" panose="020B0604030504040204" pitchFamily="34" charset="0"/>
                          <a:ea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gridSpan="2">
                  <a:txBody>
                    <a:bodyPr/>
                    <a:lstStyle/>
                    <a:p>
                      <a:pPr algn="ctr" fontAlgn="t"/>
                      <a:r>
                        <a:rPr lang="en-NL" sz="1000" b="0" i="0" u="none" strike="noStrike">
                          <a:solidFill>
                            <a:srgbClr val="000000"/>
                          </a:solidFill>
                          <a:effectLst/>
                          <a:latin typeface="Verdana" panose="020B0604030504040204" pitchFamily="34" charset="0"/>
                          <a:ea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hMerge="1">
                  <a:txBody>
                    <a:bodyPr/>
                    <a:lstStyle/>
                    <a:p>
                      <a:pPr algn="l" fontAlgn="t"/>
                      <a:r>
                        <a:rPr lang="en-NL" sz="1000" b="0" i="0" u="none" strike="noStrike">
                          <a:solidFill>
                            <a:srgbClr val="000000"/>
                          </a:solidFill>
                          <a:effectLst/>
                          <a:latin typeface="Verdana" panose="020B0604030504040204" pitchFamily="34" charset="0"/>
                        </a:rPr>
                        <a:t> </a:t>
                      </a: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gridSpan="2">
                  <a:txBody>
                    <a:bodyPr/>
                    <a:lstStyle/>
                    <a:p>
                      <a:pPr algn="ctr"/>
                      <a:r>
                        <a:rPr lang="en-NL" sz="1000" b="0" i="0" u="none" strike="noStrike">
                          <a:solidFill>
                            <a:srgbClr val="000000"/>
                          </a:solidFill>
                          <a:effectLst/>
                          <a:latin typeface="Verdana" panose="020B0604030504040204" pitchFamily="34" charset="0"/>
                          <a:ea typeface="Verdana" panose="020B0604030504040204" pitchFamily="34" charset="0"/>
                        </a:rPr>
                        <a:t> </a:t>
                      </a:r>
                      <a:endParaRPr lang="nl-NL" sz="1000">
                        <a:latin typeface="Verdana" panose="020B0604030504040204" pitchFamily="34" charset="0"/>
                        <a:ea typeface="Verdana" panose="020B0604030504040204" pitchFamily="34" charset="0"/>
                      </a:endParaRP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hMerge="1">
                  <a:txBody>
                    <a:bodyPr/>
                    <a:lstStyle/>
                    <a:p>
                      <a:endParaRPr lang="nl-NL"/>
                    </a:p>
                  </a:txBody>
                  <a:tcPr/>
                </a:tc>
                <a:tc gridSpan="2">
                  <a:txBody>
                    <a:bodyPr/>
                    <a:lstStyle/>
                    <a:p>
                      <a:pPr algn="ctr" fontAlgn="t"/>
                      <a:endParaRPr lang="en-NL" sz="1000" b="0"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lnL>
                      <a:noFill/>
                    </a:lnL>
                    <a:lnR>
                      <a:noFill/>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E2F0D9"/>
                    </a:solidFill>
                  </a:tcPr>
                </a:tc>
                <a:tc hMerge="1">
                  <a:txBody>
                    <a:bodyPr/>
                    <a:lstStyle/>
                    <a:p>
                      <a:endParaRPr lang="nl-NL"/>
                    </a:p>
                  </a:txBody>
                  <a:tcPr/>
                </a:tc>
                <a:extLst>
                  <a:ext uri="{0D108BD9-81ED-4DB2-BD59-A6C34878D82A}">
                    <a16:rowId xmlns:a16="http://schemas.microsoft.com/office/drawing/2014/main" val="228499642"/>
                  </a:ext>
                </a:extLst>
              </a:tr>
              <a:tr h="270266">
                <a:tc gridSpan="2">
                  <a:txBody>
                    <a:bodyPr/>
                    <a:lstStyle/>
                    <a:p>
                      <a:pPr algn="l" rtl="0" fontAlgn="ctr"/>
                      <a:r>
                        <a:rPr lang="fr-FR" sz="1000" b="1" i="0" u="none" strike="noStrike">
                          <a:solidFill>
                            <a:srgbClr val="000000"/>
                          </a:solidFill>
                          <a:effectLst/>
                          <a:latin typeface="Verdana" panose="020B0604030504040204" pitchFamily="34" charset="0"/>
                        </a:rPr>
                        <a:t>Cum. impact t/m 2026</a:t>
                      </a:r>
                    </a:p>
                  </a:txBody>
                  <a:tcPr marL="7620" marR="7620" marT="7620" marB="0" anchor="ctr">
                    <a:lnL>
                      <a:noFill/>
                    </a:lnL>
                    <a:lnR w="12700" cap="flat" cmpd="sng" algn="ctr">
                      <a:solidFill>
                        <a:srgbClr val="F2F2F2"/>
                      </a:solidFill>
                      <a:prstDash val="solid"/>
                      <a:round/>
                      <a:headEnd type="none" w="med" len="med"/>
                      <a:tailEnd type="none" w="med" len="med"/>
                    </a:lnR>
                    <a:lnT>
                      <a:noFill/>
                    </a:lnT>
                    <a:lnB>
                      <a:noFill/>
                    </a:lnB>
                    <a:solidFill>
                      <a:srgbClr val="E2F0D9"/>
                    </a:solidFill>
                  </a:tcPr>
                </a:tc>
                <a:tc hMerge="1">
                  <a:txBody>
                    <a:bodyPr/>
                    <a:lstStyle/>
                    <a:p>
                      <a:endParaRPr lang="en-NL"/>
                    </a:p>
                  </a:txBody>
                  <a:tcPr/>
                </a:tc>
                <a:tc>
                  <a:txBody>
                    <a:bodyPr/>
                    <a:lstStyle/>
                    <a:p>
                      <a:pPr algn="ctr" fontAlgn="ctr"/>
                      <a:r>
                        <a:rPr lang="en-US" sz="1000" b="1" i="0" u="none" strike="noStrike">
                          <a:solidFill>
                            <a:srgbClr val="000000"/>
                          </a:solidFill>
                          <a:effectLst/>
                          <a:latin typeface="Verdana" panose="020B0604030504040204" pitchFamily="34" charset="0"/>
                        </a:rPr>
                        <a:t>14</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US" sz="1000" b="1" i="0" u="none" strike="noStrike">
                          <a:solidFill>
                            <a:srgbClr val="000000"/>
                          </a:solidFill>
                          <a:effectLst/>
                          <a:latin typeface="Verdana" panose="020B0604030504040204" pitchFamily="34" charset="0"/>
                        </a:rPr>
                        <a:t>x</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NL" sz="1000" b="1" i="0" u="none" strike="noStrike">
                          <a:solidFill>
                            <a:srgbClr val="000000"/>
                          </a:solidFill>
                          <a:effectLst/>
                          <a:latin typeface="Verdana" panose="020B0604030504040204" pitchFamily="34" charset="0"/>
                        </a:rPr>
                        <a:t> </a:t>
                      </a:r>
                      <a:r>
                        <a:rPr lang="en-US" sz="1000" b="1" i="0" u="none" strike="noStrike">
                          <a:solidFill>
                            <a:srgbClr val="000000"/>
                          </a:solidFill>
                          <a:effectLst/>
                          <a:latin typeface="Verdana" panose="020B0604030504040204" pitchFamily="34" charset="0"/>
                        </a:rPr>
                        <a:t>85</a:t>
                      </a:r>
                      <a:endParaRPr lang="en-NL" sz="1000" b="1" i="0" u="none" strike="noStrike">
                        <a:solidFill>
                          <a:srgbClr val="000000"/>
                        </a:solidFill>
                        <a:effectLst/>
                        <a:latin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US" sz="1000" b="1" i="0" u="none" strike="noStrike">
                          <a:solidFill>
                            <a:srgbClr val="000000"/>
                          </a:solidFill>
                          <a:effectLst/>
                          <a:latin typeface="Verdana" panose="020B0604030504040204" pitchFamily="34" charset="0"/>
                          <a:ea typeface="Verdana" panose="020B0604030504040204" pitchFamily="34" charset="0"/>
                        </a:rPr>
                        <a:t>x</a:t>
                      </a:r>
                      <a:endParaRPr lang="en-NL" sz="1000" b="1"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gridSpan="2">
                  <a:txBody>
                    <a:bodyPr/>
                    <a:lstStyle/>
                    <a:p>
                      <a:pPr algn="ctr" fontAlgn="ctr"/>
                      <a:r>
                        <a:rPr lang="en-US" sz="1000" b="1" i="0" u="none" strike="noStrike">
                          <a:solidFill>
                            <a:srgbClr val="000000"/>
                          </a:solidFill>
                          <a:effectLst/>
                          <a:latin typeface="Verdana" panose="020B0604030504040204" pitchFamily="34" charset="0"/>
                          <a:ea typeface="Verdana" panose="020B0604030504040204" pitchFamily="34" charset="0"/>
                        </a:rPr>
                        <a:t>68</a:t>
                      </a:r>
                      <a:r>
                        <a:rPr lang="en-NL" sz="1000" b="1" i="0" u="none" strike="noStrike">
                          <a:solidFill>
                            <a:srgbClr val="000000"/>
                          </a:solidFill>
                          <a:effectLst/>
                          <a:latin typeface="Verdana" panose="020B0604030504040204" pitchFamily="34" charset="0"/>
                          <a:ea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hMerge="1">
                  <a:txBody>
                    <a:bodyPr/>
                    <a:lstStyle/>
                    <a:p>
                      <a:pPr algn="ctr" fontAlgn="ctr"/>
                      <a:r>
                        <a:rPr lang="en-NL" sz="1000" b="0" i="0" u="none" strike="noStrike">
                          <a:solidFill>
                            <a:srgbClr val="000000"/>
                          </a:solidFill>
                          <a:effectLst/>
                          <a:latin typeface="Verdana" panose="020B0604030504040204" pitchFamily="34" charset="0"/>
                        </a:rPr>
                        <a:t> </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en-US" sz="1000" b="1" i="0" u="none" strike="noStrike">
                          <a:solidFill>
                            <a:srgbClr val="000000"/>
                          </a:solidFill>
                          <a:effectLst/>
                          <a:latin typeface="Verdana" panose="020B0604030504040204" pitchFamily="34" charset="0"/>
                          <a:ea typeface="Verdana" panose="020B0604030504040204" pitchFamily="34" charset="0"/>
                        </a:rPr>
                        <a:t>460</a:t>
                      </a:r>
                      <a:r>
                        <a:rPr lang="en-NL" sz="1000" b="1" i="0" u="none" strike="noStrike">
                          <a:solidFill>
                            <a:srgbClr val="000000"/>
                          </a:solidFill>
                          <a:effectLst/>
                          <a:latin typeface="Verdana" panose="020B0604030504040204" pitchFamily="34" charset="0"/>
                          <a:ea typeface="Verdana" panose="020B0604030504040204" pitchFamily="34" charset="0"/>
                        </a:rPr>
                        <a:t> </a:t>
                      </a:r>
                      <a:endParaRPr lang="nl-NL" sz="1000" b="1">
                        <a:latin typeface="Verdana" panose="020B0604030504040204" pitchFamily="34" charset="0"/>
                        <a:ea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a:r>
                        <a:rPr lang="nl-NL" sz="1000" b="1">
                          <a:latin typeface="Verdana" panose="020B0604030504040204" pitchFamily="34" charset="0"/>
                          <a:ea typeface="Verdana" panose="020B0604030504040204" pitchFamily="34" charset="0"/>
                        </a:rPr>
                        <a:t>x</a:t>
                      </a: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US" sz="1000" b="1" i="0" u="none" strike="noStrike">
                          <a:solidFill>
                            <a:srgbClr val="000000"/>
                          </a:solidFill>
                          <a:effectLst/>
                          <a:latin typeface="Verdana" panose="020B0604030504040204" pitchFamily="34" charset="0"/>
                          <a:ea typeface="Verdana" panose="020B0604030504040204" pitchFamily="34" charset="0"/>
                        </a:rPr>
                        <a:t>140</a:t>
                      </a:r>
                      <a:endParaRPr lang="en-NL" sz="1000" b="1"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tc>
                  <a:txBody>
                    <a:bodyPr/>
                    <a:lstStyle/>
                    <a:p>
                      <a:pPr algn="ctr" fontAlgn="ctr"/>
                      <a:r>
                        <a:rPr lang="en-US" sz="1000" b="1" i="0" u="none" strike="noStrike">
                          <a:solidFill>
                            <a:srgbClr val="000000"/>
                          </a:solidFill>
                          <a:effectLst/>
                          <a:latin typeface="Verdana" panose="020B0604030504040204" pitchFamily="34" charset="0"/>
                          <a:ea typeface="Verdana" panose="020B0604030504040204" pitchFamily="34" charset="0"/>
                        </a:rPr>
                        <a:t>x</a:t>
                      </a:r>
                      <a:endParaRPr lang="en-NL" sz="1000" b="1" i="0" u="none" strike="noStrike">
                        <a:solidFill>
                          <a:srgbClr val="000000"/>
                        </a:solidFill>
                        <a:effectLst/>
                        <a:latin typeface="Verdana" panose="020B0604030504040204" pitchFamily="34" charset="0"/>
                        <a:ea typeface="Verdana" panose="020B0604030504040204" pitchFamily="34" charset="0"/>
                      </a:endParaRPr>
                    </a:p>
                  </a:txBody>
                  <a:tcPr marL="7620" marR="7620" marT="762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FFFFF"/>
                    </a:solidFill>
                  </a:tcPr>
                </a:tc>
                <a:extLst>
                  <a:ext uri="{0D108BD9-81ED-4DB2-BD59-A6C34878D82A}">
                    <a16:rowId xmlns:a16="http://schemas.microsoft.com/office/drawing/2014/main" val="2724753538"/>
                  </a:ext>
                </a:extLst>
              </a:tr>
            </a:tbl>
          </a:graphicData>
        </a:graphic>
      </p:graphicFrame>
      <p:sp>
        <p:nvSpPr>
          <p:cNvPr id="58" name="Rectangle 3">
            <a:extLst>
              <a:ext uri="{FF2B5EF4-FFF2-40B4-BE49-F238E27FC236}">
                <a16:creationId xmlns:a16="http://schemas.microsoft.com/office/drawing/2014/main" id="{06C4D9F7-781F-C677-1BA8-626A04717353}"/>
              </a:ext>
            </a:extLst>
          </p:cNvPr>
          <p:cNvSpPr/>
          <p:nvPr/>
        </p:nvSpPr>
        <p:spPr>
          <a:xfrm>
            <a:off x="8412861" y="457201"/>
            <a:ext cx="2557408" cy="436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a:t>Getallen zijn indicatief en worden nog gevalideerd!!</a:t>
            </a:r>
          </a:p>
        </p:txBody>
      </p:sp>
    </p:spTree>
    <p:extLst>
      <p:ext uri="{BB962C8B-B14F-4D97-AF65-F5344CB8AC3E}">
        <p14:creationId xmlns:p14="http://schemas.microsoft.com/office/powerpoint/2010/main" val="40972929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63FF8D-C3BB-6880-B933-E9F45049C577}"/>
              </a:ext>
            </a:extLst>
          </p:cNvPr>
          <p:cNvSpPr>
            <a:spLocks noGrp="1"/>
          </p:cNvSpPr>
          <p:nvPr>
            <p:ph type="title"/>
          </p:nvPr>
        </p:nvSpPr>
        <p:spPr/>
        <p:txBody>
          <a:bodyPr/>
          <a:lstStyle/>
          <a:p>
            <a:r>
              <a:rPr lang="nl-NL" err="1"/>
              <a:t>Usecase</a:t>
            </a:r>
            <a:r>
              <a:rPr lang="nl-NL"/>
              <a:t> 2.5 – Netwerkzorg viewer</a:t>
            </a:r>
            <a:endParaRPr lang="en-NL"/>
          </a:p>
        </p:txBody>
      </p:sp>
    </p:spTree>
    <p:extLst>
      <p:ext uri="{BB962C8B-B14F-4D97-AF65-F5344CB8AC3E}">
        <p14:creationId xmlns:p14="http://schemas.microsoft.com/office/powerpoint/2010/main" val="14454218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10544966" cy="504000"/>
          </a:xfrm>
        </p:spPr>
        <p:txBody>
          <a:bodyPr>
            <a:noAutofit/>
          </a:bodyPr>
          <a:lstStyle/>
          <a:p>
            <a:r>
              <a:rPr lang="nl-NL">
                <a:latin typeface="Verdana Pro" panose="020B0604030504040204" pitchFamily="34" charset="0"/>
              </a:rPr>
              <a:t>Netwerkzorg viewer voor Dossier Inzage – Ambitie</a:t>
            </a:r>
            <a:br>
              <a:rPr lang="nl-NL">
                <a:latin typeface="Verdana Pro" panose="020B0604030504040204" pitchFamily="34" charset="0"/>
              </a:rPr>
            </a:br>
            <a:endParaRPr lang="nl-NL"/>
          </a:p>
        </p:txBody>
      </p:sp>
      <p:sp>
        <p:nvSpPr>
          <p:cNvPr id="41" name="Text Placeholder 40">
            <a:extLst>
              <a:ext uri="{FF2B5EF4-FFF2-40B4-BE49-F238E27FC236}">
                <a16:creationId xmlns:a16="http://schemas.microsoft.com/office/drawing/2014/main" id="{5CA793AA-AECC-ECF9-641A-0BC9CC9F32CE}"/>
              </a:ext>
            </a:extLst>
          </p:cNvPr>
          <p:cNvSpPr>
            <a:spLocks noGrp="1"/>
          </p:cNvSpPr>
          <p:nvPr>
            <p:ph type="body" sz="quarter" idx="10"/>
          </p:nvPr>
        </p:nvSpPr>
        <p:spPr/>
        <p:txBody>
          <a:bodyPr/>
          <a:lstStyle/>
          <a:p>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Faciliteren van multidisciplinaire dossierinzage van inwoners in de regio voor lagere werkdruk en verbeterde zorguitkomsten. </a:t>
            </a:r>
            <a:endParaRPr lang="en-GB"/>
          </a:p>
        </p:txBody>
      </p:sp>
      <p:sp>
        <p:nvSpPr>
          <p:cNvPr id="18" name="Slide Number Placeholder 64">
            <a:extLst>
              <a:ext uri="{FF2B5EF4-FFF2-40B4-BE49-F238E27FC236}">
                <a16:creationId xmlns:a16="http://schemas.microsoft.com/office/drawing/2014/main" id="{46768AC3-7584-1B13-ED04-33BFE518A494}"/>
              </a:ext>
            </a:extLst>
          </p:cNvPr>
          <p:cNvSpPr>
            <a:spLocks noGrp="1"/>
          </p:cNvSpPr>
          <p:nvPr>
            <p:ph type="sldNum" sz="quarter" idx="4"/>
          </p:nvPr>
        </p:nvSpPr>
        <p:spPr>
          <a:xfrm>
            <a:off x="5898218" y="7700970"/>
            <a:ext cx="287338" cy="28733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698A4D3-8B34-4F59-BA76-BF518A49D96C}" type="slidenum">
              <a:rPr kumimoji="0" lang="nl-NL" sz="900" b="0" i="0" u="none" strike="noStrike" kern="1200" cap="none" spc="0" normalizeH="0" baseline="0" noProof="0" smtClean="0">
                <a:ln>
                  <a:noFill/>
                </a:ln>
                <a:solidFill>
                  <a:prstClr val="black">
                    <a:tint val="75000"/>
                  </a:prstClr>
                </a:solidFill>
                <a:effectLst/>
                <a:uLnTx/>
                <a:uFillTx/>
                <a:latin typeface="Verdana" panose="020B0604030504040204" pitchFamily="34" charset="0"/>
                <a:ea typeface="Verdana" panose="020B0604030504040204" pitchFamily="34" charset="0"/>
                <a:cs typeface="+mn-cs"/>
              </a:rPr>
              <a:pPr marL="0" marR="0" lvl="0" indent="0" algn="ctr" defTabSz="914400" rtl="0" eaLnBrk="1" fontAlgn="auto" latinLnBrk="0" hangingPunct="1">
                <a:lnSpc>
                  <a:spcPct val="100000"/>
                </a:lnSpc>
                <a:spcBef>
                  <a:spcPts val="0"/>
                </a:spcBef>
                <a:spcAft>
                  <a:spcPts val="0"/>
                </a:spcAft>
                <a:buClrTx/>
                <a:buSzTx/>
                <a:buFontTx/>
                <a:buNone/>
                <a:tabLst/>
                <a:defRPr/>
              </a:pPr>
              <a:t>58</a:t>
            </a:fld>
            <a:endParaRPr kumimoji="0" lang="nl-NL" sz="900" b="0" i="0" u="none" strike="noStrike" kern="1200" cap="none" spc="0" normalizeH="0" baseline="0" noProof="0">
              <a:ln>
                <a:noFill/>
              </a:ln>
              <a:solidFill>
                <a:prstClr val="black">
                  <a:tint val="75000"/>
                </a:prstClr>
              </a:solidFill>
              <a:effectLst/>
              <a:uLnTx/>
              <a:uFillTx/>
              <a:latin typeface="Verdana" panose="020B0604030504040204" pitchFamily="34" charset="0"/>
              <a:ea typeface="Verdana" panose="020B0604030504040204" pitchFamily="34" charset="0"/>
              <a:cs typeface="+mn-cs"/>
            </a:endParaRPr>
          </a:p>
        </p:txBody>
      </p:sp>
      <p:sp>
        <p:nvSpPr>
          <p:cNvPr id="72" name="Rectangle 1">
            <a:extLst>
              <a:ext uri="{FF2B5EF4-FFF2-40B4-BE49-F238E27FC236}">
                <a16:creationId xmlns:a16="http://schemas.microsoft.com/office/drawing/2014/main" id="{47879BC5-A5C8-ECA8-CDD5-CA6CDE9649D5}"/>
              </a:ext>
            </a:extLst>
          </p:cNvPr>
          <p:cNvSpPr/>
          <p:nvPr/>
        </p:nvSpPr>
        <p:spPr>
          <a:xfrm>
            <a:off x="3801977" y="5842491"/>
            <a:ext cx="7839563" cy="902041"/>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Doorontwikkeling, na 2026:</a:t>
            </a:r>
          </a:p>
          <a:p>
            <a:pPr marL="228600" marR="0" lvl="0" indent="-228600" algn="just" defTabSz="914400" rtl="0" eaLnBrk="1" fontAlgn="auto" latinLnBrk="0" hangingPunct="1">
              <a:lnSpc>
                <a:spcPct val="100000"/>
              </a:lnSpc>
              <a:spcBef>
                <a:spcPts val="0"/>
              </a:spcBef>
              <a:spcAft>
                <a:spcPts val="200"/>
              </a:spcAft>
              <a:buClrTx/>
              <a:buSzTx/>
              <a:buFontTx/>
              <a:buAutoNum type="arabicPeriod"/>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We includeren meer soorten data via het fundament en stellen deze beschikbaar via de netwerkzorg viewer. </a:t>
            </a:r>
          </a:p>
          <a:p>
            <a:pPr marL="228600" marR="0" lvl="0" indent="-228600" algn="just" defTabSz="914400" rtl="0" eaLnBrk="1" fontAlgn="auto" latinLnBrk="0" hangingPunct="1">
              <a:lnSpc>
                <a:spcPct val="100000"/>
              </a:lnSpc>
              <a:spcBef>
                <a:spcPts val="0"/>
              </a:spcBef>
              <a:spcAft>
                <a:spcPts val="200"/>
              </a:spcAft>
              <a:buClrTx/>
              <a:buSzTx/>
              <a:buFontTx/>
              <a:buAutoNum type="arabicPeriod"/>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We bevorderen regionale samenwerkingen door aanvullende (zorg)processen met digitale netwerkzorg functionaliteiten te bieden zoals chat en beeldbellen</a:t>
            </a:r>
          </a:p>
          <a:p>
            <a:pPr marL="228600" marR="0" lvl="0" indent="-228600" algn="just" defTabSz="914400" rtl="0" eaLnBrk="1" fontAlgn="auto" latinLnBrk="0" hangingPunct="1">
              <a:lnSpc>
                <a:spcPct val="100000"/>
              </a:lnSpc>
              <a:spcBef>
                <a:spcPts val="0"/>
              </a:spcBef>
              <a:spcAft>
                <a:spcPts val="200"/>
              </a:spcAft>
              <a:buClrTx/>
              <a:buSzTx/>
              <a:buFontTx/>
              <a:buAutoNum type="arabicPeriod"/>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We maken data ook inzichtelijk voor de inwoner, zodat deze meer regie ervaart over zijn regionale (zorg)paden.  </a:t>
            </a:r>
          </a:p>
        </p:txBody>
      </p:sp>
      <p:sp>
        <p:nvSpPr>
          <p:cNvPr id="73" name="Rectangle: Rounded Corners 25">
            <a:extLst>
              <a:ext uri="{FF2B5EF4-FFF2-40B4-BE49-F238E27FC236}">
                <a16:creationId xmlns:a16="http://schemas.microsoft.com/office/drawing/2014/main" id="{9380CB4F-C8EE-67A2-AFF8-B612AC1BEB49}"/>
              </a:ext>
            </a:extLst>
          </p:cNvPr>
          <p:cNvSpPr/>
          <p:nvPr/>
        </p:nvSpPr>
        <p:spPr>
          <a:xfrm>
            <a:off x="-320420" y="1575535"/>
            <a:ext cx="3809577" cy="2692127"/>
          </a:xfrm>
          <a:prstGeom prst="roundRect">
            <a:avLst>
              <a:gd name="adj" fmla="val 6137"/>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srgbClr val="DDEBCE"/>
              </a:solidFill>
              <a:effectLst/>
              <a:uLnTx/>
              <a:uFillTx/>
              <a:latin typeface="Aptos Display"/>
              <a:ea typeface="+mn-ea"/>
              <a:cs typeface="+mn-cs"/>
            </a:endParaRPr>
          </a:p>
        </p:txBody>
      </p:sp>
      <p:sp>
        <p:nvSpPr>
          <p:cNvPr id="74" name="TextBox 16">
            <a:extLst>
              <a:ext uri="{FF2B5EF4-FFF2-40B4-BE49-F238E27FC236}">
                <a16:creationId xmlns:a16="http://schemas.microsoft.com/office/drawing/2014/main" id="{D81E2C89-12FD-D776-77C0-0D0E9D3D859F}"/>
              </a:ext>
            </a:extLst>
          </p:cNvPr>
          <p:cNvSpPr txBox="1"/>
          <p:nvPr/>
        </p:nvSpPr>
        <p:spPr>
          <a:xfrm>
            <a:off x="80917" y="1604479"/>
            <a:ext cx="3275894" cy="2631490"/>
          </a:xfrm>
          <a:prstGeom prst="rect">
            <a:avLst/>
          </a:prstGeom>
          <a:noFill/>
        </p:spPr>
        <p:txBody>
          <a:bodyPr wrap="square" rtlCol="0">
            <a:spAutoFit/>
          </a:bodyPr>
          <a:lstStyle/>
          <a:p>
            <a:pPr marL="85725" marR="0" lvl="0" indent="-85725"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Kernproblematiek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Dubbel invoeren en opvragen van gegevens, extra controles door onvolledige informatie of het niet ontvangen van data zorgen voor een hoge administratielast.</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Zorgprofessionals behandelen inwoners minder passend door het ontbreken van volledige, juiste of meest recente informatie.</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De zorgkwaliteit daalt door het ontbreken van een gestructureerd overzicht, waardoor zorg niet gepland kan worden en de juiste vragen niet gesteld kunnen worden aan de inwoner.</a:t>
            </a:r>
          </a:p>
          <a:p>
            <a:pPr marL="85725" marR="0" lvl="0" indent="-85725" algn="just"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Dubbele en foutieve diagnoses ontstaan door het niet inzichtelijk hebben van cruciale informatie.</a:t>
            </a: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5" name="Rectangle 18">
            <a:extLst>
              <a:ext uri="{FF2B5EF4-FFF2-40B4-BE49-F238E27FC236}">
                <a16:creationId xmlns:a16="http://schemas.microsoft.com/office/drawing/2014/main" id="{731F3303-507E-3274-646A-068F243B0E01}"/>
              </a:ext>
            </a:extLst>
          </p:cNvPr>
          <p:cNvSpPr/>
          <p:nvPr/>
        </p:nvSpPr>
        <p:spPr>
          <a:xfrm>
            <a:off x="3801978" y="3003216"/>
            <a:ext cx="7839563" cy="2518302"/>
          </a:xfrm>
          <a:prstGeom prst="rect">
            <a:avLst/>
          </a:prstGeom>
          <a:solidFill>
            <a:srgbClr val="DDEBCE"/>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Ambitie, eind 2026:</a:t>
            </a: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Gebruikmakend van de standaardisatie in gegevensvastlegging met behulp van de zorginformatiebouwstenen in de bronsystemen, integreren we deze data tot overzichtelijke views en bundeling van informatie over de grenzen van een organisatie, sector of domein. Directe ontsluiting van data uit diverse bronsysteem</a:t>
            </a:r>
            <a:r>
              <a:rPr lang="nl-NL" sz="1000">
                <a:solidFill>
                  <a:srgbClr val="111111"/>
                </a:solidFill>
                <a:latin typeface="Verdana" panose="020B0604030504040204" pitchFamily="34" charset="0"/>
                <a:ea typeface="Verdana" panose="020B0604030504040204" pitchFamily="34" charset="0"/>
              </a:rPr>
              <a:t> </a:t>
            </a: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geeft het actuele beeld van beschikbare(gezondheids-)informatie over een inwoner. </a:t>
            </a: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endParaRP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We creëren een holistisch beeld van de inwoner met multidisciplinaire inzage, wat tijd bespaart voor een (zorg)professional en helpt bij het leveren van de juiste zorg op de juiste plek op het juiste moment.</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 </a:t>
            </a:r>
            <a:r>
              <a:rPr kumimoji="0" lang="nl-NL" sz="1000" b="0" i="0" u="none" strike="noStrike" kern="1200" cap="none" spc="0" normalizeH="0" baseline="0" noProof="0">
                <a:ln>
                  <a:noFill/>
                </a:ln>
                <a:solidFill>
                  <a:srgbClr val="111111"/>
                </a:solidFill>
                <a:effectLst/>
                <a:uLnTx/>
                <a:uFillTx/>
                <a:latin typeface="Verdana" panose="020B0604030504040204" pitchFamily="34" charset="0"/>
                <a:ea typeface="Verdana" panose="020B0604030504040204" pitchFamily="34" charset="0"/>
                <a:cs typeface="+mn-cs"/>
              </a:rPr>
              <a:t>Daarmee komt de inwoner centraal te staan voor het netwerk van zorg en welzijn in zijn/haar regio. </a:t>
            </a: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endParaRP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Het integrale beeld van de inwoner bevat typisch bruikbare weergaven van informatie van de inwoner, zoals bijvoorbeeld de basis gegevens zoals NAW- en contactgegevens, medische patiënt samenvatting met o.a. allergieën, diagnoses, medicatie en onderzoeksgegevens, verpleegkundige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Calibri"/>
              </a:rPr>
              <a:t>overdrachts</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a:rPr>
              <a:t>)gegevens en behandelwensen, doelen en/of voorkeuren van een inwoner. </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76" name="Rectangle: Rounded Corners 19">
            <a:extLst>
              <a:ext uri="{FF2B5EF4-FFF2-40B4-BE49-F238E27FC236}">
                <a16:creationId xmlns:a16="http://schemas.microsoft.com/office/drawing/2014/main" id="{4BA9868F-6BF4-A7BF-F659-4D758B590C92}"/>
              </a:ext>
            </a:extLst>
          </p:cNvPr>
          <p:cNvSpPr/>
          <p:nvPr/>
        </p:nvSpPr>
        <p:spPr>
          <a:xfrm>
            <a:off x="-228600" y="4361044"/>
            <a:ext cx="3717758" cy="2255655"/>
          </a:xfrm>
          <a:prstGeom prst="roundRect">
            <a:avLst/>
          </a:prstGeom>
          <a:solidFill>
            <a:srgbClr val="5BCBF3"/>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white"/>
                </a:solidFill>
                <a:effectLst/>
                <a:uLnTx/>
                <a:uFillTx/>
                <a:latin typeface="Aptos Display"/>
                <a:ea typeface="+mn-ea"/>
                <a:cs typeface="+mn-cs"/>
              </a:rPr>
              <a:t>     Link IZA-opgaven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nl-NL" sz="1400" b="0" i="0" u="none" strike="noStrike" kern="1200" cap="none" spc="0" normalizeH="0" baseline="0" noProof="0">
              <a:ln>
                <a:noFill/>
              </a:ln>
              <a:solidFill>
                <a:prstClr val="white"/>
              </a:solidFill>
              <a:effectLst/>
              <a:uLnTx/>
              <a:uFillTx/>
              <a:latin typeface="Aptos Display"/>
              <a:ea typeface="+mn-ea"/>
              <a:cs typeface="+mn-cs"/>
            </a:endParaRPr>
          </a:p>
        </p:txBody>
      </p:sp>
      <p:sp>
        <p:nvSpPr>
          <p:cNvPr id="77" name="Rectangle 3">
            <a:extLst>
              <a:ext uri="{FF2B5EF4-FFF2-40B4-BE49-F238E27FC236}">
                <a16:creationId xmlns:a16="http://schemas.microsoft.com/office/drawing/2014/main" id="{9720E506-ACC7-AF7D-10CD-5924AA08390F}"/>
              </a:ext>
            </a:extLst>
          </p:cNvPr>
          <p:cNvSpPr/>
          <p:nvPr/>
        </p:nvSpPr>
        <p:spPr>
          <a:xfrm>
            <a:off x="3801977" y="1597722"/>
            <a:ext cx="7839563" cy="1093863"/>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Huidige situatie</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nl-NL" sz="1000" b="0" i="0" u="none" strike="noStrike" kern="1200" cap="none" spc="0" normalizeH="0" baseline="0" noProof="0">
                <a:ln>
                  <a:noFill/>
                </a:ln>
                <a:solidFill>
                  <a:srgbClr val="111111"/>
                </a:solidFill>
                <a:effectLst/>
                <a:uLnTx/>
                <a:uFillTx/>
                <a:latin typeface="Verdana"/>
                <a:ea typeface="Verdana"/>
                <a:cs typeface="+mn-cs"/>
              </a:rPr>
              <a:t>Professionals hebben geen of beperkte toegang tot (medische) gegevens van inwoners bij dossierhouders in andere . Hierdoor kunnen zij de zorg voor inkomende inwoners niet plannen, de beste zorg niet op tijd leveren en geen gebruik maken van reeds genoteerde informatie. Zorgprofessionals verliezen ook tijd aan het opvragen van informatie bij andere </a:t>
            </a:r>
            <a:r>
              <a:rPr kumimoji="0" lang="nl-NL" sz="1000" b="0" i="0" u="none" strike="noStrike" kern="1200" cap="none" spc="0" normalizeH="0" baseline="0" noProof="0">
                <a:ln>
                  <a:noFill/>
                </a:ln>
                <a:solidFill>
                  <a:srgbClr val="000000"/>
                </a:solidFill>
                <a:effectLst/>
                <a:uLnTx/>
                <a:uFillTx/>
                <a:latin typeface="Verdana"/>
                <a:ea typeface="Verdana"/>
                <a:cs typeface="+mn-cs"/>
              </a:rPr>
              <a:t>zorgorganisaties</a:t>
            </a:r>
            <a:r>
              <a:rPr kumimoji="0" lang="nl-NL" sz="1000" b="0" i="0" u="none" strike="noStrike" kern="1200" cap="none" spc="0" normalizeH="0" baseline="0" noProof="0">
                <a:ln>
                  <a:noFill/>
                </a:ln>
                <a:solidFill>
                  <a:srgbClr val="111111"/>
                </a:solidFill>
                <a:effectLst/>
                <a:uLnTx/>
                <a:uFillTx/>
                <a:latin typeface="Verdana"/>
                <a:ea typeface="Verdana"/>
                <a:cs typeface="+mn-cs"/>
              </a:rPr>
              <a:t> en het structureren en controleren van de juistheid en volledigheid van de data</a:t>
            </a:r>
            <a:r>
              <a:rPr kumimoji="0" lang="nl-NL" sz="1000" b="0" i="0" u="none" strike="noStrike" kern="1200" cap="none" spc="0" normalizeH="0" baseline="0" noProof="0">
                <a:ln>
                  <a:noFill/>
                </a:ln>
                <a:solidFill>
                  <a:prstClr val="black"/>
                </a:solidFill>
                <a:effectLst/>
                <a:uLnTx/>
                <a:uFillTx/>
                <a:latin typeface="Verdana"/>
                <a:ea typeface="Verdana"/>
                <a:cs typeface="Calibri"/>
              </a:rPr>
              <a:t>.</a:t>
            </a:r>
          </a:p>
        </p:txBody>
      </p:sp>
      <p:sp>
        <p:nvSpPr>
          <p:cNvPr id="78" name="Oval 35">
            <a:extLst>
              <a:ext uri="{FF2B5EF4-FFF2-40B4-BE49-F238E27FC236}">
                <a16:creationId xmlns:a16="http://schemas.microsoft.com/office/drawing/2014/main" id="{81D1E044-11C6-7DB1-CDA4-A77964B2B47E}"/>
              </a:ext>
            </a:extLst>
          </p:cNvPr>
          <p:cNvSpPr>
            <a:spLocks/>
          </p:cNvSpPr>
          <p:nvPr/>
        </p:nvSpPr>
        <p:spPr>
          <a:xfrm>
            <a:off x="3621977" y="1482153"/>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79" name="Graphic 78">
            <a:extLst>
              <a:ext uri="{FF2B5EF4-FFF2-40B4-BE49-F238E27FC236}">
                <a16:creationId xmlns:a16="http://schemas.microsoft.com/office/drawing/2014/main" id="{8D7B9EAC-4157-E2CD-769E-F5F8E532E180}"/>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3711977" y="1567655"/>
            <a:ext cx="180000" cy="180000"/>
          </a:xfrm>
          <a:prstGeom prst="rect">
            <a:avLst/>
          </a:prstGeom>
        </p:spPr>
      </p:pic>
      <p:sp>
        <p:nvSpPr>
          <p:cNvPr id="80" name="Oval 35">
            <a:extLst>
              <a:ext uri="{FF2B5EF4-FFF2-40B4-BE49-F238E27FC236}">
                <a16:creationId xmlns:a16="http://schemas.microsoft.com/office/drawing/2014/main" id="{ACF4F459-74EC-6FC0-D634-8E7EA9BA95D9}"/>
              </a:ext>
            </a:extLst>
          </p:cNvPr>
          <p:cNvSpPr>
            <a:spLocks/>
          </p:cNvSpPr>
          <p:nvPr/>
        </p:nvSpPr>
        <p:spPr>
          <a:xfrm>
            <a:off x="3621977" y="2827714"/>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sp>
        <p:nvSpPr>
          <p:cNvPr id="81" name="Freeform: Shape 14">
            <a:extLst>
              <a:ext uri="{FF2B5EF4-FFF2-40B4-BE49-F238E27FC236}">
                <a16:creationId xmlns:a16="http://schemas.microsoft.com/office/drawing/2014/main" id="{2621551F-2046-18DF-E202-DDD0C10BA11E}"/>
              </a:ext>
            </a:extLst>
          </p:cNvPr>
          <p:cNvSpPr/>
          <p:nvPr/>
        </p:nvSpPr>
        <p:spPr>
          <a:xfrm>
            <a:off x="3711977" y="2933180"/>
            <a:ext cx="180000" cy="180000"/>
          </a:xfrm>
          <a:custGeom>
            <a:avLst/>
            <a:gdLst>
              <a:gd name="connsiteX0" fmla="*/ 2272311 w 3728369"/>
              <a:gd name="connsiteY0" fmla="*/ 2474242 h 3249508"/>
              <a:gd name="connsiteX1" fmla="*/ 2058716 w 3728369"/>
              <a:gd name="connsiteY1" fmla="*/ 3191935 h 3249508"/>
              <a:gd name="connsiteX2" fmla="*/ 2137968 w 3728369"/>
              <a:gd name="connsiteY2" fmla="*/ 3233093 h 3249508"/>
              <a:gd name="connsiteX3" fmla="*/ 2777420 w 3728369"/>
              <a:gd name="connsiteY3" fmla="*/ 2478531 h 3249508"/>
              <a:gd name="connsiteX4" fmla="*/ 3617095 w 3728369"/>
              <a:gd name="connsiteY4" fmla="*/ 2416728 h 3249508"/>
              <a:gd name="connsiteX5" fmla="*/ 3676767 w 3728369"/>
              <a:gd name="connsiteY5" fmla="*/ 264263 h 3249508"/>
              <a:gd name="connsiteX6" fmla="*/ 3344307 w 3728369"/>
              <a:gd name="connsiteY6" fmla="*/ 4262 h 3249508"/>
              <a:gd name="connsiteX7" fmla="*/ 360693 w 3728369"/>
              <a:gd name="connsiteY7" fmla="*/ 0 h 3249508"/>
              <a:gd name="connsiteX8" fmla="*/ 28233 w 3728369"/>
              <a:gd name="connsiteY8" fmla="*/ 336722 h 3249508"/>
              <a:gd name="connsiteX9" fmla="*/ 102823 w 3728369"/>
              <a:gd name="connsiteY9" fmla="*/ 2410334 h 3249508"/>
              <a:gd name="connsiteX10" fmla="*/ 266922 w 3728369"/>
              <a:gd name="connsiteY10" fmla="*/ 2461482 h 3249508"/>
              <a:gd name="connsiteX11" fmla="*/ 2272311 w 3728369"/>
              <a:gd name="connsiteY11" fmla="*/ 2474242 h 3249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8369" h="3249508">
                <a:moveTo>
                  <a:pt x="2272311" y="2474242"/>
                </a:moveTo>
                <a:lnTo>
                  <a:pt x="2058716" y="3191935"/>
                </a:lnTo>
                <a:cubicBezTo>
                  <a:pt x="2046435" y="3239060"/>
                  <a:pt x="2106480" y="3270255"/>
                  <a:pt x="2137968" y="3233093"/>
                </a:cubicBezTo>
                <a:lnTo>
                  <a:pt x="2777420" y="2478531"/>
                </a:lnTo>
                <a:cubicBezTo>
                  <a:pt x="2777420" y="2478531"/>
                  <a:pt x="3524843" y="2544304"/>
                  <a:pt x="3617095" y="2416728"/>
                </a:cubicBezTo>
                <a:cubicBezTo>
                  <a:pt x="3717259" y="2278203"/>
                  <a:pt x="3776931" y="703281"/>
                  <a:pt x="3676767" y="264263"/>
                </a:cubicBezTo>
                <a:cubicBezTo>
                  <a:pt x="3637287" y="91187"/>
                  <a:pt x="3519514" y="19713"/>
                  <a:pt x="3344307" y="4262"/>
                </a:cubicBezTo>
                <a:lnTo>
                  <a:pt x="360693" y="0"/>
                </a:lnTo>
                <a:cubicBezTo>
                  <a:pt x="360693" y="0"/>
                  <a:pt x="72668" y="2477"/>
                  <a:pt x="28233" y="336722"/>
                </a:cubicBezTo>
                <a:cubicBezTo>
                  <a:pt x="-25046" y="737379"/>
                  <a:pt x="-4400" y="2291576"/>
                  <a:pt x="102823" y="2410334"/>
                </a:cubicBezTo>
                <a:cubicBezTo>
                  <a:pt x="138573" y="2449921"/>
                  <a:pt x="199524" y="2453091"/>
                  <a:pt x="266922" y="2461482"/>
                </a:cubicBezTo>
                <a:cubicBezTo>
                  <a:pt x="729356" y="2518997"/>
                  <a:pt x="2272311" y="2474242"/>
                  <a:pt x="2272311" y="2474242"/>
                </a:cubicBezTo>
                <a:close/>
              </a:path>
            </a:pathLst>
          </a:custGeom>
          <a:solidFill>
            <a:schemeClr val="bg1"/>
          </a:solidFill>
          <a:ln w="6350" cap="flat">
            <a:solidFill>
              <a:schemeClr val="bg1">
                <a:lumMod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2053" b="0" i="0" u="none" strike="noStrike" kern="1200" cap="none" spc="0" normalizeH="0" baseline="0" noProof="0">
              <a:ln>
                <a:noFill/>
              </a:ln>
              <a:solidFill>
                <a:prstClr val="black"/>
              </a:solidFill>
              <a:effectLst/>
              <a:uLnTx/>
              <a:uFillTx/>
              <a:latin typeface="Aptos"/>
              <a:ea typeface="+mn-ea"/>
              <a:cs typeface="+mn-cs"/>
            </a:endParaRPr>
          </a:p>
        </p:txBody>
      </p:sp>
      <p:sp>
        <p:nvSpPr>
          <p:cNvPr id="82" name="Oval 35">
            <a:extLst>
              <a:ext uri="{FF2B5EF4-FFF2-40B4-BE49-F238E27FC236}">
                <a16:creationId xmlns:a16="http://schemas.microsoft.com/office/drawing/2014/main" id="{2D1FCDB0-36F0-E2BB-F961-892600366B4E}"/>
              </a:ext>
            </a:extLst>
          </p:cNvPr>
          <p:cNvSpPr>
            <a:spLocks/>
          </p:cNvSpPr>
          <p:nvPr/>
        </p:nvSpPr>
        <p:spPr>
          <a:xfrm>
            <a:off x="3621977" y="5633750"/>
            <a:ext cx="360000" cy="360000"/>
          </a:xfrm>
          <a:prstGeom prst="ellipse">
            <a:avLst/>
          </a:prstGeom>
          <a:solidFill>
            <a:srgbClr val="0E9D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83" name="Graphic 82" descr="A cloud though bubble">
            <a:extLst>
              <a:ext uri="{FF2B5EF4-FFF2-40B4-BE49-F238E27FC236}">
                <a16:creationId xmlns:a16="http://schemas.microsoft.com/office/drawing/2014/main" id="{DC2ED18D-E7A9-FE00-24D0-A493B929797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11977" y="5737409"/>
            <a:ext cx="180000" cy="159763"/>
          </a:xfrm>
          <a:prstGeom prst="rect">
            <a:avLst/>
          </a:prstGeom>
        </p:spPr>
      </p:pic>
      <p:grpSp>
        <p:nvGrpSpPr>
          <p:cNvPr id="84" name="Groep 83">
            <a:extLst>
              <a:ext uri="{FF2B5EF4-FFF2-40B4-BE49-F238E27FC236}">
                <a16:creationId xmlns:a16="http://schemas.microsoft.com/office/drawing/2014/main" id="{874C1655-E242-F40A-0B84-26C542F19F03}"/>
              </a:ext>
            </a:extLst>
          </p:cNvPr>
          <p:cNvGrpSpPr/>
          <p:nvPr/>
        </p:nvGrpSpPr>
        <p:grpSpPr>
          <a:xfrm>
            <a:off x="550460" y="1591060"/>
            <a:ext cx="360000" cy="360000"/>
            <a:chOff x="80917" y="1266253"/>
            <a:chExt cx="360000" cy="360000"/>
          </a:xfrm>
        </p:grpSpPr>
        <p:sp>
          <p:nvSpPr>
            <p:cNvPr id="85" name="Oval 35">
              <a:extLst>
                <a:ext uri="{FF2B5EF4-FFF2-40B4-BE49-F238E27FC236}">
                  <a16:creationId xmlns:a16="http://schemas.microsoft.com/office/drawing/2014/main" id="{E1F48316-B2F1-547D-A7AC-A0578B6DBD83}"/>
                </a:ext>
              </a:extLst>
            </p:cNvPr>
            <p:cNvSpPr>
              <a:spLocks/>
            </p:cNvSpPr>
            <p:nvPr/>
          </p:nvSpPr>
          <p:spPr>
            <a:xfrm>
              <a:off x="80917" y="1266253"/>
              <a:ext cx="360000" cy="360000"/>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Aptos"/>
                <a:ea typeface="+mn-ea"/>
                <a:cs typeface="+mn-cs"/>
              </a:endParaRPr>
            </a:p>
          </p:txBody>
        </p:sp>
        <p:pic>
          <p:nvPicPr>
            <p:cNvPr id="86" name="Graphic 85">
              <a:extLst>
                <a:ext uri="{FF2B5EF4-FFF2-40B4-BE49-F238E27FC236}">
                  <a16:creationId xmlns:a16="http://schemas.microsoft.com/office/drawing/2014/main" id="{6397B6E5-5AE2-289E-0925-DCC0C245F6B2}"/>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170917" y="1351755"/>
              <a:ext cx="180000" cy="180000"/>
            </a:xfrm>
            <a:prstGeom prst="rect">
              <a:avLst/>
            </a:prstGeom>
          </p:spPr>
        </p:pic>
      </p:grpSp>
      <p:sp>
        <p:nvSpPr>
          <p:cNvPr id="87" name="TextBox 16">
            <a:extLst>
              <a:ext uri="{FF2B5EF4-FFF2-40B4-BE49-F238E27FC236}">
                <a16:creationId xmlns:a16="http://schemas.microsoft.com/office/drawing/2014/main" id="{576B1CA3-3B8D-5767-5E5D-CE051FA882A2}"/>
              </a:ext>
            </a:extLst>
          </p:cNvPr>
          <p:cNvSpPr txBox="1"/>
          <p:nvPr/>
        </p:nvSpPr>
        <p:spPr>
          <a:xfrm>
            <a:off x="80917" y="4694558"/>
            <a:ext cx="3275894" cy="170046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50" b="1" i="0" u="none" strike="noStrike" kern="1200" cap="none" spc="0" normalizeH="0" baseline="0" noProof="0">
                <a:ln>
                  <a:noFill/>
                </a:ln>
                <a:solidFill>
                  <a:prstClr val="white"/>
                </a:solidFill>
                <a:effectLst/>
                <a:uLnTx/>
                <a:uFillTx/>
                <a:latin typeface="Helvetica"/>
                <a:ea typeface="+mn-ea"/>
                <a:cs typeface="+mn-cs"/>
              </a:rPr>
              <a:t>Verminderen administratieve lasten om zorgprofessionals te ontlasten; </a:t>
            </a:r>
            <a:r>
              <a:rPr kumimoji="0" lang="nl-NL" sz="1050" b="0" i="0" u="none" strike="noStrike" kern="1200" cap="none" spc="0" normalizeH="0" baseline="0" noProof="0">
                <a:ln>
                  <a:noFill/>
                </a:ln>
                <a:solidFill>
                  <a:prstClr val="white"/>
                </a:solidFill>
                <a:effectLst/>
                <a:uLnTx/>
                <a:uFillTx/>
                <a:latin typeface="Helvetica"/>
                <a:ea typeface="+mn-ea"/>
                <a:cs typeface="+mn-cs"/>
              </a:rPr>
              <a:t>minder opzoeken, structureren en controleren van gegevens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50" b="1" i="0" u="none" strike="noStrike" kern="1200" cap="none" spc="0" normalizeH="0" baseline="0" noProof="0">
                <a:ln>
                  <a:noFill/>
                </a:ln>
                <a:solidFill>
                  <a:prstClr val="white"/>
                </a:solidFill>
                <a:effectLst/>
                <a:uLnTx/>
                <a:uFillTx/>
                <a:latin typeface="Helvetica"/>
                <a:ea typeface="+mn-ea"/>
                <a:cs typeface="+mn-cs"/>
              </a:rPr>
              <a:t>Behouden van beschikbare zorgprofessionals; </a:t>
            </a:r>
            <a:r>
              <a:rPr kumimoji="0" lang="nl-NL" sz="1050" b="0" i="0" u="none" strike="noStrike" kern="1200" cap="none" spc="0" normalizeH="0" baseline="0" noProof="0">
                <a:ln>
                  <a:noFill/>
                </a:ln>
                <a:solidFill>
                  <a:prstClr val="white"/>
                </a:solidFill>
                <a:effectLst/>
                <a:uLnTx/>
                <a:uFillTx/>
                <a:latin typeface="Helvetica"/>
                <a:ea typeface="+mn-ea"/>
                <a:cs typeface="+mn-cs"/>
              </a:rPr>
              <a:t>door vergroten werkplezier en meer tijd besteding aan zorg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nl-NL" sz="1050" b="1" i="0" u="none" strike="noStrike" kern="1200" cap="none" spc="0" normalizeH="0" baseline="0" noProof="0">
                <a:ln>
                  <a:noFill/>
                </a:ln>
                <a:solidFill>
                  <a:prstClr val="white"/>
                </a:solidFill>
                <a:effectLst/>
                <a:uLnTx/>
                <a:uFillTx/>
                <a:latin typeface="Helvetica"/>
                <a:ea typeface="+mn-ea"/>
                <a:cs typeface="+mn-cs"/>
              </a:rPr>
              <a:t>Verbeterde zorguitkomsten; </a:t>
            </a:r>
            <a:r>
              <a:rPr kumimoji="0" lang="nl-NL" sz="1050" b="0" i="0" u="none" strike="noStrike" kern="1200" cap="none" spc="0" normalizeH="0" baseline="0" noProof="0">
                <a:ln>
                  <a:noFill/>
                </a:ln>
                <a:solidFill>
                  <a:prstClr val="white"/>
                </a:solidFill>
                <a:effectLst/>
                <a:uLnTx/>
                <a:uFillTx/>
                <a:latin typeface="Helvetica"/>
                <a:ea typeface="+mn-ea"/>
                <a:cs typeface="+mn-cs"/>
              </a:rPr>
              <a:t>passende zorg op tijd kunnen leveren aan de inwoner.  </a:t>
            </a:r>
            <a:r>
              <a:rPr kumimoji="0" lang="nl-NL" sz="1050" b="1" i="0" u="none" strike="noStrike" kern="1200" cap="none" spc="0" normalizeH="0" baseline="0" noProof="0">
                <a:ln>
                  <a:noFill/>
                </a:ln>
                <a:solidFill>
                  <a:prstClr val="white"/>
                </a:solidFill>
                <a:effectLst/>
                <a:uLnTx/>
                <a:uFillTx/>
                <a:latin typeface="Helvetica"/>
                <a:ea typeface="+mn-ea"/>
                <a:cs typeface="+mn-cs"/>
              </a:rPr>
              <a:t> </a:t>
            </a:r>
          </a:p>
        </p:txBody>
      </p:sp>
      <p:sp>
        <p:nvSpPr>
          <p:cNvPr id="88" name="Gelijkbenige driehoek 87">
            <a:extLst>
              <a:ext uri="{FF2B5EF4-FFF2-40B4-BE49-F238E27FC236}">
                <a16:creationId xmlns:a16="http://schemas.microsoft.com/office/drawing/2014/main" id="{A85D68B5-81E6-C756-4F3B-5F6D64FC5EE7}"/>
              </a:ext>
            </a:extLst>
          </p:cNvPr>
          <p:cNvSpPr/>
          <p:nvPr/>
        </p:nvSpPr>
        <p:spPr>
          <a:xfrm rot="10800000">
            <a:off x="6715433" y="2744869"/>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89" name="Gelijkbenige driehoek 88">
            <a:extLst>
              <a:ext uri="{FF2B5EF4-FFF2-40B4-BE49-F238E27FC236}">
                <a16:creationId xmlns:a16="http://schemas.microsoft.com/office/drawing/2014/main" id="{A8DB06C8-10A3-0F38-007B-7B3DF44DC358}"/>
              </a:ext>
            </a:extLst>
          </p:cNvPr>
          <p:cNvSpPr/>
          <p:nvPr/>
        </p:nvSpPr>
        <p:spPr>
          <a:xfrm rot="10800000">
            <a:off x="6715433" y="5568923"/>
            <a:ext cx="1814052" cy="2203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Tekstvak 90">
            <a:extLst>
              <a:ext uri="{FF2B5EF4-FFF2-40B4-BE49-F238E27FC236}">
                <a16:creationId xmlns:a16="http://schemas.microsoft.com/office/drawing/2014/main" id="{A0EFD0A2-4B5D-1988-5AC6-2EDDFA28C453}"/>
              </a:ext>
            </a:extLst>
          </p:cNvPr>
          <p:cNvSpPr txBox="1"/>
          <p:nvPr/>
        </p:nvSpPr>
        <p:spPr>
          <a:xfrm>
            <a:off x="4003533" y="6968527"/>
            <a:ext cx="6345140" cy="553998"/>
          </a:xfrm>
          <a:prstGeom prst="rect">
            <a:avLst/>
          </a:prstGeom>
          <a:solidFill>
            <a:schemeClr val="bg1"/>
          </a:solidFill>
          <a:ln w="12700">
            <a:solidFill>
              <a:schemeClr val="bg2"/>
            </a:solid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defPPr>
              <a:defRPr lang="en-NL"/>
            </a:defPPr>
            <a:lvl1pPr marR="0" lvl="0" indent="0" algn="just" fontAlgn="auto">
              <a:lnSpc>
                <a:spcPct val="100000"/>
              </a:lnSpc>
              <a:spcBef>
                <a:spcPts val="0"/>
              </a:spcBef>
              <a:spcAft>
                <a:spcPts val="200"/>
              </a:spcAft>
              <a:buClrTx/>
              <a:buSzTx/>
              <a:buFontTx/>
              <a:buNone/>
              <a:tabLst/>
              <a:defRPr kumimoji="0" sz="1000" b="1" i="0" u="none" strike="noStrike" cap="none" spc="0" normalizeH="0" baseline="0">
                <a:ln>
                  <a:noFill/>
                </a:ln>
                <a:solidFill>
                  <a:prstClr val="black"/>
                </a:solidFill>
                <a:effectLst/>
                <a:uLnTx/>
                <a:uFillTx/>
                <a:latin typeface="Verdana" panose="020B0604030504040204" pitchFamily="34" charset="0"/>
                <a:ea typeface="Verdana" panose="020B0604030504040204" pitchFamily="34"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just" defTabSz="914400" rtl="0" eaLnBrk="1" fontAlgn="auto" latinLnBrk="0" hangingPunct="1">
              <a:lnSpc>
                <a:spcPct val="100000"/>
              </a:lnSpc>
              <a:spcBef>
                <a:spcPts val="0"/>
              </a:spcBef>
              <a:spcAft>
                <a:spcPts val="2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Dit bereiken we een netwerkzorg viewer te selecteren (niet bouwen) en implementeren die organisatie-overstijgend data van een inwoner beschikbaar maakt voor de (zorg)professional vanuit de context van het eigen (bron) dossier.</a:t>
            </a:r>
          </a:p>
        </p:txBody>
      </p:sp>
      <p:sp>
        <p:nvSpPr>
          <p:cNvPr id="5" name="Rechthoek: afgeronde hoeken 4">
            <a:extLst>
              <a:ext uri="{FF2B5EF4-FFF2-40B4-BE49-F238E27FC236}">
                <a16:creationId xmlns:a16="http://schemas.microsoft.com/office/drawing/2014/main" id="{00BF2ABD-561B-7670-A567-A63DBF3D4661}"/>
              </a:ext>
            </a:extLst>
          </p:cNvPr>
          <p:cNvSpPr/>
          <p:nvPr/>
        </p:nvSpPr>
        <p:spPr>
          <a:xfrm>
            <a:off x="0" y="6797755"/>
            <a:ext cx="10145303"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Top Corners Rounded 38">
            <a:hlinkClick r:id="rId11" action="ppaction://hlinksldjump"/>
            <a:extLst>
              <a:ext uri="{FF2B5EF4-FFF2-40B4-BE49-F238E27FC236}">
                <a16:creationId xmlns:a16="http://schemas.microsoft.com/office/drawing/2014/main" id="{B6BDE70E-F5CE-C9DB-EA5C-9E10FCA3B690}"/>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6" name="Graphic 5" descr="Introductiepagina silhouet">
            <a:hlinkClick r:id="rId12" action="ppaction://hlinksldjump"/>
            <a:extLst>
              <a:ext uri="{FF2B5EF4-FFF2-40B4-BE49-F238E27FC236}">
                <a16:creationId xmlns:a16="http://schemas.microsoft.com/office/drawing/2014/main" id="{D4D20381-7D53-58CA-22CE-19A71059E4D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136" y="147223"/>
            <a:ext cx="144000" cy="144000"/>
          </a:xfrm>
          <a:prstGeom prst="rect">
            <a:avLst/>
          </a:prstGeom>
        </p:spPr>
      </p:pic>
      <p:sp>
        <p:nvSpPr>
          <p:cNvPr id="7" name="Rectangle: Top Corners Rounded 1">
            <a:hlinkClick r:id="rId15" action="ppaction://hlinksldjump"/>
            <a:extLst>
              <a:ext uri="{FF2B5EF4-FFF2-40B4-BE49-F238E27FC236}">
                <a16:creationId xmlns:a16="http://schemas.microsoft.com/office/drawing/2014/main" id="{5A4E389D-64F0-795B-B5EE-07BD058350E6}"/>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8" name="Rectangle: Top Corners Rounded 1">
            <a:hlinkClick r:id="rId16" action="ppaction://hlinksldjump"/>
            <a:extLst>
              <a:ext uri="{FF2B5EF4-FFF2-40B4-BE49-F238E27FC236}">
                <a16:creationId xmlns:a16="http://schemas.microsoft.com/office/drawing/2014/main" id="{A6254DBF-28EE-FE25-FB70-F2F2C757B5D3}"/>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9" name="Rectangle: Top Corners Rounded 1">
            <a:hlinkClick r:id="rId17" action="ppaction://hlinksldjump"/>
            <a:extLst>
              <a:ext uri="{FF2B5EF4-FFF2-40B4-BE49-F238E27FC236}">
                <a16:creationId xmlns:a16="http://schemas.microsoft.com/office/drawing/2014/main" id="{D1EB6782-F3C3-8EB6-F503-A4A51B0B13F5}"/>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8" action="ppaction://hlinksldjump"/>
            <a:extLst>
              <a:ext uri="{FF2B5EF4-FFF2-40B4-BE49-F238E27FC236}">
                <a16:creationId xmlns:a16="http://schemas.microsoft.com/office/drawing/2014/main" id="{6222475C-4AB1-DE3B-F70B-53435D20E87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9" action="ppaction://hlinksldjump"/>
            <a:extLst>
              <a:ext uri="{FF2B5EF4-FFF2-40B4-BE49-F238E27FC236}">
                <a16:creationId xmlns:a16="http://schemas.microsoft.com/office/drawing/2014/main" id="{E0F413FA-FD7D-C62B-ED2E-BAC31758B850}"/>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20" action="ppaction://hlinksldjump"/>
            <a:extLst>
              <a:ext uri="{FF2B5EF4-FFF2-40B4-BE49-F238E27FC236}">
                <a16:creationId xmlns:a16="http://schemas.microsoft.com/office/drawing/2014/main" id="{070F2B5E-C0CD-971C-3728-089F49F20A3A}"/>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4" name="Rectangle: Top Corners Rounded 1">
            <a:hlinkClick r:id="rId21" action="ppaction://hlinksldjump"/>
            <a:extLst>
              <a:ext uri="{FF2B5EF4-FFF2-40B4-BE49-F238E27FC236}">
                <a16:creationId xmlns:a16="http://schemas.microsoft.com/office/drawing/2014/main" id="{F0D9DBD0-7BFB-4F0F-D755-BD86325B6CCC}"/>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5" name="Rectangle: Top Corners Rounded 1">
            <a:hlinkClick r:id="rId22" action="ppaction://hlinksldjump"/>
            <a:extLst>
              <a:ext uri="{FF2B5EF4-FFF2-40B4-BE49-F238E27FC236}">
                <a16:creationId xmlns:a16="http://schemas.microsoft.com/office/drawing/2014/main" id="{67949016-F644-8494-B5D6-ED417637682A}"/>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6" name="Rectangle: Top Corners Rounded 1">
            <a:hlinkClick r:id="rId23" action="ppaction://hlinksldjump"/>
            <a:extLst>
              <a:ext uri="{FF2B5EF4-FFF2-40B4-BE49-F238E27FC236}">
                <a16:creationId xmlns:a16="http://schemas.microsoft.com/office/drawing/2014/main" id="{773AC9B7-0C91-0A31-10D6-0686CAF4A5C9}"/>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7" name="Rectangle: Top Corners Rounded 1">
            <a:hlinkClick r:id="rId24" action="ppaction://hlinksldjump"/>
            <a:extLst>
              <a:ext uri="{FF2B5EF4-FFF2-40B4-BE49-F238E27FC236}">
                <a16:creationId xmlns:a16="http://schemas.microsoft.com/office/drawing/2014/main" id="{A31FF8EC-2FAB-72A6-D2FF-6FAA3CE539A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0" name="Rectangle: Top Corners Rounded 1">
            <a:hlinkClick r:id="rId25" action="ppaction://hlinksldjump"/>
            <a:extLst>
              <a:ext uri="{FF2B5EF4-FFF2-40B4-BE49-F238E27FC236}">
                <a16:creationId xmlns:a16="http://schemas.microsoft.com/office/drawing/2014/main" id="{6E15E780-664A-BD81-854E-7C261B1B70D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25294891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DC402-ABD6-AB25-7AA5-14CDCE586634}"/>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974B93E1-9960-7B87-EA4E-A14C37536036}"/>
              </a:ext>
            </a:extLst>
          </p:cNvPr>
          <p:cNvSpPr>
            <a:spLocks noGrp="1"/>
          </p:cNvSpPr>
          <p:nvPr>
            <p:ph type="title"/>
          </p:nvPr>
        </p:nvSpPr>
        <p:spPr>
          <a:xfrm>
            <a:off x="425302" y="465998"/>
            <a:ext cx="10364618" cy="504000"/>
          </a:xfrm>
        </p:spPr>
        <p:txBody>
          <a:bodyPr>
            <a:noAutofit/>
          </a:bodyPr>
          <a:lstStyle/>
          <a:p>
            <a:r>
              <a:rPr lang="nl-NL" dirty="0">
                <a:latin typeface="Verdana Pro" panose="020B0604030504040204" pitchFamily="34" charset="0"/>
              </a:rPr>
              <a:t>Netwerkzorg viewer voor Dossier Inzage</a:t>
            </a:r>
            <a:endParaRPr lang="nl-NL" dirty="0"/>
          </a:p>
        </p:txBody>
      </p:sp>
      <p:sp>
        <p:nvSpPr>
          <p:cNvPr id="41" name="Text Placeholder 40">
            <a:extLst>
              <a:ext uri="{FF2B5EF4-FFF2-40B4-BE49-F238E27FC236}">
                <a16:creationId xmlns:a16="http://schemas.microsoft.com/office/drawing/2014/main" id="{98A24BD7-614F-AD1A-DC5A-65CB7435EC83}"/>
              </a:ext>
            </a:extLst>
          </p:cNvPr>
          <p:cNvSpPr>
            <a:spLocks noGrp="1"/>
          </p:cNvSpPr>
          <p:nvPr>
            <p:ph type="body" sz="quarter" idx="10"/>
          </p:nvPr>
        </p:nvSpPr>
        <p:spPr>
          <a:xfrm>
            <a:off x="425302" y="969998"/>
            <a:ext cx="10764668" cy="504000"/>
          </a:xfrm>
        </p:spPr>
        <p:txBody>
          <a:bodyPr/>
          <a:lstStyle/>
          <a:p>
            <a:r>
              <a:rPr lang="nl-NL">
                <a:sym typeface="Wingdings" panose="05000000000000000000" pitchFamily="2" charset="2"/>
              </a:rPr>
              <a:t>De netwerkzorg viewer draagt bij aan het ontlasten en ontzorgen van professionals, </a:t>
            </a:r>
            <a:r>
              <a:rPr lang="nl-NL"/>
              <a:t>door een effectievere toegang tot actuele (zorg-)informatie met een 360-graden beeld van de inwoner. </a:t>
            </a:r>
            <a:endParaRPr lang="nl-NL">
              <a:sym typeface="Wingdings" panose="05000000000000000000" pitchFamily="2" charset="2"/>
            </a:endParaRPr>
          </a:p>
        </p:txBody>
      </p:sp>
      <p:sp>
        <p:nvSpPr>
          <p:cNvPr id="3" name="Rectangle: Top Corners Rounded 38">
            <a:hlinkClick r:id="" action="ppaction://noaction"/>
            <a:extLst>
              <a:ext uri="{FF2B5EF4-FFF2-40B4-BE49-F238E27FC236}">
                <a16:creationId xmlns:a16="http://schemas.microsoft.com/office/drawing/2014/main" id="{9266A795-28ED-1943-E200-34B7CB60B549}"/>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6" name="Graphic 5" descr="Introductiepagina silhouet">
            <a:hlinkClick r:id="" action="ppaction://noaction"/>
            <a:extLst>
              <a:ext uri="{FF2B5EF4-FFF2-40B4-BE49-F238E27FC236}">
                <a16:creationId xmlns:a16="http://schemas.microsoft.com/office/drawing/2014/main" id="{5D02FA60-A7DC-F97D-D0FD-5BD9F0A0BC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136" y="147223"/>
            <a:ext cx="144000" cy="144000"/>
          </a:xfrm>
          <a:prstGeom prst="rect">
            <a:avLst/>
          </a:prstGeom>
        </p:spPr>
      </p:pic>
      <p:sp>
        <p:nvSpPr>
          <p:cNvPr id="7" name="Rectangle: Top Corners Rounded 1">
            <a:hlinkClick r:id="" action="ppaction://noaction"/>
            <a:extLst>
              <a:ext uri="{FF2B5EF4-FFF2-40B4-BE49-F238E27FC236}">
                <a16:creationId xmlns:a16="http://schemas.microsoft.com/office/drawing/2014/main" id="{611A3D74-4DCB-47D8-69BA-485EC04F0E0A}"/>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8" name="Rectangle: Top Corners Rounded 1">
            <a:hlinkClick r:id="" action="ppaction://noaction"/>
            <a:extLst>
              <a:ext uri="{FF2B5EF4-FFF2-40B4-BE49-F238E27FC236}">
                <a16:creationId xmlns:a16="http://schemas.microsoft.com/office/drawing/2014/main" id="{AC5E72D2-23EF-B360-9683-5CE436B8801A}"/>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9" name="Rectangle: Top Corners Rounded 1">
            <a:hlinkClick r:id="" action="ppaction://noaction"/>
            <a:extLst>
              <a:ext uri="{FF2B5EF4-FFF2-40B4-BE49-F238E27FC236}">
                <a16:creationId xmlns:a16="http://schemas.microsoft.com/office/drawing/2014/main" id="{B34713E4-6F98-8B44-6006-3B28B1DC1A3B}"/>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11" name="Rectangle: Top Corners Rounded 1">
            <a:hlinkClick r:id="" action="ppaction://noaction"/>
            <a:extLst>
              <a:ext uri="{FF2B5EF4-FFF2-40B4-BE49-F238E27FC236}">
                <a16:creationId xmlns:a16="http://schemas.microsoft.com/office/drawing/2014/main" id="{6F1EA22B-029A-142F-05AB-F03E1A83FEFB}"/>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Digitale (zorg) communicatie</a:t>
            </a:r>
          </a:p>
        </p:txBody>
      </p:sp>
      <p:sp>
        <p:nvSpPr>
          <p:cNvPr id="12" name="Rectangle: Top Corners Rounded 1">
            <a:hlinkClick r:id="" action="ppaction://noaction"/>
            <a:extLst>
              <a:ext uri="{FF2B5EF4-FFF2-40B4-BE49-F238E27FC236}">
                <a16:creationId xmlns:a16="http://schemas.microsoft.com/office/drawing/2014/main" id="{99E04B87-04CD-0D25-152F-02B3351BF9A7}"/>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13" name="Rectangle: Top Corners Rounded 1">
            <a:hlinkClick r:id="" action="ppaction://noaction"/>
            <a:extLst>
              <a:ext uri="{FF2B5EF4-FFF2-40B4-BE49-F238E27FC236}">
                <a16:creationId xmlns:a16="http://schemas.microsoft.com/office/drawing/2014/main" id="{E04B49AB-AAA9-E6AA-3DBA-8FB59AE7481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14" name="Rectangle: Top Corners Rounded 1">
            <a:hlinkClick r:id="" action="ppaction://noaction"/>
            <a:extLst>
              <a:ext uri="{FF2B5EF4-FFF2-40B4-BE49-F238E27FC236}">
                <a16:creationId xmlns:a16="http://schemas.microsoft.com/office/drawing/2014/main" id="{EAA1534D-64CC-40BB-2269-EEF3B7B6B222}"/>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15" name="Rectangle: Top Corners Rounded 1">
            <a:hlinkClick r:id="" action="ppaction://noaction"/>
            <a:extLst>
              <a:ext uri="{FF2B5EF4-FFF2-40B4-BE49-F238E27FC236}">
                <a16:creationId xmlns:a16="http://schemas.microsoft.com/office/drawing/2014/main" id="{DCA3E3AF-67D2-020A-24BD-BEF51F4F1D9D}"/>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16" name="Rectangle: Top Corners Rounded 1">
            <a:hlinkClick r:id="" action="ppaction://noaction"/>
            <a:extLst>
              <a:ext uri="{FF2B5EF4-FFF2-40B4-BE49-F238E27FC236}">
                <a16:creationId xmlns:a16="http://schemas.microsoft.com/office/drawing/2014/main" id="{C1C037CC-AC7F-5C2B-7823-089289BA54E4}"/>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17" name="Rectangle: Top Corners Rounded 1">
            <a:hlinkClick r:id="" action="ppaction://noaction"/>
            <a:extLst>
              <a:ext uri="{FF2B5EF4-FFF2-40B4-BE49-F238E27FC236}">
                <a16:creationId xmlns:a16="http://schemas.microsoft.com/office/drawing/2014/main" id="{736A700E-2026-91DF-336B-E759C2CCE620}"/>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30" name="Rectangle: Top Corners Rounded 1">
            <a:hlinkClick r:id="" action="ppaction://noaction"/>
            <a:extLst>
              <a:ext uri="{FF2B5EF4-FFF2-40B4-BE49-F238E27FC236}">
                <a16:creationId xmlns:a16="http://schemas.microsoft.com/office/drawing/2014/main" id="{4FFC770C-946A-46CC-C299-4D7FB23FF45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sp>
        <p:nvSpPr>
          <p:cNvPr id="5" name="Tijdelijke aanduiding voor inhoud 2">
            <a:extLst>
              <a:ext uri="{FF2B5EF4-FFF2-40B4-BE49-F238E27FC236}">
                <a16:creationId xmlns:a16="http://schemas.microsoft.com/office/drawing/2014/main" id="{59C1049F-40EF-B112-2236-5FD42485DBAF}"/>
              </a:ext>
            </a:extLst>
          </p:cNvPr>
          <p:cNvSpPr>
            <a:spLocks noGrp="1"/>
          </p:cNvSpPr>
          <p:nvPr>
            <p:ph idx="1"/>
          </p:nvPr>
        </p:nvSpPr>
        <p:spPr>
          <a:xfrm>
            <a:off x="479414" y="1977998"/>
            <a:ext cx="11233171" cy="3548329"/>
          </a:xfrm>
        </p:spPr>
        <p:txBody>
          <a:bodyPr vert="horz" lIns="91440" tIns="45720" rIns="91440" bIns="45720" rtlCol="0" anchor="t">
            <a:noAutofit/>
          </a:bodyPr>
          <a:lstStyle/>
          <a:p>
            <a:pPr algn="just">
              <a:defRPr/>
            </a:pPr>
            <a:r>
              <a:rPr lang="nl-NL" dirty="0">
                <a:latin typeface="Verdana"/>
                <a:ea typeface="Verdana"/>
              </a:rPr>
              <a:t>De netwerkzorg viewer is de presentatie laag voor gebruikers (user interface), waarbij er gebruik wordt gemaakt van de gestandaardiseerde wijze van koppelingen (</a:t>
            </a:r>
            <a:r>
              <a:rPr lang="nl-NL" dirty="0" err="1">
                <a:latin typeface="Verdana"/>
                <a:ea typeface="Verdana"/>
              </a:rPr>
              <a:t>API’s</a:t>
            </a:r>
            <a:r>
              <a:rPr lang="nl-NL" dirty="0">
                <a:latin typeface="Verdana"/>
                <a:ea typeface="Verdana"/>
              </a:rPr>
              <a:t>) en uitwisseling van gestandaardiseerde en gestructureerde gegevenssets op basis van zorginformatie bouwstenen (</a:t>
            </a:r>
            <a:r>
              <a:rPr lang="nl-NL" dirty="0" err="1">
                <a:latin typeface="Verdana"/>
                <a:ea typeface="Verdana"/>
              </a:rPr>
              <a:t>Zib’s</a:t>
            </a:r>
            <a:r>
              <a:rPr lang="nl-NL" dirty="0">
                <a:latin typeface="Verdana"/>
                <a:ea typeface="Verdana"/>
              </a:rPr>
              <a:t>) en informatiestandaarden.</a:t>
            </a:r>
          </a:p>
          <a:p>
            <a:pPr algn="just">
              <a:defRPr/>
            </a:pPr>
            <a:r>
              <a:rPr lang="nl-NL" dirty="0"/>
              <a:t>De voorbereiding op het beschikbaar kunnen stellen van deze gegevenssets en de transformatie om deze informatie op gestructureerde wijze te kunnen registreren aan de bron (EOD/XIS/ECD) vindt plaats als onderdeel van de </a:t>
            </a:r>
            <a:r>
              <a:rPr lang="nl-NL" dirty="0" err="1"/>
              <a:t>Wegiz</a:t>
            </a:r>
            <a:r>
              <a:rPr lang="nl-NL" dirty="0"/>
              <a:t> geprioriteerde gegevensdiensten en de andere </a:t>
            </a:r>
            <a:r>
              <a:rPr lang="nl-NL" dirty="0" err="1"/>
              <a:t>usecases</a:t>
            </a:r>
            <a:r>
              <a:rPr lang="nl-NL" dirty="0"/>
              <a:t> onder thema 2. Denk hierbij aan de afspraken die op de bovenste lagen van het interoperabiliteitsmodel van </a:t>
            </a:r>
            <a:r>
              <a:rPr lang="nl-NL" dirty="0" err="1"/>
              <a:t>Nictiz</a:t>
            </a:r>
            <a:r>
              <a:rPr lang="nl-NL" dirty="0"/>
              <a:t>, zoals beleids- en procesafspraken en de realisatie van de afspraken zoals vastgelegd in de informatiestandaarden. Deze zijn voorwaardelijk om de basis op orde te krijgen voor de digitale zorgtoepassingen ten gunste van netwerkzorg in de regio. Ze vormen de basis voor het beschikbaar stellen van data voor onder meer de (crisisdiensten) VG, VVT, GGZ en/of revalidatie.</a:t>
            </a:r>
          </a:p>
          <a:p>
            <a:pPr algn="just">
              <a:defRPr/>
            </a:pPr>
            <a:r>
              <a:rPr lang="nl-NL" dirty="0"/>
              <a:t>Vanuit de samenwerking en regionale transmurale afspraken, zullen verschillende digitale zorgtoepassingen waaronder het dynamische, rol afhankelijke, integraal 360-graden beeld, actueel medicatieoverzicht en proactieve zorgplanning, ook wel bekend als </a:t>
            </a:r>
            <a:r>
              <a:rPr lang="nl-NL" dirty="0" err="1"/>
              <a:t>advanced</a:t>
            </a:r>
            <a:r>
              <a:rPr lang="nl-NL" dirty="0"/>
              <a:t> care planning ACP beschikbaar gesteld, ter ondersteuning van de zorginhoudelijke processen en </a:t>
            </a:r>
            <a:r>
              <a:rPr lang="nl-NL" dirty="0" err="1"/>
              <a:t>usecases</a:t>
            </a:r>
            <a:r>
              <a:rPr lang="nl-NL" dirty="0"/>
              <a:t>.</a:t>
            </a:r>
          </a:p>
        </p:txBody>
      </p:sp>
      <p:sp>
        <p:nvSpPr>
          <p:cNvPr id="28" name="Text Placeholder 8">
            <a:extLst>
              <a:ext uri="{FF2B5EF4-FFF2-40B4-BE49-F238E27FC236}">
                <a16:creationId xmlns:a16="http://schemas.microsoft.com/office/drawing/2014/main" id="{6BEBAB83-82F2-994C-0AD0-BD0D9C2F1300}"/>
              </a:ext>
            </a:extLst>
          </p:cNvPr>
          <p:cNvSpPr txBox="1">
            <a:spLocks/>
          </p:cNvSpPr>
          <p:nvPr/>
        </p:nvSpPr>
        <p:spPr>
          <a:xfrm>
            <a:off x="425302" y="1542768"/>
            <a:ext cx="11142921" cy="50400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b="1" kern="1200">
                <a:solidFill>
                  <a:schemeClr val="tx1"/>
                </a:solidFill>
                <a:latin typeface="Verdana Pro" panose="020B0604030504040204" pitchFamily="34" charset="0"/>
                <a:ea typeface="Verdana" panose="020B0604030504040204" pitchFamily="34" charset="0"/>
                <a:cs typeface="+mn-cs"/>
              </a:defRPr>
            </a:lvl1pPr>
            <a:lvl2pPr marL="360000" indent="-180000" algn="l" defTabSz="914400" rtl="0" eaLnBrk="1" latinLnBrk="0" hangingPunct="1">
              <a:lnSpc>
                <a:spcPct val="100000"/>
              </a:lnSpc>
              <a:spcBef>
                <a:spcPts val="0"/>
              </a:spcBef>
              <a:spcAft>
                <a:spcPts val="600"/>
              </a:spcAft>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2pPr>
            <a:lvl3pPr marL="540000" indent="-180000" algn="l" defTabSz="914400"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Verdana" panose="020B0604030504040204" pitchFamily="34" charset="0"/>
                <a:ea typeface="Verdana" panose="020B0604030504040204" pitchFamily="34" charset="0"/>
                <a:cs typeface="+mn-cs"/>
              </a:defRPr>
            </a:lvl3pPr>
            <a:lvl4pPr marL="720000" indent="-1800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nl-NL" dirty="0">
                <a:solidFill>
                  <a:schemeClr val="accent1"/>
                </a:solidFill>
              </a:rPr>
              <a:t>Digitale zorgtoepassingen voor netwerkzorg in de regio Midden-Nederland </a:t>
            </a:r>
          </a:p>
        </p:txBody>
      </p:sp>
    </p:spTree>
    <p:extLst>
      <p:ext uri="{BB962C8B-B14F-4D97-AF65-F5344CB8AC3E}">
        <p14:creationId xmlns:p14="http://schemas.microsoft.com/office/powerpoint/2010/main" val="24770393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49027D-9A56-4F75-3A2C-9C88369AB83F}"/>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FFC9F09-AEF8-B6F7-7D82-0EDA441CE767}"/>
              </a:ext>
            </a:extLst>
          </p:cNvPr>
          <p:cNvSpPr>
            <a:spLocks noGrp="1"/>
          </p:cNvSpPr>
          <p:nvPr>
            <p:ph type="title"/>
          </p:nvPr>
        </p:nvSpPr>
        <p:spPr>
          <a:xfrm>
            <a:off x="425302" y="465998"/>
            <a:ext cx="10364618" cy="504000"/>
          </a:xfrm>
        </p:spPr>
        <p:txBody>
          <a:bodyPr>
            <a:noAutofit/>
          </a:bodyPr>
          <a:lstStyle/>
          <a:p>
            <a:r>
              <a:rPr lang="nl-NL">
                <a:latin typeface="Verdana Pro" panose="020B0604030504040204" pitchFamily="34" charset="0"/>
              </a:rPr>
              <a:t>Netwerkzorg viewer voor Dossier Inzage – </a:t>
            </a:r>
            <a:r>
              <a:rPr lang="nl-NL"/>
              <a:t>Proces</a:t>
            </a:r>
            <a:br>
              <a:rPr lang="nl-NL">
                <a:latin typeface="Verdana Pro" panose="020B0604030504040204" pitchFamily="34" charset="0"/>
              </a:rPr>
            </a:br>
            <a:endParaRPr lang="nl-NL"/>
          </a:p>
        </p:txBody>
      </p:sp>
      <p:sp>
        <p:nvSpPr>
          <p:cNvPr id="41" name="Text Placeholder 40">
            <a:extLst>
              <a:ext uri="{FF2B5EF4-FFF2-40B4-BE49-F238E27FC236}">
                <a16:creationId xmlns:a16="http://schemas.microsoft.com/office/drawing/2014/main" id="{B4A10444-A362-5FE6-7656-F5A232BD446D}"/>
              </a:ext>
            </a:extLst>
          </p:cNvPr>
          <p:cNvSpPr>
            <a:spLocks noGrp="1"/>
          </p:cNvSpPr>
          <p:nvPr>
            <p:ph type="body" sz="quarter" idx="10"/>
          </p:nvPr>
        </p:nvSpPr>
        <p:spPr>
          <a:xfrm>
            <a:off x="425302" y="969998"/>
            <a:ext cx="10764668" cy="504000"/>
          </a:xfrm>
        </p:spPr>
        <p:txBody>
          <a:bodyPr/>
          <a:lstStyle/>
          <a:p>
            <a:r>
              <a:rPr lang="nl-NL">
                <a:sym typeface="Wingdings" panose="05000000000000000000" pitchFamily="2" charset="2"/>
              </a:rPr>
              <a:t>De netwerkzorg viewer draagt bij aan het ontlasten en ontzorgen van professionals, </a:t>
            </a:r>
            <a:r>
              <a:rPr lang="nl-NL"/>
              <a:t>door een effectievere toegang tot actuele (zorg-)informatie met een 360-graden beeld van de inwoner. </a:t>
            </a:r>
            <a:endParaRPr lang="nl-NL">
              <a:sym typeface="Wingdings" panose="05000000000000000000" pitchFamily="2" charset="2"/>
            </a:endParaRPr>
          </a:p>
        </p:txBody>
      </p:sp>
      <p:sp>
        <p:nvSpPr>
          <p:cNvPr id="3" name="Rectangle: Top Corners Rounded 38">
            <a:hlinkClick r:id="" action="ppaction://noaction"/>
            <a:extLst>
              <a:ext uri="{FF2B5EF4-FFF2-40B4-BE49-F238E27FC236}">
                <a16:creationId xmlns:a16="http://schemas.microsoft.com/office/drawing/2014/main" id="{FD4E5BE5-2727-0471-5F82-910B76D8C84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6" name="Graphic 5" descr="Introductiepagina silhouet">
            <a:hlinkClick r:id="" action="ppaction://noaction"/>
            <a:extLst>
              <a:ext uri="{FF2B5EF4-FFF2-40B4-BE49-F238E27FC236}">
                <a16:creationId xmlns:a16="http://schemas.microsoft.com/office/drawing/2014/main" id="{BC94161B-C628-DAAA-573E-320E28453E0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6" y="147223"/>
            <a:ext cx="144000" cy="144000"/>
          </a:xfrm>
          <a:prstGeom prst="rect">
            <a:avLst/>
          </a:prstGeom>
        </p:spPr>
      </p:pic>
      <p:sp>
        <p:nvSpPr>
          <p:cNvPr id="7" name="Rectangle: Top Corners Rounded 1">
            <a:hlinkClick r:id="" action="ppaction://noaction"/>
            <a:extLst>
              <a:ext uri="{FF2B5EF4-FFF2-40B4-BE49-F238E27FC236}">
                <a16:creationId xmlns:a16="http://schemas.microsoft.com/office/drawing/2014/main" id="{06EBA4FE-6933-B71F-311F-39769DCA46B2}"/>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8" name="Rectangle: Top Corners Rounded 1">
            <a:hlinkClick r:id="" action="ppaction://noaction"/>
            <a:extLst>
              <a:ext uri="{FF2B5EF4-FFF2-40B4-BE49-F238E27FC236}">
                <a16:creationId xmlns:a16="http://schemas.microsoft.com/office/drawing/2014/main" id="{4517B0D2-22AE-9EF7-D72F-F6A4814C6835}"/>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9" name="Rectangle: Top Corners Rounded 1">
            <a:hlinkClick r:id="" action="ppaction://noaction"/>
            <a:extLst>
              <a:ext uri="{FF2B5EF4-FFF2-40B4-BE49-F238E27FC236}">
                <a16:creationId xmlns:a16="http://schemas.microsoft.com/office/drawing/2014/main" id="{08639F22-B702-9D86-F94F-BCF3B545B429}"/>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11" name="Rectangle: Top Corners Rounded 1">
            <a:hlinkClick r:id="" action="ppaction://noaction"/>
            <a:extLst>
              <a:ext uri="{FF2B5EF4-FFF2-40B4-BE49-F238E27FC236}">
                <a16:creationId xmlns:a16="http://schemas.microsoft.com/office/drawing/2014/main" id="{78AD2A86-DA7F-ED2B-4074-FE9EC3E9384D}"/>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Digitale (zorg) communicatie</a:t>
            </a:r>
          </a:p>
        </p:txBody>
      </p:sp>
      <p:sp>
        <p:nvSpPr>
          <p:cNvPr id="12" name="Rectangle: Top Corners Rounded 1">
            <a:hlinkClick r:id="" action="ppaction://noaction"/>
            <a:extLst>
              <a:ext uri="{FF2B5EF4-FFF2-40B4-BE49-F238E27FC236}">
                <a16:creationId xmlns:a16="http://schemas.microsoft.com/office/drawing/2014/main" id="{4970C38A-A954-EE50-3459-0C0C854BD02D}"/>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13" name="Rectangle: Top Corners Rounded 1">
            <a:hlinkClick r:id="" action="ppaction://noaction"/>
            <a:extLst>
              <a:ext uri="{FF2B5EF4-FFF2-40B4-BE49-F238E27FC236}">
                <a16:creationId xmlns:a16="http://schemas.microsoft.com/office/drawing/2014/main" id="{F941DD1E-5245-0E6E-40B2-B6411A189D69}"/>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14" name="Rectangle: Top Corners Rounded 1">
            <a:hlinkClick r:id="" action="ppaction://noaction"/>
            <a:extLst>
              <a:ext uri="{FF2B5EF4-FFF2-40B4-BE49-F238E27FC236}">
                <a16:creationId xmlns:a16="http://schemas.microsoft.com/office/drawing/2014/main" id="{AF238A88-AF01-2615-6BA6-0C57937D079D}"/>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15" name="Rectangle: Top Corners Rounded 1">
            <a:hlinkClick r:id="" action="ppaction://noaction"/>
            <a:extLst>
              <a:ext uri="{FF2B5EF4-FFF2-40B4-BE49-F238E27FC236}">
                <a16:creationId xmlns:a16="http://schemas.microsoft.com/office/drawing/2014/main" id="{0293D8CD-741D-0B69-7636-7C4B7F95935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16" name="Rectangle: Top Corners Rounded 1">
            <a:hlinkClick r:id="" action="ppaction://noaction"/>
            <a:extLst>
              <a:ext uri="{FF2B5EF4-FFF2-40B4-BE49-F238E27FC236}">
                <a16:creationId xmlns:a16="http://schemas.microsoft.com/office/drawing/2014/main" id="{28C022F3-9945-E895-CF1F-E20E7E7E308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17" name="Rectangle: Top Corners Rounded 1">
            <a:hlinkClick r:id="" action="ppaction://noaction"/>
            <a:extLst>
              <a:ext uri="{FF2B5EF4-FFF2-40B4-BE49-F238E27FC236}">
                <a16:creationId xmlns:a16="http://schemas.microsoft.com/office/drawing/2014/main" id="{E0CA464A-64A1-5E93-0D08-99182D7493CF}"/>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30" name="Rectangle: Top Corners Rounded 1">
            <a:hlinkClick r:id="" action="ppaction://noaction"/>
            <a:extLst>
              <a:ext uri="{FF2B5EF4-FFF2-40B4-BE49-F238E27FC236}">
                <a16:creationId xmlns:a16="http://schemas.microsoft.com/office/drawing/2014/main" id="{1A5862E3-B329-DF95-768F-8552EFB6AD25}"/>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grpSp>
        <p:nvGrpSpPr>
          <p:cNvPr id="2" name="Group 1">
            <a:extLst>
              <a:ext uri="{FF2B5EF4-FFF2-40B4-BE49-F238E27FC236}">
                <a16:creationId xmlns:a16="http://schemas.microsoft.com/office/drawing/2014/main" id="{014A18B3-8CEC-69D0-4FA3-170743649D5A}"/>
              </a:ext>
            </a:extLst>
          </p:cNvPr>
          <p:cNvGrpSpPr/>
          <p:nvPr/>
        </p:nvGrpSpPr>
        <p:grpSpPr>
          <a:xfrm>
            <a:off x="425302" y="3213425"/>
            <a:ext cx="3699226" cy="3414372"/>
            <a:chOff x="838199" y="1654859"/>
            <a:chExt cx="4644000" cy="2478409"/>
          </a:xfrm>
        </p:grpSpPr>
        <p:sp>
          <p:nvSpPr>
            <p:cNvPr id="10" name="Rectangle 14">
              <a:extLst>
                <a:ext uri="{FF2B5EF4-FFF2-40B4-BE49-F238E27FC236}">
                  <a16:creationId xmlns:a16="http://schemas.microsoft.com/office/drawing/2014/main" id="{3FAE910F-A7FA-D683-1DA2-C24D4D84DA66}"/>
                </a:ext>
              </a:extLst>
            </p:cNvPr>
            <p:cNvSpPr>
              <a:spLocks noChangeArrowheads="1"/>
            </p:cNvSpPr>
            <p:nvPr/>
          </p:nvSpPr>
          <p:spPr bwMode="auto">
            <a:xfrm>
              <a:off x="838199" y="1825624"/>
              <a:ext cx="4644000" cy="2307644"/>
            </a:xfrm>
            <a:prstGeom prst="rect">
              <a:avLst/>
            </a:prstGeom>
            <a:solidFill>
              <a:schemeClr val="accent5">
                <a:lumMod val="20000"/>
                <a:lumOff val="80000"/>
              </a:schemeClr>
            </a:solidFill>
            <a:ln w="6350">
              <a:noFill/>
              <a:miter lim="800000"/>
              <a:headEnd/>
              <a:tailEnd/>
            </a:ln>
          </p:spPr>
          <p:txBody>
            <a:bodyPr lIns="180000" tIns="144000" rIns="72000" bIns="72000"/>
            <a:lstStyle/>
            <a:p>
              <a:pPr marL="0" lvl="0" indent="0" algn="l" rtl="0">
                <a:spcBef>
                  <a:spcPts val="0"/>
                </a:spcBef>
                <a:spcAft>
                  <a:spcPts val="0"/>
                </a:spcAft>
                <a:buNone/>
              </a:pPr>
              <a:r>
                <a:rPr lang="nl-NL" sz="900" b="1" dirty="0">
                  <a:latin typeface="Verdana" panose="020B0604030504040204" pitchFamily="34" charset="0"/>
                  <a:ea typeface="Verdana" panose="020B0604030504040204" pitchFamily="34" charset="0"/>
                </a:rPr>
                <a:t>Doel: </a:t>
              </a:r>
              <a:r>
                <a:rPr lang="nl-NL" sz="900" dirty="0">
                  <a:latin typeface="Verdana" panose="020B0604030504040204" pitchFamily="34" charset="0"/>
                  <a:ea typeface="Verdana" panose="020B0604030504040204" pitchFamily="34" charset="0"/>
                </a:rPr>
                <a:t>Een actueel integraal 360-graden beeld met dossierinzage, met diverse weergaven (dashboards) beschikbaar voor professionals binnen zorg- en welzijnsaanbieders in de regio. Ter ondersteuning van een verbeterde samenwerking en effectievere toegang tot actuele informatie van inwoners. Vooral in acute (zorg)situaties en continuïteit van zorg.</a:t>
              </a:r>
            </a:p>
            <a:p>
              <a:pPr marL="0" lvl="0" indent="0" algn="l" rtl="0">
                <a:spcBef>
                  <a:spcPts val="0"/>
                </a:spcBef>
                <a:spcAft>
                  <a:spcPts val="0"/>
                </a:spcAft>
                <a:buNone/>
              </a:pPr>
              <a:endParaRPr lang="nl-NL" sz="900" dirty="0">
                <a:latin typeface="Verdana" panose="020B0604030504040204" pitchFamily="34" charset="0"/>
                <a:ea typeface="Verdana" panose="020B0604030504040204" pitchFamily="34" charset="0"/>
              </a:endParaRPr>
            </a:p>
            <a:p>
              <a:r>
                <a:rPr lang="nl-NL" sz="900" b="1" dirty="0">
                  <a:latin typeface="Verdana" panose="020B0604030504040204" pitchFamily="34" charset="0"/>
                  <a:ea typeface="Verdana" panose="020B0604030504040204" pitchFamily="34" charset="0"/>
                </a:rPr>
                <a:t>Resultaat:</a:t>
              </a:r>
              <a:r>
                <a:rPr lang="nl-NL" sz="900" dirty="0">
                  <a:latin typeface="Verdana" panose="020B0604030504040204" pitchFamily="34" charset="0"/>
                  <a:ea typeface="Verdana" panose="020B0604030504040204" pitchFamily="34" charset="0"/>
                </a:rPr>
                <a:t> Reductie in tijd voor het achterhalen van informatie en/of opnieuw uitvragen bij de inwoner. Minimaal 10% minder registratielast, minder fouten en het voorkomen van onnodige en ongewenste behandelingen. </a:t>
              </a:r>
            </a:p>
            <a:p>
              <a:endParaRPr lang="nl-NL" sz="900" dirty="0">
                <a:latin typeface="Verdana" panose="020B0604030504040204" pitchFamily="34" charset="0"/>
                <a:ea typeface="Verdana" panose="020B0604030504040204" pitchFamily="34" charset="0"/>
              </a:endParaRPr>
            </a:p>
            <a:p>
              <a:r>
                <a:rPr lang="nl-NL" sz="900" b="1" dirty="0">
                  <a:latin typeface="Verdana" panose="020B0604030504040204" pitchFamily="34" charset="0"/>
                  <a:ea typeface="Verdana" panose="020B0604030504040204" pitchFamily="34" charset="0"/>
                </a:rPr>
                <a:t>Zorgtoepassing: </a:t>
              </a:r>
              <a:r>
                <a:rPr lang="nl-NL" sz="900" dirty="0">
                  <a:latin typeface="Verdana" panose="020B0604030504040204" pitchFamily="34" charset="0"/>
                  <a:ea typeface="Verdana" panose="020B0604030504040204" pitchFamily="34" charset="0"/>
                </a:rPr>
                <a:t>Een compleet netwerkzorg dossier samengesteld uit meerdere bronnen. Na registratie van patiënt in bronsysteem als EPD/XIS/ECD, actuele data in de regio over deze inwoner direct beschikbaar (op te halen) door een klik op de viewer knop. De viewer en daarmee het netwerkzorg dossier, wordt in de context van de patiënt/inwoner geopend. De informatie geeft een 360-graden beeld en wordt getoond in logische datasets, zoals persoonsgegevens, medicatie, </a:t>
              </a:r>
              <a:r>
                <a:rPr lang="nl-NL" sz="900" dirty="0" err="1">
                  <a:latin typeface="Verdana" panose="020B0604030504040204" pitchFamily="34" charset="0"/>
                  <a:ea typeface="Verdana" panose="020B0604030504040204" pitchFamily="34" charset="0"/>
                </a:rPr>
                <a:t>labresultaten</a:t>
              </a:r>
              <a:r>
                <a:rPr lang="nl-NL" sz="900" dirty="0">
                  <a:latin typeface="Verdana" panose="020B0604030504040204" pitchFamily="34" charset="0"/>
                  <a:ea typeface="Verdana" panose="020B0604030504040204" pitchFamily="34" charset="0"/>
                </a:rPr>
                <a:t> en beleid. </a:t>
              </a:r>
            </a:p>
            <a:p>
              <a:endParaRPr lang="nl-NL" sz="900" dirty="0">
                <a:latin typeface="Verdana" panose="020B0604030504040204" pitchFamily="34" charset="0"/>
                <a:ea typeface="Verdana" panose="020B0604030504040204" pitchFamily="34" charset="0"/>
              </a:endParaRPr>
            </a:p>
            <a:p>
              <a:endParaRPr lang="nl-NL" sz="900" b="1" dirty="0">
                <a:latin typeface="Verdana" panose="020B0604030504040204" pitchFamily="34" charset="0"/>
                <a:ea typeface="Verdana" panose="020B0604030504040204" pitchFamily="34" charset="0"/>
              </a:endParaRPr>
            </a:p>
            <a:p>
              <a:pPr marL="0" lvl="0" indent="0" algn="l" rtl="0">
                <a:spcBef>
                  <a:spcPts val="0"/>
                </a:spcBef>
                <a:spcAft>
                  <a:spcPts val="0"/>
                </a:spcAft>
                <a:buNone/>
              </a:pPr>
              <a:endParaRPr lang="nl-NL" sz="900" dirty="0">
                <a:latin typeface="Verdana" panose="020B0604030504040204" pitchFamily="34" charset="0"/>
                <a:ea typeface="Verdana" panose="020B0604030504040204" pitchFamily="34" charset="0"/>
              </a:endParaRPr>
            </a:p>
          </p:txBody>
        </p:sp>
        <p:sp>
          <p:nvSpPr>
            <p:cNvPr id="18" name="Rectangle 12">
              <a:extLst>
                <a:ext uri="{FF2B5EF4-FFF2-40B4-BE49-F238E27FC236}">
                  <a16:creationId xmlns:a16="http://schemas.microsoft.com/office/drawing/2014/main" id="{2AB25304-CD2B-7DE4-E9DD-8F92810E7FA7}"/>
                </a:ext>
              </a:extLst>
            </p:cNvPr>
            <p:cNvSpPr>
              <a:spLocks noChangeArrowheads="1"/>
            </p:cNvSpPr>
            <p:nvPr>
              <p:custDataLst>
                <p:tags r:id="rId4"/>
              </p:custDataLst>
            </p:nvPr>
          </p:nvSpPr>
          <p:spPr bwMode="auto">
            <a:xfrm>
              <a:off x="838199" y="1654859"/>
              <a:ext cx="4644000" cy="209053"/>
            </a:xfrm>
            <a:prstGeom prst="rect">
              <a:avLst/>
            </a:prstGeom>
            <a:solidFill>
              <a:schemeClr val="accent5">
                <a:lumMod val="50000"/>
              </a:schemeClr>
            </a:solidFill>
            <a:ln w="6350">
              <a:noFill/>
              <a:miter lim="800000"/>
              <a:headEnd/>
              <a:tailEnd/>
            </a:ln>
            <a:effectLst/>
          </p:spPr>
          <p:txBody>
            <a:bodyPr wrap="square" lIns="72000" tIns="72000" rIns="72000" bIns="72000" anchor="ctr"/>
            <a:lstStyle/>
            <a:p>
              <a:pPr marL="0" marR="0" lvl="0" indent="0" algn="ctr" defTabSz="914400" rtl="0" eaLnBrk="0" fontAlgn="auto" latinLnBrk="0" hangingPunct="0">
                <a:lnSpc>
                  <a:spcPct val="85000"/>
                </a:lnSpc>
                <a:spcBef>
                  <a:spcPts val="100"/>
                </a:spcBef>
                <a:spcAft>
                  <a:spcPts val="300"/>
                </a:spcAft>
                <a:buClrTx/>
                <a:buSzTx/>
                <a:buFontTx/>
                <a:buNone/>
                <a:tabLst/>
                <a:defRPr/>
              </a:pPr>
              <a:r>
                <a:rPr kumimoji="0" lang="nl-NL" sz="1200" b="1" i="0" u="none" strike="noStrike" kern="1200" cap="all"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Integraal 360-graden beeld</a:t>
              </a:r>
            </a:p>
          </p:txBody>
        </p:sp>
      </p:grpSp>
      <p:grpSp>
        <p:nvGrpSpPr>
          <p:cNvPr id="19" name="Group 10">
            <a:extLst>
              <a:ext uri="{FF2B5EF4-FFF2-40B4-BE49-F238E27FC236}">
                <a16:creationId xmlns:a16="http://schemas.microsoft.com/office/drawing/2014/main" id="{DC390483-D614-B38A-26B8-38DC9A0CD6F0}"/>
              </a:ext>
            </a:extLst>
          </p:cNvPr>
          <p:cNvGrpSpPr/>
          <p:nvPr/>
        </p:nvGrpSpPr>
        <p:grpSpPr>
          <a:xfrm>
            <a:off x="425302" y="1691997"/>
            <a:ext cx="11413260" cy="1366437"/>
            <a:chOff x="838199" y="1533286"/>
            <a:chExt cx="4644000" cy="2238684"/>
          </a:xfrm>
        </p:grpSpPr>
        <p:sp>
          <p:nvSpPr>
            <p:cNvPr id="20" name="Rectangle 14">
              <a:extLst>
                <a:ext uri="{FF2B5EF4-FFF2-40B4-BE49-F238E27FC236}">
                  <a16:creationId xmlns:a16="http://schemas.microsoft.com/office/drawing/2014/main" id="{BA9754D5-E9BB-311D-5868-1AA4B9215F3E}"/>
                </a:ext>
              </a:extLst>
            </p:cNvPr>
            <p:cNvSpPr>
              <a:spLocks noChangeArrowheads="1"/>
            </p:cNvSpPr>
            <p:nvPr/>
          </p:nvSpPr>
          <p:spPr bwMode="auto">
            <a:xfrm>
              <a:off x="838199" y="1825626"/>
              <a:ext cx="4644000" cy="1946344"/>
            </a:xfrm>
            <a:prstGeom prst="rect">
              <a:avLst/>
            </a:prstGeom>
            <a:solidFill>
              <a:schemeClr val="accent3">
                <a:lumMod val="20000"/>
                <a:lumOff val="80000"/>
              </a:schemeClr>
            </a:solidFill>
            <a:ln w="6350">
              <a:noFill/>
              <a:miter lim="800000"/>
              <a:headEnd/>
              <a:tailEnd/>
            </a:ln>
          </p:spPr>
          <p:txBody>
            <a:bodyPr lIns="180000" tIns="144000" rIns="72000" bIns="72000"/>
            <a:lstStyle/>
            <a:p>
              <a:pPr algn="just" eaLnBrk="0" hangingPunct="0">
                <a:lnSpc>
                  <a:spcPct val="85000"/>
                </a:lnSpc>
                <a:spcBef>
                  <a:spcPts val="100"/>
                </a:spcBef>
                <a:spcAft>
                  <a:spcPts val="100"/>
                </a:spcAft>
                <a:defRPr/>
              </a:pPr>
              <a:r>
                <a:rPr lang="nl-NL" sz="900">
                  <a:solidFill>
                    <a:srgbClr val="595959"/>
                  </a:solidFill>
                  <a:latin typeface="Verdana" panose="020B0604030504040204" pitchFamily="34" charset="0"/>
                  <a:ea typeface="Verdana" panose="020B0604030504040204" pitchFamily="34" charset="0"/>
                </a:rPr>
                <a:t>De netwerkzorg viewer is enerzijds de presentatie laag voor gebruikers (user interface), waarbij er gebruik wordt gemaakt van de gestandaardiseerde wijze van koppelingen (</a:t>
              </a:r>
              <a:r>
                <a:rPr lang="nl-NL" sz="900" err="1">
                  <a:solidFill>
                    <a:srgbClr val="595959"/>
                  </a:solidFill>
                  <a:latin typeface="Verdana" panose="020B0604030504040204" pitchFamily="34" charset="0"/>
                  <a:ea typeface="Verdana" panose="020B0604030504040204" pitchFamily="34" charset="0"/>
                </a:rPr>
                <a:t>API’s</a:t>
              </a:r>
              <a:r>
                <a:rPr lang="nl-NL" sz="900">
                  <a:solidFill>
                    <a:srgbClr val="595959"/>
                  </a:solidFill>
                  <a:latin typeface="Verdana" panose="020B0604030504040204" pitchFamily="34" charset="0"/>
                  <a:ea typeface="Verdana" panose="020B0604030504040204" pitchFamily="34" charset="0"/>
                </a:rPr>
                <a:t>) en uitwisseling van gestandaardiseerde en gestructureerde gegevenssets op basis van zorginformatie bouwstenen (</a:t>
              </a:r>
              <a:r>
                <a:rPr lang="nl-NL" sz="900" err="1">
                  <a:solidFill>
                    <a:srgbClr val="595959"/>
                  </a:solidFill>
                  <a:latin typeface="Verdana" panose="020B0604030504040204" pitchFamily="34" charset="0"/>
                  <a:ea typeface="Verdana" panose="020B0604030504040204" pitchFamily="34" charset="0"/>
                </a:rPr>
                <a:t>Zib’s</a:t>
              </a:r>
              <a:r>
                <a:rPr lang="nl-NL" sz="900">
                  <a:solidFill>
                    <a:srgbClr val="595959"/>
                  </a:solidFill>
                  <a:latin typeface="Verdana" panose="020B0604030504040204" pitchFamily="34" charset="0"/>
                  <a:ea typeface="Verdana" panose="020B0604030504040204" pitchFamily="34" charset="0"/>
                </a:rPr>
                <a:t>). </a:t>
              </a:r>
            </a:p>
            <a:p>
              <a:pPr algn="just" eaLnBrk="0" hangingPunct="0">
                <a:lnSpc>
                  <a:spcPct val="85000"/>
                </a:lnSpc>
                <a:spcBef>
                  <a:spcPts val="100"/>
                </a:spcBef>
                <a:spcAft>
                  <a:spcPts val="100"/>
                </a:spcAft>
                <a:defRPr/>
              </a:pPr>
              <a:endParaRPr lang="nl-NL" sz="200">
                <a:solidFill>
                  <a:srgbClr val="595959"/>
                </a:solidFill>
                <a:latin typeface="Verdana" panose="020B0604030504040204" pitchFamily="34" charset="0"/>
                <a:ea typeface="Verdana" panose="020B0604030504040204" pitchFamily="34" charset="0"/>
              </a:endParaRPr>
            </a:p>
            <a:p>
              <a:pPr algn="just" eaLnBrk="0" hangingPunct="0">
                <a:lnSpc>
                  <a:spcPct val="85000"/>
                </a:lnSpc>
                <a:spcBef>
                  <a:spcPts val="100"/>
                </a:spcBef>
                <a:spcAft>
                  <a:spcPts val="100"/>
                </a:spcAft>
                <a:defRPr/>
              </a:pPr>
              <a:r>
                <a:rPr lang="nl-NL" sz="900">
                  <a:solidFill>
                    <a:srgbClr val="595959"/>
                  </a:solidFill>
                  <a:latin typeface="Verdana" panose="020B0604030504040204" pitchFamily="34" charset="0"/>
                  <a:ea typeface="Verdana" panose="020B0604030504040204" pitchFamily="34" charset="0"/>
                </a:rPr>
                <a:t>De voorbereiding van deze gegevenssets en de transformatie om deze informatie op gestructureerde wijze te kunnen registreren aan de bron (EOD/XIS/ECD) vindt plaats als onderdeel van de </a:t>
              </a:r>
              <a:r>
                <a:rPr lang="nl-NL" sz="900" err="1">
                  <a:solidFill>
                    <a:srgbClr val="595959"/>
                  </a:solidFill>
                  <a:latin typeface="Verdana" panose="020B0604030504040204" pitchFamily="34" charset="0"/>
                  <a:ea typeface="Verdana" panose="020B0604030504040204" pitchFamily="34" charset="0"/>
                </a:rPr>
                <a:t>Wegiz</a:t>
              </a:r>
              <a:r>
                <a:rPr lang="nl-NL" sz="900">
                  <a:solidFill>
                    <a:srgbClr val="595959"/>
                  </a:solidFill>
                  <a:latin typeface="Verdana" panose="020B0604030504040204" pitchFamily="34" charset="0"/>
                  <a:ea typeface="Verdana" panose="020B0604030504040204" pitchFamily="34" charset="0"/>
                </a:rPr>
                <a:t> geprioriteerde gegevensdiensten en de andere </a:t>
              </a:r>
              <a:r>
                <a:rPr lang="nl-NL" sz="900" err="1">
                  <a:solidFill>
                    <a:srgbClr val="595959"/>
                  </a:solidFill>
                  <a:latin typeface="Verdana" panose="020B0604030504040204" pitchFamily="34" charset="0"/>
                  <a:ea typeface="Verdana" panose="020B0604030504040204" pitchFamily="34" charset="0"/>
                </a:rPr>
                <a:t>usecases</a:t>
              </a:r>
              <a:r>
                <a:rPr lang="nl-NL" sz="900">
                  <a:solidFill>
                    <a:srgbClr val="595959"/>
                  </a:solidFill>
                  <a:latin typeface="Verdana" panose="020B0604030504040204" pitchFamily="34" charset="0"/>
                  <a:ea typeface="Verdana" panose="020B0604030504040204" pitchFamily="34" charset="0"/>
                </a:rPr>
                <a:t> onder thema 2. Deze zijn voorwaardelijk als zijnde basis op orde, om de digitale zorgtoepassingen voor netwerkzorg in de regio te realiseren en vormen de basis voor </a:t>
              </a:r>
              <a:r>
                <a:rPr kumimoji="0" lang="nl-NL" sz="900" i="0" u="none" strike="noStrike" kern="1200" cap="none" spc="0" normalizeH="0" baseline="0" noProof="0">
                  <a:ln>
                    <a:noFill/>
                  </a:ln>
                  <a:solidFill>
                    <a:srgbClr val="595959"/>
                  </a:solidFill>
                  <a:effectLst/>
                  <a:uLnTx/>
                  <a:uFillTx/>
                  <a:latin typeface="Verdana"/>
                  <a:ea typeface="Verdana"/>
                  <a:cs typeface="+mn-cs"/>
                </a:rPr>
                <a:t>het beschikbaar stellen van data voor onder meer de (crisisdiensten) </a:t>
              </a:r>
              <a:r>
                <a:rPr kumimoji="0" lang="nl-NL" sz="900" b="1" i="0" u="none" strike="noStrike" kern="1200" cap="none" spc="0" normalizeH="0" baseline="0" noProof="0">
                  <a:ln>
                    <a:noFill/>
                  </a:ln>
                  <a:solidFill>
                    <a:srgbClr val="595959"/>
                  </a:solidFill>
                  <a:effectLst/>
                  <a:uLnTx/>
                  <a:uFillTx/>
                  <a:latin typeface="Verdana"/>
                  <a:ea typeface="Verdana"/>
                  <a:cs typeface="+mn-cs"/>
                </a:rPr>
                <a:t>VG, VVT, GGZ en/of revalidatie.</a:t>
              </a:r>
              <a:r>
                <a:rPr lang="nl-NL" sz="900">
                  <a:solidFill>
                    <a:srgbClr val="595959"/>
                  </a:solidFill>
                  <a:latin typeface="Verdana" panose="020B0604030504040204" pitchFamily="34" charset="0"/>
                  <a:ea typeface="Verdana" panose="020B0604030504040204" pitchFamily="34" charset="0"/>
                </a:rPr>
                <a:t>. </a:t>
              </a:r>
            </a:p>
            <a:p>
              <a:pPr algn="just" eaLnBrk="0" hangingPunct="0">
                <a:lnSpc>
                  <a:spcPct val="85000"/>
                </a:lnSpc>
                <a:spcBef>
                  <a:spcPts val="100"/>
                </a:spcBef>
                <a:spcAft>
                  <a:spcPts val="100"/>
                </a:spcAft>
                <a:defRPr/>
              </a:pPr>
              <a:endParaRPr lang="nl-NL" sz="200">
                <a:solidFill>
                  <a:srgbClr val="595959"/>
                </a:solidFill>
                <a:latin typeface="Verdana" panose="020B0604030504040204" pitchFamily="34" charset="0"/>
                <a:ea typeface="Verdana" panose="020B0604030504040204" pitchFamily="34" charset="0"/>
              </a:endParaRPr>
            </a:p>
            <a:p>
              <a:pPr algn="just" eaLnBrk="0" hangingPunct="0">
                <a:lnSpc>
                  <a:spcPct val="85000"/>
                </a:lnSpc>
                <a:spcBef>
                  <a:spcPts val="100"/>
                </a:spcBef>
                <a:spcAft>
                  <a:spcPts val="100"/>
                </a:spcAft>
                <a:defRPr/>
              </a:pPr>
              <a:r>
                <a:rPr kumimoji="0" lang="nl-NL" sz="900" i="0" u="none" strike="noStrike" kern="1200" cap="none" spc="0" normalizeH="0" baseline="0" noProof="0">
                  <a:ln>
                    <a:noFill/>
                  </a:ln>
                  <a:solidFill>
                    <a:srgbClr val="595959"/>
                  </a:solidFill>
                  <a:effectLst/>
                  <a:uLnTx/>
                  <a:uFillTx/>
                  <a:latin typeface="Verdana" panose="020B0604030504040204" pitchFamily="34" charset="0"/>
                  <a:ea typeface="Verdana" panose="020B0604030504040204" pitchFamily="34" charset="0"/>
                  <a:cs typeface="+mn-cs"/>
                </a:rPr>
                <a:t>Vanuit de samenwerking en regionale transmurale afspraken, worden verschillende digitale zorgtoepassingen waaronder het dynamische, rol afhankelijke, integraal 360-graden beeld, actueel medicatieoverzicht en proactieve zorgplanning, ook wel bekend als </a:t>
              </a:r>
              <a:r>
                <a:rPr kumimoji="0" lang="nl-NL" sz="900" i="0" u="none" strike="noStrike" kern="1200" cap="none" spc="0" normalizeH="0" baseline="0" noProof="0" err="1">
                  <a:ln>
                    <a:noFill/>
                  </a:ln>
                  <a:solidFill>
                    <a:srgbClr val="595959"/>
                  </a:solidFill>
                  <a:effectLst/>
                  <a:uLnTx/>
                  <a:uFillTx/>
                  <a:latin typeface="Verdana" panose="020B0604030504040204" pitchFamily="34" charset="0"/>
                  <a:ea typeface="Verdana" panose="020B0604030504040204" pitchFamily="34" charset="0"/>
                  <a:cs typeface="+mn-cs"/>
                </a:rPr>
                <a:t>advanced</a:t>
              </a:r>
              <a:r>
                <a:rPr kumimoji="0" lang="nl-NL" sz="900" i="0" u="none" strike="noStrike" kern="1200" cap="none" spc="0" normalizeH="0" baseline="0" noProof="0">
                  <a:ln>
                    <a:noFill/>
                  </a:ln>
                  <a:solidFill>
                    <a:srgbClr val="595959"/>
                  </a:solidFill>
                  <a:effectLst/>
                  <a:uLnTx/>
                  <a:uFillTx/>
                  <a:latin typeface="Verdana" panose="020B0604030504040204" pitchFamily="34" charset="0"/>
                  <a:ea typeface="Verdana" panose="020B0604030504040204" pitchFamily="34" charset="0"/>
                  <a:cs typeface="+mn-cs"/>
                </a:rPr>
                <a:t> care planning ACP beschikbaar gesteld, ter ondersteuning van de zorginhoudelijke processen en </a:t>
              </a:r>
              <a:r>
                <a:rPr kumimoji="0" lang="nl-NL" sz="900" i="0" u="none" strike="noStrike" kern="1200" cap="none" spc="0" normalizeH="0" baseline="0" noProof="0" err="1">
                  <a:ln>
                    <a:noFill/>
                  </a:ln>
                  <a:solidFill>
                    <a:srgbClr val="595959"/>
                  </a:solidFill>
                  <a:effectLst/>
                  <a:uLnTx/>
                  <a:uFillTx/>
                  <a:latin typeface="Verdana" panose="020B0604030504040204" pitchFamily="34" charset="0"/>
                  <a:ea typeface="Verdana" panose="020B0604030504040204" pitchFamily="34" charset="0"/>
                  <a:cs typeface="+mn-cs"/>
                </a:rPr>
                <a:t>usecases</a:t>
              </a:r>
              <a:r>
                <a:rPr kumimoji="0" lang="nl-NL" sz="900" i="0" u="none" strike="noStrike" kern="1200" cap="none" spc="0" normalizeH="0" baseline="0" noProof="0">
                  <a:ln>
                    <a:noFill/>
                  </a:ln>
                  <a:solidFill>
                    <a:srgbClr val="595959"/>
                  </a:solidFill>
                  <a:effectLst/>
                  <a:uLnTx/>
                  <a:uFillTx/>
                  <a:latin typeface="Verdana" panose="020B0604030504040204" pitchFamily="34" charset="0"/>
                  <a:ea typeface="Verdana" panose="020B0604030504040204" pitchFamily="34" charset="0"/>
                  <a:cs typeface="+mn-cs"/>
                </a:rPr>
                <a:t>.</a:t>
              </a:r>
            </a:p>
          </p:txBody>
        </p:sp>
        <p:sp>
          <p:nvSpPr>
            <p:cNvPr id="21" name="Rectangle 12">
              <a:extLst>
                <a:ext uri="{FF2B5EF4-FFF2-40B4-BE49-F238E27FC236}">
                  <a16:creationId xmlns:a16="http://schemas.microsoft.com/office/drawing/2014/main" id="{0DB9108D-9E9C-10D7-2897-05185B7FA6E5}"/>
                </a:ext>
              </a:extLst>
            </p:cNvPr>
            <p:cNvSpPr>
              <a:spLocks noChangeArrowheads="1"/>
            </p:cNvSpPr>
            <p:nvPr>
              <p:custDataLst>
                <p:tags r:id="rId3"/>
              </p:custDataLst>
            </p:nvPr>
          </p:nvSpPr>
          <p:spPr bwMode="auto">
            <a:xfrm>
              <a:off x="838199" y="1533286"/>
              <a:ext cx="4644000" cy="471841"/>
            </a:xfrm>
            <a:prstGeom prst="rect">
              <a:avLst/>
            </a:prstGeom>
            <a:solidFill>
              <a:schemeClr val="accent3"/>
            </a:solidFill>
            <a:ln w="6350">
              <a:noFill/>
              <a:miter lim="800000"/>
              <a:headEnd/>
              <a:tailEnd/>
            </a:ln>
            <a:effectLst/>
          </p:spPr>
          <p:txBody>
            <a:bodyPr wrap="square" lIns="72000" tIns="72000" rIns="72000" bIns="72000" anchor="ctr"/>
            <a:lstStyle/>
            <a:p>
              <a:pPr marL="0" marR="0" lvl="0" indent="0" algn="ctr" defTabSz="914400" rtl="0" eaLnBrk="0" fontAlgn="auto" latinLnBrk="0" hangingPunct="0">
                <a:lnSpc>
                  <a:spcPct val="85000"/>
                </a:lnSpc>
                <a:spcBef>
                  <a:spcPts val="100"/>
                </a:spcBef>
                <a:spcAft>
                  <a:spcPts val="300"/>
                </a:spcAft>
                <a:buClrTx/>
                <a:buSzTx/>
                <a:buFontTx/>
                <a:buNone/>
                <a:tabLst/>
                <a:defRPr/>
              </a:pPr>
              <a:r>
                <a:rPr kumimoji="0" lang="nl-NL" sz="1200" b="1" i="0" u="none" strike="noStrike" kern="1200" cap="all"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Digitale Zorgtoepassingen voor netwerkzorg in de regio Midden-Nederland  </a:t>
              </a:r>
            </a:p>
          </p:txBody>
        </p:sp>
      </p:grpSp>
      <p:grpSp>
        <p:nvGrpSpPr>
          <p:cNvPr id="22" name="Group 13">
            <a:extLst>
              <a:ext uri="{FF2B5EF4-FFF2-40B4-BE49-F238E27FC236}">
                <a16:creationId xmlns:a16="http://schemas.microsoft.com/office/drawing/2014/main" id="{6F9A3E78-1701-2F54-E27A-6D4C894826B5}"/>
              </a:ext>
            </a:extLst>
          </p:cNvPr>
          <p:cNvGrpSpPr/>
          <p:nvPr/>
        </p:nvGrpSpPr>
        <p:grpSpPr>
          <a:xfrm>
            <a:off x="4282319" y="3195137"/>
            <a:ext cx="3699226" cy="3444203"/>
            <a:chOff x="838199" y="1644913"/>
            <a:chExt cx="4644000" cy="2347909"/>
          </a:xfrm>
        </p:grpSpPr>
        <p:sp>
          <p:nvSpPr>
            <p:cNvPr id="23" name="Rectangle 14">
              <a:extLst>
                <a:ext uri="{FF2B5EF4-FFF2-40B4-BE49-F238E27FC236}">
                  <a16:creationId xmlns:a16="http://schemas.microsoft.com/office/drawing/2014/main" id="{A1F4AC44-914E-ACE9-C3BE-8791061CADFB}"/>
                </a:ext>
              </a:extLst>
            </p:cNvPr>
            <p:cNvSpPr>
              <a:spLocks noChangeArrowheads="1"/>
            </p:cNvSpPr>
            <p:nvPr/>
          </p:nvSpPr>
          <p:spPr bwMode="auto">
            <a:xfrm>
              <a:off x="838199" y="1825622"/>
              <a:ext cx="4644000" cy="2167200"/>
            </a:xfrm>
            <a:prstGeom prst="rect">
              <a:avLst/>
            </a:prstGeom>
            <a:solidFill>
              <a:schemeClr val="accent2">
                <a:lumMod val="20000"/>
                <a:lumOff val="80000"/>
              </a:schemeClr>
            </a:solidFill>
            <a:ln w="6350">
              <a:noFill/>
              <a:miter lim="800000"/>
              <a:headEnd/>
              <a:tailEnd/>
            </a:ln>
          </p:spPr>
          <p:txBody>
            <a:bodyPr lIns="180000" tIns="144000" rIns="72000" bIns="72000" anchor="t"/>
            <a:lstStyle/>
            <a:p>
              <a:pPr marL="0" lvl="0" indent="0" algn="l" rtl="0">
                <a:spcBef>
                  <a:spcPts val="0"/>
                </a:spcBef>
                <a:spcAft>
                  <a:spcPts val="0"/>
                </a:spcAft>
                <a:buNone/>
              </a:pPr>
              <a:r>
                <a:rPr lang="nl-NL" sz="900" b="1">
                  <a:latin typeface="Verdana" panose="020B0604030504040204" pitchFamily="34" charset="0"/>
                  <a:ea typeface="Verdana" panose="020B0604030504040204" pitchFamily="34" charset="0"/>
                </a:rPr>
                <a:t>Doel: </a:t>
              </a:r>
              <a:r>
                <a:rPr lang="nl-NL" sz="900">
                  <a:latin typeface="Verdana" panose="020B0604030504040204" pitchFamily="34" charset="0"/>
                  <a:ea typeface="Verdana" panose="020B0604030504040204" pitchFamily="34" charset="0"/>
                </a:rPr>
                <a:t>Op basis van een geconsolideerd overzicht van </a:t>
              </a:r>
              <a:r>
                <a:rPr lang="nl-NL" sz="900" err="1">
                  <a:latin typeface="Verdana" panose="020B0604030504040204" pitchFamily="34" charset="0"/>
                  <a:ea typeface="Verdana" panose="020B0604030504040204" pitchFamily="34" charset="0"/>
                </a:rPr>
                <a:t>medicatievoorschiften</a:t>
              </a:r>
              <a:r>
                <a:rPr lang="nl-NL" sz="900">
                  <a:latin typeface="Verdana" panose="020B0604030504040204" pitchFamily="34" charset="0"/>
                  <a:ea typeface="Verdana" panose="020B0604030504040204" pitchFamily="34" charset="0"/>
                </a:rPr>
                <a:t> aan een inwoner in de regio, een digitale zorgtoepassing  om te komen tot een Actueel Medicatie Overzicht (AMO) wat beschikbaar wordt gesteld via de netwerkzorg viewer voor dossierinzage en deel uitmaakt van het integraal 360-graden beeld. Een digitale omgeving waarin in het (zorg-) netwerk en rond de inwoner kan worden samengewerkt in het proces van medicatie verificatie en consolidatie o.b.v. regionale transmurale afspraken.</a:t>
              </a:r>
            </a:p>
            <a:p>
              <a:pPr marL="0" lvl="0" indent="0" algn="l" rtl="0">
                <a:spcBef>
                  <a:spcPts val="0"/>
                </a:spcBef>
                <a:spcAft>
                  <a:spcPts val="0"/>
                </a:spcAft>
                <a:buNone/>
              </a:pPr>
              <a:endParaRPr lang="nl-NL" sz="900">
                <a:latin typeface="Verdana" panose="020B0604030504040204" pitchFamily="34" charset="0"/>
                <a:ea typeface="Verdana" panose="020B0604030504040204" pitchFamily="34" charset="0"/>
              </a:endParaRPr>
            </a:p>
            <a:p>
              <a:r>
                <a:rPr lang="nl-NL" sz="900" b="1">
                  <a:latin typeface="Verdana" panose="020B0604030504040204" pitchFamily="34" charset="0"/>
                  <a:ea typeface="Verdana" panose="020B0604030504040204" pitchFamily="34" charset="0"/>
                </a:rPr>
                <a:t>Resultaat:</a:t>
              </a:r>
              <a:r>
                <a:rPr lang="nl-NL" sz="900">
                  <a:latin typeface="Verdana" panose="020B0604030504040204" pitchFamily="34" charset="0"/>
                  <a:ea typeface="Verdana" panose="020B0604030504040204" pitchFamily="34" charset="0"/>
                </a:rPr>
                <a:t> Minimaliseren van discrepanties met minimaal 50% waardoor medicatiefouten substantieel afnemen.</a:t>
              </a:r>
            </a:p>
            <a:p>
              <a:r>
                <a:rPr lang="nl-NL" sz="900">
                  <a:latin typeface="Verdana" panose="020B0604030504040204" pitchFamily="34" charset="0"/>
                  <a:ea typeface="Verdana" panose="020B0604030504040204" pitchFamily="34" charset="0"/>
                </a:rPr>
                <a:t>Veel tijdsbesparing en lagere registratielast voor professionals in de hele medicatieketen. Actieve participatie van de inwoner in het medicatieproces. </a:t>
              </a:r>
            </a:p>
            <a:p>
              <a:endParaRPr lang="nl-NL" sz="900">
                <a:latin typeface="Verdana" panose="020B0604030504040204" pitchFamily="34" charset="0"/>
                <a:ea typeface="Verdana" panose="020B0604030504040204" pitchFamily="34" charset="0"/>
              </a:endParaRPr>
            </a:p>
            <a:p>
              <a:r>
                <a:rPr lang="nl-NL" sz="900" b="1">
                  <a:latin typeface="Verdana" panose="020B0604030504040204" pitchFamily="34" charset="0"/>
                  <a:ea typeface="Verdana" panose="020B0604030504040204" pitchFamily="34" charset="0"/>
                </a:rPr>
                <a:t>Zorgtoepassing: </a:t>
              </a:r>
              <a:r>
                <a:rPr lang="nl-NL" sz="900">
                  <a:latin typeface="Verdana" panose="020B0604030504040204" pitchFamily="34" charset="0"/>
                  <a:ea typeface="Verdana" panose="020B0604030504040204" pitchFamily="34" charset="0"/>
                </a:rPr>
                <a:t>Een Actueel Medicatie Overzicht in de context van een inwoner met weergave van lab resultaten en metingen beschikbaar op basis van de zorginformatie bouwstenen uit het Medicatieproces. In het overzicht kan medicatie worden toegevoegd, bewerkt en worden gecontroleerd op bijv. dosis, frequentie en status. </a:t>
              </a:r>
            </a:p>
          </p:txBody>
        </p:sp>
        <p:sp>
          <p:nvSpPr>
            <p:cNvPr id="24" name="Rectangle 12">
              <a:extLst>
                <a:ext uri="{FF2B5EF4-FFF2-40B4-BE49-F238E27FC236}">
                  <a16:creationId xmlns:a16="http://schemas.microsoft.com/office/drawing/2014/main" id="{DE10CAC7-967B-627B-EBA4-655CCB1040DF}"/>
                </a:ext>
              </a:extLst>
            </p:cNvPr>
            <p:cNvSpPr>
              <a:spLocks noChangeArrowheads="1"/>
            </p:cNvSpPr>
            <p:nvPr>
              <p:custDataLst>
                <p:tags r:id="rId2"/>
              </p:custDataLst>
            </p:nvPr>
          </p:nvSpPr>
          <p:spPr bwMode="auto">
            <a:xfrm>
              <a:off x="838199" y="1644913"/>
              <a:ext cx="4644000" cy="217107"/>
            </a:xfrm>
            <a:prstGeom prst="rect">
              <a:avLst/>
            </a:prstGeom>
            <a:solidFill>
              <a:schemeClr val="accent2"/>
            </a:solidFill>
            <a:ln w="6350">
              <a:noFill/>
              <a:miter lim="800000"/>
              <a:headEnd/>
              <a:tailEnd/>
            </a:ln>
            <a:effectLst/>
          </p:spPr>
          <p:txBody>
            <a:bodyPr wrap="square" lIns="72000" tIns="72000" rIns="72000" bIns="72000" anchor="ctr"/>
            <a:lstStyle/>
            <a:p>
              <a:pPr marL="0" marR="0" lvl="0" indent="0" algn="ctr" defTabSz="914400" rtl="0" eaLnBrk="0" fontAlgn="auto" latinLnBrk="0" hangingPunct="0">
                <a:lnSpc>
                  <a:spcPct val="85000"/>
                </a:lnSpc>
                <a:spcBef>
                  <a:spcPts val="100"/>
                </a:spcBef>
                <a:spcAft>
                  <a:spcPts val="300"/>
                </a:spcAft>
                <a:buClrTx/>
                <a:buSzTx/>
                <a:buFontTx/>
                <a:buNone/>
                <a:tabLst/>
                <a:defRPr/>
              </a:pPr>
              <a:r>
                <a:rPr kumimoji="0" lang="nl-NL" sz="1200" b="1" i="0" u="none" strike="noStrike" kern="1200" cap="all"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Actueel Medicatie Overzicht</a:t>
              </a:r>
            </a:p>
          </p:txBody>
        </p:sp>
      </p:grpSp>
      <p:grpSp>
        <p:nvGrpSpPr>
          <p:cNvPr id="25" name="Group 17">
            <a:extLst>
              <a:ext uri="{FF2B5EF4-FFF2-40B4-BE49-F238E27FC236}">
                <a16:creationId xmlns:a16="http://schemas.microsoft.com/office/drawing/2014/main" id="{D18ED012-901B-27B8-98AA-3FA89E9E9CBF}"/>
              </a:ext>
            </a:extLst>
          </p:cNvPr>
          <p:cNvGrpSpPr/>
          <p:nvPr/>
        </p:nvGrpSpPr>
        <p:grpSpPr>
          <a:xfrm>
            <a:off x="8139336" y="3185988"/>
            <a:ext cx="3699226" cy="3453352"/>
            <a:chOff x="838199" y="1638020"/>
            <a:chExt cx="4644000" cy="2304394"/>
          </a:xfrm>
        </p:grpSpPr>
        <p:sp>
          <p:nvSpPr>
            <p:cNvPr id="26" name="Rectangle 18">
              <a:extLst>
                <a:ext uri="{FF2B5EF4-FFF2-40B4-BE49-F238E27FC236}">
                  <a16:creationId xmlns:a16="http://schemas.microsoft.com/office/drawing/2014/main" id="{7C347AAF-D50E-5467-61F8-9670C33B1300}"/>
                </a:ext>
              </a:extLst>
            </p:cNvPr>
            <p:cNvSpPr>
              <a:spLocks noChangeArrowheads="1"/>
            </p:cNvSpPr>
            <p:nvPr/>
          </p:nvSpPr>
          <p:spPr bwMode="auto">
            <a:xfrm>
              <a:off x="838199" y="1825624"/>
              <a:ext cx="4644000" cy="2116790"/>
            </a:xfrm>
            <a:prstGeom prst="rect">
              <a:avLst/>
            </a:prstGeom>
            <a:solidFill>
              <a:schemeClr val="accent3">
                <a:lumMod val="20000"/>
                <a:lumOff val="80000"/>
              </a:schemeClr>
            </a:solidFill>
            <a:ln w="6350">
              <a:noFill/>
              <a:miter lim="800000"/>
              <a:headEnd/>
              <a:tailEnd/>
            </a:ln>
          </p:spPr>
          <p:txBody>
            <a:bodyPr lIns="180000" tIns="144000" rIns="72000" bIns="72000"/>
            <a:lstStyle/>
            <a:p>
              <a:pPr marL="0" lvl="0" indent="0" algn="l" rtl="0">
                <a:spcBef>
                  <a:spcPts val="0"/>
                </a:spcBef>
                <a:spcAft>
                  <a:spcPts val="0"/>
                </a:spcAft>
                <a:buNone/>
              </a:pPr>
              <a:r>
                <a:rPr lang="nl-NL" sz="900" b="1">
                  <a:latin typeface="Verdana" panose="020B0604030504040204" pitchFamily="34" charset="0"/>
                  <a:ea typeface="Verdana" panose="020B0604030504040204" pitchFamily="34" charset="0"/>
                </a:rPr>
                <a:t>Doel: </a:t>
              </a:r>
              <a:r>
                <a:rPr lang="nl-NL" sz="900">
                  <a:latin typeface="Verdana" panose="020B0604030504040204" pitchFamily="34" charset="0"/>
                  <a:ea typeface="Verdana" panose="020B0604030504040204" pitchFamily="34" charset="0"/>
                </a:rPr>
                <a:t>De actuele behandelwensen en beleid van inwoners zijn op regionaal niveau beschikbaar voor betrokken professionals uit zorg- en welzijnsaanbieders in de regio. Er zijn regionale transmurale afspraken gemaakt over het registratieproces van proactieve zorgplanning. en eigenaarschap van de behandelwensen (data).</a:t>
              </a:r>
            </a:p>
            <a:p>
              <a:pPr marL="0" lvl="0" indent="0" algn="l" rtl="0">
                <a:spcBef>
                  <a:spcPts val="0"/>
                </a:spcBef>
                <a:spcAft>
                  <a:spcPts val="0"/>
                </a:spcAft>
                <a:buNone/>
              </a:pPr>
              <a:endParaRPr lang="nl-NL" sz="900">
                <a:latin typeface="Verdana" panose="020B0604030504040204" pitchFamily="34" charset="0"/>
                <a:ea typeface="Verdana" panose="020B0604030504040204" pitchFamily="34" charset="0"/>
              </a:endParaRPr>
            </a:p>
            <a:p>
              <a:r>
                <a:rPr lang="nl-NL" sz="900" b="1">
                  <a:latin typeface="Verdana" panose="020B0604030504040204" pitchFamily="34" charset="0"/>
                  <a:ea typeface="Verdana" panose="020B0604030504040204" pitchFamily="34" charset="0"/>
                </a:rPr>
                <a:t>Resultaat:</a:t>
              </a:r>
              <a:r>
                <a:rPr lang="nl-NL" sz="900">
                  <a:latin typeface="Verdana" panose="020B0604030504040204" pitchFamily="34" charset="0"/>
                  <a:ea typeface="Verdana" panose="020B0604030504040204" pitchFamily="34" charset="0"/>
                </a:rPr>
                <a:t> Doelmatigheid en efficiëntie en passende zorg in het netwerk van zorg en beschikbaarheid van actuele behandel wensen en beleid. Sneller kunnen handelen en tijdbesparing voor zorgverleners door het ophalen van en zoeken naar behandelwensen. </a:t>
              </a:r>
            </a:p>
            <a:p>
              <a:endParaRPr lang="nl-NL" sz="900">
                <a:latin typeface="Verdana" panose="020B0604030504040204" pitchFamily="34" charset="0"/>
                <a:ea typeface="Verdana" panose="020B0604030504040204" pitchFamily="34" charset="0"/>
              </a:endParaRPr>
            </a:p>
            <a:p>
              <a:r>
                <a:rPr lang="nl-NL" sz="900" b="1">
                  <a:latin typeface="Verdana" panose="020B0604030504040204" pitchFamily="34" charset="0"/>
                  <a:ea typeface="Verdana" panose="020B0604030504040204" pitchFamily="34" charset="0"/>
                </a:rPr>
                <a:t>Zorgtoepassing: </a:t>
              </a:r>
              <a:r>
                <a:rPr lang="nl-NL" sz="900">
                  <a:latin typeface="Verdana" panose="020B0604030504040204" pitchFamily="34" charset="0"/>
                  <a:ea typeface="Verdana" panose="020B0604030504040204" pitchFamily="34" charset="0"/>
                </a:rPr>
                <a:t>Zorgverleners die over de domeinen heen kunnen samenwerken aan proactieve zorgplanning in een gezamenlijk overzicht op regionaal niveau in de netwerkzorg viewer. Het biedt professionals de mogelijkheid om in het proces van proactieve zorgplanning een verslag te kunnen registreren via de netwerkzorg viewer en inwonersdossier. De behandelwensen zijn direct </a:t>
              </a:r>
            </a:p>
            <a:p>
              <a:r>
                <a:rPr lang="nl-NL" sz="900">
                  <a:latin typeface="Verdana" panose="020B0604030504040204" pitchFamily="34" charset="0"/>
                  <a:ea typeface="Verdana" panose="020B0604030504040204" pitchFamily="34" charset="0"/>
                </a:rPr>
                <a:t>direct beschikbaar voor (zorg-)netwerkpartners in de regio en inzichtelijk vanuit bronsystemen.</a:t>
              </a:r>
            </a:p>
          </p:txBody>
        </p:sp>
        <p:sp>
          <p:nvSpPr>
            <p:cNvPr id="27" name="Rectangle 12">
              <a:extLst>
                <a:ext uri="{FF2B5EF4-FFF2-40B4-BE49-F238E27FC236}">
                  <a16:creationId xmlns:a16="http://schemas.microsoft.com/office/drawing/2014/main" id="{C1CC7F9A-1171-380D-3C0B-E439D1DE1CE1}"/>
                </a:ext>
              </a:extLst>
            </p:cNvPr>
            <p:cNvSpPr>
              <a:spLocks noChangeArrowheads="1"/>
            </p:cNvSpPr>
            <p:nvPr>
              <p:custDataLst>
                <p:tags r:id="rId1"/>
              </p:custDataLst>
            </p:nvPr>
          </p:nvSpPr>
          <p:spPr bwMode="auto">
            <a:xfrm>
              <a:off x="838199" y="1638020"/>
              <a:ext cx="4644000" cy="217107"/>
            </a:xfrm>
            <a:prstGeom prst="rect">
              <a:avLst/>
            </a:prstGeom>
            <a:solidFill>
              <a:srgbClr val="A2C877"/>
            </a:solidFill>
            <a:ln w="6350">
              <a:noFill/>
              <a:miter lim="800000"/>
              <a:headEnd/>
              <a:tailEnd/>
            </a:ln>
            <a:effectLst/>
          </p:spPr>
          <p:txBody>
            <a:bodyPr wrap="square" lIns="72000" tIns="72000" rIns="72000" bIns="72000" anchor="ctr"/>
            <a:lstStyle/>
            <a:p>
              <a:pPr marL="0" marR="0" lvl="0" indent="0" algn="ctr" defTabSz="914400" rtl="0" eaLnBrk="0" fontAlgn="auto" latinLnBrk="0" hangingPunct="0">
                <a:lnSpc>
                  <a:spcPct val="85000"/>
                </a:lnSpc>
                <a:spcBef>
                  <a:spcPts val="100"/>
                </a:spcBef>
                <a:spcAft>
                  <a:spcPts val="300"/>
                </a:spcAft>
                <a:buClrTx/>
                <a:buSzTx/>
                <a:buFontTx/>
                <a:buNone/>
                <a:tabLst/>
                <a:defRPr/>
              </a:pPr>
              <a:r>
                <a:rPr kumimoji="0" lang="nl-NL" sz="1200" b="1" i="0" u="none" strike="noStrike" kern="1200" cap="all"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Proactieve Zorgplanning </a:t>
              </a:r>
            </a:p>
          </p:txBody>
        </p:sp>
      </p:grpSp>
    </p:spTree>
    <p:extLst>
      <p:ext uri="{BB962C8B-B14F-4D97-AF65-F5344CB8AC3E}">
        <p14:creationId xmlns:p14="http://schemas.microsoft.com/office/powerpoint/2010/main" val="1331506354"/>
      </p:ext>
    </p:extLst>
  </p:cSld>
  <p:clrMapOvr>
    <a:masterClrMapping/>
  </p:clrMapOvr>
  <p:extLst>
    <p:ext uri="{6950BFC3-D8DA-4A85-94F7-54DA5524770B}">
      <p188:commentRel xmlns:p188="http://schemas.microsoft.com/office/powerpoint/2018/8/main" r:id="rId7"/>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1973E9A8-1C48-68F1-F789-5058777A9B40}"/>
              </a:ext>
            </a:extLst>
          </p:cNvPr>
          <p:cNvSpPr txBox="1">
            <a:spLocks/>
          </p:cNvSpPr>
          <p:nvPr/>
        </p:nvSpPr>
        <p:spPr>
          <a:xfrm>
            <a:off x="398235" y="854314"/>
            <a:ext cx="10303658" cy="461380"/>
          </a:xfrm>
          <a:prstGeom prst="rect">
            <a:avLst/>
          </a:prstGeom>
        </p:spPr>
        <p:txBody>
          <a:bodyPr vert="horz" lIns="91440" tIns="45720" rIns="91440" bIns="45720" rtlCol="0" anchor="t">
            <a:no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dirty="0">
                <a:ln>
                  <a:noFill/>
                </a:ln>
                <a:solidFill>
                  <a:prstClr val="black"/>
                </a:solidFill>
                <a:effectLst/>
                <a:uLnTx/>
                <a:uFillTx/>
                <a:latin typeface="Verdana Pro" panose="020B0604030504040204" pitchFamily="34" charset="0"/>
                <a:sym typeface="Wingdings" panose="05000000000000000000" pitchFamily="2" charset="2"/>
              </a:rPr>
              <a:t>De netwerkzorg viewer draagt bij aan het ontlasten en ontzorgen van professionals, </a:t>
            </a:r>
            <a:r>
              <a:rPr kumimoji="0" lang="nl-NL" sz="1200" b="1" i="0" u="none" strike="noStrike" kern="1200" cap="none" spc="0" normalizeH="0" baseline="0" noProof="0" dirty="0">
                <a:ln>
                  <a:noFill/>
                </a:ln>
                <a:solidFill>
                  <a:prstClr val="black"/>
                </a:solidFill>
                <a:effectLst/>
                <a:uLnTx/>
                <a:uFillTx/>
                <a:latin typeface="Verdana Pro" panose="020B0604030504040204" pitchFamily="34" charset="0"/>
              </a:rPr>
              <a:t>door een effectievere toegang tot actuele (zorg-)informatie met een integraal 360-graden beeld van de inwoner. </a:t>
            </a:r>
            <a:endParaRPr kumimoji="0" lang="nl-NL" sz="1200" b="1" i="0" u="none" strike="noStrike" kern="1200" cap="none" spc="0" normalizeH="0" baseline="0" noProof="0" dirty="0">
              <a:ln>
                <a:noFill/>
              </a:ln>
              <a:solidFill>
                <a:prstClr val="black"/>
              </a:solidFill>
              <a:effectLst/>
              <a:uLnTx/>
              <a:uFillTx/>
              <a:latin typeface="Verdana Pro" panose="020B0604030504040204" pitchFamily="34" charset="0"/>
              <a:sym typeface="Wingdings" panose="05000000000000000000" pitchFamily="2" charset="2"/>
            </a:endParaRPr>
          </a:p>
        </p:txBody>
      </p:sp>
      <p:sp>
        <p:nvSpPr>
          <p:cNvPr id="100" name="Titel 3">
            <a:extLst>
              <a:ext uri="{FF2B5EF4-FFF2-40B4-BE49-F238E27FC236}">
                <a16:creationId xmlns:a16="http://schemas.microsoft.com/office/drawing/2014/main" id="{01C6D3DE-DBD1-ECA2-1E47-0061ACEB0B7B}"/>
              </a:ext>
            </a:extLst>
          </p:cNvPr>
          <p:cNvSpPr txBox="1">
            <a:spLocks/>
          </p:cNvSpPr>
          <p:nvPr/>
        </p:nvSpPr>
        <p:spPr>
          <a:xfrm>
            <a:off x="425302" y="465998"/>
            <a:ext cx="11379427" cy="504000"/>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2800" b="1" kern="1200">
                <a:solidFill>
                  <a:srgbClr val="8C95CD"/>
                </a:solidFill>
                <a:latin typeface="Verdana Pro"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nl-NL" sz="2800" b="1"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j-cs"/>
              </a:rPr>
              <a:t>Netwerkzorg viewer voor Dossier Inzage – Beschrijving  </a:t>
            </a:r>
          </a:p>
        </p:txBody>
      </p:sp>
      <p:grpSp>
        <p:nvGrpSpPr>
          <p:cNvPr id="21" name="Groep 20">
            <a:extLst>
              <a:ext uri="{FF2B5EF4-FFF2-40B4-BE49-F238E27FC236}">
                <a16:creationId xmlns:a16="http://schemas.microsoft.com/office/drawing/2014/main" id="{6CE9FE70-AF91-CDBA-86FF-1BDB94049612}"/>
              </a:ext>
            </a:extLst>
          </p:cNvPr>
          <p:cNvGrpSpPr/>
          <p:nvPr/>
        </p:nvGrpSpPr>
        <p:grpSpPr>
          <a:xfrm>
            <a:off x="3510589" y="1460378"/>
            <a:ext cx="5179396" cy="3616488"/>
            <a:chOff x="6542613" y="2334279"/>
            <a:chExt cx="5179396" cy="3616488"/>
          </a:xfrm>
        </p:grpSpPr>
        <p:sp>
          <p:nvSpPr>
            <p:cNvPr id="20" name="Ovaal 19">
              <a:extLst>
                <a:ext uri="{FF2B5EF4-FFF2-40B4-BE49-F238E27FC236}">
                  <a16:creationId xmlns:a16="http://schemas.microsoft.com/office/drawing/2014/main" id="{1ECDC166-F7AF-1237-1F81-8436DAF2E3CE}"/>
                </a:ext>
              </a:extLst>
            </p:cNvPr>
            <p:cNvSpPr/>
            <p:nvPr/>
          </p:nvSpPr>
          <p:spPr>
            <a:xfrm>
              <a:off x="8313850" y="5633484"/>
              <a:ext cx="1486568" cy="317283"/>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19" name="Ovaal 18">
              <a:extLst>
                <a:ext uri="{FF2B5EF4-FFF2-40B4-BE49-F238E27FC236}">
                  <a16:creationId xmlns:a16="http://schemas.microsoft.com/office/drawing/2014/main" id="{DE3C3549-147F-422D-039D-8EA447B33B23}"/>
                </a:ext>
              </a:extLst>
            </p:cNvPr>
            <p:cNvSpPr/>
            <p:nvPr/>
          </p:nvSpPr>
          <p:spPr>
            <a:xfrm>
              <a:off x="6973687" y="5120713"/>
              <a:ext cx="1219706" cy="433718"/>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18" name="Ovaal 17">
              <a:extLst>
                <a:ext uri="{FF2B5EF4-FFF2-40B4-BE49-F238E27FC236}">
                  <a16:creationId xmlns:a16="http://schemas.microsoft.com/office/drawing/2014/main" id="{0EEDA4B9-16E0-3E33-42D1-E68871B18321}"/>
                </a:ext>
              </a:extLst>
            </p:cNvPr>
            <p:cNvSpPr/>
            <p:nvPr/>
          </p:nvSpPr>
          <p:spPr>
            <a:xfrm>
              <a:off x="6664803" y="4057939"/>
              <a:ext cx="1100718"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17" name="Ovaal 16">
              <a:extLst>
                <a:ext uri="{FF2B5EF4-FFF2-40B4-BE49-F238E27FC236}">
                  <a16:creationId xmlns:a16="http://schemas.microsoft.com/office/drawing/2014/main" id="{E812457B-8751-E1B3-7CC8-5DE4DFC18480}"/>
                </a:ext>
              </a:extLst>
            </p:cNvPr>
            <p:cNvSpPr/>
            <p:nvPr/>
          </p:nvSpPr>
          <p:spPr>
            <a:xfrm>
              <a:off x="9994113" y="4970006"/>
              <a:ext cx="1415084" cy="430969"/>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16" name="Ovaal 15">
              <a:extLst>
                <a:ext uri="{FF2B5EF4-FFF2-40B4-BE49-F238E27FC236}">
                  <a16:creationId xmlns:a16="http://schemas.microsoft.com/office/drawing/2014/main" id="{F287440A-FDF1-00F3-1689-27BFB1F2D408}"/>
                </a:ext>
              </a:extLst>
            </p:cNvPr>
            <p:cNvSpPr/>
            <p:nvPr/>
          </p:nvSpPr>
          <p:spPr>
            <a:xfrm>
              <a:off x="10409984" y="3925462"/>
              <a:ext cx="1192701"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15" name="Ovaal 14">
              <a:extLst>
                <a:ext uri="{FF2B5EF4-FFF2-40B4-BE49-F238E27FC236}">
                  <a16:creationId xmlns:a16="http://schemas.microsoft.com/office/drawing/2014/main" id="{B2E926CD-3F85-9131-1328-78F6061CB428}"/>
                </a:ext>
              </a:extLst>
            </p:cNvPr>
            <p:cNvSpPr/>
            <p:nvPr/>
          </p:nvSpPr>
          <p:spPr>
            <a:xfrm>
              <a:off x="10063816" y="2963380"/>
              <a:ext cx="1316112"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7" name="Ovaal 6">
              <a:extLst>
                <a:ext uri="{FF2B5EF4-FFF2-40B4-BE49-F238E27FC236}">
                  <a16:creationId xmlns:a16="http://schemas.microsoft.com/office/drawing/2014/main" id="{01B32296-8E6A-77C3-B20B-68D84F5821F7}"/>
                </a:ext>
              </a:extLst>
            </p:cNvPr>
            <p:cNvSpPr/>
            <p:nvPr/>
          </p:nvSpPr>
          <p:spPr>
            <a:xfrm>
              <a:off x="8619056" y="2334279"/>
              <a:ext cx="886476" cy="4224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47" name="Tekstvak 46">
              <a:extLst>
                <a:ext uri="{FF2B5EF4-FFF2-40B4-BE49-F238E27FC236}">
                  <a16:creationId xmlns:a16="http://schemas.microsoft.com/office/drawing/2014/main" id="{624EB66A-97D5-C3FC-7E49-1D43680861D3}"/>
                </a:ext>
              </a:extLst>
            </p:cNvPr>
            <p:cNvSpPr txBox="1"/>
            <p:nvPr/>
          </p:nvSpPr>
          <p:spPr>
            <a:xfrm>
              <a:off x="8699130" y="2360498"/>
              <a:ext cx="72632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Jeugdwerker</a:t>
              </a:r>
            </a:p>
          </p:txBody>
        </p:sp>
        <p:sp>
          <p:nvSpPr>
            <p:cNvPr id="49" name="Tekstvak 48">
              <a:extLst>
                <a:ext uri="{FF2B5EF4-FFF2-40B4-BE49-F238E27FC236}">
                  <a16:creationId xmlns:a16="http://schemas.microsoft.com/office/drawing/2014/main" id="{EEDC5728-B9A5-9EEC-42AD-03B1FA22C9A0}"/>
                </a:ext>
              </a:extLst>
            </p:cNvPr>
            <p:cNvSpPr txBox="1"/>
            <p:nvPr/>
          </p:nvSpPr>
          <p:spPr>
            <a:xfrm>
              <a:off x="10020071" y="4976510"/>
              <a:ext cx="138912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Crisisdienst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medewerker</a:t>
              </a:r>
            </a:p>
          </p:txBody>
        </p:sp>
        <p:sp>
          <p:nvSpPr>
            <p:cNvPr id="50" name="Tekstvak 49">
              <a:extLst>
                <a:ext uri="{FF2B5EF4-FFF2-40B4-BE49-F238E27FC236}">
                  <a16:creationId xmlns:a16="http://schemas.microsoft.com/office/drawing/2014/main" id="{851A5889-1FFB-3BBE-98C2-C97F8B24E158}"/>
                </a:ext>
              </a:extLst>
            </p:cNvPr>
            <p:cNvSpPr txBox="1"/>
            <p:nvPr/>
          </p:nvSpPr>
          <p:spPr>
            <a:xfrm>
              <a:off x="10163150" y="4057238"/>
              <a:ext cx="1558859"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Specialist</a:t>
              </a:r>
              <a:endParaRPr kumimoji="0" lang="nl-NL" sz="12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51" name="Tekstvak 50">
              <a:extLst>
                <a:ext uri="{FF2B5EF4-FFF2-40B4-BE49-F238E27FC236}">
                  <a16:creationId xmlns:a16="http://schemas.microsoft.com/office/drawing/2014/main" id="{538BE083-90A2-DB1E-0124-00705272188A}"/>
                </a:ext>
              </a:extLst>
            </p:cNvPr>
            <p:cNvSpPr txBox="1"/>
            <p:nvPr/>
          </p:nvSpPr>
          <p:spPr>
            <a:xfrm>
              <a:off x="10108605" y="3130988"/>
              <a:ext cx="1179882"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Huisarts</a:t>
              </a:r>
            </a:p>
          </p:txBody>
        </p:sp>
        <p:sp>
          <p:nvSpPr>
            <p:cNvPr id="52" name="Tekstvak 51">
              <a:extLst>
                <a:ext uri="{FF2B5EF4-FFF2-40B4-BE49-F238E27FC236}">
                  <a16:creationId xmlns:a16="http://schemas.microsoft.com/office/drawing/2014/main" id="{35BE7DBF-F26C-8793-1151-0345CF06EB97}"/>
                </a:ext>
              </a:extLst>
            </p:cNvPr>
            <p:cNvSpPr txBox="1"/>
            <p:nvPr/>
          </p:nvSpPr>
          <p:spPr>
            <a:xfrm>
              <a:off x="6542613" y="4207161"/>
              <a:ext cx="134931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Apotheker</a:t>
              </a:r>
            </a:p>
          </p:txBody>
        </p:sp>
        <p:sp>
          <p:nvSpPr>
            <p:cNvPr id="53" name="Tekstvak 52">
              <a:extLst>
                <a:ext uri="{FF2B5EF4-FFF2-40B4-BE49-F238E27FC236}">
                  <a16:creationId xmlns:a16="http://schemas.microsoft.com/office/drawing/2014/main" id="{E01FCA2C-F14C-0CA5-7158-27C55CB59D31}"/>
                </a:ext>
              </a:extLst>
            </p:cNvPr>
            <p:cNvSpPr txBox="1"/>
            <p:nvPr/>
          </p:nvSpPr>
          <p:spPr>
            <a:xfrm>
              <a:off x="6993534" y="5146566"/>
              <a:ext cx="115437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Wijkverpleegkundige</a:t>
              </a:r>
            </a:p>
          </p:txBody>
        </p:sp>
        <p:sp>
          <p:nvSpPr>
            <p:cNvPr id="54" name="Tekstvak 53">
              <a:extLst>
                <a:ext uri="{FF2B5EF4-FFF2-40B4-BE49-F238E27FC236}">
                  <a16:creationId xmlns:a16="http://schemas.microsoft.com/office/drawing/2014/main" id="{82953053-0234-179D-8865-D4B7CDC1C6EA}"/>
                </a:ext>
              </a:extLst>
            </p:cNvPr>
            <p:cNvSpPr txBox="1"/>
            <p:nvPr/>
          </p:nvSpPr>
          <p:spPr>
            <a:xfrm>
              <a:off x="8551775" y="5659710"/>
              <a:ext cx="1135445"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Psycholoog</a:t>
              </a:r>
            </a:p>
          </p:txBody>
        </p:sp>
        <p:sp>
          <p:nvSpPr>
            <p:cNvPr id="6" name="Ovaal 5">
              <a:extLst>
                <a:ext uri="{FF2B5EF4-FFF2-40B4-BE49-F238E27FC236}">
                  <a16:creationId xmlns:a16="http://schemas.microsoft.com/office/drawing/2014/main" id="{25094E75-3FC2-F39F-158E-CBDBFBD698B2}"/>
                </a:ext>
              </a:extLst>
            </p:cNvPr>
            <p:cNvSpPr/>
            <p:nvPr/>
          </p:nvSpPr>
          <p:spPr>
            <a:xfrm>
              <a:off x="7247719" y="2766012"/>
              <a:ext cx="886476"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6E6F31C-CAA3-AA4B-66D9-E9F10990CE6E}"/>
                </a:ext>
              </a:extLst>
            </p:cNvPr>
            <p:cNvSpPr txBox="1"/>
            <p:nvPr/>
          </p:nvSpPr>
          <p:spPr>
            <a:xfrm>
              <a:off x="7186503" y="2882960"/>
              <a:ext cx="1001454"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Fysio</a:t>
              </a:r>
            </a:p>
          </p:txBody>
        </p:sp>
        <p:cxnSp>
          <p:nvCxnSpPr>
            <p:cNvPr id="36" name="Rechte verbindingslijn 35">
              <a:extLst>
                <a:ext uri="{FF2B5EF4-FFF2-40B4-BE49-F238E27FC236}">
                  <a16:creationId xmlns:a16="http://schemas.microsoft.com/office/drawing/2014/main" id="{FA6F3144-3930-32A1-018F-22939C3FE887}"/>
                </a:ext>
              </a:extLst>
            </p:cNvPr>
            <p:cNvCxnSpPr>
              <a:cxnSpLocks/>
              <a:stCxn id="18" idx="6"/>
              <a:endCxn id="6" idx="5"/>
            </p:cNvCxnSpPr>
            <p:nvPr/>
          </p:nvCxnSpPr>
          <p:spPr>
            <a:xfrm flipV="1">
              <a:off x="7765521" y="3229586"/>
              <a:ext cx="238853" cy="1099909"/>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3DDA21A1-2099-120F-5F1B-235CC6AF2380}"/>
                </a:ext>
              </a:extLst>
            </p:cNvPr>
            <p:cNvCxnSpPr>
              <a:cxnSpLocks/>
              <a:stCxn id="18" idx="6"/>
              <a:endCxn id="7" idx="4"/>
            </p:cNvCxnSpPr>
            <p:nvPr/>
          </p:nvCxnSpPr>
          <p:spPr>
            <a:xfrm flipV="1">
              <a:off x="7765521" y="2756690"/>
              <a:ext cx="1296773" cy="157280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40" name="Rechte verbindingslijn 39">
              <a:extLst>
                <a:ext uri="{FF2B5EF4-FFF2-40B4-BE49-F238E27FC236}">
                  <a16:creationId xmlns:a16="http://schemas.microsoft.com/office/drawing/2014/main" id="{79499845-5395-11E0-C746-5764EF4CCA8B}"/>
                </a:ext>
              </a:extLst>
            </p:cNvPr>
            <p:cNvCxnSpPr>
              <a:cxnSpLocks/>
              <a:stCxn id="18" idx="6"/>
              <a:endCxn id="15" idx="2"/>
            </p:cNvCxnSpPr>
            <p:nvPr/>
          </p:nvCxnSpPr>
          <p:spPr>
            <a:xfrm flipV="1">
              <a:off x="7765521" y="3234936"/>
              <a:ext cx="2298295" cy="1094559"/>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47E256B9-97B5-B057-A599-7BB0477DDAD0}"/>
                </a:ext>
              </a:extLst>
            </p:cNvPr>
            <p:cNvCxnSpPr>
              <a:cxnSpLocks/>
              <a:stCxn id="7" idx="4"/>
              <a:endCxn id="6" idx="5"/>
            </p:cNvCxnSpPr>
            <p:nvPr/>
          </p:nvCxnSpPr>
          <p:spPr>
            <a:xfrm flipH="1">
              <a:off x="8004374" y="2756690"/>
              <a:ext cx="1057920" cy="47289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ECA7DB23-BA5B-4767-3A72-00A15ABDBBE6}"/>
                </a:ext>
              </a:extLst>
            </p:cNvPr>
            <p:cNvCxnSpPr>
              <a:cxnSpLocks/>
              <a:stCxn id="7" idx="4"/>
              <a:endCxn id="15" idx="2"/>
            </p:cNvCxnSpPr>
            <p:nvPr/>
          </p:nvCxnSpPr>
          <p:spPr>
            <a:xfrm>
              <a:off x="9062294" y="2756690"/>
              <a:ext cx="1001522" cy="47824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59" name="Rechte verbindingslijn 58">
              <a:extLst>
                <a:ext uri="{FF2B5EF4-FFF2-40B4-BE49-F238E27FC236}">
                  <a16:creationId xmlns:a16="http://schemas.microsoft.com/office/drawing/2014/main" id="{96EFD513-B7BB-7C77-2259-B3984428F50A}"/>
                </a:ext>
              </a:extLst>
            </p:cNvPr>
            <p:cNvCxnSpPr>
              <a:cxnSpLocks/>
              <a:stCxn id="19" idx="7"/>
              <a:endCxn id="18" idx="6"/>
            </p:cNvCxnSpPr>
            <p:nvPr/>
          </p:nvCxnSpPr>
          <p:spPr>
            <a:xfrm flipH="1" flipV="1">
              <a:off x="7765521" y="4329495"/>
              <a:ext cx="249250" cy="85473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62" name="Rechte verbindingslijn 61">
              <a:extLst>
                <a:ext uri="{FF2B5EF4-FFF2-40B4-BE49-F238E27FC236}">
                  <a16:creationId xmlns:a16="http://schemas.microsoft.com/office/drawing/2014/main" id="{4A65E663-66D3-680B-9FA8-EACBC43993EA}"/>
                </a:ext>
              </a:extLst>
            </p:cNvPr>
            <p:cNvCxnSpPr>
              <a:cxnSpLocks/>
              <a:stCxn id="20" idx="0"/>
              <a:endCxn id="19" idx="7"/>
            </p:cNvCxnSpPr>
            <p:nvPr/>
          </p:nvCxnSpPr>
          <p:spPr>
            <a:xfrm flipH="1" flipV="1">
              <a:off x="8014771" y="5184230"/>
              <a:ext cx="1042363" cy="44925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64">
              <a:extLst>
                <a:ext uri="{FF2B5EF4-FFF2-40B4-BE49-F238E27FC236}">
                  <a16:creationId xmlns:a16="http://schemas.microsoft.com/office/drawing/2014/main" id="{4A15F36A-7FFD-8383-52E2-25E7533E7F44}"/>
                </a:ext>
              </a:extLst>
            </p:cNvPr>
            <p:cNvCxnSpPr>
              <a:cxnSpLocks/>
              <a:stCxn id="20" idx="0"/>
              <a:endCxn id="17" idx="2"/>
            </p:cNvCxnSpPr>
            <p:nvPr/>
          </p:nvCxnSpPr>
          <p:spPr>
            <a:xfrm flipV="1">
              <a:off x="9057134" y="5185491"/>
              <a:ext cx="936979" cy="447993"/>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68" name="Rechte verbindingslijn 67">
              <a:extLst>
                <a:ext uri="{FF2B5EF4-FFF2-40B4-BE49-F238E27FC236}">
                  <a16:creationId xmlns:a16="http://schemas.microsoft.com/office/drawing/2014/main" id="{983113EB-2809-2967-9FD1-6361E341D414}"/>
                </a:ext>
              </a:extLst>
            </p:cNvPr>
            <p:cNvCxnSpPr>
              <a:cxnSpLocks/>
              <a:stCxn id="16" idx="2"/>
              <a:endCxn id="17" idx="2"/>
            </p:cNvCxnSpPr>
            <p:nvPr/>
          </p:nvCxnSpPr>
          <p:spPr>
            <a:xfrm flipH="1">
              <a:off x="9994113" y="4197018"/>
              <a:ext cx="415871" cy="988473"/>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91" name="Rechte verbindingslijn 90">
              <a:extLst>
                <a:ext uri="{FF2B5EF4-FFF2-40B4-BE49-F238E27FC236}">
                  <a16:creationId xmlns:a16="http://schemas.microsoft.com/office/drawing/2014/main" id="{1949E20E-68AA-BDA8-78DF-5A87465F0ABB}"/>
                </a:ext>
              </a:extLst>
            </p:cNvPr>
            <p:cNvCxnSpPr>
              <a:cxnSpLocks/>
              <a:stCxn id="16" idx="2"/>
              <a:endCxn id="15" idx="2"/>
            </p:cNvCxnSpPr>
            <p:nvPr/>
          </p:nvCxnSpPr>
          <p:spPr>
            <a:xfrm flipH="1" flipV="1">
              <a:off x="10063816" y="3234936"/>
              <a:ext cx="346168" cy="962082"/>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03" name="Rechte verbindingslijn 102">
              <a:extLst>
                <a:ext uri="{FF2B5EF4-FFF2-40B4-BE49-F238E27FC236}">
                  <a16:creationId xmlns:a16="http://schemas.microsoft.com/office/drawing/2014/main" id="{A9DFCC5C-CC19-BB93-3804-A8E0E5EEA2DF}"/>
                </a:ext>
              </a:extLst>
            </p:cNvPr>
            <p:cNvCxnSpPr>
              <a:cxnSpLocks/>
              <a:stCxn id="18" idx="6"/>
              <a:endCxn id="16" idx="2"/>
            </p:cNvCxnSpPr>
            <p:nvPr/>
          </p:nvCxnSpPr>
          <p:spPr>
            <a:xfrm flipV="1">
              <a:off x="7765521" y="4197018"/>
              <a:ext cx="2644463" cy="132477"/>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06" name="Rechte verbindingslijn 105">
              <a:extLst>
                <a:ext uri="{FF2B5EF4-FFF2-40B4-BE49-F238E27FC236}">
                  <a16:creationId xmlns:a16="http://schemas.microsoft.com/office/drawing/2014/main" id="{8EA10C6D-B3A4-2EA6-199C-F608879B50BF}"/>
                </a:ext>
              </a:extLst>
            </p:cNvPr>
            <p:cNvCxnSpPr>
              <a:cxnSpLocks/>
              <a:stCxn id="18" idx="6"/>
              <a:endCxn id="17" idx="2"/>
            </p:cNvCxnSpPr>
            <p:nvPr/>
          </p:nvCxnSpPr>
          <p:spPr>
            <a:xfrm>
              <a:off x="7765521" y="4329495"/>
              <a:ext cx="2228592" cy="85599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09" name="Rechte verbindingslijn 108">
              <a:extLst>
                <a:ext uri="{FF2B5EF4-FFF2-40B4-BE49-F238E27FC236}">
                  <a16:creationId xmlns:a16="http://schemas.microsoft.com/office/drawing/2014/main" id="{2C372318-6B6F-C849-A7D6-95E5A2C4962A}"/>
                </a:ext>
              </a:extLst>
            </p:cNvPr>
            <p:cNvCxnSpPr>
              <a:cxnSpLocks/>
              <a:stCxn id="18" idx="6"/>
              <a:endCxn id="20" idx="0"/>
            </p:cNvCxnSpPr>
            <p:nvPr/>
          </p:nvCxnSpPr>
          <p:spPr>
            <a:xfrm>
              <a:off x="7765521" y="4329495"/>
              <a:ext cx="1291613" cy="1303989"/>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12" name="Rechte verbindingslijn 111">
              <a:extLst>
                <a:ext uri="{FF2B5EF4-FFF2-40B4-BE49-F238E27FC236}">
                  <a16:creationId xmlns:a16="http://schemas.microsoft.com/office/drawing/2014/main" id="{306C30BB-1FB7-6CD4-94F3-873A44D34D07}"/>
                </a:ext>
              </a:extLst>
            </p:cNvPr>
            <p:cNvCxnSpPr>
              <a:cxnSpLocks/>
              <a:stCxn id="16" idx="2"/>
              <a:endCxn id="7" idx="4"/>
            </p:cNvCxnSpPr>
            <p:nvPr/>
          </p:nvCxnSpPr>
          <p:spPr>
            <a:xfrm flipH="1" flipV="1">
              <a:off x="9062294" y="2756690"/>
              <a:ext cx="1347690" cy="1440328"/>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13" name="Rechte verbindingslijn 112">
              <a:extLst>
                <a:ext uri="{FF2B5EF4-FFF2-40B4-BE49-F238E27FC236}">
                  <a16:creationId xmlns:a16="http://schemas.microsoft.com/office/drawing/2014/main" id="{5FE4BBBD-DD88-BC86-FDEB-C6FAE476AF12}"/>
                </a:ext>
              </a:extLst>
            </p:cNvPr>
            <p:cNvCxnSpPr>
              <a:cxnSpLocks/>
              <a:stCxn id="6" idx="5"/>
              <a:endCxn id="19" idx="7"/>
            </p:cNvCxnSpPr>
            <p:nvPr/>
          </p:nvCxnSpPr>
          <p:spPr>
            <a:xfrm>
              <a:off x="8004374" y="3229586"/>
              <a:ext cx="10397" cy="195464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14" name="Rechte verbindingslijn 113">
              <a:extLst>
                <a:ext uri="{FF2B5EF4-FFF2-40B4-BE49-F238E27FC236}">
                  <a16:creationId xmlns:a16="http://schemas.microsoft.com/office/drawing/2014/main" id="{9E953AB5-1C29-AE57-F7E1-D03F83A90FD1}"/>
                </a:ext>
              </a:extLst>
            </p:cNvPr>
            <p:cNvCxnSpPr>
              <a:cxnSpLocks/>
              <a:stCxn id="16" idx="2"/>
              <a:endCxn id="6" idx="5"/>
            </p:cNvCxnSpPr>
            <p:nvPr/>
          </p:nvCxnSpPr>
          <p:spPr>
            <a:xfrm flipH="1" flipV="1">
              <a:off x="8004374" y="3229586"/>
              <a:ext cx="2405610" cy="967432"/>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15" name="Rechte verbindingslijn 114">
              <a:extLst>
                <a:ext uri="{FF2B5EF4-FFF2-40B4-BE49-F238E27FC236}">
                  <a16:creationId xmlns:a16="http://schemas.microsoft.com/office/drawing/2014/main" id="{B0FC18B0-D287-3DC3-2F24-BD5A0AB9D021}"/>
                </a:ext>
              </a:extLst>
            </p:cNvPr>
            <p:cNvCxnSpPr>
              <a:cxnSpLocks/>
              <a:stCxn id="16" idx="2"/>
              <a:endCxn id="20" idx="0"/>
            </p:cNvCxnSpPr>
            <p:nvPr/>
          </p:nvCxnSpPr>
          <p:spPr>
            <a:xfrm flipH="1">
              <a:off x="9057134" y="4197018"/>
              <a:ext cx="1352850" cy="143646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16" name="Rechte verbindingslijn 115">
              <a:extLst>
                <a:ext uri="{FF2B5EF4-FFF2-40B4-BE49-F238E27FC236}">
                  <a16:creationId xmlns:a16="http://schemas.microsoft.com/office/drawing/2014/main" id="{D077A35D-A53A-719A-4DDC-CA79AB56BBEE}"/>
                </a:ext>
              </a:extLst>
            </p:cNvPr>
            <p:cNvCxnSpPr>
              <a:cxnSpLocks/>
              <a:stCxn id="16" idx="2"/>
              <a:endCxn id="19" idx="7"/>
            </p:cNvCxnSpPr>
            <p:nvPr/>
          </p:nvCxnSpPr>
          <p:spPr>
            <a:xfrm flipH="1">
              <a:off x="8014771" y="4197018"/>
              <a:ext cx="2395213" cy="987212"/>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F06136AD-9B98-61E3-9BE8-5F0004BC445A}"/>
                </a:ext>
              </a:extLst>
            </p:cNvPr>
            <p:cNvCxnSpPr>
              <a:cxnSpLocks/>
              <a:stCxn id="7" idx="4"/>
              <a:endCxn id="19" idx="7"/>
            </p:cNvCxnSpPr>
            <p:nvPr/>
          </p:nvCxnSpPr>
          <p:spPr>
            <a:xfrm flipH="1">
              <a:off x="8014771" y="2756690"/>
              <a:ext cx="1047523" cy="2427540"/>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30" name="Rechte verbindingslijn 129">
              <a:extLst>
                <a:ext uri="{FF2B5EF4-FFF2-40B4-BE49-F238E27FC236}">
                  <a16:creationId xmlns:a16="http://schemas.microsoft.com/office/drawing/2014/main" id="{C418B970-7154-6862-19BB-A65FD606A72F}"/>
                </a:ext>
              </a:extLst>
            </p:cNvPr>
            <p:cNvCxnSpPr>
              <a:cxnSpLocks/>
              <a:stCxn id="15" idx="2"/>
              <a:endCxn id="19" idx="7"/>
            </p:cNvCxnSpPr>
            <p:nvPr/>
          </p:nvCxnSpPr>
          <p:spPr>
            <a:xfrm flipH="1">
              <a:off x="8014771" y="3234936"/>
              <a:ext cx="2049045" cy="194929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33" name="Rechte verbindingslijn 132">
              <a:extLst>
                <a:ext uri="{FF2B5EF4-FFF2-40B4-BE49-F238E27FC236}">
                  <a16:creationId xmlns:a16="http://schemas.microsoft.com/office/drawing/2014/main" id="{226D4C1D-3E61-BD67-CA7C-CCC18FD43A15}"/>
                </a:ext>
              </a:extLst>
            </p:cNvPr>
            <p:cNvCxnSpPr>
              <a:cxnSpLocks/>
              <a:stCxn id="17" idx="2"/>
              <a:endCxn id="19" idx="7"/>
            </p:cNvCxnSpPr>
            <p:nvPr/>
          </p:nvCxnSpPr>
          <p:spPr>
            <a:xfrm flipH="1" flipV="1">
              <a:off x="8014771" y="5184230"/>
              <a:ext cx="1979342" cy="1261"/>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36" name="Rechte verbindingslijn 135">
              <a:extLst>
                <a:ext uri="{FF2B5EF4-FFF2-40B4-BE49-F238E27FC236}">
                  <a16:creationId xmlns:a16="http://schemas.microsoft.com/office/drawing/2014/main" id="{B4187058-ED11-AD11-8105-45C4E8296A24}"/>
                </a:ext>
              </a:extLst>
            </p:cNvPr>
            <p:cNvCxnSpPr>
              <a:cxnSpLocks/>
              <a:stCxn id="6" idx="5"/>
              <a:endCxn id="20" idx="0"/>
            </p:cNvCxnSpPr>
            <p:nvPr/>
          </p:nvCxnSpPr>
          <p:spPr>
            <a:xfrm>
              <a:off x="8004374" y="3229586"/>
              <a:ext cx="1052760" cy="2403898"/>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39" name="Rechte verbindingslijn 138">
              <a:extLst>
                <a:ext uri="{FF2B5EF4-FFF2-40B4-BE49-F238E27FC236}">
                  <a16:creationId xmlns:a16="http://schemas.microsoft.com/office/drawing/2014/main" id="{14C7A818-2000-0778-4F11-A7D1DBA6BC71}"/>
                </a:ext>
              </a:extLst>
            </p:cNvPr>
            <p:cNvCxnSpPr>
              <a:cxnSpLocks/>
              <a:stCxn id="7" idx="4"/>
              <a:endCxn id="20" idx="0"/>
            </p:cNvCxnSpPr>
            <p:nvPr/>
          </p:nvCxnSpPr>
          <p:spPr>
            <a:xfrm flipH="1">
              <a:off x="9057134" y="2756690"/>
              <a:ext cx="5160" cy="287679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42" name="Rechte verbindingslijn 141">
              <a:extLst>
                <a:ext uri="{FF2B5EF4-FFF2-40B4-BE49-F238E27FC236}">
                  <a16:creationId xmlns:a16="http://schemas.microsoft.com/office/drawing/2014/main" id="{D0B6BE96-F3D3-03BD-58F3-CA5ED89CAE35}"/>
                </a:ext>
              </a:extLst>
            </p:cNvPr>
            <p:cNvCxnSpPr>
              <a:cxnSpLocks/>
              <a:stCxn id="15" idx="2"/>
              <a:endCxn id="20" idx="0"/>
            </p:cNvCxnSpPr>
            <p:nvPr/>
          </p:nvCxnSpPr>
          <p:spPr>
            <a:xfrm flipH="1">
              <a:off x="9057134" y="3234936"/>
              <a:ext cx="1006682" cy="2398548"/>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45" name="Rechte verbindingslijn 144">
              <a:extLst>
                <a:ext uri="{FF2B5EF4-FFF2-40B4-BE49-F238E27FC236}">
                  <a16:creationId xmlns:a16="http://schemas.microsoft.com/office/drawing/2014/main" id="{41F98AE4-1F74-E803-4D73-B56D643E4F67}"/>
                </a:ext>
              </a:extLst>
            </p:cNvPr>
            <p:cNvCxnSpPr>
              <a:cxnSpLocks/>
              <a:stCxn id="15" idx="2"/>
              <a:endCxn id="6" idx="5"/>
            </p:cNvCxnSpPr>
            <p:nvPr/>
          </p:nvCxnSpPr>
          <p:spPr>
            <a:xfrm flipH="1" flipV="1">
              <a:off x="8004374" y="3229586"/>
              <a:ext cx="2059442" cy="5350"/>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48" name="Rechte verbindingslijn 147">
              <a:extLst>
                <a:ext uri="{FF2B5EF4-FFF2-40B4-BE49-F238E27FC236}">
                  <a16:creationId xmlns:a16="http://schemas.microsoft.com/office/drawing/2014/main" id="{DFBF52D2-977A-C69B-BEC2-3B8DF01FC9BB}"/>
                </a:ext>
              </a:extLst>
            </p:cNvPr>
            <p:cNvCxnSpPr>
              <a:cxnSpLocks/>
              <a:stCxn id="15" idx="2"/>
              <a:endCxn id="17" idx="2"/>
            </p:cNvCxnSpPr>
            <p:nvPr/>
          </p:nvCxnSpPr>
          <p:spPr>
            <a:xfrm flipH="1">
              <a:off x="9994113" y="3234936"/>
              <a:ext cx="69703" cy="195055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51" name="Rechte verbindingslijn 150">
              <a:extLst>
                <a:ext uri="{FF2B5EF4-FFF2-40B4-BE49-F238E27FC236}">
                  <a16:creationId xmlns:a16="http://schemas.microsoft.com/office/drawing/2014/main" id="{287D176B-5F15-DEC0-6634-5BFE9739C41A}"/>
                </a:ext>
              </a:extLst>
            </p:cNvPr>
            <p:cNvCxnSpPr>
              <a:cxnSpLocks/>
              <a:stCxn id="17" idx="2"/>
              <a:endCxn id="6" idx="5"/>
            </p:cNvCxnSpPr>
            <p:nvPr/>
          </p:nvCxnSpPr>
          <p:spPr>
            <a:xfrm flipH="1" flipV="1">
              <a:off x="8004374" y="3229586"/>
              <a:ext cx="1989739" cy="195590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154" name="Rechte verbindingslijn 153">
              <a:extLst>
                <a:ext uri="{FF2B5EF4-FFF2-40B4-BE49-F238E27FC236}">
                  <a16:creationId xmlns:a16="http://schemas.microsoft.com/office/drawing/2014/main" id="{59BCD8C7-7087-A150-1B72-740BFB6B6FB1}"/>
                </a:ext>
              </a:extLst>
            </p:cNvPr>
            <p:cNvCxnSpPr>
              <a:cxnSpLocks/>
              <a:stCxn id="17" idx="2"/>
              <a:endCxn id="7" idx="4"/>
            </p:cNvCxnSpPr>
            <p:nvPr/>
          </p:nvCxnSpPr>
          <p:spPr>
            <a:xfrm flipH="1" flipV="1">
              <a:off x="9062294" y="2756690"/>
              <a:ext cx="931819" cy="2428801"/>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sp>
          <p:nvSpPr>
            <p:cNvPr id="157" name="Ovaal 156">
              <a:extLst>
                <a:ext uri="{FF2B5EF4-FFF2-40B4-BE49-F238E27FC236}">
                  <a16:creationId xmlns:a16="http://schemas.microsoft.com/office/drawing/2014/main" id="{119043B7-5B9C-4091-4073-A61E9D75209D}"/>
                </a:ext>
              </a:extLst>
            </p:cNvPr>
            <p:cNvSpPr/>
            <p:nvPr/>
          </p:nvSpPr>
          <p:spPr>
            <a:xfrm>
              <a:off x="8235023" y="3524469"/>
              <a:ext cx="1655539" cy="1442339"/>
            </a:xfrm>
            <a:prstGeom prst="ellipse">
              <a:avLst/>
            </a:prstGeom>
            <a:solidFill>
              <a:srgbClr val="0E9F92"/>
            </a:solidFill>
            <a:ln>
              <a:solidFill>
                <a:srgbClr val="0E9F9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7" name="Rechthoek 146">
            <a:extLst>
              <a:ext uri="{FF2B5EF4-FFF2-40B4-BE49-F238E27FC236}">
                <a16:creationId xmlns:a16="http://schemas.microsoft.com/office/drawing/2014/main" id="{77640442-DBF8-1586-7FE8-2DE94626F4B8}"/>
              </a:ext>
            </a:extLst>
          </p:cNvPr>
          <p:cNvSpPr/>
          <p:nvPr/>
        </p:nvSpPr>
        <p:spPr>
          <a:xfrm>
            <a:off x="5505621" y="3056153"/>
            <a:ext cx="1080826" cy="616863"/>
          </a:xfrm>
          <a:prstGeom prst="rect">
            <a:avLst/>
          </a:prstGeom>
          <a:solidFill>
            <a:schemeClr val="bg1">
              <a:lumMod val="95000"/>
            </a:schemeClr>
          </a:solid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ani" panose="020B0502040204020203" pitchFamily="18" charset="0"/>
              </a:rPr>
              <a:t>Integraal 360-graden beeld</a:t>
            </a:r>
            <a:endParaRPr kumimoji="0" lang="en-NL"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ani" panose="020B0502040204020203" pitchFamily="18" charset="0"/>
            </a:endParaRPr>
          </a:p>
        </p:txBody>
      </p:sp>
      <p:sp>
        <p:nvSpPr>
          <p:cNvPr id="3" name="Rectangle: Top Corners Rounded 38">
            <a:hlinkClick r:id="rId6" action="ppaction://hlinksldjump"/>
            <a:extLst>
              <a:ext uri="{FF2B5EF4-FFF2-40B4-BE49-F238E27FC236}">
                <a16:creationId xmlns:a16="http://schemas.microsoft.com/office/drawing/2014/main" id="{1F7EFD92-AC77-0191-A85D-82890A986B2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Management Samenvatting</a:t>
            </a:r>
          </a:p>
        </p:txBody>
      </p:sp>
      <p:pic>
        <p:nvPicPr>
          <p:cNvPr id="4" name="Graphic 3" descr="Introductiepagina silhouet">
            <a:hlinkClick r:id="rId7" action="ppaction://hlinksldjump"/>
            <a:extLst>
              <a:ext uri="{FF2B5EF4-FFF2-40B4-BE49-F238E27FC236}">
                <a16:creationId xmlns:a16="http://schemas.microsoft.com/office/drawing/2014/main" id="{8ED49FD5-6562-974B-32F3-8DECCC7CE7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136" y="147223"/>
            <a:ext cx="144000" cy="144000"/>
          </a:xfrm>
          <a:prstGeom prst="rect">
            <a:avLst/>
          </a:prstGeom>
        </p:spPr>
      </p:pic>
      <p:sp>
        <p:nvSpPr>
          <p:cNvPr id="8" name="Rectangle: Top Corners Rounded 1">
            <a:hlinkClick r:id="" action="ppaction://noaction"/>
            <a:extLst>
              <a:ext uri="{FF2B5EF4-FFF2-40B4-BE49-F238E27FC236}">
                <a16:creationId xmlns:a16="http://schemas.microsoft.com/office/drawing/2014/main" id="{919A1696-1022-82FE-9387-FBC56FC4EE79}"/>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22" name="Rectangle: Top Corners Rounded 1">
            <a:hlinkClick r:id="" action="ppaction://noaction"/>
            <a:extLst>
              <a:ext uri="{FF2B5EF4-FFF2-40B4-BE49-F238E27FC236}">
                <a16:creationId xmlns:a16="http://schemas.microsoft.com/office/drawing/2014/main" id="{67D5CC2F-4EA1-901E-BF1B-A1CFA7AE620C}"/>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23" name="Rectangle: Top Corners Rounded 1">
            <a:hlinkClick r:id="" action="ppaction://noaction"/>
            <a:extLst>
              <a:ext uri="{FF2B5EF4-FFF2-40B4-BE49-F238E27FC236}">
                <a16:creationId xmlns:a16="http://schemas.microsoft.com/office/drawing/2014/main" id="{ABD1BBA3-A6FD-1B19-230D-BC2BD7EB4BB3}"/>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24" name="Rectangle: Top Corners Rounded 1">
            <a:hlinkClick r:id="" action="ppaction://noaction"/>
            <a:extLst>
              <a:ext uri="{FF2B5EF4-FFF2-40B4-BE49-F238E27FC236}">
                <a16:creationId xmlns:a16="http://schemas.microsoft.com/office/drawing/2014/main" id="{C0447DF8-952A-C407-2787-ED53994060CE}"/>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Digitale (zorg) communicatie</a:t>
            </a:r>
          </a:p>
        </p:txBody>
      </p:sp>
      <p:sp>
        <p:nvSpPr>
          <p:cNvPr id="25" name="Rectangle: Top Corners Rounded 1">
            <a:hlinkClick r:id="" action="ppaction://noaction"/>
            <a:extLst>
              <a:ext uri="{FF2B5EF4-FFF2-40B4-BE49-F238E27FC236}">
                <a16:creationId xmlns:a16="http://schemas.microsoft.com/office/drawing/2014/main" id="{D2BA6E87-36CA-1F62-088E-A28CD764B609}"/>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26" name="Rectangle: Top Corners Rounded 1">
            <a:hlinkClick r:id="" action="ppaction://noaction"/>
            <a:extLst>
              <a:ext uri="{FF2B5EF4-FFF2-40B4-BE49-F238E27FC236}">
                <a16:creationId xmlns:a16="http://schemas.microsoft.com/office/drawing/2014/main" id="{DA050104-ACC2-9F31-F073-2842F378AA2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27" name="Rectangle: Top Corners Rounded 1">
            <a:hlinkClick r:id="" action="ppaction://noaction"/>
            <a:extLst>
              <a:ext uri="{FF2B5EF4-FFF2-40B4-BE49-F238E27FC236}">
                <a16:creationId xmlns:a16="http://schemas.microsoft.com/office/drawing/2014/main" id="{C6C665FB-FC2F-15CA-DF3A-E27E9C8935F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Governance</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28" name="Rectangle: Top Corners Rounded 1">
            <a:hlinkClick r:id="" action="ppaction://noaction"/>
            <a:extLst>
              <a:ext uri="{FF2B5EF4-FFF2-40B4-BE49-F238E27FC236}">
                <a16:creationId xmlns:a16="http://schemas.microsoft.com/office/drawing/2014/main" id="{D390E364-4E91-D247-731D-9AB45F92620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29" name="Rectangle: Top Corners Rounded 1">
            <a:hlinkClick r:id="" action="ppaction://noaction"/>
            <a:extLst>
              <a:ext uri="{FF2B5EF4-FFF2-40B4-BE49-F238E27FC236}">
                <a16:creationId xmlns:a16="http://schemas.microsoft.com/office/drawing/2014/main" id="{4213CE24-D8D8-6981-3766-1937C691842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30" name="Rectangle: Top Corners Rounded 1">
            <a:hlinkClick r:id="" action="ppaction://noaction"/>
            <a:extLst>
              <a:ext uri="{FF2B5EF4-FFF2-40B4-BE49-F238E27FC236}">
                <a16:creationId xmlns:a16="http://schemas.microsoft.com/office/drawing/2014/main" id="{262B1F14-8E89-1286-3885-18ED13919B8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31" name="Rectangle: Top Corners Rounded 1">
            <a:hlinkClick r:id="" action="ppaction://noaction"/>
            <a:extLst>
              <a:ext uri="{FF2B5EF4-FFF2-40B4-BE49-F238E27FC236}">
                <a16:creationId xmlns:a16="http://schemas.microsoft.com/office/drawing/2014/main" id="{20649DD6-EC8B-2719-30E0-CF5579E5A993}"/>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Fundament digitalisering</a:t>
            </a:r>
          </a:p>
        </p:txBody>
      </p:sp>
      <p:cxnSp>
        <p:nvCxnSpPr>
          <p:cNvPr id="33" name="Rechte verbindingslijn 32">
            <a:extLst>
              <a:ext uri="{FF2B5EF4-FFF2-40B4-BE49-F238E27FC236}">
                <a16:creationId xmlns:a16="http://schemas.microsoft.com/office/drawing/2014/main" id="{C25EBEFC-628C-7D3B-0801-E3BB4A141F2E}"/>
              </a:ext>
            </a:extLst>
          </p:cNvPr>
          <p:cNvCxnSpPr>
            <a:cxnSpLocks/>
          </p:cNvCxnSpPr>
          <p:nvPr/>
        </p:nvCxnSpPr>
        <p:spPr>
          <a:xfrm flipV="1">
            <a:off x="6541053" y="2730095"/>
            <a:ext cx="1954224" cy="338710"/>
          </a:xfrm>
          <a:prstGeom prst="line">
            <a:avLst/>
          </a:prstGeom>
          <a:ln w="2540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Rechthoek: afgeronde hoeken 31">
            <a:extLst>
              <a:ext uri="{FF2B5EF4-FFF2-40B4-BE49-F238E27FC236}">
                <a16:creationId xmlns:a16="http://schemas.microsoft.com/office/drawing/2014/main" id="{E1CD4960-69BD-8CE0-F274-97943878F0EC}"/>
              </a:ext>
            </a:extLst>
          </p:cNvPr>
          <p:cNvSpPr/>
          <p:nvPr/>
        </p:nvSpPr>
        <p:spPr>
          <a:xfrm>
            <a:off x="-1" y="698693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grpSp>
        <p:nvGrpSpPr>
          <p:cNvPr id="122" name="Group 13">
            <a:extLst>
              <a:ext uri="{FF2B5EF4-FFF2-40B4-BE49-F238E27FC236}">
                <a16:creationId xmlns:a16="http://schemas.microsoft.com/office/drawing/2014/main" id="{778CE396-A4A2-8EB4-8827-636121AFF618}"/>
              </a:ext>
            </a:extLst>
          </p:cNvPr>
          <p:cNvGrpSpPr/>
          <p:nvPr/>
        </p:nvGrpSpPr>
        <p:grpSpPr>
          <a:xfrm>
            <a:off x="36460" y="1299442"/>
            <a:ext cx="3620911" cy="3732588"/>
            <a:chOff x="838199" y="1644913"/>
            <a:chExt cx="4644000" cy="2397560"/>
          </a:xfrm>
        </p:grpSpPr>
        <p:sp>
          <p:nvSpPr>
            <p:cNvPr id="123" name="Rectangle 14">
              <a:extLst>
                <a:ext uri="{FF2B5EF4-FFF2-40B4-BE49-F238E27FC236}">
                  <a16:creationId xmlns:a16="http://schemas.microsoft.com/office/drawing/2014/main" id="{AD14AD41-F95B-74BD-369B-526E8BBD03CA}"/>
                </a:ext>
              </a:extLst>
            </p:cNvPr>
            <p:cNvSpPr>
              <a:spLocks noChangeArrowheads="1"/>
            </p:cNvSpPr>
            <p:nvPr/>
          </p:nvSpPr>
          <p:spPr bwMode="auto">
            <a:xfrm>
              <a:off x="838199" y="1825622"/>
              <a:ext cx="4644000" cy="2216851"/>
            </a:xfrm>
            <a:prstGeom prst="rect">
              <a:avLst/>
            </a:prstGeom>
            <a:solidFill>
              <a:schemeClr val="accent2">
                <a:lumMod val="20000"/>
                <a:lumOff val="80000"/>
              </a:schemeClr>
            </a:solidFill>
            <a:ln w="6350">
              <a:noFill/>
              <a:miter lim="800000"/>
              <a:headEnd/>
              <a:tailEnd/>
            </a:ln>
          </p:spPr>
          <p:txBody>
            <a:bodyPr lIns="180000" tIns="144000" rIns="72000" bIns="7200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Doel: </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Op basis van een geconsolideerd overzicht van medicatie </a:t>
              </a:r>
              <a:r>
                <a:rPr kumimoji="0" lang="nl-NL" sz="9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voorschiften</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aan een inwoner in de regio, een digitale zorgtoepassing  om te komen tot een Actueel Medicatie Overzicht (AMO) wat beschikbaar wordt gesteld via de netwerkzorg viewer (360-graden beeld) voor dossierinzage. Een digitale omgeving waarin in het (zorg-) netwerk en rond de inwoner kan worden samengewerkt in het proces van medicatie verificatie en consolidatie o.b.v. regionale transmurale afspraken.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Resultaat:</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Minimaliseren van discrepanties met minimaal 50% waardoor medicatiefouten substantieel afnemen.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Veel tijdsbesparing en lagere registratielast voor professionals in de hele medicatieketen. Actieve participatie van de inwoner in het medicatieproces.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Zorgtoepassing: </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Een Actueel Medicatie Overzicht in de context van een inwoner met weergave van lab resultaten en metingen beschikbaar op basis van de zorginformatie bouwstenen uit het Medicatieproces. In het overzicht kan medicatie worden toegevoegd, bewerkt en worden gecontroleerd op bijv. dosis, frequentie en status. </a:t>
              </a:r>
            </a:p>
          </p:txBody>
        </p:sp>
        <p:sp>
          <p:nvSpPr>
            <p:cNvPr id="124" name="Rectangle 12">
              <a:extLst>
                <a:ext uri="{FF2B5EF4-FFF2-40B4-BE49-F238E27FC236}">
                  <a16:creationId xmlns:a16="http://schemas.microsoft.com/office/drawing/2014/main" id="{3EA8DD82-9C01-A57F-6159-513F402A90AF}"/>
                </a:ext>
              </a:extLst>
            </p:cNvPr>
            <p:cNvSpPr>
              <a:spLocks noChangeArrowheads="1"/>
            </p:cNvSpPr>
            <p:nvPr>
              <p:custDataLst>
                <p:tags r:id="rId3"/>
              </p:custDataLst>
            </p:nvPr>
          </p:nvSpPr>
          <p:spPr bwMode="auto">
            <a:xfrm>
              <a:off x="838199" y="1644913"/>
              <a:ext cx="4644000" cy="217107"/>
            </a:xfrm>
            <a:prstGeom prst="rect">
              <a:avLst/>
            </a:prstGeom>
            <a:solidFill>
              <a:schemeClr val="accent2"/>
            </a:solidFill>
            <a:ln w="6350">
              <a:noFill/>
              <a:miter lim="800000"/>
              <a:headEnd/>
              <a:tailEnd/>
            </a:ln>
            <a:effectLst/>
          </p:spPr>
          <p:txBody>
            <a:bodyPr wrap="square" lIns="72000" tIns="72000" rIns="72000" bIns="72000" anchor="ctr"/>
            <a:lstStyle/>
            <a:p>
              <a:pPr marL="0" marR="0" lvl="0" indent="0" algn="ctr" defTabSz="914400" rtl="0" eaLnBrk="0" fontAlgn="auto" latinLnBrk="0" hangingPunct="0">
                <a:lnSpc>
                  <a:spcPct val="85000"/>
                </a:lnSpc>
                <a:spcBef>
                  <a:spcPts val="100"/>
                </a:spcBef>
                <a:spcAft>
                  <a:spcPts val="300"/>
                </a:spcAft>
                <a:buClrTx/>
                <a:buSzTx/>
                <a:buFontTx/>
                <a:buNone/>
                <a:tabLst/>
                <a:defRPr/>
              </a:pPr>
              <a:r>
                <a:rPr kumimoji="0" lang="nl-NL" sz="1200" b="1" i="0" u="none" strike="noStrike" kern="1200" cap="all"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Actueel Medicatie Overzicht</a:t>
              </a:r>
            </a:p>
          </p:txBody>
        </p:sp>
      </p:grpSp>
      <p:grpSp>
        <p:nvGrpSpPr>
          <p:cNvPr id="125" name="Group 1">
            <a:extLst>
              <a:ext uri="{FF2B5EF4-FFF2-40B4-BE49-F238E27FC236}">
                <a16:creationId xmlns:a16="http://schemas.microsoft.com/office/drawing/2014/main" id="{BB9E412A-8EA3-7E9C-A2A0-62FE6BC70001}"/>
              </a:ext>
            </a:extLst>
          </p:cNvPr>
          <p:cNvGrpSpPr/>
          <p:nvPr/>
        </p:nvGrpSpPr>
        <p:grpSpPr>
          <a:xfrm>
            <a:off x="8570661" y="1314128"/>
            <a:ext cx="3607678" cy="3717902"/>
            <a:chOff x="838199" y="1654859"/>
            <a:chExt cx="4644000" cy="2542886"/>
          </a:xfrm>
        </p:grpSpPr>
        <p:sp>
          <p:nvSpPr>
            <p:cNvPr id="126" name="Rectangle 14">
              <a:extLst>
                <a:ext uri="{FF2B5EF4-FFF2-40B4-BE49-F238E27FC236}">
                  <a16:creationId xmlns:a16="http://schemas.microsoft.com/office/drawing/2014/main" id="{FC42CA5F-D48D-6050-68C2-2CC23BE6A50F}"/>
                </a:ext>
              </a:extLst>
            </p:cNvPr>
            <p:cNvSpPr>
              <a:spLocks noChangeArrowheads="1"/>
            </p:cNvSpPr>
            <p:nvPr/>
          </p:nvSpPr>
          <p:spPr bwMode="auto">
            <a:xfrm>
              <a:off x="838199" y="1825624"/>
              <a:ext cx="4644000" cy="2372121"/>
            </a:xfrm>
            <a:prstGeom prst="rect">
              <a:avLst/>
            </a:prstGeom>
            <a:solidFill>
              <a:schemeClr val="accent5">
                <a:lumMod val="20000"/>
                <a:lumOff val="80000"/>
              </a:schemeClr>
            </a:solidFill>
            <a:ln w="6350">
              <a:noFill/>
              <a:miter lim="800000"/>
              <a:headEnd/>
              <a:tailEnd/>
            </a:ln>
          </p:spPr>
          <p:txBody>
            <a:bodyPr lIns="180000" tIns="144000" rIns="72000" bIns="72000"/>
            <a:lstStyle/>
            <a:p>
              <a:pPr marL="0" lvl="0" indent="0" algn="l" rtl="0">
                <a:spcBef>
                  <a:spcPts val="0"/>
                </a:spcBef>
                <a:spcAft>
                  <a:spcPts val="0"/>
                </a:spcAft>
                <a:buNone/>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Doel: </a:t>
              </a:r>
              <a:r>
                <a:rPr lang="nl-NL" sz="900" dirty="0">
                  <a:latin typeface="Verdana" panose="020B0604030504040204" pitchFamily="34" charset="0"/>
                  <a:ea typeface="Verdana" panose="020B0604030504040204" pitchFamily="34" charset="0"/>
                </a:rPr>
                <a:t>Een actueel integraal 360-graden beeld met dossierinzage, met diverse weergaven (dashboards) beschikbaar voor professionals binnen zorg- en welzijnsaanbieders in de regio. Ter ondersteuning van een verbeterde samenwerking en effectievere toegang tot actuele informatie van inwoners. Vooral in acute (zorg)situaties en continuïteit van zorg.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Resultaat:</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Reductie in tijd voor het achterhalen van informatie en/of opnieuw uitvragen bij de inwoner. Minimaal 10% minder registratielast, minder fouten en het voorkomen van onnodige en ongewenste behandelingen.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Zorgtoepassing: </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Een compleet netwerkzorg dossier samengesteld uit meerdere bronnen. Na registratie van patiënt in bronsysteem als EPD/XIS/ECD, actuele data in de regio over deze inwoner direct beschikbaar (op te halen) door een klik op de viewer knop. De viewer en daarmee het netwerkzorg dossier, wordt in de context van de patiënt/inwoner geopend. De informatie geeft een 360-graden beeld en wordt getoond in logische datasets, zoals persoonsgegevens, medicatie, laboratorium resultaten en beleid. </a:t>
              </a:r>
              <a:endPar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28" name="Rectangle 12">
              <a:extLst>
                <a:ext uri="{FF2B5EF4-FFF2-40B4-BE49-F238E27FC236}">
                  <a16:creationId xmlns:a16="http://schemas.microsoft.com/office/drawing/2014/main" id="{F81C097C-B7B5-24C1-32D1-AB6EFAA0E337}"/>
                </a:ext>
              </a:extLst>
            </p:cNvPr>
            <p:cNvSpPr>
              <a:spLocks noChangeArrowheads="1"/>
            </p:cNvSpPr>
            <p:nvPr>
              <p:custDataLst>
                <p:tags r:id="rId2"/>
              </p:custDataLst>
            </p:nvPr>
          </p:nvSpPr>
          <p:spPr bwMode="auto">
            <a:xfrm>
              <a:off x="838199" y="1654859"/>
              <a:ext cx="4644000" cy="209053"/>
            </a:xfrm>
            <a:prstGeom prst="rect">
              <a:avLst/>
            </a:prstGeom>
            <a:solidFill>
              <a:schemeClr val="accent5">
                <a:lumMod val="50000"/>
              </a:schemeClr>
            </a:solidFill>
            <a:ln w="6350">
              <a:noFill/>
              <a:miter lim="800000"/>
              <a:headEnd/>
              <a:tailEnd/>
            </a:ln>
            <a:effectLst/>
          </p:spPr>
          <p:txBody>
            <a:bodyPr wrap="square" lIns="72000" tIns="72000" rIns="72000" bIns="72000" anchor="ctr"/>
            <a:lstStyle/>
            <a:p>
              <a:pPr marL="0" marR="0" lvl="0" indent="0" algn="ctr" defTabSz="914400" rtl="0" eaLnBrk="0" fontAlgn="auto" latinLnBrk="0" hangingPunct="0">
                <a:lnSpc>
                  <a:spcPct val="85000"/>
                </a:lnSpc>
                <a:spcBef>
                  <a:spcPts val="100"/>
                </a:spcBef>
                <a:spcAft>
                  <a:spcPts val="300"/>
                </a:spcAft>
                <a:buClrTx/>
                <a:buSzTx/>
                <a:buFontTx/>
                <a:buNone/>
                <a:tabLst/>
                <a:defRPr/>
              </a:pPr>
              <a:r>
                <a:rPr kumimoji="0" lang="nl-NL" sz="1200" b="1" i="0" u="none" strike="noStrike" kern="1200" cap="all"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Integraal 360-graden beeld</a:t>
              </a:r>
            </a:p>
          </p:txBody>
        </p:sp>
      </p:grpSp>
      <p:grpSp>
        <p:nvGrpSpPr>
          <p:cNvPr id="129" name="Group 17">
            <a:extLst>
              <a:ext uri="{FF2B5EF4-FFF2-40B4-BE49-F238E27FC236}">
                <a16:creationId xmlns:a16="http://schemas.microsoft.com/office/drawing/2014/main" id="{BA81F5D0-1270-B368-9F0E-149E38D1801B}"/>
              </a:ext>
            </a:extLst>
          </p:cNvPr>
          <p:cNvGrpSpPr/>
          <p:nvPr/>
        </p:nvGrpSpPr>
        <p:grpSpPr>
          <a:xfrm>
            <a:off x="59319" y="5129016"/>
            <a:ext cx="12153309" cy="1644252"/>
            <a:chOff x="838199" y="1638018"/>
            <a:chExt cx="4644000" cy="2514001"/>
          </a:xfrm>
        </p:grpSpPr>
        <p:sp>
          <p:nvSpPr>
            <p:cNvPr id="131" name="Rectangle 18">
              <a:extLst>
                <a:ext uri="{FF2B5EF4-FFF2-40B4-BE49-F238E27FC236}">
                  <a16:creationId xmlns:a16="http://schemas.microsoft.com/office/drawing/2014/main" id="{D737B06A-FC50-9A26-ACA7-3C3CC03C3CDC}"/>
                </a:ext>
              </a:extLst>
            </p:cNvPr>
            <p:cNvSpPr>
              <a:spLocks noChangeArrowheads="1"/>
            </p:cNvSpPr>
            <p:nvPr/>
          </p:nvSpPr>
          <p:spPr bwMode="auto">
            <a:xfrm>
              <a:off x="838199" y="1974642"/>
              <a:ext cx="4644000" cy="2177377"/>
            </a:xfrm>
            <a:prstGeom prst="rect">
              <a:avLst/>
            </a:prstGeom>
            <a:solidFill>
              <a:schemeClr val="accent3">
                <a:lumMod val="20000"/>
                <a:lumOff val="80000"/>
              </a:schemeClr>
            </a:solidFill>
            <a:ln w="6350">
              <a:noFill/>
              <a:miter lim="800000"/>
              <a:headEnd/>
              <a:tailEnd/>
            </a:ln>
          </p:spPr>
          <p:txBody>
            <a:bodyPr lIns="180000" tIns="144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Doel: </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 actuele behandelwensen en beleid van inwoners zijn op regionaal niveau beschikbaar voor betrokken professionals uit zorg- en welzijnsaanbieders in de regio. Er zijn regionale transmurale afspraken gemaakt over het registratieproces van proactieve zorgplanning. en eigenaarschap van de behandelwensen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Resultaat:</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Doelmatigheid en efficiëntie en passende zorg in het netwerk van zorg en beschikbaarheid van actuele behandel wensen en beleid. Sneller kunnen handelen en tijdbesparing voor zorgverleners door het ophalen van en zoeken naar behandelwensen.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Zorgtoepassing: </a:t>
              </a: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Zorgverleners die over de domeinen heen kunnen samenwerken aan proactieve zorgplanning in een gezamenlijk overzicht op regionaal niveau in de netwerkzorg viewer. Het biedt professionals de mogelijkheid om in het proces van proactieve zorgplanning een verslag te kunnen registreren via de netwerkzorg viewer en inwonersdossier. De behandelwensen zijn direct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direct beschikbaar voor (zorg-)netwerkpartners in de regio en inzichtelijk vanuit bronsystemen.</a:t>
              </a:r>
            </a:p>
          </p:txBody>
        </p:sp>
        <p:sp>
          <p:nvSpPr>
            <p:cNvPr id="132" name="Rectangle 12">
              <a:extLst>
                <a:ext uri="{FF2B5EF4-FFF2-40B4-BE49-F238E27FC236}">
                  <a16:creationId xmlns:a16="http://schemas.microsoft.com/office/drawing/2014/main" id="{8D45DFD5-86C5-D9DA-3943-59C607557426}"/>
                </a:ext>
              </a:extLst>
            </p:cNvPr>
            <p:cNvSpPr>
              <a:spLocks noChangeArrowheads="1"/>
            </p:cNvSpPr>
            <p:nvPr>
              <p:custDataLst>
                <p:tags r:id="rId1"/>
              </p:custDataLst>
            </p:nvPr>
          </p:nvSpPr>
          <p:spPr bwMode="auto">
            <a:xfrm>
              <a:off x="838199" y="1638018"/>
              <a:ext cx="4644000" cy="440502"/>
            </a:xfrm>
            <a:prstGeom prst="rect">
              <a:avLst/>
            </a:prstGeom>
            <a:solidFill>
              <a:srgbClr val="A2C877"/>
            </a:solidFill>
            <a:ln w="6350">
              <a:noFill/>
              <a:miter lim="800000"/>
              <a:headEnd/>
              <a:tailEnd/>
            </a:ln>
            <a:effectLst/>
          </p:spPr>
          <p:txBody>
            <a:bodyPr wrap="square" lIns="72000" tIns="72000" rIns="72000" bIns="72000" anchor="ctr"/>
            <a:lstStyle/>
            <a:p>
              <a:pPr marL="0" marR="0" lvl="0" indent="0" algn="ctr" defTabSz="914400" rtl="0" eaLnBrk="0" fontAlgn="auto" latinLnBrk="0" hangingPunct="0">
                <a:lnSpc>
                  <a:spcPct val="85000"/>
                </a:lnSpc>
                <a:spcBef>
                  <a:spcPts val="100"/>
                </a:spcBef>
                <a:spcAft>
                  <a:spcPts val="300"/>
                </a:spcAft>
                <a:buClrTx/>
                <a:buSzTx/>
                <a:buFontTx/>
                <a:buNone/>
                <a:tabLst/>
                <a:defRPr/>
              </a:pPr>
              <a:r>
                <a:rPr kumimoji="0" lang="nl-NL" sz="1200" b="1" i="0" u="none" strike="noStrike" kern="1200" cap="all"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Proactieve Zorgplanning </a:t>
              </a:r>
            </a:p>
          </p:txBody>
        </p:sp>
      </p:grpSp>
      <p:sp>
        <p:nvSpPr>
          <p:cNvPr id="86" name="Tekstvak 85">
            <a:extLst>
              <a:ext uri="{FF2B5EF4-FFF2-40B4-BE49-F238E27FC236}">
                <a16:creationId xmlns:a16="http://schemas.microsoft.com/office/drawing/2014/main" id="{FDE01AD9-1241-A94D-172A-3DB6B52D64D9}"/>
              </a:ext>
            </a:extLst>
          </p:cNvPr>
          <p:cNvSpPr txBox="1"/>
          <p:nvPr/>
        </p:nvSpPr>
        <p:spPr>
          <a:xfrm>
            <a:off x="3852917" y="1297343"/>
            <a:ext cx="1570223" cy="461665"/>
          </a:xfrm>
          <a:prstGeom prst="rect">
            <a:avLst/>
          </a:prstGeom>
          <a:solidFill>
            <a:schemeClr val="accent6">
              <a:lumMod val="7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all"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Patiënt samenvatting</a:t>
            </a:r>
          </a:p>
        </p:txBody>
      </p:sp>
      <p:sp>
        <p:nvSpPr>
          <p:cNvPr id="134" name="Tekstvak 133">
            <a:extLst>
              <a:ext uri="{FF2B5EF4-FFF2-40B4-BE49-F238E27FC236}">
                <a16:creationId xmlns:a16="http://schemas.microsoft.com/office/drawing/2014/main" id="{2F459486-3114-C550-DC0C-7C6607E70F2B}"/>
              </a:ext>
            </a:extLst>
          </p:cNvPr>
          <p:cNvSpPr txBox="1"/>
          <p:nvPr/>
        </p:nvSpPr>
        <p:spPr>
          <a:xfrm>
            <a:off x="6569779" y="1307558"/>
            <a:ext cx="1849253" cy="461665"/>
          </a:xfrm>
          <a:prstGeom prst="rect">
            <a:avLst/>
          </a:prstGeom>
          <a:solidFill>
            <a:srgbClr val="00B0F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all"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Tijdlijn beelden en verslagen</a:t>
            </a:r>
          </a:p>
        </p:txBody>
      </p:sp>
      <p:cxnSp>
        <p:nvCxnSpPr>
          <p:cNvPr id="88" name="Rechte verbindingslijn 87">
            <a:extLst>
              <a:ext uri="{FF2B5EF4-FFF2-40B4-BE49-F238E27FC236}">
                <a16:creationId xmlns:a16="http://schemas.microsoft.com/office/drawing/2014/main" id="{08CBB185-F612-85B0-0502-06428D02B904}"/>
              </a:ext>
            </a:extLst>
          </p:cNvPr>
          <p:cNvCxnSpPr>
            <a:cxnSpLocks/>
          </p:cNvCxnSpPr>
          <p:nvPr/>
        </p:nvCxnSpPr>
        <p:spPr>
          <a:xfrm>
            <a:off x="5369796" y="1689543"/>
            <a:ext cx="453066" cy="971652"/>
          </a:xfrm>
          <a:prstGeom prst="line">
            <a:avLst/>
          </a:prstGeom>
          <a:ln w="2540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7" name="Rechte verbindingslijn 136">
            <a:extLst>
              <a:ext uri="{FF2B5EF4-FFF2-40B4-BE49-F238E27FC236}">
                <a16:creationId xmlns:a16="http://schemas.microsoft.com/office/drawing/2014/main" id="{1C57A9FA-E902-E884-CCD6-6831545E606B}"/>
              </a:ext>
            </a:extLst>
          </p:cNvPr>
          <p:cNvCxnSpPr>
            <a:cxnSpLocks/>
          </p:cNvCxnSpPr>
          <p:nvPr/>
        </p:nvCxnSpPr>
        <p:spPr>
          <a:xfrm flipH="1">
            <a:off x="6214087" y="1761707"/>
            <a:ext cx="345092" cy="895293"/>
          </a:xfrm>
          <a:prstGeom prst="line">
            <a:avLst/>
          </a:prstGeom>
          <a:ln w="25400">
            <a:solidFill>
              <a:srgbClr val="47CFFF"/>
            </a:solidFill>
            <a:prstDash val="dash"/>
          </a:ln>
        </p:spPr>
        <p:style>
          <a:lnRef idx="1">
            <a:schemeClr val="accent1"/>
          </a:lnRef>
          <a:fillRef idx="0">
            <a:schemeClr val="accent1"/>
          </a:fillRef>
          <a:effectRef idx="0">
            <a:schemeClr val="accent1"/>
          </a:effectRef>
          <a:fontRef idx="minor">
            <a:schemeClr val="tx1"/>
          </a:fontRef>
        </p:style>
      </p:cxnSp>
      <p:cxnSp>
        <p:nvCxnSpPr>
          <p:cNvPr id="138" name="Rechte verbindingslijn 137">
            <a:extLst>
              <a:ext uri="{FF2B5EF4-FFF2-40B4-BE49-F238E27FC236}">
                <a16:creationId xmlns:a16="http://schemas.microsoft.com/office/drawing/2014/main" id="{25B0CE0C-F357-F3A2-8B55-306DC2793E79}"/>
              </a:ext>
            </a:extLst>
          </p:cNvPr>
          <p:cNvCxnSpPr>
            <a:cxnSpLocks/>
          </p:cNvCxnSpPr>
          <p:nvPr/>
        </p:nvCxnSpPr>
        <p:spPr>
          <a:xfrm>
            <a:off x="3744492" y="2622531"/>
            <a:ext cx="1495483" cy="516411"/>
          </a:xfrm>
          <a:prstGeom prst="line">
            <a:avLst/>
          </a:prstGeom>
          <a:ln w="254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0" name="Rechte verbindingslijn 139">
            <a:extLst>
              <a:ext uri="{FF2B5EF4-FFF2-40B4-BE49-F238E27FC236}">
                <a16:creationId xmlns:a16="http://schemas.microsoft.com/office/drawing/2014/main" id="{D565C97E-F4EE-09CD-AA19-261F39D485C7}"/>
              </a:ext>
            </a:extLst>
          </p:cNvPr>
          <p:cNvCxnSpPr>
            <a:cxnSpLocks/>
          </p:cNvCxnSpPr>
          <p:nvPr/>
        </p:nvCxnSpPr>
        <p:spPr>
          <a:xfrm>
            <a:off x="6296812" y="4076816"/>
            <a:ext cx="1531266" cy="993132"/>
          </a:xfrm>
          <a:prstGeom prst="line">
            <a:avLst/>
          </a:prstGeom>
          <a:ln w="2540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54879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hoek: afgeronde hoeken 5">
            <a:extLst>
              <a:ext uri="{FF2B5EF4-FFF2-40B4-BE49-F238E27FC236}">
                <a16:creationId xmlns:a16="http://schemas.microsoft.com/office/drawing/2014/main" id="{C92ECDBE-0C7F-008B-2F6C-EE65DBC83A43}"/>
              </a:ext>
            </a:extLst>
          </p:cNvPr>
          <p:cNvSpPr/>
          <p:nvPr/>
        </p:nvSpPr>
        <p:spPr>
          <a:xfrm>
            <a:off x="4169216" y="5108406"/>
            <a:ext cx="4137295" cy="1507900"/>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err="1">
                <a:ln>
                  <a:noFill/>
                </a:ln>
                <a:solidFill>
                  <a:prstClr val="white"/>
                </a:solidFill>
                <a:effectLst/>
                <a:uLnTx/>
                <a:uFillTx/>
                <a:latin typeface="Verdana"/>
                <a:ea typeface="Verdana"/>
              </a:rPr>
              <a:t>Zibs</a:t>
            </a:r>
            <a:r>
              <a:rPr kumimoji="0" lang="nl-NL" sz="1200" b="0" i="0" u="none" strike="noStrike" kern="1200" cap="none" spc="0" normalizeH="0" baseline="0" noProof="0">
                <a:ln>
                  <a:noFill/>
                </a:ln>
                <a:solidFill>
                  <a:prstClr val="white"/>
                </a:solidFill>
                <a:effectLst/>
                <a:uLnTx/>
                <a:uFillTx/>
                <a:latin typeface="Verdana"/>
                <a:ea typeface="Verdana"/>
              </a:rPr>
              <a:t> uit de informatiestandaarden:</a:t>
            </a:r>
          </a:p>
          <a:p>
            <a:pPr marL="0" marR="0" lvl="0" indent="0" algn="ctr" defTabSz="914400">
              <a:lnSpc>
                <a:spcPct val="100000"/>
              </a:lnSpc>
              <a:spcBef>
                <a:spcPts val="0"/>
              </a:spcBef>
              <a:spcAft>
                <a:spcPts val="0"/>
              </a:spcAft>
              <a:buClrTx/>
              <a:buSzTx/>
              <a:buFontTx/>
              <a:buNone/>
              <a:tabLst/>
              <a:defRPr/>
            </a:pPr>
            <a:endParaRPr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a:p>
            <a:pPr marL="0" marR="0" lvl="0" indent="0" algn="ctr" defTabSz="914400">
              <a:lnSpc>
                <a:spcPct val="100000"/>
              </a:lnSpc>
              <a:spcBef>
                <a:spcPts val="0"/>
              </a:spcBef>
              <a:spcAft>
                <a:spcPts val="0"/>
              </a:spcAft>
              <a:buClrTx/>
              <a:buSzTx/>
              <a:buFontTx/>
              <a:buNone/>
              <a:tabLst/>
              <a:defRPr/>
            </a:pPr>
            <a:endParaRPr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a:p>
            <a:pPr marL="0" marR="0" lvl="0" indent="0" algn="ctr" defTabSz="914400">
              <a:lnSpc>
                <a:spcPct val="100000"/>
              </a:lnSpc>
              <a:spcBef>
                <a:spcPts val="0"/>
              </a:spcBef>
              <a:spcAft>
                <a:spcPts val="0"/>
              </a:spcAft>
              <a:buClrTx/>
              <a:buSzTx/>
              <a:buFontTx/>
              <a:buNone/>
              <a:tabLst/>
              <a:defRPr/>
            </a:pPr>
            <a:endParaRPr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a:p>
            <a:pPr algn="ctr">
              <a:defRPr/>
            </a:pPr>
            <a:endParaRPr lang="nl-NL" sz="1200">
              <a:solidFill>
                <a:prstClr val="white"/>
              </a:solidFill>
              <a:latin typeface="Verdana" panose="020B0604030504040204" pitchFamily="34" charset="0"/>
              <a:ea typeface="Verdana" panose="020B0604030504040204" pitchFamily="34" charset="0"/>
            </a:endParaRPr>
          </a:p>
          <a:p>
            <a:pPr algn="ctr">
              <a:defRPr/>
            </a:pPr>
            <a:endParaRPr lang="nl-NL" sz="1200">
              <a:solidFill>
                <a:prstClr val="white"/>
              </a:solidFill>
              <a:latin typeface="Verdana" panose="020B0604030504040204" pitchFamily="34" charset="0"/>
              <a:ea typeface="Verdana" panose="020B0604030504040204" pitchFamily="34" charset="0"/>
            </a:endParaRPr>
          </a:p>
          <a:p>
            <a:pPr algn="ctr">
              <a:defRPr/>
            </a:pPr>
            <a:endParaRPr lang="en-NL" sz="1200">
              <a:solidFill>
                <a:prstClr val="white"/>
              </a:solidFill>
              <a:latin typeface="Verdana" panose="020B0604030504040204" pitchFamily="34" charset="0"/>
              <a:ea typeface="Verdana" panose="020B0604030504040204" pitchFamily="34" charset="0"/>
            </a:endParaRPr>
          </a:p>
        </p:txBody>
      </p:sp>
      <p:sp>
        <p:nvSpPr>
          <p:cNvPr id="5" name="Text Placeholder 2">
            <a:extLst>
              <a:ext uri="{FF2B5EF4-FFF2-40B4-BE49-F238E27FC236}">
                <a16:creationId xmlns:a16="http://schemas.microsoft.com/office/drawing/2014/main" id="{1973E9A8-1C48-68F1-F789-5058777A9B40}"/>
              </a:ext>
            </a:extLst>
          </p:cNvPr>
          <p:cNvSpPr txBox="1">
            <a:spLocks/>
          </p:cNvSpPr>
          <p:nvPr/>
        </p:nvSpPr>
        <p:spPr>
          <a:xfrm>
            <a:off x="425302" y="986834"/>
            <a:ext cx="10303658" cy="461380"/>
          </a:xfrm>
          <a:prstGeom prst="rect">
            <a:avLst/>
          </a:prstGeom>
        </p:spPr>
        <p:txBody>
          <a:bodyPr vert="horz" lIns="91440" tIns="45720" rIns="91440" bIns="45720" rtlCol="0" anchor="t">
            <a:no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 netwerkzorg viewer  en multidisciplinaire dossierinzage omvat technische componenten en functionele eisen. </a:t>
            </a:r>
          </a:p>
        </p:txBody>
      </p:sp>
      <p:sp>
        <p:nvSpPr>
          <p:cNvPr id="100" name="Titel 3">
            <a:extLst>
              <a:ext uri="{FF2B5EF4-FFF2-40B4-BE49-F238E27FC236}">
                <a16:creationId xmlns:a16="http://schemas.microsoft.com/office/drawing/2014/main" id="{01C6D3DE-DBD1-ECA2-1E47-0061ACEB0B7B}"/>
              </a:ext>
            </a:extLst>
          </p:cNvPr>
          <p:cNvSpPr txBox="1">
            <a:spLocks/>
          </p:cNvSpPr>
          <p:nvPr/>
        </p:nvSpPr>
        <p:spPr>
          <a:xfrm>
            <a:off x="425302" y="465998"/>
            <a:ext cx="11379427" cy="504000"/>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2800" b="1" kern="1200">
                <a:solidFill>
                  <a:srgbClr val="8C95CD"/>
                </a:solidFill>
                <a:latin typeface="Verdana Pro"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nl-NL" b="1" i="0" u="none" strike="noStrike" kern="1200" cap="none" spc="0" normalizeH="0" baseline="0" noProof="0" dirty="0">
                <a:ln>
                  <a:noFill/>
                </a:ln>
                <a:solidFill>
                  <a:srgbClr val="8C95CD"/>
                </a:solidFill>
                <a:effectLst/>
                <a:uLnTx/>
                <a:uFillTx/>
                <a:latin typeface="Verdana Pro" panose="020B0604030504040204" pitchFamily="34" charset="0"/>
                <a:ea typeface="Verdana" panose="020B0604030504040204" pitchFamily="34" charset="0"/>
                <a:cs typeface="+mj-cs"/>
              </a:rPr>
              <a:t>Netwerkzorg viewer voor Dossier Inzage  </a:t>
            </a:r>
          </a:p>
        </p:txBody>
      </p:sp>
      <p:sp>
        <p:nvSpPr>
          <p:cNvPr id="9" name="Rechthoek: afgeronde hoeken 8">
            <a:extLst>
              <a:ext uri="{FF2B5EF4-FFF2-40B4-BE49-F238E27FC236}">
                <a16:creationId xmlns:a16="http://schemas.microsoft.com/office/drawing/2014/main" id="{A0457963-9B1B-594C-2721-DD8D665D0E95}"/>
              </a:ext>
            </a:extLst>
          </p:cNvPr>
          <p:cNvSpPr/>
          <p:nvPr/>
        </p:nvSpPr>
        <p:spPr>
          <a:xfrm>
            <a:off x="4330267" y="5445349"/>
            <a:ext cx="811736" cy="552423"/>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err="1">
                <a:latin typeface="Verdana" panose="020B0604030504040204" pitchFamily="34" charset="0"/>
                <a:ea typeface="Verdana" panose="020B0604030504040204" pitchFamily="34" charset="0"/>
              </a:rPr>
              <a:t>BgZ</a:t>
            </a:r>
            <a:r>
              <a:rPr lang="nl-NL" sz="1100">
                <a:latin typeface="Verdana" panose="020B0604030504040204" pitchFamily="34" charset="0"/>
                <a:ea typeface="Verdana" panose="020B0604030504040204" pitchFamily="34" charset="0"/>
              </a:rPr>
              <a:t> </a:t>
            </a:r>
            <a:br>
              <a:rPr lang="nl-NL" sz="1050">
                <a:latin typeface="Verdana" panose="020B0604030504040204" pitchFamily="34" charset="0"/>
                <a:ea typeface="Verdana" panose="020B0604030504040204" pitchFamily="34" charset="0"/>
              </a:rPr>
            </a:br>
            <a:r>
              <a:rPr lang="nl-NL" sz="700">
                <a:latin typeface="Verdana" panose="020B0604030504040204" pitchFamily="34" charset="0"/>
                <a:ea typeface="Verdana" panose="020B0604030504040204" pitchFamily="34" charset="0"/>
              </a:rPr>
              <a:t>(Basis </a:t>
            </a:r>
            <a:r>
              <a:rPr lang="nl-NL" sz="700" err="1">
                <a:latin typeface="Verdana" panose="020B0604030504040204" pitchFamily="34" charset="0"/>
                <a:ea typeface="Verdana" panose="020B0604030504040204" pitchFamily="34" charset="0"/>
              </a:rPr>
              <a:t>Gegevensset</a:t>
            </a:r>
            <a:r>
              <a:rPr lang="nl-NL" sz="700">
                <a:latin typeface="Verdana" panose="020B0604030504040204" pitchFamily="34" charset="0"/>
                <a:ea typeface="Verdana" panose="020B0604030504040204" pitchFamily="34" charset="0"/>
              </a:rPr>
              <a:t> Zorg)</a:t>
            </a:r>
            <a:endParaRPr lang="en-NL" sz="1200">
              <a:latin typeface="Verdana" panose="020B0604030504040204" pitchFamily="34" charset="0"/>
              <a:ea typeface="Verdana" panose="020B0604030504040204" pitchFamily="34" charset="0"/>
            </a:endParaRPr>
          </a:p>
        </p:txBody>
      </p:sp>
      <p:sp>
        <p:nvSpPr>
          <p:cNvPr id="10" name="Rechthoek: afgeronde hoeken 9">
            <a:extLst>
              <a:ext uri="{FF2B5EF4-FFF2-40B4-BE49-F238E27FC236}">
                <a16:creationId xmlns:a16="http://schemas.microsoft.com/office/drawing/2014/main" id="{37825382-963E-BBFE-3B5F-3CE8D72D4D99}"/>
              </a:ext>
            </a:extLst>
          </p:cNvPr>
          <p:cNvSpPr/>
          <p:nvPr/>
        </p:nvSpPr>
        <p:spPr>
          <a:xfrm>
            <a:off x="6372937" y="5445349"/>
            <a:ext cx="841296" cy="552423"/>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a:latin typeface="Verdana" panose="020B0604030504040204" pitchFamily="34" charset="0"/>
                <a:ea typeface="Verdana" panose="020B0604030504040204" pitchFamily="34" charset="0"/>
              </a:rPr>
              <a:t>MP9 </a:t>
            </a:r>
            <a:br>
              <a:rPr lang="nl-NL" sz="1200">
                <a:latin typeface="Verdana" panose="020B0604030504040204" pitchFamily="34" charset="0"/>
                <a:ea typeface="Verdana" panose="020B0604030504040204" pitchFamily="34" charset="0"/>
              </a:rPr>
            </a:br>
            <a:r>
              <a:rPr lang="nl-NL" sz="700">
                <a:latin typeface="Verdana" panose="020B0604030504040204" pitchFamily="34" charset="0"/>
                <a:ea typeface="Verdana" panose="020B0604030504040204" pitchFamily="34" charset="0"/>
              </a:rPr>
              <a:t>(Medicatie Proces 9)</a:t>
            </a:r>
            <a:endParaRPr lang="en-NL" sz="1200">
              <a:latin typeface="Verdana" panose="020B0604030504040204" pitchFamily="34" charset="0"/>
              <a:ea typeface="Verdana" panose="020B0604030504040204" pitchFamily="34" charset="0"/>
            </a:endParaRPr>
          </a:p>
        </p:txBody>
      </p:sp>
      <p:sp>
        <p:nvSpPr>
          <p:cNvPr id="11" name="Rechthoek: afgeronde hoeken 10">
            <a:extLst>
              <a:ext uri="{FF2B5EF4-FFF2-40B4-BE49-F238E27FC236}">
                <a16:creationId xmlns:a16="http://schemas.microsoft.com/office/drawing/2014/main" id="{F555A2CE-A7C6-1321-30B3-5AD67B87CDBC}"/>
              </a:ext>
            </a:extLst>
          </p:cNvPr>
          <p:cNvSpPr/>
          <p:nvPr/>
        </p:nvSpPr>
        <p:spPr>
          <a:xfrm>
            <a:off x="4337028" y="6045161"/>
            <a:ext cx="1206709" cy="552423"/>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err="1">
                <a:latin typeface="Verdana" panose="020B0604030504040204" pitchFamily="34" charset="0"/>
                <a:ea typeface="Verdana" panose="020B0604030504040204" pitchFamily="34" charset="0"/>
              </a:rPr>
              <a:t>eOverdracht</a:t>
            </a:r>
            <a:endParaRPr lang="nl-NL" sz="1200">
              <a:latin typeface="Verdana" panose="020B0604030504040204" pitchFamily="34" charset="0"/>
              <a:ea typeface="Verdana" panose="020B0604030504040204" pitchFamily="34" charset="0"/>
            </a:endParaRPr>
          </a:p>
          <a:p>
            <a:pPr algn="ctr"/>
            <a:r>
              <a:rPr lang="nl-NL" sz="800">
                <a:latin typeface="Verdana" panose="020B0604030504040204" pitchFamily="34" charset="0"/>
                <a:ea typeface="Verdana" panose="020B0604030504040204" pitchFamily="34" charset="0"/>
              </a:rPr>
              <a:t>(verpleegkundige overdracht)</a:t>
            </a:r>
            <a:endParaRPr lang="en-NL" sz="1800">
              <a:latin typeface="Verdana" panose="020B0604030504040204" pitchFamily="34" charset="0"/>
              <a:ea typeface="Verdana" panose="020B0604030504040204" pitchFamily="34" charset="0"/>
            </a:endParaRPr>
          </a:p>
        </p:txBody>
      </p:sp>
      <p:sp>
        <p:nvSpPr>
          <p:cNvPr id="12" name="Rechthoek: afgeronde hoeken 11">
            <a:extLst>
              <a:ext uri="{FF2B5EF4-FFF2-40B4-BE49-F238E27FC236}">
                <a16:creationId xmlns:a16="http://schemas.microsoft.com/office/drawing/2014/main" id="{B38E42D3-8EDF-2AF3-F7E5-400293E229E2}"/>
              </a:ext>
            </a:extLst>
          </p:cNvPr>
          <p:cNvSpPr/>
          <p:nvPr/>
        </p:nvSpPr>
        <p:spPr>
          <a:xfrm>
            <a:off x="5603194" y="6045161"/>
            <a:ext cx="1612887" cy="560087"/>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err="1">
                <a:latin typeface="Verdana" panose="020B0604030504040204" pitchFamily="34" charset="0"/>
                <a:ea typeface="Verdana" panose="020B0604030504040204" pitchFamily="34" charset="0"/>
              </a:rPr>
              <a:t>eSpoed</a:t>
            </a:r>
            <a:r>
              <a:rPr lang="nl-NL" sz="1200">
                <a:latin typeface="Verdana" panose="020B0604030504040204" pitchFamily="34" charset="0"/>
                <a:ea typeface="Verdana" panose="020B0604030504040204" pitchFamily="34" charset="0"/>
              </a:rPr>
              <a:t> standaard</a:t>
            </a:r>
          </a:p>
          <a:p>
            <a:pPr algn="ctr"/>
            <a:r>
              <a:rPr lang="nl-NL" sz="800">
                <a:latin typeface="Verdana" panose="020B0604030504040204" pitchFamily="34" charset="0"/>
                <a:ea typeface="Verdana" panose="020B0604030504040204" pitchFamily="34" charset="0"/>
              </a:rPr>
              <a:t>(Acute Zorg)</a:t>
            </a:r>
            <a:endParaRPr lang="en-NL" sz="1200">
              <a:latin typeface="Verdana" panose="020B0604030504040204" pitchFamily="34" charset="0"/>
              <a:ea typeface="Verdana" panose="020B0604030504040204" pitchFamily="34" charset="0"/>
            </a:endParaRPr>
          </a:p>
        </p:txBody>
      </p:sp>
      <p:sp>
        <p:nvSpPr>
          <p:cNvPr id="13" name="Rechthoek: afgeronde hoeken 147">
            <a:extLst>
              <a:ext uri="{FF2B5EF4-FFF2-40B4-BE49-F238E27FC236}">
                <a16:creationId xmlns:a16="http://schemas.microsoft.com/office/drawing/2014/main" id="{6346194C-4B56-23A4-1AC3-609177722073}"/>
              </a:ext>
            </a:extLst>
          </p:cNvPr>
          <p:cNvSpPr/>
          <p:nvPr/>
        </p:nvSpPr>
        <p:spPr>
          <a:xfrm>
            <a:off x="5201462" y="5445349"/>
            <a:ext cx="1112016" cy="552423"/>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err="1">
                <a:latin typeface="Verdana" panose="020B0604030504040204" pitchFamily="34" charset="0"/>
                <a:ea typeface="Verdana" panose="020B0604030504040204" pitchFamily="34" charset="0"/>
              </a:rPr>
              <a:t>CiO</a:t>
            </a:r>
            <a:r>
              <a:rPr lang="nl-NL" sz="1200">
                <a:latin typeface="Verdana" panose="020B0604030504040204" pitchFamily="34" charset="0"/>
                <a:ea typeface="Verdana" panose="020B0604030504040204" pitchFamily="34" charset="0"/>
              </a:rPr>
              <a:t> </a:t>
            </a:r>
            <a:br>
              <a:rPr lang="nl-NL" sz="1200">
                <a:latin typeface="Verdana" panose="020B0604030504040204" pitchFamily="34" charset="0"/>
                <a:ea typeface="Verdana" panose="020B0604030504040204" pitchFamily="34" charset="0"/>
              </a:rPr>
            </a:br>
            <a:r>
              <a:rPr lang="nl-NL" sz="700">
                <a:latin typeface="Verdana" panose="020B0604030504040204" pitchFamily="34" charset="0"/>
                <a:ea typeface="Verdana" panose="020B0604030504040204" pitchFamily="34" charset="0"/>
              </a:rPr>
              <a:t>(Contra indicatie en gevoeligheden)</a:t>
            </a:r>
            <a:endParaRPr lang="en-NL" sz="1200">
              <a:latin typeface="Verdana" panose="020B0604030504040204" pitchFamily="34" charset="0"/>
              <a:ea typeface="Verdana" panose="020B0604030504040204" pitchFamily="34" charset="0"/>
            </a:endParaRPr>
          </a:p>
        </p:txBody>
      </p:sp>
      <p:sp>
        <p:nvSpPr>
          <p:cNvPr id="14" name="Rechthoek: afgeronde hoeken 147">
            <a:extLst>
              <a:ext uri="{FF2B5EF4-FFF2-40B4-BE49-F238E27FC236}">
                <a16:creationId xmlns:a16="http://schemas.microsoft.com/office/drawing/2014/main" id="{251458BD-D01B-0761-66CF-A7160809861C}"/>
              </a:ext>
            </a:extLst>
          </p:cNvPr>
          <p:cNvSpPr/>
          <p:nvPr/>
        </p:nvSpPr>
        <p:spPr>
          <a:xfrm>
            <a:off x="7273692" y="5445349"/>
            <a:ext cx="884092" cy="552423"/>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a:latin typeface="Verdana" panose="020B0604030504040204" pitchFamily="34" charset="0"/>
                <a:ea typeface="Verdana" panose="020B0604030504040204" pitchFamily="34" charset="0"/>
              </a:rPr>
              <a:t>Lab </a:t>
            </a:r>
            <a:br>
              <a:rPr lang="nl-NL" sz="1200">
                <a:latin typeface="Verdana" panose="020B0604030504040204" pitchFamily="34" charset="0"/>
                <a:ea typeface="Verdana" panose="020B0604030504040204" pitchFamily="34" charset="0"/>
              </a:rPr>
            </a:br>
            <a:r>
              <a:rPr lang="nl-NL" sz="700">
                <a:latin typeface="Verdana" panose="020B0604030504040204" pitchFamily="34" charset="0"/>
                <a:ea typeface="Verdana" panose="020B0604030504040204" pitchFamily="34" charset="0"/>
              </a:rPr>
              <a:t>(Laboratoriumgegevens)</a:t>
            </a:r>
            <a:endParaRPr lang="en-NL" sz="1200">
              <a:latin typeface="Verdana" panose="020B0604030504040204" pitchFamily="34" charset="0"/>
              <a:ea typeface="Verdana" panose="020B0604030504040204" pitchFamily="34" charset="0"/>
            </a:endParaRPr>
          </a:p>
        </p:txBody>
      </p:sp>
      <p:sp>
        <p:nvSpPr>
          <p:cNvPr id="97" name="Rectangle 3">
            <a:extLst>
              <a:ext uri="{FF2B5EF4-FFF2-40B4-BE49-F238E27FC236}">
                <a16:creationId xmlns:a16="http://schemas.microsoft.com/office/drawing/2014/main" id="{3FC94343-5708-CA6F-FE25-4BB51688E0A0}"/>
              </a:ext>
            </a:extLst>
          </p:cNvPr>
          <p:cNvSpPr/>
          <p:nvPr/>
        </p:nvSpPr>
        <p:spPr>
          <a:xfrm>
            <a:off x="457622" y="5324062"/>
            <a:ext cx="3138713" cy="1239909"/>
          </a:xfrm>
          <a:prstGeom prst="roundRect">
            <a:avLst>
              <a:gd name="adj" fmla="val 10075"/>
            </a:avLst>
          </a:prstGeom>
          <a:solidFill>
            <a:schemeClr val="bg1"/>
          </a:solidFill>
          <a:ln w="25400" cap="flat">
            <a:solidFill>
              <a:srgbClr val="DDEBCE"/>
            </a:solidFill>
          </a:ln>
          <a:effectLst/>
        </p:spPr>
        <p:style>
          <a:lnRef idx="2">
            <a:schemeClr val="accent1"/>
          </a:lnRef>
          <a:fillRef idx="1">
            <a:schemeClr val="lt1"/>
          </a:fillRef>
          <a:effectRef idx="0">
            <a:schemeClr val="accent1"/>
          </a:effectRef>
          <a:fontRef idx="minor">
            <a:schemeClr val="dk1"/>
          </a:fontRef>
        </p:style>
        <p:txBody>
          <a:bodyPr lIns="72000" tIns="36000" rIns="36000" bIns="3600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dirty="0">
                <a:ln>
                  <a:noFill/>
                </a:ln>
                <a:solidFill>
                  <a:prstClr val="black"/>
                </a:solidFill>
                <a:effectLst/>
                <a:uLnTx/>
                <a:uFillTx/>
                <a:latin typeface="Verdana"/>
                <a:ea typeface="Verdana"/>
                <a:cs typeface="+mn-cs"/>
              </a:rPr>
              <a:t>    Bronsystemen </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nl-NL" sz="1000" b="0" i="0" u="none" strike="noStrike" kern="1200" cap="none" spc="0" normalizeH="0" baseline="0" noProof="0" dirty="0">
                <a:ln>
                  <a:noFill/>
                </a:ln>
                <a:solidFill>
                  <a:srgbClr val="111111"/>
                </a:solidFill>
                <a:effectLst/>
                <a:uLnTx/>
                <a:uFillTx/>
                <a:latin typeface="Verdana"/>
                <a:ea typeface="Verdana"/>
                <a:cs typeface="+mn-cs"/>
              </a:rPr>
              <a:t>Bronsystemen van genoemde (zorg) aanbieders / organisaties stellen data van de inwoner beschikbaar</a:t>
            </a:r>
            <a:r>
              <a:rPr lang="nl-NL" sz="1000" dirty="0">
                <a:solidFill>
                  <a:srgbClr val="111111"/>
                </a:solidFill>
                <a:latin typeface="Verdana"/>
                <a:ea typeface="Verdana"/>
              </a:rPr>
              <a:t>.</a:t>
            </a:r>
            <a:r>
              <a:rPr kumimoji="0" lang="nl-NL" sz="1000" b="0" i="0" u="none" strike="noStrike" kern="1200" cap="none" spc="0" normalizeH="0" baseline="0" noProof="0" dirty="0">
                <a:ln>
                  <a:noFill/>
                </a:ln>
                <a:solidFill>
                  <a:srgbClr val="111111"/>
                </a:solidFill>
                <a:effectLst/>
                <a:uLnTx/>
                <a:uFillTx/>
                <a:latin typeface="Verdana"/>
                <a:ea typeface="Verdana"/>
                <a:cs typeface="+mn-cs"/>
              </a:rPr>
              <a:t> Directe inlog (SSO) verschaft toegang tot de beschikbaar gestelde informatie uit de bron systemen. </a:t>
            </a:r>
          </a:p>
        </p:txBody>
      </p:sp>
      <p:sp>
        <p:nvSpPr>
          <p:cNvPr id="98" name="Rectangle 3">
            <a:extLst>
              <a:ext uri="{FF2B5EF4-FFF2-40B4-BE49-F238E27FC236}">
                <a16:creationId xmlns:a16="http://schemas.microsoft.com/office/drawing/2014/main" id="{B1CE5AD7-F73C-D032-2C79-EF77FEAA9D79}"/>
              </a:ext>
            </a:extLst>
          </p:cNvPr>
          <p:cNvSpPr/>
          <p:nvPr/>
        </p:nvSpPr>
        <p:spPr>
          <a:xfrm>
            <a:off x="457622" y="3876392"/>
            <a:ext cx="3138713" cy="1373897"/>
          </a:xfrm>
          <a:prstGeom prst="roundRect">
            <a:avLst>
              <a:gd name="adj" fmla="val 4928"/>
            </a:avLst>
          </a:prstGeom>
          <a:solidFill>
            <a:schemeClr val="bg1"/>
          </a:solidFill>
          <a:ln w="25400" cap="flat">
            <a:solidFill>
              <a:srgbClr val="62CEF4"/>
            </a:solidFill>
          </a:ln>
          <a:effectLst/>
        </p:spPr>
        <p:style>
          <a:lnRef idx="2">
            <a:schemeClr val="accent1"/>
          </a:lnRef>
          <a:fillRef idx="1">
            <a:schemeClr val="lt1"/>
          </a:fillRef>
          <a:effectRef idx="0">
            <a:schemeClr val="accent1"/>
          </a:effectRef>
          <a:fontRef idx="minor">
            <a:schemeClr val="dk1"/>
          </a:fontRef>
        </p:style>
        <p:txBody>
          <a:bodyPr lIns="72000" tIns="36000" rIns="36000" bIns="3600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a:t>
            </a:r>
            <a:r>
              <a:rPr lang="nl-NL" sz="1000" b="1">
                <a:solidFill>
                  <a:prstClr val="black"/>
                </a:solidFill>
                <a:latin typeface="Verdana"/>
                <a:ea typeface="Verdana"/>
              </a:rPr>
              <a:t>Informatie </a:t>
            </a:r>
            <a:r>
              <a:rPr kumimoji="0" lang="nl-NL" sz="1000" b="1" i="0" u="none" strike="noStrike" kern="1200" cap="none" spc="0" normalizeH="0" baseline="0" noProof="0">
                <a:ln>
                  <a:noFill/>
                </a:ln>
                <a:solidFill>
                  <a:prstClr val="black"/>
                </a:solidFill>
                <a:effectLst/>
                <a:uLnTx/>
                <a:uFillTx/>
                <a:latin typeface="Verdana"/>
                <a:ea typeface="Verdana"/>
                <a:cs typeface="+mn-cs"/>
              </a:rPr>
              <a:t> </a:t>
            </a:r>
          </a:p>
          <a:p>
            <a:pPr marL="0" marR="0" lvl="0" indent="0" algn="l" defTabSz="914400" rtl="0" eaLnBrk="1" fontAlgn="auto" latinLnBrk="0" hangingPunct="1">
              <a:lnSpc>
                <a:spcPct val="114000"/>
              </a:lnSpc>
              <a:spcBef>
                <a:spcPts val="0"/>
              </a:spcBef>
              <a:spcAft>
                <a:spcPts val="0"/>
              </a:spcAft>
              <a:buClrTx/>
              <a:buSzTx/>
              <a:buFontTx/>
              <a:buNone/>
              <a:tabLst/>
              <a:defRPr/>
            </a:pPr>
            <a:r>
              <a:rPr lang="nl-NL" sz="1000">
                <a:solidFill>
                  <a:prstClr val="black"/>
                </a:solidFill>
                <a:latin typeface="Verdana"/>
                <a:ea typeface="Verdana"/>
                <a:cs typeface="Calibri"/>
              </a:rPr>
              <a:t>Het integrale overzicht wordt gerealiseerd met behulp van gestandaardiseerde gegevens (</a:t>
            </a:r>
            <a:r>
              <a:rPr lang="nl-NL" sz="1000" err="1">
                <a:solidFill>
                  <a:prstClr val="black"/>
                </a:solidFill>
                <a:latin typeface="Verdana"/>
                <a:ea typeface="Verdana"/>
                <a:cs typeface="Calibri"/>
              </a:rPr>
              <a:t>Zibss</a:t>
            </a:r>
            <a:r>
              <a:rPr lang="nl-NL" sz="1000">
                <a:solidFill>
                  <a:prstClr val="black"/>
                </a:solidFill>
                <a:latin typeface="Verdana"/>
                <a:ea typeface="Verdana"/>
                <a:cs typeface="Calibri"/>
              </a:rPr>
              <a:t>/FHIR). Zorgorganisaties stellen deze zo veel mogelijk gestandaardiseerd beschikbaar, waar nodig met behulp van een koppelstuk (API) in het fundament.  </a:t>
            </a:r>
          </a:p>
        </p:txBody>
      </p:sp>
      <p:sp>
        <p:nvSpPr>
          <p:cNvPr id="99" name="Rectangle 3">
            <a:extLst>
              <a:ext uri="{FF2B5EF4-FFF2-40B4-BE49-F238E27FC236}">
                <a16:creationId xmlns:a16="http://schemas.microsoft.com/office/drawing/2014/main" id="{8AD00271-E73A-8776-2A98-8EB61355AE64}"/>
              </a:ext>
            </a:extLst>
          </p:cNvPr>
          <p:cNvSpPr/>
          <p:nvPr/>
        </p:nvSpPr>
        <p:spPr>
          <a:xfrm>
            <a:off x="458774" y="2033749"/>
            <a:ext cx="3138713" cy="1770156"/>
          </a:xfrm>
          <a:prstGeom prst="roundRect">
            <a:avLst>
              <a:gd name="adj" fmla="val 8189"/>
            </a:avLst>
          </a:prstGeom>
          <a:solidFill>
            <a:schemeClr val="bg1"/>
          </a:solidFill>
          <a:ln w="25400" cap="flat">
            <a:solidFill>
              <a:srgbClr val="0E9F92"/>
            </a:solidFill>
          </a:ln>
          <a:effectLst/>
        </p:spPr>
        <p:style>
          <a:lnRef idx="2">
            <a:schemeClr val="accent1"/>
          </a:lnRef>
          <a:fillRef idx="1">
            <a:schemeClr val="lt1"/>
          </a:fillRef>
          <a:effectRef idx="0">
            <a:schemeClr val="accent1"/>
          </a:effectRef>
          <a:fontRef idx="minor">
            <a:schemeClr val="dk1"/>
          </a:fontRef>
        </p:style>
        <p:txBody>
          <a:bodyPr lIns="72000" tIns="36000" rIns="36000" bIns="3600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dirty="0">
                <a:ln>
                  <a:noFill/>
                </a:ln>
                <a:solidFill>
                  <a:prstClr val="black"/>
                </a:solidFill>
                <a:effectLst/>
                <a:uLnTx/>
                <a:uFillTx/>
                <a:latin typeface="Verdana"/>
                <a:ea typeface="Verdana"/>
                <a:cs typeface="+mn-cs"/>
              </a:rPr>
              <a:t>    Software tools  </a:t>
            </a:r>
          </a:p>
          <a:p>
            <a:pPr marL="0" marR="0" lvl="0" indent="0" algn="l" defTabSz="914400" rtl="0" eaLnBrk="1" fontAlgn="auto" latinLnBrk="0" hangingPunct="1">
              <a:lnSpc>
                <a:spcPct val="114000"/>
              </a:lnSpc>
              <a:spcBef>
                <a:spcPts val="0"/>
              </a:spcBef>
              <a:spcAft>
                <a:spcPts val="0"/>
              </a:spcAft>
              <a:buClrTx/>
              <a:buSzTx/>
              <a:buFontTx/>
              <a:buNone/>
              <a:tabLst/>
              <a:defRPr/>
            </a:pPr>
            <a:r>
              <a:rPr lang="nl-NL" sz="1000" dirty="0">
                <a:solidFill>
                  <a:srgbClr val="111111"/>
                </a:solidFill>
                <a:latin typeface="Verdana"/>
                <a:ea typeface="Verdana"/>
              </a:rPr>
              <a:t>De netwerkzorg viewer faciliteert dossierinzage. Het presenteert op basis van verschillende rollen (autorisaties) en toestemmingen, vanuit verschillende contexten rond de inwoner en werkt intuïtief voor de gebruiker. Gebaseerd op eisen en gebruikte applicaties in de regio, selecteren we de meest passende oplossing. </a:t>
            </a:r>
            <a:endParaRPr kumimoji="0" lang="nl-NL" sz="1000" b="0" i="0" u="none" strike="noStrike" kern="1200" cap="none" spc="0" normalizeH="0" baseline="0" noProof="0" dirty="0">
              <a:ln>
                <a:noFill/>
              </a:ln>
              <a:solidFill>
                <a:prstClr val="black"/>
              </a:solidFill>
              <a:effectLst/>
              <a:uLnTx/>
              <a:uFillTx/>
              <a:latin typeface="Verdana"/>
              <a:ea typeface="Verdana"/>
              <a:cs typeface="Calibri"/>
            </a:endParaRPr>
          </a:p>
        </p:txBody>
      </p:sp>
      <p:sp>
        <p:nvSpPr>
          <p:cNvPr id="149" name="Rechthoek: afgeronde hoeken 148">
            <a:extLst>
              <a:ext uri="{FF2B5EF4-FFF2-40B4-BE49-F238E27FC236}">
                <a16:creationId xmlns:a16="http://schemas.microsoft.com/office/drawing/2014/main" id="{0B42F5D5-3C09-AC9D-EF35-FD6E89C8BC22}"/>
              </a:ext>
            </a:extLst>
          </p:cNvPr>
          <p:cNvSpPr/>
          <p:nvPr/>
        </p:nvSpPr>
        <p:spPr>
          <a:xfrm>
            <a:off x="7262574" y="6052825"/>
            <a:ext cx="895210" cy="552423"/>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200">
                <a:latin typeface="Verdana" panose="020B0604030504040204" pitchFamily="34" charset="0"/>
                <a:ea typeface="Verdana" panose="020B0604030504040204" pitchFamily="34" charset="0"/>
              </a:rPr>
              <a:t>Overig</a:t>
            </a:r>
            <a:endParaRPr lang="en-NL" sz="1200">
              <a:latin typeface="Verdana" panose="020B0604030504040204" pitchFamily="34" charset="0"/>
              <a:ea typeface="Verdana" panose="020B0604030504040204" pitchFamily="34" charset="0"/>
            </a:endParaRPr>
          </a:p>
        </p:txBody>
      </p:sp>
      <p:sp>
        <p:nvSpPr>
          <p:cNvPr id="150" name="Tekstvak 149">
            <a:extLst>
              <a:ext uri="{FF2B5EF4-FFF2-40B4-BE49-F238E27FC236}">
                <a16:creationId xmlns:a16="http://schemas.microsoft.com/office/drawing/2014/main" id="{7D1406C5-83E3-4BAD-8D6C-51FD0D578A00}"/>
              </a:ext>
            </a:extLst>
          </p:cNvPr>
          <p:cNvSpPr txBox="1"/>
          <p:nvPr/>
        </p:nvSpPr>
        <p:spPr>
          <a:xfrm>
            <a:off x="425302" y="1350607"/>
            <a:ext cx="4520396" cy="261610"/>
          </a:xfrm>
          <a:prstGeom prst="rect">
            <a:avLst/>
          </a:prstGeom>
          <a:noFill/>
        </p:spPr>
        <p:txBody>
          <a:bodyPr wrap="square" lIns="91440" tIns="45720" rIns="91440" bIns="45720" anchor="t">
            <a:spAutoFit/>
          </a:bodyPr>
          <a:lstStyle/>
          <a:p>
            <a:pPr>
              <a:spcAft>
                <a:spcPts val="600"/>
              </a:spcAft>
              <a:defRPr/>
            </a:pPr>
            <a:r>
              <a:rPr lang="nl-NL" sz="1100" b="1" dirty="0">
                <a:solidFill>
                  <a:srgbClr val="000000"/>
                </a:solidFill>
                <a:latin typeface="Verdana"/>
                <a:ea typeface="Verdana"/>
                <a:cs typeface="Arial"/>
              </a:rPr>
              <a:t>Technische componenten integraal 360-graden beeld</a:t>
            </a:r>
            <a:endParaRPr kumimoji="0" lang="nl-NL" sz="1100" b="1" i="0" u="none" strike="noStrike" kern="1200" cap="none" spc="0" normalizeH="0" baseline="0" noProof="0" dirty="0">
              <a:ln>
                <a:noFill/>
              </a:ln>
              <a:solidFill>
                <a:srgbClr val="000000"/>
              </a:solidFill>
              <a:effectLst/>
              <a:uLnTx/>
              <a:uFillTx/>
              <a:latin typeface="Verdana"/>
              <a:ea typeface="Verdana"/>
              <a:cs typeface="Arial"/>
            </a:endParaRPr>
          </a:p>
        </p:txBody>
      </p:sp>
      <p:sp>
        <p:nvSpPr>
          <p:cNvPr id="178" name="Rectangle 3">
            <a:extLst>
              <a:ext uri="{FF2B5EF4-FFF2-40B4-BE49-F238E27FC236}">
                <a16:creationId xmlns:a16="http://schemas.microsoft.com/office/drawing/2014/main" id="{AFEC2844-1280-2142-1FFC-BCB2F81D7C64}"/>
              </a:ext>
            </a:extLst>
          </p:cNvPr>
          <p:cNvSpPr/>
          <p:nvPr/>
        </p:nvSpPr>
        <p:spPr>
          <a:xfrm>
            <a:off x="8666407" y="2033749"/>
            <a:ext cx="3132000" cy="4356000"/>
          </a:xfrm>
          <a:prstGeom prst="roundRect">
            <a:avLst>
              <a:gd name="adj" fmla="val 5947"/>
            </a:avLst>
          </a:prstGeom>
          <a:solidFill>
            <a:schemeClr val="bg1"/>
          </a:solidFill>
          <a:ln w="25400" cap="flat">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lIns="36000" tIns="36000" rIns="36000" bIns="36000"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nl-NL" sz="1000" b="1" i="0" u="none" strike="noStrike" kern="1200" cap="none" spc="0" normalizeH="0" baseline="0" noProof="0">
                <a:ln>
                  <a:noFill/>
                </a:ln>
                <a:solidFill>
                  <a:prstClr val="black"/>
                </a:solidFill>
                <a:effectLst/>
                <a:uLnTx/>
                <a:uFillTx/>
                <a:latin typeface="Verdana"/>
                <a:ea typeface="Verdana"/>
                <a:cs typeface="+mn-cs"/>
              </a:rPr>
              <a:t>    Integraal 360-graden beeld </a:t>
            </a: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nl-NL" sz="1000">
                <a:solidFill>
                  <a:srgbClr val="111111"/>
                </a:solidFill>
                <a:latin typeface="Verdana"/>
                <a:ea typeface="Verdana"/>
              </a:rPr>
              <a:t>De netwerkzorg viewer met het integraal 360-graden beeld zal als optie verschijnen in bestaande(bron-) systemen van de gebruikers.</a:t>
            </a: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endParaRPr lang="nl-NL" sz="1000">
              <a:solidFill>
                <a:srgbClr val="111111"/>
              </a:solidFill>
              <a:latin typeface="Verdana"/>
              <a:ea typeface="Verdana"/>
            </a:endParaRP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nl-NL" sz="1000">
                <a:solidFill>
                  <a:srgbClr val="111111"/>
                </a:solidFill>
                <a:latin typeface="Verdana"/>
                <a:ea typeface="Verdana"/>
              </a:rPr>
              <a:t>Binnen de netwerkzorg viewer is er de mogelijkheid om te schakelen tussen verschillende zorgtoepassingen. </a:t>
            </a: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endParaRPr lang="nl-NL" sz="1000">
              <a:solidFill>
                <a:srgbClr val="111111"/>
              </a:solidFill>
              <a:latin typeface="Verdana"/>
              <a:ea typeface="Verdana"/>
            </a:endParaRPr>
          </a:p>
          <a:p>
            <a:pPr marL="171450" marR="0" lvl="0" indent="-171450"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nl-NL" sz="1000">
                <a:solidFill>
                  <a:srgbClr val="111111"/>
                </a:solidFill>
                <a:latin typeface="Verdana"/>
                <a:ea typeface="Verdana"/>
              </a:rPr>
              <a:t>Verschillende weergaven (dashboards), en Digitale Zorgtoepassingen die ingebouwd worden zijn o.a.: </a:t>
            </a:r>
          </a:p>
          <a:p>
            <a:pPr marL="628650" lvl="1" indent="-171450">
              <a:lnSpc>
                <a:spcPct val="114000"/>
              </a:lnSpc>
              <a:buFont typeface="Arial" panose="020B0604020202020204" pitchFamily="34" charset="0"/>
              <a:buChar char="•"/>
              <a:defRPr/>
            </a:pPr>
            <a:r>
              <a:rPr lang="nl-NL" sz="1000">
                <a:solidFill>
                  <a:srgbClr val="111111"/>
                </a:solidFill>
                <a:latin typeface="Verdana"/>
                <a:ea typeface="Verdana"/>
              </a:rPr>
              <a:t>Patiënt samenvatting</a:t>
            </a:r>
          </a:p>
          <a:p>
            <a:pPr marL="628650" lvl="1" indent="-171450">
              <a:lnSpc>
                <a:spcPct val="114000"/>
              </a:lnSpc>
              <a:buFont typeface="Arial" panose="020B0604020202020204" pitchFamily="34" charset="0"/>
              <a:buChar char="•"/>
              <a:defRPr/>
            </a:pPr>
            <a:r>
              <a:rPr lang="nl-NL" sz="1000">
                <a:solidFill>
                  <a:srgbClr val="111111"/>
                </a:solidFill>
                <a:latin typeface="Verdana"/>
                <a:ea typeface="Verdana"/>
              </a:rPr>
              <a:t>Persoonsgegevens</a:t>
            </a:r>
          </a:p>
          <a:p>
            <a:pPr marL="628650" lvl="1" indent="-171450">
              <a:lnSpc>
                <a:spcPct val="114000"/>
              </a:lnSpc>
              <a:buFont typeface="Arial" panose="020B0604020202020204" pitchFamily="34" charset="0"/>
              <a:buChar char="•"/>
              <a:defRPr/>
            </a:pPr>
            <a:r>
              <a:rPr lang="nl-NL" sz="1000">
                <a:solidFill>
                  <a:srgbClr val="111111"/>
                </a:solidFill>
                <a:latin typeface="Verdana"/>
                <a:ea typeface="Verdana"/>
              </a:rPr>
              <a:t>Medische geschiedenis</a:t>
            </a:r>
          </a:p>
          <a:p>
            <a:pPr marL="628650" lvl="1" indent="-171450">
              <a:lnSpc>
                <a:spcPct val="114000"/>
              </a:lnSpc>
              <a:buFont typeface="Arial" panose="020B0604020202020204" pitchFamily="34" charset="0"/>
              <a:buChar char="•"/>
              <a:defRPr/>
            </a:pPr>
            <a:r>
              <a:rPr lang="nl-NL" sz="1000">
                <a:solidFill>
                  <a:srgbClr val="111111"/>
                </a:solidFill>
                <a:latin typeface="Verdana"/>
                <a:ea typeface="Verdana"/>
              </a:rPr>
              <a:t>(Actueel) Medicatie overzicht </a:t>
            </a:r>
          </a:p>
          <a:p>
            <a:pPr marL="628650" lvl="1" indent="-171450">
              <a:lnSpc>
                <a:spcPct val="114000"/>
              </a:lnSpc>
              <a:buFont typeface="Arial" panose="020B0604020202020204" pitchFamily="34" charset="0"/>
              <a:buChar char="•"/>
              <a:defRPr/>
            </a:pPr>
            <a:r>
              <a:rPr lang="nl-NL" sz="1000">
                <a:solidFill>
                  <a:srgbClr val="111111"/>
                </a:solidFill>
                <a:latin typeface="Verdana"/>
                <a:ea typeface="Verdana"/>
              </a:rPr>
              <a:t>Proactieve Zorgplanning</a:t>
            </a:r>
          </a:p>
          <a:p>
            <a:pPr marL="628650" lvl="1" indent="-171450">
              <a:lnSpc>
                <a:spcPct val="114000"/>
              </a:lnSpc>
              <a:buFont typeface="Arial" panose="020B0604020202020204" pitchFamily="34" charset="0"/>
              <a:buChar char="•"/>
              <a:defRPr/>
            </a:pPr>
            <a:r>
              <a:rPr lang="nl-NL" sz="1000">
                <a:solidFill>
                  <a:srgbClr val="111111"/>
                </a:solidFill>
                <a:latin typeface="Verdana"/>
                <a:ea typeface="Verdana"/>
              </a:rPr>
              <a:t>Documenten </a:t>
            </a:r>
          </a:p>
          <a:p>
            <a:pPr marL="628650" lvl="1" indent="-171450">
              <a:lnSpc>
                <a:spcPct val="114000"/>
              </a:lnSpc>
              <a:buFont typeface="Arial" panose="020B0604020202020204" pitchFamily="34" charset="0"/>
              <a:buChar char="•"/>
              <a:defRPr/>
            </a:pPr>
            <a:endParaRPr lang="nl-NL" sz="1000">
              <a:solidFill>
                <a:srgbClr val="111111"/>
              </a:solidFill>
              <a:latin typeface="Verdana"/>
              <a:ea typeface="Verdana"/>
            </a:endParaRPr>
          </a:p>
          <a:p>
            <a:pPr marL="171450" indent="-171450">
              <a:lnSpc>
                <a:spcPct val="114000"/>
              </a:lnSpc>
              <a:buFont typeface="Arial" panose="020B0604020202020204" pitchFamily="34" charset="0"/>
              <a:buChar char="•"/>
              <a:defRPr/>
            </a:pPr>
            <a:r>
              <a:rPr lang="nl-NL" sz="1000">
                <a:solidFill>
                  <a:srgbClr val="111111"/>
                </a:solidFill>
                <a:latin typeface="Verdana"/>
                <a:ea typeface="Verdana"/>
              </a:rPr>
              <a:t>Meer zorgtoepassingen worden gerealiseerd aan de hand van voortschrijdend inzicht en worden uitvoerig getest met gebruikers. </a:t>
            </a:r>
            <a:endParaRPr kumimoji="0" lang="nl-NL" sz="1000" b="0" i="0" u="none" strike="noStrike" kern="1200" cap="none" spc="0" normalizeH="0" baseline="0" noProof="0">
              <a:ln>
                <a:noFill/>
              </a:ln>
              <a:solidFill>
                <a:prstClr val="black"/>
              </a:solidFill>
              <a:effectLst/>
              <a:uLnTx/>
              <a:uFillTx/>
              <a:latin typeface="Verdana"/>
              <a:ea typeface="Verdana"/>
              <a:cs typeface="Calibri"/>
            </a:endParaRPr>
          </a:p>
        </p:txBody>
      </p:sp>
      <p:cxnSp>
        <p:nvCxnSpPr>
          <p:cNvPr id="180" name="Rechte verbindingslijn 179">
            <a:extLst>
              <a:ext uri="{FF2B5EF4-FFF2-40B4-BE49-F238E27FC236}">
                <a16:creationId xmlns:a16="http://schemas.microsoft.com/office/drawing/2014/main" id="{2E3E4CDE-C7B9-2502-2310-D48FF77694FD}"/>
              </a:ext>
            </a:extLst>
          </p:cNvPr>
          <p:cNvCxnSpPr>
            <a:cxnSpLocks/>
            <a:stCxn id="99" idx="3"/>
          </p:cNvCxnSpPr>
          <p:nvPr/>
        </p:nvCxnSpPr>
        <p:spPr>
          <a:xfrm>
            <a:off x="3597487" y="2918827"/>
            <a:ext cx="1780299" cy="144356"/>
          </a:xfrm>
          <a:prstGeom prst="line">
            <a:avLst/>
          </a:prstGeom>
          <a:ln w="28575">
            <a:solidFill>
              <a:srgbClr val="0E9F92"/>
            </a:solidFill>
            <a:prstDash val="sysDot"/>
          </a:ln>
        </p:spPr>
        <p:style>
          <a:lnRef idx="1">
            <a:schemeClr val="accent1"/>
          </a:lnRef>
          <a:fillRef idx="0">
            <a:schemeClr val="accent1"/>
          </a:fillRef>
          <a:effectRef idx="0">
            <a:schemeClr val="accent1"/>
          </a:effectRef>
          <a:fontRef idx="minor">
            <a:schemeClr val="tx1"/>
          </a:fontRef>
        </p:style>
      </p:cxnSp>
      <p:cxnSp>
        <p:nvCxnSpPr>
          <p:cNvPr id="181" name="Rechte verbindingslijn 180">
            <a:extLst>
              <a:ext uri="{FF2B5EF4-FFF2-40B4-BE49-F238E27FC236}">
                <a16:creationId xmlns:a16="http://schemas.microsoft.com/office/drawing/2014/main" id="{CFE79A34-FE45-E901-48CF-EC5675A996A4}"/>
              </a:ext>
            </a:extLst>
          </p:cNvPr>
          <p:cNvCxnSpPr>
            <a:cxnSpLocks/>
            <a:stCxn id="98" idx="3"/>
            <a:endCxn id="9" idx="0"/>
          </p:cNvCxnSpPr>
          <p:nvPr/>
        </p:nvCxnSpPr>
        <p:spPr>
          <a:xfrm>
            <a:off x="3596335" y="4563341"/>
            <a:ext cx="1139800" cy="882008"/>
          </a:xfrm>
          <a:prstGeom prst="line">
            <a:avLst/>
          </a:prstGeom>
          <a:ln w="28575">
            <a:solidFill>
              <a:srgbClr val="21BBEF"/>
            </a:solidFill>
            <a:prstDash val="sysDot"/>
          </a:ln>
        </p:spPr>
        <p:style>
          <a:lnRef idx="1">
            <a:schemeClr val="accent1"/>
          </a:lnRef>
          <a:fillRef idx="0">
            <a:schemeClr val="accent1"/>
          </a:fillRef>
          <a:effectRef idx="0">
            <a:schemeClr val="accent1"/>
          </a:effectRef>
          <a:fontRef idx="minor">
            <a:schemeClr val="tx1"/>
          </a:fontRef>
        </p:style>
      </p:cxnSp>
      <p:cxnSp>
        <p:nvCxnSpPr>
          <p:cNvPr id="184" name="Rechte verbindingslijn 183">
            <a:extLst>
              <a:ext uri="{FF2B5EF4-FFF2-40B4-BE49-F238E27FC236}">
                <a16:creationId xmlns:a16="http://schemas.microsoft.com/office/drawing/2014/main" id="{EF500C32-CEA5-6C3B-BF94-4770175E18D2}"/>
              </a:ext>
            </a:extLst>
          </p:cNvPr>
          <p:cNvCxnSpPr>
            <a:cxnSpLocks/>
            <a:stCxn id="97" idx="3"/>
          </p:cNvCxnSpPr>
          <p:nvPr/>
        </p:nvCxnSpPr>
        <p:spPr>
          <a:xfrm flipV="1">
            <a:off x="3596335" y="4557978"/>
            <a:ext cx="876988" cy="1386039"/>
          </a:xfrm>
          <a:prstGeom prst="line">
            <a:avLst/>
          </a:prstGeom>
          <a:ln w="28575">
            <a:solidFill>
              <a:srgbClr val="DDEBCE"/>
            </a:solidFill>
            <a:prstDash val="sysDot"/>
          </a:ln>
        </p:spPr>
        <p:style>
          <a:lnRef idx="1">
            <a:schemeClr val="accent1"/>
          </a:lnRef>
          <a:fillRef idx="0">
            <a:schemeClr val="accent1"/>
          </a:fillRef>
          <a:effectRef idx="0">
            <a:schemeClr val="accent1"/>
          </a:effectRef>
          <a:fontRef idx="minor">
            <a:schemeClr val="tx1"/>
          </a:fontRef>
        </p:style>
      </p:cxnSp>
      <p:sp>
        <p:nvSpPr>
          <p:cNvPr id="196" name="Tekstvak 195">
            <a:extLst>
              <a:ext uri="{FF2B5EF4-FFF2-40B4-BE49-F238E27FC236}">
                <a16:creationId xmlns:a16="http://schemas.microsoft.com/office/drawing/2014/main" id="{DFEDC89F-0D5E-B96A-E83C-94C61626D601}"/>
              </a:ext>
            </a:extLst>
          </p:cNvPr>
          <p:cNvSpPr txBox="1"/>
          <p:nvPr/>
        </p:nvSpPr>
        <p:spPr>
          <a:xfrm>
            <a:off x="7862307" y="1350608"/>
            <a:ext cx="3980800" cy="261610"/>
          </a:xfrm>
          <a:prstGeom prst="rect">
            <a:avLst/>
          </a:prstGeom>
          <a:noFill/>
        </p:spPr>
        <p:txBody>
          <a:bodyPr wrap="square" lIns="91440" tIns="45720" rIns="91440" bIns="45720" anchor="t">
            <a:spAutoFit/>
          </a:bodyPr>
          <a:lstStyle/>
          <a:p>
            <a:pPr algn="r">
              <a:spcAft>
                <a:spcPts val="600"/>
              </a:spcAft>
              <a:defRPr/>
            </a:pPr>
            <a:r>
              <a:rPr lang="nl-NL" sz="1100" b="1" dirty="0">
                <a:solidFill>
                  <a:srgbClr val="000000"/>
                </a:solidFill>
                <a:latin typeface="Verdana"/>
                <a:ea typeface="Verdana"/>
                <a:cs typeface="Arial"/>
              </a:rPr>
              <a:t>Functionele eisen integraal 360-graden beeld</a:t>
            </a:r>
            <a:endParaRPr kumimoji="0" lang="nl-NL" sz="1100" b="1" i="0" u="none" strike="noStrike" kern="1200" cap="none" spc="0" normalizeH="0" baseline="0" noProof="0" dirty="0">
              <a:ln>
                <a:noFill/>
              </a:ln>
              <a:solidFill>
                <a:srgbClr val="000000"/>
              </a:solidFill>
              <a:effectLst/>
              <a:uLnTx/>
              <a:uFillTx/>
              <a:latin typeface="Verdana"/>
              <a:ea typeface="Verdana"/>
              <a:cs typeface="Arial"/>
            </a:endParaRPr>
          </a:p>
        </p:txBody>
      </p:sp>
      <p:sp>
        <p:nvSpPr>
          <p:cNvPr id="199" name="Tekstvak 198">
            <a:extLst>
              <a:ext uri="{FF2B5EF4-FFF2-40B4-BE49-F238E27FC236}">
                <a16:creationId xmlns:a16="http://schemas.microsoft.com/office/drawing/2014/main" id="{5BB278B0-0804-04A7-03B4-FDA2B4E3498D}"/>
              </a:ext>
            </a:extLst>
          </p:cNvPr>
          <p:cNvSpPr txBox="1"/>
          <p:nvPr/>
        </p:nvSpPr>
        <p:spPr>
          <a:xfrm>
            <a:off x="8565823" y="1623867"/>
            <a:ext cx="3277283" cy="415498"/>
          </a:xfrm>
          <a:prstGeom prst="rect">
            <a:avLst/>
          </a:prstGeom>
          <a:noFill/>
        </p:spPr>
        <p:txBody>
          <a:bodyPr wrap="square" lIns="91440" tIns="45720" rIns="91440" bIns="45720" anchor="t">
            <a:spAutoFit/>
          </a:bodyPr>
          <a:lstStyle/>
          <a:p>
            <a:pPr algn="r">
              <a:spcAft>
                <a:spcPts val="600"/>
              </a:spcAft>
              <a:defRPr/>
            </a:pPr>
            <a:r>
              <a:rPr lang="nl-NL" sz="1050" dirty="0">
                <a:solidFill>
                  <a:srgbClr val="000000"/>
                </a:solidFill>
                <a:latin typeface="Verdana"/>
                <a:ea typeface="Verdana"/>
                <a:cs typeface="Arial"/>
              </a:rPr>
              <a:t>Een waardevol integraal 360-graden beeld heeft een aantal noodzakelijke weergaven. </a:t>
            </a:r>
            <a:endParaRPr kumimoji="0" lang="nl-NL" sz="1050" i="0" u="none" strike="noStrike" kern="1200" cap="none" spc="0" normalizeH="0" baseline="0" noProof="0" dirty="0">
              <a:ln>
                <a:noFill/>
              </a:ln>
              <a:solidFill>
                <a:srgbClr val="000000"/>
              </a:solidFill>
              <a:effectLst/>
              <a:uLnTx/>
              <a:uFillTx/>
              <a:latin typeface="Verdana"/>
              <a:ea typeface="Verdana"/>
              <a:cs typeface="Arial"/>
            </a:endParaRPr>
          </a:p>
        </p:txBody>
      </p:sp>
      <p:sp>
        <p:nvSpPr>
          <p:cNvPr id="201" name="Tekstvak 200">
            <a:extLst>
              <a:ext uri="{FF2B5EF4-FFF2-40B4-BE49-F238E27FC236}">
                <a16:creationId xmlns:a16="http://schemas.microsoft.com/office/drawing/2014/main" id="{1E1F6EB1-38E4-C3D1-2C8C-35934C40434C}"/>
              </a:ext>
            </a:extLst>
          </p:cNvPr>
          <p:cNvSpPr txBox="1"/>
          <p:nvPr/>
        </p:nvSpPr>
        <p:spPr>
          <a:xfrm>
            <a:off x="448694" y="1623867"/>
            <a:ext cx="4009389" cy="415498"/>
          </a:xfrm>
          <a:prstGeom prst="rect">
            <a:avLst/>
          </a:prstGeom>
          <a:noFill/>
        </p:spPr>
        <p:txBody>
          <a:bodyPr wrap="square" lIns="91440" tIns="45720" rIns="91440" bIns="45720" anchor="t">
            <a:spAutoFit/>
          </a:bodyPr>
          <a:lstStyle/>
          <a:p>
            <a:pPr>
              <a:spcAft>
                <a:spcPts val="600"/>
              </a:spcAft>
              <a:defRPr/>
            </a:pPr>
            <a:r>
              <a:rPr lang="nl-NL" sz="1050" dirty="0">
                <a:solidFill>
                  <a:srgbClr val="000000"/>
                </a:solidFill>
                <a:latin typeface="Verdana"/>
                <a:ea typeface="Verdana"/>
                <a:cs typeface="Arial"/>
              </a:rPr>
              <a:t>Cruciale componenten die multidisciplinaire dossierinzage mogelijk maken.</a:t>
            </a:r>
            <a:endParaRPr kumimoji="0" lang="nl-NL" sz="1050" i="0" u="none" strike="noStrike" kern="1200" cap="none" spc="0" normalizeH="0" baseline="0" noProof="0" dirty="0">
              <a:ln>
                <a:noFill/>
              </a:ln>
              <a:solidFill>
                <a:srgbClr val="000000"/>
              </a:solidFill>
              <a:effectLst/>
              <a:uLnTx/>
              <a:uFillTx/>
              <a:latin typeface="Verdana"/>
              <a:ea typeface="Verdana"/>
              <a:cs typeface="Arial"/>
            </a:endParaRPr>
          </a:p>
        </p:txBody>
      </p:sp>
      <p:sp>
        <p:nvSpPr>
          <p:cNvPr id="3" name="Rectangle: Top Corners Rounded 38">
            <a:hlinkClick r:id="rId3" action="ppaction://hlinksldjump"/>
            <a:extLst>
              <a:ext uri="{FF2B5EF4-FFF2-40B4-BE49-F238E27FC236}">
                <a16:creationId xmlns:a16="http://schemas.microsoft.com/office/drawing/2014/main" id="{1F7EFD92-AC77-0191-A85D-82890A986B2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4" name="Graphic 3" descr="Introductiepagina silhouet">
            <a:hlinkClick r:id="rId4" action="ppaction://hlinksldjump"/>
            <a:extLst>
              <a:ext uri="{FF2B5EF4-FFF2-40B4-BE49-F238E27FC236}">
                <a16:creationId xmlns:a16="http://schemas.microsoft.com/office/drawing/2014/main" id="{8ED49FD5-6562-974B-32F3-8DECCC7CE7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8" name="Rectangle: Top Corners Rounded 1">
            <a:hlinkClick r:id="rId7" action="ppaction://hlinksldjump"/>
            <a:extLst>
              <a:ext uri="{FF2B5EF4-FFF2-40B4-BE49-F238E27FC236}">
                <a16:creationId xmlns:a16="http://schemas.microsoft.com/office/drawing/2014/main" id="{919A1696-1022-82FE-9387-FBC56FC4EE79}"/>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2" name="Rectangle: Top Corners Rounded 1">
            <a:hlinkClick r:id="rId8" action="ppaction://hlinksldjump"/>
            <a:extLst>
              <a:ext uri="{FF2B5EF4-FFF2-40B4-BE49-F238E27FC236}">
                <a16:creationId xmlns:a16="http://schemas.microsoft.com/office/drawing/2014/main" id="{67D5CC2F-4EA1-901E-BF1B-A1CFA7AE620C}"/>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3" name="Rectangle: Top Corners Rounded 1">
            <a:hlinkClick r:id="rId9" action="ppaction://hlinksldjump"/>
            <a:extLst>
              <a:ext uri="{FF2B5EF4-FFF2-40B4-BE49-F238E27FC236}">
                <a16:creationId xmlns:a16="http://schemas.microsoft.com/office/drawing/2014/main" id="{ABD1BBA3-A6FD-1B19-230D-BC2BD7EB4BB3}"/>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4" name="Rectangle: Top Corners Rounded 1">
            <a:hlinkClick r:id="rId10" action="ppaction://hlinksldjump"/>
            <a:extLst>
              <a:ext uri="{FF2B5EF4-FFF2-40B4-BE49-F238E27FC236}">
                <a16:creationId xmlns:a16="http://schemas.microsoft.com/office/drawing/2014/main" id="{C0447DF8-952A-C407-2787-ED53994060CE}"/>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5" name="Rectangle: Top Corners Rounded 1">
            <a:hlinkClick r:id="rId11" action="ppaction://hlinksldjump"/>
            <a:extLst>
              <a:ext uri="{FF2B5EF4-FFF2-40B4-BE49-F238E27FC236}">
                <a16:creationId xmlns:a16="http://schemas.microsoft.com/office/drawing/2014/main" id="{D2BA6E87-36CA-1F62-088E-A28CD764B609}"/>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26" name="Rectangle: Top Corners Rounded 1">
            <a:hlinkClick r:id="rId12" action="ppaction://hlinksldjump"/>
            <a:extLst>
              <a:ext uri="{FF2B5EF4-FFF2-40B4-BE49-F238E27FC236}">
                <a16:creationId xmlns:a16="http://schemas.microsoft.com/office/drawing/2014/main" id="{DA050104-ACC2-9F31-F073-2842F378AA2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27" name="Rectangle: Top Corners Rounded 1">
            <a:hlinkClick r:id="rId13" action="ppaction://hlinksldjump"/>
            <a:extLst>
              <a:ext uri="{FF2B5EF4-FFF2-40B4-BE49-F238E27FC236}">
                <a16:creationId xmlns:a16="http://schemas.microsoft.com/office/drawing/2014/main" id="{C6C665FB-FC2F-15CA-DF3A-E27E9C8935F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8" name="Rectangle: Top Corners Rounded 1">
            <a:hlinkClick r:id="rId14" action="ppaction://hlinksldjump"/>
            <a:extLst>
              <a:ext uri="{FF2B5EF4-FFF2-40B4-BE49-F238E27FC236}">
                <a16:creationId xmlns:a16="http://schemas.microsoft.com/office/drawing/2014/main" id="{D390E364-4E91-D247-731D-9AB45F92620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9" name="Rectangle: Top Corners Rounded 1">
            <a:hlinkClick r:id="rId15" action="ppaction://hlinksldjump"/>
            <a:extLst>
              <a:ext uri="{FF2B5EF4-FFF2-40B4-BE49-F238E27FC236}">
                <a16:creationId xmlns:a16="http://schemas.microsoft.com/office/drawing/2014/main" id="{4213CE24-D8D8-6981-3766-1937C691842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0" name="Rectangle: Top Corners Rounded 1">
            <a:hlinkClick r:id="rId16" action="ppaction://hlinksldjump"/>
            <a:extLst>
              <a:ext uri="{FF2B5EF4-FFF2-40B4-BE49-F238E27FC236}">
                <a16:creationId xmlns:a16="http://schemas.microsoft.com/office/drawing/2014/main" id="{262B1F14-8E89-1286-3885-18ED13919B8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1" name="Rectangle: Top Corners Rounded 1">
            <a:hlinkClick r:id="rId17" action="ppaction://hlinksldjump"/>
            <a:extLst>
              <a:ext uri="{FF2B5EF4-FFF2-40B4-BE49-F238E27FC236}">
                <a16:creationId xmlns:a16="http://schemas.microsoft.com/office/drawing/2014/main" id="{20649DD6-EC8B-2719-30E0-CF5579E5A993}"/>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2" name="Rechthoek: afgeronde hoeken 31">
            <a:extLst>
              <a:ext uri="{FF2B5EF4-FFF2-40B4-BE49-F238E27FC236}">
                <a16:creationId xmlns:a16="http://schemas.microsoft.com/office/drawing/2014/main" id="{E1CD4960-69BD-8CE0-F274-97943878F0EC}"/>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grpSp>
        <p:nvGrpSpPr>
          <p:cNvPr id="247" name="Groep 246">
            <a:extLst>
              <a:ext uri="{FF2B5EF4-FFF2-40B4-BE49-F238E27FC236}">
                <a16:creationId xmlns:a16="http://schemas.microsoft.com/office/drawing/2014/main" id="{E7AA9DEF-88EC-670E-4139-90CFD3938594}"/>
              </a:ext>
            </a:extLst>
          </p:cNvPr>
          <p:cNvGrpSpPr/>
          <p:nvPr/>
        </p:nvGrpSpPr>
        <p:grpSpPr>
          <a:xfrm>
            <a:off x="3510589" y="1480397"/>
            <a:ext cx="5179396" cy="3616488"/>
            <a:chOff x="6542613" y="2334279"/>
            <a:chExt cx="5179396" cy="3616488"/>
          </a:xfrm>
        </p:grpSpPr>
        <p:sp>
          <p:nvSpPr>
            <p:cNvPr id="248" name="Ovaal 247">
              <a:extLst>
                <a:ext uri="{FF2B5EF4-FFF2-40B4-BE49-F238E27FC236}">
                  <a16:creationId xmlns:a16="http://schemas.microsoft.com/office/drawing/2014/main" id="{FEA4CBC2-72BE-4923-E146-CE83BE9230FE}"/>
                </a:ext>
              </a:extLst>
            </p:cNvPr>
            <p:cNvSpPr/>
            <p:nvPr/>
          </p:nvSpPr>
          <p:spPr>
            <a:xfrm>
              <a:off x="8313850" y="5633484"/>
              <a:ext cx="1486568" cy="317283"/>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49" name="Ovaal 248">
              <a:extLst>
                <a:ext uri="{FF2B5EF4-FFF2-40B4-BE49-F238E27FC236}">
                  <a16:creationId xmlns:a16="http://schemas.microsoft.com/office/drawing/2014/main" id="{5A674FA4-4F3C-52DA-6034-66A323304479}"/>
                </a:ext>
              </a:extLst>
            </p:cNvPr>
            <p:cNvSpPr/>
            <p:nvPr/>
          </p:nvSpPr>
          <p:spPr>
            <a:xfrm>
              <a:off x="6973687" y="5120713"/>
              <a:ext cx="1219706" cy="433718"/>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50" name="Ovaal 249">
              <a:extLst>
                <a:ext uri="{FF2B5EF4-FFF2-40B4-BE49-F238E27FC236}">
                  <a16:creationId xmlns:a16="http://schemas.microsoft.com/office/drawing/2014/main" id="{04D7D92A-F74C-B1C9-18E9-EA7723EFF9BF}"/>
                </a:ext>
              </a:extLst>
            </p:cNvPr>
            <p:cNvSpPr/>
            <p:nvPr/>
          </p:nvSpPr>
          <p:spPr>
            <a:xfrm>
              <a:off x="6664803" y="4057939"/>
              <a:ext cx="1100718"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51" name="Ovaal 250">
              <a:extLst>
                <a:ext uri="{FF2B5EF4-FFF2-40B4-BE49-F238E27FC236}">
                  <a16:creationId xmlns:a16="http://schemas.microsoft.com/office/drawing/2014/main" id="{52977BF8-A0F0-291F-47F5-9016E09CC045}"/>
                </a:ext>
              </a:extLst>
            </p:cNvPr>
            <p:cNvSpPr/>
            <p:nvPr/>
          </p:nvSpPr>
          <p:spPr>
            <a:xfrm>
              <a:off x="9994113" y="4970006"/>
              <a:ext cx="1415084" cy="430969"/>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52" name="Ovaal 251">
              <a:extLst>
                <a:ext uri="{FF2B5EF4-FFF2-40B4-BE49-F238E27FC236}">
                  <a16:creationId xmlns:a16="http://schemas.microsoft.com/office/drawing/2014/main" id="{D1B0F044-8C93-942C-2E4D-8E14B967794A}"/>
                </a:ext>
              </a:extLst>
            </p:cNvPr>
            <p:cNvSpPr/>
            <p:nvPr/>
          </p:nvSpPr>
          <p:spPr>
            <a:xfrm>
              <a:off x="10409984" y="3925462"/>
              <a:ext cx="1192701"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53" name="Ovaal 252">
              <a:extLst>
                <a:ext uri="{FF2B5EF4-FFF2-40B4-BE49-F238E27FC236}">
                  <a16:creationId xmlns:a16="http://schemas.microsoft.com/office/drawing/2014/main" id="{9F50A40A-B88E-5696-0FCF-2ECFDB0E011E}"/>
                </a:ext>
              </a:extLst>
            </p:cNvPr>
            <p:cNvSpPr/>
            <p:nvPr/>
          </p:nvSpPr>
          <p:spPr>
            <a:xfrm>
              <a:off x="10063816" y="2963380"/>
              <a:ext cx="1316112"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54" name="Ovaal 253">
              <a:extLst>
                <a:ext uri="{FF2B5EF4-FFF2-40B4-BE49-F238E27FC236}">
                  <a16:creationId xmlns:a16="http://schemas.microsoft.com/office/drawing/2014/main" id="{616460AA-444D-5345-8D4E-127CF732C533}"/>
                </a:ext>
              </a:extLst>
            </p:cNvPr>
            <p:cNvSpPr/>
            <p:nvPr/>
          </p:nvSpPr>
          <p:spPr>
            <a:xfrm>
              <a:off x="8619056" y="2334279"/>
              <a:ext cx="886476" cy="4224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55" name="Tekstvak 254">
              <a:extLst>
                <a:ext uri="{FF2B5EF4-FFF2-40B4-BE49-F238E27FC236}">
                  <a16:creationId xmlns:a16="http://schemas.microsoft.com/office/drawing/2014/main" id="{F292D870-1D9B-0335-C90E-64BE12C70316}"/>
                </a:ext>
              </a:extLst>
            </p:cNvPr>
            <p:cNvSpPr txBox="1"/>
            <p:nvPr/>
          </p:nvSpPr>
          <p:spPr>
            <a:xfrm>
              <a:off x="8699130" y="2360498"/>
              <a:ext cx="72632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Jeugdwerker</a:t>
              </a:r>
            </a:p>
          </p:txBody>
        </p:sp>
        <p:sp>
          <p:nvSpPr>
            <p:cNvPr id="256" name="Tekstvak 255">
              <a:extLst>
                <a:ext uri="{FF2B5EF4-FFF2-40B4-BE49-F238E27FC236}">
                  <a16:creationId xmlns:a16="http://schemas.microsoft.com/office/drawing/2014/main" id="{D5892B2E-ADBC-A708-BC88-D9F86BD03245}"/>
                </a:ext>
              </a:extLst>
            </p:cNvPr>
            <p:cNvSpPr txBox="1"/>
            <p:nvPr/>
          </p:nvSpPr>
          <p:spPr>
            <a:xfrm>
              <a:off x="10020071" y="4976510"/>
              <a:ext cx="138912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Crisisdienst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medewerker</a:t>
              </a:r>
            </a:p>
          </p:txBody>
        </p:sp>
        <p:sp>
          <p:nvSpPr>
            <p:cNvPr id="257" name="Tekstvak 256">
              <a:extLst>
                <a:ext uri="{FF2B5EF4-FFF2-40B4-BE49-F238E27FC236}">
                  <a16:creationId xmlns:a16="http://schemas.microsoft.com/office/drawing/2014/main" id="{2EB2B3E3-83A6-0739-A042-024378ADED48}"/>
                </a:ext>
              </a:extLst>
            </p:cNvPr>
            <p:cNvSpPr txBox="1"/>
            <p:nvPr/>
          </p:nvSpPr>
          <p:spPr>
            <a:xfrm>
              <a:off x="10163150" y="4057238"/>
              <a:ext cx="1558859"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Specialist</a:t>
              </a:r>
              <a:endParaRPr kumimoji="0" lang="nl-NL" sz="12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258" name="Tekstvak 257">
              <a:extLst>
                <a:ext uri="{FF2B5EF4-FFF2-40B4-BE49-F238E27FC236}">
                  <a16:creationId xmlns:a16="http://schemas.microsoft.com/office/drawing/2014/main" id="{4F07C926-B1FB-BFB9-E563-633C5B32BB1F}"/>
                </a:ext>
              </a:extLst>
            </p:cNvPr>
            <p:cNvSpPr txBox="1"/>
            <p:nvPr/>
          </p:nvSpPr>
          <p:spPr>
            <a:xfrm>
              <a:off x="10108605" y="3130988"/>
              <a:ext cx="1179882"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Huisarts</a:t>
              </a:r>
            </a:p>
          </p:txBody>
        </p:sp>
        <p:sp>
          <p:nvSpPr>
            <p:cNvPr id="259" name="Tekstvak 258">
              <a:extLst>
                <a:ext uri="{FF2B5EF4-FFF2-40B4-BE49-F238E27FC236}">
                  <a16:creationId xmlns:a16="http://schemas.microsoft.com/office/drawing/2014/main" id="{73754021-52E1-8F94-D59A-9A07DCF7FDEF}"/>
                </a:ext>
              </a:extLst>
            </p:cNvPr>
            <p:cNvSpPr txBox="1"/>
            <p:nvPr/>
          </p:nvSpPr>
          <p:spPr>
            <a:xfrm>
              <a:off x="6542613" y="4207161"/>
              <a:ext cx="134931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5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Apotheker</a:t>
              </a:r>
            </a:p>
          </p:txBody>
        </p:sp>
        <p:sp>
          <p:nvSpPr>
            <p:cNvPr id="260" name="Tekstvak 259">
              <a:extLst>
                <a:ext uri="{FF2B5EF4-FFF2-40B4-BE49-F238E27FC236}">
                  <a16:creationId xmlns:a16="http://schemas.microsoft.com/office/drawing/2014/main" id="{9C8D8FD3-5730-6D22-C9B5-55CEEDE3381D}"/>
                </a:ext>
              </a:extLst>
            </p:cNvPr>
            <p:cNvSpPr txBox="1"/>
            <p:nvPr/>
          </p:nvSpPr>
          <p:spPr>
            <a:xfrm>
              <a:off x="6993534" y="5146566"/>
              <a:ext cx="115437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Wijkverpleegkundige</a:t>
              </a:r>
            </a:p>
          </p:txBody>
        </p:sp>
        <p:sp>
          <p:nvSpPr>
            <p:cNvPr id="261" name="Tekstvak 260">
              <a:extLst>
                <a:ext uri="{FF2B5EF4-FFF2-40B4-BE49-F238E27FC236}">
                  <a16:creationId xmlns:a16="http://schemas.microsoft.com/office/drawing/2014/main" id="{0C54093A-DB33-C189-2878-9F2E388407D8}"/>
                </a:ext>
              </a:extLst>
            </p:cNvPr>
            <p:cNvSpPr txBox="1"/>
            <p:nvPr/>
          </p:nvSpPr>
          <p:spPr>
            <a:xfrm>
              <a:off x="8551775" y="5659710"/>
              <a:ext cx="1135445"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Psycholoog</a:t>
              </a:r>
            </a:p>
          </p:txBody>
        </p:sp>
        <p:sp>
          <p:nvSpPr>
            <p:cNvPr id="262" name="Ovaal 261">
              <a:extLst>
                <a:ext uri="{FF2B5EF4-FFF2-40B4-BE49-F238E27FC236}">
                  <a16:creationId xmlns:a16="http://schemas.microsoft.com/office/drawing/2014/main" id="{187F3817-A580-ADD9-F29A-A57BAE6613FC}"/>
                </a:ext>
              </a:extLst>
            </p:cNvPr>
            <p:cNvSpPr/>
            <p:nvPr/>
          </p:nvSpPr>
          <p:spPr>
            <a:xfrm>
              <a:off x="7247719" y="2766012"/>
              <a:ext cx="886476" cy="543111"/>
            </a:xfrm>
            <a:prstGeom prst="ellipse">
              <a:avLst/>
            </a:prstGeom>
            <a:solidFill>
              <a:srgbClr val="DDEBCE"/>
            </a:solid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1" i="0" u="none" strike="noStrike" kern="1200" cap="none" spc="0" normalizeH="0" baseline="0" noProof="0">
                <a:ln w="22225">
                  <a:solidFill>
                    <a:srgbClr val="ED7D31"/>
                  </a:solidFill>
                  <a:prstDash val="solid"/>
                </a:ln>
                <a:solidFill>
                  <a:srgbClr val="ED7D31">
                    <a:lumMod val="40000"/>
                    <a:lumOff val="60000"/>
                  </a:srgbClr>
                </a:solidFill>
                <a:effectLst/>
                <a:uLnTx/>
                <a:uFillTx/>
                <a:latin typeface="Calibri" panose="020F0502020204030204"/>
                <a:ea typeface="+mn-ea"/>
                <a:cs typeface="+mn-cs"/>
              </a:endParaRPr>
            </a:p>
          </p:txBody>
        </p:sp>
        <p:sp>
          <p:nvSpPr>
            <p:cNvPr id="263" name="Tekstvak 262">
              <a:extLst>
                <a:ext uri="{FF2B5EF4-FFF2-40B4-BE49-F238E27FC236}">
                  <a16:creationId xmlns:a16="http://schemas.microsoft.com/office/drawing/2014/main" id="{C6B08459-0E64-C412-6D95-9FBDC69A4EF1}"/>
                </a:ext>
              </a:extLst>
            </p:cNvPr>
            <p:cNvSpPr txBox="1"/>
            <p:nvPr/>
          </p:nvSpPr>
          <p:spPr>
            <a:xfrm>
              <a:off x="7186503" y="2882960"/>
              <a:ext cx="1001454"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Fysio</a:t>
              </a:r>
            </a:p>
          </p:txBody>
        </p:sp>
        <p:cxnSp>
          <p:nvCxnSpPr>
            <p:cNvPr id="264" name="Rechte verbindingslijn 263">
              <a:extLst>
                <a:ext uri="{FF2B5EF4-FFF2-40B4-BE49-F238E27FC236}">
                  <a16:creationId xmlns:a16="http://schemas.microsoft.com/office/drawing/2014/main" id="{424914E8-DAAE-320B-F0D7-EE0CDF779687}"/>
                </a:ext>
              </a:extLst>
            </p:cNvPr>
            <p:cNvCxnSpPr>
              <a:cxnSpLocks/>
              <a:stCxn id="250" idx="6"/>
              <a:endCxn id="262" idx="5"/>
            </p:cNvCxnSpPr>
            <p:nvPr/>
          </p:nvCxnSpPr>
          <p:spPr>
            <a:xfrm flipV="1">
              <a:off x="7765521" y="3229586"/>
              <a:ext cx="238853" cy="1099909"/>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65" name="Rechte verbindingslijn 264">
              <a:extLst>
                <a:ext uri="{FF2B5EF4-FFF2-40B4-BE49-F238E27FC236}">
                  <a16:creationId xmlns:a16="http://schemas.microsoft.com/office/drawing/2014/main" id="{98B3F250-614F-F57D-C0C0-1FA6AFF47CD5}"/>
                </a:ext>
              </a:extLst>
            </p:cNvPr>
            <p:cNvCxnSpPr>
              <a:cxnSpLocks/>
              <a:stCxn id="250" idx="6"/>
              <a:endCxn id="254" idx="4"/>
            </p:cNvCxnSpPr>
            <p:nvPr/>
          </p:nvCxnSpPr>
          <p:spPr>
            <a:xfrm flipV="1">
              <a:off x="7765521" y="2756690"/>
              <a:ext cx="1296773" cy="157280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66" name="Rechte verbindingslijn 265">
              <a:extLst>
                <a:ext uri="{FF2B5EF4-FFF2-40B4-BE49-F238E27FC236}">
                  <a16:creationId xmlns:a16="http://schemas.microsoft.com/office/drawing/2014/main" id="{DD97A85E-84AE-977B-3F2F-A3B3588D2652}"/>
                </a:ext>
              </a:extLst>
            </p:cNvPr>
            <p:cNvCxnSpPr>
              <a:cxnSpLocks/>
              <a:stCxn id="250" idx="6"/>
              <a:endCxn id="253" idx="2"/>
            </p:cNvCxnSpPr>
            <p:nvPr/>
          </p:nvCxnSpPr>
          <p:spPr>
            <a:xfrm flipV="1">
              <a:off x="7765521" y="3234936"/>
              <a:ext cx="2298295" cy="1094559"/>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67" name="Rechte verbindingslijn 266">
              <a:extLst>
                <a:ext uri="{FF2B5EF4-FFF2-40B4-BE49-F238E27FC236}">
                  <a16:creationId xmlns:a16="http://schemas.microsoft.com/office/drawing/2014/main" id="{2B5D2A43-A974-CF48-3A56-D6A2A5B41DA3}"/>
                </a:ext>
              </a:extLst>
            </p:cNvPr>
            <p:cNvCxnSpPr>
              <a:cxnSpLocks/>
              <a:stCxn id="254" idx="4"/>
              <a:endCxn id="262" idx="5"/>
            </p:cNvCxnSpPr>
            <p:nvPr/>
          </p:nvCxnSpPr>
          <p:spPr>
            <a:xfrm flipH="1">
              <a:off x="8004374" y="2756690"/>
              <a:ext cx="1057920" cy="47289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68" name="Rechte verbindingslijn 267">
              <a:extLst>
                <a:ext uri="{FF2B5EF4-FFF2-40B4-BE49-F238E27FC236}">
                  <a16:creationId xmlns:a16="http://schemas.microsoft.com/office/drawing/2014/main" id="{AF41ABD8-979D-A790-DE49-1D24C64BF290}"/>
                </a:ext>
              </a:extLst>
            </p:cNvPr>
            <p:cNvCxnSpPr>
              <a:cxnSpLocks/>
              <a:stCxn id="254" idx="4"/>
              <a:endCxn id="253" idx="2"/>
            </p:cNvCxnSpPr>
            <p:nvPr/>
          </p:nvCxnSpPr>
          <p:spPr>
            <a:xfrm>
              <a:off x="9062294" y="2756690"/>
              <a:ext cx="1001522" cy="47824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69" name="Rechte verbindingslijn 268">
              <a:extLst>
                <a:ext uri="{FF2B5EF4-FFF2-40B4-BE49-F238E27FC236}">
                  <a16:creationId xmlns:a16="http://schemas.microsoft.com/office/drawing/2014/main" id="{90603EBC-4AE8-DE81-4B58-2DF2779CEA3F}"/>
                </a:ext>
              </a:extLst>
            </p:cNvPr>
            <p:cNvCxnSpPr>
              <a:cxnSpLocks/>
              <a:stCxn id="249" idx="7"/>
              <a:endCxn id="250" idx="6"/>
            </p:cNvCxnSpPr>
            <p:nvPr/>
          </p:nvCxnSpPr>
          <p:spPr>
            <a:xfrm flipH="1" flipV="1">
              <a:off x="7765521" y="4329495"/>
              <a:ext cx="249250" cy="85473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0" name="Rechte verbindingslijn 269">
              <a:extLst>
                <a:ext uri="{FF2B5EF4-FFF2-40B4-BE49-F238E27FC236}">
                  <a16:creationId xmlns:a16="http://schemas.microsoft.com/office/drawing/2014/main" id="{D0A92246-C324-DA0B-638E-B8248EF77855}"/>
                </a:ext>
              </a:extLst>
            </p:cNvPr>
            <p:cNvCxnSpPr>
              <a:cxnSpLocks/>
              <a:stCxn id="248" idx="0"/>
              <a:endCxn id="249" idx="7"/>
            </p:cNvCxnSpPr>
            <p:nvPr/>
          </p:nvCxnSpPr>
          <p:spPr>
            <a:xfrm flipH="1" flipV="1">
              <a:off x="8014771" y="5184230"/>
              <a:ext cx="1042363" cy="44925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1" name="Rechte verbindingslijn 270">
              <a:extLst>
                <a:ext uri="{FF2B5EF4-FFF2-40B4-BE49-F238E27FC236}">
                  <a16:creationId xmlns:a16="http://schemas.microsoft.com/office/drawing/2014/main" id="{F31E35F6-86D8-25C8-CA74-DC1A2478E584}"/>
                </a:ext>
              </a:extLst>
            </p:cNvPr>
            <p:cNvCxnSpPr>
              <a:cxnSpLocks/>
              <a:stCxn id="248" idx="0"/>
              <a:endCxn id="251" idx="2"/>
            </p:cNvCxnSpPr>
            <p:nvPr/>
          </p:nvCxnSpPr>
          <p:spPr>
            <a:xfrm flipV="1">
              <a:off x="9057134" y="5185491"/>
              <a:ext cx="936979" cy="447993"/>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2" name="Rechte verbindingslijn 271">
              <a:extLst>
                <a:ext uri="{FF2B5EF4-FFF2-40B4-BE49-F238E27FC236}">
                  <a16:creationId xmlns:a16="http://schemas.microsoft.com/office/drawing/2014/main" id="{FD578BE8-6D8A-EA67-E9A4-599316E67D22}"/>
                </a:ext>
              </a:extLst>
            </p:cNvPr>
            <p:cNvCxnSpPr>
              <a:cxnSpLocks/>
              <a:stCxn id="252" idx="2"/>
              <a:endCxn id="251" idx="2"/>
            </p:cNvCxnSpPr>
            <p:nvPr/>
          </p:nvCxnSpPr>
          <p:spPr>
            <a:xfrm flipH="1">
              <a:off x="9994113" y="4197018"/>
              <a:ext cx="415871" cy="988473"/>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3" name="Rechte verbindingslijn 272">
              <a:extLst>
                <a:ext uri="{FF2B5EF4-FFF2-40B4-BE49-F238E27FC236}">
                  <a16:creationId xmlns:a16="http://schemas.microsoft.com/office/drawing/2014/main" id="{715F69A9-9C51-BC8D-BAFD-D32D31583BF3}"/>
                </a:ext>
              </a:extLst>
            </p:cNvPr>
            <p:cNvCxnSpPr>
              <a:cxnSpLocks/>
              <a:stCxn id="252" idx="2"/>
              <a:endCxn id="253" idx="2"/>
            </p:cNvCxnSpPr>
            <p:nvPr/>
          </p:nvCxnSpPr>
          <p:spPr>
            <a:xfrm flipH="1" flipV="1">
              <a:off x="10063816" y="3234936"/>
              <a:ext cx="346168" cy="962082"/>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4" name="Rechte verbindingslijn 273">
              <a:extLst>
                <a:ext uri="{FF2B5EF4-FFF2-40B4-BE49-F238E27FC236}">
                  <a16:creationId xmlns:a16="http://schemas.microsoft.com/office/drawing/2014/main" id="{36123A09-D6C6-C746-2221-AAAC044033B6}"/>
                </a:ext>
              </a:extLst>
            </p:cNvPr>
            <p:cNvCxnSpPr>
              <a:cxnSpLocks/>
              <a:stCxn id="250" idx="6"/>
              <a:endCxn id="252" idx="2"/>
            </p:cNvCxnSpPr>
            <p:nvPr/>
          </p:nvCxnSpPr>
          <p:spPr>
            <a:xfrm flipV="1">
              <a:off x="7765521" y="4197018"/>
              <a:ext cx="2644463" cy="132477"/>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5" name="Rechte verbindingslijn 274">
              <a:extLst>
                <a:ext uri="{FF2B5EF4-FFF2-40B4-BE49-F238E27FC236}">
                  <a16:creationId xmlns:a16="http://schemas.microsoft.com/office/drawing/2014/main" id="{D5C75EA3-7ABE-74D2-D6E3-3F1C862E1A37}"/>
                </a:ext>
              </a:extLst>
            </p:cNvPr>
            <p:cNvCxnSpPr>
              <a:cxnSpLocks/>
              <a:stCxn id="250" idx="6"/>
              <a:endCxn id="251" idx="2"/>
            </p:cNvCxnSpPr>
            <p:nvPr/>
          </p:nvCxnSpPr>
          <p:spPr>
            <a:xfrm>
              <a:off x="7765521" y="4329495"/>
              <a:ext cx="2228592" cy="85599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6" name="Rechte verbindingslijn 275">
              <a:extLst>
                <a:ext uri="{FF2B5EF4-FFF2-40B4-BE49-F238E27FC236}">
                  <a16:creationId xmlns:a16="http://schemas.microsoft.com/office/drawing/2014/main" id="{E394E7AF-E7CE-8644-00B4-B9A6AEBB9026}"/>
                </a:ext>
              </a:extLst>
            </p:cNvPr>
            <p:cNvCxnSpPr>
              <a:cxnSpLocks/>
              <a:stCxn id="250" idx="6"/>
              <a:endCxn id="248" idx="0"/>
            </p:cNvCxnSpPr>
            <p:nvPr/>
          </p:nvCxnSpPr>
          <p:spPr>
            <a:xfrm>
              <a:off x="7765521" y="4329495"/>
              <a:ext cx="1291613" cy="1303989"/>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7" name="Rechte verbindingslijn 276">
              <a:extLst>
                <a:ext uri="{FF2B5EF4-FFF2-40B4-BE49-F238E27FC236}">
                  <a16:creationId xmlns:a16="http://schemas.microsoft.com/office/drawing/2014/main" id="{0A57D563-2AAE-EE4D-1414-4CA653BF0F43}"/>
                </a:ext>
              </a:extLst>
            </p:cNvPr>
            <p:cNvCxnSpPr>
              <a:cxnSpLocks/>
              <a:stCxn id="252" idx="2"/>
              <a:endCxn id="254" idx="4"/>
            </p:cNvCxnSpPr>
            <p:nvPr/>
          </p:nvCxnSpPr>
          <p:spPr>
            <a:xfrm flipH="1" flipV="1">
              <a:off x="9062294" y="2756690"/>
              <a:ext cx="1347690" cy="1440328"/>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8" name="Rechte verbindingslijn 277">
              <a:extLst>
                <a:ext uri="{FF2B5EF4-FFF2-40B4-BE49-F238E27FC236}">
                  <a16:creationId xmlns:a16="http://schemas.microsoft.com/office/drawing/2014/main" id="{D15EDB24-846C-EB3C-B6F8-9B91853AAA42}"/>
                </a:ext>
              </a:extLst>
            </p:cNvPr>
            <p:cNvCxnSpPr>
              <a:cxnSpLocks/>
              <a:stCxn id="262" idx="5"/>
              <a:endCxn id="249" idx="7"/>
            </p:cNvCxnSpPr>
            <p:nvPr/>
          </p:nvCxnSpPr>
          <p:spPr>
            <a:xfrm>
              <a:off x="8004374" y="3229586"/>
              <a:ext cx="10397" cy="195464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79" name="Rechte verbindingslijn 278">
              <a:extLst>
                <a:ext uri="{FF2B5EF4-FFF2-40B4-BE49-F238E27FC236}">
                  <a16:creationId xmlns:a16="http://schemas.microsoft.com/office/drawing/2014/main" id="{0845FB3A-49E5-D7C2-2873-2AF6241C0D52}"/>
                </a:ext>
              </a:extLst>
            </p:cNvPr>
            <p:cNvCxnSpPr>
              <a:cxnSpLocks/>
              <a:stCxn id="252" idx="2"/>
              <a:endCxn id="262" idx="5"/>
            </p:cNvCxnSpPr>
            <p:nvPr/>
          </p:nvCxnSpPr>
          <p:spPr>
            <a:xfrm flipH="1" flipV="1">
              <a:off x="8004374" y="3229586"/>
              <a:ext cx="2405610" cy="967432"/>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0" name="Rechte verbindingslijn 279">
              <a:extLst>
                <a:ext uri="{FF2B5EF4-FFF2-40B4-BE49-F238E27FC236}">
                  <a16:creationId xmlns:a16="http://schemas.microsoft.com/office/drawing/2014/main" id="{FC44FCD1-A9DA-5A91-9750-CC55CC1DACBF}"/>
                </a:ext>
              </a:extLst>
            </p:cNvPr>
            <p:cNvCxnSpPr>
              <a:cxnSpLocks/>
              <a:stCxn id="252" idx="2"/>
              <a:endCxn id="248" idx="0"/>
            </p:cNvCxnSpPr>
            <p:nvPr/>
          </p:nvCxnSpPr>
          <p:spPr>
            <a:xfrm flipH="1">
              <a:off x="9057134" y="4197018"/>
              <a:ext cx="1352850" cy="1436466"/>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1" name="Rechte verbindingslijn 280">
              <a:extLst>
                <a:ext uri="{FF2B5EF4-FFF2-40B4-BE49-F238E27FC236}">
                  <a16:creationId xmlns:a16="http://schemas.microsoft.com/office/drawing/2014/main" id="{7E611816-93CF-063A-E9E4-28C6EB84914D}"/>
                </a:ext>
              </a:extLst>
            </p:cNvPr>
            <p:cNvCxnSpPr>
              <a:cxnSpLocks/>
              <a:stCxn id="252" idx="2"/>
              <a:endCxn id="249" idx="7"/>
            </p:cNvCxnSpPr>
            <p:nvPr/>
          </p:nvCxnSpPr>
          <p:spPr>
            <a:xfrm flipH="1">
              <a:off x="8014771" y="4197018"/>
              <a:ext cx="2395213" cy="987212"/>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2" name="Rechte verbindingslijn 281">
              <a:extLst>
                <a:ext uri="{FF2B5EF4-FFF2-40B4-BE49-F238E27FC236}">
                  <a16:creationId xmlns:a16="http://schemas.microsoft.com/office/drawing/2014/main" id="{C6B7F276-4203-CD00-4DA2-62DB54CBA9CB}"/>
                </a:ext>
              </a:extLst>
            </p:cNvPr>
            <p:cNvCxnSpPr>
              <a:cxnSpLocks/>
              <a:stCxn id="254" idx="4"/>
              <a:endCxn id="249" idx="7"/>
            </p:cNvCxnSpPr>
            <p:nvPr/>
          </p:nvCxnSpPr>
          <p:spPr>
            <a:xfrm flipH="1">
              <a:off x="8014771" y="2756690"/>
              <a:ext cx="1047523" cy="2427540"/>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3" name="Rechte verbindingslijn 282">
              <a:extLst>
                <a:ext uri="{FF2B5EF4-FFF2-40B4-BE49-F238E27FC236}">
                  <a16:creationId xmlns:a16="http://schemas.microsoft.com/office/drawing/2014/main" id="{54CE1526-BFF1-C0C9-5597-8A10D5CC02DB}"/>
                </a:ext>
              </a:extLst>
            </p:cNvPr>
            <p:cNvCxnSpPr>
              <a:cxnSpLocks/>
              <a:stCxn id="253" idx="2"/>
              <a:endCxn id="249" idx="7"/>
            </p:cNvCxnSpPr>
            <p:nvPr/>
          </p:nvCxnSpPr>
          <p:spPr>
            <a:xfrm flipH="1">
              <a:off x="8014771" y="3234936"/>
              <a:ext cx="2049045" cy="194929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4" name="Rechte verbindingslijn 283">
              <a:extLst>
                <a:ext uri="{FF2B5EF4-FFF2-40B4-BE49-F238E27FC236}">
                  <a16:creationId xmlns:a16="http://schemas.microsoft.com/office/drawing/2014/main" id="{BA1DC0D1-FCB6-7965-5B5E-C7399C79549F}"/>
                </a:ext>
              </a:extLst>
            </p:cNvPr>
            <p:cNvCxnSpPr>
              <a:cxnSpLocks/>
              <a:stCxn id="251" idx="2"/>
              <a:endCxn id="249" idx="7"/>
            </p:cNvCxnSpPr>
            <p:nvPr/>
          </p:nvCxnSpPr>
          <p:spPr>
            <a:xfrm flipH="1" flipV="1">
              <a:off x="8014771" y="5184230"/>
              <a:ext cx="1979342" cy="1261"/>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5" name="Rechte verbindingslijn 284">
              <a:extLst>
                <a:ext uri="{FF2B5EF4-FFF2-40B4-BE49-F238E27FC236}">
                  <a16:creationId xmlns:a16="http://schemas.microsoft.com/office/drawing/2014/main" id="{7201D0B7-3E21-5593-E9A0-CB778D9EF78E}"/>
                </a:ext>
              </a:extLst>
            </p:cNvPr>
            <p:cNvCxnSpPr>
              <a:cxnSpLocks/>
              <a:stCxn id="262" idx="5"/>
              <a:endCxn id="248" idx="0"/>
            </p:cNvCxnSpPr>
            <p:nvPr/>
          </p:nvCxnSpPr>
          <p:spPr>
            <a:xfrm>
              <a:off x="8004374" y="3229586"/>
              <a:ext cx="1052760" cy="2403898"/>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6" name="Rechte verbindingslijn 285">
              <a:extLst>
                <a:ext uri="{FF2B5EF4-FFF2-40B4-BE49-F238E27FC236}">
                  <a16:creationId xmlns:a16="http://schemas.microsoft.com/office/drawing/2014/main" id="{BAAA0C8A-6371-ED45-B8EE-235930EA4D45}"/>
                </a:ext>
              </a:extLst>
            </p:cNvPr>
            <p:cNvCxnSpPr>
              <a:cxnSpLocks/>
              <a:stCxn id="254" idx="4"/>
              <a:endCxn id="248" idx="0"/>
            </p:cNvCxnSpPr>
            <p:nvPr/>
          </p:nvCxnSpPr>
          <p:spPr>
            <a:xfrm flipH="1">
              <a:off x="9057134" y="2756690"/>
              <a:ext cx="5160" cy="2876794"/>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7" name="Rechte verbindingslijn 286">
              <a:extLst>
                <a:ext uri="{FF2B5EF4-FFF2-40B4-BE49-F238E27FC236}">
                  <a16:creationId xmlns:a16="http://schemas.microsoft.com/office/drawing/2014/main" id="{BC9A553D-1D3E-0087-CE5B-638260FC0CC5}"/>
                </a:ext>
              </a:extLst>
            </p:cNvPr>
            <p:cNvCxnSpPr>
              <a:cxnSpLocks/>
              <a:stCxn id="253" idx="2"/>
              <a:endCxn id="248" idx="0"/>
            </p:cNvCxnSpPr>
            <p:nvPr/>
          </p:nvCxnSpPr>
          <p:spPr>
            <a:xfrm flipH="1">
              <a:off x="9057134" y="3234936"/>
              <a:ext cx="1006682" cy="2398548"/>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8" name="Rechte verbindingslijn 287">
              <a:extLst>
                <a:ext uri="{FF2B5EF4-FFF2-40B4-BE49-F238E27FC236}">
                  <a16:creationId xmlns:a16="http://schemas.microsoft.com/office/drawing/2014/main" id="{B094D81E-C911-0BC5-0B5A-006AD93BEDA6}"/>
                </a:ext>
              </a:extLst>
            </p:cNvPr>
            <p:cNvCxnSpPr>
              <a:cxnSpLocks/>
              <a:stCxn id="253" idx="2"/>
              <a:endCxn id="262" idx="5"/>
            </p:cNvCxnSpPr>
            <p:nvPr/>
          </p:nvCxnSpPr>
          <p:spPr>
            <a:xfrm flipH="1" flipV="1">
              <a:off x="8004374" y="3229586"/>
              <a:ext cx="2059442" cy="5350"/>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89" name="Rechte verbindingslijn 288">
              <a:extLst>
                <a:ext uri="{FF2B5EF4-FFF2-40B4-BE49-F238E27FC236}">
                  <a16:creationId xmlns:a16="http://schemas.microsoft.com/office/drawing/2014/main" id="{F9263DDF-ECAB-D9F1-25BF-E6C3B866D231}"/>
                </a:ext>
              </a:extLst>
            </p:cNvPr>
            <p:cNvCxnSpPr>
              <a:cxnSpLocks/>
              <a:stCxn id="253" idx="2"/>
              <a:endCxn id="251" idx="2"/>
            </p:cNvCxnSpPr>
            <p:nvPr/>
          </p:nvCxnSpPr>
          <p:spPr>
            <a:xfrm flipH="1">
              <a:off x="9994113" y="3234936"/>
              <a:ext cx="69703" cy="195055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90" name="Rechte verbindingslijn 289">
              <a:extLst>
                <a:ext uri="{FF2B5EF4-FFF2-40B4-BE49-F238E27FC236}">
                  <a16:creationId xmlns:a16="http://schemas.microsoft.com/office/drawing/2014/main" id="{A8CD8D7D-307A-367B-6968-05566A70C463}"/>
                </a:ext>
              </a:extLst>
            </p:cNvPr>
            <p:cNvCxnSpPr>
              <a:cxnSpLocks/>
              <a:stCxn id="251" idx="2"/>
              <a:endCxn id="262" idx="5"/>
            </p:cNvCxnSpPr>
            <p:nvPr/>
          </p:nvCxnSpPr>
          <p:spPr>
            <a:xfrm flipH="1" flipV="1">
              <a:off x="8004374" y="3229586"/>
              <a:ext cx="1989739" cy="1955905"/>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cxnSp>
          <p:nvCxnSpPr>
            <p:cNvPr id="291" name="Rechte verbindingslijn 290">
              <a:extLst>
                <a:ext uri="{FF2B5EF4-FFF2-40B4-BE49-F238E27FC236}">
                  <a16:creationId xmlns:a16="http://schemas.microsoft.com/office/drawing/2014/main" id="{ED0552B3-6D72-E98F-B04B-5E1912C60B1D}"/>
                </a:ext>
              </a:extLst>
            </p:cNvPr>
            <p:cNvCxnSpPr>
              <a:cxnSpLocks/>
              <a:stCxn id="251" idx="2"/>
              <a:endCxn id="254" idx="4"/>
            </p:cNvCxnSpPr>
            <p:nvPr/>
          </p:nvCxnSpPr>
          <p:spPr>
            <a:xfrm flipH="1" flipV="1">
              <a:off x="9062294" y="2756690"/>
              <a:ext cx="931819" cy="2428801"/>
            </a:xfrm>
            <a:prstGeom prst="line">
              <a:avLst/>
            </a:prstGeom>
            <a:ln w="19050">
              <a:solidFill>
                <a:srgbClr val="A2C877"/>
              </a:solidFill>
            </a:ln>
          </p:spPr>
          <p:style>
            <a:lnRef idx="1">
              <a:schemeClr val="accent1"/>
            </a:lnRef>
            <a:fillRef idx="0">
              <a:schemeClr val="accent1"/>
            </a:fillRef>
            <a:effectRef idx="0">
              <a:schemeClr val="accent1"/>
            </a:effectRef>
            <a:fontRef idx="minor">
              <a:schemeClr val="tx1"/>
            </a:fontRef>
          </p:style>
        </p:cxnSp>
        <p:sp>
          <p:nvSpPr>
            <p:cNvPr id="292" name="Ovaal 291">
              <a:extLst>
                <a:ext uri="{FF2B5EF4-FFF2-40B4-BE49-F238E27FC236}">
                  <a16:creationId xmlns:a16="http://schemas.microsoft.com/office/drawing/2014/main" id="{24C74514-B9FE-5489-FA6A-8B9FCAC64DF8}"/>
                </a:ext>
              </a:extLst>
            </p:cNvPr>
            <p:cNvSpPr/>
            <p:nvPr/>
          </p:nvSpPr>
          <p:spPr>
            <a:xfrm>
              <a:off x="8235023" y="3524469"/>
              <a:ext cx="1655539" cy="1442339"/>
            </a:xfrm>
            <a:prstGeom prst="ellipse">
              <a:avLst/>
            </a:prstGeom>
            <a:solidFill>
              <a:srgbClr val="0E9F92"/>
            </a:solidFill>
            <a:ln>
              <a:solidFill>
                <a:srgbClr val="0E9F9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93" name="Rechthoek 292">
            <a:extLst>
              <a:ext uri="{FF2B5EF4-FFF2-40B4-BE49-F238E27FC236}">
                <a16:creationId xmlns:a16="http://schemas.microsoft.com/office/drawing/2014/main" id="{05CFB382-9E19-204C-547D-07928450BFEC}"/>
              </a:ext>
            </a:extLst>
          </p:cNvPr>
          <p:cNvSpPr/>
          <p:nvPr/>
        </p:nvSpPr>
        <p:spPr>
          <a:xfrm>
            <a:off x="5544367" y="3114917"/>
            <a:ext cx="1080826" cy="616863"/>
          </a:xfrm>
          <a:prstGeom prst="rect">
            <a:avLst/>
          </a:prstGeom>
          <a:solidFill>
            <a:schemeClr val="bg1">
              <a:lumMod val="95000"/>
            </a:schemeClr>
          </a:solid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ani" panose="020B0502040204020203" pitchFamily="18" charset="0"/>
              </a:rPr>
              <a:t>Integraal 360-graden beeld</a:t>
            </a:r>
            <a:endParaRPr kumimoji="0" lang="en-NL"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ani" panose="020B0502040204020203" pitchFamily="18" charset="0"/>
            </a:endParaRPr>
          </a:p>
        </p:txBody>
      </p:sp>
      <p:cxnSp>
        <p:nvCxnSpPr>
          <p:cNvPr id="15" name="Rechte verbindingslijn 14">
            <a:extLst>
              <a:ext uri="{FF2B5EF4-FFF2-40B4-BE49-F238E27FC236}">
                <a16:creationId xmlns:a16="http://schemas.microsoft.com/office/drawing/2014/main" id="{642C437B-A322-13B9-1958-2D3EE627BE24}"/>
              </a:ext>
            </a:extLst>
          </p:cNvPr>
          <p:cNvCxnSpPr>
            <a:cxnSpLocks/>
          </p:cNvCxnSpPr>
          <p:nvPr/>
        </p:nvCxnSpPr>
        <p:spPr>
          <a:xfrm flipV="1">
            <a:off x="6644374" y="2691349"/>
            <a:ext cx="1992970" cy="480778"/>
          </a:xfrm>
          <a:prstGeom prst="line">
            <a:avLst/>
          </a:prstGeom>
          <a:ln w="28575">
            <a:solidFill>
              <a:srgbClr val="7F7F7F"/>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73487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480ADB-4C30-8238-5212-A34D4ED7794E}"/>
            </a:ext>
          </a:extLst>
        </p:cNvPr>
        <p:cNvGrpSpPr/>
        <p:nvPr/>
      </p:nvGrpSpPr>
      <p:grpSpPr>
        <a:xfrm>
          <a:off x="0" y="0"/>
          <a:ext cx="0" cy="0"/>
          <a:chOff x="0" y="0"/>
          <a:chExt cx="0" cy="0"/>
        </a:xfrm>
      </p:grpSpPr>
      <p:sp>
        <p:nvSpPr>
          <p:cNvPr id="5" name="Text Placeholder 2">
            <a:extLst>
              <a:ext uri="{FF2B5EF4-FFF2-40B4-BE49-F238E27FC236}">
                <a16:creationId xmlns:a16="http://schemas.microsoft.com/office/drawing/2014/main" id="{A50CF7B9-31E2-657F-E7F6-E5195333C73B}"/>
              </a:ext>
            </a:extLst>
          </p:cNvPr>
          <p:cNvSpPr txBox="1">
            <a:spLocks/>
          </p:cNvSpPr>
          <p:nvPr/>
        </p:nvSpPr>
        <p:spPr>
          <a:xfrm>
            <a:off x="425302" y="952543"/>
            <a:ext cx="10077598" cy="463815"/>
          </a:xfrm>
          <a:prstGeom prst="rect">
            <a:avLst/>
          </a:prstGeom>
        </p:spPr>
        <p:txBody>
          <a:bodyPr vert="horz" lIns="91440" tIns="45720" rIns="91440" bIns="45720" rtlCol="0" anchor="t">
            <a:no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b="1">
                <a:solidFill>
                  <a:prstClr val="black"/>
                </a:solidFill>
              </a:rPr>
              <a:t>Essentiële eigenschappen van de netwerkzorg viewer voor effectieve en veilig beheer en ondersteuning zorgverlener </a:t>
            </a:r>
            <a:endPar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0" name="Titel 3">
            <a:extLst>
              <a:ext uri="{FF2B5EF4-FFF2-40B4-BE49-F238E27FC236}">
                <a16:creationId xmlns:a16="http://schemas.microsoft.com/office/drawing/2014/main" id="{92E9191F-7665-498F-2F0A-1C69D395368F}"/>
              </a:ext>
            </a:extLst>
          </p:cNvPr>
          <p:cNvSpPr txBox="1">
            <a:spLocks/>
          </p:cNvSpPr>
          <p:nvPr/>
        </p:nvSpPr>
        <p:spPr>
          <a:xfrm>
            <a:off x="425302" y="465998"/>
            <a:ext cx="11216238" cy="504000"/>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2800" b="1" kern="1200">
                <a:solidFill>
                  <a:srgbClr val="8C95CD"/>
                </a:solidFill>
                <a:latin typeface="Verdana Pro"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nl-NL" b="1"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j-cs"/>
              </a:rPr>
              <a:t>Netwerkzorg viewer voor Dossier Inzage – onderdelen</a:t>
            </a:r>
          </a:p>
        </p:txBody>
      </p:sp>
      <p:grpSp>
        <p:nvGrpSpPr>
          <p:cNvPr id="81" name="Group 80">
            <a:extLst>
              <a:ext uri="{FF2B5EF4-FFF2-40B4-BE49-F238E27FC236}">
                <a16:creationId xmlns:a16="http://schemas.microsoft.com/office/drawing/2014/main" id="{CEA85F10-B0BC-B147-E564-DA38D9636ADC}"/>
              </a:ext>
            </a:extLst>
          </p:cNvPr>
          <p:cNvGrpSpPr/>
          <p:nvPr/>
        </p:nvGrpSpPr>
        <p:grpSpPr>
          <a:xfrm>
            <a:off x="425302" y="1758052"/>
            <a:ext cx="11522077" cy="4312504"/>
            <a:chOff x="334962" y="1160464"/>
            <a:chExt cx="11522077" cy="4312504"/>
          </a:xfrm>
        </p:grpSpPr>
        <p:grpSp>
          <p:nvGrpSpPr>
            <p:cNvPr id="26" name="Group 25">
              <a:extLst>
                <a:ext uri="{FF2B5EF4-FFF2-40B4-BE49-F238E27FC236}">
                  <a16:creationId xmlns:a16="http://schemas.microsoft.com/office/drawing/2014/main" id="{2DC13945-0752-4D59-A9EC-F3511C48AE5A}"/>
                </a:ext>
              </a:extLst>
            </p:cNvPr>
            <p:cNvGrpSpPr/>
            <p:nvPr/>
          </p:nvGrpSpPr>
          <p:grpSpPr>
            <a:xfrm>
              <a:off x="334963" y="1160464"/>
              <a:ext cx="11522076" cy="307777"/>
              <a:chOff x="250824" y="1160463"/>
              <a:chExt cx="8642351" cy="307777"/>
            </a:xfrm>
          </p:grpSpPr>
          <p:sp>
            <p:nvSpPr>
              <p:cNvPr id="28" name="TextBox 2">
                <a:extLst>
                  <a:ext uri="{FF2B5EF4-FFF2-40B4-BE49-F238E27FC236}">
                    <a16:creationId xmlns:a16="http://schemas.microsoft.com/office/drawing/2014/main" id="{934FBD00-B66A-4A2F-9558-1823BF97D8D5}"/>
                  </a:ext>
                </a:extLst>
              </p:cNvPr>
              <p:cNvSpPr txBox="1"/>
              <p:nvPr/>
            </p:nvSpPr>
            <p:spPr>
              <a:xfrm>
                <a:off x="250824" y="1160463"/>
                <a:ext cx="8642351" cy="307777"/>
              </a:xfrm>
              <a:prstGeom prst="rect">
                <a:avLst/>
              </a:prstGeom>
              <a:solidFill>
                <a:srgbClr val="DDEBCE"/>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NL" sz="1400" b="1">
                    <a:solidFill>
                      <a:srgbClr val="000000"/>
                    </a:solidFill>
                    <a:latin typeface="FreightSans Pro Book"/>
                  </a:rPr>
                  <a:t>De volgende eigenschappen behoren aanwezig te zijn in de geselecteerde (en doorontwikkelde) netwerkzorg viewer</a:t>
                </a:r>
                <a:endParaRPr sz="1400" b="1">
                  <a:solidFill>
                    <a:srgbClr val="000000"/>
                  </a:solidFill>
                  <a:latin typeface="FreightSans Pro Book"/>
                </a:endParaRPr>
              </a:p>
            </p:txBody>
          </p:sp>
          <p:cxnSp>
            <p:nvCxnSpPr>
              <p:cNvPr id="29" name="Straight Connector 3">
                <a:extLst>
                  <a:ext uri="{FF2B5EF4-FFF2-40B4-BE49-F238E27FC236}">
                    <a16:creationId xmlns:a16="http://schemas.microsoft.com/office/drawing/2014/main" id="{1B303D4E-CE51-4111-84D1-943AD08B4FE7}"/>
                  </a:ext>
                </a:extLst>
              </p:cNvPr>
              <p:cNvCxnSpPr/>
              <p:nvPr/>
            </p:nvCxnSpPr>
            <p:spPr>
              <a:xfrm>
                <a:off x="250824" y="1468240"/>
                <a:ext cx="8642349" cy="0"/>
              </a:xfrm>
              <a:prstGeom prst="line">
                <a:avLst/>
              </a:prstGeom>
              <a:solidFill>
                <a:srgbClr val="000000"/>
              </a:solidFill>
              <a:ln w="12700">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78505859-E80F-D88A-C330-F2C189790D58}"/>
                </a:ext>
              </a:extLst>
            </p:cNvPr>
            <p:cNvGrpSpPr/>
            <p:nvPr/>
          </p:nvGrpSpPr>
          <p:grpSpPr>
            <a:xfrm>
              <a:off x="334962" y="1607128"/>
              <a:ext cx="2149200" cy="3865840"/>
              <a:chOff x="334962" y="1607128"/>
              <a:chExt cx="2149200" cy="3865840"/>
            </a:xfrm>
          </p:grpSpPr>
          <p:sp>
            <p:nvSpPr>
              <p:cNvPr id="23" name="Rectangle 5">
                <a:extLst>
                  <a:ext uri="{FF2B5EF4-FFF2-40B4-BE49-F238E27FC236}">
                    <a16:creationId xmlns:a16="http://schemas.microsoft.com/office/drawing/2014/main" id="{9CDB3522-364D-4B0D-B037-59060CBEBCA4}"/>
                  </a:ext>
                </a:extLst>
              </p:cNvPr>
              <p:cNvSpPr/>
              <p:nvPr/>
            </p:nvSpPr>
            <p:spPr>
              <a:xfrm>
                <a:off x="335161" y="2053509"/>
                <a:ext cx="2149001" cy="34194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bIns="0" rtlCol="0" anchor="t">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Gegevensintegratie</a:t>
                </a:r>
                <a:r>
                  <a:rPr lang="nl-NL" sz="1100" b="0" i="0">
                    <a:solidFill>
                      <a:srgbClr val="242424"/>
                    </a:solidFill>
                    <a:effectLst/>
                    <a:latin typeface="Verdana" panose="020B0604030504040204" pitchFamily="34" charset="0"/>
                    <a:ea typeface="Verdana" panose="020B0604030504040204" pitchFamily="34" charset="0"/>
                  </a:rPr>
                  <a:t>: Samenbrengen van gegevens uit verschillende bronsystemen.</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Data-import en -export</a:t>
                </a:r>
                <a:r>
                  <a:rPr lang="nl-NL" sz="1100" b="0" i="0">
                    <a:solidFill>
                      <a:srgbClr val="242424"/>
                    </a:solidFill>
                    <a:effectLst/>
                    <a:latin typeface="Verdana" panose="020B0604030504040204" pitchFamily="34" charset="0"/>
                    <a:ea typeface="Verdana" panose="020B0604030504040204" pitchFamily="34" charset="0"/>
                  </a:rPr>
                  <a:t>: Mogelijkheid om gegevens te importeren en exporteren in verschillende formaten.</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Versiebeheer</a:t>
                </a:r>
                <a:r>
                  <a:rPr lang="nl-NL" sz="1100" b="0" i="0">
                    <a:solidFill>
                      <a:srgbClr val="242424"/>
                    </a:solidFill>
                    <a:effectLst/>
                    <a:latin typeface="Verdana" panose="020B0604030504040204" pitchFamily="34" charset="0"/>
                    <a:ea typeface="Verdana" panose="020B0604030504040204" pitchFamily="34" charset="0"/>
                  </a:rPr>
                  <a:t>: Bijhouden van wijzigingen in gegevens en versies van documenten.</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Gegevensvalidatie</a:t>
                </a:r>
                <a:r>
                  <a:rPr lang="nl-NL" sz="1100" b="0" i="0">
                    <a:solidFill>
                      <a:srgbClr val="242424"/>
                    </a:solidFill>
                    <a:effectLst/>
                    <a:latin typeface="Verdana" panose="020B0604030504040204" pitchFamily="34" charset="0"/>
                    <a:ea typeface="Verdana" panose="020B0604030504040204" pitchFamily="34" charset="0"/>
                  </a:rPr>
                  <a:t>: Controleren van de nauwkeurigheid en volledigheid van ingevoerde gegevens</a:t>
                </a:r>
              </a:p>
            </p:txBody>
          </p:sp>
          <p:sp>
            <p:nvSpPr>
              <p:cNvPr id="24" name="Rectangle 6">
                <a:extLst>
                  <a:ext uri="{FF2B5EF4-FFF2-40B4-BE49-F238E27FC236}">
                    <a16:creationId xmlns:a16="http://schemas.microsoft.com/office/drawing/2014/main" id="{62145039-97F6-4B9D-8925-41CC9F9663F2}"/>
                  </a:ext>
                </a:extLst>
              </p:cNvPr>
              <p:cNvSpPr/>
              <p:nvPr/>
            </p:nvSpPr>
            <p:spPr>
              <a:xfrm>
                <a:off x="334962" y="1607128"/>
                <a:ext cx="2149001" cy="446381"/>
              </a:xfrm>
              <a:prstGeom prst="rect">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04000"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r>
                  <a:rPr lang="nl-NL" sz="1400" b="1">
                    <a:solidFill>
                      <a:schemeClr val="bg1"/>
                    </a:solidFill>
                    <a:latin typeface="FreightSans Pro Book"/>
                  </a:rPr>
                  <a:t>Gegevensbeheer</a:t>
                </a:r>
                <a:endParaRPr sz="1400" b="1">
                  <a:solidFill>
                    <a:schemeClr val="bg1"/>
                  </a:solidFill>
                </a:endParaRPr>
              </a:p>
            </p:txBody>
          </p:sp>
          <p:sp>
            <p:nvSpPr>
              <p:cNvPr id="25" name="Rectangle 39">
                <a:extLst>
                  <a:ext uri="{FF2B5EF4-FFF2-40B4-BE49-F238E27FC236}">
                    <a16:creationId xmlns:a16="http://schemas.microsoft.com/office/drawing/2014/main" id="{AF13DF6A-5211-0DC9-325F-1AE0AD723062}"/>
                  </a:ext>
                </a:extLst>
              </p:cNvPr>
              <p:cNvSpPr/>
              <p:nvPr/>
            </p:nvSpPr>
            <p:spPr>
              <a:xfrm>
                <a:off x="435983" y="1686318"/>
                <a:ext cx="288000" cy="288000"/>
              </a:xfrm>
              <a:prstGeom prst="rect">
                <a:avLst/>
              </a:prstGeom>
              <a:solidFill>
                <a:srgbClr val="DDEBC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sz="1400" b="1">
                    <a:solidFill>
                      <a:srgbClr val="000000"/>
                    </a:solidFill>
                    <a:latin typeface="FreightSans Pro Book"/>
                  </a:rPr>
                  <a:t>1</a:t>
                </a:r>
              </a:p>
            </p:txBody>
          </p:sp>
        </p:grpSp>
        <p:grpSp>
          <p:nvGrpSpPr>
            <p:cNvPr id="79" name="Group 78">
              <a:extLst>
                <a:ext uri="{FF2B5EF4-FFF2-40B4-BE49-F238E27FC236}">
                  <a16:creationId xmlns:a16="http://schemas.microsoft.com/office/drawing/2014/main" id="{79028D2E-CD45-5ACC-D5E8-F508325B16E9}"/>
                </a:ext>
              </a:extLst>
            </p:cNvPr>
            <p:cNvGrpSpPr/>
            <p:nvPr/>
          </p:nvGrpSpPr>
          <p:grpSpPr>
            <a:xfrm>
              <a:off x="2678181" y="1607128"/>
              <a:ext cx="2149200" cy="3078962"/>
              <a:chOff x="2678181" y="1607128"/>
              <a:chExt cx="2149200" cy="3078962"/>
            </a:xfrm>
          </p:grpSpPr>
          <p:sp>
            <p:nvSpPr>
              <p:cNvPr id="10" name="Rectangle 9">
                <a:extLst>
                  <a:ext uri="{FF2B5EF4-FFF2-40B4-BE49-F238E27FC236}">
                    <a16:creationId xmlns:a16="http://schemas.microsoft.com/office/drawing/2014/main" id="{B76831BE-1CE5-4C2A-86D0-00B54D9954CD}"/>
                  </a:ext>
                </a:extLst>
              </p:cNvPr>
              <p:cNvSpPr/>
              <p:nvPr/>
            </p:nvSpPr>
            <p:spPr>
              <a:xfrm>
                <a:off x="2678181" y="2053510"/>
                <a:ext cx="2149199" cy="2632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bIns="0" rtlCol="0" anchor="t">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Dashboard</a:t>
                </a:r>
                <a:r>
                  <a:rPr lang="nl-NL" sz="1100" b="0" i="0">
                    <a:solidFill>
                      <a:srgbClr val="242424"/>
                    </a:solidFill>
                    <a:effectLst/>
                    <a:latin typeface="Verdana" panose="020B0604030504040204" pitchFamily="34" charset="0"/>
                    <a:ea typeface="Verdana" panose="020B0604030504040204" pitchFamily="34" charset="0"/>
                  </a:rPr>
                  <a:t>: Overzichtelijke weergave van belangrijke informatie en statistieken.</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Persoonlijke profielen</a:t>
                </a:r>
                <a:r>
                  <a:rPr lang="nl-NL" sz="1100" b="0" i="0">
                    <a:solidFill>
                      <a:srgbClr val="242424"/>
                    </a:solidFill>
                    <a:effectLst/>
                    <a:latin typeface="Verdana" panose="020B0604030504040204" pitchFamily="34" charset="0"/>
                    <a:ea typeface="Verdana" panose="020B0604030504040204" pitchFamily="34" charset="0"/>
                  </a:rPr>
                  <a:t>: Gedetailleerde weergave van de basisgegevens van de inwoner.</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Medische samenvattingen</a:t>
                </a:r>
                <a:r>
                  <a:rPr lang="nl-NL" sz="1100" b="0" i="0">
                    <a:solidFill>
                      <a:srgbClr val="242424"/>
                    </a:solidFill>
                    <a:effectLst/>
                    <a:latin typeface="Verdana" panose="020B0604030504040204" pitchFamily="34" charset="0"/>
                    <a:ea typeface="Verdana" panose="020B0604030504040204" pitchFamily="34" charset="0"/>
                  </a:rPr>
                  <a:t>: Toegang tot medische geschiedenis, diagnoses en behandelingen.</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Visualisaties</a:t>
                </a:r>
                <a:r>
                  <a:rPr lang="nl-NL" sz="1100" b="0" i="0">
                    <a:solidFill>
                      <a:srgbClr val="242424"/>
                    </a:solidFill>
                    <a:effectLst/>
                    <a:latin typeface="Verdana" panose="020B0604030504040204" pitchFamily="34" charset="0"/>
                    <a:ea typeface="Verdana" panose="020B0604030504040204" pitchFamily="34" charset="0"/>
                  </a:rPr>
                  <a:t>: Grafische weergaven van gegevens, zoals trends en patronen.</a:t>
                </a:r>
              </a:p>
            </p:txBody>
          </p:sp>
          <p:sp>
            <p:nvSpPr>
              <p:cNvPr id="11" name="Rectangle 10">
                <a:extLst>
                  <a:ext uri="{FF2B5EF4-FFF2-40B4-BE49-F238E27FC236}">
                    <a16:creationId xmlns:a16="http://schemas.microsoft.com/office/drawing/2014/main" id="{61533E9D-3A30-4D4B-A7DD-3E232ECD1C84}"/>
                  </a:ext>
                </a:extLst>
              </p:cNvPr>
              <p:cNvSpPr/>
              <p:nvPr/>
            </p:nvSpPr>
            <p:spPr>
              <a:xfrm>
                <a:off x="2678182" y="1607128"/>
                <a:ext cx="2149199" cy="446381"/>
              </a:xfrm>
              <a:prstGeom prst="rect">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04000"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r>
                  <a:rPr lang="nl-NL" sz="1400" b="1">
                    <a:solidFill>
                      <a:schemeClr val="bg1"/>
                    </a:solidFill>
                    <a:latin typeface="FreightSans Pro Book"/>
                  </a:rPr>
                  <a:t>Informatieweergave</a:t>
                </a:r>
              </a:p>
            </p:txBody>
          </p:sp>
          <p:sp>
            <p:nvSpPr>
              <p:cNvPr id="21" name="Rectangle 46">
                <a:extLst>
                  <a:ext uri="{FF2B5EF4-FFF2-40B4-BE49-F238E27FC236}">
                    <a16:creationId xmlns:a16="http://schemas.microsoft.com/office/drawing/2014/main" id="{CC19D52E-484C-74CF-BB9B-5392BB0684E3}"/>
                  </a:ext>
                </a:extLst>
              </p:cNvPr>
              <p:cNvSpPr/>
              <p:nvPr/>
            </p:nvSpPr>
            <p:spPr>
              <a:xfrm>
                <a:off x="2779003" y="1686318"/>
                <a:ext cx="288000" cy="288000"/>
              </a:xfrm>
              <a:prstGeom prst="rect">
                <a:avLst/>
              </a:prstGeom>
              <a:solidFill>
                <a:srgbClr val="DDEBC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sz="1400" b="1">
                    <a:solidFill>
                      <a:srgbClr val="000000"/>
                    </a:solidFill>
                    <a:latin typeface="FreightSans Pro Book"/>
                  </a:rPr>
                  <a:t>2</a:t>
                </a:r>
              </a:p>
            </p:txBody>
          </p:sp>
        </p:grpSp>
        <p:grpSp>
          <p:nvGrpSpPr>
            <p:cNvPr id="78" name="Group 77">
              <a:extLst>
                <a:ext uri="{FF2B5EF4-FFF2-40B4-BE49-F238E27FC236}">
                  <a16:creationId xmlns:a16="http://schemas.microsoft.com/office/drawing/2014/main" id="{8AA5347C-72B1-5474-CE3B-C18982E4F902}"/>
                </a:ext>
              </a:extLst>
            </p:cNvPr>
            <p:cNvGrpSpPr/>
            <p:nvPr/>
          </p:nvGrpSpPr>
          <p:grpSpPr>
            <a:xfrm>
              <a:off x="5021400" y="1607128"/>
              <a:ext cx="2149200" cy="3078962"/>
              <a:chOff x="5021400" y="1607128"/>
              <a:chExt cx="2149200" cy="3078962"/>
            </a:xfrm>
          </p:grpSpPr>
          <p:sp>
            <p:nvSpPr>
              <p:cNvPr id="13" name="Rectangle 12">
                <a:extLst>
                  <a:ext uri="{FF2B5EF4-FFF2-40B4-BE49-F238E27FC236}">
                    <a16:creationId xmlns:a16="http://schemas.microsoft.com/office/drawing/2014/main" id="{6FBED26B-737B-4978-8D40-D3756C7FF20A}"/>
                  </a:ext>
                </a:extLst>
              </p:cNvPr>
              <p:cNvSpPr/>
              <p:nvPr/>
            </p:nvSpPr>
            <p:spPr>
              <a:xfrm>
                <a:off x="5021400" y="2053510"/>
                <a:ext cx="2149200" cy="2632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bIns="0" rtlCol="0" anchor="t">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Berichtensysteem</a:t>
                </a:r>
                <a:r>
                  <a:rPr lang="nl-NL" sz="1100" b="0" i="0">
                    <a:solidFill>
                      <a:srgbClr val="242424"/>
                    </a:solidFill>
                    <a:effectLst/>
                    <a:latin typeface="Verdana" panose="020B0604030504040204" pitchFamily="34" charset="0"/>
                    <a:ea typeface="Verdana" panose="020B0604030504040204" pitchFamily="34" charset="0"/>
                  </a:rPr>
                  <a:t>: Veilig berichtenverkeer tussen zorgprofessionals.</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Notificaties</a:t>
                </a:r>
                <a:r>
                  <a:rPr lang="nl-NL" sz="1100" b="0" i="0">
                    <a:solidFill>
                      <a:srgbClr val="242424"/>
                    </a:solidFill>
                    <a:effectLst/>
                    <a:latin typeface="Verdana" panose="020B0604030504040204" pitchFamily="34" charset="0"/>
                    <a:ea typeface="Verdana" panose="020B0604030504040204" pitchFamily="34" charset="0"/>
                  </a:rPr>
                  <a:t>: Alerts voor belangrijke updates of wijzigingen in de status van een inwoner.</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Toegang tot behandelplannen</a:t>
                </a:r>
                <a:r>
                  <a:rPr lang="nl-NL" sz="1100" b="0" i="0">
                    <a:solidFill>
                      <a:srgbClr val="242424"/>
                    </a:solidFill>
                    <a:effectLst/>
                    <a:latin typeface="Verdana" panose="020B0604030504040204" pitchFamily="34" charset="0"/>
                    <a:ea typeface="Verdana" panose="020B0604030504040204" pitchFamily="34" charset="0"/>
                  </a:rPr>
                  <a:t>: Delen van behandelplannen en voortgang met andere zorgverleners.</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Feedbackmechanismen</a:t>
                </a:r>
                <a:r>
                  <a:rPr lang="nl-NL" sz="1100" b="0" i="0">
                    <a:solidFill>
                      <a:srgbClr val="242424"/>
                    </a:solidFill>
                    <a:effectLst/>
                    <a:latin typeface="Verdana" panose="020B0604030504040204" pitchFamily="34" charset="0"/>
                    <a:ea typeface="Verdana" panose="020B0604030504040204" pitchFamily="34" charset="0"/>
                  </a:rPr>
                  <a:t>: Mogelijkheid voor zorgprofessionals om feedback te geven op gegevens of processen.</a:t>
                </a:r>
              </a:p>
            </p:txBody>
          </p:sp>
          <p:sp>
            <p:nvSpPr>
              <p:cNvPr id="14" name="Rectangle 13">
                <a:extLst>
                  <a:ext uri="{FF2B5EF4-FFF2-40B4-BE49-F238E27FC236}">
                    <a16:creationId xmlns:a16="http://schemas.microsoft.com/office/drawing/2014/main" id="{14F8DB49-4E42-4CC4-8E19-2A2A99968E6E}"/>
                  </a:ext>
                </a:extLst>
              </p:cNvPr>
              <p:cNvSpPr/>
              <p:nvPr/>
            </p:nvSpPr>
            <p:spPr>
              <a:xfrm>
                <a:off x="5021400" y="1607128"/>
                <a:ext cx="2149200" cy="446381"/>
              </a:xfrm>
              <a:prstGeom prst="rect">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04000"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r>
                  <a:rPr lang="nl-NL" sz="1400" b="1">
                    <a:solidFill>
                      <a:schemeClr val="bg1"/>
                    </a:solidFill>
                    <a:latin typeface="FreightSans Pro Book"/>
                  </a:rPr>
                  <a:t>Communicatie</a:t>
                </a:r>
              </a:p>
            </p:txBody>
          </p:sp>
          <p:sp>
            <p:nvSpPr>
              <p:cNvPr id="56" name="Rectangle 55">
                <a:extLst>
                  <a:ext uri="{FF2B5EF4-FFF2-40B4-BE49-F238E27FC236}">
                    <a16:creationId xmlns:a16="http://schemas.microsoft.com/office/drawing/2014/main" id="{57F3204D-14CA-2116-C8A3-CBA7626E7E4B}"/>
                  </a:ext>
                </a:extLst>
              </p:cNvPr>
              <p:cNvSpPr/>
              <p:nvPr/>
            </p:nvSpPr>
            <p:spPr>
              <a:xfrm>
                <a:off x="5122619" y="1686318"/>
                <a:ext cx="288000" cy="288000"/>
              </a:xfrm>
              <a:prstGeom prst="rect">
                <a:avLst/>
              </a:prstGeom>
              <a:solidFill>
                <a:srgbClr val="DDEBC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sz="1400" b="1">
                    <a:solidFill>
                      <a:srgbClr val="000000"/>
                    </a:solidFill>
                    <a:latin typeface="FreightSans Pro Book"/>
                  </a:rPr>
                  <a:t>3</a:t>
                </a:r>
              </a:p>
            </p:txBody>
          </p:sp>
        </p:grpSp>
        <p:grpSp>
          <p:nvGrpSpPr>
            <p:cNvPr id="77" name="Group 76">
              <a:extLst>
                <a:ext uri="{FF2B5EF4-FFF2-40B4-BE49-F238E27FC236}">
                  <a16:creationId xmlns:a16="http://schemas.microsoft.com/office/drawing/2014/main" id="{66C0179B-8057-D3BB-9B33-038010024880}"/>
                </a:ext>
              </a:extLst>
            </p:cNvPr>
            <p:cNvGrpSpPr/>
            <p:nvPr/>
          </p:nvGrpSpPr>
          <p:grpSpPr>
            <a:xfrm>
              <a:off x="7364619" y="1607128"/>
              <a:ext cx="2149200" cy="3078962"/>
              <a:chOff x="7364619" y="1607128"/>
              <a:chExt cx="2149200" cy="3078962"/>
            </a:xfrm>
          </p:grpSpPr>
          <p:sp>
            <p:nvSpPr>
              <p:cNvPr id="12" name="Rectangle 11">
                <a:extLst>
                  <a:ext uri="{FF2B5EF4-FFF2-40B4-BE49-F238E27FC236}">
                    <a16:creationId xmlns:a16="http://schemas.microsoft.com/office/drawing/2014/main" id="{65BB6173-7BFD-729C-C912-90140A075E27}"/>
                  </a:ext>
                </a:extLst>
              </p:cNvPr>
              <p:cNvSpPr/>
              <p:nvPr/>
            </p:nvSpPr>
            <p:spPr>
              <a:xfrm>
                <a:off x="7364619" y="2053510"/>
                <a:ext cx="2149200" cy="2632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bIns="0" rtlCol="0" anchor="t">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Data-analyse tools</a:t>
                </a:r>
                <a:r>
                  <a:rPr lang="nl-NL" sz="1100" b="0" i="0">
                    <a:solidFill>
                      <a:srgbClr val="242424"/>
                    </a:solidFill>
                    <a:effectLst/>
                    <a:latin typeface="Verdana" panose="020B0604030504040204" pitchFamily="34" charset="0"/>
                    <a:ea typeface="Verdana" panose="020B0604030504040204" pitchFamily="34" charset="0"/>
                  </a:rPr>
                  <a:t>: Ingebouwde tools voor het analyseren van gegevens en het genereren van inzichten.</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Rapportagefunctionaliteit</a:t>
                </a:r>
                <a:r>
                  <a:rPr lang="nl-NL" sz="1100" b="0" i="0">
                    <a:solidFill>
                      <a:srgbClr val="242424"/>
                    </a:solidFill>
                    <a:effectLst/>
                    <a:latin typeface="Verdana" panose="020B0604030504040204" pitchFamily="34" charset="0"/>
                    <a:ea typeface="Verdana" panose="020B0604030504040204" pitchFamily="34" charset="0"/>
                  </a:rPr>
                  <a:t>: Automatische rapporten genereren over zorgprocessen en uitkomsten.</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Benchmarking</a:t>
                </a:r>
                <a:r>
                  <a:rPr lang="nl-NL" sz="1100" b="0" i="0">
                    <a:solidFill>
                      <a:srgbClr val="242424"/>
                    </a:solidFill>
                    <a:effectLst/>
                    <a:latin typeface="Verdana" panose="020B0604030504040204" pitchFamily="34" charset="0"/>
                    <a:ea typeface="Verdana" panose="020B0604030504040204" pitchFamily="34" charset="0"/>
                  </a:rPr>
                  <a:t>: Vergelijken van prestaties met andere zorginstellingen of regio's.</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Trendanalyse</a:t>
                </a:r>
                <a:r>
                  <a:rPr lang="nl-NL" sz="1100" b="0" i="0">
                    <a:solidFill>
                      <a:srgbClr val="242424"/>
                    </a:solidFill>
                    <a:effectLst/>
                    <a:latin typeface="Verdana" panose="020B0604030504040204" pitchFamily="34" charset="0"/>
                    <a:ea typeface="Verdana" panose="020B0604030504040204" pitchFamily="34" charset="0"/>
                  </a:rPr>
                  <a:t>: Identificeren van trends in gezondheidsdata over tijd.</a:t>
                </a:r>
              </a:p>
            </p:txBody>
          </p:sp>
          <p:sp>
            <p:nvSpPr>
              <p:cNvPr id="3" name="Rectangle 14">
                <a:extLst>
                  <a:ext uri="{FF2B5EF4-FFF2-40B4-BE49-F238E27FC236}">
                    <a16:creationId xmlns:a16="http://schemas.microsoft.com/office/drawing/2014/main" id="{48807E51-57BE-D177-0279-D02B0DEED57E}"/>
                  </a:ext>
                </a:extLst>
              </p:cNvPr>
              <p:cNvSpPr/>
              <p:nvPr/>
            </p:nvSpPr>
            <p:spPr>
              <a:xfrm>
                <a:off x="7364619" y="1607128"/>
                <a:ext cx="2149200" cy="446381"/>
              </a:xfrm>
              <a:prstGeom prst="rect">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04000"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r>
                  <a:rPr lang="nl-NL" sz="1400" b="1">
                    <a:solidFill>
                      <a:schemeClr val="bg1"/>
                    </a:solidFill>
                    <a:latin typeface="FreightSans Pro Book"/>
                  </a:rPr>
                  <a:t>Analyse en Rapportage</a:t>
                </a:r>
                <a:endParaRPr sz="1400" b="1">
                  <a:solidFill>
                    <a:schemeClr val="bg1"/>
                  </a:solidFill>
                </a:endParaRPr>
              </a:p>
            </p:txBody>
          </p:sp>
          <p:sp>
            <p:nvSpPr>
              <p:cNvPr id="58" name="Rectangle 57">
                <a:extLst>
                  <a:ext uri="{FF2B5EF4-FFF2-40B4-BE49-F238E27FC236}">
                    <a16:creationId xmlns:a16="http://schemas.microsoft.com/office/drawing/2014/main" id="{BF5C99C4-8881-CE02-5D7F-5F186DD06696}"/>
                  </a:ext>
                </a:extLst>
              </p:cNvPr>
              <p:cNvSpPr/>
              <p:nvPr/>
            </p:nvSpPr>
            <p:spPr>
              <a:xfrm>
                <a:off x="7465243" y="1686318"/>
                <a:ext cx="288000" cy="288000"/>
              </a:xfrm>
              <a:prstGeom prst="rect">
                <a:avLst/>
              </a:prstGeom>
              <a:solidFill>
                <a:srgbClr val="DDEBC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sz="1400" b="1">
                    <a:solidFill>
                      <a:srgbClr val="000000"/>
                    </a:solidFill>
                    <a:latin typeface="FreightSans Pro Book"/>
                  </a:rPr>
                  <a:t>4</a:t>
                </a:r>
              </a:p>
            </p:txBody>
          </p:sp>
        </p:grpSp>
        <p:grpSp>
          <p:nvGrpSpPr>
            <p:cNvPr id="76" name="Group 75">
              <a:extLst>
                <a:ext uri="{FF2B5EF4-FFF2-40B4-BE49-F238E27FC236}">
                  <a16:creationId xmlns:a16="http://schemas.microsoft.com/office/drawing/2014/main" id="{62A3F127-30B0-0268-898A-94DBB96EC885}"/>
                </a:ext>
              </a:extLst>
            </p:cNvPr>
            <p:cNvGrpSpPr/>
            <p:nvPr/>
          </p:nvGrpSpPr>
          <p:grpSpPr>
            <a:xfrm>
              <a:off x="9707839" y="1607128"/>
              <a:ext cx="2149200" cy="3078962"/>
              <a:chOff x="9707839" y="1607128"/>
              <a:chExt cx="2149200" cy="3078962"/>
            </a:xfrm>
          </p:grpSpPr>
          <p:sp>
            <p:nvSpPr>
              <p:cNvPr id="8" name="Rectangle 7">
                <a:extLst>
                  <a:ext uri="{FF2B5EF4-FFF2-40B4-BE49-F238E27FC236}">
                    <a16:creationId xmlns:a16="http://schemas.microsoft.com/office/drawing/2014/main" id="{332CB28A-ED51-AB72-EE03-805F9D627393}"/>
                  </a:ext>
                </a:extLst>
              </p:cNvPr>
              <p:cNvSpPr/>
              <p:nvPr/>
            </p:nvSpPr>
            <p:spPr>
              <a:xfrm>
                <a:off x="9707839" y="2053510"/>
                <a:ext cx="2149200" cy="2632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bIns="0" rtlCol="0" anchor="t">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Authenticatie</a:t>
                </a:r>
                <a:r>
                  <a:rPr lang="nl-NL" sz="1100" b="0" i="0">
                    <a:solidFill>
                      <a:srgbClr val="242424"/>
                    </a:solidFill>
                    <a:effectLst/>
                    <a:latin typeface="Verdana" panose="020B0604030504040204" pitchFamily="34" charset="0"/>
                    <a:ea typeface="Verdana" panose="020B0604030504040204" pitchFamily="34" charset="0"/>
                  </a:rPr>
                  <a:t>: Veilige inlogprocedures voor gebruikers.</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Toegangscontrole</a:t>
                </a:r>
                <a:r>
                  <a:rPr lang="nl-NL" sz="1100" b="0" i="0">
                    <a:solidFill>
                      <a:srgbClr val="242424"/>
                    </a:solidFill>
                    <a:effectLst/>
                    <a:latin typeface="Verdana" panose="020B0604030504040204" pitchFamily="34" charset="0"/>
                    <a:ea typeface="Verdana" panose="020B0604030504040204" pitchFamily="34" charset="0"/>
                  </a:rPr>
                  <a:t>: Beheer van wie toegang heeft tot welke gegevens.</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Encryptie</a:t>
                </a:r>
                <a:r>
                  <a:rPr lang="nl-NL" sz="1100" b="0" i="0">
                    <a:solidFill>
                      <a:srgbClr val="242424"/>
                    </a:solidFill>
                    <a:effectLst/>
                    <a:latin typeface="Verdana" panose="020B0604030504040204" pitchFamily="34" charset="0"/>
                    <a:ea typeface="Verdana" panose="020B0604030504040204" pitchFamily="34" charset="0"/>
                  </a:rPr>
                  <a:t>: Beveiliging van gegevens tijdens overdracht en opslag.</a:t>
                </a:r>
              </a:p>
              <a:p>
                <a:pPr algn="l">
                  <a:spcBef>
                    <a:spcPts val="750"/>
                  </a:spcBef>
                  <a:spcAft>
                    <a:spcPts val="750"/>
                  </a:spcAft>
                  <a:buFont typeface="Arial" panose="020B0604020202020204" pitchFamily="34" charset="0"/>
                  <a:buChar char="•"/>
                </a:pPr>
                <a:r>
                  <a:rPr lang="nl-NL" sz="1100" b="1" i="0">
                    <a:solidFill>
                      <a:srgbClr val="242424"/>
                    </a:solidFill>
                    <a:effectLst/>
                    <a:latin typeface="Verdana" panose="020B0604030504040204" pitchFamily="34" charset="0"/>
                    <a:ea typeface="Verdana" panose="020B0604030504040204" pitchFamily="34" charset="0"/>
                  </a:rPr>
                  <a:t>Auditlogs</a:t>
                </a:r>
                <a:r>
                  <a:rPr lang="nl-NL" sz="1100" b="0" i="0">
                    <a:solidFill>
                      <a:srgbClr val="242424"/>
                    </a:solidFill>
                    <a:effectLst/>
                    <a:latin typeface="Verdana" panose="020B0604030504040204" pitchFamily="34" charset="0"/>
                    <a:ea typeface="Verdana" panose="020B0604030504040204" pitchFamily="34" charset="0"/>
                  </a:rPr>
                  <a:t>: Bijhouden van wie toegang heeft gehad tot welke gegevens en wanneer</a:t>
                </a:r>
              </a:p>
            </p:txBody>
          </p:sp>
          <p:sp>
            <p:nvSpPr>
              <p:cNvPr id="9" name="Rectangle 8">
                <a:extLst>
                  <a:ext uri="{FF2B5EF4-FFF2-40B4-BE49-F238E27FC236}">
                    <a16:creationId xmlns:a16="http://schemas.microsoft.com/office/drawing/2014/main" id="{D55C81FB-5E5E-09A0-BFE3-ACA7E18BCD40}"/>
                  </a:ext>
                </a:extLst>
              </p:cNvPr>
              <p:cNvSpPr/>
              <p:nvPr/>
            </p:nvSpPr>
            <p:spPr>
              <a:xfrm>
                <a:off x="9707839" y="1607128"/>
                <a:ext cx="2149200" cy="446381"/>
              </a:xfrm>
              <a:prstGeom prst="rect">
                <a:avLst/>
              </a:prstGeom>
              <a:solidFill>
                <a:srgbClr val="A2C8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04000"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r>
                  <a:rPr lang="nl-NL" sz="1400" b="1">
                    <a:solidFill>
                      <a:schemeClr val="bg1"/>
                    </a:solidFill>
                    <a:latin typeface="FreightSans Pro Book"/>
                  </a:rPr>
                  <a:t>Beveiliging en Toegangsbeheer</a:t>
                </a:r>
                <a:endParaRPr lang="nl-NL" sz="1400" b="1">
                  <a:solidFill>
                    <a:schemeClr val="bg1"/>
                  </a:solidFill>
                </a:endParaRPr>
              </a:p>
            </p:txBody>
          </p:sp>
          <p:sp>
            <p:nvSpPr>
              <p:cNvPr id="60" name="Rectangle 59">
                <a:extLst>
                  <a:ext uri="{FF2B5EF4-FFF2-40B4-BE49-F238E27FC236}">
                    <a16:creationId xmlns:a16="http://schemas.microsoft.com/office/drawing/2014/main" id="{B098D5C1-101D-1C62-2A7A-65408EE3B75A}"/>
                  </a:ext>
                </a:extLst>
              </p:cNvPr>
              <p:cNvSpPr/>
              <p:nvPr/>
            </p:nvSpPr>
            <p:spPr>
              <a:xfrm>
                <a:off x="9807866" y="1686318"/>
                <a:ext cx="288000" cy="288000"/>
              </a:xfrm>
              <a:prstGeom prst="rect">
                <a:avLst/>
              </a:prstGeom>
              <a:solidFill>
                <a:srgbClr val="DDEBC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sz="1400" b="1">
                    <a:solidFill>
                      <a:srgbClr val="000000"/>
                    </a:solidFill>
                    <a:latin typeface="FreightSans Pro Book"/>
                  </a:rPr>
                  <a:t>5</a:t>
                </a:r>
              </a:p>
            </p:txBody>
          </p:sp>
        </p:grpSp>
      </p:grpSp>
      <p:cxnSp>
        <p:nvCxnSpPr>
          <p:cNvPr id="30" name="Straight Connector 3">
            <a:extLst>
              <a:ext uri="{FF2B5EF4-FFF2-40B4-BE49-F238E27FC236}">
                <a16:creationId xmlns:a16="http://schemas.microsoft.com/office/drawing/2014/main" id="{0E1394F8-95C0-5960-F4D9-80D01BCBCF94}"/>
              </a:ext>
            </a:extLst>
          </p:cNvPr>
          <p:cNvCxnSpPr/>
          <p:nvPr/>
        </p:nvCxnSpPr>
        <p:spPr>
          <a:xfrm>
            <a:off x="334963" y="6246532"/>
            <a:ext cx="11522073" cy="0"/>
          </a:xfrm>
          <a:prstGeom prst="line">
            <a:avLst/>
          </a:prstGeom>
          <a:solidFill>
            <a:srgbClr val="000000"/>
          </a:solidFill>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2" name="Rectangle: Top Corners Rounded 38">
            <a:hlinkClick r:id="rId3" action="ppaction://hlinksldjump"/>
            <a:extLst>
              <a:ext uri="{FF2B5EF4-FFF2-40B4-BE49-F238E27FC236}">
                <a16:creationId xmlns:a16="http://schemas.microsoft.com/office/drawing/2014/main" id="{69BBABA6-02B8-A1BA-4935-AA2283A2F2B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4" name="Graphic 3" descr="Introductiepagina silhouet">
            <a:hlinkClick r:id="rId4" action="ppaction://hlinksldjump"/>
            <a:extLst>
              <a:ext uri="{FF2B5EF4-FFF2-40B4-BE49-F238E27FC236}">
                <a16:creationId xmlns:a16="http://schemas.microsoft.com/office/drawing/2014/main" id="{6256A072-2485-142E-AF85-E78349DBB1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6" name="Rectangle: Top Corners Rounded 1">
            <a:hlinkClick r:id="rId7" action="ppaction://hlinksldjump"/>
            <a:extLst>
              <a:ext uri="{FF2B5EF4-FFF2-40B4-BE49-F238E27FC236}">
                <a16:creationId xmlns:a16="http://schemas.microsoft.com/office/drawing/2014/main" id="{0AF091E2-5F37-99A8-54A4-EB8F491E3BFF}"/>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8" action="ppaction://hlinksldjump"/>
            <a:extLst>
              <a:ext uri="{FF2B5EF4-FFF2-40B4-BE49-F238E27FC236}">
                <a16:creationId xmlns:a16="http://schemas.microsoft.com/office/drawing/2014/main" id="{6BA2EAE4-58F8-58DE-0E12-A45E7C6EE3E6}"/>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5" name="Rectangle: Top Corners Rounded 1">
            <a:hlinkClick r:id="rId9" action="ppaction://hlinksldjump"/>
            <a:extLst>
              <a:ext uri="{FF2B5EF4-FFF2-40B4-BE49-F238E27FC236}">
                <a16:creationId xmlns:a16="http://schemas.microsoft.com/office/drawing/2014/main" id="{FC44A9CF-25AB-4272-3BC3-0FBE3C9CFCE0}"/>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6" name="Rectangle: Top Corners Rounded 1">
            <a:hlinkClick r:id="rId10" action="ppaction://hlinksldjump"/>
            <a:extLst>
              <a:ext uri="{FF2B5EF4-FFF2-40B4-BE49-F238E27FC236}">
                <a16:creationId xmlns:a16="http://schemas.microsoft.com/office/drawing/2014/main" id="{E4F33727-4088-5F70-015B-76638ED570DD}"/>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7" name="Rectangle: Top Corners Rounded 1">
            <a:hlinkClick r:id="rId11" action="ppaction://hlinksldjump"/>
            <a:extLst>
              <a:ext uri="{FF2B5EF4-FFF2-40B4-BE49-F238E27FC236}">
                <a16:creationId xmlns:a16="http://schemas.microsoft.com/office/drawing/2014/main" id="{8EE9B61D-FF69-4646-9EB2-3888EEACA15B}"/>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18" name="Rectangle: Top Corners Rounded 1">
            <a:hlinkClick r:id="rId12" action="ppaction://hlinksldjump"/>
            <a:extLst>
              <a:ext uri="{FF2B5EF4-FFF2-40B4-BE49-F238E27FC236}">
                <a16:creationId xmlns:a16="http://schemas.microsoft.com/office/drawing/2014/main" id="{933F75D1-4062-1C99-3985-8DC65A3D1F80}"/>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9" name="Rectangle: Top Corners Rounded 1">
            <a:hlinkClick r:id="rId13" action="ppaction://hlinksldjump"/>
            <a:extLst>
              <a:ext uri="{FF2B5EF4-FFF2-40B4-BE49-F238E27FC236}">
                <a16:creationId xmlns:a16="http://schemas.microsoft.com/office/drawing/2014/main" id="{A0DFCA3D-8906-4C51-AFEF-F23ED41D6D98}"/>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0" name="Rectangle: Top Corners Rounded 1">
            <a:hlinkClick r:id="rId14" action="ppaction://hlinksldjump"/>
            <a:extLst>
              <a:ext uri="{FF2B5EF4-FFF2-40B4-BE49-F238E27FC236}">
                <a16:creationId xmlns:a16="http://schemas.microsoft.com/office/drawing/2014/main" id="{82E745FE-BE06-E296-C74C-DC983F89D8E4}"/>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2" name="Rectangle: Top Corners Rounded 1">
            <a:hlinkClick r:id="rId15" action="ppaction://hlinksldjump"/>
            <a:extLst>
              <a:ext uri="{FF2B5EF4-FFF2-40B4-BE49-F238E27FC236}">
                <a16:creationId xmlns:a16="http://schemas.microsoft.com/office/drawing/2014/main" id="{BEBBD45A-A632-4506-51BA-D38FE864EFF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7" name="Rectangle: Top Corners Rounded 1">
            <a:hlinkClick r:id="rId16" action="ppaction://hlinksldjump"/>
            <a:extLst>
              <a:ext uri="{FF2B5EF4-FFF2-40B4-BE49-F238E27FC236}">
                <a16:creationId xmlns:a16="http://schemas.microsoft.com/office/drawing/2014/main" id="{440D35CC-8865-E3D1-C2A9-6F2C88772593}"/>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1" name="Rectangle: Top Corners Rounded 1">
            <a:hlinkClick r:id="rId17" action="ppaction://hlinksldjump"/>
            <a:extLst>
              <a:ext uri="{FF2B5EF4-FFF2-40B4-BE49-F238E27FC236}">
                <a16:creationId xmlns:a16="http://schemas.microsoft.com/office/drawing/2014/main" id="{2B8C4593-2F5F-5A8F-FEAF-A5E48DA65CA3}"/>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2" name="Rechthoek: afgeronde hoeken 31">
            <a:extLst>
              <a:ext uri="{FF2B5EF4-FFF2-40B4-BE49-F238E27FC236}">
                <a16:creationId xmlns:a16="http://schemas.microsoft.com/office/drawing/2014/main" id="{2B5D9E04-BA48-614D-5822-388DB712B983}"/>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8548950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A0CF7-04F4-E537-93F4-D281B34FAAF0}"/>
            </a:ext>
          </a:extLst>
        </p:cNvPr>
        <p:cNvGrpSpPr/>
        <p:nvPr/>
      </p:nvGrpSpPr>
      <p:grpSpPr>
        <a:xfrm>
          <a:off x="0" y="0"/>
          <a:ext cx="0" cy="0"/>
          <a:chOff x="0" y="0"/>
          <a:chExt cx="0" cy="0"/>
        </a:xfrm>
      </p:grpSpPr>
      <p:sp>
        <p:nvSpPr>
          <p:cNvPr id="46" name="Rectangle: Rounded Corners 7">
            <a:extLst>
              <a:ext uri="{FF2B5EF4-FFF2-40B4-BE49-F238E27FC236}">
                <a16:creationId xmlns:a16="http://schemas.microsoft.com/office/drawing/2014/main" id="{E476EE95-5ABC-5CAE-C04F-612B7AA53887}"/>
              </a:ext>
            </a:extLst>
          </p:cNvPr>
          <p:cNvSpPr/>
          <p:nvPr/>
        </p:nvSpPr>
        <p:spPr>
          <a:xfrm>
            <a:off x="6073582" y="1528218"/>
            <a:ext cx="5655667" cy="5070581"/>
          </a:xfrm>
          <a:prstGeom prst="roundRect">
            <a:avLst>
              <a:gd name="adj" fmla="val 5821"/>
            </a:avLst>
          </a:prstGeom>
          <a:solidFill>
            <a:schemeClr val="bg1"/>
          </a:solidFill>
          <a:ln w="12700">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nl-NL" sz="1400" b="1">
                <a:solidFill>
                  <a:prstClr val="black"/>
                </a:solidFill>
                <a:latin typeface="Aptos Display"/>
              </a:rPr>
              <a:t>Zorgtoepassing specifieke k</a:t>
            </a:r>
            <a:r>
              <a:rPr kumimoji="0" lang="nl-NL" sz="1400" b="1" i="0" u="none" strike="noStrike" kern="1200" cap="none" spc="0" normalizeH="0" baseline="0" noProof="0" err="1">
                <a:ln>
                  <a:noFill/>
                </a:ln>
                <a:solidFill>
                  <a:prstClr val="black"/>
                </a:solidFill>
                <a:effectLst/>
                <a:uLnTx/>
                <a:uFillTx/>
                <a:latin typeface="Aptos Display"/>
                <a:ea typeface="+mn-ea"/>
                <a:cs typeface="+mn-cs"/>
              </a:rPr>
              <a:t>walitatieve</a:t>
            </a:r>
            <a:r>
              <a:rPr kumimoji="0" lang="nl-NL" sz="1400" b="1" i="0" u="none" strike="noStrike" kern="1200" cap="none" spc="0" normalizeH="0" baseline="0" noProof="0">
                <a:ln>
                  <a:noFill/>
                </a:ln>
                <a:solidFill>
                  <a:prstClr val="black"/>
                </a:solidFill>
                <a:effectLst/>
                <a:uLnTx/>
                <a:uFillTx/>
                <a:latin typeface="Aptos Display"/>
                <a:ea typeface="+mn-ea"/>
                <a:cs typeface="+mn-cs"/>
              </a:rPr>
              <a:t> impact</a:t>
            </a:r>
            <a:endParaRPr kumimoji="0" lang="nl-NL" sz="1400" b="1" i="0" u="none" strike="noStrike" kern="1200" cap="none" spc="0" normalizeH="0" baseline="30000" noProof="0">
              <a:ln>
                <a:noFill/>
              </a:ln>
              <a:solidFill>
                <a:prstClr val="black"/>
              </a:solidFill>
              <a:effectLst/>
              <a:uLnTx/>
              <a:uFillTx/>
              <a:latin typeface="Aptos Display"/>
              <a:ea typeface="+mn-ea"/>
              <a:cs typeface="+mn-cs"/>
            </a:endParaRPr>
          </a:p>
        </p:txBody>
      </p:sp>
      <p:sp>
        <p:nvSpPr>
          <p:cNvPr id="45" name="Rechthoek: afgeronde hoeken 44">
            <a:extLst>
              <a:ext uri="{FF2B5EF4-FFF2-40B4-BE49-F238E27FC236}">
                <a16:creationId xmlns:a16="http://schemas.microsoft.com/office/drawing/2014/main" id="{755A1880-C7D6-ADD8-7F62-F2BE7FA9D8E7}"/>
              </a:ext>
            </a:extLst>
          </p:cNvPr>
          <p:cNvSpPr/>
          <p:nvPr/>
        </p:nvSpPr>
        <p:spPr>
          <a:xfrm>
            <a:off x="6658540" y="5444784"/>
            <a:ext cx="5050025" cy="1205494"/>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Meer regie en autonomie bij de inwoner over haar/zijn zorgproces.</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Betere communicatie tussen de inwoner en de zorgprofessional over haar/zijn wensen.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Minder stress en onzekerheid bij inwoners en hun naasten door het vastleggen van toekomstige </a:t>
            </a:r>
            <a:r>
              <a:rPr lang="nl-NL" sz="1100" err="1">
                <a:solidFill>
                  <a:schemeClr val="tx1"/>
                </a:solidFill>
                <a:latin typeface="Verdana" panose="020B0604030504040204" pitchFamily="34" charset="0"/>
                <a:ea typeface="Verdana" panose="020B0604030504040204" pitchFamily="34" charset="0"/>
              </a:rPr>
              <a:t>medisce</a:t>
            </a:r>
            <a:r>
              <a:rPr lang="nl-NL" sz="1100">
                <a:solidFill>
                  <a:schemeClr val="tx1"/>
                </a:solidFill>
                <a:latin typeface="Verdana" panose="020B0604030504040204" pitchFamily="34" charset="0"/>
                <a:ea typeface="Verdana" panose="020B0604030504040204" pitchFamily="34" charset="0"/>
              </a:rPr>
              <a:t> interventies. </a:t>
            </a:r>
          </a:p>
        </p:txBody>
      </p:sp>
      <p:sp>
        <p:nvSpPr>
          <p:cNvPr id="5" name="Text Placeholder 2">
            <a:extLst>
              <a:ext uri="{FF2B5EF4-FFF2-40B4-BE49-F238E27FC236}">
                <a16:creationId xmlns:a16="http://schemas.microsoft.com/office/drawing/2014/main" id="{D7B55ED6-883B-ABBB-A468-695C9547C1CA}"/>
              </a:ext>
            </a:extLst>
          </p:cNvPr>
          <p:cNvSpPr txBox="1">
            <a:spLocks/>
          </p:cNvSpPr>
          <p:nvPr/>
        </p:nvSpPr>
        <p:spPr>
          <a:xfrm>
            <a:off x="425302" y="952544"/>
            <a:ext cx="11216238" cy="461380"/>
          </a:xfrm>
          <a:prstGeom prst="rect">
            <a:avLst/>
          </a:prstGeom>
        </p:spPr>
        <p:txBody>
          <a:bodyPr vert="horz" lIns="91440" tIns="45720" rIns="91440" bIns="45720" rtlCol="0" anchor="t">
            <a:norm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Het realiseren van multidisciplinaire dossierinzage heeft algemeen en per zorgtoepassing specifieke impact </a:t>
            </a:r>
          </a:p>
        </p:txBody>
      </p:sp>
      <p:sp>
        <p:nvSpPr>
          <p:cNvPr id="100" name="Titel 3">
            <a:extLst>
              <a:ext uri="{FF2B5EF4-FFF2-40B4-BE49-F238E27FC236}">
                <a16:creationId xmlns:a16="http://schemas.microsoft.com/office/drawing/2014/main" id="{176824C0-40F3-122B-C1F3-2243D8424BA6}"/>
              </a:ext>
            </a:extLst>
          </p:cNvPr>
          <p:cNvSpPr txBox="1">
            <a:spLocks/>
          </p:cNvSpPr>
          <p:nvPr/>
        </p:nvSpPr>
        <p:spPr>
          <a:xfrm>
            <a:off x="425302" y="465998"/>
            <a:ext cx="10485714" cy="504000"/>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2800" b="1" kern="1200">
                <a:solidFill>
                  <a:srgbClr val="8C95CD"/>
                </a:solidFill>
                <a:latin typeface="Verdana Pro" panose="020B0604030504040204" pitchFamily="34" charset="0"/>
                <a:ea typeface="Verdana" panose="020B0604030504040204" pitchFamily="34" charset="0"/>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nl-NL" b="1"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j-cs"/>
              </a:rPr>
              <a:t>Netwerkzorg viewer voor Dossier Inzage – Impact  </a:t>
            </a:r>
          </a:p>
        </p:txBody>
      </p:sp>
      <p:sp>
        <p:nvSpPr>
          <p:cNvPr id="123" name="Rectangle: Rounded Corners 7">
            <a:extLst>
              <a:ext uri="{FF2B5EF4-FFF2-40B4-BE49-F238E27FC236}">
                <a16:creationId xmlns:a16="http://schemas.microsoft.com/office/drawing/2014/main" id="{2AD7A6B9-6446-A39F-2831-25D9C9D16F76}"/>
              </a:ext>
            </a:extLst>
          </p:cNvPr>
          <p:cNvSpPr/>
          <p:nvPr/>
        </p:nvSpPr>
        <p:spPr>
          <a:xfrm>
            <a:off x="725215" y="1491636"/>
            <a:ext cx="5228171" cy="5070581"/>
          </a:xfrm>
          <a:prstGeom prst="roundRect">
            <a:avLst>
              <a:gd name="adj" fmla="val 5821"/>
            </a:avLst>
          </a:prstGeom>
          <a:solidFill>
            <a:schemeClr val="bg1"/>
          </a:solidFill>
          <a:ln w="12700">
            <a:solidFill>
              <a:schemeClr val="tx1">
                <a:lumMod val="50000"/>
                <a:lumOff val="50000"/>
              </a:schemeClr>
            </a:solid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400" b="1" i="0" u="none" strike="noStrike" kern="1200" cap="none" spc="0" normalizeH="0" baseline="0" noProof="0">
                <a:ln>
                  <a:noFill/>
                </a:ln>
                <a:solidFill>
                  <a:prstClr val="black"/>
                </a:solidFill>
                <a:effectLst/>
                <a:uLnTx/>
                <a:uFillTx/>
                <a:latin typeface="Aptos Display"/>
                <a:ea typeface="+mn-ea"/>
                <a:cs typeface="+mn-cs"/>
              </a:rPr>
              <a:t>Algemene Kwalitatieve impact</a:t>
            </a:r>
            <a:r>
              <a:rPr kumimoji="0" lang="nl-NL" sz="1400" b="1" i="0" u="none" strike="noStrike" kern="1200" cap="none" spc="0" normalizeH="0" baseline="30000" noProof="0">
                <a:ln>
                  <a:noFill/>
                </a:ln>
                <a:solidFill>
                  <a:prstClr val="black"/>
                </a:solidFill>
                <a:effectLst/>
                <a:uLnTx/>
                <a:uFillTx/>
                <a:latin typeface="Aptos Display"/>
                <a:ea typeface="+mn-ea"/>
                <a:cs typeface="+mn-cs"/>
              </a:rPr>
              <a:t>1</a:t>
            </a:r>
          </a:p>
        </p:txBody>
      </p:sp>
      <p:sp>
        <p:nvSpPr>
          <p:cNvPr id="124" name="Partial Circle 12">
            <a:extLst>
              <a:ext uri="{FF2B5EF4-FFF2-40B4-BE49-F238E27FC236}">
                <a16:creationId xmlns:a16="http://schemas.microsoft.com/office/drawing/2014/main" id="{777C9C24-017E-49BC-E2D8-E40582882AF8}"/>
              </a:ext>
            </a:extLst>
          </p:cNvPr>
          <p:cNvSpPr/>
          <p:nvPr/>
        </p:nvSpPr>
        <p:spPr>
          <a:xfrm>
            <a:off x="517403" y="2000265"/>
            <a:ext cx="914400" cy="914400"/>
          </a:xfrm>
          <a:prstGeom prst="pie">
            <a:avLst>
              <a:gd name="adj1" fmla="val 10767649"/>
              <a:gd name="adj2" fmla="val 16200000"/>
            </a:avLst>
          </a:prstGeom>
          <a:solidFill>
            <a:srgbClr val="DDEBCE"/>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25" name="Partial Circle 8">
            <a:extLst>
              <a:ext uri="{FF2B5EF4-FFF2-40B4-BE49-F238E27FC236}">
                <a16:creationId xmlns:a16="http://schemas.microsoft.com/office/drawing/2014/main" id="{8C131327-8CA3-E7C5-5930-E71B68155D7C}"/>
              </a:ext>
            </a:extLst>
          </p:cNvPr>
          <p:cNvSpPr/>
          <p:nvPr/>
        </p:nvSpPr>
        <p:spPr>
          <a:xfrm rot="5400000">
            <a:off x="77556" y="2738258"/>
            <a:ext cx="914400" cy="914400"/>
          </a:xfrm>
          <a:prstGeom prst="pie">
            <a:avLst>
              <a:gd name="adj1" fmla="val 10767649"/>
              <a:gd name="adj2" fmla="val 16200000"/>
            </a:avLst>
          </a:prstGeom>
          <a:solidFill>
            <a:srgbClr val="21BBEF"/>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26" name="Partial Circle 9">
            <a:extLst>
              <a:ext uri="{FF2B5EF4-FFF2-40B4-BE49-F238E27FC236}">
                <a16:creationId xmlns:a16="http://schemas.microsoft.com/office/drawing/2014/main" id="{34618E80-A10E-EA99-EFE4-CA06A78A1F3B}"/>
              </a:ext>
            </a:extLst>
          </p:cNvPr>
          <p:cNvSpPr/>
          <p:nvPr/>
        </p:nvSpPr>
        <p:spPr>
          <a:xfrm rot="10800000">
            <a:off x="-20361" y="3652658"/>
            <a:ext cx="914400" cy="914400"/>
          </a:xfrm>
          <a:prstGeom prst="pie">
            <a:avLst>
              <a:gd name="adj1" fmla="val 10767649"/>
              <a:gd name="adj2" fmla="val 16200000"/>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28" name="Partial Circle 10">
            <a:extLst>
              <a:ext uri="{FF2B5EF4-FFF2-40B4-BE49-F238E27FC236}">
                <a16:creationId xmlns:a16="http://schemas.microsoft.com/office/drawing/2014/main" id="{D2189680-8124-2E01-1849-CECEDD041B35}"/>
              </a:ext>
            </a:extLst>
          </p:cNvPr>
          <p:cNvSpPr/>
          <p:nvPr/>
        </p:nvSpPr>
        <p:spPr>
          <a:xfrm rot="16200000">
            <a:off x="462750" y="4866426"/>
            <a:ext cx="914400" cy="914400"/>
          </a:xfrm>
          <a:prstGeom prst="pie">
            <a:avLst>
              <a:gd name="adj1" fmla="val 10767649"/>
              <a:gd name="adj2" fmla="val 16200000"/>
            </a:avLst>
          </a:prstGeom>
          <a:solidFill>
            <a:srgbClr val="0E9D90"/>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lvl="0" indent="0" algn="just" defTabSz="914400" rtl="0" eaLnBrk="1" fontAlgn="auto" latinLnBrk="0" hangingPunct="1">
              <a:lnSpc>
                <a:spcPct val="100000"/>
              </a:lnSpc>
              <a:spcBef>
                <a:spcPts val="0"/>
              </a:spcBef>
              <a:spcAft>
                <a:spcPts val="600"/>
              </a:spcAft>
              <a:buClrTx/>
              <a:buSzTx/>
              <a:buFontTx/>
              <a:buNone/>
              <a:tabLst/>
              <a:defRPr/>
            </a:pPr>
            <a:endParaRPr kumimoji="0" lang="nl-NL" sz="1400" b="1" i="0" u="none" strike="noStrike" kern="1200" cap="none" spc="0" normalizeH="0" baseline="0" noProof="0">
              <a:ln>
                <a:noFill/>
              </a:ln>
              <a:solidFill>
                <a:prstClr val="black"/>
              </a:solidFill>
              <a:effectLst/>
              <a:uLnTx/>
              <a:uFillTx/>
              <a:latin typeface="Aptos Display"/>
              <a:ea typeface="+mn-ea"/>
              <a:cs typeface="+mn-cs"/>
            </a:endParaRPr>
          </a:p>
        </p:txBody>
      </p:sp>
      <p:sp>
        <p:nvSpPr>
          <p:cNvPr id="129" name="Tekstvak 128">
            <a:extLst>
              <a:ext uri="{FF2B5EF4-FFF2-40B4-BE49-F238E27FC236}">
                <a16:creationId xmlns:a16="http://schemas.microsoft.com/office/drawing/2014/main" id="{EA41ADF4-12F9-3964-D69E-ABF5B3C4C48C}"/>
              </a:ext>
            </a:extLst>
          </p:cNvPr>
          <p:cNvSpPr txBox="1"/>
          <p:nvPr/>
        </p:nvSpPr>
        <p:spPr>
          <a:xfrm>
            <a:off x="650364" y="2139475"/>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1</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31" name="Tekstvak 130">
            <a:extLst>
              <a:ext uri="{FF2B5EF4-FFF2-40B4-BE49-F238E27FC236}">
                <a16:creationId xmlns:a16="http://schemas.microsoft.com/office/drawing/2014/main" id="{A83F47E6-8222-2BFC-B0C4-3BB0AB287B49}"/>
              </a:ext>
            </a:extLst>
          </p:cNvPr>
          <p:cNvSpPr txBox="1"/>
          <p:nvPr/>
        </p:nvSpPr>
        <p:spPr>
          <a:xfrm>
            <a:off x="595644" y="2865508"/>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2</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32" name="Tekstvak 131">
            <a:extLst>
              <a:ext uri="{FF2B5EF4-FFF2-40B4-BE49-F238E27FC236}">
                <a16:creationId xmlns:a16="http://schemas.microsoft.com/office/drawing/2014/main" id="{71826EA2-6578-9D51-B263-625DF29B49FF}"/>
              </a:ext>
            </a:extLst>
          </p:cNvPr>
          <p:cNvSpPr txBox="1"/>
          <p:nvPr/>
        </p:nvSpPr>
        <p:spPr>
          <a:xfrm>
            <a:off x="470759" y="4194709"/>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black"/>
                </a:solidFill>
                <a:effectLst/>
                <a:uLnTx/>
                <a:uFillTx/>
                <a:latin typeface="Aptos"/>
                <a:ea typeface="+mn-ea"/>
                <a:cs typeface="+mn-cs"/>
              </a:rPr>
              <a:t>3</a:t>
            </a:r>
            <a:endParaRPr kumimoji="0" lang="nl-NL" sz="1800" b="1" i="0" u="none" strike="noStrike" kern="1200" cap="none" spc="0" normalizeH="0" baseline="0" noProof="0">
              <a:ln>
                <a:noFill/>
              </a:ln>
              <a:solidFill>
                <a:prstClr val="black"/>
              </a:solidFill>
              <a:effectLst/>
              <a:uLnTx/>
              <a:uFillTx/>
              <a:latin typeface="Aptos"/>
              <a:ea typeface="+mn-ea"/>
              <a:cs typeface="+mn-cs"/>
            </a:endParaRPr>
          </a:p>
        </p:txBody>
      </p:sp>
      <p:sp>
        <p:nvSpPr>
          <p:cNvPr id="134" name="Tekstvak 133">
            <a:extLst>
              <a:ext uri="{FF2B5EF4-FFF2-40B4-BE49-F238E27FC236}">
                <a16:creationId xmlns:a16="http://schemas.microsoft.com/office/drawing/2014/main" id="{88030798-D300-BEAD-3B0C-99B64504F578}"/>
              </a:ext>
            </a:extLst>
          </p:cNvPr>
          <p:cNvSpPr txBox="1"/>
          <p:nvPr/>
        </p:nvSpPr>
        <p:spPr>
          <a:xfrm>
            <a:off x="595644" y="5359424"/>
            <a:ext cx="2381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Aptos"/>
                <a:ea typeface="+mn-ea"/>
                <a:cs typeface="+mn-cs"/>
              </a:rPr>
              <a:t>4</a:t>
            </a:r>
          </a:p>
        </p:txBody>
      </p:sp>
      <p:sp>
        <p:nvSpPr>
          <p:cNvPr id="135" name="Tekstvak 134">
            <a:extLst>
              <a:ext uri="{FF2B5EF4-FFF2-40B4-BE49-F238E27FC236}">
                <a16:creationId xmlns:a16="http://schemas.microsoft.com/office/drawing/2014/main" id="{F9A0D3E4-7D61-DAAA-DC89-B12EC3FBC199}"/>
              </a:ext>
            </a:extLst>
          </p:cNvPr>
          <p:cNvSpPr txBox="1"/>
          <p:nvPr/>
        </p:nvSpPr>
        <p:spPr>
          <a:xfrm>
            <a:off x="1012895" y="1950241"/>
            <a:ext cx="4907091" cy="553998"/>
          </a:xfrm>
          <a:prstGeom prst="rect">
            <a:avLst/>
          </a:prstGeom>
          <a:noFill/>
        </p:spPr>
        <p:txBody>
          <a:bodyPr wrap="square" rtlCol="0">
            <a:spAutoFit/>
          </a:bodyPr>
          <a:lstStyle/>
          <a:p>
            <a:pPr marL="171450" indent="-171450">
              <a:buFont typeface="Arial" panose="020B0604020202020204" pitchFamily="34" charset="0"/>
              <a:buChar char="•"/>
            </a:pPr>
            <a:r>
              <a:rPr lang="nl-NL" sz="1000" b="0">
                <a:solidFill>
                  <a:schemeClr val="tx1"/>
                </a:solidFill>
                <a:latin typeface="Verdana" panose="020B0604030504040204" pitchFamily="34" charset="0"/>
                <a:ea typeface="Verdana" panose="020B0604030504040204" pitchFamily="34" charset="0"/>
                <a:cs typeface="Verdana" panose="020B0604030504040204" pitchFamily="34" charset="0"/>
              </a:rPr>
              <a:t>Verbetering van kwaliteit van zorg door het hebben van de juiste, volledig en actuele informatie van de inwoner. </a:t>
            </a:r>
          </a:p>
          <a:p>
            <a:pPr marL="171450" indent="-171450">
              <a:buFont typeface="Arial" panose="020B0604020202020204" pitchFamily="34" charset="0"/>
              <a:buChar char="•"/>
            </a:pPr>
            <a:r>
              <a:rPr lang="nl-NL" sz="1000">
                <a:latin typeface="Verdana" panose="020B0604030504040204" pitchFamily="34" charset="0"/>
                <a:ea typeface="Verdana" panose="020B0604030504040204" pitchFamily="34" charset="0"/>
                <a:cs typeface="Verdana" panose="020B0604030504040204" pitchFamily="34" charset="0"/>
              </a:rPr>
              <a:t>Sneller passende zorg leveren. </a:t>
            </a:r>
            <a:endParaRPr lang="nl-NL" sz="1000" b="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37" name="Tekstvak 136">
            <a:extLst>
              <a:ext uri="{FF2B5EF4-FFF2-40B4-BE49-F238E27FC236}">
                <a16:creationId xmlns:a16="http://schemas.microsoft.com/office/drawing/2014/main" id="{B93FCD9A-AD81-1BB0-D75A-55125275A45F}"/>
              </a:ext>
            </a:extLst>
          </p:cNvPr>
          <p:cNvSpPr txBox="1"/>
          <p:nvPr/>
        </p:nvSpPr>
        <p:spPr>
          <a:xfrm>
            <a:off x="1012895" y="2554189"/>
            <a:ext cx="4907091" cy="861774"/>
          </a:xfrm>
          <a:prstGeom prst="rect">
            <a:avLst/>
          </a:prstGeom>
          <a:noFill/>
        </p:spPr>
        <p:txBody>
          <a:bodyPr wrap="square" rtlCol="0">
            <a:spAutoFit/>
          </a:bodyPr>
          <a:lstStyle/>
          <a:p>
            <a:pPr marL="171450" lvl="2" indent="-171450">
              <a:buFont typeface="Arial" panose="020B0604020202020204" pitchFamily="34" charset="0"/>
              <a:buChar char="•"/>
            </a:pP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Minder herhaling van vragen van zorgverleners gedurende het zorgtraject</a:t>
            </a:r>
          </a:p>
          <a:p>
            <a:pPr marL="171450" lvl="2" indent="-171450">
              <a:buFont typeface="Arial" panose="020B0604020202020204" pitchFamily="34" charset="0"/>
              <a:buChar char="•"/>
            </a:pP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Meer vertrouwen in zorg omdat reeds eerder verstrekte informatie bekend is bij zorgprofessional</a:t>
            </a:r>
          </a:p>
          <a:p>
            <a:pPr marL="171450" lvl="2" indent="-171450">
              <a:buFont typeface="Arial" panose="020B0604020202020204" pitchFamily="34" charset="0"/>
              <a:buChar char="•"/>
            </a:pP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Soepelere overgang tussen zorgverleners voor inwoners</a:t>
            </a:r>
          </a:p>
        </p:txBody>
      </p:sp>
      <p:sp>
        <p:nvSpPr>
          <p:cNvPr id="138" name="Tekstvak 137">
            <a:extLst>
              <a:ext uri="{FF2B5EF4-FFF2-40B4-BE49-F238E27FC236}">
                <a16:creationId xmlns:a16="http://schemas.microsoft.com/office/drawing/2014/main" id="{632A7A40-934B-0AAD-EED5-7101EC18C698}"/>
              </a:ext>
            </a:extLst>
          </p:cNvPr>
          <p:cNvSpPr txBox="1"/>
          <p:nvPr/>
        </p:nvSpPr>
        <p:spPr>
          <a:xfrm>
            <a:off x="1012895" y="3526258"/>
            <a:ext cx="4907091" cy="1477328"/>
          </a:xfrm>
          <a:prstGeom prst="rect">
            <a:avLst/>
          </a:prstGeom>
          <a:noFill/>
        </p:spPr>
        <p:txBody>
          <a:bodyPr wrap="square" rtlCol="0">
            <a:spAutoFit/>
          </a:bodyPr>
          <a:lstStyle/>
          <a:p>
            <a:pPr marL="171450" lvl="2" indent="-171450">
              <a:buFont typeface="Arial" panose="020B0604020202020204" pitchFamily="34" charset="0"/>
              <a:buChar char="•"/>
            </a:pP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Meer tijd voor zorgtaken door minder administratie en opzoeken en meer eenheid van taal.</a:t>
            </a:r>
          </a:p>
          <a:p>
            <a:pPr marL="171450" lvl="2" indent="-171450">
              <a:buFont typeface="Arial" panose="020B0604020202020204" pitchFamily="34" charset="0"/>
              <a:buChar char="•"/>
            </a:pP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Beter inzicht in totaal plaatje inwoner, ook wat door andere zorgverleners is voorgeschreven, gedaan of is gewijzigd. Dit faciliteert betere samenwerking in de zorgketen tussen zorgverleners.</a:t>
            </a:r>
          </a:p>
          <a:p>
            <a:pPr marL="171450" lvl="2" indent="-171450">
              <a:buFont typeface="Arial" panose="020B0604020202020204" pitchFamily="34" charset="0"/>
              <a:buChar char="•"/>
            </a:pP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Minder </a:t>
            </a:r>
            <a:r>
              <a:rPr lang="nl-NL" sz="1000" err="1">
                <a:solidFill>
                  <a:schemeClr val="tx1"/>
                </a:solidFill>
                <a:latin typeface="Verdana" panose="020B0604030504040204" pitchFamily="34" charset="0"/>
                <a:ea typeface="Verdana" panose="020B0604030504040204" pitchFamily="34" charset="0"/>
                <a:cs typeface="Verdana" panose="020B0604030504040204" pitchFamily="34" charset="0"/>
              </a:rPr>
              <a:t>werkgerelateerde</a:t>
            </a: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 stress en meer plezier voor zorgprofessionals, aangezien er minder (telefonisch) contact nodig is om inzicht te krijgen in een inwoner. Zorgprofessionals hebben ook meer vertrouwen in de informatie die zij hebben/krijgen.</a:t>
            </a:r>
          </a:p>
        </p:txBody>
      </p:sp>
      <p:sp>
        <p:nvSpPr>
          <p:cNvPr id="140" name="Tekstvak 139">
            <a:extLst>
              <a:ext uri="{FF2B5EF4-FFF2-40B4-BE49-F238E27FC236}">
                <a16:creationId xmlns:a16="http://schemas.microsoft.com/office/drawing/2014/main" id="{DD8EFD66-3124-BA16-4B25-EEE8C86E4F5D}"/>
              </a:ext>
            </a:extLst>
          </p:cNvPr>
          <p:cNvSpPr txBox="1"/>
          <p:nvPr/>
        </p:nvSpPr>
        <p:spPr>
          <a:xfrm>
            <a:off x="1012895" y="5095399"/>
            <a:ext cx="4907091" cy="1477328"/>
          </a:xfrm>
          <a:prstGeom prst="rect">
            <a:avLst/>
          </a:prstGeom>
          <a:noFill/>
        </p:spPr>
        <p:txBody>
          <a:bodyPr wrap="square" lIns="91440" tIns="45720" rIns="91440" bIns="45720" rtlCol="0" anchor="t">
            <a:spAutoFit/>
          </a:bodyPr>
          <a:lstStyle/>
          <a:p>
            <a:pPr marL="171450" lvl="2" indent="-171450">
              <a:buFont typeface="Arial" panose="020B0604020202020204" pitchFamily="34" charset="0"/>
              <a:buChar char="•"/>
            </a:pPr>
            <a:r>
              <a:rPr lang="nl-NL" sz="1000" b="0">
                <a:solidFill>
                  <a:schemeClr val="tx1"/>
                </a:solidFill>
                <a:latin typeface="Verdana" panose="020B0604030504040204" pitchFamily="34" charset="0"/>
                <a:ea typeface="Verdana" panose="020B0604030504040204" pitchFamily="34" charset="0"/>
                <a:cs typeface="Verdana" panose="020B0604030504040204" pitchFamily="34" charset="0"/>
              </a:rPr>
              <a:t>Betere kwaliteit </a:t>
            </a:r>
            <a:r>
              <a:rPr lang="nl-NL" sz="1000">
                <a:latin typeface="Verdana" panose="020B0604030504040204" pitchFamily="34" charset="0"/>
                <a:ea typeface="Verdana" panose="020B0604030504040204" pitchFamily="34" charset="0"/>
                <a:cs typeface="Verdana" panose="020B0604030504040204" pitchFamily="34" charset="0"/>
              </a:rPr>
              <a:t>en continuïteit </a:t>
            </a:r>
            <a:r>
              <a:rPr lang="nl-NL" sz="1000" b="0">
                <a:solidFill>
                  <a:schemeClr val="tx1"/>
                </a:solidFill>
                <a:latin typeface="Verdana" panose="020B0604030504040204" pitchFamily="34" charset="0"/>
                <a:ea typeface="Verdana" panose="020B0604030504040204" pitchFamily="34" charset="0"/>
                <a:cs typeface="Verdana" panose="020B0604030504040204" pitchFamily="34" charset="0"/>
              </a:rPr>
              <a:t>van zorg, met als gevolg dat een inwoner sneller de juiste zorg krijgt en minder onnodige zorg geleverd </a:t>
            </a:r>
            <a:r>
              <a:rPr lang="nl-NL" sz="1000">
                <a:latin typeface="Verdana" panose="020B0604030504040204" pitchFamily="34" charset="0"/>
                <a:ea typeface="Verdana" panose="020B0604030504040204" pitchFamily="34" charset="0"/>
                <a:cs typeface="Verdana" panose="020B0604030504040204" pitchFamily="34" charset="0"/>
              </a:rPr>
              <a:t>krijgt of bedden bezet houdt. </a:t>
            </a:r>
          </a:p>
          <a:p>
            <a:pPr marL="171450" lvl="2" indent="-171450">
              <a:buFont typeface="Arial" panose="020B0604020202020204" pitchFamily="34" charset="0"/>
              <a:buChar char="•"/>
            </a:pPr>
            <a:r>
              <a:rPr lang="nl-NL" sz="1000" b="0">
                <a:solidFill>
                  <a:schemeClr val="tx1"/>
                </a:solidFill>
                <a:latin typeface="Verdana" panose="020B0604030504040204" pitchFamily="34" charset="0"/>
                <a:ea typeface="Verdana" panose="020B0604030504040204" pitchFamily="34" charset="0"/>
                <a:cs typeface="Verdana" panose="020B0604030504040204" pitchFamily="34" charset="0"/>
              </a:rPr>
              <a:t>Zorgprofessionals </a:t>
            </a: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zijn per saldo minder tijd kwijt aan handelingen rond medicatie (voorschrijven, verstrekken, toedienen) omdat zij minder tijd kwijt zijn aan het verifiëren </a:t>
            </a:r>
          </a:p>
          <a:p>
            <a:pPr marL="171450" lvl="2" indent="-171450">
              <a:buFont typeface="Arial" panose="020B0604020202020204" pitchFamily="34" charset="0"/>
              <a:buChar char="•"/>
            </a:pPr>
            <a:r>
              <a:rPr lang="nl-NL" sz="1000" b="0">
                <a:solidFill>
                  <a:schemeClr val="tx1"/>
                </a:solidFill>
                <a:latin typeface="Verdana" panose="020B0604030504040204" pitchFamily="34" charset="0"/>
                <a:ea typeface="Verdana" panose="020B0604030504040204" pitchFamily="34" charset="0"/>
                <a:cs typeface="Verdana" panose="020B0604030504040204" pitchFamily="34" charset="0"/>
              </a:rPr>
              <a:t>Minder zorghandelingen</a:t>
            </a:r>
            <a:r>
              <a:rPr lang="nl-NL" sz="1000">
                <a:solidFill>
                  <a:schemeClr val="tx1"/>
                </a:solidFill>
                <a:latin typeface="Verdana" panose="020B0604030504040204" pitchFamily="34" charset="0"/>
                <a:ea typeface="Verdana" panose="020B0604030504040204" pitchFamily="34" charset="0"/>
                <a:cs typeface="Verdana" panose="020B0604030504040204" pitchFamily="34" charset="0"/>
              </a:rPr>
              <a:t> zoals ziekenhuisopnames of consulten bij huisartsen, instellingsartsen of de spoedeisende hulp door afname incidenten</a:t>
            </a:r>
          </a:p>
        </p:txBody>
      </p:sp>
      <p:pic>
        <p:nvPicPr>
          <p:cNvPr id="141" name="Afbeelding 140">
            <a:extLst>
              <a:ext uri="{FF2B5EF4-FFF2-40B4-BE49-F238E27FC236}">
                <a16:creationId xmlns:a16="http://schemas.microsoft.com/office/drawing/2014/main" id="{E123E7C9-2C02-87A2-3380-D312CFC28F36}"/>
              </a:ext>
            </a:extLst>
          </p:cNvPr>
          <p:cNvPicPr>
            <a:picLocks noChangeAspect="1"/>
          </p:cNvPicPr>
          <p:nvPr/>
        </p:nvPicPr>
        <p:blipFill>
          <a:blip r:embed="rId6"/>
          <a:stretch>
            <a:fillRect/>
          </a:stretch>
        </p:blipFill>
        <p:spPr>
          <a:xfrm>
            <a:off x="517403" y="1528218"/>
            <a:ext cx="436562" cy="436562"/>
          </a:xfrm>
          <a:prstGeom prst="rect">
            <a:avLst/>
          </a:prstGeom>
        </p:spPr>
      </p:pic>
      <p:sp>
        <p:nvSpPr>
          <p:cNvPr id="30" name="Rechthoek: afgeronde hoeken 29">
            <a:extLst>
              <a:ext uri="{FF2B5EF4-FFF2-40B4-BE49-F238E27FC236}">
                <a16:creationId xmlns:a16="http://schemas.microsoft.com/office/drawing/2014/main" id="{25395292-FA95-AF1C-B463-4BD0BA73B0BE}"/>
              </a:ext>
            </a:extLst>
          </p:cNvPr>
          <p:cNvSpPr/>
          <p:nvPr/>
        </p:nvSpPr>
        <p:spPr>
          <a:xfrm>
            <a:off x="6705518" y="2407678"/>
            <a:ext cx="4503071" cy="1162466"/>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Meer passende zorg kunnen leveren door het hebben van een compleet beeld van de inwoner.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Makkelijker samen kunnen werken met andere zorgprofessionals rond een inwoner. </a:t>
            </a:r>
          </a:p>
          <a:p>
            <a:pPr marL="285750" indent="-285750">
              <a:buFont typeface="Arial" panose="020B0604020202020204" pitchFamily="34" charset="0"/>
              <a:buChar char="•"/>
            </a:pPr>
            <a:endParaRPr lang="nl-NL" sz="1100">
              <a:solidFill>
                <a:schemeClr val="tx1"/>
              </a:solidFill>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endParaRPr lang="nl-NL" sz="1100">
              <a:solidFill>
                <a:schemeClr val="tx1"/>
              </a:solidFill>
              <a:latin typeface="Verdana" panose="020B0604030504040204" pitchFamily="34" charset="0"/>
              <a:ea typeface="Verdana" panose="020B0604030504040204" pitchFamily="34" charset="0"/>
            </a:endParaRPr>
          </a:p>
          <a:p>
            <a:r>
              <a:rPr lang="nl-NL" sz="1100">
                <a:solidFill>
                  <a:schemeClr val="tx1"/>
                </a:solidFill>
                <a:latin typeface="Verdana" panose="020B0604030504040204" pitchFamily="34" charset="0"/>
                <a:ea typeface="Verdana" panose="020B0604030504040204" pitchFamily="34" charset="0"/>
              </a:rPr>
              <a:t> </a:t>
            </a:r>
            <a:endParaRPr lang="en-NL" sz="1100">
              <a:solidFill>
                <a:schemeClr val="tx1"/>
              </a:solidFill>
              <a:latin typeface="Verdana" panose="020B0604030504040204" pitchFamily="34" charset="0"/>
              <a:ea typeface="Verdana" panose="020B0604030504040204" pitchFamily="34" charset="0"/>
            </a:endParaRPr>
          </a:p>
        </p:txBody>
      </p:sp>
      <p:sp>
        <p:nvSpPr>
          <p:cNvPr id="31" name="Rechthoek: afgeronde hoeken 30">
            <a:extLst>
              <a:ext uri="{FF2B5EF4-FFF2-40B4-BE49-F238E27FC236}">
                <a16:creationId xmlns:a16="http://schemas.microsoft.com/office/drawing/2014/main" id="{544CDFA5-6B4D-68BB-4262-FF4E21CBDD45}"/>
              </a:ext>
            </a:extLst>
          </p:cNvPr>
          <p:cNvSpPr/>
          <p:nvPr/>
        </p:nvSpPr>
        <p:spPr>
          <a:xfrm>
            <a:off x="6629584" y="3758263"/>
            <a:ext cx="5078982" cy="1175519"/>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Minder ongewenste interactie tussen medicijnen door het niet op de hoogte zijn van medicatie gebruik.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Betere zorguitkomsten door het passend kunnen voorschrijven van medicatie of het aanpassen van het huidige medicatie gebruik.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Minder navragen bij de inwoner. </a:t>
            </a:r>
          </a:p>
          <a:p>
            <a:pPr marL="285750" indent="-285750">
              <a:buFont typeface="Arial" panose="020B0604020202020204" pitchFamily="34" charset="0"/>
              <a:buChar char="•"/>
            </a:pPr>
            <a:endParaRPr lang="nl-NL" sz="1100">
              <a:solidFill>
                <a:schemeClr val="tx1"/>
              </a:solidFill>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endParaRPr lang="nl-NL" sz="1100">
              <a:solidFill>
                <a:schemeClr val="tx1"/>
              </a:solidFill>
              <a:latin typeface="Verdana" panose="020B0604030504040204" pitchFamily="34" charset="0"/>
              <a:ea typeface="Verdana" panose="020B0604030504040204" pitchFamily="34" charset="0"/>
            </a:endParaRPr>
          </a:p>
          <a:p>
            <a:r>
              <a:rPr lang="nl-NL" sz="1100">
                <a:solidFill>
                  <a:schemeClr val="tx1"/>
                </a:solidFill>
                <a:latin typeface="Verdana" panose="020B0604030504040204" pitchFamily="34" charset="0"/>
                <a:ea typeface="Verdana" panose="020B0604030504040204" pitchFamily="34" charset="0"/>
              </a:rPr>
              <a:t> </a:t>
            </a:r>
            <a:endParaRPr lang="en-NL" sz="1100">
              <a:solidFill>
                <a:schemeClr val="tx1"/>
              </a:solidFill>
              <a:latin typeface="Verdana" panose="020B0604030504040204" pitchFamily="34" charset="0"/>
              <a:ea typeface="Verdana" panose="020B0604030504040204" pitchFamily="34" charset="0"/>
            </a:endParaRPr>
          </a:p>
        </p:txBody>
      </p:sp>
      <p:sp>
        <p:nvSpPr>
          <p:cNvPr id="32" name="Oval 11">
            <a:extLst>
              <a:ext uri="{FF2B5EF4-FFF2-40B4-BE49-F238E27FC236}">
                <a16:creationId xmlns:a16="http://schemas.microsoft.com/office/drawing/2014/main" id="{DE4968AB-A5EE-D5C6-61A1-12D15F48432A}"/>
              </a:ext>
            </a:extLst>
          </p:cNvPr>
          <p:cNvSpPr>
            <a:spLocks/>
          </p:cNvSpPr>
          <p:nvPr/>
        </p:nvSpPr>
        <p:spPr>
          <a:xfrm>
            <a:off x="6073582" y="2001517"/>
            <a:ext cx="556001" cy="556001"/>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pic>
        <p:nvPicPr>
          <p:cNvPr id="33" name="Graphic 32">
            <a:extLst>
              <a:ext uri="{FF2B5EF4-FFF2-40B4-BE49-F238E27FC236}">
                <a16:creationId xmlns:a16="http://schemas.microsoft.com/office/drawing/2014/main" id="{D75BED51-0BCF-A2F7-B8B2-964403837F5C}"/>
              </a:ext>
            </a:extLst>
          </p:cNvPr>
          <p:cNvPicPr>
            <a:picLocks noChangeAspect="1"/>
          </p:cNvPicPr>
          <p:nvPr>
            <p:custDataLst>
              <p:tags r:id="rId1"/>
            </p:custDataLst>
          </p:nvPr>
        </p:nvPicPr>
        <p:blipFill>
          <a:blip r:embed="rId7">
            <a:extLst>
              <a:ext uri="{96DAC541-7B7A-43D3-8B79-37D633B846F1}">
                <asvg:svgBlip xmlns:asvg="http://schemas.microsoft.com/office/drawing/2016/SVG/main" r:embed="rId8"/>
              </a:ext>
            </a:extLst>
          </a:blip>
          <a:stretch>
            <a:fillRect/>
          </a:stretch>
        </p:blipFill>
        <p:spPr>
          <a:xfrm>
            <a:off x="6093246" y="2007426"/>
            <a:ext cx="523089" cy="523089"/>
          </a:xfrm>
          <a:prstGeom prst="rect">
            <a:avLst/>
          </a:prstGeom>
        </p:spPr>
      </p:pic>
      <p:sp>
        <p:nvSpPr>
          <p:cNvPr id="34" name="Tekstvak 33">
            <a:extLst>
              <a:ext uri="{FF2B5EF4-FFF2-40B4-BE49-F238E27FC236}">
                <a16:creationId xmlns:a16="http://schemas.microsoft.com/office/drawing/2014/main" id="{28149240-BD17-8BC5-5A3E-AB056B1839E1}"/>
              </a:ext>
            </a:extLst>
          </p:cNvPr>
          <p:cNvSpPr txBox="1"/>
          <p:nvPr/>
        </p:nvSpPr>
        <p:spPr>
          <a:xfrm>
            <a:off x="6577007" y="2163983"/>
            <a:ext cx="5131558" cy="276999"/>
          </a:xfrm>
          <a:prstGeom prst="rect">
            <a:avLst/>
          </a:prstGeom>
          <a:solidFill>
            <a:srgbClr val="ABCD85"/>
          </a:solidFill>
        </p:spPr>
        <p:txBody>
          <a:bodyPr wrap="square">
            <a:spAutoFit/>
          </a:bodyPr>
          <a:lstStyle/>
          <a:p>
            <a:r>
              <a:rPr lang="nl-NL" sz="1200" b="1">
                <a:solidFill>
                  <a:schemeClr val="tx1"/>
                </a:solidFill>
                <a:latin typeface="Verdana" panose="020B0604030504040204" pitchFamily="34" charset="0"/>
                <a:ea typeface="Verdana" panose="020B0604030504040204" pitchFamily="34" charset="0"/>
              </a:rPr>
              <a:t>Integraal 360-graden beeld</a:t>
            </a:r>
          </a:p>
        </p:txBody>
      </p:sp>
      <p:sp>
        <p:nvSpPr>
          <p:cNvPr id="35" name="Tekstvak 34">
            <a:extLst>
              <a:ext uri="{FF2B5EF4-FFF2-40B4-BE49-F238E27FC236}">
                <a16:creationId xmlns:a16="http://schemas.microsoft.com/office/drawing/2014/main" id="{ABCB9959-3C79-4424-A89A-D5295AE83A9B}"/>
              </a:ext>
            </a:extLst>
          </p:cNvPr>
          <p:cNvSpPr txBox="1"/>
          <p:nvPr/>
        </p:nvSpPr>
        <p:spPr>
          <a:xfrm>
            <a:off x="6598441" y="3555736"/>
            <a:ext cx="5131558" cy="276999"/>
          </a:xfrm>
          <a:prstGeom prst="rect">
            <a:avLst/>
          </a:prstGeom>
          <a:solidFill>
            <a:srgbClr val="BEDEAA"/>
          </a:solidFill>
        </p:spPr>
        <p:txBody>
          <a:bodyPr wrap="square">
            <a:spAutoFit/>
          </a:bodyPr>
          <a:lstStyle/>
          <a:p>
            <a:r>
              <a:rPr lang="nl-NL" sz="1200" b="1">
                <a:latin typeface="Verdana" panose="020B0604030504040204" pitchFamily="34" charset="0"/>
                <a:ea typeface="Verdana" panose="020B0604030504040204" pitchFamily="34" charset="0"/>
              </a:rPr>
              <a:t>Actueel medicatie overzicht </a:t>
            </a:r>
            <a:endParaRPr lang="nl-NL" sz="1200" b="1">
              <a:solidFill>
                <a:schemeClr val="tx1"/>
              </a:solidFill>
              <a:latin typeface="Verdana" panose="020B0604030504040204" pitchFamily="34" charset="0"/>
              <a:ea typeface="Verdana" panose="020B0604030504040204" pitchFamily="34" charset="0"/>
            </a:endParaRPr>
          </a:p>
        </p:txBody>
      </p:sp>
      <p:sp>
        <p:nvSpPr>
          <p:cNvPr id="38" name="Oval 11">
            <a:extLst>
              <a:ext uri="{FF2B5EF4-FFF2-40B4-BE49-F238E27FC236}">
                <a16:creationId xmlns:a16="http://schemas.microsoft.com/office/drawing/2014/main" id="{6D00549B-61EB-52D5-F90B-8EC0FD8C9C07}"/>
              </a:ext>
            </a:extLst>
          </p:cNvPr>
          <p:cNvSpPr>
            <a:spLocks/>
          </p:cNvSpPr>
          <p:nvPr/>
        </p:nvSpPr>
        <p:spPr>
          <a:xfrm>
            <a:off x="6102539" y="3363811"/>
            <a:ext cx="556001" cy="556001"/>
          </a:xfrm>
          <a:prstGeom prst="ellipse">
            <a:avLst/>
          </a:prstGeom>
          <a:solidFill>
            <a:srgbClr val="BEDE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pic>
        <p:nvPicPr>
          <p:cNvPr id="39" name="Graphic 38">
            <a:extLst>
              <a:ext uri="{FF2B5EF4-FFF2-40B4-BE49-F238E27FC236}">
                <a16:creationId xmlns:a16="http://schemas.microsoft.com/office/drawing/2014/main" id="{5F9C30C1-9686-E0CF-B58D-C3539F45ACDB}"/>
              </a:ext>
            </a:extLst>
          </p:cNvPr>
          <p:cNvPicPr>
            <a:picLocks noChangeAspect="1"/>
          </p:cNvPicPr>
          <p:nvPr>
            <p:custDataLst>
              <p:tags r:id="rId2"/>
            </p:custDataLst>
          </p:nvPr>
        </p:nvPicPr>
        <p:blipFill>
          <a:blip r:embed="rId9">
            <a:extLst>
              <a:ext uri="{96DAC541-7B7A-43D3-8B79-37D633B846F1}">
                <asvg:svgBlip xmlns:asvg="http://schemas.microsoft.com/office/drawing/2016/SVG/main" r:embed="rId10"/>
              </a:ext>
            </a:extLst>
          </a:blip>
          <a:stretch>
            <a:fillRect/>
          </a:stretch>
        </p:blipFill>
        <p:spPr>
          <a:xfrm>
            <a:off x="6149517" y="3410647"/>
            <a:ext cx="450030" cy="450030"/>
          </a:xfrm>
          <a:prstGeom prst="rect">
            <a:avLst/>
          </a:prstGeom>
        </p:spPr>
      </p:pic>
      <p:sp>
        <p:nvSpPr>
          <p:cNvPr id="41" name="Tekstvak 40">
            <a:extLst>
              <a:ext uri="{FF2B5EF4-FFF2-40B4-BE49-F238E27FC236}">
                <a16:creationId xmlns:a16="http://schemas.microsoft.com/office/drawing/2014/main" id="{DE5CC9DB-06F7-6832-6903-7F948FB4841B}"/>
              </a:ext>
            </a:extLst>
          </p:cNvPr>
          <p:cNvSpPr txBox="1"/>
          <p:nvPr/>
        </p:nvSpPr>
        <p:spPr>
          <a:xfrm>
            <a:off x="6590918" y="5141188"/>
            <a:ext cx="5131558" cy="276999"/>
          </a:xfrm>
          <a:prstGeom prst="rect">
            <a:avLst/>
          </a:prstGeom>
          <a:solidFill>
            <a:srgbClr val="D5EAC8"/>
          </a:solidFill>
        </p:spPr>
        <p:txBody>
          <a:bodyPr wrap="square">
            <a:spAutoFit/>
          </a:bodyPr>
          <a:lstStyle/>
          <a:p>
            <a:r>
              <a:rPr lang="nl-NL" sz="1200" b="1">
                <a:solidFill>
                  <a:schemeClr val="tx1"/>
                </a:solidFill>
                <a:latin typeface="Verdana" panose="020B0604030504040204" pitchFamily="34" charset="0"/>
                <a:ea typeface="Verdana" panose="020B0604030504040204" pitchFamily="34" charset="0"/>
              </a:rPr>
              <a:t>Proactieve zorgplanning</a:t>
            </a:r>
          </a:p>
        </p:txBody>
      </p:sp>
      <p:sp>
        <p:nvSpPr>
          <p:cNvPr id="42" name="Oval 11">
            <a:extLst>
              <a:ext uri="{FF2B5EF4-FFF2-40B4-BE49-F238E27FC236}">
                <a16:creationId xmlns:a16="http://schemas.microsoft.com/office/drawing/2014/main" id="{4DD314DF-A1F2-E84A-808D-B89C7681FAE1}"/>
              </a:ext>
            </a:extLst>
          </p:cNvPr>
          <p:cNvSpPr>
            <a:spLocks/>
          </p:cNvSpPr>
          <p:nvPr/>
        </p:nvSpPr>
        <p:spPr>
          <a:xfrm>
            <a:off x="6095016" y="4949263"/>
            <a:ext cx="556001" cy="556001"/>
          </a:xfrm>
          <a:prstGeom prst="ellipse">
            <a:avLst/>
          </a:prstGeom>
          <a:solidFill>
            <a:srgbClr val="D5EA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pic>
        <p:nvPicPr>
          <p:cNvPr id="43" name="Graphic 42">
            <a:extLst>
              <a:ext uri="{FF2B5EF4-FFF2-40B4-BE49-F238E27FC236}">
                <a16:creationId xmlns:a16="http://schemas.microsoft.com/office/drawing/2014/main" id="{CAEB1812-DD1E-8A14-CEF1-9542AF6D976A}"/>
              </a:ext>
            </a:extLst>
          </p:cNvPr>
          <p:cNvPicPr>
            <a:picLocks noChangeAspect="1"/>
          </p:cNvPicPr>
          <p:nvPr>
            <p:custDataLst>
              <p:tags r:id="rId3"/>
            </p:custDataLst>
          </p:nvPr>
        </p:nvPicPr>
        <p:blipFill>
          <a:blip r:embed="rId11">
            <a:extLst>
              <a:ext uri="{96DAC541-7B7A-43D3-8B79-37D633B846F1}">
                <asvg:svgBlip xmlns:asvg="http://schemas.microsoft.com/office/drawing/2016/SVG/main" r:embed="rId12"/>
              </a:ext>
            </a:extLst>
          </a:blip>
          <a:stretch>
            <a:fillRect/>
          </a:stretch>
        </p:blipFill>
        <p:spPr>
          <a:xfrm>
            <a:off x="6191979" y="5032886"/>
            <a:ext cx="388753" cy="388753"/>
          </a:xfrm>
          <a:prstGeom prst="rect">
            <a:avLst/>
          </a:prstGeom>
        </p:spPr>
      </p:pic>
      <p:sp>
        <p:nvSpPr>
          <p:cNvPr id="2" name="Rectangle: Top Corners Rounded 38">
            <a:hlinkClick r:id="rId13" action="ppaction://hlinksldjump"/>
            <a:extLst>
              <a:ext uri="{FF2B5EF4-FFF2-40B4-BE49-F238E27FC236}">
                <a16:creationId xmlns:a16="http://schemas.microsoft.com/office/drawing/2014/main" id="{9D77E0C2-CA1B-7850-1BCB-04FA454BEF1A}"/>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 name="Graphic 2" descr="Introductiepagina silhouet">
            <a:hlinkClick r:id="rId14" action="ppaction://hlinksldjump"/>
            <a:extLst>
              <a:ext uri="{FF2B5EF4-FFF2-40B4-BE49-F238E27FC236}">
                <a16:creationId xmlns:a16="http://schemas.microsoft.com/office/drawing/2014/main" id="{6539112B-4C33-39E4-D9A5-73D13149A7E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136" y="147223"/>
            <a:ext cx="144000" cy="144000"/>
          </a:xfrm>
          <a:prstGeom prst="rect">
            <a:avLst/>
          </a:prstGeom>
        </p:spPr>
      </p:pic>
      <p:sp>
        <p:nvSpPr>
          <p:cNvPr id="4" name="Rectangle: Top Corners Rounded 1">
            <a:hlinkClick r:id="rId17" action="ppaction://hlinksldjump"/>
            <a:extLst>
              <a:ext uri="{FF2B5EF4-FFF2-40B4-BE49-F238E27FC236}">
                <a16:creationId xmlns:a16="http://schemas.microsoft.com/office/drawing/2014/main" id="{1C605550-0384-7573-58F0-0BC7D8B7609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6" name="Rectangle: Top Corners Rounded 1">
            <a:hlinkClick r:id="rId18" action="ppaction://hlinksldjump"/>
            <a:extLst>
              <a:ext uri="{FF2B5EF4-FFF2-40B4-BE49-F238E27FC236}">
                <a16:creationId xmlns:a16="http://schemas.microsoft.com/office/drawing/2014/main" id="{339A0EAB-81A2-C4DF-8FEF-1F2F456C327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7" name="Rectangle: Top Corners Rounded 1">
            <a:hlinkClick r:id="rId19" action="ppaction://hlinksldjump"/>
            <a:extLst>
              <a:ext uri="{FF2B5EF4-FFF2-40B4-BE49-F238E27FC236}">
                <a16:creationId xmlns:a16="http://schemas.microsoft.com/office/drawing/2014/main" id="{3BA5C4BF-4F71-D89A-D8FD-F684A39E562B}"/>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8" name="Rectangle: Top Corners Rounded 1">
            <a:hlinkClick r:id="rId20" action="ppaction://hlinksldjump"/>
            <a:extLst>
              <a:ext uri="{FF2B5EF4-FFF2-40B4-BE49-F238E27FC236}">
                <a16:creationId xmlns:a16="http://schemas.microsoft.com/office/drawing/2014/main" id="{A4B429F8-CB3D-6140-996C-17A326766C78}"/>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9" name="Rectangle: Top Corners Rounded 1">
            <a:hlinkClick r:id="rId21" action="ppaction://hlinksldjump"/>
            <a:extLst>
              <a:ext uri="{FF2B5EF4-FFF2-40B4-BE49-F238E27FC236}">
                <a16:creationId xmlns:a16="http://schemas.microsoft.com/office/drawing/2014/main" id="{34137A0C-7A45-69CD-A94B-E668E76D0F7F}"/>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10" name="Rectangle: Top Corners Rounded 1">
            <a:hlinkClick r:id="rId22" action="ppaction://hlinksldjump"/>
            <a:extLst>
              <a:ext uri="{FF2B5EF4-FFF2-40B4-BE49-F238E27FC236}">
                <a16:creationId xmlns:a16="http://schemas.microsoft.com/office/drawing/2014/main" id="{7D901B2C-2DE1-40A3-3CA2-2EE59DC12F86}"/>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1" name="Rectangle: Top Corners Rounded 1">
            <a:hlinkClick r:id="rId23" action="ppaction://hlinksldjump"/>
            <a:extLst>
              <a:ext uri="{FF2B5EF4-FFF2-40B4-BE49-F238E27FC236}">
                <a16:creationId xmlns:a16="http://schemas.microsoft.com/office/drawing/2014/main" id="{7E260C06-2B0A-1EE0-44CB-B6DB38959FC9}"/>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2" name="Rectangle: Top Corners Rounded 1">
            <a:hlinkClick r:id="rId24" action="ppaction://hlinksldjump"/>
            <a:extLst>
              <a:ext uri="{FF2B5EF4-FFF2-40B4-BE49-F238E27FC236}">
                <a16:creationId xmlns:a16="http://schemas.microsoft.com/office/drawing/2014/main" id="{0761D2E1-8744-906C-C8E7-FD9CD918F29A}"/>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3" name="Rectangle: Top Corners Rounded 1">
            <a:hlinkClick r:id="rId25" action="ppaction://hlinksldjump"/>
            <a:extLst>
              <a:ext uri="{FF2B5EF4-FFF2-40B4-BE49-F238E27FC236}">
                <a16:creationId xmlns:a16="http://schemas.microsoft.com/office/drawing/2014/main" id="{D89939AD-78C5-9DD8-427F-E559D2C8575E}"/>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4" name="Rectangle: Top Corners Rounded 1">
            <a:hlinkClick r:id="rId26" action="ppaction://hlinksldjump"/>
            <a:extLst>
              <a:ext uri="{FF2B5EF4-FFF2-40B4-BE49-F238E27FC236}">
                <a16:creationId xmlns:a16="http://schemas.microsoft.com/office/drawing/2014/main" id="{83624182-A965-B20A-F096-75AE7C2DF9CF}"/>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5" name="Rectangle: Top Corners Rounded 1">
            <a:hlinkClick r:id="rId27" action="ppaction://hlinksldjump"/>
            <a:extLst>
              <a:ext uri="{FF2B5EF4-FFF2-40B4-BE49-F238E27FC236}">
                <a16:creationId xmlns:a16="http://schemas.microsoft.com/office/drawing/2014/main" id="{D98F8928-86EE-E567-EAC2-3A428514CB8D}"/>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6" name="Rechthoek: afgeronde hoeken 15">
            <a:extLst>
              <a:ext uri="{FF2B5EF4-FFF2-40B4-BE49-F238E27FC236}">
                <a16:creationId xmlns:a16="http://schemas.microsoft.com/office/drawing/2014/main" id="{2C21B929-5F59-1E9D-4ABA-ECC4DF3E72A0}"/>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3410292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kstvak 13">
            <a:extLst>
              <a:ext uri="{FF2B5EF4-FFF2-40B4-BE49-F238E27FC236}">
                <a16:creationId xmlns:a16="http://schemas.microsoft.com/office/drawing/2014/main" id="{3EE12F08-59A5-9CB8-EC8F-F0B2C13CA135}"/>
              </a:ext>
            </a:extLst>
          </p:cNvPr>
          <p:cNvSpPr txBox="1"/>
          <p:nvPr/>
        </p:nvSpPr>
        <p:spPr>
          <a:xfrm>
            <a:off x="-319168" y="4567054"/>
            <a:ext cx="738664" cy="804268"/>
          </a:xfrm>
          <a:prstGeom prst="rect">
            <a:avLst/>
          </a:prstGeom>
          <a:noFill/>
        </p:spPr>
        <p:txBody>
          <a:bodyPr vert="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Relevante partijen</a:t>
            </a:r>
          </a:p>
        </p:txBody>
      </p:sp>
      <p:sp>
        <p:nvSpPr>
          <p:cNvPr id="7" name="Text Placeholder 2">
            <a:extLst>
              <a:ext uri="{FF2B5EF4-FFF2-40B4-BE49-F238E27FC236}">
                <a16:creationId xmlns:a16="http://schemas.microsoft.com/office/drawing/2014/main" id="{542A8853-8982-C8BC-4D04-5175268FE40D}"/>
              </a:ext>
            </a:extLst>
          </p:cNvPr>
          <p:cNvSpPr txBox="1">
            <a:spLocks/>
          </p:cNvSpPr>
          <p:nvPr/>
        </p:nvSpPr>
        <p:spPr>
          <a:xfrm>
            <a:off x="481746" y="1145053"/>
            <a:ext cx="11526682" cy="390825"/>
          </a:xfrm>
          <a:prstGeom prst="rect">
            <a:avLst/>
          </a:prstGeom>
        </p:spPr>
        <p:txBody>
          <a:bodyPr vert="horz" lIns="91440" tIns="45720" rIns="91440" bIns="45720" rtlCol="0" anchor="t">
            <a:noAutofit/>
          </a:bodyPr>
          <a:lstStyle>
            <a:defPPr>
              <a:defRPr lang="en-NL"/>
            </a:defPPr>
            <a:lvl1pPr marL="0" algn="l" defTabSz="914400" rtl="0" eaLnBrk="1" latinLnBrk="0" hangingPunct="1">
              <a:defRPr sz="1200" kern="1200">
                <a:solidFill>
                  <a:schemeClr val="tx1">
                    <a:tint val="75000"/>
                  </a:schemeClr>
                </a:solidFill>
                <a:latin typeface="Verdana" panose="020B0604030504040204" pitchFamily="34" charset="0"/>
                <a:ea typeface="Verdana" panose="020B060403050404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nl-NL" b="1">
                <a:solidFill>
                  <a:prstClr val="black"/>
                </a:solidFill>
                <a:latin typeface="Verdana Pro" panose="020B0604030504040204" pitchFamily="34" charset="0"/>
                <a:ea typeface="Verdana"/>
              </a:rPr>
              <a:t>Een gedegen voorbereiding, met in een vroege fase praktijkbeproeving van een viewer als innovatieve zorgtoepassing.</a:t>
            </a:r>
            <a:endParaRPr kumimoji="0" lang="nl-NL" b="1" i="0" u="none" strike="noStrike" kern="1200" cap="none" spc="0" normalizeH="0" baseline="0" noProof="0">
              <a:ln>
                <a:noFill/>
              </a:ln>
              <a:solidFill>
                <a:prstClr val="black"/>
              </a:solidFill>
              <a:effectLst/>
              <a:uLnTx/>
              <a:uFillTx/>
              <a:latin typeface="Verdana Pro" panose="020B0604030504040204" pitchFamily="34" charset="0"/>
              <a:ea typeface="Verdana"/>
            </a:endParaRPr>
          </a:p>
        </p:txBody>
      </p:sp>
      <p:sp>
        <p:nvSpPr>
          <p:cNvPr id="9" name="Titel 1">
            <a:extLst>
              <a:ext uri="{FF2B5EF4-FFF2-40B4-BE49-F238E27FC236}">
                <a16:creationId xmlns:a16="http://schemas.microsoft.com/office/drawing/2014/main" id="{07855144-7F59-F6DB-CBE9-8C00453EE3EC}"/>
              </a:ext>
            </a:extLst>
          </p:cNvPr>
          <p:cNvSpPr txBox="1">
            <a:spLocks/>
          </p:cNvSpPr>
          <p:nvPr/>
        </p:nvSpPr>
        <p:spPr>
          <a:xfrm>
            <a:off x="425302" y="136525"/>
            <a:ext cx="11284952" cy="12613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8C95CD"/>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nl-NL" sz="2800">
                <a:latin typeface="Verdana Pro" panose="020B0604030504040204" pitchFamily="34" charset="0"/>
              </a:rPr>
              <a:t>Netwerkzorg viewer voor Dossier Inzage – Projectfasering </a:t>
            </a:r>
            <a:endParaRPr lang="en-NL" sz="2800">
              <a:latin typeface="Verdana Pro" panose="020B0604030504040204" pitchFamily="34" charset="0"/>
            </a:endParaRPr>
          </a:p>
        </p:txBody>
      </p:sp>
      <p:sp>
        <p:nvSpPr>
          <p:cNvPr id="100" name="TextBox 13">
            <a:extLst>
              <a:ext uri="{FF2B5EF4-FFF2-40B4-BE49-F238E27FC236}">
                <a16:creationId xmlns:a16="http://schemas.microsoft.com/office/drawing/2014/main" id="{620307B4-E72D-0F58-BBD1-5593BC9B59FE}"/>
              </a:ext>
            </a:extLst>
          </p:cNvPr>
          <p:cNvSpPr txBox="1"/>
          <p:nvPr/>
        </p:nvSpPr>
        <p:spPr>
          <a:xfrm>
            <a:off x="7800177" y="1433273"/>
            <a:ext cx="2075817"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nl-NL" sz="1100" b="1">
                <a:solidFill>
                  <a:srgbClr val="333333"/>
                </a:solidFill>
                <a:latin typeface="Verdana"/>
                <a:ea typeface="Verdana"/>
                <a:cs typeface="Arial"/>
              </a:rPr>
              <a:t>Fase 4</a:t>
            </a:r>
            <a:br>
              <a:rPr lang="nl-NL" sz="1100" b="1">
                <a:solidFill>
                  <a:srgbClr val="333333"/>
                </a:solidFill>
                <a:latin typeface="Verdana"/>
                <a:ea typeface="Verdana"/>
                <a:cs typeface="Arial"/>
              </a:rPr>
            </a:br>
            <a:r>
              <a:rPr kumimoji="0" lang="nl-NL" sz="1000" b="1" i="1" u="none" strike="noStrike" kern="1200" cap="none" spc="0" normalizeH="0" baseline="0" noProof="0">
                <a:ln>
                  <a:noFill/>
                </a:ln>
                <a:solidFill>
                  <a:srgbClr val="333333"/>
                </a:solidFill>
                <a:effectLst/>
                <a:uLnTx/>
                <a:uFillTx/>
                <a:latin typeface="Verdana"/>
                <a:ea typeface="Verdana"/>
                <a:cs typeface="Arial"/>
              </a:rPr>
              <a:t>Q1 2026</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01" name="TextBox 13">
            <a:extLst>
              <a:ext uri="{FF2B5EF4-FFF2-40B4-BE49-F238E27FC236}">
                <a16:creationId xmlns:a16="http://schemas.microsoft.com/office/drawing/2014/main" id="{1896483D-5E0B-067C-46CD-17CD43703ECD}"/>
              </a:ext>
            </a:extLst>
          </p:cNvPr>
          <p:cNvSpPr txBox="1"/>
          <p:nvPr/>
        </p:nvSpPr>
        <p:spPr>
          <a:xfrm>
            <a:off x="529983" y="1433273"/>
            <a:ext cx="2962210"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1</a:t>
            </a:r>
            <a:br>
              <a:rPr lang="nl-NL" sz="1100" b="1" i="0" u="none" strike="noStrike" kern="1200" cap="none" spc="0" normalizeH="0" baseline="0" noProof="0">
                <a:ln>
                  <a:noFill/>
                </a:ln>
                <a:effectLst/>
                <a:uLnTx/>
                <a:uFillTx/>
                <a:latin typeface="Verdana"/>
                <a:ea typeface="Verdana"/>
                <a:cs typeface="Arial"/>
              </a:rPr>
            </a:br>
            <a:r>
              <a:rPr lang="nl-NL" sz="1000" b="1" i="1">
                <a:solidFill>
                  <a:srgbClr val="333333"/>
                </a:solidFill>
                <a:latin typeface="Verdana"/>
                <a:ea typeface="Verdana"/>
                <a:cs typeface="Arial"/>
              </a:rPr>
              <a:t> Q1-Q2 2025</a:t>
            </a:r>
            <a:endParaRPr lang="nl-NL" sz="1000" b="1" i="1" u="none" strike="noStrike" kern="1200" cap="none" spc="0" normalizeH="0" baseline="0" noProof="0">
              <a:ln>
                <a:noFill/>
              </a:ln>
              <a:solidFill>
                <a:srgbClr val="333333"/>
              </a:solidFill>
              <a:effectLst/>
              <a:uLnTx/>
              <a:uFillTx/>
              <a:latin typeface="Verdana"/>
              <a:ea typeface="Verdana"/>
              <a:cs typeface="Arial"/>
            </a:endParaRPr>
          </a:p>
        </p:txBody>
      </p:sp>
      <p:cxnSp>
        <p:nvCxnSpPr>
          <p:cNvPr id="102" name="Straight Arrow Connector 29">
            <a:extLst>
              <a:ext uri="{FF2B5EF4-FFF2-40B4-BE49-F238E27FC236}">
                <a16:creationId xmlns:a16="http://schemas.microsoft.com/office/drawing/2014/main" id="{B2190B64-1085-D27C-819D-DF612A790D58}"/>
              </a:ext>
            </a:extLst>
          </p:cNvPr>
          <p:cNvCxnSpPr>
            <a:cxnSpLocks/>
          </p:cNvCxnSpPr>
          <p:nvPr/>
        </p:nvCxnSpPr>
        <p:spPr>
          <a:xfrm flipV="1">
            <a:off x="529982" y="2081403"/>
            <a:ext cx="11473945" cy="658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03" name="Oval 17">
            <a:extLst>
              <a:ext uri="{FF2B5EF4-FFF2-40B4-BE49-F238E27FC236}">
                <a16:creationId xmlns:a16="http://schemas.microsoft.com/office/drawing/2014/main" id="{3126AB93-1854-F68A-484E-6E65357C92DB}"/>
              </a:ext>
            </a:extLst>
          </p:cNvPr>
          <p:cNvSpPr/>
          <p:nvPr/>
        </p:nvSpPr>
        <p:spPr>
          <a:xfrm>
            <a:off x="1816027" y="18499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04" name="TextBox 13">
            <a:extLst>
              <a:ext uri="{FF2B5EF4-FFF2-40B4-BE49-F238E27FC236}">
                <a16:creationId xmlns:a16="http://schemas.microsoft.com/office/drawing/2014/main" id="{2A6178A3-872D-1606-A316-A17465933A07}"/>
              </a:ext>
            </a:extLst>
          </p:cNvPr>
          <p:cNvSpPr txBox="1"/>
          <p:nvPr/>
        </p:nvSpPr>
        <p:spPr>
          <a:xfrm>
            <a:off x="5672244" y="1433273"/>
            <a:ext cx="2075816"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3</a:t>
            </a:r>
            <a:br>
              <a:rPr lang="nl-NL"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a:rPr>
            </a:br>
            <a:r>
              <a:rPr lang="nl-NL" sz="1000" b="1" i="1">
                <a:solidFill>
                  <a:srgbClr val="333333"/>
                </a:solidFill>
                <a:latin typeface="Verdana"/>
                <a:ea typeface="Verdana"/>
                <a:cs typeface="Arial"/>
              </a:rPr>
              <a:t>Q4 2025</a:t>
            </a:r>
            <a:endParaRPr kumimoji="0"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05" name="Rectangle: Rounded Corners 28">
            <a:extLst>
              <a:ext uri="{FF2B5EF4-FFF2-40B4-BE49-F238E27FC236}">
                <a16:creationId xmlns:a16="http://schemas.microsoft.com/office/drawing/2014/main" id="{A18AE8BD-0093-73DD-E2AC-73FF6895B0AE}"/>
              </a:ext>
            </a:extLst>
          </p:cNvPr>
          <p:cNvSpPr/>
          <p:nvPr/>
        </p:nvSpPr>
        <p:spPr>
          <a:xfrm>
            <a:off x="424854" y="2570969"/>
            <a:ext cx="3067338" cy="2085661"/>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0" bIns="45720" rtlCol="0" anchor="t"/>
          <a:lstStyle/>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Concretiseren van regionaal beleid, visie, intentieverklaring en werkafspraken vanuit alle </a:t>
            </a:r>
            <a:r>
              <a:rPr lang="nl-NL" sz="1000">
                <a:solidFill>
                  <a:prstClr val="black"/>
                </a:solidFill>
                <a:latin typeface="Verdana"/>
                <a:ea typeface="Verdana"/>
              </a:rPr>
              <a:t>zorgorganisaties</a:t>
            </a:r>
            <a:r>
              <a:rPr kumimoji="0" lang="nl-NL" sz="1000" b="0" i="0" u="none" strike="noStrike" kern="1200" cap="none" spc="0" normalizeH="0" baseline="0" noProof="0">
                <a:ln>
                  <a:noFill/>
                </a:ln>
                <a:solidFill>
                  <a:prstClr val="black"/>
                </a:solidFill>
                <a:effectLst/>
                <a:uLnTx/>
                <a:uFillTx/>
                <a:latin typeface="Verdana"/>
                <a:ea typeface="Verdana"/>
              </a:rPr>
              <a:t>.</a:t>
            </a:r>
          </a:p>
          <a:p>
            <a:pPr marR="0" lvl="0" algn="l" defTabSz="914400" rtl="0" eaLnBrk="1" fontAlgn="auto" latinLnBrk="0" hangingPunct="1">
              <a:lnSpc>
                <a:spcPct val="100000"/>
              </a:lnSpc>
              <a:spcBef>
                <a:spcPts val="0"/>
              </a:spcBef>
              <a:spcAft>
                <a:spcPts val="0"/>
              </a:spcAft>
              <a:buClrTx/>
              <a:buSzTx/>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Verkrijgen van inzicht in gebruikte applicaties </a:t>
            </a:r>
            <a:r>
              <a:rPr lang="nl-NL" sz="1000">
                <a:solidFill>
                  <a:prstClr val="black"/>
                </a:solidFill>
                <a:latin typeface="Verdana"/>
                <a:ea typeface="Verdana"/>
              </a:rPr>
              <a:t>en werkprocessen, en databeschikbaarheid per organisatie</a:t>
            </a:r>
            <a:r>
              <a:rPr kumimoji="0" lang="nl-NL" sz="1000" b="0" i="0" u="none" strike="noStrike" kern="1200" cap="none" spc="0" normalizeH="0" baseline="0" noProof="0">
                <a:ln>
                  <a:noFill/>
                </a:ln>
                <a:solidFill>
                  <a:prstClr val="black"/>
                </a:solidFill>
                <a:effectLst/>
                <a:uLnTx/>
                <a:uFillTx/>
                <a:latin typeface="Verdana"/>
                <a:ea typeface="Verdana"/>
              </a:rPr>
              <a:t>. </a:t>
            </a:r>
            <a:endParaRPr lang="nl-NL" sz="1000" b="0" i="0" u="none" strike="noStrike" kern="1200" cap="none" spc="0" normalizeH="0" baseline="0" noProof="0">
              <a:ln>
                <a:noFill/>
              </a:ln>
              <a:solidFill>
                <a:prstClr val="black"/>
              </a:solidFill>
              <a:effectLst/>
              <a:uLnTx/>
              <a:uFillTx/>
              <a:latin typeface="Verdana"/>
              <a:ea typeface="Verdana"/>
            </a:endParaRPr>
          </a:p>
          <a:p>
            <a:pPr marR="0" lvl="0" algn="l" defTabSz="914400" rtl="0" eaLnBrk="1" fontAlgn="auto" latinLnBrk="0" hangingPunct="1">
              <a:lnSpc>
                <a:spcPct val="100000"/>
              </a:lnSpc>
              <a:spcBef>
                <a:spcPts val="0"/>
              </a:spcBef>
              <a:spcAft>
                <a:spcPts val="0"/>
              </a:spcAft>
              <a:buClrTx/>
              <a:buSzTx/>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R="0" lvl="0" algn="l" defTabSz="914400" rtl="0" eaLnBrk="1" fontAlgn="auto" latinLnBrk="0" hangingPunct="1">
              <a:lnSpc>
                <a:spcPct val="100000"/>
              </a:lnSpc>
              <a:spcBef>
                <a:spcPts val="0"/>
              </a:spcBef>
              <a:spcAft>
                <a:spcPts val="0"/>
              </a:spcAft>
              <a:buClrTx/>
              <a:buSzTx/>
              <a:tabLst/>
              <a:defRPr/>
            </a:pPr>
            <a:r>
              <a:rPr kumimoji="0" lang="nl-NL" sz="1000" b="0" i="0" u="none" strike="noStrike" kern="1200" cap="none" spc="0" normalizeH="0" baseline="0" noProof="0">
                <a:ln>
                  <a:noFill/>
                </a:ln>
                <a:solidFill>
                  <a:prstClr val="black"/>
                </a:solidFill>
                <a:effectLst/>
                <a:uLnTx/>
                <a:uFillTx/>
                <a:latin typeface="Verdana"/>
                <a:ea typeface="Verdana"/>
              </a:rPr>
              <a:t>Definiëren van de technische en functionele inrichting netwerkzorg viewer. </a:t>
            </a:r>
          </a:p>
          <a:p>
            <a:pPr marR="0" lvl="0" algn="l" defTabSz="914400" rtl="0" eaLnBrk="1" fontAlgn="auto" latinLnBrk="0" hangingPunct="1">
              <a:lnSpc>
                <a:spcPct val="100000"/>
              </a:lnSpc>
              <a:spcBef>
                <a:spcPts val="0"/>
              </a:spcBef>
              <a:spcAft>
                <a:spcPts val="0"/>
              </a:spcAft>
              <a:buClrTx/>
              <a:buSzTx/>
              <a:tabLst/>
              <a:defRPr/>
            </a:pPr>
            <a:endParaRPr lang="nl-NL" sz="1000">
              <a:solidFill>
                <a:prstClr val="black"/>
              </a:solidFill>
              <a:latin typeface="Verdana"/>
              <a:ea typeface="Verdana"/>
            </a:endParaRPr>
          </a:p>
          <a:p>
            <a:pPr marR="0" lvl="0" algn="l" defTabSz="914400" rtl="0" eaLnBrk="1" fontAlgn="auto" latinLnBrk="0" hangingPunct="1">
              <a:lnSpc>
                <a:spcPct val="100000"/>
              </a:lnSpc>
              <a:spcBef>
                <a:spcPts val="0"/>
              </a:spcBef>
              <a:spcAft>
                <a:spcPts val="0"/>
              </a:spcAft>
              <a:buClrTx/>
              <a:buSzTx/>
              <a:tabLst/>
              <a:defRPr/>
            </a:pPr>
            <a:r>
              <a:rPr lang="nl-NL" sz="1000" b="0" i="0" u="none" strike="noStrike" kern="1200" cap="none" spc="0" normalizeH="0" baseline="0" noProof="0">
                <a:ln>
                  <a:noFill/>
                </a:ln>
                <a:solidFill>
                  <a:prstClr val="black"/>
                </a:solidFill>
                <a:effectLst/>
                <a:uLnTx/>
                <a:uFillTx/>
                <a:latin typeface="Verdana"/>
                <a:ea typeface="Verdana"/>
              </a:rPr>
              <a:t>Selectie en plannen uitrol. </a:t>
            </a:r>
          </a:p>
        </p:txBody>
      </p:sp>
      <p:sp>
        <p:nvSpPr>
          <p:cNvPr id="106" name="Oval 13">
            <a:extLst>
              <a:ext uri="{FF2B5EF4-FFF2-40B4-BE49-F238E27FC236}">
                <a16:creationId xmlns:a16="http://schemas.microsoft.com/office/drawing/2014/main" id="{BAA7B938-2ED8-947C-A93E-19BB8383B8EB}"/>
              </a:ext>
            </a:extLst>
          </p:cNvPr>
          <p:cNvSpPr/>
          <p:nvPr/>
        </p:nvSpPr>
        <p:spPr>
          <a:xfrm>
            <a:off x="4336332" y="18499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07" name="TextBox 13">
            <a:extLst>
              <a:ext uri="{FF2B5EF4-FFF2-40B4-BE49-F238E27FC236}">
                <a16:creationId xmlns:a16="http://schemas.microsoft.com/office/drawing/2014/main" id="{62000C82-0313-9320-F103-DACDB42A989C}"/>
              </a:ext>
            </a:extLst>
          </p:cNvPr>
          <p:cNvSpPr txBox="1"/>
          <p:nvPr/>
        </p:nvSpPr>
        <p:spPr>
          <a:xfrm>
            <a:off x="3544310" y="1433273"/>
            <a:ext cx="2075817"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defRPr/>
            </a:pPr>
            <a:r>
              <a:rPr kumimoji="0" lang="nl-NL" sz="1100" b="1" i="0" u="none" strike="noStrike" kern="1200" cap="none" spc="0" normalizeH="0" baseline="0" noProof="0">
                <a:ln>
                  <a:noFill/>
                </a:ln>
                <a:solidFill>
                  <a:srgbClr val="333333"/>
                </a:solidFill>
                <a:effectLst/>
                <a:uLnTx/>
                <a:uFillTx/>
                <a:latin typeface="Verdana"/>
                <a:ea typeface="Verdana"/>
                <a:cs typeface="Arial"/>
              </a:rPr>
              <a:t>Fase 2</a:t>
            </a:r>
            <a:br>
              <a:rPr kumimoji="0" lang="nl-NL" sz="1100" b="1" i="0" u="none" strike="noStrike" kern="1200" cap="none" spc="0" normalizeH="0" baseline="0" noProof="0">
                <a:ln>
                  <a:noFill/>
                </a:ln>
                <a:solidFill>
                  <a:srgbClr val="333333"/>
                </a:solidFill>
                <a:effectLst/>
                <a:uLnTx/>
                <a:uFillTx/>
                <a:latin typeface="Verdana"/>
                <a:ea typeface="Verdana"/>
                <a:cs typeface="Arial"/>
              </a:rPr>
            </a:br>
            <a:r>
              <a:rPr lang="nl-NL" sz="1000" b="1" i="1">
                <a:solidFill>
                  <a:srgbClr val="333333"/>
                </a:solidFill>
                <a:latin typeface="Verdana"/>
                <a:ea typeface="Verdana"/>
                <a:cs typeface="Arial"/>
              </a:rPr>
              <a:t>Q3 2025</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08" name="Rectangle: Rounded Corners 47">
            <a:extLst>
              <a:ext uri="{FF2B5EF4-FFF2-40B4-BE49-F238E27FC236}">
                <a16:creationId xmlns:a16="http://schemas.microsoft.com/office/drawing/2014/main" id="{B4370B40-A401-0C0F-1A27-56988B19A4C4}"/>
              </a:ext>
            </a:extLst>
          </p:cNvPr>
          <p:cNvSpPr/>
          <p:nvPr/>
        </p:nvSpPr>
        <p:spPr>
          <a:xfrm>
            <a:off x="420890" y="5224755"/>
            <a:ext cx="3067339" cy="1616399"/>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Overzicht huidige initiatieven en applicaties</a:t>
            </a:r>
            <a:endParaRPr lang="nl-NL">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00">
                <a:solidFill>
                  <a:prstClr val="black"/>
                </a:solidFill>
                <a:latin typeface="Verdana" panose="020B0604030504040204" pitchFamily="34" charset="0"/>
                <a:ea typeface="Verdana" panose="020B0604030504040204" pitchFamily="34" charset="0"/>
              </a:rPr>
              <a:t>Regionale werkafspraken</a:t>
            </a: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Gedetailleerd plan van aanpak inclusief communicatieplan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00">
                <a:solidFill>
                  <a:prstClr val="black"/>
                </a:solidFill>
                <a:latin typeface="Verdana" panose="020B0604030504040204" pitchFamily="34" charset="0"/>
                <a:ea typeface="Verdana" panose="020B0604030504040204" pitchFamily="34" charset="0"/>
              </a:rPr>
              <a:t>Geselecteerde viewer</a:t>
            </a: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71450" indent="-171450">
              <a:buFont typeface="Arial" panose="020B0604020202020204" pitchFamily="34" charset="0"/>
              <a:buChar char="•"/>
              <a:defRPr/>
            </a:pPr>
            <a:r>
              <a:rPr kumimoji="0" lang="nl-NL" sz="1000" b="0" i="0" u="none" strike="noStrike" kern="1200" cap="none" spc="0" normalizeH="0" baseline="0" noProof="0">
                <a:ln>
                  <a:noFill/>
                </a:ln>
                <a:solidFill>
                  <a:prstClr val="black"/>
                </a:solidFill>
                <a:effectLst/>
                <a:uLnTx/>
                <a:uFillTx/>
                <a:latin typeface="Verdana"/>
                <a:ea typeface="Verdana"/>
              </a:rPr>
              <a:t>Overzicht </a:t>
            </a:r>
            <a:r>
              <a:rPr lang="nl-NL" sz="1000">
                <a:solidFill>
                  <a:prstClr val="black"/>
                </a:solidFill>
                <a:latin typeface="Verdana"/>
                <a:ea typeface="Verdana"/>
              </a:rPr>
              <a:t>koplopers en volgers</a:t>
            </a:r>
            <a:endParaRPr lang="nl-NL" sz="1000" b="0" i="0" u="none" strike="noStrike" kern="1200" cap="none" spc="0" normalizeH="0" baseline="0" noProof="0">
              <a:ln>
                <a:noFill/>
              </a:ln>
              <a:solidFill>
                <a:prstClr val="black"/>
              </a:solidFill>
              <a:effectLst/>
              <a:uLnTx/>
              <a:uFillTx/>
              <a:latin typeface="Verdana"/>
              <a:ea typeface="Verdan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Organisatie en draaiboek voor implementatie</a:t>
            </a:r>
          </a:p>
        </p:txBody>
      </p:sp>
      <p:sp>
        <p:nvSpPr>
          <p:cNvPr id="109" name="Tekstvak 108">
            <a:extLst>
              <a:ext uri="{FF2B5EF4-FFF2-40B4-BE49-F238E27FC236}">
                <a16:creationId xmlns:a16="http://schemas.microsoft.com/office/drawing/2014/main" id="{598988E9-3251-2236-67D2-8AFF3F324CC8}"/>
              </a:ext>
            </a:extLst>
          </p:cNvPr>
          <p:cNvSpPr txBox="1"/>
          <p:nvPr/>
        </p:nvSpPr>
        <p:spPr>
          <a:xfrm>
            <a:off x="50764" y="3099456"/>
            <a:ext cx="323165" cy="1010323"/>
          </a:xfrm>
          <a:prstGeom prst="rect">
            <a:avLst/>
          </a:prstGeom>
          <a:noFill/>
        </p:spPr>
        <p:txBody>
          <a:bodyPr vert="vert" wrap="square">
            <a:spAutoFit/>
          </a:bodyPr>
          <a:lstStyle/>
          <a:p>
            <a:pPr algn="ct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Activiteiten</a:t>
            </a:r>
          </a:p>
        </p:txBody>
      </p:sp>
      <p:sp>
        <p:nvSpPr>
          <p:cNvPr id="110" name="Tekstvak 109">
            <a:extLst>
              <a:ext uri="{FF2B5EF4-FFF2-40B4-BE49-F238E27FC236}">
                <a16:creationId xmlns:a16="http://schemas.microsoft.com/office/drawing/2014/main" id="{C7AA61B3-B9FA-90DD-AF4D-4F51D4B7D3D4}"/>
              </a:ext>
            </a:extLst>
          </p:cNvPr>
          <p:cNvSpPr txBox="1"/>
          <p:nvPr/>
        </p:nvSpPr>
        <p:spPr>
          <a:xfrm>
            <a:off x="51401" y="5673911"/>
            <a:ext cx="323165" cy="944848"/>
          </a:xfrm>
          <a:prstGeom prst="rect">
            <a:avLst/>
          </a:prstGeom>
          <a:noFill/>
        </p:spPr>
        <p:txBody>
          <a:bodyPr vert="vert" wrap="square">
            <a:spAutoFit/>
          </a:bodyPr>
          <a:lstStyle/>
          <a:p>
            <a:pPr algn="ctr"/>
            <a:r>
              <a:rPr kumimoji="0" lang="nl-NL"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Deliverables</a:t>
            </a:r>
          </a:p>
        </p:txBody>
      </p:sp>
      <p:sp>
        <p:nvSpPr>
          <p:cNvPr id="111" name="TextBox 13">
            <a:extLst>
              <a:ext uri="{FF2B5EF4-FFF2-40B4-BE49-F238E27FC236}">
                <a16:creationId xmlns:a16="http://schemas.microsoft.com/office/drawing/2014/main" id="{435B0E21-D792-AD08-0055-698988279835}"/>
              </a:ext>
            </a:extLst>
          </p:cNvPr>
          <p:cNvSpPr txBox="1"/>
          <p:nvPr/>
        </p:nvSpPr>
        <p:spPr>
          <a:xfrm>
            <a:off x="9928113" y="1433273"/>
            <a:ext cx="2075817" cy="395828"/>
          </a:xfrm>
          <a:prstGeom prst="rect">
            <a:avLst/>
          </a:prstGeom>
          <a:noFill/>
          <a:ln>
            <a:solidFill>
              <a:schemeClr val="tx1">
                <a:lumMod val="50000"/>
                <a:lumOff val="50000"/>
              </a:schemeClr>
            </a:solidFill>
          </a:ln>
        </p:spPr>
        <p:txBody>
          <a:bodyPr wrap="square" lIns="91440" tIns="45720" rIns="91440" bIns="45720" anchor="t">
            <a:noAutofit/>
          </a:bodyPr>
          <a:ls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nl-NL" sz="1100" b="1">
                <a:solidFill>
                  <a:srgbClr val="333333"/>
                </a:solidFill>
                <a:latin typeface="Verdana"/>
                <a:ea typeface="Verdana"/>
                <a:cs typeface="Arial"/>
              </a:rPr>
              <a:t>Fase 5</a:t>
            </a:r>
            <a:br>
              <a:rPr lang="nl-NL" sz="1100" b="1">
                <a:solidFill>
                  <a:srgbClr val="333333"/>
                </a:solidFill>
                <a:latin typeface="Verdana"/>
                <a:ea typeface="Verdana"/>
                <a:cs typeface="Arial"/>
              </a:rPr>
            </a:br>
            <a:r>
              <a:rPr kumimoji="0" lang="nl-NL" sz="1000" b="1" i="1" u="none" strike="noStrike" kern="1200" cap="none" spc="0" normalizeH="0" baseline="0" noProof="0">
                <a:ln>
                  <a:noFill/>
                </a:ln>
                <a:solidFill>
                  <a:srgbClr val="333333"/>
                </a:solidFill>
                <a:effectLst/>
                <a:uLnTx/>
                <a:uFillTx/>
                <a:latin typeface="Verdana"/>
                <a:ea typeface="Verdana"/>
                <a:cs typeface="Arial"/>
              </a:rPr>
              <a:t>Q2 </a:t>
            </a:r>
            <a:r>
              <a:rPr lang="nl-NL" sz="1000" b="1" i="1">
                <a:solidFill>
                  <a:srgbClr val="333333"/>
                </a:solidFill>
                <a:latin typeface="Verdana"/>
                <a:ea typeface="Verdana"/>
                <a:cs typeface="Arial"/>
              </a:rPr>
              <a:t>2026 -</a:t>
            </a:r>
            <a:r>
              <a:rPr kumimoji="0" lang="nl-NL" sz="1000" b="1" i="1" u="none" strike="noStrike" kern="1200" cap="none" spc="0" normalizeH="0" baseline="0" noProof="0">
                <a:ln>
                  <a:noFill/>
                </a:ln>
                <a:solidFill>
                  <a:srgbClr val="333333"/>
                </a:solidFill>
                <a:effectLst/>
                <a:uLnTx/>
                <a:uFillTx/>
                <a:latin typeface="Verdana"/>
                <a:ea typeface="Verdana"/>
                <a:cs typeface="Arial"/>
              </a:rPr>
              <a:t> </a:t>
            </a:r>
            <a:r>
              <a:rPr lang="nl-NL" sz="1000" b="1" i="1">
                <a:solidFill>
                  <a:srgbClr val="333333"/>
                </a:solidFill>
                <a:latin typeface="Verdana"/>
                <a:ea typeface="Verdana"/>
                <a:cs typeface="Arial"/>
              </a:rPr>
              <a:t>Q4</a:t>
            </a:r>
            <a:r>
              <a:rPr kumimoji="0" lang="nl-NL" sz="1000" b="1" i="1" u="none" strike="noStrike" kern="1200" cap="none" spc="0" normalizeH="0" baseline="0" noProof="0">
                <a:ln>
                  <a:noFill/>
                </a:ln>
                <a:solidFill>
                  <a:srgbClr val="333333"/>
                </a:solidFill>
                <a:effectLst/>
                <a:uLnTx/>
                <a:uFillTx/>
                <a:latin typeface="Verdana"/>
                <a:ea typeface="Verdana"/>
                <a:cs typeface="Arial"/>
              </a:rPr>
              <a:t> 2026</a:t>
            </a:r>
            <a:endParaRPr lang="nl-NL" sz="1100" b="1" i="1" u="none" strike="noStrike" kern="1200" cap="none" spc="0" normalizeH="0" baseline="0" noProof="0">
              <a:ln>
                <a:noFill/>
              </a:ln>
              <a:solidFill>
                <a:srgbClr val="333333"/>
              </a:solidFill>
              <a:effectLst/>
              <a:uLnTx/>
              <a:uFillTx/>
              <a:latin typeface="Verdana"/>
              <a:ea typeface="Verdana"/>
              <a:cs typeface="Arial"/>
            </a:endParaRPr>
          </a:p>
        </p:txBody>
      </p:sp>
      <p:sp>
        <p:nvSpPr>
          <p:cNvPr id="112" name="Oval 18">
            <a:extLst>
              <a:ext uri="{FF2B5EF4-FFF2-40B4-BE49-F238E27FC236}">
                <a16:creationId xmlns:a16="http://schemas.microsoft.com/office/drawing/2014/main" id="{063B3879-AA25-2FAD-3B03-64BEB1435A5D}"/>
              </a:ext>
            </a:extLst>
          </p:cNvPr>
          <p:cNvSpPr/>
          <p:nvPr/>
        </p:nvSpPr>
        <p:spPr>
          <a:xfrm>
            <a:off x="10720134" y="18499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13" name="Oval 13">
            <a:extLst>
              <a:ext uri="{FF2B5EF4-FFF2-40B4-BE49-F238E27FC236}">
                <a16:creationId xmlns:a16="http://schemas.microsoft.com/office/drawing/2014/main" id="{D216DCC1-2A65-8AA1-2FAD-A7CE279E5141}"/>
              </a:ext>
            </a:extLst>
          </p:cNvPr>
          <p:cNvSpPr/>
          <p:nvPr/>
        </p:nvSpPr>
        <p:spPr>
          <a:xfrm>
            <a:off x="8592200" y="18499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14" name="Rectangle: Rounded Corners 4">
            <a:extLst>
              <a:ext uri="{FF2B5EF4-FFF2-40B4-BE49-F238E27FC236}">
                <a16:creationId xmlns:a16="http://schemas.microsoft.com/office/drawing/2014/main" id="{FDAE7679-DB12-B7CF-8754-B049815BD3C9}"/>
              </a:ext>
            </a:extLst>
          </p:cNvPr>
          <p:cNvSpPr/>
          <p:nvPr/>
        </p:nvSpPr>
        <p:spPr>
          <a:xfrm>
            <a:off x="3540577" y="5873670"/>
            <a:ext cx="2075815" cy="895795"/>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a:p>
            <a:pPr>
              <a:spcAft>
                <a:spcPts val="600"/>
              </a:spcAft>
              <a:defRPr/>
            </a:pPr>
            <a:endParaRPr lang="nl-NL" sz="1000">
              <a:solidFill>
                <a:srgbClr val="000000"/>
              </a:solidFill>
              <a:latin typeface="Verdana"/>
              <a:ea typeface="Verdana"/>
              <a:cs typeface="Arial"/>
            </a:endParaRPr>
          </a:p>
        </p:txBody>
      </p:sp>
      <p:sp>
        <p:nvSpPr>
          <p:cNvPr id="115" name="Rectangle: Rounded Corners 47">
            <a:extLst>
              <a:ext uri="{FF2B5EF4-FFF2-40B4-BE49-F238E27FC236}">
                <a16:creationId xmlns:a16="http://schemas.microsoft.com/office/drawing/2014/main" id="{40F85D27-D9BD-D47E-C7DB-B6A62C102A6B}"/>
              </a:ext>
            </a:extLst>
          </p:cNvPr>
          <p:cNvSpPr/>
          <p:nvPr/>
        </p:nvSpPr>
        <p:spPr>
          <a:xfrm>
            <a:off x="424853" y="4703066"/>
            <a:ext cx="3067339" cy="445245"/>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R="0" lvl="0" algn="l" defTabSz="914400" rtl="0" eaLnBrk="1" fontAlgn="auto" latinLnBrk="0" hangingPunct="1">
              <a:lnSpc>
                <a:spcPct val="100000"/>
              </a:lnSpc>
              <a:spcBef>
                <a:spcPts val="0"/>
              </a:spcBef>
              <a:spcAft>
                <a:spcPts val="0"/>
              </a:spcAft>
              <a:buClrTx/>
              <a:buSzTx/>
              <a:tabLst/>
              <a:defRPr/>
            </a:pPr>
            <a:r>
              <a:rPr lang="nl-NL" sz="1000">
                <a:solidFill>
                  <a:prstClr val="black"/>
                </a:solidFill>
                <a:latin typeface="Verdana"/>
                <a:ea typeface="Verdana"/>
              </a:rPr>
              <a:t>Alle deelnemende sectoren. </a:t>
            </a:r>
            <a:endParaRPr lang="nl-NL">
              <a:solidFill>
                <a:prstClr val="black"/>
              </a:solidFill>
              <a:latin typeface="Verdana"/>
              <a:ea typeface="Verdana"/>
            </a:endParaRPr>
          </a:p>
        </p:txBody>
      </p:sp>
      <p:sp>
        <p:nvSpPr>
          <p:cNvPr id="116" name="Rectangle: Rounded Corners 4">
            <a:extLst>
              <a:ext uri="{FF2B5EF4-FFF2-40B4-BE49-F238E27FC236}">
                <a16:creationId xmlns:a16="http://schemas.microsoft.com/office/drawing/2014/main" id="{8A5DE3A5-B7B0-AAEC-AC24-92FA4FB88B5C}"/>
              </a:ext>
            </a:extLst>
          </p:cNvPr>
          <p:cNvSpPr/>
          <p:nvPr/>
        </p:nvSpPr>
        <p:spPr>
          <a:xfrm>
            <a:off x="3540577" y="2883909"/>
            <a:ext cx="2075815" cy="1099856"/>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85725" indent="-85725">
              <a:spcAft>
                <a:spcPts val="600"/>
              </a:spcAft>
              <a:buFont typeface="Arial" panose="020B0604020202020204" pitchFamily="34" charset="0"/>
              <a:buChar char="•"/>
              <a:defRPr/>
            </a:pPr>
            <a:r>
              <a:rPr lang="nl-NL" sz="1000">
                <a:solidFill>
                  <a:srgbClr val="000000"/>
                </a:solidFill>
                <a:latin typeface="Verdana"/>
                <a:ea typeface="Verdana"/>
                <a:cs typeface="Arial"/>
              </a:rPr>
              <a:t>Koplopers gebruikers (</a:t>
            </a:r>
            <a:r>
              <a:rPr lang="nl-NL" sz="1000" err="1">
                <a:solidFill>
                  <a:srgbClr val="000000"/>
                </a:solidFill>
                <a:latin typeface="Verdana"/>
                <a:ea typeface="Verdana"/>
                <a:cs typeface="Arial"/>
              </a:rPr>
              <a:t>Altrecht</a:t>
            </a:r>
            <a:r>
              <a:rPr lang="nl-NL" sz="1000">
                <a:solidFill>
                  <a:srgbClr val="000000"/>
                </a:solidFill>
                <a:latin typeface="Verdana"/>
                <a:ea typeface="Verdana"/>
                <a:cs typeface="Arial"/>
              </a:rPr>
              <a:t>, 2 </a:t>
            </a:r>
            <a:r>
              <a:rPr lang="nl-NL" sz="1000" err="1">
                <a:solidFill>
                  <a:srgbClr val="000000"/>
                </a:solidFill>
                <a:latin typeface="Verdana"/>
                <a:ea typeface="Verdana"/>
                <a:cs typeface="Arial"/>
              </a:rPr>
              <a:t>SEHs</a:t>
            </a:r>
            <a:r>
              <a:rPr lang="nl-NL" sz="1000">
                <a:solidFill>
                  <a:srgbClr val="000000"/>
                </a:solidFill>
                <a:latin typeface="Verdana"/>
                <a:ea typeface="Verdana"/>
                <a:cs typeface="Arial"/>
              </a:rPr>
              <a:t>) </a:t>
            </a:r>
          </a:p>
          <a:p>
            <a:pPr marL="85725" indent="-85725">
              <a:spcAft>
                <a:spcPts val="600"/>
              </a:spcAft>
              <a:buFont typeface="Arial" panose="020B0604020202020204" pitchFamily="34" charset="0"/>
              <a:buChar char="•"/>
              <a:defRPr/>
            </a:pPr>
            <a:r>
              <a:rPr lang="nl-NL" sz="1000">
                <a:solidFill>
                  <a:srgbClr val="000000"/>
                </a:solidFill>
                <a:latin typeface="Verdana"/>
                <a:ea typeface="Verdana"/>
                <a:cs typeface="Arial"/>
              </a:rPr>
              <a:t>Koplopers aanbieders </a:t>
            </a:r>
            <a:endParaRPr lang="nl-NL" sz="1000" b="0" i="0" u="none" strike="noStrike" kern="1200" cap="none" spc="0" normalizeH="0" baseline="0" noProof="0">
              <a:ln>
                <a:noFill/>
              </a:ln>
              <a:solidFill>
                <a:srgbClr val="000000"/>
              </a:solidFill>
              <a:effectLst/>
              <a:uLnTx/>
              <a:uFillTx/>
              <a:latin typeface="Verdana"/>
              <a:ea typeface="Verdana"/>
              <a:cs typeface="Arial"/>
            </a:endParaRPr>
          </a:p>
          <a:p>
            <a:pPr>
              <a:spcAft>
                <a:spcPts val="600"/>
              </a:spcAft>
              <a:defRPr/>
            </a:pPr>
            <a:endParaRPr lang="nl-NL" sz="1000" b="1">
              <a:solidFill>
                <a:srgbClr val="000000"/>
              </a:solidFill>
              <a:latin typeface="Verdana" panose="020B0604030504040204" pitchFamily="34" charset="0"/>
              <a:ea typeface="Verdana" panose="020B0604030504040204" pitchFamily="34" charset="0"/>
              <a:cs typeface="Arial"/>
            </a:endParaRPr>
          </a:p>
        </p:txBody>
      </p:sp>
      <p:sp>
        <p:nvSpPr>
          <p:cNvPr id="117" name="Rectangle: Rounded Corners 4">
            <a:extLst>
              <a:ext uri="{FF2B5EF4-FFF2-40B4-BE49-F238E27FC236}">
                <a16:creationId xmlns:a16="http://schemas.microsoft.com/office/drawing/2014/main" id="{1467647F-63DF-F9F2-C693-1287DF1233CE}"/>
              </a:ext>
            </a:extLst>
          </p:cNvPr>
          <p:cNvSpPr/>
          <p:nvPr/>
        </p:nvSpPr>
        <p:spPr>
          <a:xfrm>
            <a:off x="5668512" y="2883908"/>
            <a:ext cx="2075815" cy="1099856"/>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latin typeface="Verdana"/>
                <a:ea typeface="Verdana"/>
              </a:rPr>
              <a:t>Evaluatie, optimalisatie  </a:t>
            </a:r>
          </a:p>
          <a:p>
            <a:pPr marL="171450" indent="-171450">
              <a:spcAft>
                <a:spcPts val="600"/>
              </a:spcAft>
              <a:buFont typeface="Arial" panose="020B0604020202020204" pitchFamily="34" charset="0"/>
              <a:buChar char="•"/>
              <a:defRPr/>
            </a:pPr>
            <a:r>
              <a:rPr lang="nl-NL" sz="1000">
                <a:latin typeface="Verdana"/>
                <a:ea typeface="Verdana"/>
              </a:rPr>
              <a:t>V</a:t>
            </a:r>
            <a:r>
              <a:rPr lang="nl-NL" sz="1000">
                <a:effectLst/>
                <a:latin typeface="Verdana"/>
                <a:ea typeface="Verdana"/>
              </a:rPr>
              <a:t>olgers </a:t>
            </a:r>
            <a:r>
              <a:rPr lang="nl-NL" sz="1000" err="1">
                <a:effectLst/>
                <a:latin typeface="Verdana"/>
                <a:ea typeface="Verdana"/>
              </a:rPr>
              <a:t>SEHs</a:t>
            </a:r>
            <a:r>
              <a:rPr lang="nl-NL" sz="1000">
                <a:effectLst/>
                <a:latin typeface="Verdana"/>
                <a:ea typeface="Verdana"/>
              </a:rPr>
              <a:t>, </a:t>
            </a:r>
            <a:r>
              <a:rPr lang="nl-NL" sz="1000" err="1">
                <a:effectLst/>
                <a:latin typeface="Verdana"/>
                <a:ea typeface="Verdana"/>
              </a:rPr>
              <a:t>HAPs</a:t>
            </a:r>
            <a:r>
              <a:rPr lang="nl-NL" sz="1000">
                <a:latin typeface="Verdana"/>
                <a:ea typeface="Verdana"/>
              </a:rPr>
              <a:t> en</a:t>
            </a:r>
            <a:r>
              <a:rPr lang="nl-NL" sz="1000">
                <a:effectLst/>
                <a:latin typeface="Verdana"/>
                <a:ea typeface="Verdana"/>
              </a:rPr>
              <a:t> 10 huisartsen en aanbieders</a:t>
            </a:r>
            <a:endParaRPr lang="nl-NL" sz="1000">
              <a:solidFill>
                <a:srgbClr val="000000"/>
              </a:solidFill>
              <a:latin typeface="Verdana"/>
              <a:ea typeface="Verdana"/>
              <a:cs typeface="Arial"/>
            </a:endParaRPr>
          </a:p>
        </p:txBody>
      </p:sp>
      <p:sp>
        <p:nvSpPr>
          <p:cNvPr id="118" name="Rectangle: Rounded Corners 4">
            <a:extLst>
              <a:ext uri="{FF2B5EF4-FFF2-40B4-BE49-F238E27FC236}">
                <a16:creationId xmlns:a16="http://schemas.microsoft.com/office/drawing/2014/main" id="{45183719-4385-DDD2-3DB3-61AD4D9131D7}"/>
              </a:ext>
            </a:extLst>
          </p:cNvPr>
          <p:cNvSpPr/>
          <p:nvPr/>
        </p:nvSpPr>
        <p:spPr>
          <a:xfrm>
            <a:off x="7812637" y="2894053"/>
            <a:ext cx="2075815" cy="1099856"/>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Evaluatie, opschaling</a:t>
            </a:r>
          </a:p>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Volgers huisartsen, VVT</a:t>
            </a:r>
          </a:p>
        </p:txBody>
      </p:sp>
      <p:sp>
        <p:nvSpPr>
          <p:cNvPr id="119" name="Rectangle: Rounded Corners 4">
            <a:extLst>
              <a:ext uri="{FF2B5EF4-FFF2-40B4-BE49-F238E27FC236}">
                <a16:creationId xmlns:a16="http://schemas.microsoft.com/office/drawing/2014/main" id="{4D142A37-824A-A008-BD5E-2D7F3620C604}"/>
              </a:ext>
            </a:extLst>
          </p:cNvPr>
          <p:cNvSpPr/>
          <p:nvPr/>
        </p:nvSpPr>
        <p:spPr>
          <a:xfrm>
            <a:off x="9924379" y="2883908"/>
            <a:ext cx="2216220" cy="1099856"/>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prstClr val="black"/>
                </a:solidFill>
                <a:latin typeface="Verdana"/>
                <a:ea typeface="Verdana"/>
              </a:rPr>
              <a:t>Opschalen Verpleegkundige Overdracht</a:t>
            </a:r>
          </a:p>
          <a:p>
            <a:pPr marL="171450" indent="-171450">
              <a:spcAft>
                <a:spcPts val="600"/>
              </a:spcAft>
              <a:buFont typeface="Arial" panose="020B0604020202020204" pitchFamily="34" charset="0"/>
              <a:buChar char="•"/>
              <a:defRPr/>
            </a:pPr>
            <a:r>
              <a:rPr lang="nl-NL" sz="1000">
                <a:solidFill>
                  <a:prstClr val="black"/>
                </a:solidFill>
                <a:latin typeface="Verdana"/>
                <a:ea typeface="Verdana"/>
              </a:rPr>
              <a:t>Alle deelnemende sectoren</a:t>
            </a:r>
            <a:endParaRPr lang="nl-NL" sz="1000" b="0" i="0" u="none" strike="noStrike" kern="1200" cap="none" spc="0" normalizeH="0" baseline="0" noProof="0">
              <a:ln>
                <a:noFill/>
              </a:ln>
              <a:solidFill>
                <a:prstClr val="black"/>
              </a:solidFill>
              <a:effectLst/>
              <a:uLnTx/>
              <a:uFillTx/>
              <a:latin typeface="Verdana"/>
              <a:ea typeface="Verdana"/>
            </a:endParaRPr>
          </a:p>
        </p:txBody>
      </p:sp>
      <p:sp>
        <p:nvSpPr>
          <p:cNvPr id="120" name="Tekstvak 119">
            <a:extLst>
              <a:ext uri="{FF2B5EF4-FFF2-40B4-BE49-F238E27FC236}">
                <a16:creationId xmlns:a16="http://schemas.microsoft.com/office/drawing/2014/main" id="{5CB45DB0-A6D1-4F55-27B8-CED05248B354}"/>
              </a:ext>
            </a:extLst>
          </p:cNvPr>
          <p:cNvSpPr txBox="1"/>
          <p:nvPr/>
        </p:nvSpPr>
        <p:spPr>
          <a:xfrm>
            <a:off x="324352" y="2336988"/>
            <a:ext cx="3190772"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nl-NL" sz="1050" b="1" i="0" u="none" strike="noStrike" kern="1200" cap="none" spc="0" normalizeH="0" baseline="0" noProof="0">
                <a:ln>
                  <a:noFill/>
                </a:ln>
                <a:solidFill>
                  <a:srgbClr val="000000"/>
                </a:solidFill>
                <a:effectLst/>
                <a:uLnTx/>
                <a:uFillTx/>
                <a:latin typeface="Verdana"/>
                <a:ea typeface="Verdana"/>
                <a:cs typeface="Arial"/>
              </a:rPr>
              <a:t>Concretiseren, </a:t>
            </a:r>
            <a:r>
              <a:rPr kumimoji="0" lang="nl-NL" sz="1050" b="1" i="0" u="none" strike="noStrike" kern="1200" cap="none" spc="0" normalizeH="0" baseline="0" noProof="0" err="1">
                <a:ln>
                  <a:noFill/>
                </a:ln>
                <a:solidFill>
                  <a:srgbClr val="000000"/>
                </a:solidFill>
                <a:effectLst/>
                <a:uLnTx/>
                <a:uFillTx/>
                <a:latin typeface="Verdana"/>
                <a:ea typeface="Verdana"/>
                <a:cs typeface="Arial"/>
              </a:rPr>
              <a:t>inri</a:t>
            </a:r>
            <a:r>
              <a:rPr lang="nl-NL" sz="1050" b="1" err="1">
                <a:solidFill>
                  <a:srgbClr val="000000"/>
                </a:solidFill>
                <a:latin typeface="Verdana"/>
                <a:ea typeface="Verdana"/>
                <a:cs typeface="Arial"/>
              </a:rPr>
              <a:t>chten</a:t>
            </a:r>
            <a:r>
              <a:rPr lang="nl-NL" sz="1050" b="1">
                <a:solidFill>
                  <a:srgbClr val="000000"/>
                </a:solidFill>
                <a:latin typeface="Verdana"/>
                <a:ea typeface="Verdana"/>
                <a:cs typeface="Arial"/>
              </a:rPr>
              <a:t> en selecteren </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1" name="Tekstvak 120">
            <a:extLst>
              <a:ext uri="{FF2B5EF4-FFF2-40B4-BE49-F238E27FC236}">
                <a16:creationId xmlns:a16="http://schemas.microsoft.com/office/drawing/2014/main" id="{53F64C16-B463-0EFD-714F-F2D1D1F4142A}"/>
              </a:ext>
            </a:extLst>
          </p:cNvPr>
          <p:cNvSpPr txBox="1"/>
          <p:nvPr/>
        </p:nvSpPr>
        <p:spPr>
          <a:xfrm>
            <a:off x="3641763" y="2344406"/>
            <a:ext cx="1886095" cy="253916"/>
          </a:xfrm>
          <a:prstGeom prst="rect">
            <a:avLst/>
          </a:prstGeom>
          <a:noFill/>
        </p:spPr>
        <p:txBody>
          <a:bodyPr wrap="square" lIns="91440" tIns="45720" rIns="91440" bIns="45720" anchor="t">
            <a:spAutoFit/>
          </a:bodyPr>
          <a:lstStyle/>
          <a:p>
            <a:pPr algn="ctr">
              <a:spcAft>
                <a:spcPts val="600"/>
              </a:spcAft>
              <a:defRPr/>
            </a:pPr>
            <a:r>
              <a:rPr lang="nl-NL" sz="1050" b="1">
                <a:solidFill>
                  <a:srgbClr val="000000"/>
                </a:solidFill>
                <a:latin typeface="Verdana"/>
                <a:ea typeface="Verdana"/>
                <a:cs typeface="Arial"/>
              </a:rPr>
              <a:t>Test ronde</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2" name="Tekstvak 121">
            <a:extLst>
              <a:ext uri="{FF2B5EF4-FFF2-40B4-BE49-F238E27FC236}">
                <a16:creationId xmlns:a16="http://schemas.microsoft.com/office/drawing/2014/main" id="{CEAC2D72-D6EF-9B4C-CBFC-A0DE5FF58FCC}"/>
              </a:ext>
            </a:extLst>
          </p:cNvPr>
          <p:cNvSpPr txBox="1"/>
          <p:nvPr/>
        </p:nvSpPr>
        <p:spPr>
          <a:xfrm>
            <a:off x="8071220" y="2336988"/>
            <a:ext cx="1533728" cy="253916"/>
          </a:xfrm>
          <a:prstGeom prst="rect">
            <a:avLst/>
          </a:prstGeom>
          <a:noFill/>
        </p:spPr>
        <p:txBody>
          <a:bodyPr wrap="square" lIns="91440" tIns="45720" rIns="91440" bIns="45720" anchor="t">
            <a:spAutoFit/>
          </a:bodyPr>
          <a:lstStyle/>
          <a:p>
            <a:pPr algn="ctr">
              <a:spcAft>
                <a:spcPts val="600"/>
              </a:spcAft>
              <a:defRPr/>
            </a:pPr>
            <a:r>
              <a:rPr lang="nl-NL" sz="1050" b="1">
                <a:solidFill>
                  <a:srgbClr val="000000"/>
                </a:solidFill>
                <a:latin typeface="Verdana"/>
                <a:ea typeface="Verdana"/>
                <a:cs typeface="Arial"/>
              </a:rPr>
              <a:t>Middel opschaling</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3" name="Oval 17">
            <a:extLst>
              <a:ext uri="{FF2B5EF4-FFF2-40B4-BE49-F238E27FC236}">
                <a16:creationId xmlns:a16="http://schemas.microsoft.com/office/drawing/2014/main" id="{AFA15633-6C78-3A31-77D3-5ACE8B48CBA7}"/>
              </a:ext>
            </a:extLst>
          </p:cNvPr>
          <p:cNvSpPr/>
          <p:nvPr/>
        </p:nvSpPr>
        <p:spPr>
          <a:xfrm>
            <a:off x="6464266" y="1849937"/>
            <a:ext cx="491769" cy="491769"/>
          </a:xfrm>
          <a:prstGeom prst="ellipse">
            <a:avLst/>
          </a:prstGeom>
          <a:solidFill>
            <a:srgbClr val="A2C877"/>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NL"/>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FFFFFF"/>
              </a:solidFill>
              <a:effectLst/>
              <a:uLnTx/>
              <a:uFillTx/>
              <a:latin typeface="FreightSans Pro Book"/>
              <a:ea typeface="+mn-ea"/>
              <a:cs typeface="Arial"/>
            </a:endParaRPr>
          </a:p>
        </p:txBody>
      </p:sp>
      <p:sp>
        <p:nvSpPr>
          <p:cNvPr id="124" name="Tekstvak 123">
            <a:extLst>
              <a:ext uri="{FF2B5EF4-FFF2-40B4-BE49-F238E27FC236}">
                <a16:creationId xmlns:a16="http://schemas.microsoft.com/office/drawing/2014/main" id="{104336ED-FD1C-D419-4BC2-28EDC327B96C}"/>
              </a:ext>
            </a:extLst>
          </p:cNvPr>
          <p:cNvSpPr txBox="1"/>
          <p:nvPr/>
        </p:nvSpPr>
        <p:spPr>
          <a:xfrm>
            <a:off x="10201257" y="2325282"/>
            <a:ext cx="1962863"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nl-NL" sz="1050" b="1">
                <a:solidFill>
                  <a:srgbClr val="000000"/>
                </a:solidFill>
                <a:latin typeface="Verdana"/>
                <a:ea typeface="Verdana"/>
                <a:cs typeface="Arial"/>
              </a:rPr>
              <a:t>Grote opschaling</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5" name="Tekstvak 124">
            <a:extLst>
              <a:ext uri="{FF2B5EF4-FFF2-40B4-BE49-F238E27FC236}">
                <a16:creationId xmlns:a16="http://schemas.microsoft.com/office/drawing/2014/main" id="{E2A81D43-CFBD-9702-8306-20A9229D486F}"/>
              </a:ext>
            </a:extLst>
          </p:cNvPr>
          <p:cNvSpPr txBox="1"/>
          <p:nvPr/>
        </p:nvSpPr>
        <p:spPr>
          <a:xfrm>
            <a:off x="5706533" y="2352696"/>
            <a:ext cx="2120803" cy="253916"/>
          </a:xfrm>
          <a:prstGeom prst="rect">
            <a:avLst/>
          </a:prstGeom>
          <a:noFill/>
        </p:spPr>
        <p:txBody>
          <a:bodyPr wrap="square" lIns="91440" tIns="45720" rIns="91440" bIns="45720" anchor="t">
            <a:spAutoFit/>
          </a:bodyPr>
          <a:lstStyle/>
          <a:p>
            <a:pPr algn="ctr">
              <a:spcAft>
                <a:spcPts val="600"/>
              </a:spcAft>
              <a:defRPr/>
            </a:pPr>
            <a:r>
              <a:rPr lang="nl-NL" sz="1050" b="1">
                <a:solidFill>
                  <a:srgbClr val="000000"/>
                </a:solidFill>
                <a:latin typeface="Verdana"/>
                <a:ea typeface="Verdana"/>
                <a:cs typeface="Arial"/>
              </a:rPr>
              <a:t>Kleine opschaling</a:t>
            </a:r>
            <a:endParaRPr kumimoji="0" lang="nl-NL" sz="1050" b="1" i="0" u="none" strike="noStrike" kern="1200" cap="none" spc="0" normalizeH="0" baseline="0" noProof="0">
              <a:ln>
                <a:noFill/>
              </a:ln>
              <a:solidFill>
                <a:srgbClr val="000000"/>
              </a:solidFill>
              <a:effectLst/>
              <a:uLnTx/>
              <a:uFillTx/>
              <a:latin typeface="Verdana"/>
              <a:ea typeface="Verdana"/>
              <a:cs typeface="Arial"/>
            </a:endParaRPr>
          </a:p>
        </p:txBody>
      </p:sp>
      <p:sp>
        <p:nvSpPr>
          <p:cNvPr id="126" name="Rectangle: Rounded Corners 28">
            <a:extLst>
              <a:ext uri="{FF2B5EF4-FFF2-40B4-BE49-F238E27FC236}">
                <a16:creationId xmlns:a16="http://schemas.microsoft.com/office/drawing/2014/main" id="{7E0E32EA-D4FC-DCF7-76B0-25B4CAA3EC2B}"/>
              </a:ext>
            </a:extLst>
          </p:cNvPr>
          <p:cNvSpPr>
            <a:spLocks/>
          </p:cNvSpPr>
          <p:nvPr/>
        </p:nvSpPr>
        <p:spPr>
          <a:xfrm>
            <a:off x="3550247" y="4037036"/>
            <a:ext cx="8590352" cy="236895"/>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1">
                <a:solidFill>
                  <a:schemeClr val="tx1"/>
                </a:solidFill>
                <a:latin typeface="Verdana" panose="020B0604030504040204" pitchFamily="34" charset="0"/>
                <a:ea typeface="Verdana" panose="020B0604030504040204" pitchFamily="34" charset="0"/>
              </a:rPr>
              <a:t>Technisch gereed</a:t>
            </a:r>
            <a:endParaRPr kumimoji="0" lang="nl-NL" sz="10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endParaRPr>
          </a:p>
        </p:txBody>
      </p:sp>
      <p:sp>
        <p:nvSpPr>
          <p:cNvPr id="127" name="Rectangle: Rounded Corners 28">
            <a:extLst>
              <a:ext uri="{FF2B5EF4-FFF2-40B4-BE49-F238E27FC236}">
                <a16:creationId xmlns:a16="http://schemas.microsoft.com/office/drawing/2014/main" id="{DE5D7BD9-9D3A-D55F-DF59-0EBB1164C551}"/>
              </a:ext>
            </a:extLst>
          </p:cNvPr>
          <p:cNvSpPr>
            <a:spLocks/>
          </p:cNvSpPr>
          <p:nvPr/>
        </p:nvSpPr>
        <p:spPr>
          <a:xfrm>
            <a:off x="3603376" y="5575127"/>
            <a:ext cx="8537224" cy="241179"/>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1">
                <a:solidFill>
                  <a:schemeClr val="tx1"/>
                </a:solidFill>
                <a:latin typeface="Verdana"/>
                <a:ea typeface="Verdana"/>
              </a:rPr>
              <a:t>Procesmatig gereed</a:t>
            </a:r>
            <a:endParaRPr kumimoji="0" lang="nl-NL" sz="1000" b="1" i="0" u="none" strike="noStrike" kern="1200" cap="none" spc="0" normalizeH="0" baseline="0" noProof="0">
              <a:ln>
                <a:noFill/>
              </a:ln>
              <a:solidFill>
                <a:schemeClr val="tx1"/>
              </a:solidFill>
              <a:effectLst/>
              <a:uLnTx/>
              <a:uFillTx/>
              <a:latin typeface="Verdana"/>
              <a:ea typeface="Verdana"/>
            </a:endParaRPr>
          </a:p>
        </p:txBody>
      </p:sp>
      <p:sp>
        <p:nvSpPr>
          <p:cNvPr id="128" name="Rectangle: Rounded Corners 28">
            <a:extLst>
              <a:ext uri="{FF2B5EF4-FFF2-40B4-BE49-F238E27FC236}">
                <a16:creationId xmlns:a16="http://schemas.microsoft.com/office/drawing/2014/main" id="{CA357EA2-1530-55E2-C82C-FFE483546A0B}"/>
              </a:ext>
            </a:extLst>
          </p:cNvPr>
          <p:cNvSpPr>
            <a:spLocks/>
          </p:cNvSpPr>
          <p:nvPr/>
        </p:nvSpPr>
        <p:spPr>
          <a:xfrm>
            <a:off x="3540576" y="2600097"/>
            <a:ext cx="8600023" cy="251916"/>
          </a:xfrm>
          <a:prstGeom prst="roundRect">
            <a:avLst/>
          </a:prstGeom>
          <a:solidFill>
            <a:srgbClr val="A2C877"/>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rPr>
              <a:t>Doelgroepen</a:t>
            </a:r>
          </a:p>
        </p:txBody>
      </p:sp>
      <p:sp>
        <p:nvSpPr>
          <p:cNvPr id="129" name="Rectangle: Rounded Corners 4">
            <a:extLst>
              <a:ext uri="{FF2B5EF4-FFF2-40B4-BE49-F238E27FC236}">
                <a16:creationId xmlns:a16="http://schemas.microsoft.com/office/drawing/2014/main" id="{0E0667E6-86B7-F10E-B443-2F8E471C9CDC}"/>
              </a:ext>
            </a:extLst>
          </p:cNvPr>
          <p:cNvSpPr/>
          <p:nvPr/>
        </p:nvSpPr>
        <p:spPr>
          <a:xfrm>
            <a:off x="3551337" y="4319713"/>
            <a:ext cx="2075815" cy="1170704"/>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Bestaande zorgtoepassingen</a:t>
            </a:r>
          </a:p>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Koplopers aangesloten </a:t>
            </a:r>
          </a:p>
        </p:txBody>
      </p:sp>
      <p:sp>
        <p:nvSpPr>
          <p:cNvPr id="130" name="Rectangle: Rounded Corners 4">
            <a:extLst>
              <a:ext uri="{FF2B5EF4-FFF2-40B4-BE49-F238E27FC236}">
                <a16:creationId xmlns:a16="http://schemas.microsoft.com/office/drawing/2014/main" id="{589BE72C-1EA2-0BC2-3803-7B0DED56EE3C}"/>
              </a:ext>
            </a:extLst>
          </p:cNvPr>
          <p:cNvSpPr/>
          <p:nvPr/>
        </p:nvSpPr>
        <p:spPr>
          <a:xfrm>
            <a:off x="5668512" y="5873670"/>
            <a:ext cx="2075815" cy="888292"/>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a:p>
            <a:pPr>
              <a:spcAft>
                <a:spcPts val="600"/>
              </a:spcAft>
              <a:defRPr/>
            </a:pPr>
            <a:endParaRPr lang="nl-NL" sz="1000">
              <a:solidFill>
                <a:srgbClr val="000000"/>
              </a:solidFill>
              <a:latin typeface="Verdana"/>
              <a:ea typeface="Verdana"/>
              <a:cs typeface="Arial"/>
            </a:endParaRPr>
          </a:p>
        </p:txBody>
      </p:sp>
      <p:sp>
        <p:nvSpPr>
          <p:cNvPr id="131" name="Rectangle: Rounded Corners 4">
            <a:extLst>
              <a:ext uri="{FF2B5EF4-FFF2-40B4-BE49-F238E27FC236}">
                <a16:creationId xmlns:a16="http://schemas.microsoft.com/office/drawing/2014/main" id="{7F3D2627-D163-B0D0-0885-9F8594B1ACD0}"/>
              </a:ext>
            </a:extLst>
          </p:cNvPr>
          <p:cNvSpPr/>
          <p:nvPr/>
        </p:nvSpPr>
        <p:spPr>
          <a:xfrm>
            <a:off x="5668512" y="4319713"/>
            <a:ext cx="2075815" cy="119805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+2 zorgtoepassingen</a:t>
            </a:r>
          </a:p>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Volgers aangesloten</a:t>
            </a:r>
          </a:p>
        </p:txBody>
      </p:sp>
      <p:pic>
        <p:nvPicPr>
          <p:cNvPr id="132" name="Graphic 131">
            <a:extLst>
              <a:ext uri="{FF2B5EF4-FFF2-40B4-BE49-F238E27FC236}">
                <a16:creationId xmlns:a16="http://schemas.microsoft.com/office/drawing/2014/main" id="{9A12224F-69F5-4B19-5B78-7D38957F68D4}"/>
              </a:ext>
            </a:extLst>
          </p:cNvPr>
          <p:cNvPicPr>
            <a:picLocks noChangeAspect="1"/>
          </p:cNvPicPr>
          <p:nvPr>
            <p:custDataLst>
              <p:tags r:id="rId1"/>
            </p:custDataLst>
          </p:nvPr>
        </p:nvPicPr>
        <p:blipFill>
          <a:blip r:embed="rId12">
            <a:extLst>
              <a:ext uri="{96DAC541-7B7A-43D3-8B79-37D633B846F1}">
                <asvg:svgBlip xmlns:asvg="http://schemas.microsoft.com/office/drawing/2016/SVG/main" r:embed="rId13"/>
              </a:ext>
            </a:extLst>
          </a:blip>
          <a:stretch>
            <a:fillRect/>
          </a:stretch>
        </p:blipFill>
        <p:spPr>
          <a:xfrm>
            <a:off x="3582781" y="6289357"/>
            <a:ext cx="370686" cy="370686"/>
          </a:xfrm>
          <a:prstGeom prst="rect">
            <a:avLst/>
          </a:prstGeom>
        </p:spPr>
      </p:pic>
      <p:pic>
        <p:nvPicPr>
          <p:cNvPr id="134" name="Graphic 133">
            <a:extLst>
              <a:ext uri="{FF2B5EF4-FFF2-40B4-BE49-F238E27FC236}">
                <a16:creationId xmlns:a16="http://schemas.microsoft.com/office/drawing/2014/main" id="{CAD10574-6D4C-80E1-3590-7F006F306EFB}"/>
              </a:ext>
            </a:extLst>
          </p:cNvPr>
          <p:cNvPicPr>
            <a:picLocks noChangeAspect="1"/>
          </p:cNvPicPr>
          <p:nvPr>
            <p:custDataLst>
              <p:tags r:id="rId2"/>
            </p:custDataLst>
          </p:nvPr>
        </p:nvPicPr>
        <p:blipFill>
          <a:blip r:embed="rId12">
            <a:extLst>
              <a:ext uri="{96DAC541-7B7A-43D3-8B79-37D633B846F1}">
                <asvg:svgBlip xmlns:asvg="http://schemas.microsoft.com/office/drawing/2016/SVG/main" r:embed="rId13"/>
              </a:ext>
            </a:extLst>
          </a:blip>
          <a:stretch>
            <a:fillRect/>
          </a:stretch>
        </p:blipFill>
        <p:spPr>
          <a:xfrm>
            <a:off x="3614203" y="5030581"/>
            <a:ext cx="370686" cy="370686"/>
          </a:xfrm>
          <a:prstGeom prst="rect">
            <a:avLst/>
          </a:prstGeom>
        </p:spPr>
      </p:pic>
      <p:sp>
        <p:nvSpPr>
          <p:cNvPr id="138" name="Rectangle: Rounded Corners 4">
            <a:extLst>
              <a:ext uri="{FF2B5EF4-FFF2-40B4-BE49-F238E27FC236}">
                <a16:creationId xmlns:a16="http://schemas.microsoft.com/office/drawing/2014/main" id="{C63E8B32-21E7-6744-D178-6AA72BA27F81}"/>
              </a:ext>
            </a:extLst>
          </p:cNvPr>
          <p:cNvSpPr/>
          <p:nvPr/>
        </p:nvSpPr>
        <p:spPr>
          <a:xfrm>
            <a:off x="7796444" y="5884311"/>
            <a:ext cx="2075815" cy="868947"/>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p:txBody>
      </p:sp>
      <p:sp>
        <p:nvSpPr>
          <p:cNvPr id="142" name="Rectangle: Rounded Corners 4">
            <a:extLst>
              <a:ext uri="{FF2B5EF4-FFF2-40B4-BE49-F238E27FC236}">
                <a16:creationId xmlns:a16="http://schemas.microsoft.com/office/drawing/2014/main" id="{243B667C-D65F-6379-8DBA-6C23A1F7F983}"/>
              </a:ext>
            </a:extLst>
          </p:cNvPr>
          <p:cNvSpPr/>
          <p:nvPr/>
        </p:nvSpPr>
        <p:spPr>
          <a:xfrm>
            <a:off x="9924379" y="5873670"/>
            <a:ext cx="2216220" cy="895795"/>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Adoptie nieuw proces</a:t>
            </a:r>
          </a:p>
        </p:txBody>
      </p:sp>
      <p:sp>
        <p:nvSpPr>
          <p:cNvPr id="10" name="Tekstvak 9">
            <a:extLst>
              <a:ext uri="{FF2B5EF4-FFF2-40B4-BE49-F238E27FC236}">
                <a16:creationId xmlns:a16="http://schemas.microsoft.com/office/drawing/2014/main" id="{8052E7F5-C284-83D8-F3BA-4E293842DF86}"/>
              </a:ext>
            </a:extLst>
          </p:cNvPr>
          <p:cNvSpPr txBox="1"/>
          <p:nvPr/>
        </p:nvSpPr>
        <p:spPr>
          <a:xfrm>
            <a:off x="3923827" y="4975111"/>
            <a:ext cx="1786942"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Installatie koplopers netwerkzorg viewer</a:t>
            </a:r>
          </a:p>
        </p:txBody>
      </p:sp>
      <p:sp>
        <p:nvSpPr>
          <p:cNvPr id="12" name="Tekstvak 11">
            <a:extLst>
              <a:ext uri="{FF2B5EF4-FFF2-40B4-BE49-F238E27FC236}">
                <a16:creationId xmlns:a16="http://schemas.microsoft.com/office/drawing/2014/main" id="{DA2F19B4-29B2-9481-A998-2D45440A0050}"/>
              </a:ext>
            </a:extLst>
          </p:cNvPr>
          <p:cNvSpPr txBox="1"/>
          <p:nvPr/>
        </p:nvSpPr>
        <p:spPr>
          <a:xfrm>
            <a:off x="3939294" y="6252048"/>
            <a:ext cx="1693541"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Eerste adoptie netwerkzorg viewer</a:t>
            </a:r>
          </a:p>
        </p:txBody>
      </p:sp>
      <p:pic>
        <p:nvPicPr>
          <p:cNvPr id="20" name="Graphic 19">
            <a:extLst>
              <a:ext uri="{FF2B5EF4-FFF2-40B4-BE49-F238E27FC236}">
                <a16:creationId xmlns:a16="http://schemas.microsoft.com/office/drawing/2014/main" id="{5261072C-0A01-E873-75C6-490660BE2E4B}"/>
              </a:ext>
            </a:extLst>
          </p:cNvPr>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tretch>
            <a:fillRect/>
          </a:stretch>
        </p:blipFill>
        <p:spPr>
          <a:xfrm>
            <a:off x="5733128" y="5002438"/>
            <a:ext cx="370686" cy="370686"/>
          </a:xfrm>
          <a:prstGeom prst="rect">
            <a:avLst/>
          </a:prstGeom>
        </p:spPr>
      </p:pic>
      <p:sp>
        <p:nvSpPr>
          <p:cNvPr id="23" name="Tekstvak 22">
            <a:extLst>
              <a:ext uri="{FF2B5EF4-FFF2-40B4-BE49-F238E27FC236}">
                <a16:creationId xmlns:a16="http://schemas.microsoft.com/office/drawing/2014/main" id="{06E8DB8F-3D33-9529-9A7A-AC927A5D6C31}"/>
              </a:ext>
            </a:extLst>
          </p:cNvPr>
          <p:cNvSpPr txBox="1"/>
          <p:nvPr/>
        </p:nvSpPr>
        <p:spPr>
          <a:xfrm>
            <a:off x="6042752" y="4946968"/>
            <a:ext cx="1693541"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Installatie volgers netwerkzorg viewer</a:t>
            </a:r>
          </a:p>
        </p:txBody>
      </p:sp>
      <p:sp>
        <p:nvSpPr>
          <p:cNvPr id="32" name="Rectangle: Rounded Corners 4">
            <a:extLst>
              <a:ext uri="{FF2B5EF4-FFF2-40B4-BE49-F238E27FC236}">
                <a16:creationId xmlns:a16="http://schemas.microsoft.com/office/drawing/2014/main" id="{E3C25984-1834-AEDC-8C37-AF4AFABD1774}"/>
              </a:ext>
            </a:extLst>
          </p:cNvPr>
          <p:cNvSpPr/>
          <p:nvPr/>
        </p:nvSpPr>
        <p:spPr>
          <a:xfrm>
            <a:off x="7810937" y="4319713"/>
            <a:ext cx="2075815" cy="118036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+2 zorgtoepassingen</a:t>
            </a:r>
          </a:p>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Meer volgers aangesloten </a:t>
            </a:r>
          </a:p>
        </p:txBody>
      </p:sp>
      <p:sp>
        <p:nvSpPr>
          <p:cNvPr id="33" name="Rectangle: Rounded Corners 4">
            <a:extLst>
              <a:ext uri="{FF2B5EF4-FFF2-40B4-BE49-F238E27FC236}">
                <a16:creationId xmlns:a16="http://schemas.microsoft.com/office/drawing/2014/main" id="{CAF37B20-805B-D541-B670-9B8C8821F8BA}"/>
              </a:ext>
            </a:extLst>
          </p:cNvPr>
          <p:cNvSpPr/>
          <p:nvPr/>
        </p:nvSpPr>
        <p:spPr>
          <a:xfrm>
            <a:off x="9928112" y="4319713"/>
            <a:ext cx="2212487" cy="1198050"/>
          </a:xfrm>
          <a:prstGeom prst="roundRect">
            <a:avLst/>
          </a:prstGeom>
          <a:solidFill>
            <a:srgbClr val="ECF4E4"/>
          </a:solidFill>
          <a:ln w="12700">
            <a:noFill/>
          </a:ln>
          <a:effectLst/>
        </p:spPr>
        <p:style>
          <a:lnRef idx="2">
            <a:schemeClr val="accent1"/>
          </a:lnRef>
          <a:fillRef idx="1">
            <a:schemeClr val="lt1"/>
          </a:fillRef>
          <a:effectRef idx="0">
            <a:schemeClr val="accent1"/>
          </a:effectRef>
          <a:fontRef idx="minor">
            <a:schemeClr val="dk1"/>
          </a:fontRef>
        </p:style>
        <p:txBody>
          <a:bodyPr lIns="91440" tIns="45720" rIns="91440" bIns="45720" rtlCol="0" anchor="t"/>
          <a:lstStyle/>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+2 zorgtoepassingen</a:t>
            </a:r>
          </a:p>
          <a:p>
            <a:pPr marL="171450" indent="-171450">
              <a:spcAft>
                <a:spcPts val="600"/>
              </a:spcAft>
              <a:buFont typeface="Arial" panose="020B0604020202020204" pitchFamily="34" charset="0"/>
              <a:buChar char="•"/>
              <a:defRPr/>
            </a:pPr>
            <a:r>
              <a:rPr lang="nl-NL" sz="1000">
                <a:solidFill>
                  <a:srgbClr val="000000"/>
                </a:solidFill>
                <a:latin typeface="Verdana"/>
                <a:ea typeface="Verdana"/>
                <a:cs typeface="Arial"/>
              </a:rPr>
              <a:t>De rest aangesloten</a:t>
            </a:r>
          </a:p>
        </p:txBody>
      </p:sp>
      <p:pic>
        <p:nvPicPr>
          <p:cNvPr id="34" name="Graphic 33">
            <a:extLst>
              <a:ext uri="{FF2B5EF4-FFF2-40B4-BE49-F238E27FC236}">
                <a16:creationId xmlns:a16="http://schemas.microsoft.com/office/drawing/2014/main" id="{C7D13B0E-88D0-81D4-A2DA-8D258A0B2FF1}"/>
              </a:ext>
            </a:extLst>
          </p:cNvPr>
          <p:cNvPicPr>
            <a:picLocks noChangeAspect="1"/>
          </p:cNvPicPr>
          <p:nvPr>
            <p:custDataLst>
              <p:tags r:id="rId4"/>
            </p:custDataLst>
          </p:nvPr>
        </p:nvPicPr>
        <p:blipFill>
          <a:blip r:embed="rId12">
            <a:extLst>
              <a:ext uri="{96DAC541-7B7A-43D3-8B79-37D633B846F1}">
                <asvg:svgBlip xmlns:asvg="http://schemas.microsoft.com/office/drawing/2016/SVG/main" r:embed="rId13"/>
              </a:ext>
            </a:extLst>
          </a:blip>
          <a:stretch>
            <a:fillRect/>
          </a:stretch>
        </p:blipFill>
        <p:spPr>
          <a:xfrm>
            <a:off x="7873803" y="5025380"/>
            <a:ext cx="370686" cy="370686"/>
          </a:xfrm>
          <a:prstGeom prst="rect">
            <a:avLst/>
          </a:prstGeom>
        </p:spPr>
      </p:pic>
      <p:sp>
        <p:nvSpPr>
          <p:cNvPr id="35" name="Tekstvak 34">
            <a:extLst>
              <a:ext uri="{FF2B5EF4-FFF2-40B4-BE49-F238E27FC236}">
                <a16:creationId xmlns:a16="http://schemas.microsoft.com/office/drawing/2014/main" id="{11D30172-9BDB-9D39-FBE6-5945E68D524E}"/>
              </a:ext>
            </a:extLst>
          </p:cNvPr>
          <p:cNvSpPr txBox="1"/>
          <p:nvPr/>
        </p:nvSpPr>
        <p:spPr>
          <a:xfrm>
            <a:off x="8183427" y="4969910"/>
            <a:ext cx="1786942"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Installatie volgers netwerkzorg viewer</a:t>
            </a:r>
          </a:p>
        </p:txBody>
      </p:sp>
      <p:pic>
        <p:nvPicPr>
          <p:cNvPr id="36" name="Graphic 35">
            <a:extLst>
              <a:ext uri="{FF2B5EF4-FFF2-40B4-BE49-F238E27FC236}">
                <a16:creationId xmlns:a16="http://schemas.microsoft.com/office/drawing/2014/main" id="{A9F6E15C-E61B-016B-C376-BFF26717C071}"/>
              </a:ext>
            </a:extLst>
          </p:cNvPr>
          <p:cNvPicPr>
            <a:picLocks noChangeAspect="1"/>
          </p:cNvPicPr>
          <p:nvPr>
            <p:custDataLst>
              <p:tags r:id="rId5"/>
            </p:custDataLst>
          </p:nvPr>
        </p:nvPicPr>
        <p:blipFill>
          <a:blip r:embed="rId12">
            <a:extLst>
              <a:ext uri="{96DAC541-7B7A-43D3-8B79-37D633B846F1}">
                <asvg:svgBlip xmlns:asvg="http://schemas.microsoft.com/office/drawing/2016/SVG/main" r:embed="rId13"/>
              </a:ext>
            </a:extLst>
          </a:blip>
          <a:stretch>
            <a:fillRect/>
          </a:stretch>
        </p:blipFill>
        <p:spPr>
          <a:xfrm>
            <a:off x="9992728" y="4944687"/>
            <a:ext cx="370686" cy="370686"/>
          </a:xfrm>
          <a:prstGeom prst="rect">
            <a:avLst/>
          </a:prstGeom>
        </p:spPr>
      </p:pic>
      <p:sp>
        <p:nvSpPr>
          <p:cNvPr id="37" name="Tekstvak 36">
            <a:extLst>
              <a:ext uri="{FF2B5EF4-FFF2-40B4-BE49-F238E27FC236}">
                <a16:creationId xmlns:a16="http://schemas.microsoft.com/office/drawing/2014/main" id="{78BE720A-342D-1B01-83D3-351228D0E57A}"/>
              </a:ext>
            </a:extLst>
          </p:cNvPr>
          <p:cNvSpPr txBox="1"/>
          <p:nvPr/>
        </p:nvSpPr>
        <p:spPr>
          <a:xfrm>
            <a:off x="10302352" y="4889217"/>
            <a:ext cx="1693541"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Installatie iedereen netwerkzorg viewer</a:t>
            </a:r>
          </a:p>
        </p:txBody>
      </p:sp>
      <p:pic>
        <p:nvPicPr>
          <p:cNvPr id="38" name="Graphic 37">
            <a:extLst>
              <a:ext uri="{FF2B5EF4-FFF2-40B4-BE49-F238E27FC236}">
                <a16:creationId xmlns:a16="http://schemas.microsoft.com/office/drawing/2014/main" id="{06D7CAA0-10BB-A178-A9F6-311FD083C38E}"/>
              </a:ext>
            </a:extLst>
          </p:cNvPr>
          <p:cNvPicPr>
            <a:picLocks noChangeAspect="1"/>
          </p:cNvPicPr>
          <p:nvPr>
            <p:custDataLst>
              <p:tags r:id="rId6"/>
            </p:custDataLst>
          </p:nvPr>
        </p:nvPicPr>
        <p:blipFill>
          <a:blip r:embed="rId12">
            <a:extLst>
              <a:ext uri="{96DAC541-7B7A-43D3-8B79-37D633B846F1}">
                <asvg:svgBlip xmlns:asvg="http://schemas.microsoft.com/office/drawing/2016/SVG/main" r:embed="rId13"/>
              </a:ext>
            </a:extLst>
          </a:blip>
          <a:stretch>
            <a:fillRect/>
          </a:stretch>
        </p:blipFill>
        <p:spPr>
          <a:xfrm>
            <a:off x="5710638" y="6315240"/>
            <a:ext cx="370686" cy="370686"/>
          </a:xfrm>
          <a:prstGeom prst="rect">
            <a:avLst/>
          </a:prstGeom>
        </p:spPr>
      </p:pic>
      <p:sp>
        <p:nvSpPr>
          <p:cNvPr id="39" name="Tekstvak 38">
            <a:extLst>
              <a:ext uri="{FF2B5EF4-FFF2-40B4-BE49-F238E27FC236}">
                <a16:creationId xmlns:a16="http://schemas.microsoft.com/office/drawing/2014/main" id="{DE6891CF-0208-E08B-5624-002C01170292}"/>
              </a:ext>
            </a:extLst>
          </p:cNvPr>
          <p:cNvSpPr txBox="1"/>
          <p:nvPr/>
        </p:nvSpPr>
        <p:spPr>
          <a:xfrm>
            <a:off x="6067151" y="6277931"/>
            <a:ext cx="1693541"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Eerste adoptie netwerkzorg viewer</a:t>
            </a:r>
          </a:p>
        </p:txBody>
      </p:sp>
      <p:pic>
        <p:nvPicPr>
          <p:cNvPr id="40" name="Graphic 39">
            <a:extLst>
              <a:ext uri="{FF2B5EF4-FFF2-40B4-BE49-F238E27FC236}">
                <a16:creationId xmlns:a16="http://schemas.microsoft.com/office/drawing/2014/main" id="{7BFB55C0-8357-048D-A9CD-8CC881B1966B}"/>
              </a:ext>
            </a:extLst>
          </p:cNvPr>
          <p:cNvPicPr>
            <a:picLocks noChangeAspect="1"/>
          </p:cNvPicPr>
          <p:nvPr>
            <p:custDataLst>
              <p:tags r:id="rId7"/>
            </p:custDataLst>
          </p:nvPr>
        </p:nvPicPr>
        <p:blipFill>
          <a:blip r:embed="rId12">
            <a:extLst>
              <a:ext uri="{96DAC541-7B7A-43D3-8B79-37D633B846F1}">
                <asvg:svgBlip xmlns:asvg="http://schemas.microsoft.com/office/drawing/2016/SVG/main" r:embed="rId13"/>
              </a:ext>
            </a:extLst>
          </a:blip>
          <a:stretch>
            <a:fillRect/>
          </a:stretch>
        </p:blipFill>
        <p:spPr>
          <a:xfrm>
            <a:off x="7836698" y="6307737"/>
            <a:ext cx="370686" cy="370686"/>
          </a:xfrm>
          <a:prstGeom prst="rect">
            <a:avLst/>
          </a:prstGeom>
        </p:spPr>
      </p:pic>
      <p:sp>
        <p:nvSpPr>
          <p:cNvPr id="41" name="Tekstvak 40">
            <a:extLst>
              <a:ext uri="{FF2B5EF4-FFF2-40B4-BE49-F238E27FC236}">
                <a16:creationId xmlns:a16="http://schemas.microsoft.com/office/drawing/2014/main" id="{149B5FF7-F62C-0202-E46F-CDCAFCD58346}"/>
              </a:ext>
            </a:extLst>
          </p:cNvPr>
          <p:cNvSpPr txBox="1"/>
          <p:nvPr/>
        </p:nvSpPr>
        <p:spPr>
          <a:xfrm>
            <a:off x="8193211" y="6270428"/>
            <a:ext cx="1693541"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Eerste adoptie netwerkzorg viewer</a:t>
            </a:r>
          </a:p>
        </p:txBody>
      </p:sp>
      <p:pic>
        <p:nvPicPr>
          <p:cNvPr id="42" name="Graphic 41">
            <a:extLst>
              <a:ext uri="{FF2B5EF4-FFF2-40B4-BE49-F238E27FC236}">
                <a16:creationId xmlns:a16="http://schemas.microsoft.com/office/drawing/2014/main" id="{320D74B8-B8AF-4B5B-D551-E533012894B1}"/>
              </a:ext>
            </a:extLst>
          </p:cNvPr>
          <p:cNvPicPr>
            <a:picLocks noChangeAspect="1"/>
          </p:cNvPicPr>
          <p:nvPr>
            <p:custDataLst>
              <p:tags r:id="rId8"/>
            </p:custDataLst>
          </p:nvPr>
        </p:nvPicPr>
        <p:blipFill>
          <a:blip r:embed="rId12">
            <a:extLst>
              <a:ext uri="{96DAC541-7B7A-43D3-8B79-37D633B846F1}">
                <asvg:svgBlip xmlns:asvg="http://schemas.microsoft.com/office/drawing/2016/SVG/main" r:embed="rId13"/>
              </a:ext>
            </a:extLst>
          </a:blip>
          <a:stretch>
            <a:fillRect/>
          </a:stretch>
        </p:blipFill>
        <p:spPr>
          <a:xfrm>
            <a:off x="9979406" y="6300234"/>
            <a:ext cx="370686" cy="370686"/>
          </a:xfrm>
          <a:prstGeom prst="rect">
            <a:avLst/>
          </a:prstGeom>
        </p:spPr>
      </p:pic>
      <p:sp>
        <p:nvSpPr>
          <p:cNvPr id="43" name="Tekstvak 42">
            <a:extLst>
              <a:ext uri="{FF2B5EF4-FFF2-40B4-BE49-F238E27FC236}">
                <a16:creationId xmlns:a16="http://schemas.microsoft.com/office/drawing/2014/main" id="{AA6352B8-F231-E8DF-DE50-30C3F0ECC88E}"/>
              </a:ext>
            </a:extLst>
          </p:cNvPr>
          <p:cNvSpPr txBox="1"/>
          <p:nvPr/>
        </p:nvSpPr>
        <p:spPr>
          <a:xfrm>
            <a:off x="10335919" y="6262925"/>
            <a:ext cx="1693541" cy="415498"/>
          </a:xfrm>
          <a:prstGeom prst="rect">
            <a:avLst/>
          </a:prstGeom>
          <a:noFill/>
        </p:spPr>
        <p:txBody>
          <a:bodyPr wrap="square" anchor="ctr">
            <a:spAutoFit/>
          </a:bodyPr>
          <a:lstStyle/>
          <a:p>
            <a:pPr>
              <a:spcAft>
                <a:spcPts val="600"/>
              </a:spcAft>
              <a:defRPr/>
            </a:pPr>
            <a:r>
              <a:rPr lang="nl-NL" sz="1050" b="1">
                <a:solidFill>
                  <a:srgbClr val="000000"/>
                </a:solidFill>
                <a:latin typeface="Verdana" panose="020B0604030504040204" pitchFamily="34" charset="0"/>
                <a:ea typeface="Verdana" panose="020B0604030504040204" pitchFamily="34" charset="0"/>
                <a:cs typeface="Arial"/>
              </a:rPr>
              <a:t>Eerste adoptie netwerkzorg viewer</a:t>
            </a:r>
          </a:p>
        </p:txBody>
      </p:sp>
      <p:sp>
        <p:nvSpPr>
          <p:cNvPr id="2" name="Rectangle: Top Corners Rounded 38">
            <a:hlinkClick r:id="rId14" action="ppaction://hlinksldjump"/>
            <a:extLst>
              <a:ext uri="{FF2B5EF4-FFF2-40B4-BE49-F238E27FC236}">
                <a16:creationId xmlns:a16="http://schemas.microsoft.com/office/drawing/2014/main" id="{C5842C6E-34E2-5863-2D1F-A825B786DDC1}"/>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Management Samenvatting</a:t>
            </a:r>
          </a:p>
        </p:txBody>
      </p:sp>
      <p:pic>
        <p:nvPicPr>
          <p:cNvPr id="3" name="Graphic 2" descr="Introductiepagina silhouet">
            <a:hlinkClick r:id="rId15" action="ppaction://hlinksldjump"/>
            <a:extLst>
              <a:ext uri="{FF2B5EF4-FFF2-40B4-BE49-F238E27FC236}">
                <a16:creationId xmlns:a16="http://schemas.microsoft.com/office/drawing/2014/main" id="{7A919896-72D8-3431-D476-D3FF1CE5F81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136" y="147223"/>
            <a:ext cx="144000" cy="144000"/>
          </a:xfrm>
          <a:prstGeom prst="rect">
            <a:avLst/>
          </a:prstGeom>
        </p:spPr>
      </p:pic>
      <p:sp>
        <p:nvSpPr>
          <p:cNvPr id="4" name="Rectangle: Top Corners Rounded 1">
            <a:hlinkClick r:id="rId18" action="ppaction://hlinksldjump"/>
            <a:extLst>
              <a:ext uri="{FF2B5EF4-FFF2-40B4-BE49-F238E27FC236}">
                <a16:creationId xmlns:a16="http://schemas.microsoft.com/office/drawing/2014/main" id="{6ED63DC0-2121-375D-0DE4-0171374DCD58}"/>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5" name="Rectangle: Top Corners Rounded 1">
            <a:hlinkClick r:id="rId19" action="ppaction://hlinksldjump"/>
            <a:extLst>
              <a:ext uri="{FF2B5EF4-FFF2-40B4-BE49-F238E27FC236}">
                <a16:creationId xmlns:a16="http://schemas.microsoft.com/office/drawing/2014/main" id="{6316152E-23FE-6880-2BFC-21C8BA13CCB2}"/>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6" name="Rectangle: Top Corners Rounded 1">
            <a:hlinkClick r:id="rId20" action="ppaction://hlinksldjump"/>
            <a:extLst>
              <a:ext uri="{FF2B5EF4-FFF2-40B4-BE49-F238E27FC236}">
                <a16:creationId xmlns:a16="http://schemas.microsoft.com/office/drawing/2014/main" id="{26FF180B-B45C-375D-50E6-BA0E26106956}"/>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8" name="Rectangle: Top Corners Rounded 1">
            <a:hlinkClick r:id="rId21" action="ppaction://hlinksldjump"/>
            <a:extLst>
              <a:ext uri="{FF2B5EF4-FFF2-40B4-BE49-F238E27FC236}">
                <a16:creationId xmlns:a16="http://schemas.microsoft.com/office/drawing/2014/main" id="{36C06D9D-5794-0BF5-1B64-A5375FC0E5F7}"/>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1" name="Rectangle: Top Corners Rounded 1">
            <a:hlinkClick r:id="rId22" action="ppaction://hlinksldjump"/>
            <a:extLst>
              <a:ext uri="{FF2B5EF4-FFF2-40B4-BE49-F238E27FC236}">
                <a16:creationId xmlns:a16="http://schemas.microsoft.com/office/drawing/2014/main" id="{2DFEB685-8699-783B-EA2A-522D1711B066}"/>
              </a:ext>
            </a:extLst>
          </p:cNvPr>
          <p:cNvSpPr/>
          <p:nvPr/>
        </p:nvSpPr>
        <p:spPr>
          <a:xfrm>
            <a:off x="487712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23" action="ppaction://hlinksldjump"/>
            <a:extLst>
              <a:ext uri="{FF2B5EF4-FFF2-40B4-BE49-F238E27FC236}">
                <a16:creationId xmlns:a16="http://schemas.microsoft.com/office/drawing/2014/main" id="{35ACE55E-18C3-AAB8-1F3B-536B353FF8D6}"/>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24" action="ppaction://hlinksldjump"/>
            <a:extLst>
              <a:ext uri="{FF2B5EF4-FFF2-40B4-BE49-F238E27FC236}">
                <a16:creationId xmlns:a16="http://schemas.microsoft.com/office/drawing/2014/main" id="{27253E99-F5DB-DBD8-CEF5-3CDC92D2175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25" action="ppaction://hlinksldjump"/>
            <a:extLst>
              <a:ext uri="{FF2B5EF4-FFF2-40B4-BE49-F238E27FC236}">
                <a16:creationId xmlns:a16="http://schemas.microsoft.com/office/drawing/2014/main" id="{55417828-4B33-9713-1DC6-C4E56DA01EE5}"/>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26" action="ppaction://hlinksldjump"/>
            <a:extLst>
              <a:ext uri="{FF2B5EF4-FFF2-40B4-BE49-F238E27FC236}">
                <a16:creationId xmlns:a16="http://schemas.microsoft.com/office/drawing/2014/main" id="{3C861853-1E88-465D-02E8-D5DBD0AA5953}"/>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27" action="ppaction://hlinksldjump"/>
            <a:extLst>
              <a:ext uri="{FF2B5EF4-FFF2-40B4-BE49-F238E27FC236}">
                <a16:creationId xmlns:a16="http://schemas.microsoft.com/office/drawing/2014/main" id="{ED0695D4-AB64-5494-5B17-6FBAA1E36CB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9" name="Rectangle: Top Corners Rounded 1">
            <a:hlinkClick r:id="rId28" action="ppaction://hlinksldjump"/>
            <a:extLst>
              <a:ext uri="{FF2B5EF4-FFF2-40B4-BE49-F238E27FC236}">
                <a16:creationId xmlns:a16="http://schemas.microsoft.com/office/drawing/2014/main" id="{D6CCE9BC-B441-B46C-7B56-ECBB0FAD19BB}"/>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1826976741"/>
      </p:ext>
    </p:extLst>
  </p:cSld>
  <p:clrMapOvr>
    <a:masterClrMapping/>
  </p:clrMapOvr>
  <p:extLst>
    <p:ext uri="{6950BFC3-D8DA-4A85-94F7-54DA5524770B}">
      <p188:commentRel xmlns:p188="http://schemas.microsoft.com/office/powerpoint/2018/8/main" r:id="rId11"/>
    </p:ext>
  </p:extLs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a:bodyPr>
          <a:lstStyle/>
          <a:p>
            <a:pPr algn="ctr"/>
            <a:r>
              <a:rPr lang="nl-NL">
                <a:latin typeface="Verdana Pro"/>
                <a:cs typeface="Helvetica"/>
              </a:rPr>
              <a:t>0.0 Fundament Digitalisering &amp; Gegevensuitwisseling</a:t>
            </a:r>
            <a:endParaRPr lang="nl-NL"/>
          </a:p>
        </p:txBody>
      </p:sp>
      <p:pic>
        <p:nvPicPr>
          <p:cNvPr id="21" name="Afbeelding 20">
            <a:extLst>
              <a:ext uri="{FF2B5EF4-FFF2-40B4-BE49-F238E27FC236}">
                <a16:creationId xmlns:a16="http://schemas.microsoft.com/office/drawing/2014/main" id="{BEC35441-9600-DDA9-AC0C-99E7AE6F259F}"/>
              </a:ext>
            </a:extLst>
          </p:cNvPr>
          <p:cNvPicPr>
            <a:picLocks noChangeAspect="1"/>
          </p:cNvPicPr>
          <p:nvPr/>
        </p:nvPicPr>
        <p:blipFill>
          <a:blip r:embed="rId6"/>
          <a:stretch>
            <a:fillRect/>
          </a:stretch>
        </p:blipFill>
        <p:spPr>
          <a:xfrm>
            <a:off x="10300560" y="839874"/>
            <a:ext cx="1764485" cy="674084"/>
          </a:xfrm>
          <a:prstGeom prst="rect">
            <a:avLst/>
          </a:prstGeom>
        </p:spPr>
      </p:pic>
      <p:sp>
        <p:nvSpPr>
          <p:cNvPr id="22" name="Rechthoek 21">
            <a:extLst>
              <a:ext uri="{FF2B5EF4-FFF2-40B4-BE49-F238E27FC236}">
                <a16:creationId xmlns:a16="http://schemas.microsoft.com/office/drawing/2014/main" id="{C586EEF8-543A-A08B-D32C-BD485EF9FFDD}"/>
              </a:ext>
            </a:extLst>
          </p:cNvPr>
          <p:cNvSpPr/>
          <p:nvPr/>
        </p:nvSpPr>
        <p:spPr>
          <a:xfrm>
            <a:off x="10270080" y="1368502"/>
            <a:ext cx="1800000" cy="18000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23" name="Rechthoek 22">
            <a:extLst>
              <a:ext uri="{FF2B5EF4-FFF2-40B4-BE49-F238E27FC236}">
                <a16:creationId xmlns:a16="http://schemas.microsoft.com/office/drawing/2014/main" id="{7DB6B85A-CB48-DFCB-BF78-E56E243B1728}"/>
              </a:ext>
            </a:extLst>
          </p:cNvPr>
          <p:cNvSpPr/>
          <p:nvPr/>
        </p:nvSpPr>
        <p:spPr>
          <a:xfrm>
            <a:off x="10270080" y="839901"/>
            <a:ext cx="1800000" cy="504000"/>
          </a:xfrm>
          <a:prstGeom prst="rect">
            <a:avLst/>
          </a:prstGeom>
          <a:solidFill>
            <a:schemeClr val="bg2">
              <a:alpha val="70000"/>
            </a:schemeClr>
          </a:solidFill>
          <a:ln w="38100">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Tree>
    <p:extLst>
      <p:ext uri="{BB962C8B-B14F-4D97-AF65-F5344CB8AC3E}">
        <p14:creationId xmlns:p14="http://schemas.microsoft.com/office/powerpoint/2010/main" val="3523314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hthoek: afgeronde hoeken 26">
            <a:extLst>
              <a:ext uri="{FF2B5EF4-FFF2-40B4-BE49-F238E27FC236}">
                <a16:creationId xmlns:a16="http://schemas.microsoft.com/office/drawing/2014/main" id="{985A9410-C332-3BF8-88AA-7BB04071101E}"/>
              </a:ext>
            </a:extLst>
          </p:cNvPr>
          <p:cNvSpPr/>
          <p:nvPr/>
        </p:nvSpPr>
        <p:spPr>
          <a:xfrm>
            <a:off x="495123" y="1712235"/>
            <a:ext cx="5454219" cy="5009240"/>
          </a:xfrm>
          <a:prstGeom prst="roundRect">
            <a:avLst>
              <a:gd name="adj" fmla="val 3438"/>
            </a:avLst>
          </a:prstGeom>
          <a:no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Rechthoek 1">
            <a:extLst>
              <a:ext uri="{FF2B5EF4-FFF2-40B4-BE49-F238E27FC236}">
                <a16:creationId xmlns:a16="http://schemas.microsoft.com/office/drawing/2014/main" id="{1E5A5C06-06D7-91B5-7326-FA843C6B9F97}"/>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E6272525-382C-0B04-EE69-2103F86EA8A4}"/>
              </a:ext>
            </a:extLst>
          </p:cNvPr>
          <p:cNvSpPr/>
          <p:nvPr/>
        </p:nvSpPr>
        <p:spPr>
          <a:xfrm>
            <a:off x="11221643" y="6376589"/>
            <a:ext cx="965408" cy="473008"/>
          </a:xfrm>
          <a:prstGeom prst="rect">
            <a:avLst/>
          </a:prstGeom>
          <a:blipFill dpi="0" rotWithShape="1">
            <a:blip r:embed="rId8"/>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ijdelijke aanduiding voor inhoud 2">
            <a:extLst>
              <a:ext uri="{FF2B5EF4-FFF2-40B4-BE49-F238E27FC236}">
                <a16:creationId xmlns:a16="http://schemas.microsoft.com/office/drawing/2014/main" id="{458D43B0-5FCB-7B8A-81D8-E01BC4493F1F}"/>
              </a:ext>
            </a:extLst>
          </p:cNvPr>
          <p:cNvSpPr txBox="1">
            <a:spLocks/>
          </p:cNvSpPr>
          <p:nvPr/>
        </p:nvSpPr>
        <p:spPr>
          <a:xfrm>
            <a:off x="487371" y="2126454"/>
            <a:ext cx="5495546" cy="45950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sz="1100">
                <a:latin typeface="Verdana"/>
                <a:ea typeface="Verdana"/>
              </a:rPr>
              <a:t>De kwaliteit en betaalbaarheid van de zorg staat onder druk door vergrijzing, hoge administratieve lasten en personeelstekort. Zorgprofessionals hebben geen volledig beeld van de inwoner, wat de zorguitkomsten en hun effectieve tijdsbesteding negatief beïnvloedt. Ook hebben inwoners weinig regie en inzicht in hun eigen situatie. Dit moet veranderen. </a:t>
            </a:r>
          </a:p>
          <a:p>
            <a:pPr marL="0" indent="0">
              <a:buNone/>
            </a:pPr>
            <a:r>
              <a:rPr lang="nl-NL" sz="1100" b="0" i="0">
                <a:solidFill>
                  <a:srgbClr val="111111"/>
                </a:solidFill>
                <a:effectLst/>
              </a:rPr>
              <a:t>Databeschikbaarheid en netwerkzorg zijn cruciaal voor deze benodigde transformatie. Alle betrokken partijen in het zorgnetwerk van de inwoner moeten goed ondersteund worden met relevante informatie. Zorg-professionals kunnen betere zorg leveren als zij een holistisch beeld van de inwoner hebben, met de juiste informatie op het juiste moment. Zo krijgt ook de inwoner meer controle krijgt over zijn zorgproces. </a:t>
            </a:r>
          </a:p>
          <a:p>
            <a:pPr marL="0" indent="0">
              <a:buNone/>
            </a:pPr>
            <a:r>
              <a:rPr lang="nl-NL" sz="1100">
                <a:latin typeface="Verdana"/>
                <a:ea typeface="Verdana"/>
              </a:rPr>
              <a:t>Een holistisch beeld van de inwoner is nodig voor het leveren van passende zorg. Uitganspunt hierbij is de juiste informatie, op de juiste plek op het juiste moment. Hiervoor is een platform vereist, waarin de relevante gegevens van een inwoner uit verschillende bronnen veilig beschikbaar worden gesteld aan de zorgprofessional en de inwoner. </a:t>
            </a:r>
          </a:p>
          <a:p>
            <a:pPr marL="0" indent="0">
              <a:buFont typeface="Arial" panose="020B0604020202020204" pitchFamily="34" charset="0"/>
              <a:buNone/>
            </a:pPr>
            <a:r>
              <a:rPr lang="nl-NL" sz="1100">
                <a:latin typeface="Verdana"/>
                <a:ea typeface="Verdana"/>
              </a:rPr>
              <a:t>Dit data platform ondersteunt de geprioriteerde </a:t>
            </a:r>
            <a:r>
              <a:rPr lang="nl-NL" sz="1100" err="1">
                <a:latin typeface="Verdana"/>
                <a:ea typeface="Verdana"/>
              </a:rPr>
              <a:t>use</a:t>
            </a:r>
            <a:r>
              <a:rPr lang="nl-NL" sz="1100">
                <a:latin typeface="Verdana"/>
                <a:ea typeface="Verdana"/>
              </a:rPr>
              <a:t> cases uit dit transformatieplan, en moet netwerkzorg in brede zin ondersteunen. Het dient ook bruikbaar te zijn voor nieuwe innovaties (zoals AI, DSS) en onderzoek (secundair gebruik). </a:t>
            </a:r>
          </a:p>
          <a:p>
            <a:pPr marL="0" indent="0">
              <a:buNone/>
            </a:pPr>
            <a:r>
              <a:rPr lang="nl-NL" sz="1100">
                <a:latin typeface="Verdana"/>
                <a:ea typeface="Verdana"/>
              </a:rPr>
              <a:t>Met het platform wordt de professional beter ondersteund met relevante integrale informatie over de inwoner, waardoor de werkdruk verlaagd kan worden, de kwaliteit van de zorg verhoogd wordt en MDO-overleggen beter ondersteund worden. </a:t>
            </a:r>
            <a:r>
              <a:rPr lang="nl-NL" sz="1100" b="0" i="0">
                <a:solidFill>
                  <a:srgbClr val="111111"/>
                </a:solidFill>
                <a:effectLst/>
              </a:rPr>
              <a:t>Inwoners krijgen beter inzicht in hun zorggegevens en kunnen meer regie nemen over hun eigen zorgproces.</a:t>
            </a:r>
            <a:endParaRPr lang="en-NL" sz="1200"/>
          </a:p>
        </p:txBody>
      </p:sp>
      <p:sp>
        <p:nvSpPr>
          <p:cNvPr id="12" name="Rechthoek: afgeronde hoeken 11">
            <a:extLst>
              <a:ext uri="{FF2B5EF4-FFF2-40B4-BE49-F238E27FC236}">
                <a16:creationId xmlns:a16="http://schemas.microsoft.com/office/drawing/2014/main" id="{FBD9A230-DBB1-3C8C-A136-15DC210904D2}"/>
              </a:ext>
            </a:extLst>
          </p:cNvPr>
          <p:cNvSpPr/>
          <p:nvPr/>
        </p:nvSpPr>
        <p:spPr>
          <a:xfrm>
            <a:off x="6731244" y="2353763"/>
            <a:ext cx="5024626" cy="1206376"/>
          </a:xfrm>
          <a:prstGeom prst="roundRect">
            <a:avLst/>
          </a:prstGeom>
          <a:noFill/>
          <a:ln w="28575">
            <a:solidFill>
              <a:srgbClr val="ABCD8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endParaRPr lang="nl-NL" sz="1100">
              <a:solidFill>
                <a:schemeClr val="tx1"/>
              </a:solidFill>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Krijgt zorg die beter passend is bij het totaal plaatje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Hoeft minder lang (af) te wachten op de juiste zorg</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Hoeft minder vaak informatie te herhalen</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Krijgt meer regie over het eigen zorgproces</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Ervaart betere zorguitkomsten </a:t>
            </a:r>
          </a:p>
          <a:p>
            <a:pPr marL="285750" indent="-285750">
              <a:buFont typeface="Arial" panose="020B0604020202020204" pitchFamily="34" charset="0"/>
              <a:buChar char="•"/>
            </a:pPr>
            <a:endParaRPr lang="en-NL" sz="1100">
              <a:solidFill>
                <a:schemeClr val="tx1"/>
              </a:solidFill>
              <a:latin typeface="Verdana" panose="020B0604030504040204" pitchFamily="34" charset="0"/>
              <a:ea typeface="Verdana" panose="020B0604030504040204" pitchFamily="34" charset="0"/>
            </a:endParaRPr>
          </a:p>
        </p:txBody>
      </p:sp>
      <p:sp>
        <p:nvSpPr>
          <p:cNvPr id="13" name="Rechthoek: afgeronde hoeken 12">
            <a:extLst>
              <a:ext uri="{FF2B5EF4-FFF2-40B4-BE49-F238E27FC236}">
                <a16:creationId xmlns:a16="http://schemas.microsoft.com/office/drawing/2014/main" id="{D865EDCA-15E8-9F10-80D2-F2D8A4F32EF9}"/>
              </a:ext>
            </a:extLst>
          </p:cNvPr>
          <p:cNvSpPr/>
          <p:nvPr/>
        </p:nvSpPr>
        <p:spPr>
          <a:xfrm>
            <a:off x="6731244" y="3941653"/>
            <a:ext cx="5003192" cy="1205494"/>
          </a:xfrm>
          <a:prstGeom prst="roundRect">
            <a:avLst/>
          </a:prstGeom>
          <a:noFill/>
          <a:ln w="28575">
            <a:solidFill>
              <a:srgbClr val="ABCD8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Minder administratieve last door overtypen en nabellen</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Betere samenwerking met collega zorgprofessionals</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Kan meer focussen op leveren van zorg</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Minder wachten en nabellen voor juiste informatie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Meer structuur in werkwijze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Vergroot werkplezier </a:t>
            </a:r>
          </a:p>
          <a:p>
            <a:r>
              <a:rPr lang="nl-NL" sz="1100">
                <a:solidFill>
                  <a:schemeClr val="tx1"/>
                </a:solidFill>
                <a:latin typeface="Verdana" panose="020B0604030504040204" pitchFamily="34" charset="0"/>
                <a:ea typeface="Verdana" panose="020B0604030504040204" pitchFamily="34" charset="0"/>
              </a:rPr>
              <a:t> </a:t>
            </a:r>
            <a:endParaRPr lang="en-NL" sz="1100">
              <a:solidFill>
                <a:schemeClr val="tx1"/>
              </a:solidFill>
              <a:latin typeface="Verdana" panose="020B0604030504040204" pitchFamily="34" charset="0"/>
              <a:ea typeface="Verdana" panose="020B0604030504040204" pitchFamily="34" charset="0"/>
            </a:endParaRPr>
          </a:p>
        </p:txBody>
      </p:sp>
      <p:sp>
        <p:nvSpPr>
          <p:cNvPr id="15" name="Rechthoek: afgeronde hoeken 14">
            <a:extLst>
              <a:ext uri="{FF2B5EF4-FFF2-40B4-BE49-F238E27FC236}">
                <a16:creationId xmlns:a16="http://schemas.microsoft.com/office/drawing/2014/main" id="{390364F6-7B34-B199-4591-63430FD24BE3}"/>
              </a:ext>
            </a:extLst>
          </p:cNvPr>
          <p:cNvSpPr/>
          <p:nvPr/>
        </p:nvSpPr>
        <p:spPr>
          <a:xfrm>
            <a:off x="6709810" y="5597294"/>
            <a:ext cx="5024626" cy="1109495"/>
          </a:xfrm>
          <a:prstGeom prst="roundRect">
            <a:avLst/>
          </a:prstGeom>
          <a:noFill/>
          <a:ln w="28575">
            <a:solidFill>
              <a:srgbClr val="D5EAC8"/>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Meer regie op gegevensuitwisseling en databeschikbaarheid</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Zorg blijft toegankelijk, van goede kwaliteit en betaalbaar</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Verregaande en betere samenwerking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Effectief gebruik van innovaties </a:t>
            </a:r>
          </a:p>
          <a:p>
            <a:pPr marL="285750" indent="-285750">
              <a:buFont typeface="Arial" panose="020B0604020202020204" pitchFamily="34" charset="0"/>
              <a:buChar char="•"/>
            </a:pPr>
            <a:r>
              <a:rPr lang="nl-NL" sz="1100">
                <a:solidFill>
                  <a:schemeClr val="tx1"/>
                </a:solidFill>
                <a:latin typeface="Verdana" panose="020B0604030504040204" pitchFamily="34" charset="0"/>
                <a:ea typeface="Verdana" panose="020B0604030504040204" pitchFamily="34" charset="0"/>
              </a:rPr>
              <a:t>Efficiëntere coördinatie van zorg </a:t>
            </a:r>
          </a:p>
          <a:p>
            <a:endParaRPr lang="nl-NL" sz="1100">
              <a:solidFill>
                <a:schemeClr val="tx1"/>
              </a:solidFill>
              <a:latin typeface="Verdana" panose="020B0604030504040204" pitchFamily="34" charset="0"/>
              <a:ea typeface="Verdana" panose="020B0604030504040204" pitchFamily="34" charset="0"/>
            </a:endParaRPr>
          </a:p>
          <a:p>
            <a:r>
              <a:rPr lang="nl-NL" sz="1100">
                <a:solidFill>
                  <a:schemeClr val="tx1"/>
                </a:solidFill>
                <a:latin typeface="Verdana" panose="020B0604030504040204" pitchFamily="34" charset="0"/>
                <a:ea typeface="Verdana" panose="020B0604030504040204" pitchFamily="34" charset="0"/>
              </a:rPr>
              <a:t> </a:t>
            </a:r>
            <a:endParaRPr lang="en-NL" sz="1100">
              <a:solidFill>
                <a:schemeClr val="tx1"/>
              </a:solidFill>
              <a:latin typeface="Verdana" panose="020B0604030504040204" pitchFamily="34" charset="0"/>
              <a:ea typeface="Verdana" panose="020B0604030504040204" pitchFamily="34" charset="0"/>
            </a:endParaRPr>
          </a:p>
        </p:txBody>
      </p:sp>
      <p:sp>
        <p:nvSpPr>
          <p:cNvPr id="26" name="Rectangle 9">
            <a:extLst>
              <a:ext uri="{FF2B5EF4-FFF2-40B4-BE49-F238E27FC236}">
                <a16:creationId xmlns:a16="http://schemas.microsoft.com/office/drawing/2014/main" id="{95E6215F-3E0F-0836-F241-FF56A73CBEE2}"/>
              </a:ext>
            </a:extLst>
          </p:cNvPr>
          <p:cNvSpPr/>
          <p:nvPr/>
        </p:nvSpPr>
        <p:spPr>
          <a:xfrm>
            <a:off x="6678302" y="1662190"/>
            <a:ext cx="5147387" cy="41027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Met het fundament versnelt de regio realisatie van de volgende effecten van netwerkzorg </a:t>
            </a:r>
            <a:endParaRPr kumimoji="0" lang="nl-NL" sz="12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28" name="Rectangle 9">
            <a:extLst>
              <a:ext uri="{FF2B5EF4-FFF2-40B4-BE49-F238E27FC236}">
                <a16:creationId xmlns:a16="http://schemas.microsoft.com/office/drawing/2014/main" id="{F405C670-FBA2-852F-536D-81C56291E193}"/>
              </a:ext>
            </a:extLst>
          </p:cNvPr>
          <p:cNvSpPr/>
          <p:nvPr/>
        </p:nvSpPr>
        <p:spPr>
          <a:xfrm>
            <a:off x="683363" y="1688732"/>
            <a:ext cx="5299554" cy="268813"/>
          </a:xfrm>
          <a:prstGeom prst="rect">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	Rationale achter het fundament </a:t>
            </a:r>
            <a:endParaRPr kumimoji="0" lang="nl-NL" sz="12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29" name="Oval 11">
            <a:extLst>
              <a:ext uri="{FF2B5EF4-FFF2-40B4-BE49-F238E27FC236}">
                <a16:creationId xmlns:a16="http://schemas.microsoft.com/office/drawing/2014/main" id="{6A7D83A5-263B-C1FB-7DA2-17EF90BB01CA}"/>
              </a:ext>
            </a:extLst>
          </p:cNvPr>
          <p:cNvSpPr>
            <a:spLocks/>
          </p:cNvSpPr>
          <p:nvPr/>
        </p:nvSpPr>
        <p:spPr>
          <a:xfrm>
            <a:off x="433380" y="1495425"/>
            <a:ext cx="567587" cy="567587"/>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pic>
        <p:nvPicPr>
          <p:cNvPr id="14" name="Graphic 13">
            <a:extLst>
              <a:ext uri="{FF2B5EF4-FFF2-40B4-BE49-F238E27FC236}">
                <a16:creationId xmlns:a16="http://schemas.microsoft.com/office/drawing/2014/main" id="{9F69AF64-0D9A-B448-D6C3-9FBD6C0F4085}"/>
              </a:ext>
            </a:extLst>
          </p:cNvPr>
          <p:cNvPicPr>
            <a:picLocks noChangeAspect="1"/>
          </p:cNvPicPr>
          <p:nvPr>
            <p:custDataLst>
              <p:tags r:id="rId1"/>
            </p:custDataLst>
          </p:nvPr>
        </p:nvPicPr>
        <p:blipFill>
          <a:blip r:embed="rId9">
            <a:extLst>
              <a:ext uri="{96DAC541-7B7A-43D3-8B79-37D633B846F1}">
                <asvg:svgBlip xmlns:asvg="http://schemas.microsoft.com/office/drawing/2016/SVG/main" r:embed="rId10"/>
              </a:ext>
            </a:extLst>
          </a:blip>
          <a:stretch>
            <a:fillRect/>
          </a:stretch>
        </p:blipFill>
        <p:spPr>
          <a:xfrm>
            <a:off x="499758" y="1548692"/>
            <a:ext cx="450717" cy="450717"/>
          </a:xfrm>
          <a:prstGeom prst="rect">
            <a:avLst/>
          </a:prstGeom>
        </p:spPr>
      </p:pic>
      <p:sp>
        <p:nvSpPr>
          <p:cNvPr id="3" name="Rectangle 9">
            <a:extLst>
              <a:ext uri="{FF2B5EF4-FFF2-40B4-BE49-F238E27FC236}">
                <a16:creationId xmlns:a16="http://schemas.microsoft.com/office/drawing/2014/main" id="{174D74A0-0111-9091-C1A2-9DD2A88E608F}"/>
              </a:ext>
            </a:extLst>
          </p:cNvPr>
          <p:cNvSpPr/>
          <p:nvPr/>
        </p:nvSpPr>
        <p:spPr>
          <a:xfrm>
            <a:off x="425302" y="1100554"/>
            <a:ext cx="11250142" cy="3885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Het fundament is vereist om databeschikbaarheid te realiseren in de verandering naar netwerkzorg.</a:t>
            </a:r>
          </a:p>
        </p:txBody>
      </p:sp>
      <p:sp>
        <p:nvSpPr>
          <p:cNvPr id="7" name="Oval 11">
            <a:extLst>
              <a:ext uri="{FF2B5EF4-FFF2-40B4-BE49-F238E27FC236}">
                <a16:creationId xmlns:a16="http://schemas.microsoft.com/office/drawing/2014/main" id="{D69CBB90-205C-11FC-C164-DF14909CC98A}"/>
              </a:ext>
            </a:extLst>
          </p:cNvPr>
          <p:cNvSpPr>
            <a:spLocks/>
          </p:cNvSpPr>
          <p:nvPr/>
        </p:nvSpPr>
        <p:spPr>
          <a:xfrm>
            <a:off x="6504667" y="2037676"/>
            <a:ext cx="556001" cy="556001"/>
          </a:xfrm>
          <a:prstGeom prst="ellipse">
            <a:avLst/>
          </a:prstGeom>
          <a:solidFill>
            <a:srgbClr val="A2C8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pic>
        <p:nvPicPr>
          <p:cNvPr id="10" name="Graphic 9">
            <a:extLst>
              <a:ext uri="{FF2B5EF4-FFF2-40B4-BE49-F238E27FC236}">
                <a16:creationId xmlns:a16="http://schemas.microsoft.com/office/drawing/2014/main" id="{0350C354-DAB0-F5CF-2390-F907A8E41C3F}"/>
              </a:ext>
            </a:extLst>
          </p:cNvPr>
          <p:cNvPicPr>
            <a:picLocks noChangeAspect="1"/>
          </p:cNvPicPr>
          <p:nvPr>
            <p:custDataLst>
              <p:tags r:id="rId2"/>
            </p:custDataLst>
          </p:nvPr>
        </p:nvPicPr>
        <p:blipFill>
          <a:blip r:embed="rId11">
            <a:extLst>
              <a:ext uri="{96DAC541-7B7A-43D3-8B79-37D633B846F1}">
                <asvg:svgBlip xmlns:asvg="http://schemas.microsoft.com/office/drawing/2016/SVG/main" r:embed="rId12"/>
              </a:ext>
            </a:extLst>
          </a:blip>
          <a:stretch>
            <a:fillRect/>
          </a:stretch>
        </p:blipFill>
        <p:spPr>
          <a:xfrm>
            <a:off x="6524331" y="2043585"/>
            <a:ext cx="523089" cy="523089"/>
          </a:xfrm>
          <a:prstGeom prst="rect">
            <a:avLst/>
          </a:prstGeom>
        </p:spPr>
      </p:pic>
      <p:sp>
        <p:nvSpPr>
          <p:cNvPr id="11" name="Tekstvak 10">
            <a:extLst>
              <a:ext uri="{FF2B5EF4-FFF2-40B4-BE49-F238E27FC236}">
                <a16:creationId xmlns:a16="http://schemas.microsoft.com/office/drawing/2014/main" id="{50764761-4403-9E2B-CA84-1C9611BF82CB}"/>
              </a:ext>
            </a:extLst>
          </p:cNvPr>
          <p:cNvSpPr txBox="1"/>
          <p:nvPr/>
        </p:nvSpPr>
        <p:spPr>
          <a:xfrm>
            <a:off x="7008092" y="2200142"/>
            <a:ext cx="4726344" cy="276999"/>
          </a:xfrm>
          <a:prstGeom prst="rect">
            <a:avLst/>
          </a:prstGeom>
          <a:solidFill>
            <a:srgbClr val="ABCD85"/>
          </a:solidFill>
        </p:spPr>
        <p:txBody>
          <a:bodyPr wrap="square">
            <a:spAutoFit/>
          </a:bodyPr>
          <a:lstStyle/>
          <a:p>
            <a:r>
              <a:rPr lang="nl-NL" sz="1200" b="1">
                <a:solidFill>
                  <a:schemeClr val="tx1"/>
                </a:solidFill>
                <a:latin typeface="Verdana" panose="020B0604030504040204" pitchFamily="34" charset="0"/>
                <a:ea typeface="Verdana" panose="020B0604030504040204" pitchFamily="34" charset="0"/>
              </a:rPr>
              <a:t>Inwoner</a:t>
            </a:r>
          </a:p>
        </p:txBody>
      </p:sp>
      <p:sp>
        <p:nvSpPr>
          <p:cNvPr id="16" name="Tekstvak 15">
            <a:extLst>
              <a:ext uri="{FF2B5EF4-FFF2-40B4-BE49-F238E27FC236}">
                <a16:creationId xmlns:a16="http://schemas.microsoft.com/office/drawing/2014/main" id="{905AB7B3-E544-F36B-65C8-831D2ADB2A4C}"/>
              </a:ext>
            </a:extLst>
          </p:cNvPr>
          <p:cNvSpPr txBox="1"/>
          <p:nvPr/>
        </p:nvSpPr>
        <p:spPr>
          <a:xfrm>
            <a:off x="7008092" y="3770725"/>
            <a:ext cx="4726344" cy="276999"/>
          </a:xfrm>
          <a:prstGeom prst="rect">
            <a:avLst/>
          </a:prstGeom>
          <a:solidFill>
            <a:srgbClr val="BEDEAA"/>
          </a:solidFill>
        </p:spPr>
        <p:txBody>
          <a:bodyPr wrap="square">
            <a:spAutoFit/>
          </a:bodyPr>
          <a:lstStyle/>
          <a:p>
            <a:r>
              <a:rPr lang="nl-NL" sz="1200" b="1">
                <a:solidFill>
                  <a:schemeClr val="tx1"/>
                </a:solidFill>
                <a:latin typeface="Verdana" panose="020B0604030504040204" pitchFamily="34" charset="0"/>
                <a:ea typeface="Verdana" panose="020B0604030504040204" pitchFamily="34" charset="0"/>
              </a:rPr>
              <a:t>Zorgprofessional</a:t>
            </a:r>
          </a:p>
        </p:txBody>
      </p:sp>
      <p:sp>
        <p:nvSpPr>
          <p:cNvPr id="17" name="Oval 11">
            <a:extLst>
              <a:ext uri="{FF2B5EF4-FFF2-40B4-BE49-F238E27FC236}">
                <a16:creationId xmlns:a16="http://schemas.microsoft.com/office/drawing/2014/main" id="{F65281F9-5F36-60C2-CAD5-5C989BFF5C02}"/>
              </a:ext>
            </a:extLst>
          </p:cNvPr>
          <p:cNvSpPr>
            <a:spLocks/>
          </p:cNvSpPr>
          <p:nvPr/>
        </p:nvSpPr>
        <p:spPr>
          <a:xfrm>
            <a:off x="6512190" y="3578800"/>
            <a:ext cx="556001" cy="556001"/>
          </a:xfrm>
          <a:prstGeom prst="ellipse">
            <a:avLst/>
          </a:prstGeom>
          <a:solidFill>
            <a:srgbClr val="BEDE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pic>
        <p:nvPicPr>
          <p:cNvPr id="19" name="Graphic 18">
            <a:extLst>
              <a:ext uri="{FF2B5EF4-FFF2-40B4-BE49-F238E27FC236}">
                <a16:creationId xmlns:a16="http://schemas.microsoft.com/office/drawing/2014/main" id="{1E03A923-EF57-0BFA-A576-3FFD67F32C06}"/>
              </a:ext>
            </a:extLst>
          </p:cNvPr>
          <p:cNvPicPr>
            <a:picLocks noChangeAspect="1"/>
          </p:cNvPicPr>
          <p:nvPr>
            <p:custDataLst>
              <p:tags r:id="rId3"/>
            </p:custDataLst>
          </p:nvPr>
        </p:nvPicPr>
        <p:blipFill>
          <a:blip r:embed="rId13">
            <a:extLst>
              <a:ext uri="{96DAC541-7B7A-43D3-8B79-37D633B846F1}">
                <asvg:svgBlip xmlns:asvg="http://schemas.microsoft.com/office/drawing/2016/SVG/main" r:embed="rId14"/>
              </a:ext>
            </a:extLst>
          </a:blip>
          <a:stretch>
            <a:fillRect/>
          </a:stretch>
        </p:blipFill>
        <p:spPr>
          <a:xfrm>
            <a:off x="6559168" y="3625636"/>
            <a:ext cx="450030" cy="450030"/>
          </a:xfrm>
          <a:prstGeom prst="rect">
            <a:avLst/>
          </a:prstGeom>
        </p:spPr>
      </p:pic>
      <p:sp>
        <p:nvSpPr>
          <p:cNvPr id="20" name="Tekstvak 19">
            <a:extLst>
              <a:ext uri="{FF2B5EF4-FFF2-40B4-BE49-F238E27FC236}">
                <a16:creationId xmlns:a16="http://schemas.microsoft.com/office/drawing/2014/main" id="{F4CB8C2B-37FD-63EA-636E-0649A71D76C6}"/>
              </a:ext>
            </a:extLst>
          </p:cNvPr>
          <p:cNvSpPr txBox="1"/>
          <p:nvPr/>
        </p:nvSpPr>
        <p:spPr>
          <a:xfrm>
            <a:off x="7000569" y="5356177"/>
            <a:ext cx="4726344" cy="276999"/>
          </a:xfrm>
          <a:prstGeom prst="rect">
            <a:avLst/>
          </a:prstGeom>
          <a:solidFill>
            <a:srgbClr val="D5EAC8"/>
          </a:solidFill>
        </p:spPr>
        <p:txBody>
          <a:bodyPr wrap="square">
            <a:spAutoFit/>
          </a:bodyPr>
          <a:lstStyle/>
          <a:p>
            <a:r>
              <a:rPr lang="nl-NL" sz="1200" b="1">
                <a:solidFill>
                  <a:schemeClr val="tx1"/>
                </a:solidFill>
                <a:latin typeface="Verdana" panose="020B0604030504040204" pitchFamily="34" charset="0"/>
                <a:ea typeface="Verdana" panose="020B0604030504040204" pitchFamily="34" charset="0"/>
              </a:rPr>
              <a:t>Regio</a:t>
            </a:r>
          </a:p>
        </p:txBody>
      </p:sp>
      <p:sp>
        <p:nvSpPr>
          <p:cNvPr id="21" name="Oval 11">
            <a:extLst>
              <a:ext uri="{FF2B5EF4-FFF2-40B4-BE49-F238E27FC236}">
                <a16:creationId xmlns:a16="http://schemas.microsoft.com/office/drawing/2014/main" id="{BF5914C3-F19E-521F-3BF7-9E8E348E222C}"/>
              </a:ext>
            </a:extLst>
          </p:cNvPr>
          <p:cNvSpPr>
            <a:spLocks/>
          </p:cNvSpPr>
          <p:nvPr/>
        </p:nvSpPr>
        <p:spPr>
          <a:xfrm>
            <a:off x="6504667" y="5164252"/>
            <a:ext cx="556001" cy="556001"/>
          </a:xfrm>
          <a:prstGeom prst="ellipse">
            <a:avLst/>
          </a:prstGeom>
          <a:solidFill>
            <a:srgbClr val="D5EA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pic>
        <p:nvPicPr>
          <p:cNvPr id="23" name="Graphic 22">
            <a:extLst>
              <a:ext uri="{FF2B5EF4-FFF2-40B4-BE49-F238E27FC236}">
                <a16:creationId xmlns:a16="http://schemas.microsoft.com/office/drawing/2014/main" id="{CEEF0319-A4DE-897A-65C1-B11448D30CE8}"/>
              </a:ext>
            </a:extLst>
          </p:cNvPr>
          <p:cNvPicPr>
            <a:picLocks noChangeAspect="1"/>
          </p:cNvPicPr>
          <p:nvPr>
            <p:custDataLst>
              <p:tags r:id="rId4"/>
            </p:custDataLst>
          </p:nvPr>
        </p:nvPicPr>
        <p:blipFill>
          <a:blip r:embed="rId15">
            <a:extLst>
              <a:ext uri="{96DAC541-7B7A-43D3-8B79-37D633B846F1}">
                <asvg:svgBlip xmlns:asvg="http://schemas.microsoft.com/office/drawing/2016/SVG/main" r:embed="rId16"/>
              </a:ext>
            </a:extLst>
          </a:blip>
          <a:stretch>
            <a:fillRect/>
          </a:stretch>
        </p:blipFill>
        <p:spPr>
          <a:xfrm>
            <a:off x="6601630" y="5247875"/>
            <a:ext cx="388753" cy="388753"/>
          </a:xfrm>
          <a:prstGeom prst="rect">
            <a:avLst/>
          </a:prstGeom>
        </p:spPr>
      </p:pic>
      <p:sp>
        <p:nvSpPr>
          <p:cNvPr id="24" name="Gelijkbenige driehoek 23">
            <a:extLst>
              <a:ext uri="{FF2B5EF4-FFF2-40B4-BE49-F238E27FC236}">
                <a16:creationId xmlns:a16="http://schemas.microsoft.com/office/drawing/2014/main" id="{841C2C04-C0EB-C4A8-9477-E6F9BFA51493}"/>
              </a:ext>
            </a:extLst>
          </p:cNvPr>
          <p:cNvSpPr/>
          <p:nvPr/>
        </p:nvSpPr>
        <p:spPr>
          <a:xfrm rot="5400000">
            <a:off x="4888752" y="3835141"/>
            <a:ext cx="2598035" cy="444042"/>
          </a:xfrm>
          <a:prstGeom prst="triangle">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itle 1">
            <a:extLst>
              <a:ext uri="{FF2B5EF4-FFF2-40B4-BE49-F238E27FC236}">
                <a16:creationId xmlns:a16="http://schemas.microsoft.com/office/drawing/2014/main" id="{36F51736-5705-4B8D-3F03-BFA51708191F}"/>
              </a:ext>
            </a:extLst>
          </p:cNvPr>
          <p:cNvSpPr txBox="1">
            <a:spLocks/>
          </p:cNvSpPr>
          <p:nvPr/>
        </p:nvSpPr>
        <p:spPr>
          <a:xfrm>
            <a:off x="516557" y="365126"/>
            <a:ext cx="10837244" cy="8243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nl-NL" sz="2800" b="1">
                <a:solidFill>
                  <a:srgbClr val="8C95CD"/>
                </a:solidFill>
                <a:latin typeface="Verdana Pro" panose="020B0604030504040204" pitchFamily="34" charset="0"/>
                <a:ea typeface="Verdana" panose="020B0604030504040204" pitchFamily="34" charset="0"/>
              </a:rPr>
              <a:t>Fundament – Ambitie</a:t>
            </a:r>
            <a:endParaRPr lang="nl-NL" sz="2800">
              <a:solidFill>
                <a:srgbClr val="8C95CD"/>
              </a:solidFill>
              <a:latin typeface="Verdana Pro" panose="020B0604030504040204" pitchFamily="34" charset="0"/>
              <a:ea typeface="Verdana" panose="020B0604030504040204" pitchFamily="34" charset="0"/>
            </a:endParaRPr>
          </a:p>
        </p:txBody>
      </p:sp>
      <p:sp>
        <p:nvSpPr>
          <p:cNvPr id="40" name="Rectangle: Top Corners Rounded 38">
            <a:hlinkClick r:id="rId17" action="ppaction://hlinksldjump"/>
            <a:extLst>
              <a:ext uri="{FF2B5EF4-FFF2-40B4-BE49-F238E27FC236}">
                <a16:creationId xmlns:a16="http://schemas.microsoft.com/office/drawing/2014/main" id="{2A34CA4A-22E8-D32B-1DB8-DA50B398D1A4}"/>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41" name="Graphic 40" descr="Introductiepagina silhouet">
            <a:hlinkClick r:id="rId18" action="ppaction://hlinksldjump"/>
            <a:extLst>
              <a:ext uri="{FF2B5EF4-FFF2-40B4-BE49-F238E27FC236}">
                <a16:creationId xmlns:a16="http://schemas.microsoft.com/office/drawing/2014/main" id="{E7047AE9-4C78-1DA6-6238-AA19A1032C1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5136" y="147223"/>
            <a:ext cx="144000" cy="144000"/>
          </a:xfrm>
          <a:prstGeom prst="rect">
            <a:avLst/>
          </a:prstGeom>
        </p:spPr>
      </p:pic>
      <p:sp>
        <p:nvSpPr>
          <p:cNvPr id="42" name="Rectangle: Top Corners Rounded 1">
            <a:hlinkClick r:id="rId21" action="ppaction://hlinksldjump"/>
            <a:extLst>
              <a:ext uri="{FF2B5EF4-FFF2-40B4-BE49-F238E27FC236}">
                <a16:creationId xmlns:a16="http://schemas.microsoft.com/office/drawing/2014/main" id="{DCE5EBF0-3875-3333-D340-EDAD935F296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43" name="Rectangle: Top Corners Rounded 1">
            <a:hlinkClick r:id="rId22" action="ppaction://hlinksldjump"/>
            <a:extLst>
              <a:ext uri="{FF2B5EF4-FFF2-40B4-BE49-F238E27FC236}">
                <a16:creationId xmlns:a16="http://schemas.microsoft.com/office/drawing/2014/main" id="{2F705715-4669-3E38-2EA1-826FC999B0EA}"/>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44" name="Rectangle: Top Corners Rounded 1">
            <a:hlinkClick r:id="rId23" action="ppaction://hlinksldjump"/>
            <a:extLst>
              <a:ext uri="{FF2B5EF4-FFF2-40B4-BE49-F238E27FC236}">
                <a16:creationId xmlns:a16="http://schemas.microsoft.com/office/drawing/2014/main" id="{42BCAC07-C461-2833-3B50-B2C95D7E5C57}"/>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46" name="Rectangle: Top Corners Rounded 1">
            <a:hlinkClick r:id="rId24" action="ppaction://hlinksldjump"/>
            <a:extLst>
              <a:ext uri="{FF2B5EF4-FFF2-40B4-BE49-F238E27FC236}">
                <a16:creationId xmlns:a16="http://schemas.microsoft.com/office/drawing/2014/main" id="{36059D92-18B4-7D8F-B020-2BABFF6BD346}"/>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7" name="Rectangle: Top Corners Rounded 1">
            <a:hlinkClick r:id="rId25" action="ppaction://hlinksldjump"/>
            <a:extLst>
              <a:ext uri="{FF2B5EF4-FFF2-40B4-BE49-F238E27FC236}">
                <a16:creationId xmlns:a16="http://schemas.microsoft.com/office/drawing/2014/main" id="{7893986C-D862-321E-8B70-27D33DEF30F4}"/>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48" name="Rectangle: Top Corners Rounded 1">
            <a:hlinkClick r:id="rId26" action="ppaction://hlinksldjump"/>
            <a:extLst>
              <a:ext uri="{FF2B5EF4-FFF2-40B4-BE49-F238E27FC236}">
                <a16:creationId xmlns:a16="http://schemas.microsoft.com/office/drawing/2014/main" id="{D4C6622A-A95D-4276-CB63-EB1D33F0F514}"/>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49" name="Rectangle: Top Corners Rounded 1">
            <a:hlinkClick r:id="rId27" action="ppaction://hlinksldjump"/>
            <a:extLst>
              <a:ext uri="{FF2B5EF4-FFF2-40B4-BE49-F238E27FC236}">
                <a16:creationId xmlns:a16="http://schemas.microsoft.com/office/drawing/2014/main" id="{02440A57-B6F7-CC65-A635-EF883480763E}"/>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50" name="Rectangle: Top Corners Rounded 1">
            <a:hlinkClick r:id="rId28" action="ppaction://hlinksldjump"/>
            <a:extLst>
              <a:ext uri="{FF2B5EF4-FFF2-40B4-BE49-F238E27FC236}">
                <a16:creationId xmlns:a16="http://schemas.microsoft.com/office/drawing/2014/main" id="{0EB8B22D-CBA2-D1E0-9516-24C68AAA27F6}"/>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51" name="Rectangle: Top Corners Rounded 1">
            <a:hlinkClick r:id="rId29" action="ppaction://hlinksldjump"/>
            <a:extLst>
              <a:ext uri="{FF2B5EF4-FFF2-40B4-BE49-F238E27FC236}">
                <a16:creationId xmlns:a16="http://schemas.microsoft.com/office/drawing/2014/main" id="{A6EC5C6A-A7E4-93C2-6316-6C6C25346A3E}"/>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52" name="Rectangle: Top Corners Rounded 1">
            <a:hlinkClick r:id="rId30" action="ppaction://hlinksldjump"/>
            <a:extLst>
              <a:ext uri="{FF2B5EF4-FFF2-40B4-BE49-F238E27FC236}">
                <a16:creationId xmlns:a16="http://schemas.microsoft.com/office/drawing/2014/main" id="{EA89E366-F3EF-46ED-F4C9-4BE99B55964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53" name="Rechthoek: afgeronde hoeken 2">
            <a:extLst>
              <a:ext uri="{FF2B5EF4-FFF2-40B4-BE49-F238E27FC236}">
                <a16:creationId xmlns:a16="http://schemas.microsoft.com/office/drawing/2014/main" id="{22FFE5EE-E1E5-F4E5-055F-19B84EF6E43E}"/>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Top Corners Rounded 1">
            <a:hlinkClick r:id="rId31" action="ppaction://hlinksldjump"/>
            <a:extLst>
              <a:ext uri="{FF2B5EF4-FFF2-40B4-BE49-F238E27FC236}">
                <a16:creationId xmlns:a16="http://schemas.microsoft.com/office/drawing/2014/main" id="{01810BCD-1B9E-CCD1-2399-6C2D880022C5}"/>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2616842770"/>
      </p:ext>
    </p:extLst>
  </p:cSld>
  <p:clrMapOvr>
    <a:masterClrMapping/>
  </p:clrMapOvr>
  <p:extLst>
    <p:ext uri="{6950BFC3-D8DA-4A85-94F7-54DA5524770B}">
      <p188:commentRel xmlns:p188="http://schemas.microsoft.com/office/powerpoint/2018/8/main" r:id="rId7"/>
    </p:ext>
  </p:extLs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B919813-4323-129D-DD72-E04E933ECF86}"/>
              </a:ext>
            </a:extLst>
          </p:cNvPr>
          <p:cNvSpPr>
            <a:spLocks noGrp="1"/>
          </p:cNvSpPr>
          <p:nvPr>
            <p:ph type="title"/>
          </p:nvPr>
        </p:nvSpPr>
        <p:spPr/>
        <p:txBody>
          <a:bodyPr/>
          <a:lstStyle/>
          <a:p>
            <a:r>
              <a:rPr lang="en-GB" err="1"/>
              <a:t>Opstartstructuur</a:t>
            </a:r>
            <a:r>
              <a:rPr lang="en-GB"/>
              <a:t> fundament</a:t>
            </a:r>
          </a:p>
        </p:txBody>
      </p:sp>
      <p:sp>
        <p:nvSpPr>
          <p:cNvPr id="62" name="Text Placeholder 61">
            <a:extLst>
              <a:ext uri="{FF2B5EF4-FFF2-40B4-BE49-F238E27FC236}">
                <a16:creationId xmlns:a16="http://schemas.microsoft.com/office/drawing/2014/main" id="{3345C601-1487-FD8B-DEDB-A81262446283}"/>
              </a:ext>
            </a:extLst>
          </p:cNvPr>
          <p:cNvSpPr>
            <a:spLocks noGrp="1"/>
          </p:cNvSpPr>
          <p:nvPr>
            <p:ph type="body" sz="quarter" idx="10"/>
          </p:nvPr>
        </p:nvSpPr>
        <p:spPr/>
        <p:txBody>
          <a:bodyPr/>
          <a:lstStyle/>
          <a:p>
            <a:r>
              <a:rPr lang="nl-NL"/>
              <a:t>De 3 onderdelen van het fundament zijn cruciaal voor gestructureerde databeschikbaarheid en een holistisch beeld van de inwoner </a:t>
            </a:r>
          </a:p>
          <a:p>
            <a:endParaRPr lang="en-GB"/>
          </a:p>
        </p:txBody>
      </p:sp>
      <p:sp>
        <p:nvSpPr>
          <p:cNvPr id="2" name="Rechthoek 1">
            <a:extLst>
              <a:ext uri="{FF2B5EF4-FFF2-40B4-BE49-F238E27FC236}">
                <a16:creationId xmlns:a16="http://schemas.microsoft.com/office/drawing/2014/main" id="{1E5A5C06-06D7-91B5-7326-FA843C6B9F97}"/>
              </a:ext>
            </a:extLst>
          </p:cNvPr>
          <p:cNvSpPr>
            <a:spLocks noGrp="1" noRot="1" noMove="1" noResize="1" noEditPoints="1" noAdjustHandles="1" noChangeArrowheads="1" noChangeShapeType="1"/>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800" b="0" i="0" u="none" strike="noStrike" kern="1200" cap="none" spc="0" normalizeH="0" baseline="0" noProof="0">
                <a:ln>
                  <a:noFill/>
                </a:ln>
                <a:solidFill>
                  <a:prstClr val="white"/>
                </a:solidFill>
                <a:effectLst/>
                <a:uLnTx/>
                <a:uFillTx/>
                <a:latin typeface="Calibri"/>
                <a:ea typeface="+mn-ea"/>
                <a:cs typeface="+mn-cs"/>
              </a:rPr>
              <a:t>in</a:t>
            </a: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hthoek 8">
            <a:extLst>
              <a:ext uri="{FF2B5EF4-FFF2-40B4-BE49-F238E27FC236}">
                <a16:creationId xmlns:a16="http://schemas.microsoft.com/office/drawing/2014/main" id="{E6272525-382C-0B04-EE69-2103F86EA8A4}"/>
              </a:ext>
            </a:extLst>
          </p:cNvPr>
          <p:cNvSpPr/>
          <p:nvPr/>
        </p:nvSpPr>
        <p:spPr>
          <a:xfrm>
            <a:off x="11221643" y="6376589"/>
            <a:ext cx="965408" cy="473008"/>
          </a:xfrm>
          <a:prstGeom prst="rect">
            <a:avLst/>
          </a:prstGeom>
          <a:blipFill dpi="0" rotWithShape="1">
            <a:blip r:embed="rId8"/>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Rechthoek: afgeronde hoeken 3">
            <a:extLst>
              <a:ext uri="{FF2B5EF4-FFF2-40B4-BE49-F238E27FC236}">
                <a16:creationId xmlns:a16="http://schemas.microsoft.com/office/drawing/2014/main" id="{41E823DD-322A-AA52-CED6-FEE172FE3F83}"/>
              </a:ext>
            </a:extLst>
          </p:cNvPr>
          <p:cNvSpPr/>
          <p:nvPr/>
        </p:nvSpPr>
        <p:spPr>
          <a:xfrm>
            <a:off x="483980" y="7311340"/>
            <a:ext cx="11224039" cy="1162110"/>
          </a:xfrm>
          <a:prstGeom prst="roundRect">
            <a:avLst/>
          </a:prstGeom>
          <a:solidFill>
            <a:schemeClr val="tx2">
              <a:lumMod val="20000"/>
              <a:lumOff val="80000"/>
            </a:schemeClr>
          </a:solidFill>
          <a:ln cap="rn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7" name="Rechthoek: afgeronde hoeken 16">
            <a:extLst>
              <a:ext uri="{FF2B5EF4-FFF2-40B4-BE49-F238E27FC236}">
                <a16:creationId xmlns:a16="http://schemas.microsoft.com/office/drawing/2014/main" id="{5947DBDD-E841-E39D-802E-061E23C5CEB8}"/>
              </a:ext>
            </a:extLst>
          </p:cNvPr>
          <p:cNvSpPr/>
          <p:nvPr/>
        </p:nvSpPr>
        <p:spPr>
          <a:xfrm>
            <a:off x="533184" y="7663012"/>
            <a:ext cx="8583745" cy="766358"/>
          </a:xfrm>
          <a:prstGeom prst="roundRect">
            <a:avLst/>
          </a:prstGeom>
          <a:solidFill>
            <a:srgbClr val="69D8FF"/>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Het </a:t>
            </a:r>
            <a:r>
              <a:rPr kumimoji="0" lang="nl-NL"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regionaal databeschikbaarheidsplatform </a:t>
            </a: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faciliteert regionaal een holistische beeld van de inwoner</a:t>
            </a: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8" name="Rechthoek: afgeronde hoeken 17">
            <a:extLst>
              <a:ext uri="{FF2B5EF4-FFF2-40B4-BE49-F238E27FC236}">
                <a16:creationId xmlns:a16="http://schemas.microsoft.com/office/drawing/2014/main" id="{C4D03118-B3FD-E26A-12D3-88A10CAB5D9A}"/>
              </a:ext>
            </a:extLst>
          </p:cNvPr>
          <p:cNvSpPr/>
          <p:nvPr/>
        </p:nvSpPr>
        <p:spPr>
          <a:xfrm>
            <a:off x="706903" y="7957482"/>
            <a:ext cx="1929208" cy="365125"/>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Bronontsluiting </a:t>
            </a: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0" name="Rechthoek: afgeronde hoeken 19">
            <a:extLst>
              <a:ext uri="{FF2B5EF4-FFF2-40B4-BE49-F238E27FC236}">
                <a16:creationId xmlns:a16="http://schemas.microsoft.com/office/drawing/2014/main" id="{63A1E87F-4436-77FC-A99D-C3FAA793BDE0}"/>
              </a:ext>
            </a:extLst>
          </p:cNvPr>
          <p:cNvSpPr/>
          <p:nvPr/>
        </p:nvSpPr>
        <p:spPr>
          <a:xfrm>
            <a:off x="2705154" y="7957482"/>
            <a:ext cx="1929208" cy="365125"/>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Data beschikbaarheid </a:t>
            </a: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1" name="Rechthoek: afgeronde hoeken 20">
            <a:extLst>
              <a:ext uri="{FF2B5EF4-FFF2-40B4-BE49-F238E27FC236}">
                <a16:creationId xmlns:a16="http://schemas.microsoft.com/office/drawing/2014/main" id="{C97E1D37-FD71-343B-5A0B-1EAE98392D05}"/>
              </a:ext>
            </a:extLst>
          </p:cNvPr>
          <p:cNvSpPr/>
          <p:nvPr/>
        </p:nvSpPr>
        <p:spPr>
          <a:xfrm>
            <a:off x="10486213" y="7660633"/>
            <a:ext cx="1132932" cy="705867"/>
          </a:xfrm>
          <a:prstGeom prst="roundRect">
            <a:avLst/>
          </a:prstGeom>
          <a:solidFill>
            <a:srgbClr val="21B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Generieke functies </a:t>
            </a: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2" name="Rechthoek: afgeronde hoeken 21">
            <a:extLst>
              <a:ext uri="{FF2B5EF4-FFF2-40B4-BE49-F238E27FC236}">
                <a16:creationId xmlns:a16="http://schemas.microsoft.com/office/drawing/2014/main" id="{C3FEA73F-26B3-484A-FC08-F5AF638BFF67}"/>
              </a:ext>
            </a:extLst>
          </p:cNvPr>
          <p:cNvSpPr/>
          <p:nvPr/>
        </p:nvSpPr>
        <p:spPr>
          <a:xfrm>
            <a:off x="6778370" y="7945311"/>
            <a:ext cx="1929208" cy="365125"/>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Na 2026.. </a:t>
            </a: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 name="Rechthoek: afgeronde hoeken 2">
            <a:extLst>
              <a:ext uri="{FF2B5EF4-FFF2-40B4-BE49-F238E27FC236}">
                <a16:creationId xmlns:a16="http://schemas.microsoft.com/office/drawing/2014/main" id="{67A1A6D9-DB4B-31E6-FB2B-433AD88A77C9}"/>
              </a:ext>
            </a:extLst>
          </p:cNvPr>
          <p:cNvSpPr/>
          <p:nvPr/>
        </p:nvSpPr>
        <p:spPr>
          <a:xfrm>
            <a:off x="4744933" y="7957482"/>
            <a:ext cx="1929208" cy="365125"/>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Toepassingen  </a:t>
            </a: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 name="Rechthoek: afgeronde hoeken 5">
            <a:extLst>
              <a:ext uri="{FF2B5EF4-FFF2-40B4-BE49-F238E27FC236}">
                <a16:creationId xmlns:a16="http://schemas.microsoft.com/office/drawing/2014/main" id="{4F50FF11-EEA4-0E60-B6B7-8A23D3B4EB5C}"/>
              </a:ext>
            </a:extLst>
          </p:cNvPr>
          <p:cNvSpPr/>
          <p:nvPr/>
        </p:nvSpPr>
        <p:spPr>
          <a:xfrm>
            <a:off x="9216241" y="7660633"/>
            <a:ext cx="1144559" cy="705867"/>
          </a:xfrm>
          <a:prstGeom prst="roundRect">
            <a:avLst/>
          </a:prstGeom>
          <a:solidFill>
            <a:srgbClr val="21B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Viewer</a:t>
            </a: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7" name="Tekstvak 76">
            <a:extLst>
              <a:ext uri="{FF2B5EF4-FFF2-40B4-BE49-F238E27FC236}">
                <a16:creationId xmlns:a16="http://schemas.microsoft.com/office/drawing/2014/main" id="{22A5291A-EA22-151F-2284-4CA15BCE6D85}"/>
              </a:ext>
            </a:extLst>
          </p:cNvPr>
          <p:cNvSpPr txBox="1"/>
          <p:nvPr/>
        </p:nvSpPr>
        <p:spPr>
          <a:xfrm>
            <a:off x="8389639" y="6078278"/>
            <a:ext cx="3718678"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Voor de generieke functies zal o.a. met </a:t>
            </a:r>
            <a:r>
              <a:rPr kumimoji="0" lang="nl-NL" sz="11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Mitz</a:t>
            </a: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nl-NL" sz="11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Twiin</a:t>
            </a: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en ZORG-AB doorlopen worden.</a:t>
            </a:r>
          </a:p>
        </p:txBody>
      </p:sp>
      <p:sp>
        <p:nvSpPr>
          <p:cNvPr id="13" name="Rectangle: Top Corners Rounded 38">
            <a:hlinkClick r:id="rId9" action="ppaction://hlinksldjump"/>
            <a:extLst>
              <a:ext uri="{FF2B5EF4-FFF2-40B4-BE49-F238E27FC236}">
                <a16:creationId xmlns:a16="http://schemas.microsoft.com/office/drawing/2014/main" id="{9BC9ACE8-196B-BF19-1037-B20F6F88C79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24" name="Graphic 23" descr="Introductiepagina silhouet">
            <a:hlinkClick r:id="rId10" action="ppaction://hlinksldjump"/>
            <a:extLst>
              <a:ext uri="{FF2B5EF4-FFF2-40B4-BE49-F238E27FC236}">
                <a16:creationId xmlns:a16="http://schemas.microsoft.com/office/drawing/2014/main" id="{8C140B20-C4AA-26B7-F35C-6E7BE6CBD4A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136" y="147223"/>
            <a:ext cx="144000" cy="144000"/>
          </a:xfrm>
          <a:prstGeom prst="rect">
            <a:avLst/>
          </a:prstGeom>
        </p:spPr>
      </p:pic>
      <p:sp>
        <p:nvSpPr>
          <p:cNvPr id="25" name="Rectangle: Top Corners Rounded 1">
            <a:hlinkClick r:id="rId13" action="ppaction://hlinksldjump"/>
            <a:extLst>
              <a:ext uri="{FF2B5EF4-FFF2-40B4-BE49-F238E27FC236}">
                <a16:creationId xmlns:a16="http://schemas.microsoft.com/office/drawing/2014/main" id="{DD538820-40BF-52CB-E303-40C269C3546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9" name="Rectangle: Top Corners Rounded 1">
            <a:hlinkClick r:id="rId14" action="ppaction://hlinksldjump"/>
            <a:extLst>
              <a:ext uri="{FF2B5EF4-FFF2-40B4-BE49-F238E27FC236}">
                <a16:creationId xmlns:a16="http://schemas.microsoft.com/office/drawing/2014/main" id="{9800D166-08F9-E8AE-C6A1-194B78F5F257}"/>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0" name="Rectangle: Top Corners Rounded 1">
            <a:hlinkClick r:id="rId15" action="ppaction://hlinksldjump"/>
            <a:extLst>
              <a:ext uri="{FF2B5EF4-FFF2-40B4-BE49-F238E27FC236}">
                <a16:creationId xmlns:a16="http://schemas.microsoft.com/office/drawing/2014/main" id="{6F8F2DD2-E797-F85B-2397-06DB5A7FF7D3}"/>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1" name="Rectangle: Top Corners Rounded 1">
            <a:hlinkClick r:id="rId16" action="ppaction://hlinksldjump"/>
            <a:extLst>
              <a:ext uri="{FF2B5EF4-FFF2-40B4-BE49-F238E27FC236}">
                <a16:creationId xmlns:a16="http://schemas.microsoft.com/office/drawing/2014/main" id="{850CED87-2E55-65CB-AA48-43CBCEA2F0F4}"/>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2" name="Rectangle: Top Corners Rounded 1">
            <a:hlinkClick r:id="rId17" action="ppaction://hlinksldjump"/>
            <a:extLst>
              <a:ext uri="{FF2B5EF4-FFF2-40B4-BE49-F238E27FC236}">
                <a16:creationId xmlns:a16="http://schemas.microsoft.com/office/drawing/2014/main" id="{F0D310C9-C920-1694-5659-B91C29F64DB7}"/>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3" name="Rectangle: Top Corners Rounded 1">
            <a:hlinkClick r:id="rId18" action="ppaction://hlinksldjump"/>
            <a:extLst>
              <a:ext uri="{FF2B5EF4-FFF2-40B4-BE49-F238E27FC236}">
                <a16:creationId xmlns:a16="http://schemas.microsoft.com/office/drawing/2014/main" id="{D6B4F965-4640-135C-D782-7C7579CCC7BD}"/>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4" name="Rectangle: Top Corners Rounded 1">
            <a:hlinkClick r:id="rId19" action="ppaction://hlinksldjump"/>
            <a:extLst>
              <a:ext uri="{FF2B5EF4-FFF2-40B4-BE49-F238E27FC236}">
                <a16:creationId xmlns:a16="http://schemas.microsoft.com/office/drawing/2014/main" id="{628788AA-F0F6-1EC0-6183-006EA52CF51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5" name="Rectangle: Top Corners Rounded 1">
            <a:hlinkClick r:id="rId20" action="ppaction://hlinksldjump"/>
            <a:extLst>
              <a:ext uri="{FF2B5EF4-FFF2-40B4-BE49-F238E27FC236}">
                <a16:creationId xmlns:a16="http://schemas.microsoft.com/office/drawing/2014/main" id="{8363ACF3-6DDD-7E0F-E629-3AD62179A5D3}"/>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6" name="Rectangle: Top Corners Rounded 1">
            <a:hlinkClick r:id="rId21" action="ppaction://hlinksldjump"/>
            <a:extLst>
              <a:ext uri="{FF2B5EF4-FFF2-40B4-BE49-F238E27FC236}">
                <a16:creationId xmlns:a16="http://schemas.microsoft.com/office/drawing/2014/main" id="{E06B7CF5-F24A-791E-611E-B7251F76937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7" name="Rectangle: Top Corners Rounded 1">
            <a:hlinkClick r:id="rId22" action="ppaction://hlinksldjump"/>
            <a:extLst>
              <a:ext uri="{FF2B5EF4-FFF2-40B4-BE49-F238E27FC236}">
                <a16:creationId xmlns:a16="http://schemas.microsoft.com/office/drawing/2014/main" id="{6CDA8D9B-B74C-2F77-336B-150FBAE5C9F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8" name="Rectangle: Top Corners Rounded 1">
            <a:hlinkClick r:id="rId23" action="ppaction://hlinksldjump"/>
            <a:extLst>
              <a:ext uri="{FF2B5EF4-FFF2-40B4-BE49-F238E27FC236}">
                <a16:creationId xmlns:a16="http://schemas.microsoft.com/office/drawing/2014/main" id="{1ACF63BE-ED49-4CE3-55A1-203D60D41A2B}"/>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
        <p:nvSpPr>
          <p:cNvPr id="7" name="Rechthoek: afgeronde hoeken 6">
            <a:extLst>
              <a:ext uri="{FF2B5EF4-FFF2-40B4-BE49-F238E27FC236}">
                <a16:creationId xmlns:a16="http://schemas.microsoft.com/office/drawing/2014/main" id="{1F81CAB9-24AB-D6CB-79C7-3E95DF6D12F2}"/>
              </a:ext>
            </a:extLst>
          </p:cNvPr>
          <p:cNvSpPr/>
          <p:nvPr/>
        </p:nvSpPr>
        <p:spPr>
          <a:xfrm>
            <a:off x="4509553" y="5778733"/>
            <a:ext cx="3608364" cy="997060"/>
          </a:xfrm>
          <a:prstGeom prst="roundRect">
            <a:avLst>
              <a:gd name="adj" fmla="val 3438"/>
            </a:avLst>
          </a:prstGeom>
          <a:noFill/>
          <a:ln w="12700" cap="flat" cmpd="sng" algn="ctr">
            <a:solidFill>
              <a:srgbClr val="B9ED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L" sz="1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4" name="Rechthoek: afgeronde hoeken 13">
            <a:extLst>
              <a:ext uri="{FF2B5EF4-FFF2-40B4-BE49-F238E27FC236}">
                <a16:creationId xmlns:a16="http://schemas.microsoft.com/office/drawing/2014/main" id="{9B95F914-2697-CBF3-9D13-B58D9915C00E}"/>
              </a:ext>
            </a:extLst>
          </p:cNvPr>
          <p:cNvSpPr/>
          <p:nvPr/>
        </p:nvSpPr>
        <p:spPr>
          <a:xfrm>
            <a:off x="4533924" y="3383278"/>
            <a:ext cx="7437358" cy="2106283"/>
          </a:xfrm>
          <a:prstGeom prst="roundRect">
            <a:avLst>
              <a:gd name="adj" fmla="val 3438"/>
            </a:avLst>
          </a:prstGeom>
          <a:noFill/>
          <a:ln w="12700" cap="flat" cmpd="sng" algn="ctr">
            <a:solidFill>
              <a:srgbClr val="47C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L" sz="1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40" name="Rectangle 9">
            <a:extLst>
              <a:ext uri="{FF2B5EF4-FFF2-40B4-BE49-F238E27FC236}">
                <a16:creationId xmlns:a16="http://schemas.microsoft.com/office/drawing/2014/main" id="{CC02EACC-093E-C000-2E47-76177910A1E7}"/>
              </a:ext>
            </a:extLst>
          </p:cNvPr>
          <p:cNvSpPr/>
          <p:nvPr/>
        </p:nvSpPr>
        <p:spPr>
          <a:xfrm>
            <a:off x="4583888" y="3308577"/>
            <a:ext cx="7387394" cy="251025"/>
          </a:xfrm>
          <a:prstGeom prst="rect">
            <a:avLst/>
          </a:prstGeom>
          <a:solidFill>
            <a:srgbClr val="B9ED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	1. Platform voor databeschikbaarheid</a:t>
            </a:r>
          </a:p>
        </p:txBody>
      </p:sp>
      <p:sp>
        <p:nvSpPr>
          <p:cNvPr id="41" name="Tekstvak 40">
            <a:extLst>
              <a:ext uri="{FF2B5EF4-FFF2-40B4-BE49-F238E27FC236}">
                <a16:creationId xmlns:a16="http://schemas.microsoft.com/office/drawing/2014/main" id="{10BD79E5-D3FE-2954-0F82-956E970F4888}"/>
              </a:ext>
            </a:extLst>
          </p:cNvPr>
          <p:cNvSpPr txBox="1"/>
          <p:nvPr/>
        </p:nvSpPr>
        <p:spPr>
          <a:xfrm>
            <a:off x="4564356" y="4700263"/>
            <a:ext cx="3794135" cy="769441"/>
          </a:xfrm>
          <a:prstGeom prst="rect">
            <a:avLst/>
          </a:prstGeom>
          <a:noFill/>
        </p:spPr>
        <p:txBody>
          <a:bodyPr wrap="square">
            <a:spAutoFit/>
          </a:bodyPr>
          <a:lstStyle/>
          <a:p>
            <a:pPr>
              <a:buFont typeface="Arial" panose="020B0604020202020204" pitchFamily="34" charset="0"/>
              <a:buNone/>
            </a:pPr>
            <a:r>
              <a:rPr lang="nl-NL" sz="1100" b="1">
                <a:solidFill>
                  <a:srgbClr val="47CFFF"/>
                </a:solidFill>
                <a:latin typeface="Verdana" panose="020B0604030504040204" pitchFamily="34" charset="0"/>
                <a:ea typeface="Verdana" panose="020B0604030504040204" pitchFamily="34" charset="0"/>
              </a:rPr>
              <a:t>Bronontsluiting</a:t>
            </a:r>
          </a:p>
          <a:p>
            <a:pPr>
              <a:buFont typeface="Arial" panose="020B0604020202020204" pitchFamily="34" charset="0"/>
              <a:buNone/>
            </a:pPr>
            <a:r>
              <a:rPr lang="nl-NL" sz="1100">
                <a:solidFill>
                  <a:srgbClr val="111111"/>
                </a:solidFill>
                <a:latin typeface="Verdana" panose="020B0604030504040204" pitchFamily="34" charset="0"/>
                <a:ea typeface="Verdana" panose="020B0604030504040204" pitchFamily="34" charset="0"/>
              </a:rPr>
              <a:t>Het platform biedt meerdere methoden voor bronaansluiting, die per bronsysteem passend worden gemaakt</a:t>
            </a:r>
            <a:r>
              <a:rPr lang="nl-NL" sz="1100">
                <a:solidFill>
                  <a:prstClr val="black"/>
                </a:solidFill>
                <a:latin typeface="Verdana" panose="020B0604030504040204" pitchFamily="34" charset="0"/>
                <a:ea typeface="Verdana" panose="020B0604030504040204" pitchFamily="34" charset="0"/>
              </a:rPr>
              <a:t>.</a:t>
            </a:r>
          </a:p>
        </p:txBody>
      </p:sp>
      <p:sp>
        <p:nvSpPr>
          <p:cNvPr id="60" name="Tekstvak 59">
            <a:extLst>
              <a:ext uri="{FF2B5EF4-FFF2-40B4-BE49-F238E27FC236}">
                <a16:creationId xmlns:a16="http://schemas.microsoft.com/office/drawing/2014/main" id="{8502DF07-13D4-7691-12CB-E7333C7F7CD4}"/>
              </a:ext>
            </a:extLst>
          </p:cNvPr>
          <p:cNvSpPr txBox="1"/>
          <p:nvPr/>
        </p:nvSpPr>
        <p:spPr>
          <a:xfrm>
            <a:off x="8313468" y="4706706"/>
            <a:ext cx="3718679" cy="769441"/>
          </a:xfrm>
          <a:prstGeom prst="rect">
            <a:avLst/>
          </a:prstGeom>
          <a:noFill/>
        </p:spPr>
        <p:txBody>
          <a:bodyPr wrap="square">
            <a:spAutoFit/>
          </a:bodyPr>
          <a:lstStyle/>
          <a:p>
            <a:pPr>
              <a:buFont typeface="Arial" panose="020B0604020202020204" pitchFamily="34" charset="0"/>
              <a:buNone/>
            </a:pPr>
            <a:r>
              <a:rPr lang="nl-NL" sz="1100" b="1" err="1">
                <a:solidFill>
                  <a:srgbClr val="47CFFF"/>
                </a:solidFill>
                <a:latin typeface="Verdana" panose="020B0604030504040204" pitchFamily="34" charset="0"/>
                <a:ea typeface="Verdana" panose="020B0604030504040204" pitchFamily="34" charset="0"/>
              </a:rPr>
              <a:t>Ingegratielaag</a:t>
            </a:r>
            <a:r>
              <a:rPr lang="nl-NL" sz="1100" b="1">
                <a:solidFill>
                  <a:srgbClr val="47CFFF"/>
                </a:solidFill>
                <a:latin typeface="Verdana" panose="020B0604030504040204" pitchFamily="34" charset="0"/>
                <a:ea typeface="Verdana" panose="020B0604030504040204" pitchFamily="34" charset="0"/>
              </a:rPr>
              <a:t> </a:t>
            </a:r>
          </a:p>
          <a:p>
            <a:pPr>
              <a:buFont typeface="Arial" panose="020B0604020202020204" pitchFamily="34" charset="0"/>
              <a:buNone/>
            </a:pPr>
            <a:r>
              <a:rPr lang="nl-NL" sz="1100">
                <a:solidFill>
                  <a:prstClr val="black"/>
                </a:solidFill>
                <a:latin typeface="Verdana" panose="020B0604030504040204" pitchFamily="34" charset="0"/>
                <a:ea typeface="Verdana" panose="020B0604030504040204" pitchFamily="34" charset="0"/>
              </a:rPr>
              <a:t>De </a:t>
            </a:r>
            <a:r>
              <a:rPr lang="nl-NL" sz="1100" err="1">
                <a:solidFill>
                  <a:prstClr val="black"/>
                </a:solidFill>
                <a:latin typeface="Verdana" panose="020B0604030504040204" pitchFamily="34" charset="0"/>
                <a:ea typeface="Verdana" panose="020B0604030504040204" pitchFamily="34" charset="0"/>
              </a:rPr>
              <a:t>integratielaag</a:t>
            </a:r>
            <a:r>
              <a:rPr lang="nl-NL" sz="1100">
                <a:solidFill>
                  <a:prstClr val="black"/>
                </a:solidFill>
                <a:latin typeface="Verdana" panose="020B0604030504040204" pitchFamily="34" charset="0"/>
                <a:ea typeface="Verdana" panose="020B0604030504040204" pitchFamily="34" charset="0"/>
              </a:rPr>
              <a:t> verbindt verschillende bronsystemen en toepassingen voor organisatie overstijgende databeschikbaarheid.</a:t>
            </a:r>
          </a:p>
        </p:txBody>
      </p:sp>
      <p:sp>
        <p:nvSpPr>
          <p:cNvPr id="61" name="Tekstvak 60">
            <a:extLst>
              <a:ext uri="{FF2B5EF4-FFF2-40B4-BE49-F238E27FC236}">
                <a16:creationId xmlns:a16="http://schemas.microsoft.com/office/drawing/2014/main" id="{34737AD3-0EF2-A4EE-5BD0-5286701608DA}"/>
              </a:ext>
            </a:extLst>
          </p:cNvPr>
          <p:cNvSpPr txBox="1"/>
          <p:nvPr/>
        </p:nvSpPr>
        <p:spPr>
          <a:xfrm>
            <a:off x="4564357" y="3635497"/>
            <a:ext cx="7387394" cy="1107996"/>
          </a:xfrm>
          <a:prstGeom prst="rect">
            <a:avLst/>
          </a:prstGeom>
          <a:noFill/>
        </p:spPr>
        <p:txBody>
          <a:bodyPr wrap="square">
            <a:spAutoFit/>
          </a:bodyPr>
          <a:lstStyle/>
          <a:p>
            <a:pPr>
              <a:buFont typeface="Arial" panose="020B0604020202020204" pitchFamily="34" charset="0"/>
              <a:buNone/>
            </a:pPr>
            <a:r>
              <a:rPr lang="nl-NL" sz="1100">
                <a:solidFill>
                  <a:srgbClr val="111111"/>
                </a:solidFill>
                <a:latin typeface="Verdana" panose="020B0604030504040204" pitchFamily="34" charset="0"/>
                <a:ea typeface="Verdana" panose="020B0604030504040204" pitchFamily="34" charset="0"/>
              </a:rPr>
              <a:t>Het platform voor databeschikbaarheid integreert gegevens van inwoners uit verschillende bronnen en stelt deze beschikbaar aan zorgaanbieders en inwoners in de regio Midden-Nederland. Het platform faciliteert een holistisch beeld van de inwoner en bevordert samenwerking in de regio. De onderdelen en functionaliteiten worden ingericht volgens bestaande initiatieven, landelijke standaarden en afsprakenstelsels. Daarnaast worden regionale uitgangspunten gehanteerd, zodat het platform zowel voor als door zorgprofessionals en inwoners van de regio is. </a:t>
            </a:r>
            <a:endParaRPr lang="nl-NL" sz="1100">
              <a:solidFill>
                <a:srgbClr val="FF0000"/>
              </a:solidFill>
              <a:latin typeface="Verdana" panose="020B0604030504040204" pitchFamily="34" charset="0"/>
              <a:ea typeface="Verdana" panose="020B0604030504040204" pitchFamily="34" charset="0"/>
            </a:endParaRPr>
          </a:p>
        </p:txBody>
      </p:sp>
      <p:sp>
        <p:nvSpPr>
          <p:cNvPr id="65" name="Rectangle 9">
            <a:extLst>
              <a:ext uri="{FF2B5EF4-FFF2-40B4-BE49-F238E27FC236}">
                <a16:creationId xmlns:a16="http://schemas.microsoft.com/office/drawing/2014/main" id="{04536205-7C89-751D-2AA3-9758217A2D44}"/>
              </a:ext>
            </a:extLst>
          </p:cNvPr>
          <p:cNvSpPr/>
          <p:nvPr/>
        </p:nvSpPr>
        <p:spPr>
          <a:xfrm>
            <a:off x="427020" y="1663450"/>
            <a:ext cx="3944173" cy="1168866"/>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Het </a:t>
            </a:r>
            <a:r>
              <a:rPr kumimoji="0" lang="nl-NL" sz="12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fundament</a:t>
            </a:r>
            <a:r>
              <a:rPr kumimoji="0" lang="nl-NL" sz="12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 voor digitalisering en gegevensuitwisseling bevat de techniek en afsprakenstelsels die nodig zijn voor goed georganiseerde data beschikbaarheid en dossier inzage, beide rand voorwaardelijk is voor netwerkzorg. </a:t>
            </a:r>
          </a:p>
        </p:txBody>
      </p:sp>
      <p:sp>
        <p:nvSpPr>
          <p:cNvPr id="66" name="Rectangle 9">
            <a:extLst>
              <a:ext uri="{FF2B5EF4-FFF2-40B4-BE49-F238E27FC236}">
                <a16:creationId xmlns:a16="http://schemas.microsoft.com/office/drawing/2014/main" id="{99352800-8467-A1F9-9D59-FFF52DB83B31}"/>
              </a:ext>
            </a:extLst>
          </p:cNvPr>
          <p:cNvSpPr/>
          <p:nvPr/>
        </p:nvSpPr>
        <p:spPr>
          <a:xfrm>
            <a:off x="4572386" y="1666922"/>
            <a:ext cx="7398896" cy="275445"/>
          </a:xfrm>
          <a:prstGeom prst="rect">
            <a:avLst/>
          </a:prstGeom>
          <a:solidFill>
            <a:srgbClr val="D6DCE5"/>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	Onderdelen van het fundament </a:t>
            </a:r>
          </a:p>
        </p:txBody>
      </p:sp>
      <p:grpSp>
        <p:nvGrpSpPr>
          <p:cNvPr id="67" name="Groep 66">
            <a:extLst>
              <a:ext uri="{FF2B5EF4-FFF2-40B4-BE49-F238E27FC236}">
                <a16:creationId xmlns:a16="http://schemas.microsoft.com/office/drawing/2014/main" id="{B62F5854-E1B1-B2FA-59D9-33F2E3921A86}"/>
              </a:ext>
            </a:extLst>
          </p:cNvPr>
          <p:cNvGrpSpPr/>
          <p:nvPr/>
        </p:nvGrpSpPr>
        <p:grpSpPr>
          <a:xfrm>
            <a:off x="4333585" y="3174349"/>
            <a:ext cx="495014" cy="492944"/>
            <a:chOff x="4341243" y="2802566"/>
            <a:chExt cx="495014" cy="492944"/>
          </a:xfrm>
        </p:grpSpPr>
        <p:sp>
          <p:nvSpPr>
            <p:cNvPr id="68" name="Oval 11">
              <a:extLst>
                <a:ext uri="{FF2B5EF4-FFF2-40B4-BE49-F238E27FC236}">
                  <a16:creationId xmlns:a16="http://schemas.microsoft.com/office/drawing/2014/main" id="{8A05B081-49C1-4FCD-CF90-0A559C36CFB3}"/>
                </a:ext>
              </a:extLst>
            </p:cNvPr>
            <p:cNvSpPr>
              <a:spLocks/>
            </p:cNvSpPr>
            <p:nvPr/>
          </p:nvSpPr>
          <p:spPr>
            <a:xfrm>
              <a:off x="4343313" y="2802566"/>
              <a:ext cx="492944" cy="492944"/>
            </a:xfrm>
            <a:prstGeom prst="ellipse">
              <a:avLst/>
            </a:prstGeom>
            <a:solidFill>
              <a:srgbClr val="B9ED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1" b="0" i="0" u="none" strike="noStrike" kern="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endParaRPr>
            </a:p>
          </p:txBody>
        </p:sp>
        <p:pic>
          <p:nvPicPr>
            <p:cNvPr id="71" name="Graphic 70">
              <a:extLst>
                <a:ext uri="{FF2B5EF4-FFF2-40B4-BE49-F238E27FC236}">
                  <a16:creationId xmlns:a16="http://schemas.microsoft.com/office/drawing/2014/main" id="{34FCEE84-13A5-A321-8D98-4A7D5ADF8500}"/>
                </a:ext>
              </a:extLst>
            </p:cNvPr>
            <p:cNvPicPr>
              <a:picLocks noChangeAspect="1"/>
            </p:cNvPicPr>
            <p:nvPr>
              <p:custDataLst>
                <p:tags r:id="rId4"/>
              </p:custDataLst>
            </p:nvPr>
          </p:nvPicPr>
          <p:blipFill>
            <a:blip r:embed="rId24">
              <a:extLst>
                <a:ext uri="{96DAC541-7B7A-43D3-8B79-37D633B846F1}">
                  <asvg:svgBlip xmlns:asvg="http://schemas.microsoft.com/office/drawing/2016/SVG/main" r:embed="rId25"/>
                </a:ext>
              </a:extLst>
            </a:blip>
            <a:stretch>
              <a:fillRect/>
            </a:stretch>
          </p:blipFill>
          <p:spPr>
            <a:xfrm>
              <a:off x="4341243" y="2834192"/>
              <a:ext cx="446229" cy="446229"/>
            </a:xfrm>
            <a:prstGeom prst="rect">
              <a:avLst/>
            </a:prstGeom>
          </p:spPr>
        </p:pic>
      </p:grpSp>
      <p:sp>
        <p:nvSpPr>
          <p:cNvPr id="73" name="Rechthoek: afgeronde hoeken 72">
            <a:extLst>
              <a:ext uri="{FF2B5EF4-FFF2-40B4-BE49-F238E27FC236}">
                <a16:creationId xmlns:a16="http://schemas.microsoft.com/office/drawing/2014/main" id="{7C7EF085-831B-B6BF-EBC7-A8B1CC145F07}"/>
              </a:ext>
            </a:extLst>
          </p:cNvPr>
          <p:cNvSpPr/>
          <p:nvPr/>
        </p:nvSpPr>
        <p:spPr>
          <a:xfrm>
            <a:off x="8358492" y="5794384"/>
            <a:ext cx="3608364" cy="968046"/>
          </a:xfrm>
          <a:prstGeom prst="roundRect">
            <a:avLst>
              <a:gd name="adj" fmla="val 3438"/>
            </a:avLst>
          </a:prstGeom>
          <a:noFill/>
          <a:ln w="12700" cap="flat" cmpd="sng" algn="ctr">
            <a:solidFill>
              <a:srgbClr val="B9ED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L" sz="1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nvGrpSpPr>
          <p:cNvPr id="81" name="Groep 80">
            <a:extLst>
              <a:ext uri="{FF2B5EF4-FFF2-40B4-BE49-F238E27FC236}">
                <a16:creationId xmlns:a16="http://schemas.microsoft.com/office/drawing/2014/main" id="{29E01688-905F-13FB-4BF1-BAA87DBF5A38}"/>
              </a:ext>
            </a:extLst>
          </p:cNvPr>
          <p:cNvGrpSpPr/>
          <p:nvPr/>
        </p:nvGrpSpPr>
        <p:grpSpPr>
          <a:xfrm>
            <a:off x="4634362" y="1883431"/>
            <a:ext cx="7336920" cy="1321053"/>
            <a:chOff x="4634362" y="1883431"/>
            <a:chExt cx="7336920" cy="1188681"/>
          </a:xfrm>
        </p:grpSpPr>
        <p:sp>
          <p:nvSpPr>
            <p:cNvPr id="82" name="Tekstvak 81">
              <a:extLst>
                <a:ext uri="{FF2B5EF4-FFF2-40B4-BE49-F238E27FC236}">
                  <a16:creationId xmlns:a16="http://schemas.microsoft.com/office/drawing/2014/main" id="{C7935EC3-C80E-5D1D-1799-D95E75FC3F00}"/>
                </a:ext>
              </a:extLst>
            </p:cNvPr>
            <p:cNvSpPr txBox="1"/>
            <p:nvPr/>
          </p:nvSpPr>
          <p:spPr>
            <a:xfrm>
              <a:off x="4634362" y="1922825"/>
              <a:ext cx="7336920" cy="114928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 typeface="+mj-lt"/>
                <a:buAutoNum type="arabicPeriod"/>
                <a:tabLst/>
                <a:defRPr/>
              </a:pPr>
              <a:r>
                <a:rPr kumimoji="0" lang="nl-NL" sz="1100" b="1" i="0" u="none" strike="noStrike" kern="0" cap="none" spc="0" normalizeH="0" baseline="0" noProof="0">
                  <a:ln>
                    <a:noFill/>
                  </a:ln>
                  <a:solidFill>
                    <a:srgbClr val="242424"/>
                  </a:solidFill>
                  <a:effectLst/>
                  <a:uLnTx/>
                  <a:uFillTx/>
                  <a:latin typeface="Verdana" panose="020B0604030504040204" pitchFamily="34" charset="0"/>
                  <a:ea typeface="Verdana" panose="020B0604030504040204" pitchFamily="34" charset="0"/>
                </a:rPr>
                <a:t>Regionaal Platform voor databeschikbaarheid</a:t>
              </a:r>
              <a:r>
                <a:rPr kumimoji="0" lang="nl-NL" sz="1100" b="0" i="0" u="none" strike="noStrike" kern="0" cap="none" spc="0" normalizeH="0" baseline="0" noProof="0">
                  <a:ln>
                    <a:noFill/>
                  </a:ln>
                  <a:solidFill>
                    <a:srgbClr val="242424"/>
                  </a:solidFill>
                  <a:effectLst/>
                  <a:uLnTx/>
                  <a:uFillTx/>
                  <a:latin typeface="Verdana" panose="020B0604030504040204" pitchFamily="34" charset="0"/>
                  <a:ea typeface="Verdana" panose="020B0604030504040204" pitchFamily="34" charset="0"/>
                </a:rPr>
                <a:t>: Dit zorgt voor de infrastructuur waar gegevens doorheen stromen, wat essentieel is voor samenwerking en efficiëntie.</a:t>
              </a:r>
            </a:p>
            <a:p>
              <a:pPr marL="0" marR="0" lvl="0" indent="0" defTabSz="914400" eaLnBrk="1" fontAlgn="auto" latinLnBrk="0" hangingPunct="1">
                <a:lnSpc>
                  <a:spcPct val="100000"/>
                </a:lnSpc>
                <a:spcBef>
                  <a:spcPts val="0"/>
                </a:spcBef>
                <a:spcAft>
                  <a:spcPts val="0"/>
                </a:spcAft>
                <a:buClrTx/>
                <a:buSzTx/>
                <a:buFont typeface="+mj-lt"/>
                <a:buAutoNum type="arabicPeriod"/>
                <a:tabLst/>
                <a:defRPr/>
              </a:pPr>
              <a:r>
                <a:rPr kumimoji="0" lang="nl-NL" sz="1100" b="1" i="0" u="none" strike="noStrike" kern="0" cap="none" spc="0" normalizeH="0" baseline="0" noProof="0">
                  <a:ln>
                    <a:noFill/>
                  </a:ln>
                  <a:solidFill>
                    <a:srgbClr val="242424"/>
                  </a:solidFill>
                  <a:effectLst/>
                  <a:uLnTx/>
                  <a:uFillTx/>
                  <a:latin typeface="Verdana" panose="020B0604030504040204" pitchFamily="34" charset="0"/>
                  <a:ea typeface="Verdana" panose="020B0604030504040204" pitchFamily="34" charset="0"/>
                </a:rPr>
                <a:t>Toepassingen</a:t>
              </a:r>
              <a:r>
                <a:rPr kumimoji="0" lang="nl-NL" sz="1100" b="0" i="0" u="none" strike="noStrike" kern="0" cap="none" spc="0" normalizeH="0" baseline="0" noProof="0">
                  <a:ln>
                    <a:noFill/>
                  </a:ln>
                  <a:solidFill>
                    <a:srgbClr val="242424"/>
                  </a:solidFill>
                  <a:effectLst/>
                  <a:uLnTx/>
                  <a:uFillTx/>
                  <a:latin typeface="Verdana" panose="020B0604030504040204" pitchFamily="34" charset="0"/>
                  <a:ea typeface="Verdana" panose="020B0604030504040204" pitchFamily="34" charset="0"/>
                </a:rPr>
                <a:t>: Deze stellen gebruikers in staat om effectief met de gegevens te werken, wat de toegankelijkheid en bruikbaarheid vergroot.</a:t>
              </a:r>
            </a:p>
            <a:p>
              <a:pPr marL="0" marR="0" lvl="0" indent="0" defTabSz="914400" eaLnBrk="1" fontAlgn="auto" latinLnBrk="0" hangingPunct="1">
                <a:lnSpc>
                  <a:spcPct val="100000"/>
                </a:lnSpc>
                <a:spcBef>
                  <a:spcPts val="0"/>
                </a:spcBef>
                <a:spcAft>
                  <a:spcPts val="0"/>
                </a:spcAft>
                <a:buClrTx/>
                <a:buSzTx/>
                <a:buFont typeface="+mj-lt"/>
                <a:buAutoNum type="arabicPeriod"/>
                <a:tabLst/>
                <a:defRPr/>
              </a:pPr>
              <a:r>
                <a:rPr kumimoji="0" lang="nl-NL" sz="1100" b="1" i="0" u="none" strike="noStrike" kern="0" cap="none" spc="0" normalizeH="0" baseline="0" noProof="0">
                  <a:ln>
                    <a:noFill/>
                  </a:ln>
                  <a:solidFill>
                    <a:srgbClr val="242424"/>
                  </a:solidFill>
                  <a:effectLst/>
                  <a:uLnTx/>
                  <a:uFillTx/>
                  <a:latin typeface="Verdana" panose="020B0604030504040204" pitchFamily="34" charset="0"/>
                  <a:ea typeface="Verdana" panose="020B0604030504040204" pitchFamily="34" charset="0"/>
                </a:rPr>
                <a:t>Generieke Functies</a:t>
              </a:r>
              <a:r>
                <a:rPr kumimoji="0" lang="nl-NL" sz="1100" b="0" i="0" u="none" strike="noStrike" kern="0" cap="none" spc="0" normalizeH="0" baseline="0" noProof="0">
                  <a:ln>
                    <a:noFill/>
                  </a:ln>
                  <a:solidFill>
                    <a:srgbClr val="242424"/>
                  </a:solidFill>
                  <a:effectLst/>
                  <a:uLnTx/>
                  <a:uFillTx/>
                  <a:latin typeface="Verdana" panose="020B0604030504040204" pitchFamily="34" charset="0"/>
                  <a:ea typeface="Verdana" panose="020B0604030504040204" pitchFamily="34" charset="0"/>
                </a:rPr>
                <a:t>: Deze omvatten standaarden en afspraken die ervoor zorgen dat gegevens vindbaar en toegankelijk zijn voor verschillende toepassingsgebieden, wat de interoperabiliteit bevordert.</a:t>
              </a:r>
            </a:p>
          </p:txBody>
        </p:sp>
        <p:sp>
          <p:nvSpPr>
            <p:cNvPr id="83" name="Rechthoek: afgeronde hoeken 82">
              <a:extLst>
                <a:ext uri="{FF2B5EF4-FFF2-40B4-BE49-F238E27FC236}">
                  <a16:creationId xmlns:a16="http://schemas.microsoft.com/office/drawing/2014/main" id="{F927D52C-5BB8-435C-F519-36BDBC8CA60C}"/>
                </a:ext>
              </a:extLst>
            </p:cNvPr>
            <p:cNvSpPr/>
            <p:nvPr/>
          </p:nvSpPr>
          <p:spPr>
            <a:xfrm>
              <a:off x="4634362" y="1883431"/>
              <a:ext cx="7336920" cy="1144737"/>
            </a:xfrm>
            <a:prstGeom prst="roundRect">
              <a:avLst>
                <a:gd name="adj" fmla="val 3438"/>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L" sz="18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89" name="Groep 88">
            <a:extLst>
              <a:ext uri="{FF2B5EF4-FFF2-40B4-BE49-F238E27FC236}">
                <a16:creationId xmlns:a16="http://schemas.microsoft.com/office/drawing/2014/main" id="{C9684103-C78E-8E93-9124-D0D3674638A1}"/>
              </a:ext>
            </a:extLst>
          </p:cNvPr>
          <p:cNvGrpSpPr/>
          <p:nvPr/>
        </p:nvGrpSpPr>
        <p:grpSpPr>
          <a:xfrm>
            <a:off x="4333585" y="1572272"/>
            <a:ext cx="498427" cy="498427"/>
            <a:chOff x="4333585" y="1572272"/>
            <a:chExt cx="498427" cy="498427"/>
          </a:xfrm>
        </p:grpSpPr>
        <p:sp>
          <p:nvSpPr>
            <p:cNvPr id="91" name="Oval 11">
              <a:extLst>
                <a:ext uri="{FF2B5EF4-FFF2-40B4-BE49-F238E27FC236}">
                  <a16:creationId xmlns:a16="http://schemas.microsoft.com/office/drawing/2014/main" id="{C9A24998-D400-726E-D0D7-E9F1EB371A32}"/>
                </a:ext>
              </a:extLst>
            </p:cNvPr>
            <p:cNvSpPr>
              <a:spLocks/>
            </p:cNvSpPr>
            <p:nvPr/>
          </p:nvSpPr>
          <p:spPr>
            <a:xfrm>
              <a:off x="4333585" y="1572272"/>
              <a:ext cx="498427" cy="498427"/>
            </a:xfrm>
            <a:prstGeom prst="ellipse">
              <a:avLst/>
            </a:prstGeom>
            <a:solidFill>
              <a:srgbClr val="D6DCE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1" b="0" i="0" u="none" strike="noStrike" kern="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endParaRPr>
            </a:p>
          </p:txBody>
        </p:sp>
        <p:pic>
          <p:nvPicPr>
            <p:cNvPr id="92" name="Graphic 91">
              <a:extLst>
                <a:ext uri="{FF2B5EF4-FFF2-40B4-BE49-F238E27FC236}">
                  <a16:creationId xmlns:a16="http://schemas.microsoft.com/office/drawing/2014/main" id="{2F1A6644-F0D4-8BFF-949B-A240E251E9C5}"/>
                </a:ext>
              </a:extLst>
            </p:cNvPr>
            <p:cNvPicPr>
              <a:picLocks noChangeAspect="1"/>
            </p:cNvPicPr>
            <p:nvPr>
              <p:custDataLst>
                <p:tags r:id="rId3"/>
              </p:custDataLst>
            </p:nvPr>
          </p:nvPicPr>
          <p:blipFill>
            <a:blip r:embed="rId26">
              <a:extLst>
                <a:ext uri="{96DAC541-7B7A-43D3-8B79-37D633B846F1}">
                  <asvg:svgBlip xmlns:asvg="http://schemas.microsoft.com/office/drawing/2016/SVG/main" r:embed="rId27"/>
                </a:ext>
              </a:extLst>
            </a:blip>
            <a:stretch>
              <a:fillRect/>
            </a:stretch>
          </p:blipFill>
          <p:spPr>
            <a:xfrm>
              <a:off x="4358390" y="1597230"/>
              <a:ext cx="425932" cy="425932"/>
            </a:xfrm>
            <a:prstGeom prst="rect">
              <a:avLst/>
            </a:prstGeom>
          </p:spPr>
        </p:pic>
      </p:grpSp>
      <p:sp>
        <p:nvSpPr>
          <p:cNvPr id="93" name="Rechthoek: afgeronde hoeken 3">
            <a:extLst>
              <a:ext uri="{FF2B5EF4-FFF2-40B4-BE49-F238E27FC236}">
                <a16:creationId xmlns:a16="http://schemas.microsoft.com/office/drawing/2014/main" id="{184AE0B3-F0A7-4333-FC24-84069340F308}"/>
              </a:ext>
            </a:extLst>
          </p:cNvPr>
          <p:cNvSpPr/>
          <p:nvPr/>
        </p:nvSpPr>
        <p:spPr>
          <a:xfrm>
            <a:off x="483980" y="3055952"/>
            <a:ext cx="3711711" cy="2138598"/>
          </a:xfrm>
          <a:prstGeom prst="roundRect">
            <a:avLst/>
          </a:prstGeom>
          <a:solidFill>
            <a:srgbClr val="D6DCE5"/>
          </a:solidFill>
          <a:ln w="12700" cap="rnd" cmpd="sng" algn="ctr">
            <a:solidFill>
              <a:srgbClr val="4472C4">
                <a:shade val="15000"/>
              </a:srgbClr>
            </a:solidFill>
            <a:prstDash val="solid"/>
            <a:roun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NL" sz="11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94" name="Group 16">
            <a:extLst>
              <a:ext uri="{FF2B5EF4-FFF2-40B4-BE49-F238E27FC236}">
                <a16:creationId xmlns:a16="http://schemas.microsoft.com/office/drawing/2014/main" id="{A4CBCD20-7BE4-B124-7F5C-B3912121DB1F}"/>
              </a:ext>
            </a:extLst>
          </p:cNvPr>
          <p:cNvGrpSpPr/>
          <p:nvPr/>
        </p:nvGrpSpPr>
        <p:grpSpPr>
          <a:xfrm>
            <a:off x="671572" y="4473451"/>
            <a:ext cx="3309654" cy="646306"/>
            <a:chOff x="756638" y="4537585"/>
            <a:chExt cx="3341975" cy="646306"/>
          </a:xfrm>
        </p:grpSpPr>
        <p:sp>
          <p:nvSpPr>
            <p:cNvPr id="95" name="Rechthoek: afgeronde hoeken 7">
              <a:extLst>
                <a:ext uri="{FF2B5EF4-FFF2-40B4-BE49-F238E27FC236}">
                  <a16:creationId xmlns:a16="http://schemas.microsoft.com/office/drawing/2014/main" id="{DBD39065-C7B9-1FD0-EA83-D9F38E79C728}"/>
                </a:ext>
              </a:extLst>
            </p:cNvPr>
            <p:cNvSpPr/>
            <p:nvPr/>
          </p:nvSpPr>
          <p:spPr>
            <a:xfrm>
              <a:off x="818200" y="4847787"/>
              <a:ext cx="1512492" cy="255416"/>
            </a:xfrm>
            <a:prstGeom prst="roundRect">
              <a:avLst/>
            </a:prstGeom>
            <a:solidFill>
              <a:srgbClr val="B9EDF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Bronontsluiting </a:t>
              </a: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6" name="Rechthoek: afgeronde hoeken 11">
              <a:extLst>
                <a:ext uri="{FF2B5EF4-FFF2-40B4-BE49-F238E27FC236}">
                  <a16:creationId xmlns:a16="http://schemas.microsoft.com/office/drawing/2014/main" id="{EBCAEC9C-CD64-50B8-7AFE-D7528C0291EC}"/>
                </a:ext>
              </a:extLst>
            </p:cNvPr>
            <p:cNvSpPr/>
            <p:nvPr/>
          </p:nvSpPr>
          <p:spPr>
            <a:xfrm>
              <a:off x="2427626" y="4849601"/>
              <a:ext cx="1512492" cy="255416"/>
            </a:xfrm>
            <a:prstGeom prst="roundRect">
              <a:avLst/>
            </a:prstGeom>
            <a:solidFill>
              <a:srgbClr val="B9EDF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Integratielaag </a:t>
              </a: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7" name="Rechthoek: afgeronde hoeken 7">
              <a:extLst>
                <a:ext uri="{FF2B5EF4-FFF2-40B4-BE49-F238E27FC236}">
                  <a16:creationId xmlns:a16="http://schemas.microsoft.com/office/drawing/2014/main" id="{C06A88CD-DDD5-7A60-A707-0277E586C5F1}"/>
                </a:ext>
              </a:extLst>
            </p:cNvPr>
            <p:cNvSpPr/>
            <p:nvPr/>
          </p:nvSpPr>
          <p:spPr>
            <a:xfrm>
              <a:off x="756639" y="4771642"/>
              <a:ext cx="3341974" cy="412249"/>
            </a:xfrm>
            <a:prstGeom prst="roundRect">
              <a:avLst/>
            </a:prstGeom>
            <a:noFill/>
            <a:ln w="12700" cap="flat" cmpd="sng" algn="ctr">
              <a:solidFill>
                <a:srgbClr val="4472C4">
                  <a:shade val="15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8" name="TextBox 28">
              <a:extLst>
                <a:ext uri="{FF2B5EF4-FFF2-40B4-BE49-F238E27FC236}">
                  <a16:creationId xmlns:a16="http://schemas.microsoft.com/office/drawing/2014/main" id="{11455CF1-0DDA-9FD1-7BF6-00E77D334D73}"/>
                </a:ext>
              </a:extLst>
            </p:cNvPr>
            <p:cNvSpPr txBox="1"/>
            <p:nvPr/>
          </p:nvSpPr>
          <p:spPr>
            <a:xfrm>
              <a:off x="756638" y="4537585"/>
              <a:ext cx="3341975" cy="261610"/>
            </a:xfrm>
            <a:prstGeom prst="rect">
              <a:avLst/>
            </a:prstGeom>
            <a:noFill/>
          </p:spPr>
          <p:txBody>
            <a:bodyPr wrap="square" l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Regionaal platform databeschikbaarheid</a:t>
              </a:r>
              <a:endParaRPr kumimoji="0" lang="LID4096" sz="1100" b="0" i="0" u="none" strike="noStrike" kern="0" cap="none" spc="0" normalizeH="0" baseline="0" noProof="0">
                <a:ln>
                  <a:noFill/>
                </a:ln>
                <a:solidFill>
                  <a:prstClr val="black"/>
                </a:solidFill>
                <a:effectLst/>
                <a:uLnTx/>
                <a:uFillTx/>
              </a:endParaRPr>
            </a:p>
          </p:txBody>
        </p:sp>
      </p:grpSp>
      <p:grpSp>
        <p:nvGrpSpPr>
          <p:cNvPr id="99" name="Group 29">
            <a:extLst>
              <a:ext uri="{FF2B5EF4-FFF2-40B4-BE49-F238E27FC236}">
                <a16:creationId xmlns:a16="http://schemas.microsoft.com/office/drawing/2014/main" id="{74C1D434-5006-7005-B4B3-E9BA47658A53}"/>
              </a:ext>
            </a:extLst>
          </p:cNvPr>
          <p:cNvGrpSpPr/>
          <p:nvPr/>
        </p:nvGrpSpPr>
        <p:grpSpPr>
          <a:xfrm>
            <a:off x="634965" y="3133454"/>
            <a:ext cx="3309653" cy="641992"/>
            <a:chOff x="4195547" y="4539627"/>
            <a:chExt cx="3341974" cy="641992"/>
          </a:xfrm>
        </p:grpSpPr>
        <p:sp>
          <p:nvSpPr>
            <p:cNvPr id="100" name="Rechthoek: afgeronde hoeken 10">
              <a:extLst>
                <a:ext uri="{FF2B5EF4-FFF2-40B4-BE49-F238E27FC236}">
                  <a16:creationId xmlns:a16="http://schemas.microsoft.com/office/drawing/2014/main" id="{C89B383D-F31D-CF4F-7DF2-36A18F817280}"/>
                </a:ext>
              </a:extLst>
            </p:cNvPr>
            <p:cNvSpPr/>
            <p:nvPr/>
          </p:nvSpPr>
          <p:spPr>
            <a:xfrm>
              <a:off x="5370912" y="4853439"/>
              <a:ext cx="981766" cy="255416"/>
            </a:xfrm>
            <a:prstGeom prst="roundRect">
              <a:avLst/>
            </a:prstGeom>
            <a:solidFill>
              <a:srgbClr val="B9EDFF"/>
            </a:solidFill>
            <a:ln w="12700" cap="flat" cmpd="sng" algn="ctr">
              <a:solidFill>
                <a:srgbClr val="4472C4">
                  <a:shade val="15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Communicatie  </a:t>
              </a:r>
              <a:endParaRPr kumimoji="0" lang="en-NL"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1" name="Rechthoek: afgeronde hoeken 10">
              <a:extLst>
                <a:ext uri="{FF2B5EF4-FFF2-40B4-BE49-F238E27FC236}">
                  <a16:creationId xmlns:a16="http://schemas.microsoft.com/office/drawing/2014/main" id="{9395CF1E-6C5D-7EF7-7962-A8AC9AD5BCA6}"/>
                </a:ext>
              </a:extLst>
            </p:cNvPr>
            <p:cNvSpPr/>
            <p:nvPr/>
          </p:nvSpPr>
          <p:spPr>
            <a:xfrm>
              <a:off x="4304851" y="4847787"/>
              <a:ext cx="981766" cy="255416"/>
            </a:xfrm>
            <a:prstGeom prst="roundRect">
              <a:avLst/>
            </a:prstGeom>
            <a:solidFill>
              <a:srgbClr val="B9EDFF"/>
            </a:solidFill>
            <a:ln w="12700" cap="flat" cmpd="sng" algn="ctr">
              <a:solidFill>
                <a:srgbClr val="4472C4">
                  <a:shade val="15000"/>
                </a:srgbClr>
              </a:solidFill>
              <a:prstDash val="solid"/>
              <a:miter lim="800000"/>
            </a:ln>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5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Dossierinzage  </a:t>
              </a:r>
              <a:endParaRPr kumimoji="0" lang="en-NL" sz="105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2" name="Rechthoek: afgeronde hoeken 10">
              <a:extLst>
                <a:ext uri="{FF2B5EF4-FFF2-40B4-BE49-F238E27FC236}">
                  <a16:creationId xmlns:a16="http://schemas.microsoft.com/office/drawing/2014/main" id="{ABD08969-1954-3E4C-17AD-D6841D173092}"/>
                </a:ext>
              </a:extLst>
            </p:cNvPr>
            <p:cNvSpPr/>
            <p:nvPr/>
          </p:nvSpPr>
          <p:spPr>
            <a:xfrm>
              <a:off x="6436973" y="4847787"/>
              <a:ext cx="981766" cy="255416"/>
            </a:xfrm>
            <a:prstGeom prst="roundRect">
              <a:avLst/>
            </a:prstGeom>
            <a:solidFill>
              <a:srgbClr val="B9EDF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Meer</a:t>
              </a: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3" name="Rechthoek: afgeronde hoeken 7">
              <a:extLst>
                <a:ext uri="{FF2B5EF4-FFF2-40B4-BE49-F238E27FC236}">
                  <a16:creationId xmlns:a16="http://schemas.microsoft.com/office/drawing/2014/main" id="{3E3A7574-B529-8824-5324-2D93334994A1}"/>
                </a:ext>
              </a:extLst>
            </p:cNvPr>
            <p:cNvSpPr/>
            <p:nvPr/>
          </p:nvSpPr>
          <p:spPr>
            <a:xfrm>
              <a:off x="4195547" y="4769370"/>
              <a:ext cx="3341974" cy="412249"/>
            </a:xfrm>
            <a:prstGeom prst="roundRect">
              <a:avLst/>
            </a:prstGeom>
            <a:noFill/>
            <a:ln w="12700" cap="flat" cmpd="sng" algn="ctr">
              <a:solidFill>
                <a:srgbClr val="4472C4">
                  <a:shade val="15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4" name="TextBox 40">
              <a:extLst>
                <a:ext uri="{FF2B5EF4-FFF2-40B4-BE49-F238E27FC236}">
                  <a16:creationId xmlns:a16="http://schemas.microsoft.com/office/drawing/2014/main" id="{5E6BA0F2-E471-1660-4A40-1DC4C753482C}"/>
                </a:ext>
              </a:extLst>
            </p:cNvPr>
            <p:cNvSpPr txBox="1"/>
            <p:nvPr/>
          </p:nvSpPr>
          <p:spPr>
            <a:xfrm>
              <a:off x="4195547" y="4539627"/>
              <a:ext cx="3324648" cy="261610"/>
            </a:xfrm>
            <a:prstGeom prst="rect">
              <a:avLst/>
            </a:prstGeom>
            <a:noFill/>
          </p:spPr>
          <p:txBody>
            <a:bodyPr wrap="square" l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Toepassingen</a:t>
              </a:r>
              <a:endParaRPr kumimoji="0" lang="LID4096" sz="1100" b="0" i="0" u="none" strike="noStrike" kern="0" cap="none" spc="0" normalizeH="0" baseline="0" noProof="0">
                <a:ln>
                  <a:noFill/>
                </a:ln>
                <a:solidFill>
                  <a:prstClr val="black"/>
                </a:solidFill>
                <a:effectLst/>
                <a:uLnTx/>
                <a:uFillTx/>
              </a:endParaRPr>
            </a:p>
          </p:txBody>
        </p:sp>
      </p:grpSp>
      <p:grpSp>
        <p:nvGrpSpPr>
          <p:cNvPr id="105" name="Group 43">
            <a:extLst>
              <a:ext uri="{FF2B5EF4-FFF2-40B4-BE49-F238E27FC236}">
                <a16:creationId xmlns:a16="http://schemas.microsoft.com/office/drawing/2014/main" id="{FDD43383-83EA-B073-3831-D065524B3654}"/>
              </a:ext>
            </a:extLst>
          </p:cNvPr>
          <p:cNvGrpSpPr/>
          <p:nvPr/>
        </p:nvGrpSpPr>
        <p:grpSpPr>
          <a:xfrm>
            <a:off x="695824" y="3786112"/>
            <a:ext cx="3292492" cy="641992"/>
            <a:chOff x="7599968" y="4539627"/>
            <a:chExt cx="3324648" cy="641992"/>
          </a:xfrm>
        </p:grpSpPr>
        <p:sp>
          <p:nvSpPr>
            <p:cNvPr id="106" name="Rechthoek: afgeronde hoeken 10">
              <a:extLst>
                <a:ext uri="{FF2B5EF4-FFF2-40B4-BE49-F238E27FC236}">
                  <a16:creationId xmlns:a16="http://schemas.microsoft.com/office/drawing/2014/main" id="{858C9FB1-D4F7-1267-4F16-7304D397DA27}"/>
                </a:ext>
              </a:extLst>
            </p:cNvPr>
            <p:cNvSpPr/>
            <p:nvPr/>
          </p:nvSpPr>
          <p:spPr>
            <a:xfrm>
              <a:off x="8775333" y="4847787"/>
              <a:ext cx="947279" cy="255416"/>
            </a:xfrm>
            <a:prstGeom prst="roundRect">
              <a:avLst/>
            </a:prstGeom>
            <a:solidFill>
              <a:srgbClr val="B9EDF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ZORG-AB  </a:t>
              </a: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7" name="Rechthoek: afgeronde hoeken 10">
              <a:extLst>
                <a:ext uri="{FF2B5EF4-FFF2-40B4-BE49-F238E27FC236}">
                  <a16:creationId xmlns:a16="http://schemas.microsoft.com/office/drawing/2014/main" id="{C9E23A50-F721-D7E1-6454-1DD4C60075DA}"/>
                </a:ext>
              </a:extLst>
            </p:cNvPr>
            <p:cNvSpPr/>
            <p:nvPr/>
          </p:nvSpPr>
          <p:spPr>
            <a:xfrm>
              <a:off x="7709272" y="4847787"/>
              <a:ext cx="978605" cy="255416"/>
            </a:xfrm>
            <a:prstGeom prst="roundRect">
              <a:avLst/>
            </a:prstGeom>
            <a:solidFill>
              <a:srgbClr val="B9EDF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Mitz  </a:t>
              </a: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8" name="Rechthoek: afgeronde hoeken 10">
              <a:extLst>
                <a:ext uri="{FF2B5EF4-FFF2-40B4-BE49-F238E27FC236}">
                  <a16:creationId xmlns:a16="http://schemas.microsoft.com/office/drawing/2014/main" id="{5620291E-8E49-72F6-8AB4-134C4A6EF0F6}"/>
                </a:ext>
              </a:extLst>
            </p:cNvPr>
            <p:cNvSpPr/>
            <p:nvPr/>
          </p:nvSpPr>
          <p:spPr>
            <a:xfrm>
              <a:off x="9810068" y="4846100"/>
              <a:ext cx="978605" cy="255416"/>
            </a:xfrm>
            <a:prstGeom prst="roundRect">
              <a:avLst/>
            </a:prstGeom>
            <a:solidFill>
              <a:srgbClr val="B9EDFF"/>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Meer…  </a:t>
              </a:r>
              <a:endParaRPr kumimoji="0" lang="en-NL" sz="1100" b="0"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9" name="Rechthoek: afgeronde hoeken 7">
              <a:extLst>
                <a:ext uri="{FF2B5EF4-FFF2-40B4-BE49-F238E27FC236}">
                  <a16:creationId xmlns:a16="http://schemas.microsoft.com/office/drawing/2014/main" id="{1596F28B-F505-EA99-655B-56ACDA2E9F6D}"/>
                </a:ext>
              </a:extLst>
            </p:cNvPr>
            <p:cNvSpPr/>
            <p:nvPr/>
          </p:nvSpPr>
          <p:spPr>
            <a:xfrm>
              <a:off x="7599968" y="4769370"/>
              <a:ext cx="3262201" cy="412249"/>
            </a:xfrm>
            <a:prstGeom prst="roundRect">
              <a:avLst/>
            </a:prstGeom>
            <a:noFill/>
            <a:ln w="12700" cap="flat" cmpd="sng" algn="ctr">
              <a:solidFill>
                <a:srgbClr val="4472C4">
                  <a:shade val="15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10" name="TextBox 52">
              <a:extLst>
                <a:ext uri="{FF2B5EF4-FFF2-40B4-BE49-F238E27FC236}">
                  <a16:creationId xmlns:a16="http://schemas.microsoft.com/office/drawing/2014/main" id="{E9C7D565-E039-75EB-5AD6-B65A395D508D}"/>
                </a:ext>
              </a:extLst>
            </p:cNvPr>
            <p:cNvSpPr txBox="1"/>
            <p:nvPr/>
          </p:nvSpPr>
          <p:spPr>
            <a:xfrm>
              <a:off x="7599968" y="4539627"/>
              <a:ext cx="3324648" cy="261610"/>
            </a:xfrm>
            <a:prstGeom prst="rect">
              <a:avLst/>
            </a:prstGeom>
            <a:noFill/>
          </p:spPr>
          <p:txBody>
            <a:bodyPr wrap="square" l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Generieke voorzieningen</a:t>
              </a:r>
              <a:endParaRPr kumimoji="0" lang="LID4096" sz="1100" b="0" i="0" u="none" strike="noStrike" kern="0" cap="none" spc="0" normalizeH="0" baseline="0" noProof="0">
                <a:ln>
                  <a:noFill/>
                </a:ln>
                <a:solidFill>
                  <a:prstClr val="black"/>
                </a:solidFill>
                <a:effectLst/>
                <a:uLnTx/>
                <a:uFillTx/>
              </a:endParaRPr>
            </a:p>
          </p:txBody>
        </p:sp>
      </p:grpSp>
      <p:sp>
        <p:nvSpPr>
          <p:cNvPr id="111" name="Rectangle 9">
            <a:extLst>
              <a:ext uri="{FF2B5EF4-FFF2-40B4-BE49-F238E27FC236}">
                <a16:creationId xmlns:a16="http://schemas.microsoft.com/office/drawing/2014/main" id="{1D125CE9-9EB6-844E-1001-63BA1E14F710}"/>
              </a:ext>
            </a:extLst>
          </p:cNvPr>
          <p:cNvSpPr/>
          <p:nvPr/>
        </p:nvSpPr>
        <p:spPr>
          <a:xfrm>
            <a:off x="4634362" y="5670352"/>
            <a:ext cx="3535790" cy="286706"/>
          </a:xfrm>
          <a:prstGeom prst="rect">
            <a:avLst/>
          </a:prstGeom>
          <a:solidFill>
            <a:srgbClr val="B9ED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	2. Toepassingen</a:t>
            </a:r>
          </a:p>
        </p:txBody>
      </p:sp>
      <p:grpSp>
        <p:nvGrpSpPr>
          <p:cNvPr id="112" name="Groep 111">
            <a:extLst>
              <a:ext uri="{FF2B5EF4-FFF2-40B4-BE49-F238E27FC236}">
                <a16:creationId xmlns:a16="http://schemas.microsoft.com/office/drawing/2014/main" id="{593BF118-320C-8F37-15E7-31F210935BA2}"/>
              </a:ext>
            </a:extLst>
          </p:cNvPr>
          <p:cNvGrpSpPr/>
          <p:nvPr/>
        </p:nvGrpSpPr>
        <p:grpSpPr>
          <a:xfrm>
            <a:off x="4333585" y="5536123"/>
            <a:ext cx="495014" cy="492944"/>
            <a:chOff x="4391716" y="5274868"/>
            <a:chExt cx="495014" cy="492944"/>
          </a:xfrm>
        </p:grpSpPr>
        <p:sp>
          <p:nvSpPr>
            <p:cNvPr id="113" name="Oval 11">
              <a:extLst>
                <a:ext uri="{FF2B5EF4-FFF2-40B4-BE49-F238E27FC236}">
                  <a16:creationId xmlns:a16="http://schemas.microsoft.com/office/drawing/2014/main" id="{E37B846F-B083-2992-EBB9-F4A7A8F287A0}"/>
                </a:ext>
              </a:extLst>
            </p:cNvPr>
            <p:cNvSpPr>
              <a:spLocks/>
            </p:cNvSpPr>
            <p:nvPr/>
          </p:nvSpPr>
          <p:spPr>
            <a:xfrm>
              <a:off x="4393786" y="5274868"/>
              <a:ext cx="492944" cy="492944"/>
            </a:xfrm>
            <a:prstGeom prst="ellipse">
              <a:avLst/>
            </a:prstGeom>
            <a:solidFill>
              <a:srgbClr val="B9ED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1" b="0" i="0" u="none" strike="noStrike" kern="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endParaRPr>
            </a:p>
          </p:txBody>
        </p:sp>
        <p:pic>
          <p:nvPicPr>
            <p:cNvPr id="114" name="Graphic 113">
              <a:extLst>
                <a:ext uri="{FF2B5EF4-FFF2-40B4-BE49-F238E27FC236}">
                  <a16:creationId xmlns:a16="http://schemas.microsoft.com/office/drawing/2014/main" id="{C7E99800-546C-E841-B10C-94C4EF2089D9}"/>
                </a:ext>
              </a:extLst>
            </p:cNvPr>
            <p:cNvPicPr>
              <a:picLocks noChangeAspect="1"/>
            </p:cNvPicPr>
            <p:nvPr>
              <p:custDataLst>
                <p:tags r:id="rId2"/>
              </p:custDataLst>
            </p:nvPr>
          </p:nvPicPr>
          <p:blipFill>
            <a:blip r:embed="rId24">
              <a:extLst>
                <a:ext uri="{96DAC541-7B7A-43D3-8B79-37D633B846F1}">
                  <asvg:svgBlip xmlns:asvg="http://schemas.microsoft.com/office/drawing/2016/SVG/main" r:embed="rId25"/>
                </a:ext>
              </a:extLst>
            </a:blip>
            <a:stretch>
              <a:fillRect/>
            </a:stretch>
          </p:blipFill>
          <p:spPr>
            <a:xfrm>
              <a:off x="4391716" y="5306494"/>
              <a:ext cx="446229" cy="446229"/>
            </a:xfrm>
            <a:prstGeom prst="rect">
              <a:avLst/>
            </a:prstGeom>
          </p:spPr>
        </p:pic>
      </p:grpSp>
      <p:sp>
        <p:nvSpPr>
          <p:cNvPr id="115" name="Rectangle 9">
            <a:extLst>
              <a:ext uri="{FF2B5EF4-FFF2-40B4-BE49-F238E27FC236}">
                <a16:creationId xmlns:a16="http://schemas.microsoft.com/office/drawing/2014/main" id="{ACE8372A-FC12-222A-8384-B033FCD152D5}"/>
              </a:ext>
            </a:extLst>
          </p:cNvPr>
          <p:cNvSpPr/>
          <p:nvPr/>
        </p:nvSpPr>
        <p:spPr>
          <a:xfrm>
            <a:off x="8492662" y="5670352"/>
            <a:ext cx="3486113" cy="286041"/>
          </a:xfrm>
          <a:prstGeom prst="rect">
            <a:avLst/>
          </a:prstGeom>
          <a:solidFill>
            <a:srgbClr val="B9EDFF"/>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           3. Generieke voorzieningen</a:t>
            </a:r>
          </a:p>
        </p:txBody>
      </p:sp>
      <p:grpSp>
        <p:nvGrpSpPr>
          <p:cNvPr id="116" name="Groep 115">
            <a:extLst>
              <a:ext uri="{FF2B5EF4-FFF2-40B4-BE49-F238E27FC236}">
                <a16:creationId xmlns:a16="http://schemas.microsoft.com/office/drawing/2014/main" id="{7CA24585-1873-D463-AA24-19B239F06EA5}"/>
              </a:ext>
            </a:extLst>
          </p:cNvPr>
          <p:cNvGrpSpPr/>
          <p:nvPr/>
        </p:nvGrpSpPr>
        <p:grpSpPr>
          <a:xfrm>
            <a:off x="8250017" y="5536123"/>
            <a:ext cx="495014" cy="492944"/>
            <a:chOff x="8250017" y="5356056"/>
            <a:chExt cx="495014" cy="492944"/>
          </a:xfrm>
        </p:grpSpPr>
        <p:sp>
          <p:nvSpPr>
            <p:cNvPr id="117" name="Oval 11">
              <a:extLst>
                <a:ext uri="{FF2B5EF4-FFF2-40B4-BE49-F238E27FC236}">
                  <a16:creationId xmlns:a16="http://schemas.microsoft.com/office/drawing/2014/main" id="{42022650-EBA9-6412-D046-463F05242775}"/>
                </a:ext>
              </a:extLst>
            </p:cNvPr>
            <p:cNvSpPr>
              <a:spLocks/>
            </p:cNvSpPr>
            <p:nvPr/>
          </p:nvSpPr>
          <p:spPr>
            <a:xfrm>
              <a:off x="8252087" y="5356056"/>
              <a:ext cx="492944" cy="492944"/>
            </a:xfrm>
            <a:prstGeom prst="ellipse">
              <a:avLst/>
            </a:prstGeom>
            <a:solidFill>
              <a:srgbClr val="B9ED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1" b="0" i="0" u="none" strike="noStrike" kern="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endParaRPr>
            </a:p>
          </p:txBody>
        </p:sp>
        <p:pic>
          <p:nvPicPr>
            <p:cNvPr id="118" name="Graphic 117">
              <a:extLst>
                <a:ext uri="{FF2B5EF4-FFF2-40B4-BE49-F238E27FC236}">
                  <a16:creationId xmlns:a16="http://schemas.microsoft.com/office/drawing/2014/main" id="{8F8948EB-B801-62B2-5B01-BDC9DB58BFBE}"/>
                </a:ext>
              </a:extLst>
            </p:cNvPr>
            <p:cNvPicPr>
              <a:picLocks noChangeAspect="1"/>
            </p:cNvPicPr>
            <p:nvPr>
              <p:custDataLst>
                <p:tags r:id="rId1"/>
              </p:custDataLst>
            </p:nvPr>
          </p:nvPicPr>
          <p:blipFill>
            <a:blip r:embed="rId24">
              <a:extLst>
                <a:ext uri="{96DAC541-7B7A-43D3-8B79-37D633B846F1}">
                  <asvg:svgBlip xmlns:asvg="http://schemas.microsoft.com/office/drawing/2016/SVG/main" r:embed="rId25"/>
                </a:ext>
              </a:extLst>
            </a:blip>
            <a:stretch>
              <a:fillRect/>
            </a:stretch>
          </p:blipFill>
          <p:spPr>
            <a:xfrm>
              <a:off x="8250017" y="5387682"/>
              <a:ext cx="446229" cy="446229"/>
            </a:xfrm>
            <a:prstGeom prst="rect">
              <a:avLst/>
            </a:prstGeom>
          </p:spPr>
        </p:pic>
      </p:grpSp>
      <p:sp>
        <p:nvSpPr>
          <p:cNvPr id="120" name="Tekstvak 119">
            <a:extLst>
              <a:ext uri="{FF2B5EF4-FFF2-40B4-BE49-F238E27FC236}">
                <a16:creationId xmlns:a16="http://schemas.microsoft.com/office/drawing/2014/main" id="{0063834E-2B08-82D9-FCB1-AE36CD9B7032}"/>
              </a:ext>
            </a:extLst>
          </p:cNvPr>
          <p:cNvSpPr txBox="1"/>
          <p:nvPr/>
        </p:nvSpPr>
        <p:spPr>
          <a:xfrm>
            <a:off x="4604218" y="5991197"/>
            <a:ext cx="3535790" cy="769441"/>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Gebruikte toepassingen zijn de viewer voor dossierinzage voor de zorgprofessional (</a:t>
            </a:r>
            <a:r>
              <a:rPr kumimoji="0" lang="nl-NL" sz="1100" b="0" i="1"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usecase</a:t>
            </a:r>
            <a:r>
              <a:rPr kumimoji="0" lang="nl-NL" sz="1100" b="0"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2.5</a:t>
            </a: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en de viewer voor communicatie met de inwoner (</a:t>
            </a:r>
            <a:r>
              <a:rPr kumimoji="0" lang="nl-NL" sz="1100" b="0" i="1"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a:t>
            </a:r>
            <a:r>
              <a:rPr kumimoji="0" lang="nl-NL" sz="1100" b="0"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case 1.3</a:t>
            </a:r>
            <a:r>
              <a:rPr kumimoji="0" lang="nl-NL" sz="11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a:t>
            </a:r>
            <a:endParaRPr kumimoji="0" lang="en-NL" sz="1800" b="0" i="0" u="none" strike="noStrike" kern="0" cap="none" spc="0" normalizeH="0" baseline="0" noProof="0">
              <a:ln>
                <a:noFill/>
              </a:ln>
              <a:solidFill>
                <a:prstClr val="black"/>
              </a:solidFill>
              <a:effectLst/>
              <a:uLnTx/>
              <a:uFillTx/>
            </a:endParaRPr>
          </a:p>
        </p:txBody>
      </p:sp>
      <p:sp>
        <p:nvSpPr>
          <p:cNvPr id="121" name="Rectangle 9">
            <a:extLst>
              <a:ext uri="{FF2B5EF4-FFF2-40B4-BE49-F238E27FC236}">
                <a16:creationId xmlns:a16="http://schemas.microsoft.com/office/drawing/2014/main" id="{12C79BAD-1D45-0899-2027-825E921EF844}"/>
              </a:ext>
            </a:extLst>
          </p:cNvPr>
          <p:cNvSpPr/>
          <p:nvPr/>
        </p:nvSpPr>
        <p:spPr>
          <a:xfrm>
            <a:off x="357246" y="4889940"/>
            <a:ext cx="3762282" cy="769441"/>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l-NL" sz="12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122" name="Rectangle 9">
            <a:extLst>
              <a:ext uri="{FF2B5EF4-FFF2-40B4-BE49-F238E27FC236}">
                <a16:creationId xmlns:a16="http://schemas.microsoft.com/office/drawing/2014/main" id="{8B9A25A4-E1A1-2E8A-F23E-8D27B84EBAB2}"/>
              </a:ext>
            </a:extLst>
          </p:cNvPr>
          <p:cNvSpPr/>
          <p:nvPr/>
        </p:nvSpPr>
        <p:spPr>
          <a:xfrm>
            <a:off x="421348" y="5329262"/>
            <a:ext cx="3770776" cy="1273638"/>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nl-NL" sz="12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Het fundament is binnen deze opstartfase opgedeeld in drie verschillende onderdelen, die op verschillende lagen in de doel architectuur een rol spelen. </a:t>
            </a:r>
          </a:p>
          <a:p>
            <a:pPr marL="0" marR="0" lvl="0" indent="0" defTabSz="914400" eaLnBrk="1" fontAlgn="auto" latinLnBrk="0" hangingPunct="1">
              <a:lnSpc>
                <a:spcPct val="100000"/>
              </a:lnSpc>
              <a:spcBef>
                <a:spcPts val="0"/>
              </a:spcBef>
              <a:spcAft>
                <a:spcPts val="0"/>
              </a:spcAft>
              <a:buClrTx/>
              <a:buSzTx/>
              <a:buFontTx/>
              <a:buNone/>
              <a:tabLst/>
              <a:defRPr/>
            </a:pPr>
            <a:endParaRPr kumimoji="0" lang="nl-NL" sz="12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Tree>
    <p:extLst>
      <p:ext uri="{BB962C8B-B14F-4D97-AF65-F5344CB8AC3E}">
        <p14:creationId xmlns:p14="http://schemas.microsoft.com/office/powerpoint/2010/main" val="3647602076"/>
      </p:ext>
    </p:extLst>
  </p:cSld>
  <p:clrMapOvr>
    <a:masterClrMapping/>
  </p:clrMapOvr>
  <p:extLst>
    <p:ext uri="{6950BFC3-D8DA-4A85-94F7-54DA5524770B}">
      <p188:commentRel xmlns:p188="http://schemas.microsoft.com/office/powerpoint/2018/8/main" r:id="rId7"/>
    </p:ext>
  </p:extLs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B3D75-979C-FEA2-CAAC-7F74D3F72AA4}"/>
            </a:ext>
          </a:extLst>
        </p:cNvPr>
        <p:cNvGrpSpPr/>
        <p:nvPr/>
      </p:nvGrpSpPr>
      <p:grpSpPr>
        <a:xfrm>
          <a:off x="0" y="0"/>
          <a:ext cx="0" cy="0"/>
          <a:chOff x="0" y="0"/>
          <a:chExt cx="0" cy="0"/>
        </a:xfrm>
      </p:grpSpPr>
      <p:sp>
        <p:nvSpPr>
          <p:cNvPr id="109" name="Rechthoek: afgeronde hoeken 108">
            <a:extLst>
              <a:ext uri="{FF2B5EF4-FFF2-40B4-BE49-F238E27FC236}">
                <a16:creationId xmlns:a16="http://schemas.microsoft.com/office/drawing/2014/main" id="{9757C1DF-1415-0D55-262A-4E69B106DBFE}"/>
              </a:ext>
            </a:extLst>
          </p:cNvPr>
          <p:cNvSpPr/>
          <p:nvPr/>
        </p:nvSpPr>
        <p:spPr>
          <a:xfrm>
            <a:off x="1056640" y="2990303"/>
            <a:ext cx="6836582" cy="758816"/>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Zibs</a:t>
            </a: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uit de informatiestandaarden: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8" name="Tekstvak 17">
            <a:extLst>
              <a:ext uri="{FF2B5EF4-FFF2-40B4-BE49-F238E27FC236}">
                <a16:creationId xmlns:a16="http://schemas.microsoft.com/office/drawing/2014/main" id="{63327D16-795F-5857-7D6A-BDC60D5DBEB5}"/>
              </a:ext>
            </a:extLst>
          </p:cNvPr>
          <p:cNvSpPr txBox="1"/>
          <p:nvPr/>
        </p:nvSpPr>
        <p:spPr>
          <a:xfrm>
            <a:off x="710398" y="1211149"/>
            <a:ext cx="11086968" cy="1124219"/>
          </a:xfrm>
          <a:prstGeom prst="rect">
            <a:avLst/>
          </a:prstGeom>
          <a:noFill/>
        </p:spPr>
        <p:txBody>
          <a:bodyPr wrap="square">
            <a:spAutoFit/>
          </a:bodyPr>
          <a:lstStyle/>
          <a:p>
            <a:pPr marL="0" marR="0" lvl="0" indent="0" algn="just" defTabSz="914400" rtl="0" eaLnBrk="1" fontAlgn="auto" latinLnBrk="0" hangingPunct="1">
              <a:lnSpc>
                <a:spcPct val="114000"/>
              </a:lnSpc>
              <a:spcBef>
                <a:spcPts val="0"/>
              </a:spcBef>
              <a:spcAft>
                <a:spcPts val="0"/>
              </a:spcAft>
              <a:buClrTx/>
              <a:buSzTx/>
              <a:buFont typeface="Arial" panose="020B0604020202020204" pitchFamily="34" charset="0"/>
              <a:buNone/>
              <a:tabLst/>
              <a:defRPr/>
            </a:pPr>
            <a:r>
              <a:rPr kumimoji="0" lang="nl-NL"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Door het technisch realiseren van onderstaande regionale doelarchitectuur, wordt databeschikbaarheid en dossierinzage mogelijk gemaakt over vier verschillende lagen. Daarbij hoort het ontsluiten van bronnen uit verschillende domeinen, de integratie van de data, de ontsloten data elementen op basis van gestandaardiseerde zorginformatie bouwstenen (</a:t>
            </a:r>
            <a:r>
              <a:rPr kumimoji="0" lang="nl-NL" sz="1200" b="1"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Zibs</a:t>
            </a:r>
            <a:r>
              <a:rPr kumimoji="0" lang="nl-NL"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en de mogelijkheid tot inzage van gegevens via een viewer. Het verwezenlijken van de technologie gaat volgens afsprakenstelsels en parallel aan de gemeenschappelijke voorzieningen. </a:t>
            </a:r>
          </a:p>
        </p:txBody>
      </p:sp>
      <p:sp>
        <p:nvSpPr>
          <p:cNvPr id="25" name="Title 1">
            <a:extLst>
              <a:ext uri="{FF2B5EF4-FFF2-40B4-BE49-F238E27FC236}">
                <a16:creationId xmlns:a16="http://schemas.microsoft.com/office/drawing/2014/main" id="{4A1F0987-87DE-11D9-81F4-F5B61D966B79}"/>
              </a:ext>
            </a:extLst>
          </p:cNvPr>
          <p:cNvSpPr txBox="1">
            <a:spLocks/>
          </p:cNvSpPr>
          <p:nvPr/>
        </p:nvSpPr>
        <p:spPr>
          <a:xfrm>
            <a:off x="710398" y="422276"/>
            <a:ext cx="10313466" cy="824338"/>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nl-NL" sz="2800" b="1" i="0" u="none" strike="noStrike" kern="1200" cap="none" spc="0" normalizeH="0" baseline="0" noProof="0">
                <a:ln>
                  <a:noFill/>
                </a:ln>
                <a:solidFill>
                  <a:srgbClr val="8C95CD"/>
                </a:solidFill>
                <a:effectLst/>
                <a:uLnTx/>
                <a:uFillTx/>
                <a:latin typeface="Verdana Pro" panose="020B0604030504040204" pitchFamily="34" charset="0"/>
                <a:ea typeface="+mj-ea"/>
                <a:cs typeface="+mj-cs"/>
              </a:rPr>
              <a:t>De transitie architectuur als tussenstation voor het versneld realiseren van databeschikbaarheid</a:t>
            </a:r>
            <a:endParaRPr kumimoji="0" lang="nl-NL" sz="28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j-cs"/>
            </a:endParaRPr>
          </a:p>
        </p:txBody>
      </p:sp>
      <p:sp>
        <p:nvSpPr>
          <p:cNvPr id="48" name="Rechthoek: afgeronde hoeken 2">
            <a:extLst>
              <a:ext uri="{FF2B5EF4-FFF2-40B4-BE49-F238E27FC236}">
                <a16:creationId xmlns:a16="http://schemas.microsoft.com/office/drawing/2014/main" id="{B7EF0244-F9F9-41CE-C350-4B595CEB2AF5}"/>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50" name="Rechthoek: afgeronde hoeken 49">
            <a:extLst>
              <a:ext uri="{FF2B5EF4-FFF2-40B4-BE49-F238E27FC236}">
                <a16:creationId xmlns:a16="http://schemas.microsoft.com/office/drawing/2014/main" id="{3540846D-F106-73A5-C5D3-4606A0BCE1B1}"/>
              </a:ext>
            </a:extLst>
          </p:cNvPr>
          <p:cNvSpPr/>
          <p:nvPr/>
        </p:nvSpPr>
        <p:spPr>
          <a:xfrm>
            <a:off x="7962902" y="3016817"/>
            <a:ext cx="1871177" cy="556963"/>
          </a:xfrm>
          <a:prstGeom prst="roundRect">
            <a:avLst/>
          </a:prstGeom>
          <a:solidFill>
            <a:srgbClr val="21B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0" i="1"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En klaar voor meer data elementen in de toekomst</a:t>
            </a:r>
            <a:endParaRPr kumimoji="0" lang="en-NL" sz="900" b="0" i="1"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1" name="Rechthoek: afgeronde hoeken 50">
            <a:extLst>
              <a:ext uri="{FF2B5EF4-FFF2-40B4-BE49-F238E27FC236}">
                <a16:creationId xmlns:a16="http://schemas.microsoft.com/office/drawing/2014/main" id="{6F24D70E-A9AB-6A6E-FCF7-25513D6D7C00}"/>
              </a:ext>
            </a:extLst>
          </p:cNvPr>
          <p:cNvSpPr/>
          <p:nvPr/>
        </p:nvSpPr>
        <p:spPr>
          <a:xfrm>
            <a:off x="1066920" y="2386537"/>
            <a:ext cx="2350191" cy="548921"/>
          </a:xfrm>
          <a:prstGeom prst="round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Viewer inwoner</a:t>
            </a:r>
            <a:b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b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Tweewegcommunicatie</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2" name="Rechthoek: afgeronde hoeken 51">
            <a:extLst>
              <a:ext uri="{FF2B5EF4-FFF2-40B4-BE49-F238E27FC236}">
                <a16:creationId xmlns:a16="http://schemas.microsoft.com/office/drawing/2014/main" id="{8213E377-ACB9-E8B8-DC2E-25CBE3996381}"/>
              </a:ext>
            </a:extLst>
          </p:cNvPr>
          <p:cNvSpPr/>
          <p:nvPr/>
        </p:nvSpPr>
        <p:spPr>
          <a:xfrm>
            <a:off x="3509222" y="2386512"/>
            <a:ext cx="2642514" cy="560087"/>
          </a:xfrm>
          <a:prstGeom prst="round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Viewer zorgprofessional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multidisciplinaire inzage</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3" name="Rechthoek: afgeronde hoeken 52">
            <a:extLst>
              <a:ext uri="{FF2B5EF4-FFF2-40B4-BE49-F238E27FC236}">
                <a16:creationId xmlns:a16="http://schemas.microsoft.com/office/drawing/2014/main" id="{C50FD3F8-B21D-E8D7-232D-8FC8D4216172}"/>
              </a:ext>
            </a:extLst>
          </p:cNvPr>
          <p:cNvSpPr/>
          <p:nvPr/>
        </p:nvSpPr>
        <p:spPr>
          <a:xfrm>
            <a:off x="7965181" y="2375370"/>
            <a:ext cx="1868898" cy="548921"/>
          </a:xfrm>
          <a:prstGeom prst="round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0"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En klaar voor meer toepassingen in de toekomst</a:t>
            </a:r>
            <a:endParaRPr kumimoji="0" lang="en-NL" sz="900" b="0"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4" name="Afgeronde rechthoek 3202">
            <a:extLst>
              <a:ext uri="{FF2B5EF4-FFF2-40B4-BE49-F238E27FC236}">
                <a16:creationId xmlns:a16="http://schemas.microsoft.com/office/drawing/2014/main" id="{3762259F-CBC7-ACB0-95EB-C59056789A03}"/>
              </a:ext>
            </a:extLst>
          </p:cNvPr>
          <p:cNvSpPr/>
          <p:nvPr/>
        </p:nvSpPr>
        <p:spPr>
          <a:xfrm>
            <a:off x="9926189" y="2386538"/>
            <a:ext cx="1871177" cy="1488068"/>
          </a:xfrm>
          <a:prstGeom prst="roundRect">
            <a:avLst/>
          </a:prstGeom>
          <a:solidFill>
            <a:schemeClr val="accent4">
              <a:lumMod val="20000"/>
              <a:lumOff val="80000"/>
              <a:alpha val="13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srgbClr val="44546A"/>
                </a:solidFill>
                <a:effectLst/>
                <a:uLnTx/>
                <a:uFillTx/>
                <a:latin typeface="Calibri Light" panose="020F0302020204030204"/>
                <a:ea typeface="+mn-ea"/>
                <a:cs typeface="+mn-cs"/>
              </a:rPr>
              <a:t>Afsprakenstelsels</a:t>
            </a:r>
          </a:p>
        </p:txBody>
      </p:sp>
      <p:sp>
        <p:nvSpPr>
          <p:cNvPr id="55" name="Rechthoek 54">
            <a:extLst>
              <a:ext uri="{FF2B5EF4-FFF2-40B4-BE49-F238E27FC236}">
                <a16:creationId xmlns:a16="http://schemas.microsoft.com/office/drawing/2014/main" id="{EACED4B4-D69F-40F4-B67D-288D98F61B20}"/>
              </a:ext>
            </a:extLst>
          </p:cNvPr>
          <p:cNvSpPr/>
          <p:nvPr/>
        </p:nvSpPr>
        <p:spPr>
          <a:xfrm>
            <a:off x="11547402" y="5891895"/>
            <a:ext cx="42896" cy="1581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44546A"/>
              </a:solidFill>
              <a:effectLst/>
              <a:uLnTx/>
              <a:uFillTx/>
              <a:latin typeface="Calibri Light" panose="020F0302020204030204"/>
              <a:ea typeface="+mn-ea"/>
              <a:cs typeface="+mn-cs"/>
            </a:endParaRPr>
          </a:p>
        </p:txBody>
      </p:sp>
      <p:sp>
        <p:nvSpPr>
          <p:cNvPr id="56" name="Vrije vorm 3201">
            <a:extLst>
              <a:ext uri="{FF2B5EF4-FFF2-40B4-BE49-F238E27FC236}">
                <a16:creationId xmlns:a16="http://schemas.microsoft.com/office/drawing/2014/main" id="{40A1327C-AAF4-8A7E-A286-0D04C66B13A9}"/>
              </a:ext>
            </a:extLst>
          </p:cNvPr>
          <p:cNvSpPr/>
          <p:nvPr/>
        </p:nvSpPr>
        <p:spPr>
          <a:xfrm>
            <a:off x="11291849" y="5435773"/>
            <a:ext cx="193965" cy="130318"/>
          </a:xfrm>
          <a:custGeom>
            <a:avLst/>
            <a:gdLst>
              <a:gd name="connsiteX0" fmla="*/ 72351 w 94611"/>
              <a:gd name="connsiteY0" fmla="*/ 0 h 44521"/>
              <a:gd name="connsiteX1" fmla="*/ 22261 w 94611"/>
              <a:gd name="connsiteY1" fmla="*/ 0 h 44521"/>
              <a:gd name="connsiteX2" fmla="*/ 0 w 94611"/>
              <a:gd name="connsiteY2" fmla="*/ 22261 h 44521"/>
              <a:gd name="connsiteX3" fmla="*/ 22261 w 94611"/>
              <a:gd name="connsiteY3" fmla="*/ 44522 h 44521"/>
              <a:gd name="connsiteX4" fmla="*/ 72351 w 94611"/>
              <a:gd name="connsiteY4" fmla="*/ 44522 h 44521"/>
              <a:gd name="connsiteX5" fmla="*/ 94611 w 94611"/>
              <a:gd name="connsiteY5" fmla="*/ 22261 h 44521"/>
              <a:gd name="connsiteX6" fmla="*/ 72351 w 94611"/>
              <a:gd name="connsiteY6" fmla="*/ 0 h 44521"/>
              <a:gd name="connsiteX7" fmla="*/ 5933 w 94611"/>
              <a:gd name="connsiteY7" fmla="*/ 22261 h 44521"/>
              <a:gd name="connsiteX8" fmla="*/ 22258 w 94611"/>
              <a:gd name="connsiteY8" fmla="*/ 5936 h 44521"/>
              <a:gd name="connsiteX9" fmla="*/ 44519 w 94611"/>
              <a:gd name="connsiteY9" fmla="*/ 5936 h 44521"/>
              <a:gd name="connsiteX10" fmla="*/ 44519 w 94611"/>
              <a:gd name="connsiteY10" fmla="*/ 38585 h 44521"/>
              <a:gd name="connsiteX11" fmla="*/ 22258 w 94611"/>
              <a:gd name="connsiteY11" fmla="*/ 38585 h 44521"/>
              <a:gd name="connsiteX12" fmla="*/ 5933 w 94611"/>
              <a:gd name="connsiteY12" fmla="*/ 22261 h 44521"/>
              <a:gd name="connsiteX13" fmla="*/ 72351 w 94611"/>
              <a:gd name="connsiteY13" fmla="*/ 38585 h 44521"/>
              <a:gd name="connsiteX14" fmla="*/ 50455 w 94611"/>
              <a:gd name="connsiteY14" fmla="*/ 38585 h 44521"/>
              <a:gd name="connsiteX15" fmla="*/ 50455 w 94611"/>
              <a:gd name="connsiteY15" fmla="*/ 5936 h 44521"/>
              <a:gd name="connsiteX16" fmla="*/ 72351 w 94611"/>
              <a:gd name="connsiteY16" fmla="*/ 5936 h 44521"/>
              <a:gd name="connsiteX17" fmla="*/ 88675 w 94611"/>
              <a:gd name="connsiteY17" fmla="*/ 22261 h 44521"/>
              <a:gd name="connsiteX18" fmla="*/ 72351 w 94611"/>
              <a:gd name="connsiteY18" fmla="*/ 38585 h 4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4611" h="44521">
                <a:moveTo>
                  <a:pt x="72351" y="0"/>
                </a:moveTo>
                <a:lnTo>
                  <a:pt x="22261" y="0"/>
                </a:lnTo>
                <a:cubicBezTo>
                  <a:pt x="9967" y="0"/>
                  <a:pt x="0" y="9967"/>
                  <a:pt x="0" y="22261"/>
                </a:cubicBezTo>
                <a:cubicBezTo>
                  <a:pt x="0" y="34555"/>
                  <a:pt x="9967" y="44522"/>
                  <a:pt x="22261" y="44522"/>
                </a:cubicBezTo>
                <a:lnTo>
                  <a:pt x="72351" y="44522"/>
                </a:lnTo>
                <a:cubicBezTo>
                  <a:pt x="84645" y="44522"/>
                  <a:pt x="94611" y="34555"/>
                  <a:pt x="94611" y="22261"/>
                </a:cubicBezTo>
                <a:cubicBezTo>
                  <a:pt x="94611" y="9967"/>
                  <a:pt x="84645" y="0"/>
                  <a:pt x="72351" y="0"/>
                </a:cubicBezTo>
                <a:close/>
                <a:moveTo>
                  <a:pt x="5933" y="22261"/>
                </a:moveTo>
                <a:cubicBezTo>
                  <a:pt x="5946" y="13251"/>
                  <a:pt x="13248" y="5949"/>
                  <a:pt x="22258" y="5936"/>
                </a:cubicBezTo>
                <a:lnTo>
                  <a:pt x="44519" y="5936"/>
                </a:lnTo>
                <a:lnTo>
                  <a:pt x="44519" y="38585"/>
                </a:lnTo>
                <a:lnTo>
                  <a:pt x="22258" y="38585"/>
                </a:lnTo>
                <a:cubicBezTo>
                  <a:pt x="13248" y="38572"/>
                  <a:pt x="5946" y="31271"/>
                  <a:pt x="5933" y="22261"/>
                </a:cubicBezTo>
                <a:close/>
                <a:moveTo>
                  <a:pt x="72351" y="38585"/>
                </a:moveTo>
                <a:lnTo>
                  <a:pt x="50455" y="38585"/>
                </a:lnTo>
                <a:lnTo>
                  <a:pt x="50455" y="5936"/>
                </a:lnTo>
                <a:lnTo>
                  <a:pt x="72351" y="5936"/>
                </a:lnTo>
                <a:cubicBezTo>
                  <a:pt x="81366" y="5936"/>
                  <a:pt x="88675" y="13245"/>
                  <a:pt x="88675" y="22261"/>
                </a:cubicBezTo>
                <a:cubicBezTo>
                  <a:pt x="88675" y="31277"/>
                  <a:pt x="81366" y="38585"/>
                  <a:pt x="72351" y="38585"/>
                </a:cubicBezTo>
                <a:close/>
              </a:path>
            </a:pathLst>
          </a:custGeom>
          <a:solidFill>
            <a:schemeClr val="bg1"/>
          </a:solidFill>
          <a:ln w="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44546A"/>
              </a:solidFill>
              <a:effectLst/>
              <a:uLnTx/>
              <a:uFillTx/>
              <a:latin typeface="Calibri Light" panose="020F0302020204030204"/>
              <a:ea typeface="+mn-ea"/>
              <a:cs typeface="+mn-cs"/>
            </a:endParaRPr>
          </a:p>
        </p:txBody>
      </p:sp>
      <p:pic>
        <p:nvPicPr>
          <p:cNvPr id="57" name="Picture 8" descr="Logo">
            <a:extLst>
              <a:ext uri="{FF2B5EF4-FFF2-40B4-BE49-F238E27FC236}">
                <a16:creationId xmlns:a16="http://schemas.microsoft.com/office/drawing/2014/main" id="{D676D6D8-F9E9-5D71-696B-2A5425B4C95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040486" y="2721555"/>
            <a:ext cx="535210" cy="196957"/>
          </a:xfrm>
          <a:prstGeom prst="rect">
            <a:avLst/>
          </a:prstGeom>
          <a:noFill/>
          <a:extLst>
            <a:ext uri="{909E8E84-426E-40DD-AFC4-6F175D3DCCD1}">
              <a14:hiddenFill xmlns:a14="http://schemas.microsoft.com/office/drawing/2010/main">
                <a:solidFill>
                  <a:srgbClr val="FFFFFF"/>
                </a:solidFill>
              </a14:hiddenFill>
            </a:ext>
          </a:extLst>
        </p:spPr>
      </p:pic>
      <p:pic>
        <p:nvPicPr>
          <p:cNvPr id="58" name="Afbeelding 57">
            <a:extLst>
              <a:ext uri="{FF2B5EF4-FFF2-40B4-BE49-F238E27FC236}">
                <a16:creationId xmlns:a16="http://schemas.microsoft.com/office/drawing/2014/main" id="{A28F441F-CFBC-D5A9-6AEF-300E88EEDBEB}"/>
              </a:ext>
            </a:extLst>
          </p:cNvPr>
          <p:cNvPicPr>
            <a:picLocks noChangeAspect="1"/>
          </p:cNvPicPr>
          <p:nvPr/>
        </p:nvPicPr>
        <p:blipFill>
          <a:blip r:embed="rId17"/>
          <a:stretch>
            <a:fillRect/>
          </a:stretch>
        </p:blipFill>
        <p:spPr>
          <a:xfrm>
            <a:off x="10198118" y="2741039"/>
            <a:ext cx="475160" cy="249264"/>
          </a:xfrm>
          <a:prstGeom prst="rect">
            <a:avLst/>
          </a:prstGeom>
        </p:spPr>
      </p:pic>
      <p:pic>
        <p:nvPicPr>
          <p:cNvPr id="59" name="Afbeelding 58">
            <a:extLst>
              <a:ext uri="{FF2B5EF4-FFF2-40B4-BE49-F238E27FC236}">
                <a16:creationId xmlns:a16="http://schemas.microsoft.com/office/drawing/2014/main" id="{73B7637D-B6EC-2846-1184-B356CF7737B9}"/>
              </a:ext>
            </a:extLst>
          </p:cNvPr>
          <p:cNvPicPr>
            <a:picLocks noChangeAspect="1"/>
          </p:cNvPicPr>
          <p:nvPr/>
        </p:nvPicPr>
        <p:blipFill>
          <a:blip r:embed="rId18"/>
          <a:stretch>
            <a:fillRect/>
          </a:stretch>
        </p:blipFill>
        <p:spPr>
          <a:xfrm>
            <a:off x="10116508" y="2966772"/>
            <a:ext cx="683515" cy="380024"/>
          </a:xfrm>
          <a:prstGeom prst="rect">
            <a:avLst/>
          </a:prstGeom>
        </p:spPr>
      </p:pic>
      <p:pic>
        <p:nvPicPr>
          <p:cNvPr id="60" name="Afbeelding 59">
            <a:extLst>
              <a:ext uri="{FF2B5EF4-FFF2-40B4-BE49-F238E27FC236}">
                <a16:creationId xmlns:a16="http://schemas.microsoft.com/office/drawing/2014/main" id="{455EFA33-B53C-478F-280C-3904A5CBB9AC}"/>
              </a:ext>
            </a:extLst>
          </p:cNvPr>
          <p:cNvPicPr>
            <a:picLocks noChangeAspect="1"/>
          </p:cNvPicPr>
          <p:nvPr/>
        </p:nvPicPr>
        <p:blipFill>
          <a:blip r:embed="rId19"/>
          <a:stretch>
            <a:fillRect/>
          </a:stretch>
        </p:blipFill>
        <p:spPr>
          <a:xfrm>
            <a:off x="10956937" y="3035262"/>
            <a:ext cx="683515" cy="311534"/>
          </a:xfrm>
          <a:prstGeom prst="rect">
            <a:avLst/>
          </a:prstGeom>
        </p:spPr>
      </p:pic>
      <p:pic>
        <p:nvPicPr>
          <p:cNvPr id="61" name="Afbeelding 60">
            <a:extLst>
              <a:ext uri="{FF2B5EF4-FFF2-40B4-BE49-F238E27FC236}">
                <a16:creationId xmlns:a16="http://schemas.microsoft.com/office/drawing/2014/main" id="{A91CD8DA-6401-CF63-AFAB-ED94F9E82FD2}"/>
              </a:ext>
            </a:extLst>
          </p:cNvPr>
          <p:cNvPicPr>
            <a:picLocks noChangeAspect="1"/>
          </p:cNvPicPr>
          <p:nvPr/>
        </p:nvPicPr>
        <p:blipFill>
          <a:blip r:embed="rId20"/>
          <a:stretch>
            <a:fillRect/>
          </a:stretch>
        </p:blipFill>
        <p:spPr>
          <a:xfrm>
            <a:off x="10152307" y="3388531"/>
            <a:ext cx="1401941" cy="408716"/>
          </a:xfrm>
          <a:prstGeom prst="rect">
            <a:avLst/>
          </a:prstGeom>
        </p:spPr>
      </p:pic>
      <p:sp>
        <p:nvSpPr>
          <p:cNvPr id="62" name="Afgeronde rechthoek 3074">
            <a:extLst>
              <a:ext uri="{FF2B5EF4-FFF2-40B4-BE49-F238E27FC236}">
                <a16:creationId xmlns:a16="http://schemas.microsoft.com/office/drawing/2014/main" id="{5E05AFF2-7059-9F56-869D-07084B675D3B}"/>
              </a:ext>
            </a:extLst>
          </p:cNvPr>
          <p:cNvSpPr/>
          <p:nvPr/>
        </p:nvSpPr>
        <p:spPr>
          <a:xfrm>
            <a:off x="9926189" y="3946847"/>
            <a:ext cx="1871177" cy="2466018"/>
          </a:xfrm>
          <a:prstGeom prst="roundRect">
            <a:avLst/>
          </a:prstGeom>
          <a:solidFill>
            <a:schemeClr val="bg1">
              <a:lumMod val="85000"/>
              <a:alpha val="56000"/>
            </a:schemeClr>
          </a:solidFill>
          <a:ln w="190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srgbClr val="44546A"/>
                </a:solidFill>
                <a:effectLst/>
                <a:uLnTx/>
                <a:uFillTx/>
                <a:latin typeface="Calibri Light" panose="020F0302020204030204"/>
                <a:ea typeface="+mn-ea"/>
                <a:cs typeface="+mn-cs"/>
              </a:rPr>
              <a:t>Generieke functies</a:t>
            </a:r>
          </a:p>
        </p:txBody>
      </p:sp>
      <p:pic>
        <p:nvPicPr>
          <p:cNvPr id="63" name="Afbeelding 62">
            <a:extLst>
              <a:ext uri="{FF2B5EF4-FFF2-40B4-BE49-F238E27FC236}">
                <a16:creationId xmlns:a16="http://schemas.microsoft.com/office/drawing/2014/main" id="{D60DB7AC-521B-90DC-4D29-998F6ABD673F}"/>
              </a:ext>
            </a:extLst>
          </p:cNvPr>
          <p:cNvPicPr>
            <a:picLocks noChangeAspect="1"/>
          </p:cNvPicPr>
          <p:nvPr/>
        </p:nvPicPr>
        <p:blipFill>
          <a:blip r:embed="rId21"/>
          <a:stretch>
            <a:fillRect/>
          </a:stretch>
        </p:blipFill>
        <p:spPr>
          <a:xfrm>
            <a:off x="10158456" y="4264865"/>
            <a:ext cx="1038906" cy="223562"/>
          </a:xfrm>
          <a:prstGeom prst="rect">
            <a:avLst/>
          </a:prstGeom>
        </p:spPr>
      </p:pic>
      <p:pic>
        <p:nvPicPr>
          <p:cNvPr id="128" name="Afbeelding 127">
            <a:extLst>
              <a:ext uri="{FF2B5EF4-FFF2-40B4-BE49-F238E27FC236}">
                <a16:creationId xmlns:a16="http://schemas.microsoft.com/office/drawing/2014/main" id="{8156ACF4-1EDF-792C-A33C-9B35800834C3}"/>
              </a:ext>
            </a:extLst>
          </p:cNvPr>
          <p:cNvPicPr>
            <a:picLocks noChangeAspect="1"/>
          </p:cNvPicPr>
          <p:nvPr/>
        </p:nvPicPr>
        <p:blipFill>
          <a:blip r:embed="rId22"/>
          <a:stretch>
            <a:fillRect/>
          </a:stretch>
        </p:blipFill>
        <p:spPr>
          <a:xfrm>
            <a:off x="10158456" y="4545342"/>
            <a:ext cx="1058748" cy="244873"/>
          </a:xfrm>
          <a:prstGeom prst="rect">
            <a:avLst/>
          </a:prstGeom>
        </p:spPr>
      </p:pic>
      <p:pic>
        <p:nvPicPr>
          <p:cNvPr id="129" name="Afbeelding 128">
            <a:extLst>
              <a:ext uri="{FF2B5EF4-FFF2-40B4-BE49-F238E27FC236}">
                <a16:creationId xmlns:a16="http://schemas.microsoft.com/office/drawing/2014/main" id="{173F3FC2-5FC3-ED52-6B02-F59DEA1A86DD}"/>
              </a:ext>
            </a:extLst>
          </p:cNvPr>
          <p:cNvPicPr>
            <a:picLocks noChangeAspect="1"/>
          </p:cNvPicPr>
          <p:nvPr/>
        </p:nvPicPr>
        <p:blipFill>
          <a:blip r:embed="rId23"/>
          <a:stretch>
            <a:fillRect/>
          </a:stretch>
        </p:blipFill>
        <p:spPr>
          <a:xfrm>
            <a:off x="10158456" y="4847130"/>
            <a:ext cx="1058749" cy="248831"/>
          </a:xfrm>
          <a:prstGeom prst="rect">
            <a:avLst/>
          </a:prstGeom>
        </p:spPr>
      </p:pic>
      <p:pic>
        <p:nvPicPr>
          <p:cNvPr id="130" name="Afbeelding 129">
            <a:extLst>
              <a:ext uri="{FF2B5EF4-FFF2-40B4-BE49-F238E27FC236}">
                <a16:creationId xmlns:a16="http://schemas.microsoft.com/office/drawing/2014/main" id="{F3DC4ABE-8F85-C9A8-137C-7B2D0A1C1472}"/>
              </a:ext>
            </a:extLst>
          </p:cNvPr>
          <p:cNvPicPr>
            <a:picLocks noChangeAspect="1"/>
          </p:cNvPicPr>
          <p:nvPr/>
        </p:nvPicPr>
        <p:blipFill>
          <a:blip r:embed="rId24"/>
          <a:stretch>
            <a:fillRect/>
          </a:stretch>
        </p:blipFill>
        <p:spPr>
          <a:xfrm>
            <a:off x="10158456" y="5152876"/>
            <a:ext cx="1040464" cy="208946"/>
          </a:xfrm>
          <a:prstGeom prst="rect">
            <a:avLst/>
          </a:prstGeom>
        </p:spPr>
      </p:pic>
      <p:pic>
        <p:nvPicPr>
          <p:cNvPr id="131" name="Afbeelding 130">
            <a:extLst>
              <a:ext uri="{FF2B5EF4-FFF2-40B4-BE49-F238E27FC236}">
                <a16:creationId xmlns:a16="http://schemas.microsoft.com/office/drawing/2014/main" id="{03947120-7E3A-4953-D6A2-5337BC67FFA4}"/>
              </a:ext>
            </a:extLst>
          </p:cNvPr>
          <p:cNvPicPr>
            <a:picLocks noChangeAspect="1"/>
          </p:cNvPicPr>
          <p:nvPr/>
        </p:nvPicPr>
        <p:blipFill>
          <a:blip r:embed="rId25"/>
          <a:stretch>
            <a:fillRect/>
          </a:stretch>
        </p:blipFill>
        <p:spPr>
          <a:xfrm>
            <a:off x="10158456" y="5418737"/>
            <a:ext cx="831556" cy="237388"/>
          </a:xfrm>
          <a:prstGeom prst="rect">
            <a:avLst/>
          </a:prstGeom>
        </p:spPr>
      </p:pic>
      <p:pic>
        <p:nvPicPr>
          <p:cNvPr id="132" name="Afbeelding 131">
            <a:extLst>
              <a:ext uri="{FF2B5EF4-FFF2-40B4-BE49-F238E27FC236}">
                <a16:creationId xmlns:a16="http://schemas.microsoft.com/office/drawing/2014/main" id="{3CD0D1A6-820B-4D88-8865-5A99FEDC5352}"/>
              </a:ext>
            </a:extLst>
          </p:cNvPr>
          <p:cNvPicPr>
            <a:picLocks noChangeAspect="1"/>
          </p:cNvPicPr>
          <p:nvPr/>
        </p:nvPicPr>
        <p:blipFill>
          <a:blip r:embed="rId26"/>
          <a:stretch>
            <a:fillRect/>
          </a:stretch>
        </p:blipFill>
        <p:spPr>
          <a:xfrm>
            <a:off x="10158456" y="5713040"/>
            <a:ext cx="1044536" cy="275104"/>
          </a:xfrm>
          <a:prstGeom prst="rect">
            <a:avLst/>
          </a:prstGeom>
        </p:spPr>
      </p:pic>
      <p:pic>
        <p:nvPicPr>
          <p:cNvPr id="133" name="Afbeelding 132">
            <a:extLst>
              <a:ext uri="{FF2B5EF4-FFF2-40B4-BE49-F238E27FC236}">
                <a16:creationId xmlns:a16="http://schemas.microsoft.com/office/drawing/2014/main" id="{26FA4B94-FE28-CFD2-4120-8D6C7619BA3D}"/>
              </a:ext>
            </a:extLst>
          </p:cNvPr>
          <p:cNvPicPr>
            <a:picLocks noChangeAspect="1"/>
          </p:cNvPicPr>
          <p:nvPr/>
        </p:nvPicPr>
        <p:blipFill>
          <a:blip r:embed="rId27"/>
          <a:stretch>
            <a:fillRect/>
          </a:stretch>
        </p:blipFill>
        <p:spPr>
          <a:xfrm>
            <a:off x="10158456" y="6045061"/>
            <a:ext cx="865407" cy="224674"/>
          </a:xfrm>
          <a:prstGeom prst="rect">
            <a:avLst/>
          </a:prstGeom>
        </p:spPr>
      </p:pic>
      <p:sp>
        <p:nvSpPr>
          <p:cNvPr id="134" name="Rechthoek: afgeronde hoeken 133">
            <a:extLst>
              <a:ext uri="{FF2B5EF4-FFF2-40B4-BE49-F238E27FC236}">
                <a16:creationId xmlns:a16="http://schemas.microsoft.com/office/drawing/2014/main" id="{2A0B01F5-10C1-106B-ABEB-AEFC526B061D}"/>
              </a:ext>
            </a:extLst>
          </p:cNvPr>
          <p:cNvSpPr/>
          <p:nvPr/>
        </p:nvSpPr>
        <p:spPr>
          <a:xfrm>
            <a:off x="1052059" y="4574444"/>
            <a:ext cx="8782020" cy="540000"/>
          </a:xfrm>
          <a:prstGeom prst="roundRect">
            <a:avLst/>
          </a:prstGeom>
          <a:solidFill>
            <a:srgbClr val="A2C87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Bronontsluiting</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35" name="Tekstvak 134">
            <a:extLst>
              <a:ext uri="{FF2B5EF4-FFF2-40B4-BE49-F238E27FC236}">
                <a16:creationId xmlns:a16="http://schemas.microsoft.com/office/drawing/2014/main" id="{B5BCFAA1-A0C4-66AC-5DFC-8C81098162A0}"/>
              </a:ext>
            </a:extLst>
          </p:cNvPr>
          <p:cNvSpPr txBox="1"/>
          <p:nvPr/>
        </p:nvSpPr>
        <p:spPr>
          <a:xfrm rot="19228908">
            <a:off x="119673" y="3430768"/>
            <a:ext cx="1009678" cy="261610"/>
          </a:xfrm>
          <a:prstGeom prst="rect">
            <a:avLst/>
          </a:prstGeom>
          <a:noFill/>
        </p:spPr>
        <p:txBody>
          <a:bodyPr vert="horz"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Informatie</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45" name="Tekstvak 144">
            <a:extLst>
              <a:ext uri="{FF2B5EF4-FFF2-40B4-BE49-F238E27FC236}">
                <a16:creationId xmlns:a16="http://schemas.microsoft.com/office/drawing/2014/main" id="{74083EFC-957B-156F-5F09-1BC2A46D7B5F}"/>
              </a:ext>
            </a:extLst>
          </p:cNvPr>
          <p:cNvSpPr txBox="1"/>
          <p:nvPr/>
        </p:nvSpPr>
        <p:spPr>
          <a:xfrm rot="19228908">
            <a:off x="-134232" y="2862160"/>
            <a:ext cx="1296346" cy="261610"/>
          </a:xfrm>
          <a:prstGeom prst="rect">
            <a:avLst/>
          </a:prstGeom>
          <a:noFill/>
        </p:spPr>
        <p:txBody>
          <a:bodyPr vert="horz"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Toepassingen</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46" name="Tekstvak 145">
            <a:extLst>
              <a:ext uri="{FF2B5EF4-FFF2-40B4-BE49-F238E27FC236}">
                <a16:creationId xmlns:a16="http://schemas.microsoft.com/office/drawing/2014/main" id="{D91D41C0-8B77-2DA9-8FDE-806F0E52DD4C}"/>
              </a:ext>
            </a:extLst>
          </p:cNvPr>
          <p:cNvSpPr txBox="1"/>
          <p:nvPr/>
        </p:nvSpPr>
        <p:spPr>
          <a:xfrm rot="19228908">
            <a:off x="100743" y="4834766"/>
            <a:ext cx="1031051" cy="261610"/>
          </a:xfrm>
          <a:prstGeom prst="rect">
            <a:avLst/>
          </a:prstGeom>
          <a:noFill/>
        </p:spPr>
        <p:txBody>
          <a:bodyPr vert="horz"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Data</a:t>
            </a:r>
          </a:p>
        </p:txBody>
      </p:sp>
      <p:grpSp>
        <p:nvGrpSpPr>
          <p:cNvPr id="147" name="Group 22">
            <a:extLst>
              <a:ext uri="{FF2B5EF4-FFF2-40B4-BE49-F238E27FC236}">
                <a16:creationId xmlns:a16="http://schemas.microsoft.com/office/drawing/2014/main" id="{4EB600DB-1018-2F1D-B848-24180263EBD4}"/>
              </a:ext>
            </a:extLst>
          </p:cNvPr>
          <p:cNvGrpSpPr/>
          <p:nvPr/>
        </p:nvGrpSpPr>
        <p:grpSpPr>
          <a:xfrm>
            <a:off x="1042653" y="3799839"/>
            <a:ext cx="8796896" cy="696370"/>
            <a:chOff x="1181196" y="3997328"/>
            <a:chExt cx="8796896" cy="696370"/>
          </a:xfrm>
        </p:grpSpPr>
        <p:sp>
          <p:nvSpPr>
            <p:cNvPr id="154" name="Rechthoek: afgeronde hoeken 153">
              <a:extLst>
                <a:ext uri="{FF2B5EF4-FFF2-40B4-BE49-F238E27FC236}">
                  <a16:creationId xmlns:a16="http://schemas.microsoft.com/office/drawing/2014/main" id="{0F42BA6D-9453-30EF-10E7-FD2FFEBD974A}"/>
                </a:ext>
              </a:extLst>
            </p:cNvPr>
            <p:cNvSpPr/>
            <p:nvPr/>
          </p:nvSpPr>
          <p:spPr>
            <a:xfrm>
              <a:off x="1181196" y="3997328"/>
              <a:ext cx="8796896" cy="696370"/>
            </a:xfrm>
            <a:prstGeom prst="roundRect">
              <a:avLst/>
            </a:prstGeom>
            <a:solidFill>
              <a:srgbClr val="8C95C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55" name="Rechthoek: afgeronde hoeken 154">
              <a:extLst>
                <a:ext uri="{FF2B5EF4-FFF2-40B4-BE49-F238E27FC236}">
                  <a16:creationId xmlns:a16="http://schemas.microsoft.com/office/drawing/2014/main" id="{0E5CA046-E328-BE63-F946-3F75ABA55490}"/>
                </a:ext>
              </a:extLst>
            </p:cNvPr>
            <p:cNvSpPr/>
            <p:nvPr/>
          </p:nvSpPr>
          <p:spPr>
            <a:xfrm>
              <a:off x="1261378" y="4110296"/>
              <a:ext cx="2808000" cy="485217"/>
            </a:xfrm>
            <a:prstGeom prst="roundRect">
              <a:avLst/>
            </a:prstGeom>
            <a:solidFill>
              <a:srgbClr val="626FBA"/>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Dataplatformen (repliceren)</a:t>
              </a:r>
              <a:endParaRPr kumimoji="0" lang="en-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56" name="Rechthoek: afgeronde hoeken 155">
              <a:extLst>
                <a:ext uri="{FF2B5EF4-FFF2-40B4-BE49-F238E27FC236}">
                  <a16:creationId xmlns:a16="http://schemas.microsoft.com/office/drawing/2014/main" id="{0D48EAC2-F84E-496F-42FC-32ABBCAD2AD6}"/>
                </a:ext>
              </a:extLst>
            </p:cNvPr>
            <p:cNvSpPr/>
            <p:nvPr/>
          </p:nvSpPr>
          <p:spPr>
            <a:xfrm>
              <a:off x="4172446" y="4125875"/>
              <a:ext cx="2808000" cy="468237"/>
            </a:xfrm>
            <a:prstGeom prst="roundRect">
              <a:avLst/>
            </a:prstGeom>
            <a:solidFill>
              <a:srgbClr val="626FBA"/>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Knooppunten (</a:t>
              </a:r>
              <a:r>
                <a:rPr kumimoji="0" lang="nl-NL" sz="1200" b="0" i="0" u="none" strike="noStrike" kern="120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mn-cs"/>
                </a:rPr>
                <a:t>n:n</a:t>
              </a:r>
              <a:r>
                <a:rPr kumimoji="0"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t>
              </a:r>
              <a:endParaRPr kumimoji="0" lang="en-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57" name="Rechthoek: afgeronde hoeken 156">
              <a:extLst>
                <a:ext uri="{FF2B5EF4-FFF2-40B4-BE49-F238E27FC236}">
                  <a16:creationId xmlns:a16="http://schemas.microsoft.com/office/drawing/2014/main" id="{FE240AC5-9D89-210E-08E1-45907894AFE1}"/>
                </a:ext>
              </a:extLst>
            </p:cNvPr>
            <p:cNvSpPr/>
            <p:nvPr/>
          </p:nvSpPr>
          <p:spPr>
            <a:xfrm>
              <a:off x="7083515" y="4123776"/>
              <a:ext cx="2808000" cy="468237"/>
            </a:xfrm>
            <a:prstGeom prst="roundRect">
              <a:avLst/>
            </a:prstGeom>
            <a:solidFill>
              <a:srgbClr val="626FBA"/>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Direct (1:1)</a:t>
              </a:r>
              <a:endParaRPr kumimoji="0" lang="en-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164" name="Tekstvak 163">
            <a:extLst>
              <a:ext uri="{FF2B5EF4-FFF2-40B4-BE49-F238E27FC236}">
                <a16:creationId xmlns:a16="http://schemas.microsoft.com/office/drawing/2014/main" id="{768D2688-4D7F-77F4-17AE-D45C7394B25C}"/>
              </a:ext>
            </a:extLst>
          </p:cNvPr>
          <p:cNvSpPr txBox="1"/>
          <p:nvPr/>
        </p:nvSpPr>
        <p:spPr>
          <a:xfrm rot="19228908">
            <a:off x="-199119" y="4227481"/>
            <a:ext cx="1369606" cy="261610"/>
          </a:xfrm>
          <a:prstGeom prst="rect">
            <a:avLst/>
          </a:prstGeom>
          <a:noFill/>
        </p:spPr>
        <p:txBody>
          <a:bodyPr vert="horz"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Integratie</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183" name="Group 1">
            <a:extLst>
              <a:ext uri="{FF2B5EF4-FFF2-40B4-BE49-F238E27FC236}">
                <a16:creationId xmlns:a16="http://schemas.microsoft.com/office/drawing/2014/main" id="{F4B301C7-9419-44D3-B3C4-747A5C62321A}"/>
              </a:ext>
            </a:extLst>
          </p:cNvPr>
          <p:cNvGrpSpPr/>
          <p:nvPr/>
        </p:nvGrpSpPr>
        <p:grpSpPr>
          <a:xfrm>
            <a:off x="1012015" y="5158285"/>
            <a:ext cx="936000" cy="1207727"/>
            <a:chOff x="1196165" y="5314886"/>
            <a:chExt cx="936000" cy="1207727"/>
          </a:xfrm>
        </p:grpSpPr>
        <p:sp>
          <p:nvSpPr>
            <p:cNvPr id="1024" name="Tekstvak 1023">
              <a:extLst>
                <a:ext uri="{FF2B5EF4-FFF2-40B4-BE49-F238E27FC236}">
                  <a16:creationId xmlns:a16="http://schemas.microsoft.com/office/drawing/2014/main" id="{608A1932-999D-BB33-38EE-255B5EA7DC79}"/>
                </a:ext>
              </a:extLst>
            </p:cNvPr>
            <p:cNvSpPr txBox="1"/>
            <p:nvPr/>
          </p:nvSpPr>
          <p:spPr>
            <a:xfrm>
              <a:off x="1196165" y="6307169"/>
              <a:ext cx="9360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Inwoners</a:t>
              </a:r>
            </a:p>
          </p:txBody>
        </p:sp>
        <p:pic>
          <p:nvPicPr>
            <p:cNvPr id="1025" name="Graphic 1024">
              <a:extLst>
                <a:ext uri="{FF2B5EF4-FFF2-40B4-BE49-F238E27FC236}">
                  <a16:creationId xmlns:a16="http://schemas.microsoft.com/office/drawing/2014/main" id="{45CF6079-882C-031B-F550-0CC6CC319B8C}"/>
                </a:ext>
              </a:extLst>
            </p:cNvPr>
            <p:cNvPicPr>
              <a:picLocks noChangeAspect="1"/>
            </p:cNvPicPr>
            <p:nvPr>
              <p:custDataLst>
                <p:tags r:id="rId13"/>
              </p:custDataLst>
            </p:nvPr>
          </p:nvPicPr>
          <p:blipFill>
            <a:blip r:embed="rId28">
              <a:extLst>
                <a:ext uri="{96DAC541-7B7A-43D3-8B79-37D633B846F1}">
                  <asvg:svgBlip xmlns:asvg="http://schemas.microsoft.com/office/drawing/2016/SVG/main" r:embed="rId29"/>
                </a:ext>
              </a:extLst>
            </a:blip>
            <a:stretch>
              <a:fillRect/>
            </a:stretch>
          </p:blipFill>
          <p:spPr>
            <a:xfrm>
              <a:off x="1376119" y="5838725"/>
              <a:ext cx="381000" cy="381000"/>
            </a:xfrm>
            <a:prstGeom prst="rect">
              <a:avLst/>
            </a:prstGeom>
          </p:spPr>
        </p:pic>
        <p:sp>
          <p:nvSpPr>
            <p:cNvPr id="1026" name="Pijl: omhoog 1025">
              <a:extLst>
                <a:ext uri="{FF2B5EF4-FFF2-40B4-BE49-F238E27FC236}">
                  <a16:creationId xmlns:a16="http://schemas.microsoft.com/office/drawing/2014/main" id="{B42D64EB-8654-2F1C-C9EC-01BBBED94CB2}"/>
                </a:ext>
              </a:extLst>
            </p:cNvPr>
            <p:cNvSpPr/>
            <p:nvPr/>
          </p:nvSpPr>
          <p:spPr>
            <a:xfrm>
              <a:off x="1436775"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27" name="Group 2">
            <a:extLst>
              <a:ext uri="{FF2B5EF4-FFF2-40B4-BE49-F238E27FC236}">
                <a16:creationId xmlns:a16="http://schemas.microsoft.com/office/drawing/2014/main" id="{14ED7C34-2137-E6C0-2171-005311E65F13}"/>
              </a:ext>
            </a:extLst>
          </p:cNvPr>
          <p:cNvGrpSpPr/>
          <p:nvPr/>
        </p:nvGrpSpPr>
        <p:grpSpPr>
          <a:xfrm>
            <a:off x="1906116" y="5151224"/>
            <a:ext cx="900000" cy="1209690"/>
            <a:chOff x="2066181" y="5314886"/>
            <a:chExt cx="900000" cy="1209690"/>
          </a:xfrm>
        </p:grpSpPr>
        <p:sp>
          <p:nvSpPr>
            <p:cNvPr id="1040" name="Tekstvak 1039">
              <a:extLst>
                <a:ext uri="{FF2B5EF4-FFF2-40B4-BE49-F238E27FC236}">
                  <a16:creationId xmlns:a16="http://schemas.microsoft.com/office/drawing/2014/main" id="{46E6B4CF-9D86-B57D-A558-7AA5F2260A54}"/>
                </a:ext>
              </a:extLst>
            </p:cNvPr>
            <p:cNvSpPr txBox="1"/>
            <p:nvPr/>
          </p:nvSpPr>
          <p:spPr>
            <a:xfrm>
              <a:off x="2066181" y="6309132"/>
              <a:ext cx="9000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Labs</a:t>
              </a:r>
            </a:p>
          </p:txBody>
        </p:sp>
        <p:pic>
          <p:nvPicPr>
            <p:cNvPr id="1041" name="Graphic 1040">
              <a:extLst>
                <a:ext uri="{FF2B5EF4-FFF2-40B4-BE49-F238E27FC236}">
                  <a16:creationId xmlns:a16="http://schemas.microsoft.com/office/drawing/2014/main" id="{B5CAF032-270C-00A7-E150-49D009FAB641}"/>
                </a:ext>
              </a:extLst>
            </p:cNvPr>
            <p:cNvPicPr>
              <a:picLocks noChangeAspect="1"/>
            </p:cNvPicPr>
            <p:nvPr>
              <p:custDataLst>
                <p:tags r:id="rId12"/>
              </p:custDataLst>
            </p:nvPr>
          </p:nvPicPr>
          <p:blipFill>
            <a:blip r:embed="rId28">
              <a:extLst>
                <a:ext uri="{96DAC541-7B7A-43D3-8B79-37D633B846F1}">
                  <asvg:svgBlip xmlns:asvg="http://schemas.microsoft.com/office/drawing/2016/SVG/main" r:embed="rId29"/>
                </a:ext>
              </a:extLst>
            </a:blip>
            <a:stretch>
              <a:fillRect/>
            </a:stretch>
          </p:blipFill>
          <p:spPr>
            <a:xfrm>
              <a:off x="2313132" y="5838725"/>
              <a:ext cx="381000" cy="381000"/>
            </a:xfrm>
            <a:prstGeom prst="rect">
              <a:avLst/>
            </a:prstGeom>
          </p:spPr>
        </p:pic>
        <p:sp>
          <p:nvSpPr>
            <p:cNvPr id="1042" name="Pijl: omhoog 1041">
              <a:extLst>
                <a:ext uri="{FF2B5EF4-FFF2-40B4-BE49-F238E27FC236}">
                  <a16:creationId xmlns:a16="http://schemas.microsoft.com/office/drawing/2014/main" id="{36449962-F365-BBBA-55E5-7EEA59DB5BC1}"/>
                </a:ext>
              </a:extLst>
            </p:cNvPr>
            <p:cNvSpPr/>
            <p:nvPr/>
          </p:nvSpPr>
          <p:spPr>
            <a:xfrm>
              <a:off x="2373788"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43" name="Group 8">
            <a:extLst>
              <a:ext uri="{FF2B5EF4-FFF2-40B4-BE49-F238E27FC236}">
                <a16:creationId xmlns:a16="http://schemas.microsoft.com/office/drawing/2014/main" id="{A6A06F0F-7323-C1B0-A579-3688E1F9D605}"/>
              </a:ext>
            </a:extLst>
          </p:cNvPr>
          <p:cNvGrpSpPr/>
          <p:nvPr/>
        </p:nvGrpSpPr>
        <p:grpSpPr>
          <a:xfrm>
            <a:off x="2764217" y="5158285"/>
            <a:ext cx="936000" cy="1278057"/>
            <a:chOff x="3075016" y="5314886"/>
            <a:chExt cx="936000" cy="1278057"/>
          </a:xfrm>
        </p:grpSpPr>
        <p:sp>
          <p:nvSpPr>
            <p:cNvPr id="1044" name="Tekstvak 1043">
              <a:extLst>
                <a:ext uri="{FF2B5EF4-FFF2-40B4-BE49-F238E27FC236}">
                  <a16:creationId xmlns:a16="http://schemas.microsoft.com/office/drawing/2014/main" id="{5C73B940-C8B8-B6B8-B594-57450393B871}"/>
                </a:ext>
              </a:extLst>
            </p:cNvPr>
            <p:cNvSpPr txBox="1"/>
            <p:nvPr/>
          </p:nvSpPr>
          <p:spPr>
            <a:xfrm>
              <a:off x="3075016" y="6254389"/>
              <a:ext cx="936000" cy="338554"/>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(Academische) Ziekenhuizen</a:t>
              </a:r>
            </a:p>
          </p:txBody>
        </p:sp>
        <p:pic>
          <p:nvPicPr>
            <p:cNvPr id="1045" name="Graphic 1044">
              <a:extLst>
                <a:ext uri="{FF2B5EF4-FFF2-40B4-BE49-F238E27FC236}">
                  <a16:creationId xmlns:a16="http://schemas.microsoft.com/office/drawing/2014/main" id="{87068EC1-EE8C-F0B9-3507-E102D144EE32}"/>
                </a:ext>
              </a:extLst>
            </p:cNvPr>
            <p:cNvPicPr>
              <a:picLocks noChangeAspect="1"/>
            </p:cNvPicPr>
            <p:nvPr>
              <p:custDataLst>
                <p:tags r:id="rId11"/>
              </p:custDataLst>
            </p:nvPr>
          </p:nvPicPr>
          <p:blipFill>
            <a:blip r:embed="rId28">
              <a:extLst>
                <a:ext uri="{96DAC541-7B7A-43D3-8B79-37D633B846F1}">
                  <asvg:svgBlip xmlns:asvg="http://schemas.microsoft.com/office/drawing/2016/SVG/main" r:embed="rId29"/>
                </a:ext>
              </a:extLst>
            </a:blip>
            <a:stretch>
              <a:fillRect/>
            </a:stretch>
          </p:blipFill>
          <p:spPr>
            <a:xfrm>
              <a:off x="3346910" y="5838725"/>
              <a:ext cx="381000" cy="381000"/>
            </a:xfrm>
            <a:prstGeom prst="rect">
              <a:avLst/>
            </a:prstGeom>
          </p:spPr>
        </p:pic>
        <p:sp>
          <p:nvSpPr>
            <p:cNvPr id="1046" name="Pijl: omhoog 1045">
              <a:extLst>
                <a:ext uri="{FF2B5EF4-FFF2-40B4-BE49-F238E27FC236}">
                  <a16:creationId xmlns:a16="http://schemas.microsoft.com/office/drawing/2014/main" id="{E5701D4F-A006-74B9-8639-AE0AF34DF18E}"/>
                </a:ext>
              </a:extLst>
            </p:cNvPr>
            <p:cNvSpPr/>
            <p:nvPr/>
          </p:nvSpPr>
          <p:spPr>
            <a:xfrm>
              <a:off x="3407566"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47" name="Group 16">
            <a:extLst>
              <a:ext uri="{FF2B5EF4-FFF2-40B4-BE49-F238E27FC236}">
                <a16:creationId xmlns:a16="http://schemas.microsoft.com/office/drawing/2014/main" id="{57690649-8129-0B1E-3A76-E00F6516B445}"/>
              </a:ext>
            </a:extLst>
          </p:cNvPr>
          <p:cNvGrpSpPr/>
          <p:nvPr/>
        </p:nvGrpSpPr>
        <p:grpSpPr>
          <a:xfrm>
            <a:off x="3658318" y="5158285"/>
            <a:ext cx="936000" cy="1283377"/>
            <a:chOff x="4214827" y="5314886"/>
            <a:chExt cx="936000" cy="1283377"/>
          </a:xfrm>
        </p:grpSpPr>
        <p:sp>
          <p:nvSpPr>
            <p:cNvPr id="1048" name="Tekstvak 1047">
              <a:extLst>
                <a:ext uri="{FF2B5EF4-FFF2-40B4-BE49-F238E27FC236}">
                  <a16:creationId xmlns:a16="http://schemas.microsoft.com/office/drawing/2014/main" id="{F9C7254C-910D-3253-6312-5C083C0B4903}"/>
                </a:ext>
              </a:extLst>
            </p:cNvPr>
            <p:cNvSpPr txBox="1"/>
            <p:nvPr/>
          </p:nvSpPr>
          <p:spPr>
            <a:xfrm>
              <a:off x="4214827" y="6238263"/>
              <a:ext cx="936000" cy="36000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Huisartsen-posten</a:t>
              </a:r>
            </a:p>
          </p:txBody>
        </p:sp>
        <p:pic>
          <p:nvPicPr>
            <p:cNvPr id="1049" name="Graphic 1048">
              <a:extLst>
                <a:ext uri="{FF2B5EF4-FFF2-40B4-BE49-F238E27FC236}">
                  <a16:creationId xmlns:a16="http://schemas.microsoft.com/office/drawing/2014/main" id="{3FFB983C-EB52-2940-FB7D-37945851EEF2}"/>
                </a:ext>
              </a:extLst>
            </p:cNvPr>
            <p:cNvPicPr>
              <a:picLocks noChangeAspect="1"/>
            </p:cNvPicPr>
            <p:nvPr>
              <p:custDataLst>
                <p:tags r:id="rId10"/>
              </p:custDataLst>
            </p:nvPr>
          </p:nvPicPr>
          <p:blipFill>
            <a:blip r:embed="rId28">
              <a:extLst>
                <a:ext uri="{96DAC541-7B7A-43D3-8B79-37D633B846F1}">
                  <asvg:svgBlip xmlns:asvg="http://schemas.microsoft.com/office/drawing/2016/SVG/main" r:embed="rId29"/>
                </a:ext>
              </a:extLst>
            </a:blip>
            <a:stretch>
              <a:fillRect/>
            </a:stretch>
          </p:blipFill>
          <p:spPr>
            <a:xfrm>
              <a:off x="4492327" y="5838725"/>
              <a:ext cx="381000" cy="381000"/>
            </a:xfrm>
            <a:prstGeom prst="rect">
              <a:avLst/>
            </a:prstGeom>
          </p:spPr>
        </p:pic>
        <p:sp>
          <p:nvSpPr>
            <p:cNvPr id="1050" name="Pijl: omhoog 1049">
              <a:extLst>
                <a:ext uri="{FF2B5EF4-FFF2-40B4-BE49-F238E27FC236}">
                  <a16:creationId xmlns:a16="http://schemas.microsoft.com/office/drawing/2014/main" id="{2E7AD7CA-74A3-3DBB-D8CB-2FC84A6CE955}"/>
                </a:ext>
              </a:extLst>
            </p:cNvPr>
            <p:cNvSpPr/>
            <p:nvPr/>
          </p:nvSpPr>
          <p:spPr>
            <a:xfrm>
              <a:off x="4552983"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51" name="Group 18">
            <a:extLst>
              <a:ext uri="{FF2B5EF4-FFF2-40B4-BE49-F238E27FC236}">
                <a16:creationId xmlns:a16="http://schemas.microsoft.com/office/drawing/2014/main" id="{D6CB4299-D9E8-898A-8701-4C7447F7B55F}"/>
              </a:ext>
            </a:extLst>
          </p:cNvPr>
          <p:cNvGrpSpPr/>
          <p:nvPr/>
        </p:nvGrpSpPr>
        <p:grpSpPr>
          <a:xfrm>
            <a:off x="4552419" y="5158285"/>
            <a:ext cx="936000" cy="1269282"/>
            <a:chOff x="5177106" y="5314886"/>
            <a:chExt cx="936000" cy="1269282"/>
          </a:xfrm>
        </p:grpSpPr>
        <p:sp>
          <p:nvSpPr>
            <p:cNvPr id="1052" name="Tekstvak 1051">
              <a:extLst>
                <a:ext uri="{FF2B5EF4-FFF2-40B4-BE49-F238E27FC236}">
                  <a16:creationId xmlns:a16="http://schemas.microsoft.com/office/drawing/2014/main" id="{728222C5-AD14-80FC-B666-D92C2747B32C}"/>
                </a:ext>
              </a:extLst>
            </p:cNvPr>
            <p:cNvSpPr txBox="1"/>
            <p:nvPr/>
          </p:nvSpPr>
          <p:spPr>
            <a:xfrm>
              <a:off x="5177106" y="6245614"/>
              <a:ext cx="936000"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Huisarts-</a:t>
              </a:r>
              <a:b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b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praktijken</a:t>
              </a:r>
            </a:p>
          </p:txBody>
        </p:sp>
        <p:pic>
          <p:nvPicPr>
            <p:cNvPr id="1053" name="Graphic 1052">
              <a:extLst>
                <a:ext uri="{FF2B5EF4-FFF2-40B4-BE49-F238E27FC236}">
                  <a16:creationId xmlns:a16="http://schemas.microsoft.com/office/drawing/2014/main" id="{4A2B4BF5-3E18-999F-034F-FBC6EBFCF880}"/>
                </a:ext>
              </a:extLst>
            </p:cNvPr>
            <p:cNvPicPr>
              <a:picLocks noChangeAspect="1"/>
            </p:cNvPicPr>
            <p:nvPr>
              <p:custDataLst>
                <p:tags r:id="rId9"/>
              </p:custDataLst>
            </p:nvPr>
          </p:nvPicPr>
          <p:blipFill>
            <a:blip r:embed="rId28">
              <a:extLst>
                <a:ext uri="{96DAC541-7B7A-43D3-8B79-37D633B846F1}">
                  <asvg:svgBlip xmlns:asvg="http://schemas.microsoft.com/office/drawing/2016/SVG/main" r:embed="rId29"/>
                </a:ext>
              </a:extLst>
            </a:blip>
            <a:stretch>
              <a:fillRect/>
            </a:stretch>
          </p:blipFill>
          <p:spPr>
            <a:xfrm>
              <a:off x="5454606" y="5838725"/>
              <a:ext cx="381000" cy="381000"/>
            </a:xfrm>
            <a:prstGeom prst="rect">
              <a:avLst/>
            </a:prstGeom>
          </p:spPr>
        </p:pic>
        <p:sp>
          <p:nvSpPr>
            <p:cNvPr id="1054" name="Pijl: omhoog 1053">
              <a:extLst>
                <a:ext uri="{FF2B5EF4-FFF2-40B4-BE49-F238E27FC236}">
                  <a16:creationId xmlns:a16="http://schemas.microsoft.com/office/drawing/2014/main" id="{CEECCD23-95CA-7F43-0B5F-038FA9332B11}"/>
                </a:ext>
              </a:extLst>
            </p:cNvPr>
            <p:cNvSpPr/>
            <p:nvPr/>
          </p:nvSpPr>
          <p:spPr>
            <a:xfrm>
              <a:off x="5515262"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55" name="Group 19">
            <a:extLst>
              <a:ext uri="{FF2B5EF4-FFF2-40B4-BE49-F238E27FC236}">
                <a16:creationId xmlns:a16="http://schemas.microsoft.com/office/drawing/2014/main" id="{438386DF-2FF1-EB16-3FE6-E2500D45C055}"/>
              </a:ext>
            </a:extLst>
          </p:cNvPr>
          <p:cNvGrpSpPr/>
          <p:nvPr/>
        </p:nvGrpSpPr>
        <p:grpSpPr>
          <a:xfrm>
            <a:off x="5446520" y="5158285"/>
            <a:ext cx="936000" cy="1202629"/>
            <a:chOff x="6074060" y="5314886"/>
            <a:chExt cx="936000" cy="1202629"/>
          </a:xfrm>
        </p:grpSpPr>
        <p:sp>
          <p:nvSpPr>
            <p:cNvPr id="1056" name="Tekstvak 1055">
              <a:extLst>
                <a:ext uri="{FF2B5EF4-FFF2-40B4-BE49-F238E27FC236}">
                  <a16:creationId xmlns:a16="http://schemas.microsoft.com/office/drawing/2014/main" id="{D5D74987-53D3-53E4-E2A5-F9FC4A012A7F}"/>
                </a:ext>
              </a:extLst>
            </p:cNvPr>
            <p:cNvSpPr txBox="1"/>
            <p:nvPr/>
          </p:nvSpPr>
          <p:spPr>
            <a:xfrm>
              <a:off x="6074060" y="6302071"/>
              <a:ext cx="9360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GGZ</a:t>
              </a:r>
            </a:p>
          </p:txBody>
        </p:sp>
        <p:pic>
          <p:nvPicPr>
            <p:cNvPr id="1057" name="Graphic 1056">
              <a:extLst>
                <a:ext uri="{FF2B5EF4-FFF2-40B4-BE49-F238E27FC236}">
                  <a16:creationId xmlns:a16="http://schemas.microsoft.com/office/drawing/2014/main" id="{F4071CC7-A325-9A4A-B6BD-253AB7D7A477}"/>
                </a:ext>
              </a:extLst>
            </p:cNvPr>
            <p:cNvPicPr>
              <a:picLocks noChangeAspect="1"/>
            </p:cNvPicPr>
            <p:nvPr>
              <p:custDataLst>
                <p:tags r:id="rId8"/>
              </p:custDataLst>
            </p:nvPr>
          </p:nvPicPr>
          <p:blipFill>
            <a:blip r:embed="rId28">
              <a:extLst>
                <a:ext uri="{96DAC541-7B7A-43D3-8B79-37D633B846F1}">
                  <asvg:svgBlip xmlns:asvg="http://schemas.microsoft.com/office/drawing/2016/SVG/main" r:embed="rId29"/>
                </a:ext>
              </a:extLst>
            </a:blip>
            <a:stretch>
              <a:fillRect/>
            </a:stretch>
          </p:blipFill>
          <p:spPr>
            <a:xfrm>
              <a:off x="6351560" y="5838725"/>
              <a:ext cx="381000" cy="381000"/>
            </a:xfrm>
            <a:prstGeom prst="rect">
              <a:avLst/>
            </a:prstGeom>
          </p:spPr>
        </p:pic>
        <p:sp>
          <p:nvSpPr>
            <p:cNvPr id="1058" name="Pijl: omhoog 1057">
              <a:extLst>
                <a:ext uri="{FF2B5EF4-FFF2-40B4-BE49-F238E27FC236}">
                  <a16:creationId xmlns:a16="http://schemas.microsoft.com/office/drawing/2014/main" id="{26CF6AFA-EFC3-1C56-383C-DC4037085863}"/>
                </a:ext>
              </a:extLst>
            </p:cNvPr>
            <p:cNvSpPr/>
            <p:nvPr/>
          </p:nvSpPr>
          <p:spPr>
            <a:xfrm>
              <a:off x="6412216"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59" name="Group 20">
            <a:extLst>
              <a:ext uri="{FF2B5EF4-FFF2-40B4-BE49-F238E27FC236}">
                <a16:creationId xmlns:a16="http://schemas.microsoft.com/office/drawing/2014/main" id="{47B36537-D8BA-F767-B8BF-F53A8FF48B35}"/>
              </a:ext>
            </a:extLst>
          </p:cNvPr>
          <p:cNvGrpSpPr/>
          <p:nvPr/>
        </p:nvGrpSpPr>
        <p:grpSpPr>
          <a:xfrm>
            <a:off x="6340621" y="5158285"/>
            <a:ext cx="936000" cy="1207727"/>
            <a:chOff x="7100352" y="5314886"/>
            <a:chExt cx="936000" cy="1207727"/>
          </a:xfrm>
        </p:grpSpPr>
        <p:sp>
          <p:nvSpPr>
            <p:cNvPr id="1060" name="Tekstvak 1059">
              <a:extLst>
                <a:ext uri="{FF2B5EF4-FFF2-40B4-BE49-F238E27FC236}">
                  <a16:creationId xmlns:a16="http://schemas.microsoft.com/office/drawing/2014/main" id="{E2C61215-F161-6C36-C10B-BFAC60F27450}"/>
                </a:ext>
              </a:extLst>
            </p:cNvPr>
            <p:cNvSpPr txBox="1"/>
            <p:nvPr/>
          </p:nvSpPr>
          <p:spPr>
            <a:xfrm>
              <a:off x="7100352" y="6307169"/>
              <a:ext cx="9360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VVT</a:t>
              </a:r>
            </a:p>
          </p:txBody>
        </p:sp>
        <p:pic>
          <p:nvPicPr>
            <p:cNvPr id="1061" name="Graphic 1060">
              <a:extLst>
                <a:ext uri="{FF2B5EF4-FFF2-40B4-BE49-F238E27FC236}">
                  <a16:creationId xmlns:a16="http://schemas.microsoft.com/office/drawing/2014/main" id="{CE022D84-E8A2-0C13-D64F-5AF1CD9D71D5}"/>
                </a:ext>
              </a:extLst>
            </p:cNvPr>
            <p:cNvPicPr>
              <a:picLocks noChangeAspect="1"/>
            </p:cNvPicPr>
            <p:nvPr>
              <p:custDataLst>
                <p:tags r:id="rId7"/>
              </p:custDataLst>
            </p:nvPr>
          </p:nvPicPr>
          <p:blipFill>
            <a:blip r:embed="rId28">
              <a:extLst>
                <a:ext uri="{96DAC541-7B7A-43D3-8B79-37D633B846F1}">
                  <asvg:svgBlip xmlns:asvg="http://schemas.microsoft.com/office/drawing/2016/SVG/main" r:embed="rId29"/>
                </a:ext>
              </a:extLst>
            </a:blip>
            <a:stretch>
              <a:fillRect/>
            </a:stretch>
          </p:blipFill>
          <p:spPr>
            <a:xfrm>
              <a:off x="7377852" y="5838725"/>
              <a:ext cx="381000" cy="381000"/>
            </a:xfrm>
            <a:prstGeom prst="rect">
              <a:avLst/>
            </a:prstGeom>
          </p:spPr>
        </p:pic>
        <p:sp>
          <p:nvSpPr>
            <p:cNvPr id="1062" name="Pijl: omhoog 1061">
              <a:extLst>
                <a:ext uri="{FF2B5EF4-FFF2-40B4-BE49-F238E27FC236}">
                  <a16:creationId xmlns:a16="http://schemas.microsoft.com/office/drawing/2014/main" id="{09A00D9C-9478-E8BD-A0B9-863EC4E52D1F}"/>
                </a:ext>
              </a:extLst>
            </p:cNvPr>
            <p:cNvSpPr/>
            <p:nvPr/>
          </p:nvSpPr>
          <p:spPr>
            <a:xfrm>
              <a:off x="7438508"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63" name="Group 21">
            <a:extLst>
              <a:ext uri="{FF2B5EF4-FFF2-40B4-BE49-F238E27FC236}">
                <a16:creationId xmlns:a16="http://schemas.microsoft.com/office/drawing/2014/main" id="{A15131D6-700E-CA7B-CF09-A932B26487FF}"/>
              </a:ext>
            </a:extLst>
          </p:cNvPr>
          <p:cNvGrpSpPr/>
          <p:nvPr/>
        </p:nvGrpSpPr>
        <p:grpSpPr>
          <a:xfrm>
            <a:off x="7234722" y="5158285"/>
            <a:ext cx="936000" cy="1207727"/>
            <a:chOff x="8121808" y="5314886"/>
            <a:chExt cx="936000" cy="1207727"/>
          </a:xfrm>
        </p:grpSpPr>
        <p:sp>
          <p:nvSpPr>
            <p:cNvPr id="1064" name="Tekstvak 1063">
              <a:extLst>
                <a:ext uri="{FF2B5EF4-FFF2-40B4-BE49-F238E27FC236}">
                  <a16:creationId xmlns:a16="http://schemas.microsoft.com/office/drawing/2014/main" id="{39EBD666-6A90-9E3A-D542-B780D9ACA1A5}"/>
                </a:ext>
              </a:extLst>
            </p:cNvPr>
            <p:cNvSpPr txBox="1"/>
            <p:nvPr/>
          </p:nvSpPr>
          <p:spPr>
            <a:xfrm>
              <a:off x="8121808" y="6307169"/>
              <a:ext cx="9360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Apotheek</a:t>
              </a:r>
            </a:p>
          </p:txBody>
        </p:sp>
        <p:pic>
          <p:nvPicPr>
            <p:cNvPr id="1065" name="Graphic 1064">
              <a:extLst>
                <a:ext uri="{FF2B5EF4-FFF2-40B4-BE49-F238E27FC236}">
                  <a16:creationId xmlns:a16="http://schemas.microsoft.com/office/drawing/2014/main" id="{EE47F5F8-DC6B-4EA7-9338-854D275DCC54}"/>
                </a:ext>
              </a:extLst>
            </p:cNvPr>
            <p:cNvPicPr>
              <a:picLocks noChangeAspect="1"/>
            </p:cNvPicPr>
            <p:nvPr>
              <p:custDataLst>
                <p:tags r:id="rId6"/>
              </p:custDataLst>
            </p:nvPr>
          </p:nvPicPr>
          <p:blipFill>
            <a:blip r:embed="rId28">
              <a:extLst>
                <a:ext uri="{96DAC541-7B7A-43D3-8B79-37D633B846F1}">
                  <asvg:svgBlip xmlns:asvg="http://schemas.microsoft.com/office/drawing/2016/SVG/main" r:embed="rId29"/>
                </a:ext>
              </a:extLst>
            </a:blip>
            <a:stretch>
              <a:fillRect/>
            </a:stretch>
          </p:blipFill>
          <p:spPr>
            <a:xfrm>
              <a:off x="8399308" y="5838725"/>
              <a:ext cx="381000" cy="381000"/>
            </a:xfrm>
            <a:prstGeom prst="rect">
              <a:avLst/>
            </a:prstGeom>
          </p:spPr>
        </p:pic>
        <p:sp>
          <p:nvSpPr>
            <p:cNvPr id="1066" name="Pijl: omhoog 1065">
              <a:extLst>
                <a:ext uri="{FF2B5EF4-FFF2-40B4-BE49-F238E27FC236}">
                  <a16:creationId xmlns:a16="http://schemas.microsoft.com/office/drawing/2014/main" id="{860BA898-4C87-F07E-006F-9C201D827FF2}"/>
                </a:ext>
              </a:extLst>
            </p:cNvPr>
            <p:cNvSpPr/>
            <p:nvPr/>
          </p:nvSpPr>
          <p:spPr>
            <a:xfrm>
              <a:off x="8459964"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1067" name="Rechthoek: afgeronde hoeken 1066">
            <a:extLst>
              <a:ext uri="{FF2B5EF4-FFF2-40B4-BE49-F238E27FC236}">
                <a16:creationId xmlns:a16="http://schemas.microsoft.com/office/drawing/2014/main" id="{5176E236-546C-721A-3B5E-F6F673A9BE7B}"/>
              </a:ext>
            </a:extLst>
          </p:cNvPr>
          <p:cNvSpPr/>
          <p:nvPr/>
        </p:nvSpPr>
        <p:spPr>
          <a:xfrm>
            <a:off x="1042654" y="5192678"/>
            <a:ext cx="8791425" cy="1368011"/>
          </a:xfrm>
          <a:prstGeom prst="roundRect">
            <a:avLst/>
          </a:prstGeom>
          <a:noFill/>
          <a:ln>
            <a:solidFill>
              <a:srgbClr val="A2C8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1"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B</a:t>
            </a:r>
            <a:r>
              <a:rPr kumimoji="0" lang="nl-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ronontsluiting</a:t>
            </a:r>
            <a:endParaRPr kumimoji="0" lang="en-NL"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nvGrpSpPr>
          <p:cNvPr id="1068" name="Group 26">
            <a:extLst>
              <a:ext uri="{FF2B5EF4-FFF2-40B4-BE49-F238E27FC236}">
                <a16:creationId xmlns:a16="http://schemas.microsoft.com/office/drawing/2014/main" id="{7ADEFA12-81D2-24A8-F20A-C6B2BC1614CE}"/>
              </a:ext>
            </a:extLst>
          </p:cNvPr>
          <p:cNvGrpSpPr/>
          <p:nvPr/>
        </p:nvGrpSpPr>
        <p:grpSpPr>
          <a:xfrm>
            <a:off x="8128823" y="5158285"/>
            <a:ext cx="900000" cy="1209690"/>
            <a:chOff x="8152812" y="5314886"/>
            <a:chExt cx="900000" cy="1209690"/>
          </a:xfrm>
        </p:grpSpPr>
        <p:pic>
          <p:nvPicPr>
            <p:cNvPr id="1069" name="Graphic 1068">
              <a:extLst>
                <a:ext uri="{FF2B5EF4-FFF2-40B4-BE49-F238E27FC236}">
                  <a16:creationId xmlns:a16="http://schemas.microsoft.com/office/drawing/2014/main" id="{9E8D6E05-5BA4-B4DB-2557-E6546004E726}"/>
                </a:ext>
              </a:extLst>
            </p:cNvPr>
            <p:cNvPicPr>
              <a:picLocks noChangeAspect="1"/>
            </p:cNvPicPr>
            <p:nvPr>
              <p:custDataLst>
                <p:tags r:id="rId5"/>
              </p:custDataLst>
            </p:nvPr>
          </p:nvPicPr>
          <p:blipFill>
            <a:blip r:embed="rId28">
              <a:extLst>
                <a:ext uri="{96DAC541-7B7A-43D3-8B79-37D633B846F1}">
                  <asvg:svgBlip xmlns:asvg="http://schemas.microsoft.com/office/drawing/2016/SVG/main" r:embed="rId29"/>
                </a:ext>
              </a:extLst>
            </a:blip>
            <a:stretch>
              <a:fillRect/>
            </a:stretch>
          </p:blipFill>
          <p:spPr>
            <a:xfrm>
              <a:off x="8412312" y="5838725"/>
              <a:ext cx="381000" cy="381000"/>
            </a:xfrm>
            <a:prstGeom prst="rect">
              <a:avLst/>
            </a:prstGeom>
          </p:spPr>
        </p:pic>
        <p:sp>
          <p:nvSpPr>
            <p:cNvPr id="1070" name="Pijl: omhoog 174">
              <a:extLst>
                <a:ext uri="{FF2B5EF4-FFF2-40B4-BE49-F238E27FC236}">
                  <a16:creationId xmlns:a16="http://schemas.microsoft.com/office/drawing/2014/main" id="{244DE261-49B1-618E-E886-CD94011DDD62}"/>
                </a:ext>
              </a:extLst>
            </p:cNvPr>
            <p:cNvSpPr/>
            <p:nvPr/>
          </p:nvSpPr>
          <p:spPr>
            <a:xfrm>
              <a:off x="8472968"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071" name="Tekstvak 142">
              <a:extLst>
                <a:ext uri="{FF2B5EF4-FFF2-40B4-BE49-F238E27FC236}">
                  <a16:creationId xmlns:a16="http://schemas.microsoft.com/office/drawing/2014/main" id="{AC9216EA-77CB-E6F9-AC99-249B8880FD8C}"/>
                </a:ext>
              </a:extLst>
            </p:cNvPr>
            <p:cNvSpPr txBox="1"/>
            <p:nvPr/>
          </p:nvSpPr>
          <p:spPr>
            <a:xfrm>
              <a:off x="8152812" y="6309132"/>
              <a:ext cx="9000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GGD</a:t>
              </a:r>
            </a:p>
          </p:txBody>
        </p:sp>
      </p:grpSp>
      <p:grpSp>
        <p:nvGrpSpPr>
          <p:cNvPr id="1072" name="Group 30">
            <a:extLst>
              <a:ext uri="{FF2B5EF4-FFF2-40B4-BE49-F238E27FC236}">
                <a16:creationId xmlns:a16="http://schemas.microsoft.com/office/drawing/2014/main" id="{F089A867-9FE9-26BE-EB04-72D0F842DFC3}"/>
              </a:ext>
            </a:extLst>
          </p:cNvPr>
          <p:cNvGrpSpPr/>
          <p:nvPr/>
        </p:nvGrpSpPr>
        <p:grpSpPr>
          <a:xfrm>
            <a:off x="8986927" y="5158285"/>
            <a:ext cx="936000" cy="1207727"/>
            <a:chOff x="8164595" y="5314886"/>
            <a:chExt cx="936000" cy="1207727"/>
          </a:xfrm>
        </p:grpSpPr>
        <p:sp>
          <p:nvSpPr>
            <p:cNvPr id="1073" name="Tekstvak 142">
              <a:extLst>
                <a:ext uri="{FF2B5EF4-FFF2-40B4-BE49-F238E27FC236}">
                  <a16:creationId xmlns:a16="http://schemas.microsoft.com/office/drawing/2014/main" id="{3D77E8C4-FA5D-7748-1ED9-3BB7D3CFBAE2}"/>
                </a:ext>
              </a:extLst>
            </p:cNvPr>
            <p:cNvSpPr txBox="1"/>
            <p:nvPr/>
          </p:nvSpPr>
          <p:spPr>
            <a:xfrm>
              <a:off x="8164595" y="6307169"/>
              <a:ext cx="9360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1" i="0" u="none" strike="noStrike" kern="1200" cap="none" spc="0" normalizeH="0" baseline="0" noProof="0">
                  <a:ln>
                    <a:noFill/>
                  </a:ln>
                  <a:solidFill>
                    <a:srgbClr val="44546A"/>
                  </a:solidFill>
                  <a:effectLst/>
                  <a:uLnTx/>
                  <a:uFillTx/>
                  <a:latin typeface="Verdana" panose="020B0604030504040204" pitchFamily="34" charset="0"/>
                  <a:ea typeface="Verdana" panose="020B0604030504040204" pitchFamily="34" charset="0"/>
                  <a:cs typeface="Calibri" panose="020F0502020204030204" pitchFamily="34" charset="0"/>
                </a:rPr>
                <a:t>Overig</a:t>
              </a:r>
            </a:p>
          </p:txBody>
        </p:sp>
        <p:pic>
          <p:nvPicPr>
            <p:cNvPr id="1074" name="Graphic 1073">
              <a:extLst>
                <a:ext uri="{FF2B5EF4-FFF2-40B4-BE49-F238E27FC236}">
                  <a16:creationId xmlns:a16="http://schemas.microsoft.com/office/drawing/2014/main" id="{FB2F54D3-5E61-4DE4-6648-E79D80A6AC38}"/>
                </a:ext>
              </a:extLst>
            </p:cNvPr>
            <p:cNvPicPr>
              <a:picLocks noChangeAspect="1"/>
            </p:cNvPicPr>
            <p:nvPr>
              <p:custDataLst>
                <p:tags r:id="rId4"/>
              </p:custDataLst>
            </p:nvPr>
          </p:nvPicPr>
          <p:blipFill>
            <a:blip r:embed="rId28">
              <a:extLst>
                <a:ext uri="{96DAC541-7B7A-43D3-8B79-37D633B846F1}">
                  <asvg:svgBlip xmlns:asvg="http://schemas.microsoft.com/office/drawing/2016/SVG/main" r:embed="rId29"/>
                </a:ext>
              </a:extLst>
            </a:blip>
            <a:stretch>
              <a:fillRect/>
            </a:stretch>
          </p:blipFill>
          <p:spPr>
            <a:xfrm>
              <a:off x="8442095" y="5838725"/>
              <a:ext cx="381000" cy="381000"/>
            </a:xfrm>
            <a:prstGeom prst="rect">
              <a:avLst/>
            </a:prstGeom>
          </p:spPr>
        </p:pic>
        <p:sp>
          <p:nvSpPr>
            <p:cNvPr id="1075" name="Pijl: omhoog 174">
              <a:extLst>
                <a:ext uri="{FF2B5EF4-FFF2-40B4-BE49-F238E27FC236}">
                  <a16:creationId xmlns:a16="http://schemas.microsoft.com/office/drawing/2014/main" id="{383297B5-3AC6-6289-E889-F071EBA0FA6C}"/>
                </a:ext>
              </a:extLst>
            </p:cNvPr>
            <p:cNvSpPr/>
            <p:nvPr/>
          </p:nvSpPr>
          <p:spPr>
            <a:xfrm>
              <a:off x="8502751" y="5314886"/>
              <a:ext cx="259689" cy="476886"/>
            </a:xfrm>
            <a:prstGeom prst="upArrow">
              <a:avLst/>
            </a:prstGeom>
            <a:solidFill>
              <a:srgbClr val="DDEBC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076" name="Group 36">
            <a:extLst>
              <a:ext uri="{FF2B5EF4-FFF2-40B4-BE49-F238E27FC236}">
                <a16:creationId xmlns:a16="http://schemas.microsoft.com/office/drawing/2014/main" id="{EBE751E4-435F-654C-A7E8-E3E557B34463}"/>
              </a:ext>
            </a:extLst>
          </p:cNvPr>
          <p:cNvGrpSpPr/>
          <p:nvPr/>
        </p:nvGrpSpPr>
        <p:grpSpPr>
          <a:xfrm>
            <a:off x="1122835" y="3217810"/>
            <a:ext cx="6701245" cy="498016"/>
            <a:chOff x="1122835" y="3252866"/>
            <a:chExt cx="6701245" cy="498016"/>
          </a:xfrm>
        </p:grpSpPr>
        <p:sp>
          <p:nvSpPr>
            <p:cNvPr id="1077" name="Rechthoek: afgeronde hoeken 1076">
              <a:extLst>
                <a:ext uri="{FF2B5EF4-FFF2-40B4-BE49-F238E27FC236}">
                  <a16:creationId xmlns:a16="http://schemas.microsoft.com/office/drawing/2014/main" id="{BFE07D81-3E97-4E6D-907D-A6482E088916}"/>
                </a:ext>
              </a:extLst>
            </p:cNvPr>
            <p:cNvSpPr/>
            <p:nvPr/>
          </p:nvSpPr>
          <p:spPr>
            <a:xfrm>
              <a:off x="1122835" y="3252866"/>
              <a:ext cx="746952" cy="490352"/>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BgZ</a:t>
              </a:r>
              <a:r>
                <a:rPr kumimoji="0" lang="nl-NL" sz="11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a:t>
              </a:r>
              <a:br>
                <a:rPr kumimoji="0" lang="nl-NL" sz="105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br>
              <a:r>
                <a:rPr kumimoji="0" lang="nl-NL" sz="7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(Basis </a:t>
              </a:r>
              <a:r>
                <a:rPr kumimoji="0" lang="nl-NL" sz="700" b="0"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Gegevensset</a:t>
              </a:r>
              <a:r>
                <a:rPr kumimoji="0" lang="nl-NL" sz="7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Zorg)</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078" name="Rechthoek: afgeronde hoeken 1077">
              <a:extLst>
                <a:ext uri="{FF2B5EF4-FFF2-40B4-BE49-F238E27FC236}">
                  <a16:creationId xmlns:a16="http://schemas.microsoft.com/office/drawing/2014/main" id="{6F6DD76A-050F-D470-9545-53521977029D}"/>
                </a:ext>
              </a:extLst>
            </p:cNvPr>
            <p:cNvSpPr/>
            <p:nvPr/>
          </p:nvSpPr>
          <p:spPr>
            <a:xfrm>
              <a:off x="3100721" y="3266759"/>
              <a:ext cx="841296" cy="476459"/>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MP9 </a:t>
              </a:r>
              <a:b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br>
              <a:r>
                <a:rPr kumimoji="0" lang="nl-NL" sz="7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(Medicatie Proces 9)</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079" name="Rechthoek: afgeronde hoeken 1078">
              <a:extLst>
                <a:ext uri="{FF2B5EF4-FFF2-40B4-BE49-F238E27FC236}">
                  <a16:creationId xmlns:a16="http://schemas.microsoft.com/office/drawing/2014/main" id="{946D1E06-51B6-62D2-34D2-2CDAFD9A01F2}"/>
                </a:ext>
              </a:extLst>
            </p:cNvPr>
            <p:cNvSpPr/>
            <p:nvPr/>
          </p:nvSpPr>
          <p:spPr>
            <a:xfrm>
              <a:off x="4945027" y="3265417"/>
              <a:ext cx="1206709" cy="477801"/>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eOverdracht</a:t>
              </a:r>
              <a:endPar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(verpleegkundige overdracht)</a:t>
              </a:r>
              <a:endParaRPr kumimoji="0" lang="en-NL" sz="18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080" name="Rechthoek: afgeronde hoeken 1079">
              <a:extLst>
                <a:ext uri="{FF2B5EF4-FFF2-40B4-BE49-F238E27FC236}">
                  <a16:creationId xmlns:a16="http://schemas.microsoft.com/office/drawing/2014/main" id="{143A2972-9E79-398A-0774-B23CF8401F6A}"/>
                </a:ext>
              </a:extLst>
            </p:cNvPr>
            <p:cNvSpPr/>
            <p:nvPr/>
          </p:nvSpPr>
          <p:spPr>
            <a:xfrm>
              <a:off x="6211193" y="3252866"/>
              <a:ext cx="1612887" cy="498016"/>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eSpoedstandaard</a:t>
              </a:r>
              <a:endPar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8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(Acute Zorg)</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081" name="Rechthoek: afgeronde hoeken 147">
              <a:extLst>
                <a:ext uri="{FF2B5EF4-FFF2-40B4-BE49-F238E27FC236}">
                  <a16:creationId xmlns:a16="http://schemas.microsoft.com/office/drawing/2014/main" id="{10D2E965-1ED1-0888-8D30-13CEF47D1716}"/>
                </a:ext>
              </a:extLst>
            </p:cNvPr>
            <p:cNvSpPr/>
            <p:nvPr/>
          </p:nvSpPr>
          <p:spPr>
            <a:xfrm>
              <a:off x="1929246" y="3255776"/>
              <a:ext cx="1112016" cy="487442"/>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mn-cs"/>
                </a:rPr>
                <a:t>CiO</a:t>
              </a: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 </a:t>
              </a:r>
              <a:b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br>
              <a:r>
                <a:rPr kumimoji="0" lang="nl-NL" sz="7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(Contra indicatie en gevoeligheden)</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082" name="Rechthoek: afgeronde hoeken 147">
              <a:extLst>
                <a:ext uri="{FF2B5EF4-FFF2-40B4-BE49-F238E27FC236}">
                  <a16:creationId xmlns:a16="http://schemas.microsoft.com/office/drawing/2014/main" id="{6A4FAE56-47D5-E2FA-1001-543CCC532540}"/>
                </a:ext>
              </a:extLst>
            </p:cNvPr>
            <p:cNvSpPr/>
            <p:nvPr/>
          </p:nvSpPr>
          <p:spPr>
            <a:xfrm>
              <a:off x="4001476" y="3266759"/>
              <a:ext cx="884092" cy="476459"/>
            </a:xfrm>
            <a:prstGeom prst="roundRect">
              <a:avLst/>
            </a:prstGeom>
            <a:solidFill>
              <a:srgbClr val="21BBEF"/>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Lab </a:t>
              </a:r>
              <a:b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br>
              <a:r>
                <a:rPr kumimoji="0" lang="nl-NL" sz="7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(Laboratoriumgegevens)</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2" name="Rectangle: Top Corners Rounded 38">
            <a:hlinkClick r:id="rId30" action="ppaction://hlinksldjump"/>
            <a:extLst>
              <a:ext uri="{FF2B5EF4-FFF2-40B4-BE49-F238E27FC236}">
                <a16:creationId xmlns:a16="http://schemas.microsoft.com/office/drawing/2014/main" id="{0876896E-FEE1-CC37-BA77-D99B01A8E41A}"/>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Management </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Samenvatting</a:t>
            </a:r>
          </a:p>
        </p:txBody>
      </p:sp>
      <p:pic>
        <p:nvPicPr>
          <p:cNvPr id="3" name="Graphic 2" descr="Introductiepagina silhouet">
            <a:hlinkClick r:id="rId31" action="ppaction://hlinksldjump"/>
            <a:extLst>
              <a:ext uri="{FF2B5EF4-FFF2-40B4-BE49-F238E27FC236}">
                <a16:creationId xmlns:a16="http://schemas.microsoft.com/office/drawing/2014/main" id="{9557EE8D-20B8-CF1B-5D37-74490EBF92D5}"/>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5136" y="147223"/>
            <a:ext cx="144000" cy="144000"/>
          </a:xfrm>
          <a:prstGeom prst="rect">
            <a:avLst/>
          </a:prstGeom>
        </p:spPr>
      </p:pic>
      <p:sp>
        <p:nvSpPr>
          <p:cNvPr id="4" name="Rectangle: Top Corners Rounded 1">
            <a:hlinkClick r:id="" action="ppaction://noaction"/>
            <a:extLst>
              <a:ext uri="{FF2B5EF4-FFF2-40B4-BE49-F238E27FC236}">
                <a16:creationId xmlns:a16="http://schemas.microsoft.com/office/drawing/2014/main" id="{738E231F-CA75-42B1-57D7-63159318D35D}"/>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Achtergrond en aanleiding</a:t>
            </a:r>
          </a:p>
        </p:txBody>
      </p:sp>
      <p:sp>
        <p:nvSpPr>
          <p:cNvPr id="5" name="Rectangle: Top Corners Rounded 1">
            <a:hlinkClick r:id="" action="ppaction://noaction"/>
            <a:extLst>
              <a:ext uri="{FF2B5EF4-FFF2-40B4-BE49-F238E27FC236}">
                <a16:creationId xmlns:a16="http://schemas.microsoft.com/office/drawing/2014/main" id="{419B9EDA-7C2F-654B-B040-A9BCCEF1C003}"/>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Visie en ambitie</a:t>
            </a:r>
          </a:p>
        </p:txBody>
      </p:sp>
      <p:sp>
        <p:nvSpPr>
          <p:cNvPr id="6" name="Rectangle: Top Corners Rounded 1">
            <a:hlinkClick r:id="" action="ppaction://noaction"/>
            <a:extLst>
              <a:ext uri="{FF2B5EF4-FFF2-40B4-BE49-F238E27FC236}">
                <a16:creationId xmlns:a16="http://schemas.microsoft.com/office/drawing/2014/main" id="{426A507A-34C6-C3F8-7211-D8C3026DEBC7}"/>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Veranderopgaven en verwachte impact</a:t>
            </a:r>
          </a:p>
        </p:txBody>
      </p:sp>
      <p:sp>
        <p:nvSpPr>
          <p:cNvPr id="7" name="Rectangle: Top Corners Rounded 1">
            <a:hlinkClick r:id="" action="ppaction://noaction"/>
            <a:extLst>
              <a:ext uri="{FF2B5EF4-FFF2-40B4-BE49-F238E27FC236}">
                <a16:creationId xmlns:a16="http://schemas.microsoft.com/office/drawing/2014/main" id="{913B5B02-7332-D4A3-C25C-62516693B6C3}"/>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1: </a:t>
            </a:r>
          </a:p>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Digitale (zorg) communicatie</a:t>
            </a:r>
          </a:p>
        </p:txBody>
      </p:sp>
      <p:sp>
        <p:nvSpPr>
          <p:cNvPr id="8" name="Rectangle: Top Corners Rounded 1">
            <a:hlinkClick r:id="" action="ppaction://noaction"/>
            <a:extLst>
              <a:ext uri="{FF2B5EF4-FFF2-40B4-BE49-F238E27FC236}">
                <a16:creationId xmlns:a16="http://schemas.microsoft.com/office/drawing/2014/main" id="{AB50B61A-4A48-D86B-AA18-1456C8778698}"/>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Thema 2: Dossier-inzage en digitale overdracht</a:t>
            </a:r>
          </a:p>
        </p:txBody>
      </p:sp>
      <p:sp>
        <p:nvSpPr>
          <p:cNvPr id="9" name="Rectangle: Top Corners Rounded 1">
            <a:hlinkClick r:id="" action="ppaction://noaction"/>
            <a:extLst>
              <a:ext uri="{FF2B5EF4-FFF2-40B4-BE49-F238E27FC236}">
                <a16:creationId xmlns:a16="http://schemas.microsoft.com/office/drawing/2014/main" id="{92996CB6-DA05-4B98-F535-525551927805}"/>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Overkoepelende businesscase</a:t>
            </a:r>
          </a:p>
        </p:txBody>
      </p:sp>
      <p:sp>
        <p:nvSpPr>
          <p:cNvPr id="10" name="Rectangle: Top Corners Rounded 1">
            <a:hlinkClick r:id="" action="ppaction://noaction"/>
            <a:extLst>
              <a:ext uri="{FF2B5EF4-FFF2-40B4-BE49-F238E27FC236}">
                <a16:creationId xmlns:a16="http://schemas.microsoft.com/office/drawing/2014/main" id="{4F0EB216-43A9-4D5B-4C98-097612787003}"/>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Governance en </a:t>
            </a: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programma-structuur</a:t>
            </a:r>
            <a:endPar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endParaRPr>
          </a:p>
        </p:txBody>
      </p:sp>
      <p:sp>
        <p:nvSpPr>
          <p:cNvPr id="11" name="Rectangle: Top Corners Rounded 1">
            <a:hlinkClick r:id="" action="ppaction://noaction"/>
            <a:extLst>
              <a:ext uri="{FF2B5EF4-FFF2-40B4-BE49-F238E27FC236}">
                <a16:creationId xmlns:a16="http://schemas.microsoft.com/office/drawing/2014/main" id="{EE904397-58AA-F84B-9514-8346BC468B75}"/>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Implementatie planning en aanpak</a:t>
            </a:r>
          </a:p>
        </p:txBody>
      </p:sp>
      <p:sp>
        <p:nvSpPr>
          <p:cNvPr id="12" name="Rectangle: Top Corners Rounded 1">
            <a:hlinkClick r:id="" action="ppaction://noaction"/>
            <a:extLst>
              <a:ext uri="{FF2B5EF4-FFF2-40B4-BE49-F238E27FC236}">
                <a16:creationId xmlns:a16="http://schemas.microsoft.com/office/drawing/2014/main" id="{90DE5727-6CA3-1150-0A18-0734E9F2C77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err="1">
                <a:ln>
                  <a:noFill/>
                </a:ln>
                <a:solidFill>
                  <a:srgbClr val="8C95CD"/>
                </a:solidFill>
                <a:effectLst/>
                <a:uLnTx/>
                <a:uFillTx/>
                <a:latin typeface="Verdana Pro" panose="020B0604030504040204" pitchFamily="34" charset="0"/>
                <a:ea typeface="Verdana" panose="020B0604030504040204" pitchFamily="34" charset="0"/>
                <a:cs typeface="+mn-cs"/>
              </a:rPr>
              <a:t>Randvoorwaar-den</a:t>
            </a: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 voor succes</a:t>
            </a:r>
          </a:p>
        </p:txBody>
      </p:sp>
      <p:sp>
        <p:nvSpPr>
          <p:cNvPr id="13" name="Rectangle: Top Corners Rounded 1">
            <a:hlinkClick r:id="" action="ppaction://noaction"/>
            <a:extLst>
              <a:ext uri="{FF2B5EF4-FFF2-40B4-BE49-F238E27FC236}">
                <a16:creationId xmlns:a16="http://schemas.microsoft.com/office/drawing/2014/main" id="{8B12AD77-F5BA-22D7-A60D-B74B39A7BBD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0" i="0" u="none" strike="noStrike" kern="1200" cap="none" spc="0" normalizeH="0" baseline="0" noProof="0">
                <a:ln>
                  <a:noFill/>
                </a:ln>
                <a:solidFill>
                  <a:srgbClr val="8C95CD"/>
                </a:solidFill>
                <a:effectLst/>
                <a:uLnTx/>
                <a:uFillTx/>
                <a:latin typeface="Verdana Pro" panose="020B0604030504040204" pitchFamily="34" charset="0"/>
                <a:ea typeface="Verdana" panose="020B0604030504040204" pitchFamily="34" charset="0"/>
                <a:cs typeface="+mn-cs"/>
              </a:rPr>
              <a:t>Bijlagen</a:t>
            </a:r>
          </a:p>
        </p:txBody>
      </p:sp>
      <p:sp>
        <p:nvSpPr>
          <p:cNvPr id="14" name="Rectangle: Top Corners Rounded 1">
            <a:hlinkClick r:id="" action="ppaction://noaction"/>
            <a:extLst>
              <a:ext uri="{FF2B5EF4-FFF2-40B4-BE49-F238E27FC236}">
                <a16:creationId xmlns:a16="http://schemas.microsoft.com/office/drawing/2014/main" id="{769BB9A4-0840-F109-7344-499036E38D54}"/>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ts val="600"/>
              </a:lnSpc>
              <a:spcBef>
                <a:spcPts val="0"/>
              </a:spcBef>
              <a:spcAft>
                <a:spcPts val="0"/>
              </a:spcAft>
              <a:buClrTx/>
              <a:buSzTx/>
              <a:buFontTx/>
              <a:buNone/>
              <a:tabLst/>
              <a:defRPr/>
            </a:pPr>
            <a:r>
              <a:rPr kumimoji="0" lang="nl-NL" sz="600" b="1" i="0" u="none" strike="noStrike" kern="1200" cap="none" spc="0" normalizeH="0" baseline="0" noProof="0">
                <a:ln>
                  <a:noFill/>
                </a:ln>
                <a:solidFill>
                  <a:srgbClr val="F1F2F9"/>
                </a:solidFill>
                <a:effectLst/>
                <a:uLnTx/>
                <a:uFillTx/>
                <a:latin typeface="Verdana Pro" panose="020B0604030504040204" pitchFamily="34" charset="0"/>
                <a:ea typeface="Verdana" panose="020B0604030504040204" pitchFamily="34" charset="0"/>
                <a:cs typeface="+mn-cs"/>
              </a:rPr>
              <a:t>Fundament digitalisering</a:t>
            </a:r>
          </a:p>
        </p:txBody>
      </p:sp>
      <p:pic>
        <p:nvPicPr>
          <p:cNvPr id="98" name="Graphic 97">
            <a:extLst>
              <a:ext uri="{FF2B5EF4-FFF2-40B4-BE49-F238E27FC236}">
                <a16:creationId xmlns:a16="http://schemas.microsoft.com/office/drawing/2014/main" id="{D613F4CA-8644-58D1-06BF-4A53E7D658A6}"/>
              </a:ext>
            </a:extLst>
          </p:cNvPr>
          <p:cNvPicPr>
            <a:picLocks noChangeAspect="1"/>
          </p:cNvPicPr>
          <p:nvPr>
            <p:custDataLst>
              <p:tags r:id="rId1"/>
            </p:custDataLst>
          </p:nvPr>
        </p:nvPicPr>
        <p:blipFill>
          <a:blip r:embed="rId34">
            <a:extLst>
              <a:ext uri="{96DAC541-7B7A-43D3-8B79-37D633B846F1}">
                <asvg:svgBlip xmlns:asvg="http://schemas.microsoft.com/office/drawing/2016/SVG/main" r:embed="rId35"/>
              </a:ext>
            </a:extLst>
          </a:blip>
          <a:stretch>
            <a:fillRect/>
          </a:stretch>
        </p:blipFill>
        <p:spPr>
          <a:xfrm>
            <a:off x="1042653" y="2442957"/>
            <a:ext cx="429629" cy="429629"/>
          </a:xfrm>
          <a:prstGeom prst="rect">
            <a:avLst/>
          </a:prstGeom>
        </p:spPr>
      </p:pic>
      <p:pic>
        <p:nvPicPr>
          <p:cNvPr id="99" name="Graphic 98">
            <a:extLst>
              <a:ext uri="{FF2B5EF4-FFF2-40B4-BE49-F238E27FC236}">
                <a16:creationId xmlns:a16="http://schemas.microsoft.com/office/drawing/2014/main" id="{B1BEA25E-4A9B-CDB7-92E5-E5D76787DF6B}"/>
              </a:ext>
            </a:extLst>
          </p:cNvPr>
          <p:cNvPicPr>
            <a:picLocks noChangeAspect="1"/>
          </p:cNvPicPr>
          <p:nvPr>
            <p:custDataLst>
              <p:tags r:id="rId2"/>
            </p:custDataLst>
          </p:nvPr>
        </p:nvPicPr>
        <p:blipFill>
          <a:blip r:embed="rId36">
            <a:extLst>
              <a:ext uri="{96DAC541-7B7A-43D3-8B79-37D633B846F1}">
                <asvg:svgBlip xmlns:asvg="http://schemas.microsoft.com/office/drawing/2016/SVG/main" r:embed="rId37"/>
              </a:ext>
            </a:extLst>
          </a:blip>
          <a:stretch>
            <a:fillRect/>
          </a:stretch>
        </p:blipFill>
        <p:spPr>
          <a:xfrm>
            <a:off x="3513238" y="2448336"/>
            <a:ext cx="434434" cy="434434"/>
          </a:xfrm>
          <a:prstGeom prst="rect">
            <a:avLst/>
          </a:prstGeom>
        </p:spPr>
      </p:pic>
      <p:sp>
        <p:nvSpPr>
          <p:cNvPr id="101" name="Rechthoek: afgeronde hoeken 100">
            <a:extLst>
              <a:ext uri="{FF2B5EF4-FFF2-40B4-BE49-F238E27FC236}">
                <a16:creationId xmlns:a16="http://schemas.microsoft.com/office/drawing/2014/main" id="{3CDA1A76-9EEF-0997-8F6C-0C6F791A795C}"/>
              </a:ext>
            </a:extLst>
          </p:cNvPr>
          <p:cNvSpPr/>
          <p:nvPr/>
        </p:nvSpPr>
        <p:spPr>
          <a:xfrm>
            <a:off x="6227649" y="2375369"/>
            <a:ext cx="1596431" cy="548921"/>
          </a:xfrm>
          <a:prstGeom prst="round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Secundair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data gebruik</a:t>
            </a:r>
            <a:endParaRPr kumimoji="0" lang="en-NL" sz="12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pic>
        <p:nvPicPr>
          <p:cNvPr id="102" name="Graphic 101">
            <a:extLst>
              <a:ext uri="{FF2B5EF4-FFF2-40B4-BE49-F238E27FC236}">
                <a16:creationId xmlns:a16="http://schemas.microsoft.com/office/drawing/2014/main" id="{172E7825-9A72-06D8-E1E8-D3F77FEFB6A7}"/>
              </a:ext>
            </a:extLst>
          </p:cNvPr>
          <p:cNvPicPr>
            <a:picLocks noChangeAspect="1"/>
          </p:cNvPicPr>
          <p:nvPr>
            <p:custDataLst>
              <p:tags r:id="rId3"/>
            </p:custDataLst>
          </p:nvPr>
        </p:nvPicPr>
        <p:blipFill>
          <a:blip r:embed="rId36">
            <a:extLst>
              <a:ext uri="{96DAC541-7B7A-43D3-8B79-37D633B846F1}">
                <asvg:svgBlip xmlns:asvg="http://schemas.microsoft.com/office/drawing/2016/SVG/main" r:embed="rId37"/>
              </a:ext>
            </a:extLst>
          </a:blip>
          <a:stretch>
            <a:fillRect/>
          </a:stretch>
        </p:blipFill>
        <p:spPr>
          <a:xfrm>
            <a:off x="6234469" y="2448336"/>
            <a:ext cx="434434" cy="434434"/>
          </a:xfrm>
          <a:prstGeom prst="rect">
            <a:avLst/>
          </a:prstGeom>
        </p:spPr>
      </p:pic>
    </p:spTree>
    <p:extLst>
      <p:ext uri="{BB962C8B-B14F-4D97-AF65-F5344CB8AC3E}">
        <p14:creationId xmlns:p14="http://schemas.microsoft.com/office/powerpoint/2010/main" val="12733693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1E5A5C06-06D7-91B5-7326-FA843C6B9F97}"/>
              </a:ext>
            </a:extLst>
          </p:cNvPr>
          <p:cNvSpPr>
            <a:spLocks noGrp="1" noRot="1" noMove="1" noResize="1" noEditPoints="1" noAdjustHandles="1" noChangeArrowheads="1" noChangeShapeType="1"/>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E6272525-382C-0B04-EE69-2103F86EA8A4}"/>
              </a:ext>
            </a:extLst>
          </p:cNvPr>
          <p:cNvSpPr/>
          <p:nvPr/>
        </p:nvSpPr>
        <p:spPr>
          <a:xfrm>
            <a:off x="11221643" y="6376589"/>
            <a:ext cx="965408" cy="473008"/>
          </a:xfrm>
          <a:prstGeom prst="rect">
            <a:avLst/>
          </a:prstGeom>
          <a:blipFill dpi="0" rotWithShape="1">
            <a:blip r:embed="rId4"/>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hthoek: afgeronde hoeken 2">
            <a:extLst>
              <a:ext uri="{FF2B5EF4-FFF2-40B4-BE49-F238E27FC236}">
                <a16:creationId xmlns:a16="http://schemas.microsoft.com/office/drawing/2014/main" id="{EB1FA893-8850-FDFB-FA14-ED482DB442D4}"/>
              </a:ext>
            </a:extLst>
          </p:cNvPr>
          <p:cNvSpPr/>
          <p:nvPr/>
        </p:nvSpPr>
        <p:spPr>
          <a:xfrm>
            <a:off x="707056" y="1619572"/>
            <a:ext cx="10649799" cy="2033233"/>
          </a:xfrm>
          <a:prstGeom prst="roundRect">
            <a:avLst>
              <a:gd name="adj" fmla="val 3438"/>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ijdelijke aanduiding voor inhoud 2">
            <a:extLst>
              <a:ext uri="{FF2B5EF4-FFF2-40B4-BE49-F238E27FC236}">
                <a16:creationId xmlns:a16="http://schemas.microsoft.com/office/drawing/2014/main" id="{F6EDDCDE-D76B-C116-3306-2D15CB82F3CB}"/>
              </a:ext>
            </a:extLst>
          </p:cNvPr>
          <p:cNvSpPr txBox="1">
            <a:spLocks/>
          </p:cNvSpPr>
          <p:nvPr/>
        </p:nvSpPr>
        <p:spPr>
          <a:xfrm>
            <a:off x="707056" y="2015430"/>
            <a:ext cx="10649799" cy="16373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sz="1100" b="0" i="0">
                <a:solidFill>
                  <a:srgbClr val="111111"/>
                </a:solidFill>
                <a:effectLst/>
              </a:rPr>
              <a:t>Een nieuw op te richten domein overstijgend en multidisciplinair team in de regio zal de regionale databeschikbaarheid via het platform realiseren. Dit team zorgt ervoor dat</a:t>
            </a:r>
            <a:r>
              <a:rPr lang="nl-NL" sz="1100"/>
              <a:t>: </a:t>
            </a:r>
          </a:p>
          <a:p>
            <a:pPr algn="l">
              <a:buFont typeface="Arial" panose="020B0604020202020204" pitchFamily="34" charset="0"/>
              <a:buChar char="•"/>
            </a:pPr>
            <a:r>
              <a:rPr lang="nl-NL" sz="1100" b="0" i="0">
                <a:solidFill>
                  <a:srgbClr val="111111"/>
                </a:solidFill>
                <a:effectLst/>
              </a:rPr>
              <a:t>De inrichting zoveel mogelijk gebruikmaakt van bestaande initiatieven zoals </a:t>
            </a:r>
            <a:r>
              <a:rPr lang="nl-NL" sz="1100" b="0" i="0" err="1">
                <a:solidFill>
                  <a:srgbClr val="111111"/>
                </a:solidFill>
                <a:effectLst/>
              </a:rPr>
              <a:t>CumuluZ</a:t>
            </a:r>
            <a:r>
              <a:rPr lang="nl-NL" sz="1100" b="0" i="0">
                <a:solidFill>
                  <a:srgbClr val="111111"/>
                </a:solidFill>
                <a:effectLst/>
              </a:rPr>
              <a:t>, Zorgviewer en </a:t>
            </a:r>
            <a:r>
              <a:rPr lang="nl-NL" sz="1100" b="0" i="0" err="1">
                <a:solidFill>
                  <a:srgbClr val="111111"/>
                </a:solidFill>
                <a:effectLst/>
              </a:rPr>
              <a:t>Digizorg</a:t>
            </a:r>
            <a:r>
              <a:rPr lang="nl-NL" sz="1100" b="0" i="0">
                <a:solidFill>
                  <a:srgbClr val="111111"/>
                </a:solidFill>
                <a:effectLst/>
              </a:rPr>
              <a:t>, en aansluit op regionale en landelijke inrichtingen en afsprakenstelsels. Ook zorgen zij voor een goede samenwerking met deze partijen.</a:t>
            </a:r>
          </a:p>
          <a:p>
            <a:pPr algn="l">
              <a:buFont typeface="Arial" panose="020B0604020202020204" pitchFamily="34" charset="0"/>
              <a:buChar char="•"/>
            </a:pPr>
            <a:r>
              <a:rPr lang="nl-NL" sz="1100" b="0" i="0">
                <a:solidFill>
                  <a:srgbClr val="111111"/>
                </a:solidFill>
                <a:effectLst/>
              </a:rPr>
              <a:t>De realisatie in goede communicatie plaatsvindt met de deelnemende partijen in de regio, met de juiste en volledige uitgangspunten en volgens de meest logische ordening.</a:t>
            </a:r>
          </a:p>
          <a:p>
            <a:pPr algn="l">
              <a:buFont typeface="Arial" panose="020B0604020202020204" pitchFamily="34" charset="0"/>
              <a:buChar char="•"/>
            </a:pPr>
            <a:r>
              <a:rPr lang="nl-NL" sz="1100" b="0" i="0">
                <a:solidFill>
                  <a:srgbClr val="111111"/>
                </a:solidFill>
                <a:effectLst/>
              </a:rPr>
              <a:t>De </a:t>
            </a:r>
            <a:r>
              <a:rPr lang="nl-NL" sz="1100" b="0" i="0" err="1">
                <a:solidFill>
                  <a:srgbClr val="111111"/>
                </a:solidFill>
                <a:effectLst/>
              </a:rPr>
              <a:t>roadmap</a:t>
            </a:r>
            <a:r>
              <a:rPr lang="nl-NL" sz="1100" b="0" i="0">
                <a:solidFill>
                  <a:srgbClr val="111111"/>
                </a:solidFill>
                <a:effectLst/>
              </a:rPr>
              <a:t> aansluit op de doelarchitectuur, mee verandert met veranderende landelijke en Europese wet- en regelgeving, en de meeste waarde voor de regio biedt.</a:t>
            </a:r>
          </a:p>
          <a:p>
            <a:pPr marL="0" indent="0">
              <a:lnSpc>
                <a:spcPct val="100000"/>
              </a:lnSpc>
              <a:spcBef>
                <a:spcPts val="600"/>
              </a:spcBef>
              <a:buNone/>
            </a:pPr>
            <a:endParaRPr lang="nl-NL" sz="1100"/>
          </a:p>
          <a:p>
            <a:pPr marL="0" indent="-108000">
              <a:lnSpc>
                <a:spcPct val="100000"/>
              </a:lnSpc>
              <a:spcBef>
                <a:spcPts val="600"/>
              </a:spcBef>
            </a:pPr>
            <a:endParaRPr lang="nl-NL" sz="1100"/>
          </a:p>
          <a:p>
            <a:endParaRPr lang="nl-NL" sz="1100"/>
          </a:p>
          <a:p>
            <a:pPr marL="0" indent="0">
              <a:buFont typeface="Arial" panose="020B0604020202020204" pitchFamily="34" charset="0"/>
              <a:buNone/>
            </a:pPr>
            <a:endParaRPr lang="en-NL" sz="1100"/>
          </a:p>
        </p:txBody>
      </p:sp>
      <p:sp>
        <p:nvSpPr>
          <p:cNvPr id="6" name="Rectangle 9">
            <a:extLst>
              <a:ext uri="{FF2B5EF4-FFF2-40B4-BE49-F238E27FC236}">
                <a16:creationId xmlns:a16="http://schemas.microsoft.com/office/drawing/2014/main" id="{1C9588BA-5779-5AE0-D966-20AC3186D36C}"/>
              </a:ext>
            </a:extLst>
          </p:cNvPr>
          <p:cNvSpPr/>
          <p:nvPr/>
        </p:nvSpPr>
        <p:spPr>
          <a:xfrm>
            <a:off x="690901" y="1577708"/>
            <a:ext cx="10665954" cy="268813"/>
          </a:xfrm>
          <a:prstGeom prst="rect">
            <a:avLst/>
          </a:prstGeom>
          <a:solidFill>
            <a:srgbClr val="ABCD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	Organisatie en inrichting platform databeschikbaarheid </a:t>
            </a:r>
            <a:endParaRPr kumimoji="0" lang="nl-NL" sz="12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7" name="Oval 11">
            <a:extLst>
              <a:ext uri="{FF2B5EF4-FFF2-40B4-BE49-F238E27FC236}">
                <a16:creationId xmlns:a16="http://schemas.microsoft.com/office/drawing/2014/main" id="{31AE0E52-ADCF-1273-0DCC-0029A6BF2EDE}"/>
              </a:ext>
            </a:extLst>
          </p:cNvPr>
          <p:cNvSpPr>
            <a:spLocks/>
          </p:cNvSpPr>
          <p:nvPr/>
        </p:nvSpPr>
        <p:spPr>
          <a:xfrm>
            <a:off x="432840" y="1386155"/>
            <a:ext cx="595329" cy="595329"/>
          </a:xfrm>
          <a:prstGeom prst="ellipse">
            <a:avLst/>
          </a:prstGeom>
          <a:solidFill>
            <a:srgbClr val="ABCD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801">
              <a:solidFill>
                <a:sysClr val="windowText" lastClr="000000"/>
              </a:solidFill>
              <a:latin typeface="+mj-lt"/>
            </a:endParaRPr>
          </a:p>
        </p:txBody>
      </p:sp>
      <p:sp>
        <p:nvSpPr>
          <p:cNvPr id="9" name="Tijdelijke aanduiding voor inhoud 1">
            <a:extLst>
              <a:ext uri="{FF2B5EF4-FFF2-40B4-BE49-F238E27FC236}">
                <a16:creationId xmlns:a16="http://schemas.microsoft.com/office/drawing/2014/main" id="{29D87154-6D6A-CC8E-81D0-220B37682E75}"/>
              </a:ext>
            </a:extLst>
          </p:cNvPr>
          <p:cNvSpPr txBox="1">
            <a:spLocks/>
          </p:cNvSpPr>
          <p:nvPr/>
        </p:nvSpPr>
        <p:spPr>
          <a:xfrm>
            <a:off x="707056" y="3793234"/>
            <a:ext cx="2586629" cy="2751065"/>
          </a:xfrm>
          <a:prstGeom prst="roundRect">
            <a:avLst/>
          </a:prstGeom>
          <a:solidFill>
            <a:srgbClr val="21BBEF"/>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sz="1100" b="1">
                <a:latin typeface="Verdana" panose="020B0604030504040204" pitchFamily="34" charset="0"/>
                <a:ea typeface="Verdana" panose="020B0604030504040204" pitchFamily="34" charset="0"/>
              </a:rPr>
              <a:t>Bestaande initiatieven </a:t>
            </a:r>
          </a:p>
          <a:p>
            <a:pPr marL="0" indent="0">
              <a:buFont typeface="Arial" panose="020B0604020202020204" pitchFamily="34" charset="0"/>
              <a:buNone/>
            </a:pPr>
            <a:r>
              <a:rPr lang="nl-NL" sz="1100">
                <a:latin typeface="Verdana" panose="020B0604030504040204" pitchFamily="34" charset="0"/>
                <a:ea typeface="Verdana" panose="020B0604030504040204" pitchFamily="34" charset="0"/>
              </a:rPr>
              <a:t>De regio wil bestaande concepten en middelen zoveel mogelijk (her)gebruiken. Bijvoorbeeld; </a:t>
            </a:r>
          </a:p>
          <a:p>
            <a:pPr>
              <a:buFontTx/>
              <a:buChar char="-"/>
            </a:pPr>
            <a:r>
              <a:rPr lang="nl-NL" sz="1100" err="1">
                <a:latin typeface="Verdana" panose="020B0604030504040204" pitchFamily="34" charset="0"/>
                <a:ea typeface="Verdana" panose="020B0604030504040204" pitchFamily="34" charset="0"/>
              </a:rPr>
              <a:t>CumuluZ</a:t>
            </a:r>
            <a:r>
              <a:rPr lang="nl-NL" sz="1100">
                <a:latin typeface="Verdana" panose="020B0604030504040204" pitchFamily="34" charset="0"/>
                <a:ea typeface="Verdana" panose="020B0604030504040204" pitchFamily="34" charset="0"/>
              </a:rPr>
              <a:t> componenten.</a:t>
            </a:r>
          </a:p>
          <a:p>
            <a:pPr>
              <a:spcBef>
                <a:spcPts val="0"/>
              </a:spcBef>
              <a:buFontTx/>
              <a:buChar char="-"/>
            </a:pPr>
            <a:r>
              <a:rPr lang="nl-NL" sz="1100">
                <a:latin typeface="Verdana" panose="020B0604030504040204" pitchFamily="34" charset="0"/>
                <a:ea typeface="Verdana" panose="020B0604030504040204" pitchFamily="34" charset="0"/>
              </a:rPr>
              <a:t>Zorgviewer. </a:t>
            </a:r>
          </a:p>
          <a:p>
            <a:pPr>
              <a:spcBef>
                <a:spcPts val="0"/>
              </a:spcBef>
              <a:buFontTx/>
              <a:buChar char="-"/>
            </a:pPr>
            <a:r>
              <a:rPr lang="nl-NL" sz="1100">
                <a:latin typeface="Verdana" panose="020B0604030504040204" pitchFamily="34" charset="0"/>
                <a:ea typeface="Verdana" panose="020B0604030504040204" pitchFamily="34" charset="0"/>
              </a:rPr>
              <a:t>Lopende trajecten voor generieke functies. </a:t>
            </a:r>
          </a:p>
          <a:p>
            <a:pPr>
              <a:spcBef>
                <a:spcPts val="0"/>
              </a:spcBef>
              <a:buFontTx/>
              <a:buChar char="-"/>
            </a:pPr>
            <a:r>
              <a:rPr lang="nl-NL" sz="1100">
                <a:latin typeface="Verdana" panose="020B0604030504040204" pitchFamily="34" charset="0"/>
                <a:ea typeface="Verdana" panose="020B0604030504040204" pitchFamily="34" charset="0"/>
              </a:rPr>
              <a:t>Zorgnetwerkomgeving HINQ. </a:t>
            </a:r>
          </a:p>
          <a:p>
            <a:pPr>
              <a:spcBef>
                <a:spcPts val="0"/>
              </a:spcBef>
              <a:buFontTx/>
              <a:buChar char="-"/>
            </a:pPr>
            <a:r>
              <a:rPr lang="nl-NL" sz="1100">
                <a:latin typeface="Verdana" panose="020B0604030504040204" pitchFamily="34" charset="0"/>
                <a:ea typeface="Verdana" panose="020B0604030504040204" pitchFamily="34" charset="0"/>
              </a:rPr>
              <a:t>Data Delen Midden-Nederland (MDO platform).</a:t>
            </a:r>
          </a:p>
          <a:p>
            <a:pPr>
              <a:spcBef>
                <a:spcPts val="0"/>
              </a:spcBef>
              <a:buFontTx/>
              <a:buChar char="-"/>
            </a:pPr>
            <a:r>
              <a:rPr lang="nl-NL" sz="1100" err="1">
                <a:latin typeface="Verdana" panose="020B0604030504040204" pitchFamily="34" charset="0"/>
                <a:ea typeface="Verdana" panose="020B0604030504040204" pitchFamily="34" charset="0"/>
              </a:rPr>
              <a:t>Digizorg</a:t>
            </a:r>
            <a:r>
              <a:rPr lang="nl-NL" sz="1100">
                <a:latin typeface="Verdana" panose="020B0604030504040204" pitchFamily="34" charset="0"/>
                <a:ea typeface="Verdana" panose="020B0604030504040204" pitchFamily="34" charset="0"/>
              </a:rPr>
              <a:t>. </a:t>
            </a:r>
          </a:p>
        </p:txBody>
      </p:sp>
      <p:sp>
        <p:nvSpPr>
          <p:cNvPr id="11" name="Tijdelijke aanduiding voor inhoud 1">
            <a:extLst>
              <a:ext uri="{FF2B5EF4-FFF2-40B4-BE49-F238E27FC236}">
                <a16:creationId xmlns:a16="http://schemas.microsoft.com/office/drawing/2014/main" id="{47F11346-A8DC-DF19-42D5-7BABB3F5A5D2}"/>
              </a:ext>
            </a:extLst>
          </p:cNvPr>
          <p:cNvSpPr txBox="1">
            <a:spLocks/>
          </p:cNvSpPr>
          <p:nvPr/>
        </p:nvSpPr>
        <p:spPr>
          <a:xfrm>
            <a:off x="3347730" y="3793233"/>
            <a:ext cx="2586629" cy="2751066"/>
          </a:xfrm>
          <a:prstGeom prst="roundRect">
            <a:avLst/>
          </a:prstGeom>
          <a:solidFill>
            <a:srgbClr val="E2F0D9"/>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sz="1100" b="1">
                <a:latin typeface="Verdana" panose="020B0604030504040204" pitchFamily="34" charset="0"/>
                <a:ea typeface="Verdana" panose="020B0604030504040204" pitchFamily="34" charset="0"/>
              </a:rPr>
              <a:t>Wet- en regelgeving </a:t>
            </a:r>
          </a:p>
          <a:p>
            <a:pPr marL="0" indent="0">
              <a:buFont typeface="Arial" panose="020B0604020202020204" pitchFamily="34" charset="0"/>
              <a:buNone/>
            </a:pPr>
            <a:r>
              <a:rPr lang="nl-NL" sz="1100">
                <a:latin typeface="Verdana" panose="020B0604030504040204" pitchFamily="34" charset="0"/>
                <a:ea typeface="Verdana" panose="020B0604030504040204" pitchFamily="34" charset="0"/>
              </a:rPr>
              <a:t>De regio neemt wetten en richtlijnen vanuit de overheid mee bij de inrichting en de </a:t>
            </a:r>
            <a:r>
              <a:rPr lang="nl-NL" sz="1100" err="1">
                <a:latin typeface="Verdana" panose="020B0604030504040204" pitchFamily="34" charset="0"/>
                <a:ea typeface="Verdana" panose="020B0604030504040204" pitchFamily="34" charset="0"/>
              </a:rPr>
              <a:t>roadmap</a:t>
            </a:r>
            <a:r>
              <a:rPr lang="nl-NL" sz="1100">
                <a:latin typeface="Verdana" panose="020B0604030504040204" pitchFamily="34" charset="0"/>
                <a:ea typeface="Verdana" panose="020B0604030504040204" pitchFamily="34" charset="0"/>
              </a:rPr>
              <a:t> van het platform, onder andere; </a:t>
            </a:r>
          </a:p>
          <a:p>
            <a:pPr>
              <a:buFontTx/>
              <a:buChar char="-"/>
            </a:pPr>
            <a:r>
              <a:rPr lang="nl-NL" sz="1100">
                <a:latin typeface="Verdana" panose="020B0604030504040204" pitchFamily="34" charset="0"/>
                <a:ea typeface="Verdana" panose="020B0604030504040204" pitchFamily="34" charset="0"/>
              </a:rPr>
              <a:t>Gebruik van </a:t>
            </a:r>
            <a:r>
              <a:rPr lang="nl-NL" sz="1100" err="1">
                <a:latin typeface="Verdana" panose="020B0604030504040204" pitchFamily="34" charset="0"/>
                <a:ea typeface="Verdana" panose="020B0604030504040204" pitchFamily="34" charset="0"/>
              </a:rPr>
              <a:t>zibs</a:t>
            </a:r>
            <a:r>
              <a:rPr lang="nl-NL" sz="1100">
                <a:latin typeface="Verdana" panose="020B0604030504040204" pitchFamily="34" charset="0"/>
                <a:ea typeface="Verdana" panose="020B0604030504040204" pitchFamily="34" charset="0"/>
              </a:rPr>
              <a:t>.</a:t>
            </a:r>
          </a:p>
          <a:p>
            <a:pPr>
              <a:spcBef>
                <a:spcPts val="0"/>
              </a:spcBef>
              <a:buFontTx/>
              <a:buChar char="-"/>
            </a:pPr>
            <a:r>
              <a:rPr lang="nl-NL" sz="1100">
                <a:latin typeface="Verdana" panose="020B0604030504040204" pitchFamily="34" charset="0"/>
                <a:ea typeface="Verdana" panose="020B0604030504040204" pitchFamily="34" charset="0"/>
              </a:rPr>
              <a:t>Richtlijnen VWS. </a:t>
            </a:r>
          </a:p>
          <a:p>
            <a:pPr>
              <a:spcBef>
                <a:spcPts val="0"/>
              </a:spcBef>
              <a:buFontTx/>
              <a:buChar char="-"/>
            </a:pPr>
            <a:r>
              <a:rPr lang="nl-NL" sz="1100" err="1">
                <a:latin typeface="Verdana" panose="020B0604030504040204" pitchFamily="34" charset="0"/>
                <a:ea typeface="Verdana" panose="020B0604030504040204" pitchFamily="34" charset="0"/>
              </a:rPr>
              <a:t>Wegiz</a:t>
            </a:r>
            <a:r>
              <a:rPr lang="nl-NL" sz="1100">
                <a:latin typeface="Verdana" panose="020B0604030504040204" pitchFamily="34" charset="0"/>
                <a:ea typeface="Verdana" panose="020B0604030504040204" pitchFamily="34" charset="0"/>
              </a:rPr>
              <a:t> gegevensstandaarden.</a:t>
            </a:r>
          </a:p>
          <a:p>
            <a:pPr>
              <a:spcBef>
                <a:spcPts val="0"/>
              </a:spcBef>
              <a:buFontTx/>
              <a:buChar char="-"/>
            </a:pPr>
            <a:r>
              <a:rPr lang="nl-NL" sz="1100">
                <a:latin typeface="Verdana" panose="020B0604030504040204" pitchFamily="34" charset="0"/>
                <a:ea typeface="Verdana" panose="020B0604030504040204" pitchFamily="34" charset="0"/>
              </a:rPr>
              <a:t>AVG (privacy). </a:t>
            </a:r>
          </a:p>
          <a:p>
            <a:pPr>
              <a:spcBef>
                <a:spcPts val="0"/>
              </a:spcBef>
              <a:buFontTx/>
              <a:buChar char="-"/>
            </a:pPr>
            <a:r>
              <a:rPr lang="nl-NL" sz="1100">
                <a:latin typeface="Verdana" panose="020B0604030504040204" pitchFamily="34" charset="0"/>
                <a:ea typeface="Verdana" panose="020B0604030504040204" pitchFamily="34" charset="0"/>
              </a:rPr>
              <a:t>EHDS (European Health Data Space)</a:t>
            </a:r>
          </a:p>
          <a:p>
            <a:pPr marL="0" indent="0">
              <a:buFont typeface="Arial" panose="020B0604020202020204" pitchFamily="34" charset="0"/>
              <a:buNone/>
            </a:pPr>
            <a:endParaRPr lang="nl-NL" sz="1100">
              <a:latin typeface="Verdana" panose="020B0604030504040204" pitchFamily="34" charset="0"/>
              <a:ea typeface="Verdana" panose="020B0604030504040204" pitchFamily="34" charset="0"/>
            </a:endParaRPr>
          </a:p>
          <a:p>
            <a:pPr marL="0" indent="0">
              <a:buFont typeface="Arial" panose="020B0604020202020204" pitchFamily="34" charset="0"/>
              <a:buNone/>
            </a:pPr>
            <a:endParaRPr lang="nl-NL" sz="1100">
              <a:latin typeface="Verdana" panose="020B0604030504040204" pitchFamily="34" charset="0"/>
              <a:ea typeface="Verdana" panose="020B0604030504040204" pitchFamily="34" charset="0"/>
            </a:endParaRPr>
          </a:p>
        </p:txBody>
      </p:sp>
      <p:sp>
        <p:nvSpPr>
          <p:cNvPr id="12" name="Tijdelijke aanduiding voor inhoud 1">
            <a:extLst>
              <a:ext uri="{FF2B5EF4-FFF2-40B4-BE49-F238E27FC236}">
                <a16:creationId xmlns:a16="http://schemas.microsoft.com/office/drawing/2014/main" id="{9D6B75A2-3CF5-0328-E5B5-C97AC8648757}"/>
              </a:ext>
            </a:extLst>
          </p:cNvPr>
          <p:cNvSpPr txBox="1">
            <a:spLocks/>
          </p:cNvSpPr>
          <p:nvPr/>
        </p:nvSpPr>
        <p:spPr>
          <a:xfrm>
            <a:off x="6023468" y="3793234"/>
            <a:ext cx="2522438" cy="2751066"/>
          </a:xfrm>
          <a:prstGeom prst="roundRect">
            <a:avLst/>
          </a:prstGeom>
          <a:solidFill>
            <a:srgbClr val="8C95CD"/>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sz="1100" b="1">
                <a:latin typeface="Verdana" panose="020B0604030504040204" pitchFamily="34" charset="0"/>
                <a:ea typeface="Verdana" panose="020B0604030504040204" pitchFamily="34" charset="0"/>
              </a:rPr>
              <a:t>Afsprakenstelsels</a:t>
            </a:r>
          </a:p>
          <a:p>
            <a:pPr marL="0" indent="0">
              <a:buFont typeface="Arial" panose="020B0604020202020204" pitchFamily="34" charset="0"/>
              <a:buNone/>
            </a:pPr>
            <a:r>
              <a:rPr lang="nl-NL" sz="1100" b="0" i="0">
                <a:solidFill>
                  <a:srgbClr val="111111"/>
                </a:solidFill>
                <a:effectLst/>
                <a:latin typeface="Verdana" panose="020B0604030504040204" pitchFamily="34" charset="0"/>
                <a:ea typeface="Verdana" panose="020B0604030504040204" pitchFamily="34" charset="0"/>
              </a:rPr>
              <a:t>De regio hanteert afsprakenstelsels om data op een veilige en betrouwbare manier uit te wisselen. Deze sets van afspraken bepalen de eisen voor gegevensuitwisseling en databeschikbaarheid  </a:t>
            </a:r>
          </a:p>
          <a:p>
            <a:pPr marL="0" indent="0">
              <a:buFont typeface="Arial" panose="020B0604020202020204" pitchFamily="34" charset="0"/>
              <a:buNone/>
            </a:pPr>
            <a:r>
              <a:rPr lang="nl-NL" sz="1100">
                <a:latin typeface="Verdana" panose="020B0604030504040204" pitchFamily="34" charset="0"/>
                <a:ea typeface="Verdana" panose="020B0604030504040204" pitchFamily="34" charset="0"/>
              </a:rPr>
              <a:t>Het </a:t>
            </a:r>
            <a:r>
              <a:rPr lang="nl-NL" sz="1100" err="1">
                <a:latin typeface="Verdana" panose="020B0604030504040204" pitchFamily="34" charset="0"/>
                <a:ea typeface="Verdana" panose="020B0604030504040204" pitchFamily="34" charset="0"/>
              </a:rPr>
              <a:t>fundamentmaakt</a:t>
            </a:r>
            <a:r>
              <a:rPr lang="nl-NL" sz="1100">
                <a:latin typeface="Verdana" panose="020B0604030504040204" pitchFamily="34" charset="0"/>
                <a:ea typeface="Verdana" panose="020B0604030504040204" pitchFamily="34" charset="0"/>
              </a:rPr>
              <a:t> gebruik van bestaande afsprakenstelsels zoals AORTA-LSP, NUTS, MedMij en </a:t>
            </a:r>
            <a:r>
              <a:rPr lang="nl-NL" sz="1100" err="1">
                <a:latin typeface="Verdana" panose="020B0604030504040204" pitchFamily="34" charset="0"/>
                <a:ea typeface="Verdana" panose="020B0604030504040204" pitchFamily="34" charset="0"/>
              </a:rPr>
              <a:t>Twiin</a:t>
            </a:r>
            <a:r>
              <a:rPr lang="nl-NL" sz="1100">
                <a:latin typeface="Verdana" panose="020B0604030504040204" pitchFamily="34" charset="0"/>
                <a:ea typeface="Verdana" panose="020B0604030504040204" pitchFamily="34" charset="0"/>
              </a:rPr>
              <a:t>. </a:t>
            </a:r>
          </a:p>
        </p:txBody>
      </p:sp>
      <p:sp>
        <p:nvSpPr>
          <p:cNvPr id="13" name="Tijdelijke aanduiding voor inhoud 1">
            <a:extLst>
              <a:ext uri="{FF2B5EF4-FFF2-40B4-BE49-F238E27FC236}">
                <a16:creationId xmlns:a16="http://schemas.microsoft.com/office/drawing/2014/main" id="{9E4026BA-F0AF-1CF1-FA00-F087132C5A97}"/>
              </a:ext>
            </a:extLst>
          </p:cNvPr>
          <p:cNvSpPr txBox="1">
            <a:spLocks/>
          </p:cNvSpPr>
          <p:nvPr/>
        </p:nvSpPr>
        <p:spPr>
          <a:xfrm>
            <a:off x="8635015" y="3793233"/>
            <a:ext cx="2586628" cy="2751065"/>
          </a:xfrm>
          <a:prstGeom prst="roundRect">
            <a:avLst/>
          </a:prstGeom>
          <a:solidFill>
            <a:srgbClr val="10B4A4"/>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nl-NL" sz="1100" b="1">
                <a:latin typeface="Verdana" panose="020B0604030504040204" pitchFamily="34" charset="0"/>
                <a:ea typeface="Verdana" panose="020B0604030504040204" pitchFamily="34" charset="0"/>
              </a:rPr>
              <a:t>Interoperabiliteit </a:t>
            </a:r>
          </a:p>
          <a:p>
            <a:pPr marL="0" indent="0">
              <a:buFont typeface="Arial" panose="020B0604020202020204" pitchFamily="34" charset="0"/>
              <a:buNone/>
            </a:pPr>
            <a:r>
              <a:rPr lang="nl-NL" sz="1100">
                <a:latin typeface="Verdana" panose="020B0604030504040204" pitchFamily="34" charset="0"/>
                <a:ea typeface="Verdana" panose="020B0604030504040204" pitchFamily="34" charset="0"/>
              </a:rPr>
              <a:t>De regio geeft vorm aan de transformatie aan de hand van het </a:t>
            </a:r>
            <a:r>
              <a:rPr lang="nl-NL" sz="1100" err="1">
                <a:latin typeface="Verdana" panose="020B0604030504040204" pitchFamily="34" charset="0"/>
                <a:ea typeface="Verdana" panose="020B0604030504040204" pitchFamily="34" charset="0"/>
              </a:rPr>
              <a:t>Nictiz</a:t>
            </a:r>
            <a:r>
              <a:rPr lang="nl-NL" sz="1100">
                <a:latin typeface="Verdana" panose="020B0604030504040204" pitchFamily="34" charset="0"/>
                <a:ea typeface="Verdana" panose="020B0604030504040204" pitchFamily="34" charset="0"/>
              </a:rPr>
              <a:t> 5-lagen model en randvoorwaarden. </a:t>
            </a:r>
            <a:br>
              <a:rPr lang="nl-NL" sz="1100">
                <a:latin typeface="Verdana" panose="020B0604030504040204" pitchFamily="34" charset="0"/>
                <a:ea typeface="Verdana" panose="020B0604030504040204" pitchFamily="34" charset="0"/>
              </a:rPr>
            </a:br>
            <a:endParaRPr lang="nl-NL" sz="1100">
              <a:latin typeface="Verdana" panose="020B0604030504040204" pitchFamily="34" charset="0"/>
              <a:ea typeface="Verdana" panose="020B0604030504040204" pitchFamily="34" charset="0"/>
            </a:endParaRPr>
          </a:p>
          <a:p>
            <a:pPr>
              <a:spcBef>
                <a:spcPts val="0"/>
              </a:spcBef>
              <a:buFontTx/>
              <a:buChar char="-"/>
            </a:pPr>
            <a:r>
              <a:rPr lang="nl-NL" sz="1100">
                <a:latin typeface="Verdana" panose="020B0604030504040204" pitchFamily="34" charset="0"/>
                <a:ea typeface="Verdana" panose="020B0604030504040204" pitchFamily="34" charset="0"/>
              </a:rPr>
              <a:t>Samenwerking organisaties</a:t>
            </a:r>
          </a:p>
          <a:p>
            <a:pPr>
              <a:spcBef>
                <a:spcPts val="0"/>
              </a:spcBef>
              <a:buFontTx/>
              <a:buChar char="-"/>
            </a:pPr>
            <a:r>
              <a:rPr lang="nl-NL" sz="1100">
                <a:latin typeface="Verdana" panose="020B0604030504040204" pitchFamily="34" charset="0"/>
                <a:ea typeface="Verdana" panose="020B0604030504040204" pitchFamily="34" charset="0"/>
              </a:rPr>
              <a:t>Samenwerking in zorgprocessen</a:t>
            </a:r>
          </a:p>
          <a:p>
            <a:pPr>
              <a:spcBef>
                <a:spcPts val="0"/>
              </a:spcBef>
              <a:buFontTx/>
              <a:buChar char="-"/>
            </a:pPr>
            <a:r>
              <a:rPr lang="nl-NL" sz="1100">
                <a:latin typeface="Verdana" panose="020B0604030504040204" pitchFamily="34" charset="0"/>
                <a:ea typeface="Verdana" panose="020B0604030504040204" pitchFamily="34" charset="0"/>
              </a:rPr>
              <a:t>Vastleggen en delen van informatie</a:t>
            </a:r>
          </a:p>
          <a:p>
            <a:pPr>
              <a:spcBef>
                <a:spcPts val="0"/>
              </a:spcBef>
              <a:buFontTx/>
              <a:buChar char="-"/>
            </a:pPr>
            <a:r>
              <a:rPr lang="nl-NL" sz="1100">
                <a:latin typeface="Verdana" panose="020B0604030504040204" pitchFamily="34" charset="0"/>
                <a:ea typeface="Verdana" panose="020B0604030504040204" pitchFamily="34" charset="0"/>
              </a:rPr>
              <a:t>Gebruik van zorginformatiesystemen</a:t>
            </a:r>
          </a:p>
          <a:p>
            <a:pPr>
              <a:spcBef>
                <a:spcPts val="0"/>
              </a:spcBef>
              <a:buFontTx/>
              <a:buChar char="-"/>
            </a:pPr>
            <a:r>
              <a:rPr lang="nl-NL" sz="1100">
                <a:latin typeface="Verdana" panose="020B0604030504040204" pitchFamily="34" charset="0"/>
                <a:ea typeface="Verdana" panose="020B0604030504040204" pitchFamily="34" charset="0"/>
              </a:rPr>
              <a:t>Technische infrastructuur </a:t>
            </a:r>
          </a:p>
          <a:p>
            <a:pPr>
              <a:spcBef>
                <a:spcPts val="0"/>
              </a:spcBef>
              <a:buFontTx/>
              <a:buChar char="-"/>
            </a:pPr>
            <a:endParaRPr lang="nl-NL" sz="1100">
              <a:latin typeface="Verdana" panose="020B0604030504040204" pitchFamily="34" charset="0"/>
              <a:ea typeface="Verdana" panose="020B0604030504040204" pitchFamily="34" charset="0"/>
            </a:endParaRPr>
          </a:p>
        </p:txBody>
      </p:sp>
      <p:pic>
        <p:nvPicPr>
          <p:cNvPr id="14" name="Graphic 13">
            <a:extLst>
              <a:ext uri="{FF2B5EF4-FFF2-40B4-BE49-F238E27FC236}">
                <a16:creationId xmlns:a16="http://schemas.microsoft.com/office/drawing/2014/main" id="{D53029DA-5330-0055-9AFA-6E0637D7F1D7}"/>
              </a:ext>
            </a:extLst>
          </p:cNvPr>
          <p:cNvPicPr>
            <a:picLocks noChangeAspect="1"/>
          </p:cNvPicPr>
          <p:nvPr>
            <p:custDataLst>
              <p:tags r:id="rId1"/>
            </p:custDataLst>
          </p:nvPr>
        </p:nvPicPr>
        <p:blipFill>
          <a:blip r:embed="rId5">
            <a:extLst>
              <a:ext uri="{96DAC541-7B7A-43D3-8B79-37D633B846F1}">
                <asvg:svgBlip xmlns:asvg="http://schemas.microsoft.com/office/drawing/2016/SVG/main" r:embed="rId6"/>
              </a:ext>
            </a:extLst>
          </a:blip>
          <a:stretch>
            <a:fillRect/>
          </a:stretch>
        </p:blipFill>
        <p:spPr>
          <a:xfrm>
            <a:off x="487560" y="1427280"/>
            <a:ext cx="485887" cy="485887"/>
          </a:xfrm>
          <a:prstGeom prst="rect">
            <a:avLst/>
          </a:prstGeom>
        </p:spPr>
      </p:pic>
      <p:sp>
        <p:nvSpPr>
          <p:cNvPr id="17" name="Rectangle 9">
            <a:extLst>
              <a:ext uri="{FF2B5EF4-FFF2-40B4-BE49-F238E27FC236}">
                <a16:creationId xmlns:a16="http://schemas.microsoft.com/office/drawing/2014/main" id="{2E8CAF11-8FAD-AB3B-10E9-7A0CF433493E}"/>
              </a:ext>
            </a:extLst>
          </p:cNvPr>
          <p:cNvSpPr/>
          <p:nvPr/>
        </p:nvSpPr>
        <p:spPr>
          <a:xfrm>
            <a:off x="585498" y="1068464"/>
            <a:ext cx="11333858" cy="3384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Een op te richten team binnen RSO </a:t>
            </a:r>
            <a:r>
              <a:rPr lang="nl-NL" sz="1200" b="1" err="1">
                <a:solidFill>
                  <a:schemeClr val="tx1"/>
                </a:solidFill>
                <a:latin typeface="Verdana" panose="020B0604030504040204" pitchFamily="34" charset="0"/>
                <a:ea typeface="Verdana" panose="020B0604030504040204" pitchFamily="34" charset="0"/>
                <a:cs typeface="HelveticaNowDisplay Bold" panose="020B0804030202020204" pitchFamily="34" charset="0"/>
              </a:rPr>
              <a:t>Trijn</a:t>
            </a:r>
            <a:r>
              <a:rPr lang="nl-NL" sz="12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 zal het platform databeschikbaarheid gestructureerd vormgeven, opzetten en uitrollen</a:t>
            </a:r>
            <a:endParaRPr kumimoji="0" lang="nl-NL" sz="1200" b="1"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10" name="Title 1">
            <a:extLst>
              <a:ext uri="{FF2B5EF4-FFF2-40B4-BE49-F238E27FC236}">
                <a16:creationId xmlns:a16="http://schemas.microsoft.com/office/drawing/2014/main" id="{5672860D-7A46-0DF1-F203-1F9ADF35402F}"/>
              </a:ext>
            </a:extLst>
          </p:cNvPr>
          <p:cNvSpPr txBox="1">
            <a:spLocks/>
          </p:cNvSpPr>
          <p:nvPr/>
        </p:nvSpPr>
        <p:spPr>
          <a:xfrm>
            <a:off x="487560" y="365126"/>
            <a:ext cx="10866241" cy="8243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NL" sz="2800" b="1">
                <a:solidFill>
                  <a:srgbClr val="8C95CD"/>
                </a:solidFill>
                <a:latin typeface="Verdana Pro" panose="020B0604030504040204" pitchFamily="34" charset="0"/>
              </a:rPr>
              <a:t>Fundament – Organisatie en inrichting</a:t>
            </a:r>
            <a:endParaRPr lang="nl-NL" sz="2800">
              <a:solidFill>
                <a:srgbClr val="8C95CD"/>
              </a:solidFill>
              <a:latin typeface="Verdana Pro" panose="020B0604030504040204" pitchFamily="34" charset="0"/>
              <a:ea typeface="Verdana" panose="020B0604030504040204" pitchFamily="34" charset="0"/>
            </a:endParaRPr>
          </a:p>
        </p:txBody>
      </p:sp>
      <p:sp>
        <p:nvSpPr>
          <p:cNvPr id="29" name="Rechthoek: afgeronde hoeken 2">
            <a:extLst>
              <a:ext uri="{FF2B5EF4-FFF2-40B4-BE49-F238E27FC236}">
                <a16:creationId xmlns:a16="http://schemas.microsoft.com/office/drawing/2014/main" id="{0E7C783C-7580-4967-0287-B51D0BADA1F4}"/>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Top Corners Rounded 38">
            <a:hlinkClick r:id="rId7" action="ppaction://hlinksldjump"/>
            <a:extLst>
              <a:ext uri="{FF2B5EF4-FFF2-40B4-BE49-F238E27FC236}">
                <a16:creationId xmlns:a16="http://schemas.microsoft.com/office/drawing/2014/main" id="{781E0628-28FE-48B7-F4C8-EB1CDFC2249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30" name="Graphic 29" descr="Introductiepagina silhouet">
            <a:hlinkClick r:id="rId8" action="ppaction://hlinksldjump"/>
            <a:extLst>
              <a:ext uri="{FF2B5EF4-FFF2-40B4-BE49-F238E27FC236}">
                <a16:creationId xmlns:a16="http://schemas.microsoft.com/office/drawing/2014/main" id="{B320FD36-8AAB-5DA2-AB7C-0320136D48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136" y="147223"/>
            <a:ext cx="144000" cy="144000"/>
          </a:xfrm>
          <a:prstGeom prst="rect">
            <a:avLst/>
          </a:prstGeom>
        </p:spPr>
      </p:pic>
      <p:sp>
        <p:nvSpPr>
          <p:cNvPr id="31" name="Rectangle: Top Corners Rounded 1">
            <a:hlinkClick r:id="rId11" action="ppaction://hlinksldjump"/>
            <a:extLst>
              <a:ext uri="{FF2B5EF4-FFF2-40B4-BE49-F238E27FC236}">
                <a16:creationId xmlns:a16="http://schemas.microsoft.com/office/drawing/2014/main" id="{C11549D7-28DD-53AC-25E8-1071E65E826B}"/>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2" name="Rectangle: Top Corners Rounded 1">
            <a:hlinkClick r:id="rId12" action="ppaction://hlinksldjump"/>
            <a:extLst>
              <a:ext uri="{FF2B5EF4-FFF2-40B4-BE49-F238E27FC236}">
                <a16:creationId xmlns:a16="http://schemas.microsoft.com/office/drawing/2014/main" id="{51CFA13D-F16C-D485-F3A4-612316E1E376}"/>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3" name="Rectangle: Top Corners Rounded 1">
            <a:hlinkClick r:id="rId13" action="ppaction://hlinksldjump"/>
            <a:extLst>
              <a:ext uri="{FF2B5EF4-FFF2-40B4-BE49-F238E27FC236}">
                <a16:creationId xmlns:a16="http://schemas.microsoft.com/office/drawing/2014/main" id="{87E71C00-7D5E-35AA-D88A-886F99203093}"/>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4" name="Rectangle: Top Corners Rounded 1">
            <a:hlinkClick r:id="rId14" action="ppaction://hlinksldjump"/>
            <a:extLst>
              <a:ext uri="{FF2B5EF4-FFF2-40B4-BE49-F238E27FC236}">
                <a16:creationId xmlns:a16="http://schemas.microsoft.com/office/drawing/2014/main" id="{CD6F78B2-DE9E-4D67-578B-C5472A26093B}"/>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5" name="Rectangle: Top Corners Rounded 1">
            <a:hlinkClick r:id="rId15" action="ppaction://hlinksldjump"/>
            <a:extLst>
              <a:ext uri="{FF2B5EF4-FFF2-40B4-BE49-F238E27FC236}">
                <a16:creationId xmlns:a16="http://schemas.microsoft.com/office/drawing/2014/main" id="{8079C481-1B4D-BC75-429A-8D9366857B31}"/>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6" name="Rectangle: Top Corners Rounded 1">
            <a:hlinkClick r:id="rId16" action="ppaction://hlinksldjump"/>
            <a:extLst>
              <a:ext uri="{FF2B5EF4-FFF2-40B4-BE49-F238E27FC236}">
                <a16:creationId xmlns:a16="http://schemas.microsoft.com/office/drawing/2014/main" id="{AB190803-1BB4-99E8-72C4-78C86744DDC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7" name="Rectangle: Top Corners Rounded 1">
            <a:hlinkClick r:id="rId17" action="ppaction://hlinksldjump"/>
            <a:extLst>
              <a:ext uri="{FF2B5EF4-FFF2-40B4-BE49-F238E27FC236}">
                <a16:creationId xmlns:a16="http://schemas.microsoft.com/office/drawing/2014/main" id="{124F9EE4-B139-40D6-8092-6ED54F3CD0A9}"/>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8" name="Rectangle: Top Corners Rounded 1">
            <a:hlinkClick r:id="rId18" action="ppaction://hlinksldjump"/>
            <a:extLst>
              <a:ext uri="{FF2B5EF4-FFF2-40B4-BE49-F238E27FC236}">
                <a16:creationId xmlns:a16="http://schemas.microsoft.com/office/drawing/2014/main" id="{CD17CD4B-6CAE-CBDA-187C-305204F33DED}"/>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9" name="Rectangle: Top Corners Rounded 1">
            <a:hlinkClick r:id="rId19" action="ppaction://hlinksldjump"/>
            <a:extLst>
              <a:ext uri="{FF2B5EF4-FFF2-40B4-BE49-F238E27FC236}">
                <a16:creationId xmlns:a16="http://schemas.microsoft.com/office/drawing/2014/main" id="{37DCD03D-6F1D-5583-2D7F-0370C548697E}"/>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0" name="Rectangle: Top Corners Rounded 1">
            <a:hlinkClick r:id="rId20" action="ppaction://hlinksldjump"/>
            <a:extLst>
              <a:ext uri="{FF2B5EF4-FFF2-40B4-BE49-F238E27FC236}">
                <a16:creationId xmlns:a16="http://schemas.microsoft.com/office/drawing/2014/main" id="{C6228348-0993-FC1E-7CDE-13E4F4C648D2}"/>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1" name="Rectangle: Top Corners Rounded 1">
            <a:hlinkClick r:id="rId21" action="ppaction://hlinksldjump"/>
            <a:extLst>
              <a:ext uri="{FF2B5EF4-FFF2-40B4-BE49-F238E27FC236}">
                <a16:creationId xmlns:a16="http://schemas.microsoft.com/office/drawing/2014/main" id="{7F386ED6-3EE9-E9B8-FC64-19E45E6EDCC9}"/>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38084689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Afbeelding 10">
            <a:extLst>
              <a:ext uri="{FF2B5EF4-FFF2-40B4-BE49-F238E27FC236}">
                <a16:creationId xmlns:a16="http://schemas.microsoft.com/office/drawing/2014/main" id="{7FC0B37A-D534-0011-26FC-5B6EC91246A7}"/>
              </a:ext>
            </a:extLst>
          </p:cNvPr>
          <p:cNvPicPr>
            <a:picLocks noChangeAspect="1"/>
          </p:cNvPicPr>
          <p:nvPr/>
        </p:nvPicPr>
        <p:blipFill>
          <a:blip r:embed="rId3"/>
          <a:stretch>
            <a:fillRect/>
          </a:stretch>
        </p:blipFill>
        <p:spPr>
          <a:xfrm>
            <a:off x="4271571" y="3653329"/>
            <a:ext cx="2220316" cy="1325563"/>
          </a:xfrm>
          <a:prstGeom prst="rect">
            <a:avLst/>
          </a:prstGeom>
        </p:spPr>
      </p:pic>
      <p:sp>
        <p:nvSpPr>
          <p:cNvPr id="13" name="Afgeronde rechthoek 21">
            <a:extLst>
              <a:ext uri="{FF2B5EF4-FFF2-40B4-BE49-F238E27FC236}">
                <a16:creationId xmlns:a16="http://schemas.microsoft.com/office/drawing/2014/main" id="{B6B00E35-A665-77B2-F6D0-47735A8802C4}"/>
              </a:ext>
            </a:extLst>
          </p:cNvPr>
          <p:cNvSpPr/>
          <p:nvPr/>
        </p:nvSpPr>
        <p:spPr>
          <a:xfrm>
            <a:off x="9209984" y="3858911"/>
            <a:ext cx="1295087" cy="914400"/>
          </a:xfrm>
          <a:prstGeom prst="roundRect">
            <a:avLst/>
          </a:prstGeom>
          <a:blipFill>
            <a:blip r:embed="rId4"/>
            <a:stretch>
              <a:fillRect l="2000" t="3000"/>
            </a:stretch>
          </a:blipFill>
          <a:ln w="53975">
            <a:solidFill>
              <a:srgbClr val="D02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hthoek: afgeronde hoeken 13">
            <a:extLst>
              <a:ext uri="{FF2B5EF4-FFF2-40B4-BE49-F238E27FC236}">
                <a16:creationId xmlns:a16="http://schemas.microsoft.com/office/drawing/2014/main" id="{9FDDDE96-F4E7-7CD6-5B6F-360E5F8418BA}"/>
              </a:ext>
            </a:extLst>
          </p:cNvPr>
          <p:cNvSpPr/>
          <p:nvPr/>
        </p:nvSpPr>
        <p:spPr>
          <a:xfrm>
            <a:off x="6366883" y="1568845"/>
            <a:ext cx="5275861" cy="394368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ijdelijke aanduiding voor inhoud 5">
            <a:extLst>
              <a:ext uri="{FF2B5EF4-FFF2-40B4-BE49-F238E27FC236}">
                <a16:creationId xmlns:a16="http://schemas.microsoft.com/office/drawing/2014/main" id="{7DDD23EB-D770-A7B5-26FC-930BD0A8744F}"/>
              </a:ext>
            </a:extLst>
          </p:cNvPr>
          <p:cNvSpPr>
            <a:spLocks noGrp="1"/>
          </p:cNvSpPr>
          <p:nvPr>
            <p:ph sz="half" idx="1"/>
          </p:nvPr>
        </p:nvSpPr>
        <p:spPr>
          <a:xfrm>
            <a:off x="6657814" y="1792217"/>
            <a:ext cx="5062847" cy="3943681"/>
          </a:xfrm>
        </p:spPr>
        <p:txBody>
          <a:bodyPr vert="horz" lIns="91440" tIns="45720" rIns="91440" bIns="45720" rtlCol="0" anchor="t">
            <a:noAutofit/>
          </a:bodyPr>
          <a:lstStyle/>
          <a:p>
            <a:pPr>
              <a:buNone/>
            </a:pPr>
            <a:r>
              <a:rPr lang="nl-NL" sz="1050" b="1" i="1">
                <a:solidFill>
                  <a:schemeClr val="tx2"/>
                </a:solidFill>
                <a:latin typeface="Verdana"/>
                <a:ea typeface="Verdana"/>
                <a:cs typeface="Helvetica"/>
              </a:rPr>
              <a:t>Belangrijkste uitgangspunten</a:t>
            </a:r>
          </a:p>
          <a:p>
            <a:r>
              <a:rPr lang="nl-NL" sz="1000">
                <a:solidFill>
                  <a:schemeClr val="tx2"/>
                </a:solidFill>
                <a:latin typeface="Verdana"/>
                <a:ea typeface="Verdana"/>
                <a:cs typeface="Helvetica"/>
              </a:rPr>
              <a:t>De inwoner heeft regie, kan zelf een dossier bijhouden en informatie beschikbaar stellen aan zijn zorgverleners.</a:t>
            </a:r>
          </a:p>
          <a:p>
            <a:r>
              <a:rPr lang="nl-NL" sz="1000">
                <a:solidFill>
                  <a:schemeClr val="tx2"/>
                </a:solidFill>
                <a:latin typeface="Verdana"/>
                <a:ea typeface="Verdana"/>
                <a:cs typeface="Helvetica"/>
              </a:rPr>
              <a:t>Zorgprofessionals worden betrokken in vernieuwingstrajecten om te borgen dat oplossingen bijdragen aan het verbeteren van werkplezier en het verlagen van werkdruk.</a:t>
            </a:r>
          </a:p>
          <a:p>
            <a:r>
              <a:rPr lang="nl-NL" sz="1000">
                <a:solidFill>
                  <a:schemeClr val="tx2"/>
                </a:solidFill>
                <a:latin typeface="Verdana"/>
                <a:ea typeface="Verdana"/>
                <a:cs typeface="Helvetica"/>
              </a:rPr>
              <a:t>We volgen digitale innovaties en maken gebruik van AI- toepassingen (kunstmatige intelligentie) waar zinvol en betrouwbaar.</a:t>
            </a:r>
          </a:p>
          <a:p>
            <a:r>
              <a:rPr lang="nl-NL" sz="1000">
                <a:solidFill>
                  <a:schemeClr val="tx2"/>
                </a:solidFill>
                <a:latin typeface="Verdana"/>
                <a:ea typeface="Verdana"/>
                <a:cs typeface="Helvetica"/>
              </a:rPr>
              <a:t>We zetten in op federatieve data beschikbaarheid waar dit mogelijk is (decentrale dataopslag met geautoriseerde toegang).</a:t>
            </a:r>
          </a:p>
          <a:p>
            <a:r>
              <a:rPr lang="nl-NL" sz="1000">
                <a:solidFill>
                  <a:schemeClr val="tx2"/>
                </a:solidFill>
                <a:latin typeface="Verdana"/>
                <a:ea typeface="Verdana"/>
                <a:cs typeface="Helvetica"/>
              </a:rPr>
              <a:t>We maken gebruik van open standaarden en landelijke richtlijnen en platformen (FHIR, </a:t>
            </a:r>
            <a:r>
              <a:rPr lang="nl-NL" sz="1000" err="1">
                <a:solidFill>
                  <a:schemeClr val="tx2"/>
                </a:solidFill>
                <a:latin typeface="Verdana"/>
                <a:ea typeface="Verdana"/>
                <a:cs typeface="Helvetica"/>
              </a:rPr>
              <a:t>OpenEHR</a:t>
            </a:r>
            <a:r>
              <a:rPr lang="nl-NL" sz="1000">
                <a:solidFill>
                  <a:schemeClr val="tx2"/>
                </a:solidFill>
                <a:latin typeface="Verdana"/>
                <a:ea typeface="Verdana"/>
                <a:cs typeface="Helvetica"/>
              </a:rPr>
              <a:t>, </a:t>
            </a:r>
            <a:r>
              <a:rPr lang="nl-NL" sz="1000" err="1">
                <a:solidFill>
                  <a:schemeClr val="tx2"/>
                </a:solidFill>
                <a:latin typeface="Verdana"/>
                <a:ea typeface="Verdana"/>
                <a:cs typeface="Helvetica"/>
              </a:rPr>
              <a:t>CumuluZ</a:t>
            </a:r>
            <a:r>
              <a:rPr lang="nl-NL" sz="1000">
                <a:solidFill>
                  <a:schemeClr val="tx2"/>
                </a:solidFill>
                <a:latin typeface="Verdana"/>
                <a:ea typeface="Verdana"/>
                <a:cs typeface="Helvetica"/>
              </a:rPr>
              <a:t>, EHDS, Nuts, </a:t>
            </a:r>
            <a:r>
              <a:rPr lang="nl-NL" sz="1000" err="1">
                <a:solidFill>
                  <a:schemeClr val="tx2"/>
                </a:solidFill>
                <a:latin typeface="Verdana"/>
                <a:ea typeface="Verdana"/>
                <a:cs typeface="Helvetica"/>
              </a:rPr>
              <a:t>MiTZ</a:t>
            </a:r>
            <a:r>
              <a:rPr lang="nl-NL" sz="1000">
                <a:solidFill>
                  <a:schemeClr val="tx2"/>
                </a:solidFill>
                <a:latin typeface="Verdana"/>
                <a:ea typeface="Verdana"/>
                <a:cs typeface="Helvetica"/>
              </a:rPr>
              <a:t>)</a:t>
            </a:r>
          </a:p>
          <a:p>
            <a:r>
              <a:rPr lang="nl-NL" sz="1000">
                <a:solidFill>
                  <a:schemeClr val="tx2"/>
                </a:solidFill>
                <a:latin typeface="Verdana"/>
                <a:ea typeface="Verdana"/>
                <a:cs typeface="Helvetica"/>
              </a:rPr>
              <a:t>Data is beschikbaar voor secundair gebruik (FAIR (vindbaar, toegankelijk, </a:t>
            </a:r>
            <a:r>
              <a:rPr lang="nl-NL" sz="1000" err="1">
                <a:solidFill>
                  <a:schemeClr val="tx2"/>
                </a:solidFill>
                <a:latin typeface="Verdana"/>
                <a:ea typeface="Verdana"/>
                <a:cs typeface="Helvetica"/>
              </a:rPr>
              <a:t>interoperabel</a:t>
            </a:r>
            <a:r>
              <a:rPr lang="nl-NL" sz="1000">
                <a:solidFill>
                  <a:schemeClr val="tx2"/>
                </a:solidFill>
                <a:latin typeface="Verdana"/>
                <a:ea typeface="Verdana"/>
                <a:cs typeface="Helvetica"/>
              </a:rPr>
              <a:t> en herbruikbaar)</a:t>
            </a:r>
          </a:p>
          <a:p>
            <a:r>
              <a:rPr lang="nl-NL" sz="1000">
                <a:solidFill>
                  <a:schemeClr val="tx2"/>
                </a:solidFill>
                <a:latin typeface="Verdana"/>
                <a:ea typeface="Verdana"/>
                <a:cs typeface="Helvetica"/>
              </a:rPr>
              <a:t>Organisaties moeten eenvoudig kunnen aanhaken.</a:t>
            </a:r>
          </a:p>
          <a:p>
            <a:r>
              <a:rPr lang="nl-NL" sz="1000">
                <a:solidFill>
                  <a:schemeClr val="tx2"/>
                </a:solidFill>
                <a:latin typeface="Verdana"/>
                <a:ea typeface="Verdana"/>
                <a:cs typeface="Helvetica"/>
              </a:rPr>
              <a:t>Elke deelnemende instelling zal een deel autonomie inleveren ten behoeve van de regionale beslissingen.</a:t>
            </a:r>
          </a:p>
          <a:p>
            <a:endParaRPr lang="nl-NL" sz="1000" i="1">
              <a:solidFill>
                <a:schemeClr val="tx2"/>
              </a:solidFill>
              <a:cs typeface="Helvetica"/>
            </a:endParaRPr>
          </a:p>
          <a:p>
            <a:pPr>
              <a:buNone/>
            </a:pPr>
            <a:endParaRPr lang="nl-NL" sz="1000">
              <a:solidFill>
                <a:schemeClr val="tx2"/>
              </a:solidFill>
              <a:cs typeface="Helvetica"/>
            </a:endParaRPr>
          </a:p>
          <a:p>
            <a:pPr>
              <a:buNone/>
            </a:pPr>
            <a:endParaRPr lang="nl-NL" sz="1000">
              <a:solidFill>
                <a:schemeClr val="tx2"/>
              </a:solidFill>
              <a:cs typeface="Calibri" panose="020F0502020204030204"/>
            </a:endParaRPr>
          </a:p>
        </p:txBody>
      </p:sp>
      <p:sp>
        <p:nvSpPr>
          <p:cNvPr id="16" name="Rechthoek: afgeronde hoeken 15">
            <a:extLst>
              <a:ext uri="{FF2B5EF4-FFF2-40B4-BE49-F238E27FC236}">
                <a16:creationId xmlns:a16="http://schemas.microsoft.com/office/drawing/2014/main" id="{01635985-75B8-9F74-3327-3BD2618DEA99}"/>
              </a:ext>
            </a:extLst>
          </p:cNvPr>
          <p:cNvSpPr/>
          <p:nvPr/>
        </p:nvSpPr>
        <p:spPr>
          <a:xfrm>
            <a:off x="471339" y="3393440"/>
            <a:ext cx="4423808" cy="2999884"/>
          </a:xfrm>
          <a:prstGeom prst="roundRect">
            <a:avLst/>
          </a:prstGeom>
          <a:solidFill>
            <a:srgbClr val="C5F0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228600" algn="l" defTabSz="914400" rtl="0" eaLnBrk="1" fontAlgn="auto" latinLnBrk="0" hangingPunct="1">
              <a:lnSpc>
                <a:spcPct val="90000"/>
              </a:lnSpc>
              <a:spcBef>
                <a:spcPts val="1000"/>
              </a:spcBef>
              <a:spcAft>
                <a:spcPts val="0"/>
              </a:spcAft>
              <a:buClrTx/>
              <a:buSzTx/>
              <a:buFontTx/>
              <a:buNone/>
              <a:tabLst/>
              <a:defRPr/>
            </a:pPr>
            <a:endParaRPr kumimoji="0" lang="nl-NL" sz="1200" b="1" i="1" u="none" strike="noStrike" kern="1200" cap="none" spc="0" normalizeH="0" baseline="0" noProof="0">
              <a:ln>
                <a:noFill/>
              </a:ln>
              <a:solidFill>
                <a:schemeClr val="tx2"/>
              </a:solidFill>
              <a:effectLst/>
              <a:uLnTx/>
              <a:uFillTx/>
              <a:latin typeface="Verdana"/>
              <a:ea typeface="Verdana"/>
              <a:cs typeface="Helvetica"/>
            </a:endParaRPr>
          </a:p>
          <a:p>
            <a:pPr marL="0" marR="0" lvl="0" indent="-228600" algn="l" defTabSz="914400" rtl="0" eaLnBrk="1" fontAlgn="auto" latinLnBrk="0" hangingPunct="1">
              <a:lnSpc>
                <a:spcPct val="90000"/>
              </a:lnSpc>
              <a:spcBef>
                <a:spcPts val="1000"/>
              </a:spcBef>
              <a:spcAft>
                <a:spcPts val="0"/>
              </a:spcAft>
              <a:buClrTx/>
              <a:buSzTx/>
              <a:buFontTx/>
              <a:buNone/>
              <a:tabLst/>
              <a:defRPr/>
            </a:pPr>
            <a:r>
              <a:rPr kumimoji="0" lang="nl-NL" sz="1200" b="1" i="1" u="none" strike="noStrike" kern="1200" cap="none" spc="0" normalizeH="0" baseline="0" noProof="0">
                <a:ln>
                  <a:noFill/>
                </a:ln>
                <a:solidFill>
                  <a:schemeClr val="tx2"/>
                </a:solidFill>
                <a:effectLst/>
                <a:uLnTx/>
                <a:uFillTx/>
                <a:latin typeface="Verdana"/>
                <a:ea typeface="Verdana"/>
                <a:cs typeface="Helvetica"/>
              </a:rPr>
              <a:t>Leidende principes</a:t>
            </a:r>
            <a:endParaRPr kumimoji="0" lang="nl-NL" sz="2800" b="1" i="1" u="none" strike="noStrike" kern="1200" cap="none" spc="0" normalizeH="0" baseline="0" noProof="0">
              <a:ln>
                <a:noFill/>
              </a:ln>
              <a:solidFill>
                <a:schemeClr val="tx2"/>
              </a:solidFill>
              <a:effectLst/>
              <a:uLnTx/>
              <a:uFillTx/>
              <a:latin typeface="Verdana"/>
              <a:ea typeface="Verdana"/>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schemeClr val="tx2"/>
                </a:solidFill>
                <a:effectLst/>
                <a:uLnTx/>
                <a:uFillTx/>
                <a:latin typeface="Verdana"/>
                <a:ea typeface="Verdana"/>
                <a:cs typeface="Helvetica"/>
              </a:rPr>
              <a:t>Gezamenlijke applicaties sluiten aan </a:t>
            </a:r>
            <a:r>
              <a:rPr kumimoji="0" lang="nl-NL" sz="1000" b="0" i="0" u="none" strike="noStrike" kern="1200" cap="none" spc="0" normalizeH="0" noProof="0">
                <a:ln>
                  <a:noFill/>
                </a:ln>
                <a:solidFill>
                  <a:schemeClr val="tx2"/>
                </a:solidFill>
                <a:effectLst/>
                <a:uLnTx/>
                <a:uFillTx/>
                <a:latin typeface="Verdana"/>
                <a:ea typeface="Verdana"/>
                <a:cs typeface="Helvetica"/>
              </a:rPr>
              <a:t>op h</a:t>
            </a:r>
            <a:r>
              <a:rPr kumimoji="0" lang="nl-NL" sz="1000" b="0" i="0" u="none" strike="noStrike" kern="1200" cap="none" spc="0" normalizeH="0" baseline="0" noProof="0">
                <a:ln>
                  <a:noFill/>
                </a:ln>
                <a:solidFill>
                  <a:schemeClr val="tx2"/>
                </a:solidFill>
                <a:effectLst/>
                <a:uLnTx/>
                <a:uFillTx/>
                <a:latin typeface="Verdana"/>
                <a:ea typeface="Verdana"/>
                <a:cs typeface="Helvetica"/>
              </a:rPr>
              <a:t>et regionale</a:t>
            </a:r>
            <a:r>
              <a:rPr kumimoji="0" lang="nl-NL" sz="1000" b="0" i="0" u="none" strike="noStrike" kern="1200" cap="none" spc="0" normalizeH="0" noProof="0">
                <a:ln>
                  <a:noFill/>
                </a:ln>
                <a:solidFill>
                  <a:schemeClr val="tx2"/>
                </a:solidFill>
                <a:effectLst/>
                <a:uLnTx/>
                <a:uFillTx/>
                <a:latin typeface="Verdana"/>
                <a:ea typeface="Verdana"/>
                <a:cs typeface="Helvetica"/>
              </a:rPr>
              <a:t> dataplatform</a:t>
            </a:r>
            <a:r>
              <a:rPr kumimoji="0" lang="nl-NL" sz="1000" b="0" i="0" u="none" strike="noStrike" kern="1200" cap="none" spc="0" normalizeH="0" baseline="0" noProof="0">
                <a:ln>
                  <a:noFill/>
                </a:ln>
                <a:solidFill>
                  <a:schemeClr val="tx2"/>
                </a:solidFill>
                <a:effectLst/>
                <a:uLnTx/>
                <a:uFillTx/>
                <a:latin typeface="Verdana"/>
                <a:ea typeface="Verdana"/>
                <a:cs typeface="Helvetica"/>
              </a:rPr>
              <a:t> en bieden meerwaarde voor inwoners</a:t>
            </a:r>
            <a:r>
              <a:rPr kumimoji="0" lang="nl-NL" sz="1000" b="0" i="0" u="none" strike="noStrike" kern="1200" cap="none" spc="0" normalizeH="0" noProof="0">
                <a:ln>
                  <a:noFill/>
                </a:ln>
                <a:solidFill>
                  <a:schemeClr val="tx2"/>
                </a:solidFill>
                <a:effectLst/>
                <a:uLnTx/>
                <a:uFillTx/>
                <a:latin typeface="Verdana"/>
                <a:ea typeface="Verdana"/>
                <a:cs typeface="Helvetica"/>
              </a:rPr>
              <a:t> en/of zorgverleners</a:t>
            </a:r>
            <a:endParaRPr lang="nl-NL" sz="1000" b="0" i="0" u="none" strike="noStrike" kern="1200" cap="none" spc="0" normalizeH="0" noProof="0">
              <a:ln>
                <a:noFill/>
              </a:ln>
              <a:solidFill>
                <a:schemeClr val="tx2"/>
              </a:solidFill>
              <a:effectLst/>
              <a:uLnTx/>
              <a:uFillTx/>
              <a:latin typeface="Verdana"/>
              <a:ea typeface="Verdana"/>
              <a:cs typeface="Helvetica"/>
            </a:endParaRPr>
          </a:p>
          <a:p>
            <a:pPr marL="171450" indent="-171450">
              <a:lnSpc>
                <a:spcPct val="90000"/>
              </a:lnSpc>
              <a:spcBef>
                <a:spcPts val="1000"/>
              </a:spcBef>
              <a:buFont typeface="Arial" panose="020B0604020202020204" pitchFamily="34" charset="0"/>
              <a:buChar char="•"/>
              <a:defRPr/>
            </a:pPr>
            <a:r>
              <a:rPr lang="nl-NL" sz="1000">
                <a:solidFill>
                  <a:schemeClr val="tx2"/>
                </a:solidFill>
                <a:latin typeface="Verdana"/>
                <a:ea typeface="Verdana"/>
                <a:cs typeface="Helvetica"/>
              </a:rPr>
              <a:t>We delen relevante informatie en maken deze beschikbaar voor alle betrokkenen in het zorgnetwerk van een inwoner en voor de inwoner zelf, mits er toestemming van de inwoner is. </a:t>
            </a:r>
          </a:p>
          <a:p>
            <a:pPr marL="171450" indent="-171450">
              <a:lnSpc>
                <a:spcPct val="90000"/>
              </a:lnSpc>
              <a:spcBef>
                <a:spcPts val="1000"/>
              </a:spcBef>
              <a:buFont typeface="Arial" panose="020B0604020202020204" pitchFamily="34" charset="0"/>
              <a:buChar char="•"/>
              <a:defRPr/>
            </a:pPr>
            <a:r>
              <a:rPr lang="nl-NL" sz="1000">
                <a:solidFill>
                  <a:schemeClr val="tx2"/>
                </a:solidFill>
                <a:latin typeface="Verdana"/>
                <a:ea typeface="Verdana"/>
                <a:cs typeface="Helvetica"/>
              </a:rPr>
              <a:t>We sluiten aan op landelijke ontwikkelingen: generiek als uitgangspunt en specifiek waar strikt noodzakelijk</a:t>
            </a: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nl-NL" sz="1000" b="0" i="0" u="none" strike="noStrike" kern="1200" cap="none" spc="0" normalizeH="0" baseline="0" noProof="0">
                <a:ln>
                  <a:noFill/>
                </a:ln>
                <a:solidFill>
                  <a:schemeClr val="tx2"/>
                </a:solidFill>
                <a:effectLst/>
                <a:uLnTx/>
                <a:uFillTx/>
                <a:latin typeface="Verdana"/>
                <a:ea typeface="Verdana"/>
                <a:cs typeface="Helvetica"/>
              </a:rPr>
              <a:t>Oplossingen zijn veilig </a:t>
            </a:r>
            <a:endParaRPr lang="nl-NL" sz="1000" b="0" i="0" u="none" strike="noStrike" kern="1200" cap="none" spc="0" normalizeH="0" baseline="0" noProof="0">
              <a:ln>
                <a:noFill/>
              </a:ln>
              <a:solidFill>
                <a:schemeClr val="tx2"/>
              </a:solidFill>
              <a:effectLst/>
              <a:uLnTx/>
              <a:uFillTx/>
              <a:latin typeface="Verdana"/>
              <a:ea typeface="Verdana"/>
              <a:cs typeface="Helvetica"/>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nl-NL" sz="1000" noProof="0">
                <a:solidFill>
                  <a:schemeClr val="tx2"/>
                </a:solidFill>
                <a:latin typeface="Verdana"/>
                <a:ea typeface="Verdana"/>
                <a:cs typeface="Helvetica"/>
              </a:rPr>
              <a:t>Oplossingen zijn </a:t>
            </a:r>
            <a:r>
              <a:rPr kumimoji="0" lang="nl-NL" sz="1000" b="0" i="0" u="none" strike="noStrike" kern="1200" cap="none" spc="0" normalizeH="0" baseline="0" noProof="0">
                <a:ln>
                  <a:noFill/>
                </a:ln>
                <a:solidFill>
                  <a:schemeClr val="tx2"/>
                </a:solidFill>
                <a:effectLst/>
                <a:uLnTx/>
                <a:uFillTx/>
                <a:latin typeface="Verdana"/>
                <a:ea typeface="Verdana"/>
                <a:cs typeface="Helvetica"/>
              </a:rPr>
              <a:t>duurzaam en toekomstbestendig (flexibel en schaalbaar)</a:t>
            </a:r>
            <a:endParaRPr lang="nl-NL" sz="1000" b="0" i="0" u="none" strike="noStrike" kern="1200" cap="none" spc="0" normalizeH="0" baseline="0" noProof="0">
              <a:ln>
                <a:noFill/>
              </a:ln>
              <a:solidFill>
                <a:schemeClr val="tx2"/>
              </a:solidFill>
              <a:effectLst/>
              <a:uLnTx/>
              <a:uFillTx/>
              <a:latin typeface="Verdana"/>
              <a:ea typeface="Verdana"/>
              <a:cs typeface="Helvetica"/>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nl-NL" sz="1000">
                <a:solidFill>
                  <a:schemeClr val="tx2"/>
                </a:solidFill>
                <a:latin typeface="Verdana"/>
                <a:ea typeface="Verdana"/>
                <a:cs typeface="Helvetica"/>
              </a:rPr>
              <a:t>Oplossingen zijn beheersbaar en gestandaardiseerd</a:t>
            </a:r>
          </a:p>
          <a:p>
            <a:pPr marL="0" marR="0" lvl="0" indent="-228600" algn="l" defTabSz="914400" rtl="0" eaLnBrk="1" fontAlgn="auto" latinLnBrk="0" hangingPunct="1">
              <a:lnSpc>
                <a:spcPct val="90000"/>
              </a:lnSpc>
              <a:spcBef>
                <a:spcPts val="1000"/>
              </a:spcBef>
              <a:spcAft>
                <a:spcPts val="0"/>
              </a:spcAft>
              <a:buClrTx/>
              <a:buSzTx/>
              <a:buFontTx/>
              <a:buNone/>
              <a:tabLst/>
              <a:defRPr/>
            </a:pPr>
            <a:endParaRPr kumimoji="0" lang="nl-NL" sz="1000" b="0" i="1" u="none" strike="noStrike" kern="1200" cap="none" spc="0" normalizeH="0" baseline="0" noProof="0">
              <a:ln>
                <a:noFill/>
              </a:ln>
              <a:solidFill>
                <a:schemeClr val="tx2"/>
              </a:solidFill>
              <a:effectLst/>
              <a:uLnTx/>
              <a:uFillTx/>
              <a:latin typeface="Verdana" panose="020B0604030504040204" pitchFamily="34" charset="0"/>
              <a:ea typeface="Verdana" panose="020B0604030504040204" pitchFamily="34" charset="0"/>
              <a:cs typeface="Helvetica"/>
            </a:endParaRPr>
          </a:p>
        </p:txBody>
      </p:sp>
      <p:sp>
        <p:nvSpPr>
          <p:cNvPr id="17" name="Tekstvak 16">
            <a:extLst>
              <a:ext uri="{FF2B5EF4-FFF2-40B4-BE49-F238E27FC236}">
                <a16:creationId xmlns:a16="http://schemas.microsoft.com/office/drawing/2014/main" id="{ECAC08CE-D880-821D-0B5C-3AECD66F9DF6}"/>
              </a:ext>
            </a:extLst>
          </p:cNvPr>
          <p:cNvSpPr txBox="1"/>
          <p:nvPr/>
        </p:nvSpPr>
        <p:spPr>
          <a:xfrm>
            <a:off x="454645" y="1568845"/>
            <a:ext cx="5912236"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nl-NL" sz="1100">
                <a:latin typeface="Verdana"/>
                <a:ea typeface="Verdana"/>
                <a:cs typeface="Helvetica"/>
              </a:rPr>
              <a:t>De visie van de </a:t>
            </a:r>
            <a:r>
              <a:rPr lang="nl-NL" sz="1100" err="1">
                <a:latin typeface="Verdana"/>
                <a:ea typeface="Verdana"/>
                <a:cs typeface="Helvetica"/>
              </a:rPr>
              <a:t>Trijn</a:t>
            </a:r>
            <a:r>
              <a:rPr lang="nl-NL" sz="1100">
                <a:latin typeface="Verdana"/>
                <a:ea typeface="Verdana"/>
                <a:cs typeface="Helvetica"/>
              </a:rPr>
              <a:t> voor de regio Midden Nederland is dat alle partijen betrokken bij de gezondheid, zorg en het welzijn van inwoners digitaal en </a:t>
            </a:r>
            <a:r>
              <a:rPr lang="nl-NL" sz="1100" err="1">
                <a:latin typeface="Verdana"/>
                <a:ea typeface="Verdana"/>
                <a:cs typeface="Helvetica"/>
              </a:rPr>
              <a:t>datagedreven</a:t>
            </a:r>
            <a:r>
              <a:rPr lang="nl-NL" sz="1100">
                <a:latin typeface="Verdana"/>
                <a:ea typeface="Verdana"/>
                <a:cs typeface="Helvetica"/>
              </a:rPr>
              <a:t> met </a:t>
            </a:r>
            <a:r>
              <a:rPr lang="nl-NL" sz="1000">
                <a:latin typeface="Verdana"/>
                <a:ea typeface="Verdana"/>
                <a:cs typeface="Helvetica"/>
              </a:rPr>
              <a:t>elkaar</a:t>
            </a:r>
            <a:r>
              <a:rPr lang="nl-NL" sz="1100">
                <a:latin typeface="Verdana"/>
                <a:ea typeface="Verdana"/>
                <a:cs typeface="Helvetica"/>
              </a:rPr>
              <a:t> samenwerken. We leveren met elkaar netwerkzorg naar behoefte in steeds wisselende samenstellingen. Daarvoor is het nodig dat de juiste informatie beschikbaar en inzichtelijk is en dat men naar nut en noodzaak datacomponenten kan overhalen naar de eigen systemen. We moeten de huidige situatie waarin zorgverleners vaak cruciale informatie missen voorkomen. Daarvoor zullen we in de regio met elkaar een generiek fundament, een regionaal dataplatform realiseren en waar mogelijk gezamenlijke applicaties daarop aansluiten.</a:t>
            </a:r>
            <a:endParaRPr kumimoji="0" lang="nl-NL" sz="1100" b="0" i="0" u="none" strike="noStrike" kern="1200" cap="none" spc="0" normalizeH="0" baseline="0" noProof="0">
              <a:ln>
                <a:noFill/>
              </a:ln>
              <a:effectLst/>
              <a:uLnTx/>
              <a:uFillTx/>
              <a:latin typeface="Verdana"/>
              <a:ea typeface="Verdana"/>
              <a:cs typeface="Helvetica"/>
            </a:endParaRPr>
          </a:p>
        </p:txBody>
      </p:sp>
      <p:sp>
        <p:nvSpPr>
          <p:cNvPr id="23" name="Rectangle 9">
            <a:extLst>
              <a:ext uri="{FF2B5EF4-FFF2-40B4-BE49-F238E27FC236}">
                <a16:creationId xmlns:a16="http://schemas.microsoft.com/office/drawing/2014/main" id="{0BFB91A3-1EE4-943D-5550-F1EDA9428C29}"/>
              </a:ext>
            </a:extLst>
          </p:cNvPr>
          <p:cNvSpPr/>
          <p:nvPr/>
        </p:nvSpPr>
        <p:spPr>
          <a:xfrm>
            <a:off x="471339" y="1141534"/>
            <a:ext cx="11196000" cy="3384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Het fundament wordt ingericht en gerealiseerd gebaseerd op regionale leidende principes en uitgangspunten. </a:t>
            </a:r>
            <a:endParaRPr kumimoji="0" lang="nl-NL" sz="1400" b="1"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2" name="Title 1">
            <a:extLst>
              <a:ext uri="{FF2B5EF4-FFF2-40B4-BE49-F238E27FC236}">
                <a16:creationId xmlns:a16="http://schemas.microsoft.com/office/drawing/2014/main" id="{4BC6BF29-ED1C-E941-79F0-7E3891A3D027}"/>
              </a:ext>
            </a:extLst>
          </p:cNvPr>
          <p:cNvSpPr txBox="1">
            <a:spLocks/>
          </p:cNvSpPr>
          <p:nvPr/>
        </p:nvSpPr>
        <p:spPr>
          <a:xfrm>
            <a:off x="471339" y="365126"/>
            <a:ext cx="10882461" cy="8243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NL" sz="2800" b="1">
                <a:solidFill>
                  <a:srgbClr val="8C95CD"/>
                </a:solidFill>
                <a:latin typeface="Verdana Pro" panose="020B0604030504040204" pitchFamily="34" charset="0"/>
              </a:rPr>
              <a:t>Uitgangspunten en leidende principes</a:t>
            </a:r>
            <a:endParaRPr lang="nl-NL" sz="2800">
              <a:solidFill>
                <a:srgbClr val="8C95CD"/>
              </a:solidFill>
              <a:latin typeface="Verdana Pro" panose="020B0604030504040204" pitchFamily="34" charset="0"/>
              <a:ea typeface="Verdana" panose="020B0604030504040204" pitchFamily="34" charset="0"/>
            </a:endParaRPr>
          </a:p>
        </p:txBody>
      </p:sp>
      <p:sp>
        <p:nvSpPr>
          <p:cNvPr id="3" name="Rechthoek: afgeronde hoeken 2">
            <a:extLst>
              <a:ext uri="{FF2B5EF4-FFF2-40B4-BE49-F238E27FC236}">
                <a16:creationId xmlns:a16="http://schemas.microsoft.com/office/drawing/2014/main" id="{701DF7F1-F9BF-92CA-DDAA-063A171CB944}"/>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24" name="Rectangle: Top Corners Rounded 38">
            <a:hlinkClick r:id="rId5" action="ppaction://hlinksldjump"/>
            <a:extLst>
              <a:ext uri="{FF2B5EF4-FFF2-40B4-BE49-F238E27FC236}">
                <a16:creationId xmlns:a16="http://schemas.microsoft.com/office/drawing/2014/main" id="{1AE9C8DC-5ED6-57B4-4051-038DFB76BC9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25" name="Graphic 24" descr="Introductiepagina silhouet">
            <a:hlinkClick r:id="rId6" action="ppaction://hlinksldjump"/>
            <a:extLst>
              <a:ext uri="{FF2B5EF4-FFF2-40B4-BE49-F238E27FC236}">
                <a16:creationId xmlns:a16="http://schemas.microsoft.com/office/drawing/2014/main" id="{4F8FDEF4-64F0-B4A8-4355-BC1271ECA6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26" name="Rectangle: Top Corners Rounded 1">
            <a:hlinkClick r:id="rId9" action="ppaction://hlinksldjump"/>
            <a:extLst>
              <a:ext uri="{FF2B5EF4-FFF2-40B4-BE49-F238E27FC236}">
                <a16:creationId xmlns:a16="http://schemas.microsoft.com/office/drawing/2014/main" id="{557B5E24-43EA-6D21-AFF2-8EC5B0C41188}"/>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7" name="Rectangle: Top Corners Rounded 1">
            <a:hlinkClick r:id="rId10" action="ppaction://hlinksldjump"/>
            <a:extLst>
              <a:ext uri="{FF2B5EF4-FFF2-40B4-BE49-F238E27FC236}">
                <a16:creationId xmlns:a16="http://schemas.microsoft.com/office/drawing/2014/main" id="{0D778AB0-DB50-8A67-6AA6-367DB9F21B6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8" name="Rectangle: Top Corners Rounded 1">
            <a:hlinkClick r:id="rId11" action="ppaction://hlinksldjump"/>
            <a:extLst>
              <a:ext uri="{FF2B5EF4-FFF2-40B4-BE49-F238E27FC236}">
                <a16:creationId xmlns:a16="http://schemas.microsoft.com/office/drawing/2014/main" id="{AF2992D2-12DE-44E3-FE26-0E971D098F16}"/>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9" name="Rectangle: Top Corners Rounded 1">
            <a:hlinkClick r:id="rId12" action="ppaction://hlinksldjump"/>
            <a:extLst>
              <a:ext uri="{FF2B5EF4-FFF2-40B4-BE49-F238E27FC236}">
                <a16:creationId xmlns:a16="http://schemas.microsoft.com/office/drawing/2014/main" id="{8A4E4885-D8C8-0185-D078-3D9092F8EAE6}"/>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0" name="Rectangle: Top Corners Rounded 1">
            <a:hlinkClick r:id="rId13" action="ppaction://hlinksldjump"/>
            <a:extLst>
              <a:ext uri="{FF2B5EF4-FFF2-40B4-BE49-F238E27FC236}">
                <a16:creationId xmlns:a16="http://schemas.microsoft.com/office/drawing/2014/main" id="{679D4F14-26AA-5861-1CF6-F937F543516E}"/>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1" name="Rectangle: Top Corners Rounded 1">
            <a:hlinkClick r:id="rId14" action="ppaction://hlinksldjump"/>
            <a:extLst>
              <a:ext uri="{FF2B5EF4-FFF2-40B4-BE49-F238E27FC236}">
                <a16:creationId xmlns:a16="http://schemas.microsoft.com/office/drawing/2014/main" id="{DF9684DA-A920-0A2F-4049-AFF8D16F984D}"/>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2" name="Rectangle: Top Corners Rounded 1">
            <a:hlinkClick r:id="rId15" action="ppaction://hlinksldjump"/>
            <a:extLst>
              <a:ext uri="{FF2B5EF4-FFF2-40B4-BE49-F238E27FC236}">
                <a16:creationId xmlns:a16="http://schemas.microsoft.com/office/drawing/2014/main" id="{514E4082-0BCC-A544-1766-291C41C75EEB}"/>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3" name="Rectangle: Top Corners Rounded 1">
            <a:hlinkClick r:id="rId16" action="ppaction://hlinksldjump"/>
            <a:extLst>
              <a:ext uri="{FF2B5EF4-FFF2-40B4-BE49-F238E27FC236}">
                <a16:creationId xmlns:a16="http://schemas.microsoft.com/office/drawing/2014/main" id="{59C895C4-A4AF-358A-B476-9C2A1930548D}"/>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4" name="Rectangle: Top Corners Rounded 1">
            <a:hlinkClick r:id="rId17" action="ppaction://hlinksldjump"/>
            <a:extLst>
              <a:ext uri="{FF2B5EF4-FFF2-40B4-BE49-F238E27FC236}">
                <a16:creationId xmlns:a16="http://schemas.microsoft.com/office/drawing/2014/main" id="{81B76B0D-32DE-4ABF-E6F5-2D7755C6B6A3}"/>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5" name="Rectangle: Top Corners Rounded 1">
            <a:hlinkClick r:id="rId18" action="ppaction://hlinksldjump"/>
            <a:extLst>
              <a:ext uri="{FF2B5EF4-FFF2-40B4-BE49-F238E27FC236}">
                <a16:creationId xmlns:a16="http://schemas.microsoft.com/office/drawing/2014/main" id="{67A36AEB-C807-6ED0-81E9-D0E1996369B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6" name="Rectangle: Top Corners Rounded 1">
            <a:hlinkClick r:id="rId19" action="ppaction://hlinksldjump"/>
            <a:extLst>
              <a:ext uri="{FF2B5EF4-FFF2-40B4-BE49-F238E27FC236}">
                <a16:creationId xmlns:a16="http://schemas.microsoft.com/office/drawing/2014/main" id="{6A5F08A3-644B-737C-75E2-924BB5900D39}"/>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Tree>
    <p:extLst>
      <p:ext uri="{BB962C8B-B14F-4D97-AF65-F5344CB8AC3E}">
        <p14:creationId xmlns:p14="http://schemas.microsoft.com/office/powerpoint/2010/main" val="39502625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9AEC36BD-2A11-90B1-170F-9A2663C8B944}"/>
              </a:ext>
            </a:extLst>
          </p:cNvPr>
          <p:cNvSpPr>
            <a:spLocks noGrp="1"/>
          </p:cNvSpPr>
          <p:nvPr>
            <p:ph idx="1"/>
          </p:nvPr>
        </p:nvSpPr>
        <p:spPr>
          <a:xfrm>
            <a:off x="471338" y="1626669"/>
            <a:ext cx="10992349" cy="5026131"/>
          </a:xfrm>
        </p:spPr>
        <p:txBody>
          <a:bodyPr vert="horz" lIns="91440" tIns="45720" rIns="91440" bIns="45720" rtlCol="0" anchor="t">
            <a:noAutofit/>
          </a:bodyPr>
          <a:lstStyle/>
          <a:p>
            <a:pPr marL="0" indent="0">
              <a:spcBef>
                <a:spcPts val="0"/>
              </a:spcBef>
              <a:spcAft>
                <a:spcPts val="1200"/>
              </a:spcAft>
              <a:buNone/>
            </a:pPr>
            <a:r>
              <a:rPr lang="nl-NL" sz="1200"/>
              <a:t>Brede beschikbaarheid van medische- en gezondheidsgegevens over de grenzen van de instellingen heen is essentieel om zorg effectief en efficiënt te kunnen leveren in het netwerk rondom de inwoner. Die brede beschikbaarheid geeft mogelijkheden om de zorg te transformeren, maar is ook belangrijk voor de sociale basis en voor secundair gebruik (onderzoek). </a:t>
            </a:r>
          </a:p>
          <a:p>
            <a:pPr marL="0" indent="0">
              <a:spcBef>
                <a:spcPts val="0"/>
              </a:spcBef>
              <a:spcAft>
                <a:spcPts val="1200"/>
              </a:spcAft>
              <a:buNone/>
            </a:pPr>
            <a:r>
              <a:rPr lang="nl-NL" sz="1200"/>
              <a:t>De beschikbaarheid van gegevens wordt op dit moment voor een belangrijk deel vormgegeven door het </a:t>
            </a:r>
            <a:r>
              <a:rPr lang="nl-NL" sz="1200" u="sng"/>
              <a:t>uitwisselen</a:t>
            </a:r>
            <a:r>
              <a:rPr lang="nl-NL" sz="1200"/>
              <a:t> van gegevens. Dit betreft altijd een volledige set aan gegevens en een momentopgave tussen twee partijen. Landelijk vindt een beweging plaats van gegevensuitwisseling naar actuele databeschikbaarheid, waarbij de data in de bronnen blijft en geïntegreerd wordt aangeboden in een toepassing (b.v. een viewer). Deze mogelijkheden komen binnen handbereik door initiatieven zoals Zorgviewer (voor zorgverleners) en </a:t>
            </a:r>
            <a:r>
              <a:rPr lang="nl-NL" sz="1200" err="1"/>
              <a:t>Digizorg</a:t>
            </a:r>
            <a:r>
              <a:rPr lang="nl-NL" sz="1200"/>
              <a:t> (voor inwoners). Dit zijn toepassingen die aangesloten zijn op een data- en </a:t>
            </a:r>
            <a:r>
              <a:rPr lang="nl-NL" sz="1200" err="1"/>
              <a:t>integratielaag</a:t>
            </a:r>
            <a:r>
              <a:rPr lang="nl-NL" sz="1200"/>
              <a:t> die zijn gestoeld op de </a:t>
            </a:r>
            <a:r>
              <a:rPr lang="nl-NL" sz="1200" err="1"/>
              <a:t>CumuluZ</a:t>
            </a:r>
            <a:r>
              <a:rPr lang="nl-NL" sz="1200"/>
              <a:t>-architectuur. </a:t>
            </a:r>
          </a:p>
          <a:p>
            <a:pPr marL="0" indent="0">
              <a:spcBef>
                <a:spcPts val="0"/>
              </a:spcBef>
              <a:spcAft>
                <a:spcPts val="1200"/>
              </a:spcAft>
              <a:buNone/>
            </a:pPr>
            <a:r>
              <a:rPr lang="nl-NL" sz="1200"/>
              <a:t>Het Regionaal Platform Databeschikbaarheid wordt een ‘</a:t>
            </a:r>
            <a:r>
              <a:rPr lang="nl-NL" sz="1200" err="1"/>
              <a:t>CumuluZ</a:t>
            </a:r>
            <a:r>
              <a:rPr lang="nl-NL" sz="1200"/>
              <a:t>-hub’ dat onderdeel wordt van het LDN (Landelijk Dekkend Netwerk). De realisatie van dit platform moet nog starten en zal naar verwachting de komende twee jaar relatief weinig waarde kunnen toevoegen aan de </a:t>
            </a:r>
            <a:r>
              <a:rPr lang="nl-NL" sz="1200" err="1"/>
              <a:t>use</a:t>
            </a:r>
            <a:r>
              <a:rPr lang="nl-NL" sz="1200"/>
              <a:t> case ‘Multidisciplinaire inzage’ of de opgave uit </a:t>
            </a:r>
            <a:r>
              <a:rPr lang="nl-NL" sz="1200" err="1"/>
              <a:t>Wegiz</a:t>
            </a:r>
            <a:r>
              <a:rPr lang="nl-NL" sz="1200"/>
              <a:t>. Daarom is er gekozen om een </a:t>
            </a:r>
            <a:r>
              <a:rPr lang="nl-NL" sz="1200" u="sng"/>
              <a:t>tijdelijk</a:t>
            </a:r>
            <a:r>
              <a:rPr lang="nl-NL" sz="1200"/>
              <a:t> platform voor databeschikbaarheid te realiseren, gebaseerd op voorzieningen die al in de regio worden gebruikt. </a:t>
            </a:r>
          </a:p>
          <a:p>
            <a:pPr marL="0" indent="0">
              <a:spcBef>
                <a:spcPts val="0"/>
              </a:spcBef>
              <a:spcAft>
                <a:spcPts val="1200"/>
              </a:spcAft>
              <a:buNone/>
            </a:pPr>
            <a:r>
              <a:rPr lang="nl-NL" sz="1200"/>
              <a:t>De voorzieningen die al in gebruik zijn in de regio zijn het ZNO van </a:t>
            </a:r>
            <a:r>
              <a:rPr lang="nl-NL" sz="1200" err="1"/>
              <a:t>HinQ</a:t>
            </a:r>
            <a:r>
              <a:rPr lang="nl-NL" sz="1200"/>
              <a:t> (</a:t>
            </a:r>
            <a:r>
              <a:rPr lang="nl-NL" sz="1200" err="1"/>
              <a:t>BabyConnect</a:t>
            </a:r>
            <a:r>
              <a:rPr lang="nl-NL" sz="1200"/>
              <a:t> / Praktijkbeproeving) of </a:t>
            </a:r>
            <a:r>
              <a:rPr lang="nl-NL" sz="1200" err="1"/>
              <a:t>Vitaly</a:t>
            </a:r>
            <a:r>
              <a:rPr lang="nl-NL" sz="1200"/>
              <a:t> (Data Delen Midden Nederland ter ondersteuning van oncologische </a:t>
            </a:r>
            <a:r>
              <a:rPr lang="nl-NL" sz="1200" err="1"/>
              <a:t>MDO’s</a:t>
            </a:r>
            <a:r>
              <a:rPr lang="nl-NL" sz="1200"/>
              <a:t>). Dit wordt in dit plan de ‘Tijdelijke oplossing’ genoemd. </a:t>
            </a:r>
          </a:p>
          <a:p>
            <a:pPr marL="0" indent="0">
              <a:spcBef>
                <a:spcPts val="0"/>
              </a:spcBef>
              <a:buNone/>
            </a:pPr>
            <a:r>
              <a:rPr lang="nl-NL" sz="1200"/>
              <a:t>De tijdelijke oplossing wordt op korte termijn gerealiseerd om op de </a:t>
            </a:r>
            <a:r>
              <a:rPr lang="nl-NL" sz="1200" err="1"/>
              <a:t>use</a:t>
            </a:r>
            <a:r>
              <a:rPr lang="nl-NL" sz="1200"/>
              <a:t> case ‘Multidisciplinaire inzage’ te ondersteunen (zie ook slide </a:t>
            </a:r>
            <a:r>
              <a:rPr lang="nl-NL" sz="1200">
                <a:highlight>
                  <a:srgbClr val="FFFF00"/>
                </a:highlight>
              </a:rPr>
              <a:t>xx</a:t>
            </a:r>
            <a:r>
              <a:rPr lang="nl-NL" sz="1200"/>
              <a:t>). Parallel wordt het regionale platform databeschikbaarheid ontwikkeld. Op het moment dat het regionale platform </a:t>
            </a:r>
            <a:r>
              <a:rPr lang="nl-NL" sz="1200" err="1"/>
              <a:t>capabilities</a:t>
            </a:r>
            <a:r>
              <a:rPr lang="nl-NL" sz="1200"/>
              <a:t> van de tijdelijke oplossing kan overnemen, dan worden deze </a:t>
            </a:r>
            <a:r>
              <a:rPr lang="nl-NL" sz="1200" err="1"/>
              <a:t>capabilities</a:t>
            </a:r>
            <a:r>
              <a:rPr lang="nl-NL" sz="1200"/>
              <a:t> overgezet. Zo wordt de tijdelijke oplossing gefaseerd afgebouwd. </a:t>
            </a:r>
          </a:p>
        </p:txBody>
      </p:sp>
      <p:sp>
        <p:nvSpPr>
          <p:cNvPr id="4" name="Rectangle: Top Corners Rounded 38">
            <a:hlinkClick r:id="rId3" action="ppaction://hlinksldjump"/>
            <a:extLst>
              <a:ext uri="{FF2B5EF4-FFF2-40B4-BE49-F238E27FC236}">
                <a16:creationId xmlns:a16="http://schemas.microsoft.com/office/drawing/2014/main" id="{653B3106-C2C4-3FD8-8EA3-F7E499C807F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4" action="ppaction://hlinksldjump"/>
            <a:extLst>
              <a:ext uri="{FF2B5EF4-FFF2-40B4-BE49-F238E27FC236}">
                <a16:creationId xmlns:a16="http://schemas.microsoft.com/office/drawing/2014/main" id="{7EFFB1EF-35BD-738B-B8D5-0B5B4EBFFF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6" name="Rectangle: Top Corners Rounded 1">
            <a:hlinkClick r:id="rId7" action="ppaction://hlinksldjump"/>
            <a:extLst>
              <a:ext uri="{FF2B5EF4-FFF2-40B4-BE49-F238E27FC236}">
                <a16:creationId xmlns:a16="http://schemas.microsoft.com/office/drawing/2014/main" id="{FB47548D-BDAA-55BE-253C-6788F6719F23}"/>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8" action="ppaction://hlinksldjump"/>
            <a:extLst>
              <a:ext uri="{FF2B5EF4-FFF2-40B4-BE49-F238E27FC236}">
                <a16:creationId xmlns:a16="http://schemas.microsoft.com/office/drawing/2014/main" id="{3BF7DADC-718E-1FCA-D088-EE3FC26A0B5C}"/>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8" name="Rectangle: Top Corners Rounded 1">
            <a:hlinkClick r:id="rId9" action="ppaction://hlinksldjump"/>
            <a:extLst>
              <a:ext uri="{FF2B5EF4-FFF2-40B4-BE49-F238E27FC236}">
                <a16:creationId xmlns:a16="http://schemas.microsoft.com/office/drawing/2014/main" id="{8739768D-5A04-B0E3-E800-F01C19454D66}"/>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9" name="Rectangle: Top Corners Rounded 1">
            <a:hlinkClick r:id="rId10" action="ppaction://hlinksldjump"/>
            <a:extLst>
              <a:ext uri="{FF2B5EF4-FFF2-40B4-BE49-F238E27FC236}">
                <a16:creationId xmlns:a16="http://schemas.microsoft.com/office/drawing/2014/main" id="{8003CA43-EC32-8D76-FF10-FD7BFC4F38A2}"/>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0" name="Rectangle: Top Corners Rounded 1">
            <a:hlinkClick r:id="rId11" action="ppaction://hlinksldjump"/>
            <a:extLst>
              <a:ext uri="{FF2B5EF4-FFF2-40B4-BE49-F238E27FC236}">
                <a16:creationId xmlns:a16="http://schemas.microsoft.com/office/drawing/2014/main" id="{B1EB0BFA-671F-E55A-314E-2151364B1E45}"/>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1" name="Rectangle: Top Corners Rounded 1">
            <a:hlinkClick r:id="rId12" action="ppaction://hlinksldjump"/>
            <a:extLst>
              <a:ext uri="{FF2B5EF4-FFF2-40B4-BE49-F238E27FC236}">
                <a16:creationId xmlns:a16="http://schemas.microsoft.com/office/drawing/2014/main" id="{93FAAEB4-607D-8C13-B8C8-22978B50CEB4}"/>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2" name="Rectangle: Top Corners Rounded 1">
            <a:hlinkClick r:id="rId13" action="ppaction://hlinksldjump"/>
            <a:extLst>
              <a:ext uri="{FF2B5EF4-FFF2-40B4-BE49-F238E27FC236}">
                <a16:creationId xmlns:a16="http://schemas.microsoft.com/office/drawing/2014/main" id="{FF747064-4D48-A3B4-A71E-F8C37ACBC0FE}"/>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3" name="Rectangle: Top Corners Rounded 1">
            <a:hlinkClick r:id="rId14" action="ppaction://hlinksldjump"/>
            <a:extLst>
              <a:ext uri="{FF2B5EF4-FFF2-40B4-BE49-F238E27FC236}">
                <a16:creationId xmlns:a16="http://schemas.microsoft.com/office/drawing/2014/main" id="{CA3B6DDC-A9E6-398D-E5F8-57583AC4F978}"/>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4" name="Rectangle: Top Corners Rounded 1">
            <a:hlinkClick r:id="rId15" action="ppaction://hlinksldjump"/>
            <a:extLst>
              <a:ext uri="{FF2B5EF4-FFF2-40B4-BE49-F238E27FC236}">
                <a16:creationId xmlns:a16="http://schemas.microsoft.com/office/drawing/2014/main" id="{5C875FFE-0D50-D134-711C-225B8DE9295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5" name="Rectangle: Top Corners Rounded 1">
            <a:hlinkClick r:id="rId16" action="ppaction://hlinksldjump"/>
            <a:extLst>
              <a:ext uri="{FF2B5EF4-FFF2-40B4-BE49-F238E27FC236}">
                <a16:creationId xmlns:a16="http://schemas.microsoft.com/office/drawing/2014/main" id="{4669270F-CF71-1BEA-80CC-81CB2926395C}"/>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6" name="Rectangle: Top Corners Rounded 1">
            <a:hlinkClick r:id="rId17" action="ppaction://hlinksldjump"/>
            <a:extLst>
              <a:ext uri="{FF2B5EF4-FFF2-40B4-BE49-F238E27FC236}">
                <a16:creationId xmlns:a16="http://schemas.microsoft.com/office/drawing/2014/main" id="{D965AFAE-DF1A-D6CF-C332-E121AFC272BE}"/>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
        <p:nvSpPr>
          <p:cNvPr id="21" name="Rectangle 9">
            <a:extLst>
              <a:ext uri="{FF2B5EF4-FFF2-40B4-BE49-F238E27FC236}">
                <a16:creationId xmlns:a16="http://schemas.microsoft.com/office/drawing/2014/main" id="{45AF938D-8EDF-03AB-9CFC-E2739D7BC327}"/>
              </a:ext>
            </a:extLst>
          </p:cNvPr>
          <p:cNvSpPr/>
          <p:nvPr/>
        </p:nvSpPr>
        <p:spPr>
          <a:xfrm>
            <a:off x="471339" y="1141534"/>
            <a:ext cx="11196000" cy="3384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Databeschikbaarheid wordt eerst verbeterd met een tijdelijke oplossing en gefaseerd overgezet naar het regionaal platform databeschikbaarheid</a:t>
            </a:r>
            <a:endParaRPr kumimoji="0" lang="nl-NL" sz="1400" b="1"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22" name="Title 1">
            <a:extLst>
              <a:ext uri="{FF2B5EF4-FFF2-40B4-BE49-F238E27FC236}">
                <a16:creationId xmlns:a16="http://schemas.microsoft.com/office/drawing/2014/main" id="{F3DFF9FD-1C2D-2CFA-921A-37E9E11B2C17}"/>
              </a:ext>
            </a:extLst>
          </p:cNvPr>
          <p:cNvSpPr txBox="1">
            <a:spLocks/>
          </p:cNvSpPr>
          <p:nvPr/>
        </p:nvSpPr>
        <p:spPr>
          <a:xfrm>
            <a:off x="471339" y="365126"/>
            <a:ext cx="10882461" cy="8243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NL" sz="2800" b="1">
                <a:solidFill>
                  <a:srgbClr val="8C95CD"/>
                </a:solidFill>
                <a:latin typeface="Verdana Pro" panose="020B0604030504040204" pitchFamily="34" charset="0"/>
              </a:rPr>
              <a:t>Regionale route verbetering databeschikbaarheid </a:t>
            </a:r>
            <a:endParaRPr lang="nl-NL" sz="2800">
              <a:solidFill>
                <a:srgbClr val="8C95CD"/>
              </a:solidFill>
              <a:latin typeface="Verdana Pro" panose="020B0604030504040204" pitchFamily="34" charset="0"/>
              <a:ea typeface="Verdana" panose="020B0604030504040204" pitchFamily="34" charset="0"/>
            </a:endParaRPr>
          </a:p>
        </p:txBody>
      </p:sp>
      <p:sp>
        <p:nvSpPr>
          <p:cNvPr id="23" name="Rechthoek: afgeronde hoeken 22">
            <a:extLst>
              <a:ext uri="{FF2B5EF4-FFF2-40B4-BE49-F238E27FC236}">
                <a16:creationId xmlns:a16="http://schemas.microsoft.com/office/drawing/2014/main" id="{EF3E0246-F979-8535-CDEC-32772DB11D7B}"/>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165724915"/>
      </p:ext>
    </p:extLst>
  </p:cSld>
  <p:clrMapOvr>
    <a:masterClrMapping/>
  </p:clrMapOvr>
  <p:extLst>
    <p:ext uri="{6950BFC3-D8DA-4A85-94F7-54DA5524770B}">
      <p188:commentRel xmlns:p188="http://schemas.microsoft.com/office/powerpoint/2018/8/main" r:id="rId2"/>
    </p:ext>
  </p:extLs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D238-48DA-F65E-9218-C07D83BAC583}"/>
            </a:ext>
          </a:extLst>
        </p:cNvPr>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5F527C23-97E5-6B1F-E1A1-3CE37F75E4E6}"/>
              </a:ext>
            </a:extLst>
          </p:cNvPr>
          <p:cNvSpPr>
            <a:spLocks noGrp="1"/>
          </p:cNvSpPr>
          <p:nvPr>
            <p:ph idx="1"/>
          </p:nvPr>
        </p:nvSpPr>
        <p:spPr>
          <a:xfrm>
            <a:off x="476102" y="1889598"/>
            <a:ext cx="4549820" cy="1754326"/>
          </a:xfrm>
        </p:spPr>
        <p:txBody>
          <a:bodyPr vert="horz" wrap="square" lIns="91440" tIns="45720" rIns="91440" bIns="45720" rtlCol="0" anchor="t">
            <a:spAutoFit/>
          </a:bodyPr>
          <a:lstStyle/>
          <a:p>
            <a:pPr marL="0" indent="0" algn="just">
              <a:spcBef>
                <a:spcPts val="0"/>
              </a:spcBef>
              <a:spcAft>
                <a:spcPts val="600"/>
              </a:spcAft>
              <a:buNone/>
            </a:pPr>
            <a:r>
              <a:rPr lang="nl-NL" sz="1200"/>
              <a:t>In de regio Utrecht is het UMCU gestart met de ontwikkeling van de HDSU (Health </a:t>
            </a:r>
            <a:r>
              <a:rPr lang="nl-NL" sz="1200" err="1"/>
              <a:t>Dataspace</a:t>
            </a:r>
            <a:r>
              <a:rPr lang="nl-NL" sz="1200"/>
              <a:t> Utrecht). Dit wordt de regionale implementatie van </a:t>
            </a:r>
            <a:r>
              <a:rPr lang="nl-NL" sz="1200" err="1"/>
              <a:t>HealthRI</a:t>
            </a:r>
            <a:r>
              <a:rPr lang="nl-NL" sz="1200"/>
              <a:t> (Health Research </a:t>
            </a:r>
            <a:r>
              <a:rPr lang="nl-NL" sz="1200" err="1"/>
              <a:t>Infrastructure</a:t>
            </a:r>
            <a:r>
              <a:rPr lang="nl-NL" sz="1200"/>
              <a:t>), volgend uit de EHDS-verordening. Het doel is om onderzoekers, zorgverleners, beleidsmakers en innovators onder vergunning toegang te bieden tot (gecombineerde of gekoppelde) gezondheidsdata voor onderzoek, innovatie en beleidsvorming en -monitoring.</a:t>
            </a:r>
          </a:p>
        </p:txBody>
      </p:sp>
      <p:pic>
        <p:nvPicPr>
          <p:cNvPr id="1026" name="Picture 2">
            <a:extLst>
              <a:ext uri="{FF2B5EF4-FFF2-40B4-BE49-F238E27FC236}">
                <a16:creationId xmlns:a16="http://schemas.microsoft.com/office/drawing/2014/main" id="{DB10DA55-5D26-CF00-8AA8-091D8171E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5564" y="2258386"/>
            <a:ext cx="5984289" cy="27710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8BF3FFB-ACD1-1B11-ACD8-E0331E3C215F}"/>
              </a:ext>
            </a:extLst>
          </p:cNvPr>
          <p:cNvSpPr txBox="1"/>
          <p:nvPr/>
        </p:nvSpPr>
        <p:spPr>
          <a:xfrm>
            <a:off x="495766" y="3778258"/>
            <a:ext cx="4530156" cy="2176750"/>
          </a:xfrm>
          <a:prstGeom prst="rect">
            <a:avLst/>
          </a:prstGeom>
          <a:noFill/>
        </p:spPr>
        <p:txBody>
          <a:bodyPr wrap="square">
            <a:spAutoFit/>
          </a:bodyPr>
          <a:lstStyle/>
          <a:p>
            <a:pPr marL="0" indent="0" algn="just">
              <a:lnSpc>
                <a:spcPct val="114000"/>
              </a:lnSpc>
              <a:spcBef>
                <a:spcPts val="0"/>
              </a:spcBef>
              <a:buNone/>
            </a:pPr>
            <a:r>
              <a:rPr lang="nl-NL" sz="1200">
                <a:latin typeface="Verdana" panose="020B0604030504040204" pitchFamily="34" charset="0"/>
                <a:ea typeface="Verdana" panose="020B0604030504040204" pitchFamily="34" charset="0"/>
              </a:rPr>
              <a:t>Het Regionaal Platform Databeschikbaarheid én HDSU dienen allebei data beschikbaar te maken. Voor het RPD gaat het om data van één inwoner; voor de HDSU gaat het om data van een selectie van inwoners/patiënten. Het doel is verschillend, maar in beide gevallen gaat het om het beschikbaar maken van data. Idealiter maken beide programma’s gebruik van dezelfde basisinfrastructuur. Tijdens de ontwikkeling van het Regionale Platform Databeschikbaarheid en de HDSU wordt gekeken hoe gezamenlijk op te trekken. </a:t>
            </a:r>
          </a:p>
        </p:txBody>
      </p:sp>
      <p:sp>
        <p:nvSpPr>
          <p:cNvPr id="4" name="Rectangle 3">
            <a:extLst>
              <a:ext uri="{FF2B5EF4-FFF2-40B4-BE49-F238E27FC236}">
                <a16:creationId xmlns:a16="http://schemas.microsoft.com/office/drawing/2014/main" id="{8E57C1EA-FDDC-052B-A380-81FE5FFCF73D}"/>
              </a:ext>
            </a:extLst>
          </p:cNvPr>
          <p:cNvSpPr/>
          <p:nvPr/>
        </p:nvSpPr>
        <p:spPr>
          <a:xfrm>
            <a:off x="5306792" y="2147988"/>
            <a:ext cx="3174701" cy="3046885"/>
          </a:xfrm>
          <a:prstGeom prst="rect">
            <a:avLst/>
          </a:prstGeom>
          <a:noFill/>
          <a:ln w="28575">
            <a:solidFill>
              <a:srgbClr val="8C95CD"/>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LID4096"/>
          </a:p>
        </p:txBody>
      </p:sp>
      <p:sp>
        <p:nvSpPr>
          <p:cNvPr id="7" name="TextBox 6">
            <a:extLst>
              <a:ext uri="{FF2B5EF4-FFF2-40B4-BE49-F238E27FC236}">
                <a16:creationId xmlns:a16="http://schemas.microsoft.com/office/drawing/2014/main" id="{21BA94F5-800F-6A1D-BD1E-15DE74392AC5}"/>
              </a:ext>
            </a:extLst>
          </p:cNvPr>
          <p:cNvSpPr txBox="1"/>
          <p:nvPr/>
        </p:nvSpPr>
        <p:spPr>
          <a:xfrm>
            <a:off x="5403569" y="5213920"/>
            <a:ext cx="3373120" cy="307777"/>
          </a:xfrm>
          <a:prstGeom prst="rect">
            <a:avLst/>
          </a:prstGeom>
          <a:noFill/>
        </p:spPr>
        <p:txBody>
          <a:bodyPr wrap="square" lIns="0">
            <a:spAutoFit/>
          </a:bodyPr>
          <a:lstStyle/>
          <a:p>
            <a:r>
              <a:rPr lang="nl-NL" sz="1400" b="1">
                <a:latin typeface="Aptos" panose="020B0004020202020204" pitchFamily="34" charset="0"/>
              </a:rPr>
              <a:t>Scope transformatieaanvraag</a:t>
            </a:r>
            <a:endParaRPr lang="LID4096" sz="1400" b="1"/>
          </a:p>
        </p:txBody>
      </p:sp>
      <p:sp>
        <p:nvSpPr>
          <p:cNvPr id="8" name="Rectangle: Top Corners Rounded 38">
            <a:hlinkClick r:id="rId5" action="ppaction://hlinksldjump"/>
            <a:extLst>
              <a:ext uri="{FF2B5EF4-FFF2-40B4-BE49-F238E27FC236}">
                <a16:creationId xmlns:a16="http://schemas.microsoft.com/office/drawing/2014/main" id="{9FCED5DD-D362-3E24-43B9-18FAD63C91C5}"/>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9" name="Graphic 8" descr="Introductiepagina silhouet">
            <a:hlinkClick r:id="rId6" action="ppaction://hlinksldjump"/>
            <a:extLst>
              <a:ext uri="{FF2B5EF4-FFF2-40B4-BE49-F238E27FC236}">
                <a16:creationId xmlns:a16="http://schemas.microsoft.com/office/drawing/2014/main" id="{4F92CFE1-609B-BAEE-514F-D28124281B6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10" name="Rectangle: Top Corners Rounded 1">
            <a:hlinkClick r:id="rId9" action="ppaction://hlinksldjump"/>
            <a:extLst>
              <a:ext uri="{FF2B5EF4-FFF2-40B4-BE49-F238E27FC236}">
                <a16:creationId xmlns:a16="http://schemas.microsoft.com/office/drawing/2014/main" id="{D714432C-7BDD-4EFB-7DBE-2B7B5659F0C8}"/>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1" name="Rectangle: Top Corners Rounded 1">
            <a:hlinkClick r:id="rId10" action="ppaction://hlinksldjump"/>
            <a:extLst>
              <a:ext uri="{FF2B5EF4-FFF2-40B4-BE49-F238E27FC236}">
                <a16:creationId xmlns:a16="http://schemas.microsoft.com/office/drawing/2014/main" id="{963C009F-9CF4-07F7-4C00-D21D8C871D13}"/>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2" name="Rectangle: Top Corners Rounded 1">
            <a:hlinkClick r:id="rId11" action="ppaction://hlinksldjump"/>
            <a:extLst>
              <a:ext uri="{FF2B5EF4-FFF2-40B4-BE49-F238E27FC236}">
                <a16:creationId xmlns:a16="http://schemas.microsoft.com/office/drawing/2014/main" id="{90208623-28C6-B685-1211-53648C594E7D}"/>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3" name="Rectangle: Top Corners Rounded 1">
            <a:hlinkClick r:id="rId12" action="ppaction://hlinksldjump"/>
            <a:extLst>
              <a:ext uri="{FF2B5EF4-FFF2-40B4-BE49-F238E27FC236}">
                <a16:creationId xmlns:a16="http://schemas.microsoft.com/office/drawing/2014/main" id="{A18FC18D-D859-01F7-AF62-2BFD2834CB7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4" name="Rectangle: Top Corners Rounded 1">
            <a:hlinkClick r:id="rId13" action="ppaction://hlinksldjump"/>
            <a:extLst>
              <a:ext uri="{FF2B5EF4-FFF2-40B4-BE49-F238E27FC236}">
                <a16:creationId xmlns:a16="http://schemas.microsoft.com/office/drawing/2014/main" id="{F700A00E-A8A9-3CDB-CD54-8EF5186F4186}"/>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5" name="Rectangle: Top Corners Rounded 1">
            <a:hlinkClick r:id="rId14" action="ppaction://hlinksldjump"/>
            <a:extLst>
              <a:ext uri="{FF2B5EF4-FFF2-40B4-BE49-F238E27FC236}">
                <a16:creationId xmlns:a16="http://schemas.microsoft.com/office/drawing/2014/main" id="{12D4C75D-2AFF-D6D0-A5AD-5460E51985F6}"/>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6" name="Rectangle: Top Corners Rounded 1">
            <a:hlinkClick r:id="rId15" action="ppaction://hlinksldjump"/>
            <a:extLst>
              <a:ext uri="{FF2B5EF4-FFF2-40B4-BE49-F238E27FC236}">
                <a16:creationId xmlns:a16="http://schemas.microsoft.com/office/drawing/2014/main" id="{A6649832-3224-82CC-E04A-5429F5337C8E}"/>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7" name="Rectangle: Top Corners Rounded 1">
            <a:hlinkClick r:id="rId16" action="ppaction://hlinksldjump"/>
            <a:extLst>
              <a:ext uri="{FF2B5EF4-FFF2-40B4-BE49-F238E27FC236}">
                <a16:creationId xmlns:a16="http://schemas.microsoft.com/office/drawing/2014/main" id="{3041261C-457C-1EB8-3266-75CBCACB3267}"/>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8" name="Rectangle: Top Corners Rounded 1">
            <a:hlinkClick r:id="rId17" action="ppaction://hlinksldjump"/>
            <a:extLst>
              <a:ext uri="{FF2B5EF4-FFF2-40B4-BE49-F238E27FC236}">
                <a16:creationId xmlns:a16="http://schemas.microsoft.com/office/drawing/2014/main" id="{E46531C1-8E1E-4682-B194-AE174723615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9" name="Rectangle: Top Corners Rounded 1">
            <a:hlinkClick r:id="rId18" action="ppaction://hlinksldjump"/>
            <a:extLst>
              <a:ext uri="{FF2B5EF4-FFF2-40B4-BE49-F238E27FC236}">
                <a16:creationId xmlns:a16="http://schemas.microsoft.com/office/drawing/2014/main" id="{BF99E7BE-318E-638E-F813-99DC4059F771}"/>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0" name="Rectangle: Top Corners Rounded 1">
            <a:hlinkClick r:id="rId19" action="ppaction://hlinksldjump"/>
            <a:extLst>
              <a:ext uri="{FF2B5EF4-FFF2-40B4-BE49-F238E27FC236}">
                <a16:creationId xmlns:a16="http://schemas.microsoft.com/office/drawing/2014/main" id="{B7DA3585-786A-60EE-FB6D-014D734987C8}"/>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
        <p:nvSpPr>
          <p:cNvPr id="25" name="Rectangle 9">
            <a:extLst>
              <a:ext uri="{FF2B5EF4-FFF2-40B4-BE49-F238E27FC236}">
                <a16:creationId xmlns:a16="http://schemas.microsoft.com/office/drawing/2014/main" id="{C860B0A4-7D91-40D5-BC92-03EC3D0D968A}"/>
              </a:ext>
            </a:extLst>
          </p:cNvPr>
          <p:cNvSpPr/>
          <p:nvPr/>
        </p:nvSpPr>
        <p:spPr>
          <a:xfrm>
            <a:off x="471339" y="1141534"/>
            <a:ext cx="11196000" cy="3384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HelveticaNowDisplay Bold" panose="020B0804030202020204" pitchFamily="34" charset="0"/>
              </a:rPr>
              <a:t>Waar het kan zal de infrastructurele onderlaag in de gemeenschappelijkheid met de HDSU ingericht worden</a:t>
            </a:r>
          </a:p>
        </p:txBody>
      </p:sp>
      <p:sp>
        <p:nvSpPr>
          <p:cNvPr id="26" name="Title 1">
            <a:extLst>
              <a:ext uri="{FF2B5EF4-FFF2-40B4-BE49-F238E27FC236}">
                <a16:creationId xmlns:a16="http://schemas.microsoft.com/office/drawing/2014/main" id="{99E446B8-6F3D-CE58-694E-D26FAC903F1D}"/>
              </a:ext>
            </a:extLst>
          </p:cNvPr>
          <p:cNvSpPr txBox="1">
            <a:spLocks/>
          </p:cNvSpPr>
          <p:nvPr/>
        </p:nvSpPr>
        <p:spPr>
          <a:xfrm>
            <a:off x="471339" y="365126"/>
            <a:ext cx="10882461" cy="8243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NL" sz="2800" b="1">
                <a:solidFill>
                  <a:srgbClr val="8C95CD"/>
                </a:solidFill>
                <a:latin typeface="Verdana Pro"/>
              </a:rPr>
              <a:t>Regionaal Platform Databeschikbaarheid (RPD)en Health Data Space Utrecht (HDSU) </a:t>
            </a:r>
            <a:endParaRPr lang="nl-NL" sz="2800">
              <a:solidFill>
                <a:srgbClr val="8C95CD"/>
              </a:solidFill>
              <a:latin typeface="Verdana Pro"/>
              <a:ea typeface="Verdana" panose="020B0604030504040204" pitchFamily="34" charset="0"/>
            </a:endParaRPr>
          </a:p>
        </p:txBody>
      </p:sp>
      <p:sp>
        <p:nvSpPr>
          <p:cNvPr id="27" name="Rechthoek: afgeronde hoeken 26">
            <a:extLst>
              <a:ext uri="{FF2B5EF4-FFF2-40B4-BE49-F238E27FC236}">
                <a16:creationId xmlns:a16="http://schemas.microsoft.com/office/drawing/2014/main" id="{01562EDA-4FFD-37A7-5D59-EB54D4747D5F}"/>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28" name="Tekstvak 27">
            <a:extLst>
              <a:ext uri="{FF2B5EF4-FFF2-40B4-BE49-F238E27FC236}">
                <a16:creationId xmlns:a16="http://schemas.microsoft.com/office/drawing/2014/main" id="{E4AAC8E0-7139-81BD-48F3-10505B84B9DB}"/>
              </a:ext>
            </a:extLst>
          </p:cNvPr>
          <p:cNvSpPr txBox="1"/>
          <p:nvPr/>
        </p:nvSpPr>
        <p:spPr>
          <a:xfrm>
            <a:off x="478379" y="1576645"/>
            <a:ext cx="3982064" cy="307777"/>
          </a:xfrm>
          <a:prstGeom prst="rect">
            <a:avLst/>
          </a:prstGeom>
          <a:noFill/>
        </p:spPr>
        <p:txBody>
          <a:bodyPr wrap="square" rtlCol="0">
            <a:spAutoFit/>
          </a:bodyPr>
          <a:lstStyle/>
          <a:p>
            <a:r>
              <a:rPr lang="nl-NL" sz="1400" b="1">
                <a:latin typeface="Verdana" panose="020B0604030504040204" pitchFamily="34" charset="0"/>
                <a:ea typeface="Verdana" panose="020B0604030504040204" pitchFamily="34" charset="0"/>
              </a:rPr>
              <a:t>Regionaal platform VS. HDSU</a:t>
            </a:r>
            <a:endParaRPr lang="en-NL" sz="1400" b="1">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66874292"/>
      </p:ext>
    </p:extLst>
  </p:cSld>
  <p:clrMapOvr>
    <a:masterClrMapping/>
  </p:clrMapOvr>
  <p:extLst>
    <p:ext uri="{6950BFC3-D8DA-4A85-94F7-54DA5524770B}">
      <p188:commentRel xmlns:p188="http://schemas.microsoft.com/office/powerpoint/2018/8/main" r:id="rId3"/>
    </p:ext>
  </p:extLs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4CEE-0FBF-5B3F-307F-BC6410A2F3C9}"/>
            </a:ext>
          </a:extLst>
        </p:cNvPr>
        <p:cNvGrpSpPr/>
        <p:nvPr/>
      </p:nvGrpSpPr>
      <p:grpSpPr>
        <a:xfrm>
          <a:off x="0" y="0"/>
          <a:ext cx="0" cy="0"/>
          <a:chOff x="0" y="0"/>
          <a:chExt cx="0" cy="0"/>
        </a:xfrm>
      </p:grpSpPr>
      <p:sp>
        <p:nvSpPr>
          <p:cNvPr id="90" name="Rectangle 89">
            <a:extLst>
              <a:ext uri="{FF2B5EF4-FFF2-40B4-BE49-F238E27FC236}">
                <a16:creationId xmlns:a16="http://schemas.microsoft.com/office/drawing/2014/main" id="{74C3DCA6-7834-4360-1793-F4660FE903CB}"/>
              </a:ext>
            </a:extLst>
          </p:cNvPr>
          <p:cNvSpPr/>
          <p:nvPr/>
        </p:nvSpPr>
        <p:spPr>
          <a:xfrm>
            <a:off x="-8709" y="-10184"/>
            <a:ext cx="12220160" cy="6884775"/>
          </a:xfrm>
          <a:prstGeom prst="rect">
            <a:avLst/>
          </a:prstGeom>
          <a:solidFill>
            <a:schemeClr val="accent6">
              <a:lumMod val="20000"/>
              <a:lumOff val="8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5" name="Freeform: Shape 104">
            <a:extLst>
              <a:ext uri="{FF2B5EF4-FFF2-40B4-BE49-F238E27FC236}">
                <a16:creationId xmlns:a16="http://schemas.microsoft.com/office/drawing/2014/main" id="{884514CE-DFFB-C15C-C6EA-EFA024EC54D5}"/>
              </a:ext>
            </a:extLst>
          </p:cNvPr>
          <p:cNvSpPr>
            <a:spLocks noChangeAspect="1"/>
          </p:cNvSpPr>
          <p:nvPr/>
        </p:nvSpPr>
        <p:spPr>
          <a:xfrm>
            <a:off x="1935337" y="-10184"/>
            <a:ext cx="10276114" cy="6033916"/>
          </a:xfrm>
          <a:custGeom>
            <a:avLst/>
            <a:gdLst>
              <a:gd name="connsiteX0" fmla="*/ 0 w 1312837"/>
              <a:gd name="connsiteY0" fmla="*/ 0 h 867663"/>
              <a:gd name="connsiteX1" fmla="*/ 1312837 w 1312837"/>
              <a:gd name="connsiteY1" fmla="*/ 0 h 867663"/>
              <a:gd name="connsiteX2" fmla="*/ 1312837 w 1312837"/>
              <a:gd name="connsiteY2" fmla="*/ 867663 h 867663"/>
              <a:gd name="connsiteX3" fmla="*/ 0 w 1312837"/>
              <a:gd name="connsiteY3" fmla="*/ 0 h 867663"/>
            </a:gdLst>
            <a:ahLst/>
            <a:cxnLst>
              <a:cxn ang="0">
                <a:pos x="connsiteX0" y="connsiteY0"/>
              </a:cxn>
              <a:cxn ang="0">
                <a:pos x="connsiteX1" y="connsiteY1"/>
              </a:cxn>
              <a:cxn ang="0">
                <a:pos x="connsiteX2" y="connsiteY2"/>
              </a:cxn>
              <a:cxn ang="0">
                <a:pos x="connsiteX3" y="connsiteY3"/>
              </a:cxn>
            </a:cxnLst>
            <a:rect l="l" t="t" r="r" b="b"/>
            <a:pathLst>
              <a:path w="1312837" h="867663">
                <a:moveTo>
                  <a:pt x="0" y="0"/>
                </a:moveTo>
                <a:lnTo>
                  <a:pt x="1312837" y="0"/>
                </a:lnTo>
                <a:lnTo>
                  <a:pt x="1312837" y="867663"/>
                </a:lnTo>
                <a:cubicBezTo>
                  <a:pt x="587777" y="867663"/>
                  <a:pt x="0" y="479197"/>
                  <a:pt x="0" y="0"/>
                </a:cubicBezTo>
                <a:close/>
              </a:path>
            </a:pathLst>
          </a:custGeom>
          <a:solidFill>
            <a:srgbClr val="D1E7C3"/>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2" name="Freeform: Shape 91">
            <a:extLst>
              <a:ext uri="{FF2B5EF4-FFF2-40B4-BE49-F238E27FC236}">
                <a16:creationId xmlns:a16="http://schemas.microsoft.com/office/drawing/2014/main" id="{C2641BDD-AEA3-BA1D-6247-0ADD1ADFC3DF}"/>
              </a:ext>
            </a:extLst>
          </p:cNvPr>
          <p:cNvSpPr>
            <a:spLocks noChangeAspect="1"/>
          </p:cNvSpPr>
          <p:nvPr/>
        </p:nvSpPr>
        <p:spPr>
          <a:xfrm>
            <a:off x="4342822" y="-10184"/>
            <a:ext cx="7868629" cy="4724400"/>
          </a:xfrm>
          <a:custGeom>
            <a:avLst/>
            <a:gdLst>
              <a:gd name="connsiteX0" fmla="*/ 0 w 1312837"/>
              <a:gd name="connsiteY0" fmla="*/ 0 h 867663"/>
              <a:gd name="connsiteX1" fmla="*/ 1312837 w 1312837"/>
              <a:gd name="connsiteY1" fmla="*/ 0 h 867663"/>
              <a:gd name="connsiteX2" fmla="*/ 1312837 w 1312837"/>
              <a:gd name="connsiteY2" fmla="*/ 867663 h 867663"/>
              <a:gd name="connsiteX3" fmla="*/ 0 w 1312837"/>
              <a:gd name="connsiteY3" fmla="*/ 0 h 867663"/>
            </a:gdLst>
            <a:ahLst/>
            <a:cxnLst>
              <a:cxn ang="0">
                <a:pos x="connsiteX0" y="connsiteY0"/>
              </a:cxn>
              <a:cxn ang="0">
                <a:pos x="connsiteX1" y="connsiteY1"/>
              </a:cxn>
              <a:cxn ang="0">
                <a:pos x="connsiteX2" y="connsiteY2"/>
              </a:cxn>
              <a:cxn ang="0">
                <a:pos x="connsiteX3" y="connsiteY3"/>
              </a:cxn>
            </a:cxnLst>
            <a:rect l="l" t="t" r="r" b="b"/>
            <a:pathLst>
              <a:path w="1312837" h="867663">
                <a:moveTo>
                  <a:pt x="0" y="0"/>
                </a:moveTo>
                <a:lnTo>
                  <a:pt x="1312837" y="0"/>
                </a:lnTo>
                <a:lnTo>
                  <a:pt x="1312837" y="867663"/>
                </a:lnTo>
                <a:cubicBezTo>
                  <a:pt x="587777" y="867663"/>
                  <a:pt x="0" y="479197"/>
                  <a:pt x="0" y="0"/>
                </a:cubicBezTo>
                <a:close/>
              </a:path>
            </a:pathLst>
          </a:custGeom>
          <a:solidFill>
            <a:srgbClr val="AAD292"/>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3" name="Freeform: Shape 92">
            <a:extLst>
              <a:ext uri="{FF2B5EF4-FFF2-40B4-BE49-F238E27FC236}">
                <a16:creationId xmlns:a16="http://schemas.microsoft.com/office/drawing/2014/main" id="{B73B0ACA-4E77-A761-5D75-33253B616675}"/>
              </a:ext>
            </a:extLst>
          </p:cNvPr>
          <p:cNvSpPr>
            <a:spLocks noChangeAspect="1"/>
          </p:cNvSpPr>
          <p:nvPr/>
        </p:nvSpPr>
        <p:spPr>
          <a:xfrm>
            <a:off x="6347179" y="-10184"/>
            <a:ext cx="5864272" cy="3666307"/>
          </a:xfrm>
          <a:custGeom>
            <a:avLst/>
            <a:gdLst>
              <a:gd name="connsiteX0" fmla="*/ 0 w 1312837"/>
              <a:gd name="connsiteY0" fmla="*/ 0 h 867663"/>
              <a:gd name="connsiteX1" fmla="*/ 1312837 w 1312837"/>
              <a:gd name="connsiteY1" fmla="*/ 0 h 867663"/>
              <a:gd name="connsiteX2" fmla="*/ 1312837 w 1312837"/>
              <a:gd name="connsiteY2" fmla="*/ 867663 h 867663"/>
              <a:gd name="connsiteX3" fmla="*/ 0 w 1312837"/>
              <a:gd name="connsiteY3" fmla="*/ 0 h 867663"/>
            </a:gdLst>
            <a:ahLst/>
            <a:cxnLst>
              <a:cxn ang="0">
                <a:pos x="connsiteX0" y="connsiteY0"/>
              </a:cxn>
              <a:cxn ang="0">
                <a:pos x="connsiteX1" y="connsiteY1"/>
              </a:cxn>
              <a:cxn ang="0">
                <a:pos x="connsiteX2" y="connsiteY2"/>
              </a:cxn>
              <a:cxn ang="0">
                <a:pos x="connsiteX3" y="connsiteY3"/>
              </a:cxn>
            </a:cxnLst>
            <a:rect l="l" t="t" r="r" b="b"/>
            <a:pathLst>
              <a:path w="1312837" h="867663">
                <a:moveTo>
                  <a:pt x="0" y="0"/>
                </a:moveTo>
                <a:lnTo>
                  <a:pt x="1312837" y="0"/>
                </a:lnTo>
                <a:lnTo>
                  <a:pt x="1312837" y="867663"/>
                </a:lnTo>
                <a:cubicBezTo>
                  <a:pt x="587777" y="867663"/>
                  <a:pt x="0" y="479197"/>
                  <a:pt x="0" y="0"/>
                </a:cubicBezTo>
                <a:close/>
              </a:path>
            </a:pathLst>
          </a:custGeom>
          <a:solidFill>
            <a:srgbClr val="85BD5F"/>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4" name="Freeform: Shape 93">
            <a:extLst>
              <a:ext uri="{FF2B5EF4-FFF2-40B4-BE49-F238E27FC236}">
                <a16:creationId xmlns:a16="http://schemas.microsoft.com/office/drawing/2014/main" id="{7418413E-F0F4-2E1E-133B-BAE6CC6D180A}"/>
              </a:ext>
            </a:extLst>
          </p:cNvPr>
          <p:cNvSpPr>
            <a:spLocks noChangeAspect="1"/>
          </p:cNvSpPr>
          <p:nvPr/>
        </p:nvSpPr>
        <p:spPr>
          <a:xfrm>
            <a:off x="8198600" y="4"/>
            <a:ext cx="4012851" cy="2638693"/>
          </a:xfrm>
          <a:custGeom>
            <a:avLst/>
            <a:gdLst>
              <a:gd name="connsiteX0" fmla="*/ 0 w 1312837"/>
              <a:gd name="connsiteY0" fmla="*/ 0 h 867663"/>
              <a:gd name="connsiteX1" fmla="*/ 1312837 w 1312837"/>
              <a:gd name="connsiteY1" fmla="*/ 0 h 867663"/>
              <a:gd name="connsiteX2" fmla="*/ 1312837 w 1312837"/>
              <a:gd name="connsiteY2" fmla="*/ 867663 h 867663"/>
              <a:gd name="connsiteX3" fmla="*/ 0 w 1312837"/>
              <a:gd name="connsiteY3" fmla="*/ 0 h 867663"/>
            </a:gdLst>
            <a:ahLst/>
            <a:cxnLst>
              <a:cxn ang="0">
                <a:pos x="connsiteX0" y="connsiteY0"/>
              </a:cxn>
              <a:cxn ang="0">
                <a:pos x="connsiteX1" y="connsiteY1"/>
              </a:cxn>
              <a:cxn ang="0">
                <a:pos x="connsiteX2" y="connsiteY2"/>
              </a:cxn>
              <a:cxn ang="0">
                <a:pos x="connsiteX3" y="connsiteY3"/>
              </a:cxn>
            </a:cxnLst>
            <a:rect l="l" t="t" r="r" b="b"/>
            <a:pathLst>
              <a:path w="1312837" h="867663">
                <a:moveTo>
                  <a:pt x="0" y="0"/>
                </a:moveTo>
                <a:lnTo>
                  <a:pt x="1312837" y="0"/>
                </a:lnTo>
                <a:lnTo>
                  <a:pt x="1312837" y="867663"/>
                </a:lnTo>
                <a:cubicBezTo>
                  <a:pt x="587777" y="867663"/>
                  <a:pt x="0" y="479197"/>
                  <a:pt x="0" y="0"/>
                </a:cubicBezTo>
                <a:close/>
              </a:path>
            </a:pathLst>
          </a:custGeom>
          <a:solidFill>
            <a:schemeClr val="accent6">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cxnSp>
        <p:nvCxnSpPr>
          <p:cNvPr id="96" name="Straight Connector 95">
            <a:extLst>
              <a:ext uri="{FF2B5EF4-FFF2-40B4-BE49-F238E27FC236}">
                <a16:creationId xmlns:a16="http://schemas.microsoft.com/office/drawing/2014/main" id="{0F89A815-F4CD-9BCB-ED6A-7FD0BEE2B55C}"/>
              </a:ext>
            </a:extLst>
          </p:cNvPr>
          <p:cNvCxnSpPr>
            <a:cxnSpLocks/>
          </p:cNvCxnSpPr>
          <p:nvPr/>
        </p:nvCxnSpPr>
        <p:spPr>
          <a:xfrm flipH="1">
            <a:off x="0" y="-10184"/>
            <a:ext cx="12211451" cy="2327804"/>
          </a:xfrm>
          <a:prstGeom prst="line">
            <a:avLst/>
          </a:prstGeom>
          <a:no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D4CB48D-4328-7EEC-3136-E5F441343B46}"/>
              </a:ext>
            </a:extLst>
          </p:cNvPr>
          <p:cNvCxnSpPr>
            <a:cxnSpLocks/>
            <a:stCxn id="95" idx="1"/>
          </p:cNvCxnSpPr>
          <p:nvPr/>
        </p:nvCxnSpPr>
        <p:spPr>
          <a:xfrm flipH="1">
            <a:off x="0" y="-10184"/>
            <a:ext cx="12211451" cy="4734584"/>
          </a:xfrm>
          <a:prstGeom prst="line">
            <a:avLst/>
          </a:prstGeom>
          <a:no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D445F88-939A-3E04-1E35-C48769EA2107}"/>
              </a:ext>
            </a:extLst>
          </p:cNvPr>
          <p:cNvCxnSpPr>
            <a:cxnSpLocks/>
          </p:cNvCxnSpPr>
          <p:nvPr/>
        </p:nvCxnSpPr>
        <p:spPr>
          <a:xfrm flipH="1">
            <a:off x="9198028" y="-19605"/>
            <a:ext cx="2993972" cy="6877601"/>
          </a:xfrm>
          <a:prstGeom prst="line">
            <a:avLst/>
          </a:prstGeom>
          <a:noFill/>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22" name="Tekstvak 8">
            <a:extLst>
              <a:ext uri="{FF2B5EF4-FFF2-40B4-BE49-F238E27FC236}">
                <a16:creationId xmlns:a16="http://schemas.microsoft.com/office/drawing/2014/main" id="{4B5307ED-085A-F900-7686-6C66A7B143EC}"/>
              </a:ext>
            </a:extLst>
          </p:cNvPr>
          <p:cNvSpPr txBox="1"/>
          <p:nvPr/>
        </p:nvSpPr>
        <p:spPr>
          <a:xfrm>
            <a:off x="2531811" y="-10182"/>
            <a:ext cx="93966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Tweede helft 2025</a:t>
            </a:r>
          </a:p>
        </p:txBody>
      </p:sp>
      <p:sp>
        <p:nvSpPr>
          <p:cNvPr id="123" name="Tekstvak 9">
            <a:extLst>
              <a:ext uri="{FF2B5EF4-FFF2-40B4-BE49-F238E27FC236}">
                <a16:creationId xmlns:a16="http://schemas.microsoft.com/office/drawing/2014/main" id="{81A778B2-C1CE-0C5E-7CAB-6282D9D67E6B}"/>
              </a:ext>
            </a:extLst>
          </p:cNvPr>
          <p:cNvSpPr txBox="1"/>
          <p:nvPr/>
        </p:nvSpPr>
        <p:spPr>
          <a:xfrm>
            <a:off x="540347" y="-10182"/>
            <a:ext cx="93966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Eerste helft 2025</a:t>
            </a:r>
          </a:p>
        </p:txBody>
      </p:sp>
      <p:sp>
        <p:nvSpPr>
          <p:cNvPr id="124" name="Tekstvak 10">
            <a:extLst>
              <a:ext uri="{FF2B5EF4-FFF2-40B4-BE49-F238E27FC236}">
                <a16:creationId xmlns:a16="http://schemas.microsoft.com/office/drawing/2014/main" id="{751E792A-F5A3-209B-E289-C0588034DF01}"/>
              </a:ext>
            </a:extLst>
          </p:cNvPr>
          <p:cNvSpPr txBox="1"/>
          <p:nvPr/>
        </p:nvSpPr>
        <p:spPr>
          <a:xfrm>
            <a:off x="4871082" y="-10182"/>
            <a:ext cx="93966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Eerste helft 2026</a:t>
            </a:r>
          </a:p>
        </p:txBody>
      </p:sp>
      <p:sp>
        <p:nvSpPr>
          <p:cNvPr id="125" name="Tekstvak 11">
            <a:extLst>
              <a:ext uri="{FF2B5EF4-FFF2-40B4-BE49-F238E27FC236}">
                <a16:creationId xmlns:a16="http://schemas.microsoft.com/office/drawing/2014/main" id="{C1FA6B6E-1863-ACC1-FE49-E80B2A8297CD}"/>
              </a:ext>
            </a:extLst>
          </p:cNvPr>
          <p:cNvSpPr txBox="1"/>
          <p:nvPr/>
        </p:nvSpPr>
        <p:spPr>
          <a:xfrm>
            <a:off x="6791886" y="-10182"/>
            <a:ext cx="939661"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Tweede helft 2026</a:t>
            </a:r>
          </a:p>
        </p:txBody>
      </p:sp>
      <p:sp>
        <p:nvSpPr>
          <p:cNvPr id="126" name="Tekstvak 48">
            <a:extLst>
              <a:ext uri="{FF2B5EF4-FFF2-40B4-BE49-F238E27FC236}">
                <a16:creationId xmlns:a16="http://schemas.microsoft.com/office/drawing/2014/main" id="{CFCB3F98-AEFB-B5E4-C00B-AF16D356B791}"/>
              </a:ext>
            </a:extLst>
          </p:cNvPr>
          <p:cNvSpPr txBox="1"/>
          <p:nvPr/>
        </p:nvSpPr>
        <p:spPr>
          <a:xfrm>
            <a:off x="8768708" y="66762"/>
            <a:ext cx="858641"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mn-cs"/>
              </a:rPr>
              <a:t>En verder</a:t>
            </a:r>
          </a:p>
        </p:txBody>
      </p:sp>
      <p:sp>
        <p:nvSpPr>
          <p:cNvPr id="127" name="Tekstvak 12">
            <a:extLst>
              <a:ext uri="{FF2B5EF4-FFF2-40B4-BE49-F238E27FC236}">
                <a16:creationId xmlns:a16="http://schemas.microsoft.com/office/drawing/2014/main" id="{7B71FD91-F997-B49C-89BB-3CA455A77B5E}"/>
              </a:ext>
            </a:extLst>
          </p:cNvPr>
          <p:cNvSpPr txBox="1"/>
          <p:nvPr/>
        </p:nvSpPr>
        <p:spPr>
          <a:xfrm rot="16200000">
            <a:off x="-992858" y="998704"/>
            <a:ext cx="2259014" cy="261610"/>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Governance en samenwerking</a:t>
            </a:r>
          </a:p>
        </p:txBody>
      </p:sp>
      <p:sp>
        <p:nvSpPr>
          <p:cNvPr id="128" name="Tekstvak 13">
            <a:extLst>
              <a:ext uri="{FF2B5EF4-FFF2-40B4-BE49-F238E27FC236}">
                <a16:creationId xmlns:a16="http://schemas.microsoft.com/office/drawing/2014/main" id="{2F571CE7-424E-CD62-E955-37B9C6ED7C11}"/>
              </a:ext>
            </a:extLst>
          </p:cNvPr>
          <p:cNvSpPr txBox="1"/>
          <p:nvPr/>
        </p:nvSpPr>
        <p:spPr>
          <a:xfrm rot="16200000">
            <a:off x="-1013350" y="3357183"/>
            <a:ext cx="229999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Architectuur</a:t>
            </a:r>
          </a:p>
        </p:txBody>
      </p:sp>
      <p:sp>
        <p:nvSpPr>
          <p:cNvPr id="129" name="Tekstvak 13">
            <a:extLst>
              <a:ext uri="{FF2B5EF4-FFF2-40B4-BE49-F238E27FC236}">
                <a16:creationId xmlns:a16="http://schemas.microsoft.com/office/drawing/2014/main" id="{178E8C5D-9652-5479-7FB5-4A36AF3C90A2}"/>
              </a:ext>
            </a:extLst>
          </p:cNvPr>
          <p:cNvSpPr txBox="1"/>
          <p:nvPr/>
        </p:nvSpPr>
        <p:spPr>
          <a:xfrm>
            <a:off x="212647" y="6485398"/>
            <a:ext cx="3134302"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err="1">
                <a:ln>
                  <a:noFill/>
                </a:ln>
                <a:solidFill>
                  <a:prstClr val="black"/>
                </a:solidFill>
                <a:effectLst/>
                <a:uLnTx/>
                <a:uFillTx/>
                <a:latin typeface="Aptos" panose="020B0004020202020204" pitchFamily="34" charset="0"/>
                <a:ea typeface="Verdana" panose="020B0604030504040204" pitchFamily="34" charset="0"/>
                <a:cs typeface="+mn-cs"/>
              </a:rPr>
              <a:t>Regiona</a:t>
            </a: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al Platform Databeschikbaarheid (inclusief viewer)</a:t>
            </a:r>
          </a:p>
        </p:txBody>
      </p:sp>
      <p:sp>
        <p:nvSpPr>
          <p:cNvPr id="131" name="Tekstvak 13">
            <a:extLst>
              <a:ext uri="{FF2B5EF4-FFF2-40B4-BE49-F238E27FC236}">
                <a16:creationId xmlns:a16="http://schemas.microsoft.com/office/drawing/2014/main" id="{AF7BE63E-EFD0-356D-CD16-F07E6A8179A8}"/>
              </a:ext>
            </a:extLst>
          </p:cNvPr>
          <p:cNvSpPr txBox="1"/>
          <p:nvPr/>
        </p:nvSpPr>
        <p:spPr>
          <a:xfrm>
            <a:off x="3927994" y="6610677"/>
            <a:ext cx="5064869"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Tijdelijke oplossing</a:t>
            </a:r>
          </a:p>
        </p:txBody>
      </p:sp>
      <p:sp>
        <p:nvSpPr>
          <p:cNvPr id="132" name="Tekstvak 13">
            <a:extLst>
              <a:ext uri="{FF2B5EF4-FFF2-40B4-BE49-F238E27FC236}">
                <a16:creationId xmlns:a16="http://schemas.microsoft.com/office/drawing/2014/main" id="{FE996D14-D955-D9D4-19F9-A7CDB8777EB5}"/>
              </a:ext>
            </a:extLst>
          </p:cNvPr>
          <p:cNvSpPr txBox="1"/>
          <p:nvPr/>
        </p:nvSpPr>
        <p:spPr>
          <a:xfrm>
            <a:off x="9198027" y="6613587"/>
            <a:ext cx="3002681" cy="2610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Aptos" panose="020B0004020202020204" pitchFamily="34" charset="0"/>
                <a:ea typeface="Verdana" panose="020B0604030504040204" pitchFamily="34" charset="0"/>
                <a:cs typeface="+mn-cs"/>
              </a:rPr>
              <a:t>Generieke voorzieningen</a:t>
            </a:r>
          </a:p>
        </p:txBody>
      </p:sp>
      <p:sp>
        <p:nvSpPr>
          <p:cNvPr id="133" name="Rectangle: Rounded Corners 132">
            <a:extLst>
              <a:ext uri="{FF2B5EF4-FFF2-40B4-BE49-F238E27FC236}">
                <a16:creationId xmlns:a16="http://schemas.microsoft.com/office/drawing/2014/main" id="{4C395A19-ADFB-0A98-F924-D2EA2B407956}"/>
              </a:ext>
            </a:extLst>
          </p:cNvPr>
          <p:cNvSpPr/>
          <p:nvPr/>
        </p:nvSpPr>
        <p:spPr>
          <a:xfrm>
            <a:off x="5658303" y="5381214"/>
            <a:ext cx="1701507"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Selectie voorziening voor tijdelijke oplossing</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34" name="Rectangle: Rounded Corners 133">
            <a:extLst>
              <a:ext uri="{FF2B5EF4-FFF2-40B4-BE49-F238E27FC236}">
                <a16:creationId xmlns:a16="http://schemas.microsoft.com/office/drawing/2014/main" id="{A186D276-7A46-193B-7A79-B857C68E7D56}"/>
              </a:ext>
            </a:extLst>
          </p:cNvPr>
          <p:cNvSpPr/>
          <p:nvPr/>
        </p:nvSpPr>
        <p:spPr>
          <a:xfrm>
            <a:off x="7931986" y="5310254"/>
            <a:ext cx="1717857" cy="64591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Implementatie tijdelijk oplossing en aansluiten eerste bronnen.</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39" name="Rectangle: Rounded Corners 138">
            <a:extLst>
              <a:ext uri="{FF2B5EF4-FFF2-40B4-BE49-F238E27FC236}">
                <a16:creationId xmlns:a16="http://schemas.microsoft.com/office/drawing/2014/main" id="{3096F420-64BB-6C79-BA6C-8513724A1095}"/>
              </a:ext>
            </a:extLst>
          </p:cNvPr>
          <p:cNvSpPr/>
          <p:nvPr/>
        </p:nvSpPr>
        <p:spPr>
          <a:xfrm>
            <a:off x="10390603" y="5687123"/>
            <a:ext cx="1029864"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Mitz</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0" name="Rectangle: Rounded Corners 139">
            <a:extLst>
              <a:ext uri="{FF2B5EF4-FFF2-40B4-BE49-F238E27FC236}">
                <a16:creationId xmlns:a16="http://schemas.microsoft.com/office/drawing/2014/main" id="{1A9E9529-A657-519F-81B4-8E54F77881BD}"/>
              </a:ext>
            </a:extLst>
          </p:cNvPr>
          <p:cNvSpPr/>
          <p:nvPr/>
        </p:nvSpPr>
        <p:spPr>
          <a:xfrm>
            <a:off x="10669028" y="4502392"/>
            <a:ext cx="1029864"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ZORG-AB</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1" name="Rectangle: Rounded Corners 140">
            <a:extLst>
              <a:ext uri="{FF2B5EF4-FFF2-40B4-BE49-F238E27FC236}">
                <a16:creationId xmlns:a16="http://schemas.microsoft.com/office/drawing/2014/main" id="{C2422D24-9045-A78C-4804-3293FBF3D87B}"/>
              </a:ext>
            </a:extLst>
          </p:cNvPr>
          <p:cNvSpPr/>
          <p:nvPr/>
        </p:nvSpPr>
        <p:spPr>
          <a:xfrm>
            <a:off x="10857598" y="3200803"/>
            <a:ext cx="1262524" cy="739796"/>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Overige geprioriteerde generieke voorzieningen</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9" name="Rectangle: Rounded Corners 148">
            <a:extLst>
              <a:ext uri="{FF2B5EF4-FFF2-40B4-BE49-F238E27FC236}">
                <a16:creationId xmlns:a16="http://schemas.microsoft.com/office/drawing/2014/main" id="{C773F579-A42B-BBCC-FB93-1F9FBE7DFB1E}"/>
              </a:ext>
            </a:extLst>
          </p:cNvPr>
          <p:cNvSpPr/>
          <p:nvPr/>
        </p:nvSpPr>
        <p:spPr>
          <a:xfrm>
            <a:off x="1017183" y="551685"/>
            <a:ext cx="1249509"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Uitwerken opzet regionale governance</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0" name="Rectangle: Rounded Corners 149">
            <a:extLst>
              <a:ext uri="{FF2B5EF4-FFF2-40B4-BE49-F238E27FC236}">
                <a16:creationId xmlns:a16="http://schemas.microsoft.com/office/drawing/2014/main" id="{C44B2820-470C-EE18-151C-2CB39C1F3CF4}"/>
              </a:ext>
            </a:extLst>
          </p:cNvPr>
          <p:cNvSpPr/>
          <p:nvPr/>
        </p:nvSpPr>
        <p:spPr>
          <a:xfrm>
            <a:off x="567232" y="3390169"/>
            <a:ext cx="1029864"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Regionale architectuurprincipes</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1" name="Rectangle: Rounded Corners 150">
            <a:extLst>
              <a:ext uri="{FF2B5EF4-FFF2-40B4-BE49-F238E27FC236}">
                <a16:creationId xmlns:a16="http://schemas.microsoft.com/office/drawing/2014/main" id="{EDF86CDB-D39F-8992-4E0B-8224E0AED06A}"/>
              </a:ext>
            </a:extLst>
          </p:cNvPr>
          <p:cNvSpPr/>
          <p:nvPr/>
        </p:nvSpPr>
        <p:spPr>
          <a:xfrm>
            <a:off x="2885013" y="454764"/>
            <a:ext cx="1456967"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Realisatie regionale governance</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2" name="Rectangle: Rounded Corners 151">
            <a:extLst>
              <a:ext uri="{FF2B5EF4-FFF2-40B4-BE49-F238E27FC236}">
                <a16:creationId xmlns:a16="http://schemas.microsoft.com/office/drawing/2014/main" id="{F094524B-EF51-B43A-AD16-595A58EAB621}"/>
              </a:ext>
            </a:extLst>
          </p:cNvPr>
          <p:cNvSpPr/>
          <p:nvPr/>
        </p:nvSpPr>
        <p:spPr>
          <a:xfrm>
            <a:off x="6095999" y="417868"/>
            <a:ext cx="1456967" cy="483965"/>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Integrale Regionale Zorgpaden</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3" name="Rectangle: Rounded Corners 152">
            <a:extLst>
              <a:ext uri="{FF2B5EF4-FFF2-40B4-BE49-F238E27FC236}">
                <a16:creationId xmlns:a16="http://schemas.microsoft.com/office/drawing/2014/main" id="{57D9C4E8-D546-667F-585F-5B6C0BCB3A2E}"/>
              </a:ext>
            </a:extLst>
          </p:cNvPr>
          <p:cNvSpPr/>
          <p:nvPr/>
        </p:nvSpPr>
        <p:spPr>
          <a:xfrm>
            <a:off x="491476" y="2254050"/>
            <a:ext cx="1423743" cy="74941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Integraal inzicht regionale zorginfrastructuur en applicaties.</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4" name="Rectangle: Rounded Corners 153">
            <a:extLst>
              <a:ext uri="{FF2B5EF4-FFF2-40B4-BE49-F238E27FC236}">
                <a16:creationId xmlns:a16="http://schemas.microsoft.com/office/drawing/2014/main" id="{A8B76745-CC51-B6B1-9011-124A60D36559}"/>
              </a:ext>
            </a:extLst>
          </p:cNvPr>
          <p:cNvSpPr/>
          <p:nvPr/>
        </p:nvSpPr>
        <p:spPr>
          <a:xfrm>
            <a:off x="2089217" y="3039274"/>
            <a:ext cx="1482944"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Uitwerken transitiearchitectuur</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6" name="Rectangle: Rounded Corners 155">
            <a:extLst>
              <a:ext uri="{FF2B5EF4-FFF2-40B4-BE49-F238E27FC236}">
                <a16:creationId xmlns:a16="http://schemas.microsoft.com/office/drawing/2014/main" id="{B3461F66-4E75-AC77-3153-EFFBCF01E1F1}"/>
              </a:ext>
            </a:extLst>
          </p:cNvPr>
          <p:cNvSpPr/>
          <p:nvPr/>
        </p:nvSpPr>
        <p:spPr>
          <a:xfrm>
            <a:off x="4004031" y="2000441"/>
            <a:ext cx="1553813"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Aansluitvoorwaarden en proces</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8" name="Rectangle: Rounded Corners 157">
            <a:extLst>
              <a:ext uri="{FF2B5EF4-FFF2-40B4-BE49-F238E27FC236}">
                <a16:creationId xmlns:a16="http://schemas.microsoft.com/office/drawing/2014/main" id="{BDB461AD-9123-F200-43A5-E685862589DC}"/>
              </a:ext>
            </a:extLst>
          </p:cNvPr>
          <p:cNvSpPr/>
          <p:nvPr/>
        </p:nvSpPr>
        <p:spPr>
          <a:xfrm>
            <a:off x="9237600" y="2460119"/>
            <a:ext cx="1649581" cy="643482"/>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Ontsluiten bronnen t.b.v. integraal dossier met viewer (fase 3) </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cxnSp>
        <p:nvCxnSpPr>
          <p:cNvPr id="108" name="Straight Connector 107">
            <a:extLst>
              <a:ext uri="{FF2B5EF4-FFF2-40B4-BE49-F238E27FC236}">
                <a16:creationId xmlns:a16="http://schemas.microsoft.com/office/drawing/2014/main" id="{FEF4A93F-D20D-E7FC-FC3F-416EF2775F02}"/>
              </a:ext>
            </a:extLst>
          </p:cNvPr>
          <p:cNvCxnSpPr>
            <a:cxnSpLocks/>
            <a:stCxn id="105" idx="1"/>
          </p:cNvCxnSpPr>
          <p:nvPr/>
        </p:nvCxnSpPr>
        <p:spPr>
          <a:xfrm flipH="1">
            <a:off x="3591612" y="-10184"/>
            <a:ext cx="8619839" cy="686818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38" name="Rectangle: Rounded Corners 137">
            <a:extLst>
              <a:ext uri="{FF2B5EF4-FFF2-40B4-BE49-F238E27FC236}">
                <a16:creationId xmlns:a16="http://schemas.microsoft.com/office/drawing/2014/main" id="{746750BB-E954-7D75-C6A1-A71912ADF2E8}"/>
              </a:ext>
            </a:extLst>
          </p:cNvPr>
          <p:cNvSpPr/>
          <p:nvPr/>
        </p:nvSpPr>
        <p:spPr>
          <a:xfrm>
            <a:off x="9627349" y="1177516"/>
            <a:ext cx="1887697" cy="72049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Overzetten functionaliteit naar regionaal platform / afbouw tijdelijk oplossing.</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5" name="Freeform: Shape 94">
            <a:extLst>
              <a:ext uri="{FF2B5EF4-FFF2-40B4-BE49-F238E27FC236}">
                <a16:creationId xmlns:a16="http://schemas.microsoft.com/office/drawing/2014/main" id="{9B44D230-91D8-4F69-9C7E-270E148886C2}"/>
              </a:ext>
            </a:extLst>
          </p:cNvPr>
          <p:cNvSpPr>
            <a:spLocks noChangeAspect="1"/>
          </p:cNvSpPr>
          <p:nvPr/>
        </p:nvSpPr>
        <p:spPr>
          <a:xfrm>
            <a:off x="10572511" y="-10184"/>
            <a:ext cx="1638940" cy="1392046"/>
          </a:xfrm>
          <a:custGeom>
            <a:avLst/>
            <a:gdLst>
              <a:gd name="connsiteX0" fmla="*/ 0 w 1312837"/>
              <a:gd name="connsiteY0" fmla="*/ 0 h 867663"/>
              <a:gd name="connsiteX1" fmla="*/ 1312837 w 1312837"/>
              <a:gd name="connsiteY1" fmla="*/ 0 h 867663"/>
              <a:gd name="connsiteX2" fmla="*/ 1312837 w 1312837"/>
              <a:gd name="connsiteY2" fmla="*/ 867663 h 867663"/>
              <a:gd name="connsiteX3" fmla="*/ 0 w 1312837"/>
              <a:gd name="connsiteY3" fmla="*/ 0 h 867663"/>
            </a:gdLst>
            <a:ahLst/>
            <a:cxnLst>
              <a:cxn ang="0">
                <a:pos x="connsiteX0" y="connsiteY0"/>
              </a:cxn>
              <a:cxn ang="0">
                <a:pos x="connsiteX1" y="connsiteY1"/>
              </a:cxn>
              <a:cxn ang="0">
                <a:pos x="connsiteX2" y="connsiteY2"/>
              </a:cxn>
              <a:cxn ang="0">
                <a:pos x="connsiteX3" y="connsiteY3"/>
              </a:cxn>
            </a:cxnLst>
            <a:rect l="l" t="t" r="r" b="b"/>
            <a:pathLst>
              <a:path w="1312837" h="867663">
                <a:moveTo>
                  <a:pt x="0" y="0"/>
                </a:moveTo>
                <a:lnTo>
                  <a:pt x="1312837" y="0"/>
                </a:lnTo>
                <a:lnTo>
                  <a:pt x="1312837" y="867663"/>
                </a:lnTo>
                <a:cubicBezTo>
                  <a:pt x="587777" y="867663"/>
                  <a:pt x="0" y="479197"/>
                  <a:pt x="0" y="0"/>
                </a:cubicBezTo>
                <a:close/>
              </a:path>
            </a:pathLst>
          </a:custGeom>
          <a:solidFill>
            <a:schemeClr val="accent6">
              <a:lumMod val="50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59" name="TextBox 158">
            <a:extLst>
              <a:ext uri="{FF2B5EF4-FFF2-40B4-BE49-F238E27FC236}">
                <a16:creationId xmlns:a16="http://schemas.microsoft.com/office/drawing/2014/main" id="{310AF407-E0FB-2BC6-86C3-E5CFA37F0875}"/>
              </a:ext>
            </a:extLst>
          </p:cNvPr>
          <p:cNvSpPr txBox="1"/>
          <p:nvPr/>
        </p:nvSpPr>
        <p:spPr>
          <a:xfrm>
            <a:off x="10887181" y="54598"/>
            <a:ext cx="1267067" cy="92333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8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mn-cs"/>
              </a:rPr>
              <a:t>Integraal dossier inwoner</a:t>
            </a:r>
          </a:p>
        </p:txBody>
      </p:sp>
      <p:sp>
        <p:nvSpPr>
          <p:cNvPr id="161" name="Rectangle: Rounded Corners 160">
            <a:extLst>
              <a:ext uri="{FF2B5EF4-FFF2-40B4-BE49-F238E27FC236}">
                <a16:creationId xmlns:a16="http://schemas.microsoft.com/office/drawing/2014/main" id="{1EA6F02E-BBC5-7E6F-5213-49F3164D9BF0}"/>
              </a:ext>
            </a:extLst>
          </p:cNvPr>
          <p:cNvSpPr/>
          <p:nvPr/>
        </p:nvSpPr>
        <p:spPr>
          <a:xfrm>
            <a:off x="8383801" y="3433299"/>
            <a:ext cx="1649581" cy="643482"/>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Ontsluiten bronnen t.b.v. integraal dossier met viewer (fase 2) </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2" name="Rectangle: Rounded Corners 161">
            <a:extLst>
              <a:ext uri="{FF2B5EF4-FFF2-40B4-BE49-F238E27FC236}">
                <a16:creationId xmlns:a16="http://schemas.microsoft.com/office/drawing/2014/main" id="{6AF4DE34-67B8-1009-9413-4FD919BFD92D}"/>
              </a:ext>
            </a:extLst>
          </p:cNvPr>
          <p:cNvSpPr/>
          <p:nvPr/>
        </p:nvSpPr>
        <p:spPr>
          <a:xfrm>
            <a:off x="7552966" y="4477605"/>
            <a:ext cx="1649581" cy="647621"/>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Ontsluiten bronnen t.b.v. integraal dossier met viewer (fase 1) </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3" name="Rectangle: Rounded Corners 162">
            <a:extLst>
              <a:ext uri="{FF2B5EF4-FFF2-40B4-BE49-F238E27FC236}">
                <a16:creationId xmlns:a16="http://schemas.microsoft.com/office/drawing/2014/main" id="{8C6079DE-BDC2-294B-742B-FC0BEF10F55D}"/>
              </a:ext>
            </a:extLst>
          </p:cNvPr>
          <p:cNvSpPr/>
          <p:nvPr/>
        </p:nvSpPr>
        <p:spPr>
          <a:xfrm>
            <a:off x="7731547" y="6124125"/>
            <a:ext cx="1425099" cy="574953"/>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Praktijkbeproeving </a:t>
            </a:r>
            <a:r>
              <a:rPr lang="nl-NL" sz="1100">
                <a:solidFill>
                  <a:prstClr val="white"/>
                </a:solidFill>
                <a:latin typeface="Aptos" panose="020B0004020202020204" pitchFamily="34" charset="0"/>
              </a:rPr>
              <a:t>n</a:t>
            </a:r>
            <a:r>
              <a:rPr kumimoji="0" lang="nl-NL" sz="1100" b="0" i="0" u="none" strike="noStrike" kern="1200" cap="none" spc="0" normalizeH="0" baseline="0" noProof="0" err="1">
                <a:ln>
                  <a:noFill/>
                </a:ln>
                <a:solidFill>
                  <a:prstClr val="white"/>
                </a:solidFill>
                <a:effectLst/>
                <a:uLnTx/>
                <a:uFillTx/>
                <a:latin typeface="Aptos" panose="020B0004020202020204" pitchFamily="34" charset="0"/>
                <a:ea typeface="+mn-ea"/>
                <a:cs typeface="+mn-cs"/>
              </a:rPr>
              <a:t>etwerkzorg</a:t>
            </a: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 omgeving</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4" name="Rectangle: Rounded Corners 163">
            <a:extLst>
              <a:ext uri="{FF2B5EF4-FFF2-40B4-BE49-F238E27FC236}">
                <a16:creationId xmlns:a16="http://schemas.microsoft.com/office/drawing/2014/main" id="{BE1E7611-15B8-9F01-F2AD-42A595C5A1E0}"/>
              </a:ext>
            </a:extLst>
          </p:cNvPr>
          <p:cNvSpPr/>
          <p:nvPr/>
        </p:nvSpPr>
        <p:spPr>
          <a:xfrm>
            <a:off x="6135920" y="4179232"/>
            <a:ext cx="1158366"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Aanpassing zorgproces</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 name="Rectangle: Rounded Corners 2">
            <a:extLst>
              <a:ext uri="{FF2B5EF4-FFF2-40B4-BE49-F238E27FC236}">
                <a16:creationId xmlns:a16="http://schemas.microsoft.com/office/drawing/2014/main" id="{61A3F9BA-40FB-64E2-6FDF-23F0EBE573D4}"/>
              </a:ext>
            </a:extLst>
          </p:cNvPr>
          <p:cNvSpPr/>
          <p:nvPr/>
        </p:nvSpPr>
        <p:spPr>
          <a:xfrm>
            <a:off x="900098" y="4544187"/>
            <a:ext cx="1631713"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Verkennen opzet Regionaal Platform Databeschikbaarheid</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 name="Rectangle: Rounded Corners 3">
            <a:extLst>
              <a:ext uri="{FF2B5EF4-FFF2-40B4-BE49-F238E27FC236}">
                <a16:creationId xmlns:a16="http://schemas.microsoft.com/office/drawing/2014/main" id="{4940C290-07A8-E983-8255-0357FC5A26BB}"/>
              </a:ext>
            </a:extLst>
          </p:cNvPr>
          <p:cNvSpPr/>
          <p:nvPr/>
        </p:nvSpPr>
        <p:spPr>
          <a:xfrm>
            <a:off x="2593650" y="5367472"/>
            <a:ext cx="1524509"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Alignement CumuluZ en HDSU</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 name="Rectangle: Rounded Corners 4">
            <a:extLst>
              <a:ext uri="{FF2B5EF4-FFF2-40B4-BE49-F238E27FC236}">
                <a16:creationId xmlns:a16="http://schemas.microsoft.com/office/drawing/2014/main" id="{BBB5E619-10AE-7143-4AAA-F4E662B860A4}"/>
              </a:ext>
            </a:extLst>
          </p:cNvPr>
          <p:cNvSpPr/>
          <p:nvPr/>
        </p:nvSpPr>
        <p:spPr>
          <a:xfrm>
            <a:off x="3570161" y="4028521"/>
            <a:ext cx="1553813"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Ontwerp Regionaal Platform Databeschikbaarheid</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 name="Rectangle: Rounded Corners 5">
            <a:extLst>
              <a:ext uri="{FF2B5EF4-FFF2-40B4-BE49-F238E27FC236}">
                <a16:creationId xmlns:a16="http://schemas.microsoft.com/office/drawing/2014/main" id="{887FCB50-D1A1-D700-4E1E-294FB482ABCA}"/>
              </a:ext>
            </a:extLst>
          </p:cNvPr>
          <p:cNvSpPr/>
          <p:nvPr/>
        </p:nvSpPr>
        <p:spPr>
          <a:xfrm>
            <a:off x="5177678" y="3087238"/>
            <a:ext cx="1836643"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Realisatie eerste opzet Regionaal Platform Databeschikbaarheid</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 name="Rectangle: Rounded Corners 6">
            <a:extLst>
              <a:ext uri="{FF2B5EF4-FFF2-40B4-BE49-F238E27FC236}">
                <a16:creationId xmlns:a16="http://schemas.microsoft.com/office/drawing/2014/main" id="{C4B9103A-D284-7908-F06D-F5976D0E110A}"/>
              </a:ext>
            </a:extLst>
          </p:cNvPr>
          <p:cNvSpPr/>
          <p:nvPr/>
        </p:nvSpPr>
        <p:spPr>
          <a:xfrm>
            <a:off x="7086989" y="2123783"/>
            <a:ext cx="1430838"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Doorontwikkeling bronnen en data</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 name="Rectangle: Rounded Corners 1">
            <a:extLst>
              <a:ext uri="{FF2B5EF4-FFF2-40B4-BE49-F238E27FC236}">
                <a16:creationId xmlns:a16="http://schemas.microsoft.com/office/drawing/2014/main" id="{F28253B3-EF03-6034-C470-BE9C6E96E76D}"/>
              </a:ext>
            </a:extLst>
          </p:cNvPr>
          <p:cNvSpPr/>
          <p:nvPr/>
        </p:nvSpPr>
        <p:spPr>
          <a:xfrm>
            <a:off x="2094803" y="1917533"/>
            <a:ext cx="1249509"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Nulmeting </a:t>
            </a:r>
            <a:r>
              <a:rPr kumimoji="0" lang="nl-NL" sz="1100" b="0" i="0" u="none" strike="noStrike" kern="1200" cap="none" spc="0" normalizeH="0" baseline="0" noProof="0" err="1">
                <a:ln>
                  <a:noFill/>
                </a:ln>
                <a:solidFill>
                  <a:prstClr val="white"/>
                </a:solidFill>
                <a:effectLst/>
                <a:uLnTx/>
                <a:uFillTx/>
                <a:latin typeface="Aptos" panose="020B0004020202020204" pitchFamily="34" charset="0"/>
                <a:ea typeface="+mn-ea"/>
                <a:cs typeface="+mn-cs"/>
              </a:rPr>
              <a:t>Twiin</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 name="Rectangle: Rounded Corners 7">
            <a:extLst>
              <a:ext uri="{FF2B5EF4-FFF2-40B4-BE49-F238E27FC236}">
                <a16:creationId xmlns:a16="http://schemas.microsoft.com/office/drawing/2014/main" id="{E4039EF3-B387-4CE6-558E-964B1A829113}"/>
              </a:ext>
            </a:extLst>
          </p:cNvPr>
          <p:cNvSpPr/>
          <p:nvPr/>
        </p:nvSpPr>
        <p:spPr>
          <a:xfrm>
            <a:off x="4690556" y="1190323"/>
            <a:ext cx="1249509" cy="57495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Leden aansluiten bij </a:t>
            </a:r>
            <a:r>
              <a:rPr kumimoji="0" lang="nl-NL" sz="1100" b="0" i="0" u="none" strike="noStrike" kern="1200" cap="none" spc="0" normalizeH="0" baseline="0" noProof="0" err="1">
                <a:ln>
                  <a:noFill/>
                </a:ln>
                <a:solidFill>
                  <a:prstClr val="white"/>
                </a:solidFill>
                <a:effectLst/>
                <a:uLnTx/>
                <a:uFillTx/>
                <a:latin typeface="Aptos" panose="020B0004020202020204" pitchFamily="34" charset="0"/>
                <a:ea typeface="+mn-ea"/>
                <a:cs typeface="+mn-cs"/>
              </a:rPr>
              <a:t>Twiin</a:t>
            </a:r>
            <a:r>
              <a:rPr kumimoji="0" lang="nl-NL" sz="1100" b="0" i="0" u="none" strike="noStrike" kern="1200" cap="none" spc="0" normalizeH="0" baseline="0" noProof="0">
                <a:ln>
                  <a:noFill/>
                </a:ln>
                <a:solidFill>
                  <a:prstClr val="white"/>
                </a:solidFill>
                <a:effectLst/>
                <a:uLnTx/>
                <a:uFillTx/>
                <a:latin typeface="Aptos" panose="020B0004020202020204" pitchFamily="34" charset="0"/>
                <a:ea typeface="+mn-ea"/>
                <a:cs typeface="+mn-cs"/>
              </a:rPr>
              <a:t> </a:t>
            </a:r>
            <a:endParaRPr kumimoji="0" lang="LID4096" sz="11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 name="Rechthoek: afgeronde hoeken 8">
            <a:extLst>
              <a:ext uri="{FF2B5EF4-FFF2-40B4-BE49-F238E27FC236}">
                <a16:creationId xmlns:a16="http://schemas.microsoft.com/office/drawing/2014/main" id="{092D88E0-1A06-594C-4ADF-7DB39936E823}"/>
              </a:ext>
            </a:extLst>
          </p:cNvPr>
          <p:cNvSpPr/>
          <p:nvPr/>
        </p:nvSpPr>
        <p:spPr>
          <a:xfrm>
            <a:off x="6487023" y="856355"/>
            <a:ext cx="2904161" cy="1048343"/>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6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0000005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14C5F-9727-3C53-78B7-5B49AC1E25EE}"/>
            </a:ext>
          </a:extLst>
        </p:cNvPr>
        <p:cNvGrpSpPr/>
        <p:nvPr/>
      </p:nvGrpSpPr>
      <p:grpSpPr>
        <a:xfrm>
          <a:off x="0" y="0"/>
          <a:ext cx="0" cy="0"/>
          <a:chOff x="0" y="0"/>
          <a:chExt cx="0" cy="0"/>
        </a:xfrm>
      </p:grpSpPr>
      <p:sp>
        <p:nvSpPr>
          <p:cNvPr id="33" name="Rechthoek 32">
            <a:extLst>
              <a:ext uri="{FF2B5EF4-FFF2-40B4-BE49-F238E27FC236}">
                <a16:creationId xmlns:a16="http://schemas.microsoft.com/office/drawing/2014/main" id="{9DAD0475-3B8D-2334-D918-81621059656E}"/>
              </a:ext>
            </a:extLst>
          </p:cNvPr>
          <p:cNvSpPr/>
          <p:nvPr/>
        </p:nvSpPr>
        <p:spPr>
          <a:xfrm>
            <a:off x="596024" y="1714620"/>
            <a:ext cx="2546010" cy="246827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srgbClr val="A5A5A5"/>
              </a:solidFill>
              <a:effectLst/>
              <a:uLnTx/>
              <a:uFillTx/>
              <a:latin typeface="Calibri"/>
              <a:ea typeface="+mn-ea"/>
              <a:cs typeface="+mn-cs"/>
            </a:endParaRPr>
          </a:p>
        </p:txBody>
      </p:sp>
      <p:sp>
        <p:nvSpPr>
          <p:cNvPr id="19" name="Gedeeltelijke cirkel 18">
            <a:extLst>
              <a:ext uri="{FF2B5EF4-FFF2-40B4-BE49-F238E27FC236}">
                <a16:creationId xmlns:a16="http://schemas.microsoft.com/office/drawing/2014/main" id="{77D3F517-EFB2-AFA8-C675-47E6557803B7}"/>
              </a:ext>
            </a:extLst>
          </p:cNvPr>
          <p:cNvSpPr/>
          <p:nvPr/>
        </p:nvSpPr>
        <p:spPr>
          <a:xfrm>
            <a:off x="757964" y="1808272"/>
            <a:ext cx="2252815" cy="2252815"/>
          </a:xfrm>
          <a:prstGeom prst="pie">
            <a:avLst>
              <a:gd name="adj1" fmla="val 9000000"/>
              <a:gd name="adj2" fmla="val 16200000"/>
            </a:avLst>
          </a:prstGeom>
          <a:solidFill>
            <a:srgbClr val="47CFFF"/>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Title 1">
            <a:extLst>
              <a:ext uri="{FF2B5EF4-FFF2-40B4-BE49-F238E27FC236}">
                <a16:creationId xmlns:a16="http://schemas.microsoft.com/office/drawing/2014/main" id="{087135C0-03E6-ED22-3451-610E38FB6240}"/>
              </a:ext>
            </a:extLst>
          </p:cNvPr>
          <p:cNvSpPr>
            <a:spLocks noGrp="1"/>
          </p:cNvSpPr>
          <p:nvPr>
            <p:ph type="title"/>
          </p:nvPr>
        </p:nvSpPr>
        <p:spPr>
          <a:xfrm>
            <a:off x="425302" y="465998"/>
            <a:ext cx="10544966" cy="504000"/>
          </a:xfrm>
        </p:spPr>
        <p:txBody>
          <a:bodyPr>
            <a:noAutofit/>
          </a:bodyPr>
          <a:lstStyle/>
          <a:p>
            <a:r>
              <a:rPr lang="nl-NL" err="1">
                <a:latin typeface="Verdana Pro" panose="020B0604030504040204" pitchFamily="34" charset="0"/>
              </a:rPr>
              <a:t>Governance</a:t>
            </a:r>
            <a:r>
              <a:rPr lang="nl-NL">
                <a:latin typeface="Verdana Pro" panose="020B0604030504040204" pitchFamily="34" charset="0"/>
              </a:rPr>
              <a:t> voor realisatie en sturing fundament</a:t>
            </a:r>
          </a:p>
        </p:txBody>
      </p:sp>
      <p:sp>
        <p:nvSpPr>
          <p:cNvPr id="4" name="Content Placeholder 3">
            <a:extLst>
              <a:ext uri="{FF2B5EF4-FFF2-40B4-BE49-F238E27FC236}">
                <a16:creationId xmlns:a16="http://schemas.microsoft.com/office/drawing/2014/main" id="{BE7D7DA4-6821-66DC-50B2-6A9C5F74E507}"/>
              </a:ext>
            </a:extLst>
          </p:cNvPr>
          <p:cNvSpPr>
            <a:spLocks noGrp="1"/>
          </p:cNvSpPr>
          <p:nvPr>
            <p:ph idx="1"/>
          </p:nvPr>
        </p:nvSpPr>
        <p:spPr>
          <a:xfrm>
            <a:off x="3356234" y="1473998"/>
            <a:ext cx="8508106" cy="4693530"/>
          </a:xfrm>
        </p:spPr>
        <p:txBody>
          <a:bodyPr>
            <a:noAutofit/>
          </a:bodyPr>
          <a:lstStyle/>
          <a:p>
            <a:pPr marL="0" indent="0" algn="just">
              <a:lnSpc>
                <a:spcPct val="113000"/>
              </a:lnSpc>
              <a:spcBef>
                <a:spcPts val="0"/>
              </a:spcBef>
              <a:spcAft>
                <a:spcPts val="600"/>
              </a:spcAft>
              <a:buNone/>
            </a:pPr>
            <a:r>
              <a:rPr lang="nl-NL" sz="1100"/>
              <a:t>Het fundament voor de regionale databeschikbaarheid bestaat uit het regionale platform voor databeschikbaarheid, toepassingen (bijvoorbeeld viewers voor zorgprofessionals of inwoners) en generieke voorzieningen. De </a:t>
            </a:r>
            <a:r>
              <a:rPr lang="nl-NL" sz="1100" err="1"/>
              <a:t>governance</a:t>
            </a:r>
            <a:r>
              <a:rPr lang="nl-NL" sz="1100"/>
              <a:t> omvat de organisatie om het fundament te realiseren, te onderhouden en door te ontwikkelen én de besturing van deze organisatie. </a:t>
            </a:r>
          </a:p>
          <a:p>
            <a:pPr marL="0" indent="0" algn="just">
              <a:lnSpc>
                <a:spcPct val="113000"/>
              </a:lnSpc>
              <a:spcBef>
                <a:spcPts val="0"/>
              </a:spcBef>
              <a:buNone/>
            </a:pPr>
            <a:r>
              <a:rPr lang="nl-NL" sz="1100"/>
              <a:t>Het fundament kent de volgende stakeholders*:</a:t>
            </a:r>
          </a:p>
          <a:p>
            <a:pPr marL="265113" indent="-265113" algn="just">
              <a:lnSpc>
                <a:spcPct val="113000"/>
              </a:lnSpc>
              <a:spcBef>
                <a:spcPts val="0"/>
              </a:spcBef>
              <a:buFont typeface="Arial" panose="020B0604020202020204" pitchFamily="34" charset="0"/>
              <a:buChar char="•"/>
            </a:pPr>
            <a:r>
              <a:rPr lang="nl-NL" sz="1100" b="1"/>
              <a:t>Aanbieders van data: </a:t>
            </a:r>
            <a:r>
              <a:rPr lang="nl-NL" sz="1100"/>
              <a:t>Organisaties of personen die relevante datasets beschikbaar stellen aan het regionale platform voor databeschikbaarheid.</a:t>
            </a:r>
          </a:p>
          <a:p>
            <a:pPr marL="265113" indent="-265113" algn="just">
              <a:lnSpc>
                <a:spcPct val="113000"/>
              </a:lnSpc>
              <a:spcBef>
                <a:spcPts val="0"/>
              </a:spcBef>
              <a:buFont typeface="Arial" panose="020B0604020202020204" pitchFamily="34" charset="0"/>
              <a:buChar char="•"/>
            </a:pPr>
            <a:r>
              <a:rPr lang="nl-NL" sz="1100" b="1"/>
              <a:t>Gebruikers van data: </a:t>
            </a:r>
            <a:r>
              <a:rPr lang="nl-NL" sz="1100"/>
              <a:t>Organisatie of persoon die de beschikbare data uit het platform raadpleegt voor het kunnen leveren van zorg, besluitvorming, analyse, onderzoek, etc. </a:t>
            </a:r>
          </a:p>
          <a:p>
            <a:pPr marL="268288" indent="-268288" algn="just">
              <a:lnSpc>
                <a:spcPct val="113000"/>
              </a:lnSpc>
              <a:spcBef>
                <a:spcPts val="0"/>
              </a:spcBef>
              <a:spcAft>
                <a:spcPts val="600"/>
              </a:spcAft>
              <a:buFont typeface="Arial" panose="020B0604020202020204" pitchFamily="34" charset="0"/>
              <a:buChar char="•"/>
            </a:pPr>
            <a:r>
              <a:rPr lang="nl-NL" sz="1100" b="1"/>
              <a:t>Partners: </a:t>
            </a:r>
            <a:r>
              <a:rPr lang="nl-NL" sz="1100"/>
              <a:t>Leveranciers en andere (zorg)organisaties waarmee de regio samenwerkt om het fundament te onderhouden, door te ontwikkelen en diensten uit te breiden. </a:t>
            </a:r>
          </a:p>
          <a:p>
            <a:pPr marL="0" indent="0" algn="just">
              <a:lnSpc>
                <a:spcPct val="113000"/>
              </a:lnSpc>
              <a:spcBef>
                <a:spcPts val="0"/>
              </a:spcBef>
              <a:buNone/>
            </a:pPr>
            <a:r>
              <a:rPr lang="nl-NL" sz="1100"/>
              <a:t>De regio richt de volgende organisaties en gremia in voor realisatie, sturing, beheer en doorontwikkeling van het fundament:</a:t>
            </a:r>
            <a:endParaRPr lang="nl-NL" sz="1100" b="1"/>
          </a:p>
          <a:p>
            <a:pPr marL="265113" indent="-265113" algn="just">
              <a:lnSpc>
                <a:spcPct val="123000"/>
              </a:lnSpc>
              <a:spcBef>
                <a:spcPts val="0"/>
              </a:spcBef>
              <a:buFont typeface="Arial" panose="020B0604020202020204" pitchFamily="34" charset="0"/>
              <a:buChar char="•"/>
            </a:pPr>
            <a:r>
              <a:rPr lang="nl-NL" sz="1100" b="1"/>
              <a:t>Regionale organisatie Fundament</a:t>
            </a:r>
          </a:p>
          <a:p>
            <a:pPr marL="265113" lvl="2" indent="0" algn="just">
              <a:lnSpc>
                <a:spcPct val="113000"/>
              </a:lnSpc>
              <a:buNone/>
            </a:pPr>
            <a:r>
              <a:rPr lang="nl-NL"/>
              <a:t>De regionale organisatie is verantwoordelijk voor de realisatie, het dagelijkse beheer en doorontwikkeling van het fundament. Dit houdt o.a. in dat ervoor wordt gezorgd dat de technologie naar behoren functioneert en dat gebruikers op de juiste manier worden ondersteund. Deze organisatie heeft de regie over het fundament en bewaakt de efficiëntie en betrouwbaarheid ervan.</a:t>
            </a:r>
          </a:p>
          <a:p>
            <a:pPr marL="265113" indent="-265113" algn="just">
              <a:lnSpc>
                <a:spcPct val="113000"/>
              </a:lnSpc>
              <a:spcBef>
                <a:spcPts val="0"/>
              </a:spcBef>
              <a:buFont typeface="Arial" panose="020B0604020202020204" pitchFamily="34" charset="0"/>
              <a:buChar char="•"/>
            </a:pPr>
            <a:r>
              <a:rPr lang="nl-NL" sz="1100" b="1"/>
              <a:t>Bestuur regionale organisatie Fundament</a:t>
            </a:r>
          </a:p>
          <a:p>
            <a:pPr marL="265113" lvl="2" indent="0" algn="just">
              <a:lnSpc>
                <a:spcPct val="113000"/>
              </a:lnSpc>
              <a:buNone/>
            </a:pPr>
            <a:r>
              <a:rPr lang="nl-NL"/>
              <a:t>Deze organisatie stuurt en stelt kaders op strategisch niveau en werkt samen met de architectuur raad. Hier worden onder andere het beleid, strategie en prioritering van het portfolio vastgesteld.</a:t>
            </a:r>
          </a:p>
          <a:p>
            <a:pPr marL="0" lvl="1" indent="-192087" algn="just">
              <a:lnSpc>
                <a:spcPct val="113000"/>
              </a:lnSpc>
              <a:spcBef>
                <a:spcPts val="0"/>
              </a:spcBef>
              <a:buNone/>
            </a:pPr>
            <a:r>
              <a:rPr lang="nl-NL" sz="1100"/>
              <a:t>De regionale organisaties voor het fundament worden ondersteund door de inmiddels opgerichte regionale architectuurraad. </a:t>
            </a:r>
            <a:endParaRPr lang="LID4096" sz="1100"/>
          </a:p>
        </p:txBody>
      </p:sp>
      <p:sp>
        <p:nvSpPr>
          <p:cNvPr id="2" name="Text Placeholder 1">
            <a:extLst>
              <a:ext uri="{FF2B5EF4-FFF2-40B4-BE49-F238E27FC236}">
                <a16:creationId xmlns:a16="http://schemas.microsoft.com/office/drawing/2014/main" id="{965E39A5-D7F3-65EB-FF26-C1413E1CC2DF}"/>
              </a:ext>
            </a:extLst>
          </p:cNvPr>
          <p:cNvSpPr>
            <a:spLocks noGrp="1"/>
          </p:cNvSpPr>
          <p:nvPr>
            <p:ph type="body" sz="quarter" idx="10"/>
          </p:nvPr>
        </p:nvSpPr>
        <p:spPr/>
        <p:txBody>
          <a:bodyPr/>
          <a:lstStyle/>
          <a:p>
            <a:r>
              <a:rPr lang="nl-NL" err="1"/>
              <a:t>Governance</a:t>
            </a:r>
            <a:r>
              <a:rPr lang="nl-NL"/>
              <a:t> van het fundament bestaat uit stakeholders, een operationele en een strategische organisatie. </a:t>
            </a:r>
            <a:endParaRPr lang="en-GB"/>
          </a:p>
        </p:txBody>
      </p:sp>
      <p:sp>
        <p:nvSpPr>
          <p:cNvPr id="7" name="TextBox 6">
            <a:extLst>
              <a:ext uri="{FF2B5EF4-FFF2-40B4-BE49-F238E27FC236}">
                <a16:creationId xmlns:a16="http://schemas.microsoft.com/office/drawing/2014/main" id="{C34689D4-BED4-E5ED-B2CB-33F37BEBCDDB}"/>
              </a:ext>
            </a:extLst>
          </p:cNvPr>
          <p:cNvSpPr txBox="1"/>
          <p:nvPr/>
        </p:nvSpPr>
        <p:spPr>
          <a:xfrm>
            <a:off x="525914" y="6659076"/>
            <a:ext cx="10321156"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Personen of organisaties kunnen meerdere rollen vervullen. Bijvoorbeeld: een aanbieder van data zal vaak een gebruiker van de data zijn. </a:t>
            </a:r>
            <a:endParaRPr kumimoji="0" lang="LID4096"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10" name="Groep 9">
            <a:extLst>
              <a:ext uri="{FF2B5EF4-FFF2-40B4-BE49-F238E27FC236}">
                <a16:creationId xmlns:a16="http://schemas.microsoft.com/office/drawing/2014/main" id="{75E6FA80-3471-3941-2095-4C9E0D24952F}"/>
              </a:ext>
            </a:extLst>
          </p:cNvPr>
          <p:cNvGrpSpPr/>
          <p:nvPr/>
        </p:nvGrpSpPr>
        <p:grpSpPr>
          <a:xfrm>
            <a:off x="762089" y="1825992"/>
            <a:ext cx="2252815" cy="2252815"/>
            <a:chOff x="813354" y="495703"/>
            <a:chExt cx="2212826" cy="2212826"/>
          </a:xfrm>
        </p:grpSpPr>
        <p:sp>
          <p:nvSpPr>
            <p:cNvPr id="11" name="Gedeeltelijke cirkel 10">
              <a:extLst>
                <a:ext uri="{FF2B5EF4-FFF2-40B4-BE49-F238E27FC236}">
                  <a16:creationId xmlns:a16="http://schemas.microsoft.com/office/drawing/2014/main" id="{A96BD9CF-DFC8-A899-81A4-3E5F9788E35E}"/>
                </a:ext>
              </a:extLst>
            </p:cNvPr>
            <p:cNvSpPr/>
            <p:nvPr/>
          </p:nvSpPr>
          <p:spPr>
            <a:xfrm>
              <a:off x="813354" y="495703"/>
              <a:ext cx="2212826" cy="2212826"/>
            </a:xfrm>
            <a:prstGeom prst="pie">
              <a:avLst>
                <a:gd name="adj1" fmla="val 1800000"/>
                <a:gd name="adj2" fmla="val 9000000"/>
              </a:avLst>
            </a:prstGeom>
            <a:solidFill>
              <a:srgbClr val="47CFFF"/>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Gedeeltelijke cirkel 4">
              <a:extLst>
                <a:ext uri="{FF2B5EF4-FFF2-40B4-BE49-F238E27FC236}">
                  <a16:creationId xmlns:a16="http://schemas.microsoft.com/office/drawing/2014/main" id="{F71246FE-71FE-9FAD-15B9-4774C1540431}"/>
                </a:ext>
              </a:extLst>
            </p:cNvPr>
            <p:cNvSpPr txBox="1"/>
            <p:nvPr/>
          </p:nvSpPr>
          <p:spPr>
            <a:xfrm>
              <a:off x="1419246" y="1912305"/>
              <a:ext cx="1001040" cy="68492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en-NL" sz="14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3" name="Groep 12">
            <a:extLst>
              <a:ext uri="{FF2B5EF4-FFF2-40B4-BE49-F238E27FC236}">
                <a16:creationId xmlns:a16="http://schemas.microsoft.com/office/drawing/2014/main" id="{999C4952-8F0F-5E4B-FE6A-A226B3FA244D}"/>
              </a:ext>
            </a:extLst>
          </p:cNvPr>
          <p:cNvGrpSpPr/>
          <p:nvPr/>
        </p:nvGrpSpPr>
        <p:grpSpPr>
          <a:xfrm>
            <a:off x="766214" y="1817692"/>
            <a:ext cx="2252815" cy="2252815"/>
            <a:chOff x="1195272" y="247459"/>
            <a:chExt cx="2212826" cy="2212826"/>
          </a:xfrm>
          <a:solidFill>
            <a:srgbClr val="47CFFF"/>
          </a:solidFill>
        </p:grpSpPr>
        <p:sp>
          <p:nvSpPr>
            <p:cNvPr id="14" name="Gedeeltelijke cirkel 13">
              <a:extLst>
                <a:ext uri="{FF2B5EF4-FFF2-40B4-BE49-F238E27FC236}">
                  <a16:creationId xmlns:a16="http://schemas.microsoft.com/office/drawing/2014/main" id="{32160A88-ABDE-975D-EE90-65629D2D94F6}"/>
                </a:ext>
              </a:extLst>
            </p:cNvPr>
            <p:cNvSpPr/>
            <p:nvPr/>
          </p:nvSpPr>
          <p:spPr>
            <a:xfrm>
              <a:off x="1195272" y="247459"/>
              <a:ext cx="2212826" cy="2212826"/>
            </a:xfrm>
            <a:prstGeom prst="pie">
              <a:avLst>
                <a:gd name="adj1" fmla="val 16200000"/>
                <a:gd name="adj2" fmla="val 180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Gedeeltelijke cirkel 4">
              <a:extLst>
                <a:ext uri="{FF2B5EF4-FFF2-40B4-BE49-F238E27FC236}">
                  <a16:creationId xmlns:a16="http://schemas.microsoft.com/office/drawing/2014/main" id="{98A1EEBF-1438-E239-7959-81E2E72230DE}"/>
                </a:ext>
              </a:extLst>
            </p:cNvPr>
            <p:cNvSpPr txBox="1"/>
            <p:nvPr/>
          </p:nvSpPr>
          <p:spPr>
            <a:xfrm>
              <a:off x="2377950" y="645572"/>
              <a:ext cx="750780" cy="73760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endParaRPr kumimoji="0" lang="en-NL" sz="1400" b="0" i="0" u="none" strike="noStrike" kern="1200" cap="none" spc="0" normalizeH="0" baseline="0" noProof="0">
                <a:ln>
                  <a:noFill/>
                </a:ln>
                <a:solidFill>
                  <a:prstClr val="white"/>
                </a:solidFill>
                <a:effectLst/>
                <a:uLnTx/>
                <a:uFillTx/>
                <a:latin typeface="Calibri"/>
                <a:ea typeface="+mn-ea"/>
                <a:cs typeface="+mn-cs"/>
              </a:endParaRPr>
            </a:p>
          </p:txBody>
        </p:sp>
      </p:grpSp>
      <p:sp>
        <p:nvSpPr>
          <p:cNvPr id="5" name="Ovaal 4">
            <a:extLst>
              <a:ext uri="{FF2B5EF4-FFF2-40B4-BE49-F238E27FC236}">
                <a16:creationId xmlns:a16="http://schemas.microsoft.com/office/drawing/2014/main" id="{88848D07-44F9-12AC-AA8C-F7AACD3DCF60}"/>
              </a:ext>
            </a:extLst>
          </p:cNvPr>
          <p:cNvSpPr/>
          <p:nvPr/>
        </p:nvSpPr>
        <p:spPr>
          <a:xfrm>
            <a:off x="1531075" y="2621052"/>
            <a:ext cx="698292" cy="698292"/>
          </a:xfrm>
          <a:prstGeom prst="ellipse">
            <a:avLst/>
          </a:prstGeom>
          <a:solidFill>
            <a:srgbClr val="B9ED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kstvak 20">
            <a:extLst>
              <a:ext uri="{FF2B5EF4-FFF2-40B4-BE49-F238E27FC236}">
                <a16:creationId xmlns:a16="http://schemas.microsoft.com/office/drawing/2014/main" id="{8DC01BDE-D428-FD24-7EAD-542B80D81FD3}"/>
              </a:ext>
            </a:extLst>
          </p:cNvPr>
          <p:cNvSpPr txBox="1"/>
          <p:nvPr/>
        </p:nvSpPr>
        <p:spPr>
          <a:xfrm>
            <a:off x="741218" y="2658914"/>
            <a:ext cx="108139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Aanbieders</a:t>
            </a:r>
            <a:endParaRPr kumimoji="0" lang="en-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2" name="Tekstvak 21">
            <a:extLst>
              <a:ext uri="{FF2B5EF4-FFF2-40B4-BE49-F238E27FC236}">
                <a16:creationId xmlns:a16="http://schemas.microsoft.com/office/drawing/2014/main" id="{B3CBE168-EB2D-2F67-C2BB-FCB5597568B5}"/>
              </a:ext>
            </a:extLst>
          </p:cNvPr>
          <p:cNvSpPr txBox="1"/>
          <p:nvPr/>
        </p:nvSpPr>
        <p:spPr>
          <a:xfrm>
            <a:off x="2156783" y="2651430"/>
            <a:ext cx="108139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Gebruikers</a:t>
            </a:r>
            <a:endParaRPr kumimoji="0" lang="en-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3" name="Tekstvak 22">
            <a:extLst>
              <a:ext uri="{FF2B5EF4-FFF2-40B4-BE49-F238E27FC236}">
                <a16:creationId xmlns:a16="http://schemas.microsoft.com/office/drawing/2014/main" id="{7EA0D16E-211C-FC5F-9175-42233B853DF3}"/>
              </a:ext>
            </a:extLst>
          </p:cNvPr>
          <p:cNvSpPr txBox="1"/>
          <p:nvPr/>
        </p:nvSpPr>
        <p:spPr>
          <a:xfrm>
            <a:off x="1763079" y="3526949"/>
            <a:ext cx="108139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Partners</a:t>
            </a:r>
            <a:endParaRPr kumimoji="0" lang="en-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pic>
        <p:nvPicPr>
          <p:cNvPr id="25" name="Graphic 24">
            <a:extLst>
              <a:ext uri="{FF2B5EF4-FFF2-40B4-BE49-F238E27FC236}">
                <a16:creationId xmlns:a16="http://schemas.microsoft.com/office/drawing/2014/main" id="{F4D771CF-B47C-401D-0ED9-CC64C98ED949}"/>
              </a:ext>
            </a:extLst>
          </p:cNvPr>
          <p:cNvPicPr>
            <a:picLocks noChangeAspect="1"/>
          </p:cNvPicPr>
          <p:nvPr>
            <p:custDataLst>
              <p:tags r:id="rId1"/>
            </p:custDataLst>
          </p:nvPr>
        </p:nvPicPr>
        <p:blipFill>
          <a:blip r:embed="rId10">
            <a:extLst>
              <a:ext uri="{96DAC541-7B7A-43D3-8B79-37D633B846F1}">
                <asvg:svgBlip xmlns:asvg="http://schemas.microsoft.com/office/drawing/2016/SVG/main" r:embed="rId11"/>
              </a:ext>
            </a:extLst>
          </a:blip>
          <a:stretch>
            <a:fillRect/>
          </a:stretch>
        </p:blipFill>
        <p:spPr>
          <a:xfrm>
            <a:off x="1076779" y="2188119"/>
            <a:ext cx="501726" cy="501726"/>
          </a:xfrm>
          <a:prstGeom prst="rect">
            <a:avLst/>
          </a:prstGeom>
        </p:spPr>
      </p:pic>
      <p:pic>
        <p:nvPicPr>
          <p:cNvPr id="27" name="Graphic 26">
            <a:extLst>
              <a:ext uri="{FF2B5EF4-FFF2-40B4-BE49-F238E27FC236}">
                <a16:creationId xmlns:a16="http://schemas.microsoft.com/office/drawing/2014/main" id="{22DC2A42-9437-6D58-50AB-96343A1C47C9}"/>
              </a:ext>
            </a:extLst>
          </p:cNvPr>
          <p:cNvPicPr>
            <a:picLocks noChangeAspect="1"/>
          </p:cNvPicPr>
          <p:nvPr>
            <p:custDataLst>
              <p:tags r:id="rId2"/>
            </p:custDataLst>
          </p:nvPr>
        </p:nvPicPr>
        <p:blipFill>
          <a:blip r:embed="rId12">
            <a:extLst>
              <a:ext uri="{96DAC541-7B7A-43D3-8B79-37D633B846F1}">
                <asvg:svgBlip xmlns:asvg="http://schemas.microsoft.com/office/drawing/2016/SVG/main" r:embed="rId13"/>
              </a:ext>
            </a:extLst>
          </a:blip>
          <a:stretch>
            <a:fillRect/>
          </a:stretch>
        </p:blipFill>
        <p:spPr>
          <a:xfrm>
            <a:off x="2169787" y="2173850"/>
            <a:ext cx="501727" cy="501727"/>
          </a:xfrm>
          <a:prstGeom prst="rect">
            <a:avLst/>
          </a:prstGeom>
        </p:spPr>
      </p:pic>
      <p:pic>
        <p:nvPicPr>
          <p:cNvPr id="28" name="Graphic 27">
            <a:extLst>
              <a:ext uri="{FF2B5EF4-FFF2-40B4-BE49-F238E27FC236}">
                <a16:creationId xmlns:a16="http://schemas.microsoft.com/office/drawing/2014/main" id="{5D2FF627-2838-8586-763C-9E2898605D0C}"/>
              </a:ext>
            </a:extLst>
          </p:cNvPr>
          <p:cNvPicPr>
            <a:picLocks noChangeAspect="1"/>
          </p:cNvPicPr>
          <p:nvPr>
            <p:custDataLst>
              <p:tags r:id="rId3"/>
            </p:custDataLst>
          </p:nvPr>
        </p:nvPicPr>
        <p:blipFill>
          <a:blip r:embed="rId14">
            <a:extLst>
              <a:ext uri="{96DAC541-7B7A-43D3-8B79-37D633B846F1}">
                <asvg:svgBlip xmlns:asvg="http://schemas.microsoft.com/office/drawing/2016/SVG/main" r:embed="rId15"/>
              </a:ext>
            </a:extLst>
          </a:blip>
          <a:stretch>
            <a:fillRect/>
          </a:stretch>
        </p:blipFill>
        <p:spPr>
          <a:xfrm>
            <a:off x="1293667" y="3331564"/>
            <a:ext cx="518580" cy="518580"/>
          </a:xfrm>
          <a:prstGeom prst="rect">
            <a:avLst/>
          </a:prstGeom>
        </p:spPr>
      </p:pic>
      <p:pic>
        <p:nvPicPr>
          <p:cNvPr id="30" name="Graphic 29">
            <a:extLst>
              <a:ext uri="{FF2B5EF4-FFF2-40B4-BE49-F238E27FC236}">
                <a16:creationId xmlns:a16="http://schemas.microsoft.com/office/drawing/2014/main" id="{F5312715-8DBD-D6EA-EF0B-254517B9DBA5}"/>
              </a:ext>
            </a:extLst>
          </p:cNvPr>
          <p:cNvPicPr>
            <a:picLocks noChangeAspect="1"/>
          </p:cNvPicPr>
          <p:nvPr>
            <p:custDataLst>
              <p:tags r:id="rId4"/>
            </p:custDataLst>
          </p:nvPr>
        </p:nvPicPr>
        <p:blipFill>
          <a:blip r:embed="rId16">
            <a:extLst>
              <a:ext uri="{96DAC541-7B7A-43D3-8B79-37D633B846F1}">
                <asvg:svgBlip xmlns:asvg="http://schemas.microsoft.com/office/drawing/2016/SVG/main" r:embed="rId17"/>
              </a:ext>
            </a:extLst>
          </a:blip>
          <a:stretch>
            <a:fillRect/>
          </a:stretch>
        </p:blipFill>
        <p:spPr>
          <a:xfrm>
            <a:off x="1628935" y="2708925"/>
            <a:ext cx="513151" cy="513151"/>
          </a:xfrm>
          <a:prstGeom prst="rect">
            <a:avLst/>
          </a:prstGeom>
        </p:spPr>
      </p:pic>
      <p:grpSp>
        <p:nvGrpSpPr>
          <p:cNvPr id="8" name="Group 7">
            <a:extLst>
              <a:ext uri="{FF2B5EF4-FFF2-40B4-BE49-F238E27FC236}">
                <a16:creationId xmlns:a16="http://schemas.microsoft.com/office/drawing/2014/main" id="{F5D28D61-8D21-E916-EC88-A2305FA909FD}"/>
              </a:ext>
            </a:extLst>
          </p:cNvPr>
          <p:cNvGrpSpPr/>
          <p:nvPr/>
        </p:nvGrpSpPr>
        <p:grpSpPr>
          <a:xfrm>
            <a:off x="615491" y="4658587"/>
            <a:ext cx="2546010" cy="494886"/>
            <a:chOff x="596024" y="4540118"/>
            <a:chExt cx="2546010" cy="494886"/>
          </a:xfrm>
        </p:grpSpPr>
        <p:sp>
          <p:nvSpPr>
            <p:cNvPr id="31" name="Rechthoek: afgeronde hoeken 30">
              <a:extLst>
                <a:ext uri="{FF2B5EF4-FFF2-40B4-BE49-F238E27FC236}">
                  <a16:creationId xmlns:a16="http://schemas.microsoft.com/office/drawing/2014/main" id="{3CA80291-3B03-5E7D-ABF2-AABE1AB94D71}"/>
                </a:ext>
              </a:extLst>
            </p:cNvPr>
            <p:cNvSpPr/>
            <p:nvPr/>
          </p:nvSpPr>
          <p:spPr>
            <a:xfrm>
              <a:off x="596024" y="4540118"/>
              <a:ext cx="2546010" cy="465490"/>
            </a:xfrm>
            <a:prstGeom prst="roundRect">
              <a:avLst/>
            </a:prstGeom>
            <a:solidFill>
              <a:srgbClr val="00B3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rPr>
                <a:t>Regionale organisatie</a:t>
              </a:r>
              <a:endParaRPr kumimoji="0" lang="en-NL" sz="1200" b="0"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endParaRPr>
            </a:p>
          </p:txBody>
        </p:sp>
        <p:pic>
          <p:nvPicPr>
            <p:cNvPr id="34" name="Graphic 33">
              <a:extLst>
                <a:ext uri="{FF2B5EF4-FFF2-40B4-BE49-F238E27FC236}">
                  <a16:creationId xmlns:a16="http://schemas.microsoft.com/office/drawing/2014/main" id="{77FE6F5A-88A2-D8BD-F8BE-1C02DE4FE56E}"/>
                </a:ext>
              </a:extLst>
            </p:cNvPr>
            <p:cNvPicPr>
              <a:picLocks noChangeAspect="1"/>
            </p:cNvPicPr>
            <p:nvPr>
              <p:custDataLst>
                <p:tags r:id="rId6"/>
              </p:custDataLst>
            </p:nvPr>
          </p:nvPicPr>
          <p:blipFill>
            <a:blip r:embed="rId18">
              <a:extLst>
                <a:ext uri="{96DAC541-7B7A-43D3-8B79-37D633B846F1}">
                  <asvg:svgBlip xmlns:asvg="http://schemas.microsoft.com/office/drawing/2016/SVG/main" r:embed="rId19"/>
                </a:ext>
              </a:extLst>
            </a:blip>
            <a:stretch>
              <a:fillRect/>
            </a:stretch>
          </p:blipFill>
          <p:spPr>
            <a:xfrm>
              <a:off x="729982" y="4544454"/>
              <a:ext cx="490550" cy="490550"/>
            </a:xfrm>
            <a:prstGeom prst="rect">
              <a:avLst/>
            </a:prstGeom>
          </p:spPr>
        </p:pic>
      </p:grpSp>
      <p:grpSp>
        <p:nvGrpSpPr>
          <p:cNvPr id="6" name="Group 5">
            <a:extLst>
              <a:ext uri="{FF2B5EF4-FFF2-40B4-BE49-F238E27FC236}">
                <a16:creationId xmlns:a16="http://schemas.microsoft.com/office/drawing/2014/main" id="{66E95C0D-40AF-C321-487A-6E3C677A583B}"/>
              </a:ext>
            </a:extLst>
          </p:cNvPr>
          <p:cNvGrpSpPr/>
          <p:nvPr/>
        </p:nvGrpSpPr>
        <p:grpSpPr>
          <a:xfrm>
            <a:off x="615491" y="5643720"/>
            <a:ext cx="2546010" cy="491416"/>
            <a:chOff x="596024" y="5347909"/>
            <a:chExt cx="2546010" cy="491416"/>
          </a:xfrm>
        </p:grpSpPr>
        <p:sp>
          <p:nvSpPr>
            <p:cNvPr id="32" name="Rechthoek: afgeronde hoeken 31">
              <a:extLst>
                <a:ext uri="{FF2B5EF4-FFF2-40B4-BE49-F238E27FC236}">
                  <a16:creationId xmlns:a16="http://schemas.microsoft.com/office/drawing/2014/main" id="{AB28F6E7-F9CF-BED7-95F2-25B40FB4CB67}"/>
                </a:ext>
              </a:extLst>
            </p:cNvPr>
            <p:cNvSpPr/>
            <p:nvPr/>
          </p:nvSpPr>
          <p:spPr>
            <a:xfrm>
              <a:off x="596024" y="5347909"/>
              <a:ext cx="2546010" cy="470708"/>
            </a:xfrm>
            <a:prstGeom prst="roundRect">
              <a:avLst/>
            </a:prstGeom>
            <a:solidFill>
              <a:srgbClr val="00B3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NL" sz="1200" b="0"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rPr>
                <a:t>Bestuursorganisatie</a:t>
              </a:r>
              <a:endParaRPr kumimoji="0" lang="en-NL" sz="1200" b="0"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endParaRPr>
            </a:p>
          </p:txBody>
        </p:sp>
        <p:pic>
          <p:nvPicPr>
            <p:cNvPr id="35" name="Graphic 34">
              <a:extLst>
                <a:ext uri="{FF2B5EF4-FFF2-40B4-BE49-F238E27FC236}">
                  <a16:creationId xmlns:a16="http://schemas.microsoft.com/office/drawing/2014/main" id="{21710F0C-1B67-FAA7-7C07-7FFD9089DB73}"/>
                </a:ext>
              </a:extLst>
            </p:cNvPr>
            <p:cNvPicPr>
              <a:picLocks noChangeAspect="1"/>
            </p:cNvPicPr>
            <p:nvPr>
              <p:custDataLst>
                <p:tags r:id="rId5"/>
              </p:custDataLst>
            </p:nvPr>
          </p:nvPicPr>
          <p:blipFill>
            <a:blip r:embed="rId20">
              <a:extLst>
                <a:ext uri="{96DAC541-7B7A-43D3-8B79-37D633B846F1}">
                  <asvg:svgBlip xmlns:asvg="http://schemas.microsoft.com/office/drawing/2016/SVG/main" r:embed="rId21"/>
                </a:ext>
              </a:extLst>
            </a:blip>
            <a:stretch>
              <a:fillRect/>
            </a:stretch>
          </p:blipFill>
          <p:spPr>
            <a:xfrm>
              <a:off x="730163" y="5348775"/>
              <a:ext cx="490550" cy="490550"/>
            </a:xfrm>
            <a:prstGeom prst="rect">
              <a:avLst/>
            </a:prstGeom>
          </p:spPr>
        </p:pic>
      </p:grpSp>
      <p:sp>
        <p:nvSpPr>
          <p:cNvPr id="36" name="Pijl: omhoog 35">
            <a:extLst>
              <a:ext uri="{FF2B5EF4-FFF2-40B4-BE49-F238E27FC236}">
                <a16:creationId xmlns:a16="http://schemas.microsoft.com/office/drawing/2014/main" id="{51C236B2-FBFF-32CD-E4E5-C72A95D7A687}"/>
              </a:ext>
            </a:extLst>
          </p:cNvPr>
          <p:cNvSpPr/>
          <p:nvPr/>
        </p:nvSpPr>
        <p:spPr>
          <a:xfrm>
            <a:off x="1532896" y="4270522"/>
            <a:ext cx="711200" cy="285882"/>
          </a:xfrm>
          <a:prstGeom prst="up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Pijl: omhoog 36">
            <a:extLst>
              <a:ext uri="{FF2B5EF4-FFF2-40B4-BE49-F238E27FC236}">
                <a16:creationId xmlns:a16="http://schemas.microsoft.com/office/drawing/2014/main" id="{DB775E6E-1341-5C95-8461-C98FBED198CC}"/>
              </a:ext>
            </a:extLst>
          </p:cNvPr>
          <p:cNvSpPr/>
          <p:nvPr/>
        </p:nvSpPr>
        <p:spPr>
          <a:xfrm>
            <a:off x="1532896" y="5255656"/>
            <a:ext cx="711200" cy="285882"/>
          </a:xfrm>
          <a:prstGeom prst="up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Top Corners Rounded 38">
            <a:hlinkClick r:id="rId22" action="ppaction://hlinksldjump"/>
            <a:extLst>
              <a:ext uri="{FF2B5EF4-FFF2-40B4-BE49-F238E27FC236}">
                <a16:creationId xmlns:a16="http://schemas.microsoft.com/office/drawing/2014/main" id="{363A3067-0452-8BA1-30B3-33CAF213BCB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16" name="Graphic 15" descr="Introductiepagina silhouet">
            <a:hlinkClick r:id="rId23" action="ppaction://hlinksldjump"/>
            <a:extLst>
              <a:ext uri="{FF2B5EF4-FFF2-40B4-BE49-F238E27FC236}">
                <a16:creationId xmlns:a16="http://schemas.microsoft.com/office/drawing/2014/main" id="{05F1F040-22CC-692A-6D3A-ECD7BB0C178D}"/>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5136" y="147223"/>
            <a:ext cx="144000" cy="144000"/>
          </a:xfrm>
          <a:prstGeom prst="rect">
            <a:avLst/>
          </a:prstGeom>
        </p:spPr>
      </p:pic>
      <p:sp>
        <p:nvSpPr>
          <p:cNvPr id="17" name="Rectangle: Top Corners Rounded 1">
            <a:hlinkClick r:id="rId26" action="ppaction://hlinksldjump"/>
            <a:extLst>
              <a:ext uri="{FF2B5EF4-FFF2-40B4-BE49-F238E27FC236}">
                <a16:creationId xmlns:a16="http://schemas.microsoft.com/office/drawing/2014/main" id="{76E8C29F-5754-517E-09A2-6284E7B17447}"/>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8" name="Rectangle: Top Corners Rounded 1">
            <a:hlinkClick r:id="rId27" action="ppaction://hlinksldjump"/>
            <a:extLst>
              <a:ext uri="{FF2B5EF4-FFF2-40B4-BE49-F238E27FC236}">
                <a16:creationId xmlns:a16="http://schemas.microsoft.com/office/drawing/2014/main" id="{99C41F1F-B787-1EFF-3A45-B8A5158095AA}"/>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0" name="Rectangle: Top Corners Rounded 1">
            <a:hlinkClick r:id="rId28" action="ppaction://hlinksldjump"/>
            <a:extLst>
              <a:ext uri="{FF2B5EF4-FFF2-40B4-BE49-F238E27FC236}">
                <a16:creationId xmlns:a16="http://schemas.microsoft.com/office/drawing/2014/main" id="{0609857B-946C-18D0-5EDB-FDFB691C019B}"/>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4" name="Rectangle: Top Corners Rounded 1">
            <a:hlinkClick r:id="rId29" action="ppaction://hlinksldjump"/>
            <a:extLst>
              <a:ext uri="{FF2B5EF4-FFF2-40B4-BE49-F238E27FC236}">
                <a16:creationId xmlns:a16="http://schemas.microsoft.com/office/drawing/2014/main" id="{3B300E82-402A-9025-D4C2-FDC5A4AAEBA5}"/>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6" name="Rectangle: Top Corners Rounded 1">
            <a:hlinkClick r:id="rId30" action="ppaction://hlinksldjump"/>
            <a:extLst>
              <a:ext uri="{FF2B5EF4-FFF2-40B4-BE49-F238E27FC236}">
                <a16:creationId xmlns:a16="http://schemas.microsoft.com/office/drawing/2014/main" id="{629BF6AD-6A0F-E811-F024-124E003756EF}"/>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9" name="Rectangle: Top Corners Rounded 1">
            <a:hlinkClick r:id="rId31" action="ppaction://hlinksldjump"/>
            <a:extLst>
              <a:ext uri="{FF2B5EF4-FFF2-40B4-BE49-F238E27FC236}">
                <a16:creationId xmlns:a16="http://schemas.microsoft.com/office/drawing/2014/main" id="{C5E38F4F-55B7-BC62-E8BC-9A41B0C9A8D5}"/>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8" name="Rectangle: Top Corners Rounded 1">
            <a:hlinkClick r:id="rId32" action="ppaction://hlinksldjump"/>
            <a:extLst>
              <a:ext uri="{FF2B5EF4-FFF2-40B4-BE49-F238E27FC236}">
                <a16:creationId xmlns:a16="http://schemas.microsoft.com/office/drawing/2014/main" id="{0D554FBE-FE7F-4589-899F-5A255BE595D4}"/>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39" name="Rectangle: Top Corners Rounded 1">
            <a:hlinkClick r:id="rId33" action="ppaction://hlinksldjump"/>
            <a:extLst>
              <a:ext uri="{FF2B5EF4-FFF2-40B4-BE49-F238E27FC236}">
                <a16:creationId xmlns:a16="http://schemas.microsoft.com/office/drawing/2014/main" id="{9642F8F0-8E35-1C12-AEA8-F8365FF7830F}"/>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0" name="Rectangle: Top Corners Rounded 1">
            <a:hlinkClick r:id="rId34" action="ppaction://hlinksldjump"/>
            <a:extLst>
              <a:ext uri="{FF2B5EF4-FFF2-40B4-BE49-F238E27FC236}">
                <a16:creationId xmlns:a16="http://schemas.microsoft.com/office/drawing/2014/main" id="{6060F59E-4365-7887-1F8D-42F470F5FDB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1" name="Rectangle: Top Corners Rounded 1">
            <a:hlinkClick r:id="rId35" action="ppaction://hlinksldjump"/>
            <a:extLst>
              <a:ext uri="{FF2B5EF4-FFF2-40B4-BE49-F238E27FC236}">
                <a16:creationId xmlns:a16="http://schemas.microsoft.com/office/drawing/2014/main" id="{5E332BCA-36EA-9EC4-9E4D-D624112C251B}"/>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42" name="Rectangle: Top Corners Rounded 1">
            <a:hlinkClick r:id="rId36" action="ppaction://hlinksldjump"/>
            <a:extLst>
              <a:ext uri="{FF2B5EF4-FFF2-40B4-BE49-F238E27FC236}">
                <a16:creationId xmlns:a16="http://schemas.microsoft.com/office/drawing/2014/main" id="{38F147F4-1DA7-245C-5ACB-FDCD48882849}"/>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
        <p:nvSpPr>
          <p:cNvPr id="3" name="Rechthoek: afgeronde hoeken 2">
            <a:extLst>
              <a:ext uri="{FF2B5EF4-FFF2-40B4-BE49-F238E27FC236}">
                <a16:creationId xmlns:a16="http://schemas.microsoft.com/office/drawing/2014/main" id="{3F8E4CDA-64F7-1AF5-1755-0CC3361EAF18}"/>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17721890"/>
      </p:ext>
    </p:extLst>
  </p:cSld>
  <p:clrMapOvr>
    <a:masterClrMapping/>
  </p:clrMapOvr>
  <p:extLst>
    <p:ext uri="{6950BFC3-D8DA-4A85-94F7-54DA5524770B}">
      <p188:commentRel xmlns:p188="http://schemas.microsoft.com/office/powerpoint/2018/8/main" r:id="rId9"/>
    </p:ext>
  </p:extLs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hoek: afgeronde hoeken 14">
            <a:extLst>
              <a:ext uri="{FF2B5EF4-FFF2-40B4-BE49-F238E27FC236}">
                <a16:creationId xmlns:a16="http://schemas.microsoft.com/office/drawing/2014/main" id="{6F715031-24AB-1F11-63BF-6F2CF14A5FEF}"/>
              </a:ext>
            </a:extLst>
          </p:cNvPr>
          <p:cNvSpPr/>
          <p:nvPr/>
        </p:nvSpPr>
        <p:spPr>
          <a:xfrm>
            <a:off x="4472680" y="5257275"/>
            <a:ext cx="3338940" cy="1278844"/>
          </a:xfrm>
          <a:prstGeom prst="roundRect">
            <a:avLst/>
          </a:prstGeom>
          <a:noFill/>
          <a:ln>
            <a:solidFill>
              <a:srgbClr val="47C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Rechthoek: afgeronde hoeken 15">
            <a:extLst>
              <a:ext uri="{FF2B5EF4-FFF2-40B4-BE49-F238E27FC236}">
                <a16:creationId xmlns:a16="http://schemas.microsoft.com/office/drawing/2014/main" id="{113A5515-B389-DB48-8685-999DC759257C}"/>
              </a:ext>
            </a:extLst>
          </p:cNvPr>
          <p:cNvSpPr/>
          <p:nvPr/>
        </p:nvSpPr>
        <p:spPr>
          <a:xfrm>
            <a:off x="8377819" y="5229939"/>
            <a:ext cx="3399122" cy="1306179"/>
          </a:xfrm>
          <a:prstGeom prst="roundRect">
            <a:avLst/>
          </a:prstGeom>
          <a:noFill/>
          <a:ln>
            <a:solidFill>
              <a:srgbClr val="47C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Rechthoek: afgeronde hoeken 34">
            <a:extLst>
              <a:ext uri="{FF2B5EF4-FFF2-40B4-BE49-F238E27FC236}">
                <a16:creationId xmlns:a16="http://schemas.microsoft.com/office/drawing/2014/main" id="{217EEBF4-DCB0-76B3-A9ED-DFE61811D44D}"/>
              </a:ext>
            </a:extLst>
          </p:cNvPr>
          <p:cNvSpPr/>
          <p:nvPr/>
        </p:nvSpPr>
        <p:spPr>
          <a:xfrm>
            <a:off x="509251" y="1760904"/>
            <a:ext cx="6427082" cy="2189974"/>
          </a:xfrm>
          <a:prstGeom prst="roundRect">
            <a:avLst>
              <a:gd name="adj" fmla="val 5061"/>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3" name="Rechthoek: afgeronde hoeken 12">
            <a:extLst>
              <a:ext uri="{FF2B5EF4-FFF2-40B4-BE49-F238E27FC236}">
                <a16:creationId xmlns:a16="http://schemas.microsoft.com/office/drawing/2014/main" id="{319C6FF3-6301-9489-172A-5FC0E641B814}"/>
              </a:ext>
            </a:extLst>
          </p:cNvPr>
          <p:cNvSpPr/>
          <p:nvPr/>
        </p:nvSpPr>
        <p:spPr>
          <a:xfrm>
            <a:off x="567541" y="5239039"/>
            <a:ext cx="3413760" cy="1297079"/>
          </a:xfrm>
          <a:prstGeom prst="roundRect">
            <a:avLst/>
          </a:prstGeom>
          <a:noFill/>
          <a:ln>
            <a:solidFill>
              <a:srgbClr val="47C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L"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8" name="Tekstvak 17">
            <a:extLst>
              <a:ext uri="{FF2B5EF4-FFF2-40B4-BE49-F238E27FC236}">
                <a16:creationId xmlns:a16="http://schemas.microsoft.com/office/drawing/2014/main" id="{1F072643-0529-71E4-5747-560CDBE3B534}"/>
              </a:ext>
            </a:extLst>
          </p:cNvPr>
          <p:cNvSpPr txBox="1"/>
          <p:nvPr/>
        </p:nvSpPr>
        <p:spPr>
          <a:xfrm>
            <a:off x="416335" y="5534343"/>
            <a:ext cx="3565547" cy="938719"/>
          </a:xfrm>
          <a:prstGeom prst="rect">
            <a:avLst/>
          </a:prstGeom>
          <a:noFill/>
        </p:spPr>
        <p:txBody>
          <a:bodyPr wrap="square">
            <a:spAutoFit/>
          </a:bodyPr>
          <a:lstStyle/>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Beschikbaar stellen relevante datasets aan het regionale platform;</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Aansluiting op het data platform;</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Datamanagement te verzenden data;</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Procesverandering voor datakwaliteit.</a:t>
            </a:r>
          </a:p>
        </p:txBody>
      </p:sp>
      <p:sp>
        <p:nvSpPr>
          <p:cNvPr id="20" name="Tekstvak 19">
            <a:extLst>
              <a:ext uri="{FF2B5EF4-FFF2-40B4-BE49-F238E27FC236}">
                <a16:creationId xmlns:a16="http://schemas.microsoft.com/office/drawing/2014/main" id="{60C41941-4449-9D70-502F-44B6C454FFFA}"/>
              </a:ext>
            </a:extLst>
          </p:cNvPr>
          <p:cNvSpPr txBox="1"/>
          <p:nvPr/>
        </p:nvSpPr>
        <p:spPr>
          <a:xfrm>
            <a:off x="4365825" y="5597399"/>
            <a:ext cx="3567578" cy="938719"/>
          </a:xfrm>
          <a:prstGeom prst="rect">
            <a:avLst/>
          </a:prstGeom>
          <a:noFill/>
        </p:spPr>
        <p:txBody>
          <a:bodyPr wrap="square">
            <a:spAutoFit/>
          </a:bodyPr>
          <a:lstStyle/>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Gebruik van relevante gegevens uit het regionale platform voor o.a. het leveren passende zorg of doen van onderzoek. </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Input leveren doorontwikkeling van diensten.</a:t>
            </a:r>
          </a:p>
        </p:txBody>
      </p:sp>
      <p:sp>
        <p:nvSpPr>
          <p:cNvPr id="21" name="Tekstvak 20">
            <a:extLst>
              <a:ext uri="{FF2B5EF4-FFF2-40B4-BE49-F238E27FC236}">
                <a16:creationId xmlns:a16="http://schemas.microsoft.com/office/drawing/2014/main" id="{D04D152A-D22C-F8A5-1DA0-BE84728DA75F}"/>
              </a:ext>
            </a:extLst>
          </p:cNvPr>
          <p:cNvSpPr txBox="1"/>
          <p:nvPr/>
        </p:nvSpPr>
        <p:spPr>
          <a:xfrm>
            <a:off x="8246799" y="5513951"/>
            <a:ext cx="3544780" cy="938719"/>
          </a:xfrm>
          <a:prstGeom prst="rect">
            <a:avLst/>
          </a:prstGeom>
          <a:noFill/>
        </p:spPr>
        <p:txBody>
          <a:bodyPr wrap="square">
            <a:spAutoFit/>
          </a:bodyPr>
          <a:lstStyle/>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Leveren diensten voor het fundament;</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Samenwerking en ondersteuning;</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Doorontwikkeling waar wettelijk vereist. </a:t>
            </a:r>
          </a:p>
          <a:p>
            <a:pPr marL="265113" marR="0" lvl="2" indent="0" algn="l" defTabSz="914400" rtl="0" eaLnBrk="1" fontAlgn="auto" latinLnBrk="0" hangingPunct="1">
              <a:lnSpc>
                <a:spcPct val="100000"/>
              </a:lnSpc>
              <a:spcBef>
                <a:spcPts val="0"/>
              </a:spcBef>
              <a:spcAft>
                <a:spcPts val="0"/>
              </a:spcAft>
              <a:buClrTx/>
              <a:buSzTx/>
              <a:buFontTx/>
              <a:buNone/>
              <a:tabLst/>
              <a:defRPr/>
            </a:pPr>
            <a:endPar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2" name="Tekstvak 21">
            <a:extLst>
              <a:ext uri="{FF2B5EF4-FFF2-40B4-BE49-F238E27FC236}">
                <a16:creationId xmlns:a16="http://schemas.microsoft.com/office/drawing/2014/main" id="{65647A5B-DA60-CD4D-E46E-F44A554C94D1}"/>
              </a:ext>
            </a:extLst>
          </p:cNvPr>
          <p:cNvSpPr txBox="1"/>
          <p:nvPr/>
        </p:nvSpPr>
        <p:spPr>
          <a:xfrm>
            <a:off x="803730" y="5267680"/>
            <a:ext cx="3117389"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Aanbieders</a:t>
            </a:r>
            <a:endParaRPr kumimoji="0" lang="en-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4" name="Ovaal 23">
            <a:extLst>
              <a:ext uri="{FF2B5EF4-FFF2-40B4-BE49-F238E27FC236}">
                <a16:creationId xmlns:a16="http://schemas.microsoft.com/office/drawing/2014/main" id="{2D23BD19-2EDA-06AC-3002-CCFAA5973A0C}"/>
              </a:ext>
            </a:extLst>
          </p:cNvPr>
          <p:cNvSpPr/>
          <p:nvPr/>
        </p:nvSpPr>
        <p:spPr>
          <a:xfrm>
            <a:off x="443428" y="5068598"/>
            <a:ext cx="518580" cy="518580"/>
          </a:xfrm>
          <a:prstGeom prst="ellipse">
            <a:avLst/>
          </a:prstGeom>
          <a:solidFill>
            <a:srgbClr val="47C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pic>
        <p:nvPicPr>
          <p:cNvPr id="23" name="Graphic 22">
            <a:extLst>
              <a:ext uri="{FF2B5EF4-FFF2-40B4-BE49-F238E27FC236}">
                <a16:creationId xmlns:a16="http://schemas.microsoft.com/office/drawing/2014/main" id="{72A854E8-E65E-DAA9-C357-0B3B302D2E04}"/>
              </a:ext>
            </a:extLst>
          </p:cNvPr>
          <p:cNvPicPr>
            <a:picLocks noChangeAspect="1"/>
          </p:cNvPicPr>
          <p:nvPr>
            <p:custDataLst>
              <p:tags r:id="rId1"/>
            </p:custDataLst>
          </p:nvPr>
        </p:nvPicPr>
        <p:blipFill>
          <a:blip r:embed="rId8">
            <a:extLst>
              <a:ext uri="{96DAC541-7B7A-43D3-8B79-37D633B846F1}">
                <asvg:svgBlip xmlns:asvg="http://schemas.microsoft.com/office/drawing/2016/SVG/main" r:embed="rId9"/>
              </a:ext>
            </a:extLst>
          </a:blip>
          <a:stretch>
            <a:fillRect/>
          </a:stretch>
        </p:blipFill>
        <p:spPr>
          <a:xfrm>
            <a:off x="501132" y="5110306"/>
            <a:ext cx="381776" cy="381776"/>
          </a:xfrm>
          <a:prstGeom prst="rect">
            <a:avLst/>
          </a:prstGeom>
        </p:spPr>
      </p:pic>
      <p:sp>
        <p:nvSpPr>
          <p:cNvPr id="25" name="Ovaal 24">
            <a:extLst>
              <a:ext uri="{FF2B5EF4-FFF2-40B4-BE49-F238E27FC236}">
                <a16:creationId xmlns:a16="http://schemas.microsoft.com/office/drawing/2014/main" id="{18A62330-48EC-122A-02FF-6CF78BC1D799}"/>
              </a:ext>
            </a:extLst>
          </p:cNvPr>
          <p:cNvSpPr/>
          <p:nvPr/>
        </p:nvSpPr>
        <p:spPr>
          <a:xfrm>
            <a:off x="4227572" y="5078819"/>
            <a:ext cx="518580" cy="518580"/>
          </a:xfrm>
          <a:prstGeom prst="ellipse">
            <a:avLst/>
          </a:prstGeom>
          <a:solidFill>
            <a:srgbClr val="47C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pic>
        <p:nvPicPr>
          <p:cNvPr id="27" name="Graphic 26">
            <a:extLst>
              <a:ext uri="{FF2B5EF4-FFF2-40B4-BE49-F238E27FC236}">
                <a16:creationId xmlns:a16="http://schemas.microsoft.com/office/drawing/2014/main" id="{4ABDDB8E-9E8B-AF64-8AE1-B27E35727119}"/>
              </a:ext>
            </a:extLst>
          </p:cNvPr>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tretch>
            <a:fillRect/>
          </a:stretch>
        </p:blipFill>
        <p:spPr>
          <a:xfrm>
            <a:off x="4318862" y="5126650"/>
            <a:ext cx="349089" cy="349089"/>
          </a:xfrm>
          <a:prstGeom prst="rect">
            <a:avLst/>
          </a:prstGeom>
        </p:spPr>
      </p:pic>
      <p:sp>
        <p:nvSpPr>
          <p:cNvPr id="31" name="Ovaal 30">
            <a:extLst>
              <a:ext uri="{FF2B5EF4-FFF2-40B4-BE49-F238E27FC236}">
                <a16:creationId xmlns:a16="http://schemas.microsoft.com/office/drawing/2014/main" id="{4461F068-986E-2177-D446-A55BF8C895CF}"/>
              </a:ext>
            </a:extLst>
          </p:cNvPr>
          <p:cNvSpPr/>
          <p:nvPr/>
        </p:nvSpPr>
        <p:spPr>
          <a:xfrm>
            <a:off x="8192893" y="5056394"/>
            <a:ext cx="518580" cy="518580"/>
          </a:xfrm>
          <a:prstGeom prst="ellipse">
            <a:avLst/>
          </a:prstGeom>
          <a:solidFill>
            <a:srgbClr val="47C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pic>
        <p:nvPicPr>
          <p:cNvPr id="34" name="Graphic 33">
            <a:extLst>
              <a:ext uri="{FF2B5EF4-FFF2-40B4-BE49-F238E27FC236}">
                <a16:creationId xmlns:a16="http://schemas.microsoft.com/office/drawing/2014/main" id="{0CA333DF-EC35-CE54-0CD7-4DCB59CEDCF9}"/>
              </a:ext>
            </a:extLst>
          </p:cNvPr>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tretch>
            <a:fillRect/>
          </a:stretch>
        </p:blipFill>
        <p:spPr>
          <a:xfrm>
            <a:off x="8261238" y="5128560"/>
            <a:ext cx="345268" cy="345268"/>
          </a:xfrm>
          <a:prstGeom prst="rect">
            <a:avLst/>
          </a:prstGeom>
        </p:spPr>
      </p:pic>
      <p:sp>
        <p:nvSpPr>
          <p:cNvPr id="36" name="Rechthoek: afgeronde hoeken 35">
            <a:extLst>
              <a:ext uri="{FF2B5EF4-FFF2-40B4-BE49-F238E27FC236}">
                <a16:creationId xmlns:a16="http://schemas.microsoft.com/office/drawing/2014/main" id="{4E7A1A8E-3589-F22B-BCE0-50F90A533485}"/>
              </a:ext>
            </a:extLst>
          </p:cNvPr>
          <p:cNvSpPr/>
          <p:nvPr/>
        </p:nvSpPr>
        <p:spPr>
          <a:xfrm>
            <a:off x="443428" y="1616181"/>
            <a:ext cx="6492905" cy="333620"/>
          </a:xfrm>
          <a:prstGeom prst="roundRect">
            <a:avLst/>
          </a:prstGeom>
          <a:solidFill>
            <a:srgbClr val="00B3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rPr>
              <a:t>Regionale operationele organisatie fundament</a:t>
            </a:r>
            <a:endParaRPr kumimoji="0" lang="en-NL" sz="1200" b="1"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endParaRPr>
          </a:p>
        </p:txBody>
      </p:sp>
      <p:sp>
        <p:nvSpPr>
          <p:cNvPr id="39" name="Tekstvak 38">
            <a:extLst>
              <a:ext uri="{FF2B5EF4-FFF2-40B4-BE49-F238E27FC236}">
                <a16:creationId xmlns:a16="http://schemas.microsoft.com/office/drawing/2014/main" id="{F7DCEC27-F925-12FA-1FF2-193F2713E1C3}"/>
              </a:ext>
            </a:extLst>
          </p:cNvPr>
          <p:cNvSpPr txBox="1"/>
          <p:nvPr/>
        </p:nvSpPr>
        <p:spPr>
          <a:xfrm>
            <a:off x="509250" y="1960464"/>
            <a:ext cx="6427083" cy="1954381"/>
          </a:xfrm>
          <a:prstGeom prst="rect">
            <a:avLst/>
          </a:prstGeom>
          <a:noFill/>
        </p:spPr>
        <p:txBody>
          <a:bodyPr wrap="square" numCol="2">
            <a:spAutoFit/>
          </a:bodyPr>
          <a:lstStyle/>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Planning en uitvoering van visie, beleid fundament en bijbehorende doelarchitectuur;</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Overzien van generieke voorzieningen;</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Afstemming tussen aanbieders, gebruikers en partners;</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Afstemming regionale en landelijke initiatieven zoals het LDN, </a:t>
            </a:r>
            <a:r>
              <a:rPr kumimoji="0" lang="nl-NL" sz="11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CumuluZ</a:t>
            </a: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Health-RI, </a:t>
            </a:r>
            <a:r>
              <a:rPr kumimoji="0" lang="nl-NL" sz="11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Wegiz</a:t>
            </a: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en HDSU;</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Projectmanagement rondom de realisatie van het fundament;</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Ontwikkeling diensten t.b.v. (geprioriteerde) </a:t>
            </a:r>
            <a:r>
              <a:rPr kumimoji="0" lang="nl-NL" sz="11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use</a:t>
            </a: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cases;</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Datamanagement;</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Aansluiten nieuwe en beheren huidige deelnemers;</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Compliance en Security;</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Leveranciersmanagement.</a:t>
            </a:r>
          </a:p>
        </p:txBody>
      </p:sp>
      <p:sp>
        <p:nvSpPr>
          <p:cNvPr id="42" name="Ovaal 41">
            <a:extLst>
              <a:ext uri="{FF2B5EF4-FFF2-40B4-BE49-F238E27FC236}">
                <a16:creationId xmlns:a16="http://schemas.microsoft.com/office/drawing/2014/main" id="{96B4B48E-4C28-6CFF-0690-C93BC88402F0}"/>
              </a:ext>
            </a:extLst>
          </p:cNvPr>
          <p:cNvSpPr/>
          <p:nvPr/>
        </p:nvSpPr>
        <p:spPr>
          <a:xfrm>
            <a:off x="334570" y="1536819"/>
            <a:ext cx="513550" cy="513550"/>
          </a:xfrm>
          <a:prstGeom prst="ellipse">
            <a:avLst/>
          </a:prstGeom>
          <a:solidFill>
            <a:srgbClr val="21BBE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pic>
        <p:nvPicPr>
          <p:cNvPr id="37" name="Graphic 36">
            <a:extLst>
              <a:ext uri="{FF2B5EF4-FFF2-40B4-BE49-F238E27FC236}">
                <a16:creationId xmlns:a16="http://schemas.microsoft.com/office/drawing/2014/main" id="{3E3BCA1F-438F-5B90-793F-5896DC0C1750}"/>
              </a:ext>
            </a:extLst>
          </p:cNvPr>
          <p:cNvPicPr>
            <a:picLocks noChangeAspect="1"/>
          </p:cNvPicPr>
          <p:nvPr>
            <p:custDataLst>
              <p:tags r:id="rId4"/>
            </p:custDataLst>
          </p:nvPr>
        </p:nvPicPr>
        <p:blipFill>
          <a:blip r:embed="rId14">
            <a:extLst>
              <a:ext uri="{96DAC541-7B7A-43D3-8B79-37D633B846F1}">
                <asvg:svgBlip xmlns:asvg="http://schemas.microsoft.com/office/drawing/2016/SVG/main" r:embed="rId15"/>
              </a:ext>
            </a:extLst>
          </a:blip>
          <a:stretch>
            <a:fillRect/>
          </a:stretch>
        </p:blipFill>
        <p:spPr>
          <a:xfrm>
            <a:off x="446567" y="1651284"/>
            <a:ext cx="307222" cy="307222"/>
          </a:xfrm>
          <a:prstGeom prst="rect">
            <a:avLst/>
          </a:prstGeom>
        </p:spPr>
      </p:pic>
      <p:sp>
        <p:nvSpPr>
          <p:cNvPr id="43" name="Rechthoek: afgeronde hoeken 42">
            <a:extLst>
              <a:ext uri="{FF2B5EF4-FFF2-40B4-BE49-F238E27FC236}">
                <a16:creationId xmlns:a16="http://schemas.microsoft.com/office/drawing/2014/main" id="{C97676DA-D753-F04F-5F2A-7D1DF17A337C}"/>
              </a:ext>
            </a:extLst>
          </p:cNvPr>
          <p:cNvSpPr/>
          <p:nvPr/>
        </p:nvSpPr>
        <p:spPr>
          <a:xfrm>
            <a:off x="7395246" y="1698009"/>
            <a:ext cx="4455514" cy="2237031"/>
          </a:xfrm>
          <a:prstGeom prst="roundRect">
            <a:avLst>
              <a:gd name="adj" fmla="val 3438"/>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9">
            <a:extLst>
              <a:ext uri="{FF2B5EF4-FFF2-40B4-BE49-F238E27FC236}">
                <a16:creationId xmlns:a16="http://schemas.microsoft.com/office/drawing/2014/main" id="{5DA84102-D106-2625-543B-BBBCF6A11B0E}"/>
              </a:ext>
            </a:extLst>
          </p:cNvPr>
          <p:cNvSpPr/>
          <p:nvPr/>
        </p:nvSpPr>
        <p:spPr>
          <a:xfrm>
            <a:off x="7315200" y="1639225"/>
            <a:ext cx="4535559" cy="310576"/>
          </a:xfrm>
          <a:prstGeom prst="roundRect">
            <a:avLst/>
          </a:prstGeom>
          <a:solidFill>
            <a:srgbClr val="21BBE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n-cs"/>
              </a:rPr>
              <a:t>Bestuur regionale organisatie fundament</a:t>
            </a:r>
          </a:p>
        </p:txBody>
      </p:sp>
      <p:sp>
        <p:nvSpPr>
          <p:cNvPr id="46" name="Oval 11">
            <a:extLst>
              <a:ext uri="{FF2B5EF4-FFF2-40B4-BE49-F238E27FC236}">
                <a16:creationId xmlns:a16="http://schemas.microsoft.com/office/drawing/2014/main" id="{1DA928FE-AF8D-6653-CAAE-8A52CDECA025}"/>
              </a:ext>
            </a:extLst>
          </p:cNvPr>
          <p:cNvSpPr>
            <a:spLocks/>
          </p:cNvSpPr>
          <p:nvPr/>
        </p:nvSpPr>
        <p:spPr>
          <a:xfrm>
            <a:off x="7098448" y="1539334"/>
            <a:ext cx="513550" cy="513550"/>
          </a:xfrm>
          <a:prstGeom prst="ellipse">
            <a:avLst/>
          </a:prstGeom>
          <a:solidFill>
            <a:srgbClr val="21BBE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1" b="0" i="0" u="none" strike="noStrike" kern="1200" cap="none" spc="0" normalizeH="0" baseline="0" noProof="0">
              <a:ln>
                <a:noFill/>
              </a:ln>
              <a:solidFill>
                <a:sysClr val="windowText" lastClr="000000"/>
              </a:solidFill>
              <a:effectLst/>
              <a:uLnTx/>
              <a:uFillTx/>
              <a:latin typeface="Helvetica"/>
              <a:ea typeface="+mn-ea"/>
              <a:cs typeface="+mn-cs"/>
            </a:endParaRPr>
          </a:p>
        </p:txBody>
      </p:sp>
      <p:pic>
        <p:nvPicPr>
          <p:cNvPr id="48" name="Graphic 47">
            <a:extLst>
              <a:ext uri="{FF2B5EF4-FFF2-40B4-BE49-F238E27FC236}">
                <a16:creationId xmlns:a16="http://schemas.microsoft.com/office/drawing/2014/main" id="{23D985D8-B46C-6782-5211-B2DBECC349A5}"/>
              </a:ext>
            </a:extLst>
          </p:cNvPr>
          <p:cNvPicPr>
            <a:picLocks noChangeAspect="1"/>
          </p:cNvPicPr>
          <p:nvPr>
            <p:custDataLst>
              <p:tags r:id="rId5"/>
            </p:custDataLst>
          </p:nvPr>
        </p:nvPicPr>
        <p:blipFill>
          <a:blip r:embed="rId16">
            <a:extLst>
              <a:ext uri="{96DAC541-7B7A-43D3-8B79-37D633B846F1}">
                <asvg:svgBlip xmlns:asvg="http://schemas.microsoft.com/office/drawing/2016/SVG/main" r:embed="rId17"/>
              </a:ext>
            </a:extLst>
          </a:blip>
          <a:stretch>
            <a:fillRect/>
          </a:stretch>
        </p:blipFill>
        <p:spPr>
          <a:xfrm>
            <a:off x="7182654" y="1571253"/>
            <a:ext cx="368429" cy="368429"/>
          </a:xfrm>
          <a:prstGeom prst="rect">
            <a:avLst/>
          </a:prstGeom>
        </p:spPr>
      </p:pic>
      <p:sp>
        <p:nvSpPr>
          <p:cNvPr id="67" name="Tekstvak 66">
            <a:extLst>
              <a:ext uri="{FF2B5EF4-FFF2-40B4-BE49-F238E27FC236}">
                <a16:creationId xmlns:a16="http://schemas.microsoft.com/office/drawing/2014/main" id="{9CFA972D-C232-B3C8-0303-2621ABCE5B51}"/>
              </a:ext>
            </a:extLst>
          </p:cNvPr>
          <p:cNvSpPr txBox="1"/>
          <p:nvPr/>
        </p:nvSpPr>
        <p:spPr>
          <a:xfrm>
            <a:off x="7315200" y="1960464"/>
            <a:ext cx="4535559" cy="1277273"/>
          </a:xfrm>
          <a:prstGeom prst="rect">
            <a:avLst/>
          </a:prstGeom>
          <a:noFill/>
        </p:spPr>
        <p:txBody>
          <a:bodyPr wrap="square" numCol="2">
            <a:spAutoFit/>
          </a:bodyPr>
          <a:lstStyle/>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Vaststellen en uitdragen visie en missie;</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Vaststellen beleid;</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Prioritering portfolio;</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Beleid en toelating nieuwe deelnemers op het regionale platform voor data-beschikbaarheid;</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Afstemming architectuurraad;</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Juridische kennis.</a:t>
            </a:r>
          </a:p>
          <a:p>
            <a:pPr marL="550863"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68" name="TextBox 4">
            <a:extLst>
              <a:ext uri="{FF2B5EF4-FFF2-40B4-BE49-F238E27FC236}">
                <a16:creationId xmlns:a16="http://schemas.microsoft.com/office/drawing/2014/main" id="{84344106-0F8F-0325-C4FD-D0DCA7B0D4E7}"/>
              </a:ext>
            </a:extLst>
          </p:cNvPr>
          <p:cNvSpPr txBox="1"/>
          <p:nvPr/>
        </p:nvSpPr>
        <p:spPr>
          <a:xfrm>
            <a:off x="567541" y="6553824"/>
            <a:ext cx="11078292"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Aanbieders en gebruikers van data zijn niet alleen de zorginstellingen, maar ook inwoners, de gemeente, het sociale domein, preventie, paramedici, etc. </a:t>
            </a:r>
            <a:endParaRPr kumimoji="0" lang="LID4096"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 name="Tekstvak 2">
            <a:extLst>
              <a:ext uri="{FF2B5EF4-FFF2-40B4-BE49-F238E27FC236}">
                <a16:creationId xmlns:a16="http://schemas.microsoft.com/office/drawing/2014/main" id="{9C850181-7B66-C39F-A20B-9FDA302DD999}"/>
              </a:ext>
            </a:extLst>
          </p:cNvPr>
          <p:cNvSpPr txBox="1"/>
          <p:nvPr/>
        </p:nvSpPr>
        <p:spPr>
          <a:xfrm rot="16200000">
            <a:off x="-388815" y="5957537"/>
            <a:ext cx="128463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Stakeholders</a:t>
            </a:r>
            <a:endParaRPr kumimoji="0" lang="en-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 name="Tekstvak 6">
            <a:extLst>
              <a:ext uri="{FF2B5EF4-FFF2-40B4-BE49-F238E27FC236}">
                <a16:creationId xmlns:a16="http://schemas.microsoft.com/office/drawing/2014/main" id="{3574DDE3-568C-A62C-73EA-695B2E24CB76}"/>
              </a:ext>
            </a:extLst>
          </p:cNvPr>
          <p:cNvSpPr txBox="1"/>
          <p:nvPr/>
        </p:nvSpPr>
        <p:spPr>
          <a:xfrm rot="16200000">
            <a:off x="-382741" y="2827045"/>
            <a:ext cx="128463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Gremia</a:t>
            </a:r>
            <a:endParaRPr kumimoji="0" lang="en-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 name="Tekstvak 8">
            <a:extLst>
              <a:ext uri="{FF2B5EF4-FFF2-40B4-BE49-F238E27FC236}">
                <a16:creationId xmlns:a16="http://schemas.microsoft.com/office/drawing/2014/main" id="{88A73D5F-208B-06C6-E643-96D4A0F9C51E}"/>
              </a:ext>
            </a:extLst>
          </p:cNvPr>
          <p:cNvSpPr txBox="1"/>
          <p:nvPr/>
        </p:nvSpPr>
        <p:spPr>
          <a:xfrm>
            <a:off x="4590920" y="5286708"/>
            <a:ext cx="3117389"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Gebruikers</a:t>
            </a:r>
            <a:endParaRPr kumimoji="0" lang="en-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 name="Tekstvak 9">
            <a:extLst>
              <a:ext uri="{FF2B5EF4-FFF2-40B4-BE49-F238E27FC236}">
                <a16:creationId xmlns:a16="http://schemas.microsoft.com/office/drawing/2014/main" id="{0A8AB273-F8D6-7AF0-5EAE-2D0472C8FE72}"/>
              </a:ext>
            </a:extLst>
          </p:cNvPr>
          <p:cNvSpPr txBox="1"/>
          <p:nvPr/>
        </p:nvSpPr>
        <p:spPr>
          <a:xfrm>
            <a:off x="8606506" y="5267680"/>
            <a:ext cx="3117389"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Partners</a:t>
            </a:r>
            <a:endParaRPr kumimoji="0" lang="en-NL" sz="1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55" name="Group 54">
            <a:extLst>
              <a:ext uri="{FF2B5EF4-FFF2-40B4-BE49-F238E27FC236}">
                <a16:creationId xmlns:a16="http://schemas.microsoft.com/office/drawing/2014/main" id="{D183FEC3-8661-7B3F-85A5-EEEC72628871}"/>
              </a:ext>
            </a:extLst>
          </p:cNvPr>
          <p:cNvGrpSpPr/>
          <p:nvPr/>
        </p:nvGrpSpPr>
        <p:grpSpPr>
          <a:xfrm>
            <a:off x="532936" y="3988619"/>
            <a:ext cx="11224039" cy="975071"/>
            <a:chOff x="428775" y="4326092"/>
            <a:chExt cx="11224039" cy="975071"/>
          </a:xfrm>
        </p:grpSpPr>
        <p:sp>
          <p:nvSpPr>
            <p:cNvPr id="14" name="Rechthoek: afgeronde hoeken 3">
              <a:extLst>
                <a:ext uri="{FF2B5EF4-FFF2-40B4-BE49-F238E27FC236}">
                  <a16:creationId xmlns:a16="http://schemas.microsoft.com/office/drawing/2014/main" id="{8A04DD4E-CD83-0F9D-D4A2-BA7BA34DB1CA}"/>
                </a:ext>
              </a:extLst>
            </p:cNvPr>
            <p:cNvSpPr/>
            <p:nvPr/>
          </p:nvSpPr>
          <p:spPr>
            <a:xfrm>
              <a:off x="428775" y="4558603"/>
              <a:ext cx="11224039" cy="742560"/>
            </a:xfrm>
            <a:prstGeom prst="roundRect">
              <a:avLst/>
            </a:prstGeom>
            <a:solidFill>
              <a:schemeClr val="tx2">
                <a:lumMod val="20000"/>
                <a:lumOff val="80000"/>
              </a:schemeClr>
            </a:solidFill>
            <a:ln cap="rn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17" name="Group 16">
              <a:extLst>
                <a:ext uri="{FF2B5EF4-FFF2-40B4-BE49-F238E27FC236}">
                  <a16:creationId xmlns:a16="http://schemas.microsoft.com/office/drawing/2014/main" id="{25193AFD-3EB2-2AA6-1439-ABA250C01D1F}"/>
                </a:ext>
              </a:extLst>
            </p:cNvPr>
            <p:cNvGrpSpPr/>
            <p:nvPr/>
          </p:nvGrpSpPr>
          <p:grpSpPr>
            <a:xfrm>
              <a:off x="539186" y="4572489"/>
              <a:ext cx="3341975" cy="646306"/>
              <a:chOff x="756638" y="4537585"/>
              <a:chExt cx="3341975" cy="646306"/>
            </a:xfrm>
          </p:grpSpPr>
          <p:sp>
            <p:nvSpPr>
              <p:cNvPr id="19" name="Rechthoek: afgeronde hoeken 7">
                <a:extLst>
                  <a:ext uri="{FF2B5EF4-FFF2-40B4-BE49-F238E27FC236}">
                    <a16:creationId xmlns:a16="http://schemas.microsoft.com/office/drawing/2014/main" id="{3DE09A55-3AA0-AA30-45BA-629507665C1D}"/>
                  </a:ext>
                </a:extLst>
              </p:cNvPr>
              <p:cNvSpPr/>
              <p:nvPr/>
            </p:nvSpPr>
            <p:spPr>
              <a:xfrm>
                <a:off x="818200" y="4847787"/>
                <a:ext cx="1512492"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Bronontsluiting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6" name="Rechthoek: afgeronde hoeken 11">
                <a:extLst>
                  <a:ext uri="{FF2B5EF4-FFF2-40B4-BE49-F238E27FC236}">
                    <a16:creationId xmlns:a16="http://schemas.microsoft.com/office/drawing/2014/main" id="{C7F0C7D7-7333-CA7D-3E43-EF63E97DD10C}"/>
                  </a:ext>
                </a:extLst>
              </p:cNvPr>
              <p:cNvSpPr/>
              <p:nvPr/>
            </p:nvSpPr>
            <p:spPr>
              <a:xfrm>
                <a:off x="2427626" y="4849601"/>
                <a:ext cx="1512492"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Integratielaag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8" name="Rechthoek: afgeronde hoeken 7">
                <a:extLst>
                  <a:ext uri="{FF2B5EF4-FFF2-40B4-BE49-F238E27FC236}">
                    <a16:creationId xmlns:a16="http://schemas.microsoft.com/office/drawing/2014/main" id="{27C82D64-6328-C47F-36C6-4228F3B71817}"/>
                  </a:ext>
                </a:extLst>
              </p:cNvPr>
              <p:cNvSpPr/>
              <p:nvPr/>
            </p:nvSpPr>
            <p:spPr>
              <a:xfrm>
                <a:off x="756639" y="4771642"/>
                <a:ext cx="3341974" cy="412249"/>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9" name="TextBox 28">
                <a:extLst>
                  <a:ext uri="{FF2B5EF4-FFF2-40B4-BE49-F238E27FC236}">
                    <a16:creationId xmlns:a16="http://schemas.microsoft.com/office/drawing/2014/main" id="{CC7473DF-B354-D764-7A96-A4872CF29587}"/>
                  </a:ext>
                </a:extLst>
              </p:cNvPr>
              <p:cNvSpPr txBox="1"/>
              <p:nvPr/>
            </p:nvSpPr>
            <p:spPr>
              <a:xfrm>
                <a:off x="756638" y="4537585"/>
                <a:ext cx="3341975" cy="261610"/>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Regionaal platform databeschikbaarheid</a:t>
                </a:r>
                <a:endParaRPr kumimoji="0" lang="LID4096" sz="11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0" name="Group 29">
              <a:extLst>
                <a:ext uri="{FF2B5EF4-FFF2-40B4-BE49-F238E27FC236}">
                  <a16:creationId xmlns:a16="http://schemas.microsoft.com/office/drawing/2014/main" id="{4A0D85D1-6E34-7ED1-86C2-6A2EBD2E50C5}"/>
                </a:ext>
              </a:extLst>
            </p:cNvPr>
            <p:cNvGrpSpPr/>
            <p:nvPr/>
          </p:nvGrpSpPr>
          <p:grpSpPr>
            <a:xfrm>
              <a:off x="4406461" y="4574646"/>
              <a:ext cx="3341974" cy="641992"/>
              <a:chOff x="4195547" y="4539627"/>
              <a:chExt cx="3341974" cy="641992"/>
            </a:xfrm>
          </p:grpSpPr>
          <p:sp>
            <p:nvSpPr>
              <p:cNvPr id="32" name="Rechthoek: afgeronde hoeken 10">
                <a:extLst>
                  <a:ext uri="{FF2B5EF4-FFF2-40B4-BE49-F238E27FC236}">
                    <a16:creationId xmlns:a16="http://schemas.microsoft.com/office/drawing/2014/main" id="{4262E6B2-911E-36F2-C280-1F23A3537FCB}"/>
                  </a:ext>
                </a:extLst>
              </p:cNvPr>
              <p:cNvSpPr/>
              <p:nvPr/>
            </p:nvSpPr>
            <p:spPr>
              <a:xfrm>
                <a:off x="5370912" y="4853439"/>
                <a:ext cx="981766"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Onderzoek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3" name="Rechthoek: afgeronde hoeken 10">
                <a:extLst>
                  <a:ext uri="{FF2B5EF4-FFF2-40B4-BE49-F238E27FC236}">
                    <a16:creationId xmlns:a16="http://schemas.microsoft.com/office/drawing/2014/main" id="{3548AF43-CB8C-EB47-778C-7CAD9A06DAAD}"/>
                  </a:ext>
                </a:extLst>
              </p:cNvPr>
              <p:cNvSpPr/>
              <p:nvPr/>
            </p:nvSpPr>
            <p:spPr>
              <a:xfrm>
                <a:off x="4304851" y="4847787"/>
                <a:ext cx="981766"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Viewer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8" name="Rechthoek: afgeronde hoeken 10">
                <a:extLst>
                  <a:ext uri="{FF2B5EF4-FFF2-40B4-BE49-F238E27FC236}">
                    <a16:creationId xmlns:a16="http://schemas.microsoft.com/office/drawing/2014/main" id="{237C0607-154F-F069-43A6-0C167A74A23D}"/>
                  </a:ext>
                </a:extLst>
              </p:cNvPr>
              <p:cNvSpPr/>
              <p:nvPr/>
            </p:nvSpPr>
            <p:spPr>
              <a:xfrm>
                <a:off x="6436973" y="4847787"/>
                <a:ext cx="981766"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Meer…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0" name="Rechthoek: afgeronde hoeken 7">
                <a:extLst>
                  <a:ext uri="{FF2B5EF4-FFF2-40B4-BE49-F238E27FC236}">
                    <a16:creationId xmlns:a16="http://schemas.microsoft.com/office/drawing/2014/main" id="{EF9223E6-442A-E133-39C2-4913320DFAC3}"/>
                  </a:ext>
                </a:extLst>
              </p:cNvPr>
              <p:cNvSpPr/>
              <p:nvPr/>
            </p:nvSpPr>
            <p:spPr>
              <a:xfrm>
                <a:off x="4195547" y="4769370"/>
                <a:ext cx="3341974" cy="412249"/>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1" name="TextBox 40">
                <a:extLst>
                  <a:ext uri="{FF2B5EF4-FFF2-40B4-BE49-F238E27FC236}">
                    <a16:creationId xmlns:a16="http://schemas.microsoft.com/office/drawing/2014/main" id="{0F63C485-C1DF-8749-5C15-1E016A83F6FD}"/>
                  </a:ext>
                </a:extLst>
              </p:cNvPr>
              <p:cNvSpPr txBox="1"/>
              <p:nvPr/>
            </p:nvSpPr>
            <p:spPr>
              <a:xfrm>
                <a:off x="4195547" y="4539627"/>
                <a:ext cx="3324648" cy="261610"/>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Toepassingen</a:t>
                </a:r>
                <a:endParaRPr kumimoji="0" lang="LID4096" sz="11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3">
              <a:extLst>
                <a:ext uri="{FF2B5EF4-FFF2-40B4-BE49-F238E27FC236}">
                  <a16:creationId xmlns:a16="http://schemas.microsoft.com/office/drawing/2014/main" id="{75F6C408-F828-FBA6-4DB3-4BE032C11428}"/>
                </a:ext>
              </a:extLst>
            </p:cNvPr>
            <p:cNvGrpSpPr/>
            <p:nvPr/>
          </p:nvGrpSpPr>
          <p:grpSpPr>
            <a:xfrm>
              <a:off x="8273736" y="4574646"/>
              <a:ext cx="3324648" cy="641992"/>
              <a:chOff x="7599968" y="4539627"/>
              <a:chExt cx="3324648" cy="641992"/>
            </a:xfrm>
          </p:grpSpPr>
          <p:sp>
            <p:nvSpPr>
              <p:cNvPr id="47" name="Rechthoek: afgeronde hoeken 10">
                <a:extLst>
                  <a:ext uri="{FF2B5EF4-FFF2-40B4-BE49-F238E27FC236}">
                    <a16:creationId xmlns:a16="http://schemas.microsoft.com/office/drawing/2014/main" id="{805970D0-B551-2F76-40AF-051F054AA738}"/>
                  </a:ext>
                </a:extLst>
              </p:cNvPr>
              <p:cNvSpPr/>
              <p:nvPr/>
            </p:nvSpPr>
            <p:spPr>
              <a:xfrm>
                <a:off x="8775333" y="4847787"/>
                <a:ext cx="947279"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ZORG-AB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9" name="Rechthoek: afgeronde hoeken 10">
                <a:extLst>
                  <a:ext uri="{FF2B5EF4-FFF2-40B4-BE49-F238E27FC236}">
                    <a16:creationId xmlns:a16="http://schemas.microsoft.com/office/drawing/2014/main" id="{E596C202-E5A9-3715-8C40-616BA24B0869}"/>
                  </a:ext>
                </a:extLst>
              </p:cNvPr>
              <p:cNvSpPr/>
              <p:nvPr/>
            </p:nvSpPr>
            <p:spPr>
              <a:xfrm>
                <a:off x="7709272" y="4847787"/>
                <a:ext cx="978605"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Mitz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1" name="Rechthoek: afgeronde hoeken 10">
                <a:extLst>
                  <a:ext uri="{FF2B5EF4-FFF2-40B4-BE49-F238E27FC236}">
                    <a16:creationId xmlns:a16="http://schemas.microsoft.com/office/drawing/2014/main" id="{CA4742B7-66FE-5F0A-B9D7-F39D27B6FAFF}"/>
                  </a:ext>
                </a:extLst>
              </p:cNvPr>
              <p:cNvSpPr/>
              <p:nvPr/>
            </p:nvSpPr>
            <p:spPr>
              <a:xfrm>
                <a:off x="9810068" y="4846100"/>
                <a:ext cx="978605" cy="255416"/>
              </a:xfrm>
              <a:prstGeom prst="roundRect">
                <a:avLst/>
              </a:prstGeom>
              <a:solidFill>
                <a:srgbClr val="B9E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Meer…  </a:t>
                </a: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2" name="Rechthoek: afgeronde hoeken 7">
                <a:extLst>
                  <a:ext uri="{FF2B5EF4-FFF2-40B4-BE49-F238E27FC236}">
                    <a16:creationId xmlns:a16="http://schemas.microsoft.com/office/drawing/2014/main" id="{5E29A6E2-21FB-1A8C-CF20-D7BEFFD6DEDD}"/>
                  </a:ext>
                </a:extLst>
              </p:cNvPr>
              <p:cNvSpPr/>
              <p:nvPr/>
            </p:nvSpPr>
            <p:spPr>
              <a:xfrm>
                <a:off x="7599968" y="4769370"/>
                <a:ext cx="3262201" cy="412249"/>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3" name="TextBox 52">
                <a:extLst>
                  <a:ext uri="{FF2B5EF4-FFF2-40B4-BE49-F238E27FC236}">
                    <a16:creationId xmlns:a16="http://schemas.microsoft.com/office/drawing/2014/main" id="{5ACC97C1-792C-8E13-C429-300CE5A07911}"/>
                  </a:ext>
                </a:extLst>
              </p:cNvPr>
              <p:cNvSpPr txBox="1"/>
              <p:nvPr/>
            </p:nvSpPr>
            <p:spPr>
              <a:xfrm>
                <a:off x="7599968" y="4539627"/>
                <a:ext cx="3324648" cy="261610"/>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Generieke voorzieningen</a:t>
                </a:r>
                <a:endParaRPr kumimoji="0" lang="LID4096" sz="11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 name="TextBox 53">
              <a:extLst>
                <a:ext uri="{FF2B5EF4-FFF2-40B4-BE49-F238E27FC236}">
                  <a16:creationId xmlns:a16="http://schemas.microsoft.com/office/drawing/2014/main" id="{2AE125C8-2DA2-7A47-C625-0612B76997AC}"/>
                </a:ext>
              </a:extLst>
            </p:cNvPr>
            <p:cNvSpPr txBox="1"/>
            <p:nvPr/>
          </p:nvSpPr>
          <p:spPr>
            <a:xfrm>
              <a:off x="428775" y="4326092"/>
              <a:ext cx="737020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Fundament</a:t>
              </a:r>
              <a:endParaRPr kumimoji="0" lang="LID4096" sz="1100" b="1" i="0" u="none" strike="noStrike" kern="1200" cap="none" spc="0" normalizeH="0" baseline="0" noProof="0">
                <a:ln>
                  <a:noFill/>
                </a:ln>
                <a:solidFill>
                  <a:prstClr val="black"/>
                </a:solidFill>
                <a:effectLst/>
                <a:uLnTx/>
                <a:uFillTx/>
                <a:latin typeface="Calibri"/>
                <a:ea typeface="+mn-ea"/>
                <a:cs typeface="+mn-cs"/>
              </a:endParaRPr>
            </a:p>
          </p:txBody>
        </p:sp>
      </p:grpSp>
      <p:sp>
        <p:nvSpPr>
          <p:cNvPr id="4" name="Rectangle: Top Corners Rounded 38">
            <a:hlinkClick r:id="rId18" action="ppaction://hlinksldjump"/>
            <a:extLst>
              <a:ext uri="{FF2B5EF4-FFF2-40B4-BE49-F238E27FC236}">
                <a16:creationId xmlns:a16="http://schemas.microsoft.com/office/drawing/2014/main" id="{5CB293F8-5D51-FFA5-8289-DEBC761EF4F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19" action="ppaction://hlinksldjump"/>
            <a:extLst>
              <a:ext uri="{FF2B5EF4-FFF2-40B4-BE49-F238E27FC236}">
                <a16:creationId xmlns:a16="http://schemas.microsoft.com/office/drawing/2014/main" id="{E6C2B164-6582-1472-0EB0-D319D5A3F6A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5136" y="147223"/>
            <a:ext cx="144000" cy="144000"/>
          </a:xfrm>
          <a:prstGeom prst="rect">
            <a:avLst/>
          </a:prstGeom>
        </p:spPr>
      </p:pic>
      <p:sp>
        <p:nvSpPr>
          <p:cNvPr id="6" name="Rectangle: Top Corners Rounded 1">
            <a:hlinkClick r:id="rId22" action="ppaction://hlinksldjump"/>
            <a:extLst>
              <a:ext uri="{FF2B5EF4-FFF2-40B4-BE49-F238E27FC236}">
                <a16:creationId xmlns:a16="http://schemas.microsoft.com/office/drawing/2014/main" id="{D6B586F8-2F5C-FCE7-65B8-62F535E1FF0A}"/>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8" name="Rectangle: Top Corners Rounded 1">
            <a:hlinkClick r:id="rId23" action="ppaction://hlinksldjump"/>
            <a:extLst>
              <a:ext uri="{FF2B5EF4-FFF2-40B4-BE49-F238E27FC236}">
                <a16:creationId xmlns:a16="http://schemas.microsoft.com/office/drawing/2014/main" id="{21B61B4A-2CC8-6771-6442-69240AD7E8A8}"/>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1" name="Rectangle: Top Corners Rounded 1">
            <a:hlinkClick r:id="rId24" action="ppaction://hlinksldjump"/>
            <a:extLst>
              <a:ext uri="{FF2B5EF4-FFF2-40B4-BE49-F238E27FC236}">
                <a16:creationId xmlns:a16="http://schemas.microsoft.com/office/drawing/2014/main" id="{A9C11760-132A-EEEF-91A3-C77F8CB2C3B5}"/>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2" name="Rectangle: Top Corners Rounded 1">
            <a:hlinkClick r:id="rId25" action="ppaction://hlinksldjump"/>
            <a:extLst>
              <a:ext uri="{FF2B5EF4-FFF2-40B4-BE49-F238E27FC236}">
                <a16:creationId xmlns:a16="http://schemas.microsoft.com/office/drawing/2014/main" id="{A3C43D0E-3B57-F7CA-1672-575CBC27A637}"/>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56" name="Rectangle: Top Corners Rounded 1">
            <a:hlinkClick r:id="rId26" action="ppaction://hlinksldjump"/>
            <a:extLst>
              <a:ext uri="{FF2B5EF4-FFF2-40B4-BE49-F238E27FC236}">
                <a16:creationId xmlns:a16="http://schemas.microsoft.com/office/drawing/2014/main" id="{2C283F4C-1EF0-E98F-668D-5D358F3EF85A}"/>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57" name="Rectangle: Top Corners Rounded 1">
            <a:hlinkClick r:id="rId27" action="ppaction://hlinksldjump"/>
            <a:extLst>
              <a:ext uri="{FF2B5EF4-FFF2-40B4-BE49-F238E27FC236}">
                <a16:creationId xmlns:a16="http://schemas.microsoft.com/office/drawing/2014/main" id="{D751CE0C-A087-1497-C4DA-E15B209C4DE4}"/>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58" name="Rectangle: Top Corners Rounded 1">
            <a:hlinkClick r:id="rId28" action="ppaction://hlinksldjump"/>
            <a:extLst>
              <a:ext uri="{FF2B5EF4-FFF2-40B4-BE49-F238E27FC236}">
                <a16:creationId xmlns:a16="http://schemas.microsoft.com/office/drawing/2014/main" id="{8C211546-7538-0E30-E9CD-2BA583458805}"/>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59" name="Rectangle: Top Corners Rounded 1">
            <a:hlinkClick r:id="rId29" action="ppaction://hlinksldjump"/>
            <a:extLst>
              <a:ext uri="{FF2B5EF4-FFF2-40B4-BE49-F238E27FC236}">
                <a16:creationId xmlns:a16="http://schemas.microsoft.com/office/drawing/2014/main" id="{BC7C55EA-4452-BE65-030A-294E90A0453A}"/>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60" name="Rectangle: Top Corners Rounded 1">
            <a:hlinkClick r:id="rId30" action="ppaction://hlinksldjump"/>
            <a:extLst>
              <a:ext uri="{FF2B5EF4-FFF2-40B4-BE49-F238E27FC236}">
                <a16:creationId xmlns:a16="http://schemas.microsoft.com/office/drawing/2014/main" id="{D97494B1-E727-4B2B-09A0-A383F6CA8041}"/>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61" name="Rectangle: Top Corners Rounded 1">
            <a:hlinkClick r:id="rId31" action="ppaction://hlinksldjump"/>
            <a:extLst>
              <a:ext uri="{FF2B5EF4-FFF2-40B4-BE49-F238E27FC236}">
                <a16:creationId xmlns:a16="http://schemas.microsoft.com/office/drawing/2014/main" id="{CD2797C3-D722-23CA-C471-E17D04DE5F57}"/>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62" name="Rectangle: Top Corners Rounded 1">
            <a:hlinkClick r:id="rId32" action="ppaction://hlinksldjump"/>
            <a:extLst>
              <a:ext uri="{FF2B5EF4-FFF2-40B4-BE49-F238E27FC236}">
                <a16:creationId xmlns:a16="http://schemas.microsoft.com/office/drawing/2014/main" id="{F59F50DB-C522-A7E2-CF12-755125BD580C}"/>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
        <p:nvSpPr>
          <p:cNvPr id="69" name="Title 1">
            <a:extLst>
              <a:ext uri="{FF2B5EF4-FFF2-40B4-BE49-F238E27FC236}">
                <a16:creationId xmlns:a16="http://schemas.microsoft.com/office/drawing/2014/main" id="{759EA469-8E92-1EC2-D0AB-7CDB2E9A4485}"/>
              </a:ext>
            </a:extLst>
          </p:cNvPr>
          <p:cNvSpPr>
            <a:spLocks noGrp="1"/>
          </p:cNvSpPr>
          <p:nvPr>
            <p:ph type="title"/>
          </p:nvPr>
        </p:nvSpPr>
        <p:spPr>
          <a:xfrm>
            <a:off x="425301" y="465998"/>
            <a:ext cx="11141301" cy="504000"/>
          </a:xfrm>
        </p:spPr>
        <p:txBody>
          <a:bodyPr>
            <a:noAutofit/>
          </a:bodyPr>
          <a:lstStyle/>
          <a:p>
            <a:r>
              <a:rPr lang="nl-NL">
                <a:latin typeface="Verdana Pro" panose="020B0604030504040204" pitchFamily="34" charset="0"/>
              </a:rPr>
              <a:t>Taken en verantwoordelijkheden rond het fundament</a:t>
            </a:r>
          </a:p>
        </p:txBody>
      </p:sp>
      <p:sp>
        <p:nvSpPr>
          <p:cNvPr id="70" name="Rectangle 9">
            <a:extLst>
              <a:ext uri="{FF2B5EF4-FFF2-40B4-BE49-F238E27FC236}">
                <a16:creationId xmlns:a16="http://schemas.microsoft.com/office/drawing/2014/main" id="{B298695D-B36F-F387-72B8-03EAC0457B76}"/>
              </a:ext>
            </a:extLst>
          </p:cNvPr>
          <p:cNvSpPr/>
          <p:nvPr/>
        </p:nvSpPr>
        <p:spPr>
          <a:xfrm>
            <a:off x="425302" y="1100555"/>
            <a:ext cx="10560198" cy="3376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a:solidFill>
                  <a:schemeClr val="tx1"/>
                </a:solidFill>
                <a:latin typeface="Verdana" panose="020B0604030504040204" pitchFamily="34" charset="0"/>
                <a:ea typeface="Verdana" panose="020B0604030504040204" pitchFamily="34" charset="0"/>
                <a:cs typeface="HelveticaNowDisplay Bold" panose="020B0804030202020204" pitchFamily="34" charset="0"/>
              </a:rPr>
              <a:t>Organisaties en stakeholders hebben taken en verantwoordelijkheden rondom het realiseren, gebruiken en door-ontwikkelen van het fundament </a:t>
            </a:r>
            <a:endParaRPr kumimoji="0" lang="nl-NL" sz="1200" b="1"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HelveticaNowDisplay Bold" panose="020B0804030202020204" pitchFamily="34" charset="0"/>
            </a:endParaRPr>
          </a:p>
        </p:txBody>
      </p:sp>
      <p:sp>
        <p:nvSpPr>
          <p:cNvPr id="2" name="Rechthoek: afgeronde hoeken 1">
            <a:extLst>
              <a:ext uri="{FF2B5EF4-FFF2-40B4-BE49-F238E27FC236}">
                <a16:creationId xmlns:a16="http://schemas.microsoft.com/office/drawing/2014/main" id="{4D0E7039-9484-BD79-2B97-D9BC7CDEDE3F}"/>
              </a:ext>
            </a:extLst>
          </p:cNvPr>
          <p:cNvSpPr/>
          <p:nvPr/>
        </p:nvSpPr>
        <p:spPr>
          <a:xfrm>
            <a:off x="-21960" y="6825056"/>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1286102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8623E-510A-F1B5-DB3A-CF12CBF1267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6CDAA9-1B3E-EA74-683A-F87C4FAB81B4}"/>
              </a:ext>
            </a:extLst>
          </p:cNvPr>
          <p:cNvSpPr>
            <a:spLocks noGrp="1"/>
          </p:cNvSpPr>
          <p:nvPr>
            <p:ph type="title"/>
          </p:nvPr>
        </p:nvSpPr>
        <p:spPr>
          <a:xfrm>
            <a:off x="425450" y="136525"/>
            <a:ext cx="9720263" cy="1172322"/>
          </a:xfrm>
        </p:spPr>
        <p:txBody>
          <a:bodyPr>
            <a:normAutofit/>
          </a:bodyPr>
          <a:lstStyle/>
          <a:p>
            <a:pPr>
              <a:lnSpc>
                <a:spcPct val="113000"/>
              </a:lnSpc>
            </a:pPr>
            <a:r>
              <a:rPr lang="nl-NL" sz="2800">
                <a:latin typeface="Verdana Pro" panose="020B0604030504040204" pitchFamily="34" charset="0"/>
              </a:rPr>
              <a:t>Kosten realiseren en beheren fundament</a:t>
            </a:r>
            <a:endParaRPr lang="en-NL" sz="2800">
              <a:latin typeface="Verdana Pro" panose="020B0604030504040204" pitchFamily="34" charset="0"/>
            </a:endParaRPr>
          </a:p>
        </p:txBody>
      </p:sp>
      <p:sp>
        <p:nvSpPr>
          <p:cNvPr id="9" name="TextBox 8">
            <a:extLst>
              <a:ext uri="{FF2B5EF4-FFF2-40B4-BE49-F238E27FC236}">
                <a16:creationId xmlns:a16="http://schemas.microsoft.com/office/drawing/2014/main" id="{B693DE37-01AF-2229-726F-CCF2F66A0D2A}"/>
              </a:ext>
            </a:extLst>
          </p:cNvPr>
          <p:cNvSpPr txBox="1"/>
          <p:nvPr/>
        </p:nvSpPr>
        <p:spPr>
          <a:xfrm>
            <a:off x="584445" y="5512680"/>
            <a:ext cx="9720262" cy="1030603"/>
          </a:xfrm>
          <a:prstGeom prst="rect">
            <a:avLst/>
          </a:prstGeom>
          <a:noFill/>
        </p:spPr>
        <p:txBody>
          <a:bodyPr wrap="square">
            <a:spAutoFit/>
          </a:bodyPr>
          <a:lstStyle/>
          <a:p>
            <a:pPr marL="80963" indent="-269875">
              <a:lnSpc>
                <a:spcPct val="114000"/>
              </a:lnSpc>
            </a:pPr>
            <a:r>
              <a:rPr lang="nl-NL" sz="1200" b="1">
                <a:latin typeface="Aptos" panose="020B0004020202020204" pitchFamily="34" charset="0"/>
              </a:rPr>
              <a:t>Aandachtspunten:</a:t>
            </a:r>
          </a:p>
          <a:p>
            <a:pPr marL="277813" indent="-277813">
              <a:lnSpc>
                <a:spcPct val="114000"/>
              </a:lnSpc>
              <a:buFont typeface="Arial" panose="020B0604020202020204" pitchFamily="34" charset="0"/>
              <a:buChar char="•"/>
            </a:pPr>
            <a:r>
              <a:rPr lang="nl-NL" sz="1050">
                <a:latin typeface="Aptos" panose="020B0004020202020204" pitchFamily="34" charset="0"/>
              </a:rPr>
              <a:t>Wel/niet BTW meenemen? Nu zonder BTW.</a:t>
            </a:r>
          </a:p>
          <a:p>
            <a:pPr marL="277813" indent="-277813">
              <a:lnSpc>
                <a:spcPct val="114000"/>
              </a:lnSpc>
              <a:buFont typeface="Arial" panose="020B0604020202020204" pitchFamily="34" charset="0"/>
              <a:buChar char="•"/>
            </a:pPr>
            <a:r>
              <a:rPr lang="nl-NL" sz="1050">
                <a:latin typeface="Aptos" panose="020B0004020202020204" pitchFamily="34" charset="0"/>
              </a:rPr>
              <a:t>Intern tarief (nu 100 genomen).</a:t>
            </a:r>
          </a:p>
          <a:p>
            <a:pPr marL="277813" indent="-277813">
              <a:lnSpc>
                <a:spcPct val="114000"/>
              </a:lnSpc>
              <a:buFont typeface="Arial" panose="020B0604020202020204" pitchFamily="34" charset="0"/>
              <a:buChar char="•"/>
            </a:pPr>
            <a:r>
              <a:rPr lang="nl-NL" sz="1050">
                <a:latin typeface="Aptos" panose="020B0004020202020204" pitchFamily="34" charset="0"/>
              </a:rPr>
              <a:t>Kunnen de leden de interne inzet waarmaken / intern compenseren. </a:t>
            </a:r>
          </a:p>
          <a:p>
            <a:pPr marL="277813" indent="-277813">
              <a:lnSpc>
                <a:spcPct val="114000"/>
              </a:lnSpc>
              <a:buFont typeface="Arial" panose="020B0604020202020204" pitchFamily="34" charset="0"/>
              <a:buChar char="•"/>
            </a:pPr>
            <a:r>
              <a:rPr lang="nl-NL" sz="1050">
                <a:latin typeface="Aptos" panose="020B0004020202020204" pitchFamily="34" charset="0"/>
              </a:rPr>
              <a:t>Kunnen we een betere inschatting maken voor tijdelijk oplossing (BabyConnect / DDMN).</a:t>
            </a:r>
            <a:endParaRPr lang="LID4096" sz="1050"/>
          </a:p>
        </p:txBody>
      </p:sp>
      <p:pic>
        <p:nvPicPr>
          <p:cNvPr id="15" name="Picture 14">
            <a:extLst>
              <a:ext uri="{FF2B5EF4-FFF2-40B4-BE49-F238E27FC236}">
                <a16:creationId xmlns:a16="http://schemas.microsoft.com/office/drawing/2014/main" id="{C8914C38-F0D7-D55A-0E3E-5768CCF562B9}"/>
              </a:ext>
            </a:extLst>
          </p:cNvPr>
          <p:cNvPicPr>
            <a:picLocks noChangeAspect="1"/>
          </p:cNvPicPr>
          <p:nvPr/>
        </p:nvPicPr>
        <p:blipFill>
          <a:blip r:embed="rId3"/>
          <a:stretch>
            <a:fillRect/>
          </a:stretch>
        </p:blipFill>
        <p:spPr>
          <a:xfrm>
            <a:off x="584445" y="1128818"/>
            <a:ext cx="10039439" cy="4383862"/>
          </a:xfrm>
          <a:prstGeom prst="rect">
            <a:avLst/>
          </a:prstGeom>
        </p:spPr>
      </p:pic>
      <p:sp>
        <p:nvSpPr>
          <p:cNvPr id="3" name="Rectangle: Top Corners Rounded 38">
            <a:hlinkClick r:id="rId4" action="ppaction://hlinksldjump"/>
            <a:extLst>
              <a:ext uri="{FF2B5EF4-FFF2-40B4-BE49-F238E27FC236}">
                <a16:creationId xmlns:a16="http://schemas.microsoft.com/office/drawing/2014/main" id="{98979C6B-8E51-B681-63D7-E25AFE1AFAD5}"/>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4" name="Graphic 3" descr="Introductiepagina silhouet">
            <a:hlinkClick r:id="rId5" action="ppaction://hlinksldjump"/>
            <a:extLst>
              <a:ext uri="{FF2B5EF4-FFF2-40B4-BE49-F238E27FC236}">
                <a16:creationId xmlns:a16="http://schemas.microsoft.com/office/drawing/2014/main" id="{AF128315-42A6-14FB-4F7A-77798496AC0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5" name="Rectangle: Top Corners Rounded 1">
            <a:hlinkClick r:id="rId8" action="ppaction://hlinksldjump"/>
            <a:extLst>
              <a:ext uri="{FF2B5EF4-FFF2-40B4-BE49-F238E27FC236}">
                <a16:creationId xmlns:a16="http://schemas.microsoft.com/office/drawing/2014/main" id="{F74997CA-24ED-C78D-8746-C5276587DCC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6" name="Rectangle: Top Corners Rounded 1">
            <a:hlinkClick r:id="rId9" action="ppaction://hlinksldjump"/>
            <a:extLst>
              <a:ext uri="{FF2B5EF4-FFF2-40B4-BE49-F238E27FC236}">
                <a16:creationId xmlns:a16="http://schemas.microsoft.com/office/drawing/2014/main" id="{C92DDF78-A097-670D-C8A8-4F036BD4B85E}"/>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7" name="Rectangle: Top Corners Rounded 1">
            <a:hlinkClick r:id="rId10" action="ppaction://hlinksldjump"/>
            <a:extLst>
              <a:ext uri="{FF2B5EF4-FFF2-40B4-BE49-F238E27FC236}">
                <a16:creationId xmlns:a16="http://schemas.microsoft.com/office/drawing/2014/main" id="{06B8A9BE-DD08-7BAB-5348-8B79394F88A0}"/>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8" name="Rectangle: Top Corners Rounded 1">
            <a:hlinkClick r:id="rId11" action="ppaction://hlinksldjump"/>
            <a:extLst>
              <a:ext uri="{FF2B5EF4-FFF2-40B4-BE49-F238E27FC236}">
                <a16:creationId xmlns:a16="http://schemas.microsoft.com/office/drawing/2014/main" id="{BE8DB60A-594B-5402-30F3-73D2BD97FFB7}"/>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0" name="Rectangle: Top Corners Rounded 1">
            <a:hlinkClick r:id="rId12" action="ppaction://hlinksldjump"/>
            <a:extLst>
              <a:ext uri="{FF2B5EF4-FFF2-40B4-BE49-F238E27FC236}">
                <a16:creationId xmlns:a16="http://schemas.microsoft.com/office/drawing/2014/main" id="{1898EA73-F538-4597-E3AB-D8B41D133490}"/>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1" name="Rectangle: Top Corners Rounded 1">
            <a:hlinkClick r:id="rId13" action="ppaction://hlinksldjump"/>
            <a:extLst>
              <a:ext uri="{FF2B5EF4-FFF2-40B4-BE49-F238E27FC236}">
                <a16:creationId xmlns:a16="http://schemas.microsoft.com/office/drawing/2014/main" id="{F652F499-295F-702B-7742-195C68335A2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2" name="Rectangle: Top Corners Rounded 1">
            <a:hlinkClick r:id="rId14" action="ppaction://hlinksldjump"/>
            <a:extLst>
              <a:ext uri="{FF2B5EF4-FFF2-40B4-BE49-F238E27FC236}">
                <a16:creationId xmlns:a16="http://schemas.microsoft.com/office/drawing/2014/main" id="{FF05A2B0-D6D6-A9E3-957A-165985C1883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3" name="Rectangle: Top Corners Rounded 1">
            <a:hlinkClick r:id="rId15" action="ppaction://hlinksldjump"/>
            <a:extLst>
              <a:ext uri="{FF2B5EF4-FFF2-40B4-BE49-F238E27FC236}">
                <a16:creationId xmlns:a16="http://schemas.microsoft.com/office/drawing/2014/main" id="{B8AE3411-73A4-CF5B-8202-E3DF79EAF388}"/>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4" name="Rectangle: Top Corners Rounded 1">
            <a:hlinkClick r:id="rId16" action="ppaction://hlinksldjump"/>
            <a:extLst>
              <a:ext uri="{FF2B5EF4-FFF2-40B4-BE49-F238E27FC236}">
                <a16:creationId xmlns:a16="http://schemas.microsoft.com/office/drawing/2014/main" id="{AD636B7D-6AE1-9825-C004-90B7345438E9}"/>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6" name="Rectangle: Top Corners Rounded 1">
            <a:hlinkClick r:id="rId17" action="ppaction://hlinksldjump"/>
            <a:extLst>
              <a:ext uri="{FF2B5EF4-FFF2-40B4-BE49-F238E27FC236}">
                <a16:creationId xmlns:a16="http://schemas.microsoft.com/office/drawing/2014/main" id="{578A4B3F-5583-3020-6295-5A57E64F390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7" name="Rectangle: Top Corners Rounded 1">
            <a:hlinkClick r:id="rId18" action="ppaction://hlinksldjump"/>
            <a:extLst>
              <a:ext uri="{FF2B5EF4-FFF2-40B4-BE49-F238E27FC236}">
                <a16:creationId xmlns:a16="http://schemas.microsoft.com/office/drawing/2014/main" id="{60197F23-9502-69C0-2825-AE4F4A6B73A9}"/>
              </a:ext>
            </a:extLst>
          </p:cNvPr>
          <p:cNvSpPr/>
          <p:nvPr/>
        </p:nvSpPr>
        <p:spPr>
          <a:xfrm>
            <a:off x="579461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Fundament digitalisering</a:t>
            </a:r>
          </a:p>
        </p:txBody>
      </p:sp>
      <p:sp>
        <p:nvSpPr>
          <p:cNvPr id="18" name="Rechthoek: afgeronde hoeken 17">
            <a:extLst>
              <a:ext uri="{FF2B5EF4-FFF2-40B4-BE49-F238E27FC236}">
                <a16:creationId xmlns:a16="http://schemas.microsoft.com/office/drawing/2014/main" id="{8D1EBA6C-95FF-B141-6020-32A04AD5F67F}"/>
              </a:ext>
            </a:extLst>
          </p:cNvPr>
          <p:cNvSpPr/>
          <p:nvPr/>
        </p:nvSpPr>
        <p:spPr>
          <a:xfrm>
            <a:off x="-2" y="6649774"/>
            <a:ext cx="11304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	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0">
            <a:extLst>
              <a:ext uri="{FF2B5EF4-FFF2-40B4-BE49-F238E27FC236}">
                <a16:creationId xmlns:a16="http://schemas.microsoft.com/office/drawing/2014/main" id="{8110FD8D-7BC1-A94D-9FC0-C16C54E5A2B0}"/>
              </a:ext>
            </a:extLst>
          </p:cNvPr>
          <p:cNvSpPr/>
          <p:nvPr/>
        </p:nvSpPr>
        <p:spPr>
          <a:xfrm>
            <a:off x="8412861" y="533401"/>
            <a:ext cx="2557408" cy="436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a:t>Getallen zijn indicatief en worden nog gevalideerd!!</a:t>
            </a:r>
          </a:p>
        </p:txBody>
      </p:sp>
      <p:sp>
        <p:nvSpPr>
          <p:cNvPr id="20" name="Rechthoek: afgeronde hoeken 19">
            <a:extLst>
              <a:ext uri="{FF2B5EF4-FFF2-40B4-BE49-F238E27FC236}">
                <a16:creationId xmlns:a16="http://schemas.microsoft.com/office/drawing/2014/main" id="{618AF215-D62A-3D41-A173-B6DFF7D978C0}"/>
              </a:ext>
            </a:extLst>
          </p:cNvPr>
          <p:cNvSpPr/>
          <p:nvPr/>
        </p:nvSpPr>
        <p:spPr>
          <a:xfrm rot="19326860">
            <a:off x="5125359" y="3811059"/>
            <a:ext cx="3601212" cy="1380476"/>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6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63082235"/>
      </p:ext>
    </p:extLst>
  </p:cSld>
  <p:clrMapOvr>
    <a:masterClrMapping/>
  </p:clrMapOvr>
  <p:extLst>
    <p:ext uri="{6950BFC3-D8DA-4A85-94F7-54DA5524770B}">
      <p188:commentRel xmlns:p188="http://schemas.microsoft.com/office/powerpoint/2018/8/main" r:id="rId2"/>
    </p:ext>
  </p:extLs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a:xfrm>
            <a:off x="769061" y="2728540"/>
            <a:ext cx="10515600" cy="1261351"/>
          </a:xfrm>
        </p:spPr>
        <p:txBody>
          <a:bodyPr vert="horz">
            <a:normAutofit/>
          </a:bodyPr>
          <a:lstStyle/>
          <a:p>
            <a:r>
              <a:rPr lang="fr-FR" err="1"/>
              <a:t>Overkoepelende</a:t>
            </a:r>
            <a:r>
              <a:rPr lang="fr-FR"/>
              <a:t> business case en </a:t>
            </a:r>
            <a:r>
              <a:rPr lang="fr-FR" err="1"/>
              <a:t>investeringsaanvraag</a:t>
            </a:r>
            <a:endParaRPr lang="fr-FR"/>
          </a:p>
        </p:txBody>
      </p:sp>
    </p:spTree>
    <p:extLst>
      <p:ext uri="{BB962C8B-B14F-4D97-AF65-F5344CB8AC3E}">
        <p14:creationId xmlns:p14="http://schemas.microsoft.com/office/powerpoint/2010/main" val="30288140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FEC75-4B29-2467-59F8-28517F7B176A}"/>
              </a:ext>
            </a:extLst>
          </p:cNvPr>
          <p:cNvSpPr>
            <a:spLocks noGrp="1"/>
          </p:cNvSpPr>
          <p:nvPr>
            <p:ph type="title"/>
          </p:nvPr>
        </p:nvSpPr>
        <p:spPr>
          <a:xfrm>
            <a:off x="425302" y="465998"/>
            <a:ext cx="11266774" cy="504000"/>
          </a:xfrm>
        </p:spPr>
        <p:txBody>
          <a:bodyPr>
            <a:noAutofit/>
          </a:bodyPr>
          <a:lstStyle/>
          <a:p>
            <a:r>
              <a:rPr lang="en-GB" err="1"/>
              <a:t>Toelichting</a:t>
            </a:r>
            <a:r>
              <a:rPr lang="en-GB"/>
              <a:t> op het tot </a:t>
            </a:r>
            <a:r>
              <a:rPr lang="en-GB" err="1"/>
              <a:t>standkomen</a:t>
            </a:r>
            <a:r>
              <a:rPr lang="en-GB"/>
              <a:t> van de  </a:t>
            </a:r>
            <a:r>
              <a:rPr lang="en-GB" err="1"/>
              <a:t>businesscase</a:t>
            </a:r>
            <a:endParaRPr lang="en-GB"/>
          </a:p>
        </p:txBody>
      </p:sp>
      <p:sp>
        <p:nvSpPr>
          <p:cNvPr id="4" name="Text Placeholder 3">
            <a:extLst>
              <a:ext uri="{FF2B5EF4-FFF2-40B4-BE49-F238E27FC236}">
                <a16:creationId xmlns:a16="http://schemas.microsoft.com/office/drawing/2014/main" id="{E5DB48FE-8D29-BD25-FCFC-D1529863C6DD}"/>
              </a:ext>
            </a:extLst>
          </p:cNvPr>
          <p:cNvSpPr>
            <a:spLocks noGrp="1"/>
          </p:cNvSpPr>
          <p:nvPr>
            <p:ph type="body" sz="quarter" idx="10"/>
          </p:nvPr>
        </p:nvSpPr>
        <p:spPr>
          <a:xfrm>
            <a:off x="425302" y="1427198"/>
            <a:ext cx="10544967" cy="504000"/>
          </a:xfrm>
        </p:spPr>
        <p:txBody>
          <a:bodyPr/>
          <a:lstStyle/>
          <a:p>
            <a:r>
              <a:rPr lang="nl-NL"/>
              <a:t>In 6 stappen komen tot een maatschappelijke businesscase met draagvlak bij alle partijen </a:t>
            </a:r>
          </a:p>
        </p:txBody>
      </p:sp>
      <p:sp>
        <p:nvSpPr>
          <p:cNvPr id="34" name="Rectangle 33">
            <a:extLst>
              <a:ext uri="{FF2B5EF4-FFF2-40B4-BE49-F238E27FC236}">
                <a16:creationId xmlns:a16="http://schemas.microsoft.com/office/drawing/2014/main" id="{9D6C2B11-D789-A3FB-4613-9DAB01365F41}"/>
              </a:ext>
            </a:extLst>
          </p:cNvPr>
          <p:cNvSpPr/>
          <p:nvPr/>
        </p:nvSpPr>
        <p:spPr>
          <a:xfrm>
            <a:off x="2631690" y="1823183"/>
            <a:ext cx="1763593" cy="28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rPr>
              <a:t>2. In kaart brengen input parameters</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0"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p:txBody>
      </p:sp>
      <p:sp>
        <p:nvSpPr>
          <p:cNvPr id="35" name="Rectangle 34">
            <a:extLst>
              <a:ext uri="{FF2B5EF4-FFF2-40B4-BE49-F238E27FC236}">
                <a16:creationId xmlns:a16="http://schemas.microsoft.com/office/drawing/2014/main" id="{47178745-CAA1-49F8-76FC-42C28447D1B7}"/>
              </a:ext>
            </a:extLst>
          </p:cNvPr>
          <p:cNvSpPr/>
          <p:nvPr/>
        </p:nvSpPr>
        <p:spPr>
          <a:xfrm>
            <a:off x="4427937" y="1823184"/>
            <a:ext cx="1763593" cy="28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rPr>
              <a:t>3. Onderbouwen van verwachte effecten</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0" i="1"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p:txBody>
      </p:sp>
      <p:sp>
        <p:nvSpPr>
          <p:cNvPr id="36" name="Rectangle 35">
            <a:extLst>
              <a:ext uri="{FF2B5EF4-FFF2-40B4-BE49-F238E27FC236}">
                <a16:creationId xmlns:a16="http://schemas.microsoft.com/office/drawing/2014/main" id="{CB17116D-E250-3CB3-3E9A-8BEC6DD0B3D3}"/>
              </a:ext>
            </a:extLst>
          </p:cNvPr>
          <p:cNvSpPr/>
          <p:nvPr/>
        </p:nvSpPr>
        <p:spPr>
          <a:xfrm>
            <a:off x="8020431" y="1823184"/>
            <a:ext cx="1763593" cy="28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rPr>
              <a:t>5. Bepalen ambitie en impact op regionale opgave</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p:txBody>
      </p:sp>
      <p:sp>
        <p:nvSpPr>
          <p:cNvPr id="37" name="Rectangle 36">
            <a:extLst>
              <a:ext uri="{FF2B5EF4-FFF2-40B4-BE49-F238E27FC236}">
                <a16:creationId xmlns:a16="http://schemas.microsoft.com/office/drawing/2014/main" id="{E1B0119A-523D-03B9-BADB-2A84AF0FD395}"/>
              </a:ext>
            </a:extLst>
          </p:cNvPr>
          <p:cNvSpPr/>
          <p:nvPr/>
        </p:nvSpPr>
        <p:spPr>
          <a:xfrm>
            <a:off x="9816677" y="1823184"/>
            <a:ext cx="1763593" cy="28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rPr>
              <a:t>6. Opstellen mijlpalenplanning</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p:txBody>
      </p:sp>
      <p:sp>
        <p:nvSpPr>
          <p:cNvPr id="38" name="Rectangle 37">
            <a:extLst>
              <a:ext uri="{FF2B5EF4-FFF2-40B4-BE49-F238E27FC236}">
                <a16:creationId xmlns:a16="http://schemas.microsoft.com/office/drawing/2014/main" id="{82B1E9FD-2B90-BF57-3E12-E0EE4B443BF6}"/>
              </a:ext>
            </a:extLst>
          </p:cNvPr>
          <p:cNvSpPr/>
          <p:nvPr/>
        </p:nvSpPr>
        <p:spPr>
          <a:xfrm>
            <a:off x="6224184" y="1823184"/>
            <a:ext cx="1763593" cy="28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rPr>
              <a:t>4. In kaart brengen benodigde investeringen &amp; structurele kosten</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0"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p:txBody>
      </p:sp>
      <p:sp>
        <p:nvSpPr>
          <p:cNvPr id="39" name="Rectangle 38">
            <a:extLst>
              <a:ext uri="{FF2B5EF4-FFF2-40B4-BE49-F238E27FC236}">
                <a16:creationId xmlns:a16="http://schemas.microsoft.com/office/drawing/2014/main" id="{F067CC93-E868-52D5-1CEB-28F51DCD92B1}"/>
              </a:ext>
            </a:extLst>
          </p:cNvPr>
          <p:cNvSpPr/>
          <p:nvPr/>
        </p:nvSpPr>
        <p:spPr>
          <a:xfrm>
            <a:off x="835443" y="1856641"/>
            <a:ext cx="1763593" cy="28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rPr>
              <a:t>1. Bepalen uitgangspunten</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nl-NL" sz="1100" b="1" i="0" u="none" strike="noStrike" kern="1200" cap="none" spc="0" normalizeH="0" baseline="0" noProof="0">
              <a:ln>
                <a:noFill/>
              </a:ln>
              <a:solidFill>
                <a:srgbClr val="0E9D90"/>
              </a:solidFill>
              <a:effectLst/>
              <a:uLnTx/>
              <a:uFillTx/>
              <a:latin typeface="Verdana" panose="020B0604030504040204" pitchFamily="34" charset="0"/>
              <a:ea typeface="Verdana" panose="020B0604030504040204" pitchFamily="34" charset="0"/>
            </a:endParaRPr>
          </a:p>
        </p:txBody>
      </p:sp>
      <p:sp>
        <p:nvSpPr>
          <p:cNvPr id="40" name="Rectangle 39">
            <a:extLst>
              <a:ext uri="{FF2B5EF4-FFF2-40B4-BE49-F238E27FC236}">
                <a16:creationId xmlns:a16="http://schemas.microsoft.com/office/drawing/2014/main" id="{8B8C3676-C89C-2179-3E10-B4D5E85E9C24}"/>
              </a:ext>
            </a:extLst>
          </p:cNvPr>
          <p:cNvSpPr/>
          <p:nvPr/>
        </p:nvSpPr>
        <p:spPr>
          <a:xfrm>
            <a:off x="4467488" y="6082086"/>
            <a:ext cx="6665962" cy="547929"/>
          </a:xfrm>
          <a:prstGeom prst="rect">
            <a:avLst/>
          </a:prstGeom>
          <a:solidFill>
            <a:srgbClr val="F1F2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Stappen 3 t/m 6 – dienen iteratief/ parallel uitgewerkt te worden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Investeringen hangen bijvoorbeeld af van de planning, en de ambitie dient te zijn afgestemd op verwachte oplevering van functionaliteiten en het adoptievermogen.</a:t>
            </a:r>
          </a:p>
        </p:txBody>
      </p:sp>
      <p:pic>
        <p:nvPicPr>
          <p:cNvPr id="41" name="Graphic 40">
            <a:extLst>
              <a:ext uri="{FF2B5EF4-FFF2-40B4-BE49-F238E27FC236}">
                <a16:creationId xmlns:a16="http://schemas.microsoft.com/office/drawing/2014/main" id="{7C5DD55E-6830-282C-94D9-BBECF369AE53}"/>
              </a:ext>
            </a:extLst>
          </p:cNvPr>
          <p:cNvPicPr>
            <a:picLocks noChangeAspect="1"/>
          </p:cNvPicPr>
          <p:nvPr>
            <p:custDataLst>
              <p:tags r:id="rId1"/>
            </p:custDataLst>
          </p:nvPr>
        </p:nvPicPr>
        <p:blipFill>
          <a:blip r:embed="rId11">
            <a:extLst>
              <a:ext uri="{96DAC541-7B7A-43D3-8B79-37D633B846F1}">
                <asvg:svgBlip xmlns:asvg="http://schemas.microsoft.com/office/drawing/2016/SVG/main" r:embed="rId12"/>
              </a:ext>
            </a:extLst>
          </a:blip>
          <a:stretch>
            <a:fillRect/>
          </a:stretch>
        </p:blipFill>
        <p:spPr>
          <a:xfrm>
            <a:off x="4797373" y="2599051"/>
            <a:ext cx="1024720" cy="1024720"/>
          </a:xfrm>
          <a:prstGeom prst="rect">
            <a:avLst/>
          </a:prstGeom>
        </p:spPr>
      </p:pic>
      <p:pic>
        <p:nvPicPr>
          <p:cNvPr id="42" name="Graphic 41">
            <a:extLst>
              <a:ext uri="{FF2B5EF4-FFF2-40B4-BE49-F238E27FC236}">
                <a16:creationId xmlns:a16="http://schemas.microsoft.com/office/drawing/2014/main" id="{61398383-C75F-821E-883F-9213B662D573}"/>
              </a:ext>
            </a:extLst>
          </p:cNvPr>
          <p:cNvPicPr>
            <a:picLocks noChangeAspect="1"/>
          </p:cNvPicPr>
          <p:nvPr>
            <p:custDataLst>
              <p:tags r:id="rId2"/>
            </p:custDataLst>
          </p:nvPr>
        </p:nvPicPr>
        <p:blipFill>
          <a:blip r:embed="rId13">
            <a:extLst>
              <a:ext uri="{96DAC541-7B7A-43D3-8B79-37D633B846F1}">
                <asvg:svgBlip xmlns:asvg="http://schemas.microsoft.com/office/drawing/2016/SVG/main" r:embed="rId14"/>
              </a:ext>
            </a:extLst>
          </a:blip>
          <a:stretch>
            <a:fillRect/>
          </a:stretch>
        </p:blipFill>
        <p:spPr>
          <a:xfrm>
            <a:off x="6593619" y="2599051"/>
            <a:ext cx="1024720" cy="1024720"/>
          </a:xfrm>
          <a:prstGeom prst="rect">
            <a:avLst/>
          </a:prstGeom>
        </p:spPr>
      </p:pic>
      <p:pic>
        <p:nvPicPr>
          <p:cNvPr id="43" name="Graphic 42">
            <a:extLst>
              <a:ext uri="{FF2B5EF4-FFF2-40B4-BE49-F238E27FC236}">
                <a16:creationId xmlns:a16="http://schemas.microsoft.com/office/drawing/2014/main" id="{F08EAEB6-1E9C-6335-BE58-01DCA8656335}"/>
              </a:ext>
            </a:extLst>
          </p:cNvPr>
          <p:cNvPicPr>
            <a:picLocks noChangeAspect="1"/>
          </p:cNvPicPr>
          <p:nvPr>
            <p:custDataLst>
              <p:tags r:id="rId3"/>
            </p:custDataLst>
          </p:nvPr>
        </p:nvPicPr>
        <p:blipFill>
          <a:blip r:embed="rId15">
            <a:extLst>
              <a:ext uri="{96DAC541-7B7A-43D3-8B79-37D633B846F1}">
                <asvg:svgBlip xmlns:asvg="http://schemas.microsoft.com/office/drawing/2016/SVG/main" r:embed="rId16"/>
              </a:ext>
            </a:extLst>
          </a:blip>
          <a:stretch>
            <a:fillRect/>
          </a:stretch>
        </p:blipFill>
        <p:spPr>
          <a:xfrm>
            <a:off x="8389865" y="2599051"/>
            <a:ext cx="1024720" cy="1024720"/>
          </a:xfrm>
          <a:prstGeom prst="rect">
            <a:avLst/>
          </a:prstGeom>
        </p:spPr>
      </p:pic>
      <p:pic>
        <p:nvPicPr>
          <p:cNvPr id="44" name="Graphic 43">
            <a:extLst>
              <a:ext uri="{FF2B5EF4-FFF2-40B4-BE49-F238E27FC236}">
                <a16:creationId xmlns:a16="http://schemas.microsoft.com/office/drawing/2014/main" id="{968E3E90-09C7-D974-5E9A-C1251A19524F}"/>
              </a:ext>
            </a:extLst>
          </p:cNvPr>
          <p:cNvPicPr>
            <a:picLocks noChangeAspect="1"/>
          </p:cNvPicPr>
          <p:nvPr>
            <p:custDataLst>
              <p:tags r:id="rId4"/>
            </p:custDataLst>
          </p:nvPr>
        </p:nvPicPr>
        <p:blipFill>
          <a:blip r:embed="rId17">
            <a:extLst>
              <a:ext uri="{96DAC541-7B7A-43D3-8B79-37D633B846F1}">
                <asvg:svgBlip xmlns:asvg="http://schemas.microsoft.com/office/drawing/2016/SVG/main" r:embed="rId18"/>
              </a:ext>
            </a:extLst>
          </a:blip>
          <a:stretch>
            <a:fillRect/>
          </a:stretch>
        </p:blipFill>
        <p:spPr>
          <a:xfrm>
            <a:off x="10186113" y="2599051"/>
            <a:ext cx="1024720" cy="1024720"/>
          </a:xfrm>
          <a:prstGeom prst="rect">
            <a:avLst/>
          </a:prstGeom>
        </p:spPr>
      </p:pic>
      <p:pic>
        <p:nvPicPr>
          <p:cNvPr id="45" name="Graphic 44">
            <a:extLst>
              <a:ext uri="{FF2B5EF4-FFF2-40B4-BE49-F238E27FC236}">
                <a16:creationId xmlns:a16="http://schemas.microsoft.com/office/drawing/2014/main" id="{D0984AF9-C602-FA7B-5D30-D0DFC1FDF5A7}"/>
              </a:ext>
            </a:extLst>
          </p:cNvPr>
          <p:cNvPicPr>
            <a:picLocks noChangeAspect="1"/>
          </p:cNvPicPr>
          <p:nvPr>
            <p:custDataLst>
              <p:tags r:id="rId5"/>
            </p:custDataLst>
          </p:nvPr>
        </p:nvPicPr>
        <p:blipFill>
          <a:blip r:embed="rId19">
            <a:extLst>
              <a:ext uri="{96DAC541-7B7A-43D3-8B79-37D633B846F1}">
                <asvg:svgBlip xmlns:asvg="http://schemas.microsoft.com/office/drawing/2016/SVG/main" r:embed="rId20"/>
              </a:ext>
            </a:extLst>
          </a:blip>
          <a:stretch>
            <a:fillRect/>
          </a:stretch>
        </p:blipFill>
        <p:spPr>
          <a:xfrm>
            <a:off x="3001125" y="2599050"/>
            <a:ext cx="1024720" cy="1024720"/>
          </a:xfrm>
          <a:prstGeom prst="rect">
            <a:avLst/>
          </a:prstGeom>
        </p:spPr>
      </p:pic>
      <p:pic>
        <p:nvPicPr>
          <p:cNvPr id="46" name="Graphic 45">
            <a:extLst>
              <a:ext uri="{FF2B5EF4-FFF2-40B4-BE49-F238E27FC236}">
                <a16:creationId xmlns:a16="http://schemas.microsoft.com/office/drawing/2014/main" id="{4F0188C1-F7AB-AB38-609B-9E4BF0BB0082}"/>
              </a:ext>
            </a:extLst>
          </p:cNvPr>
          <p:cNvPicPr>
            <a:picLocks noChangeAspect="1"/>
          </p:cNvPicPr>
          <p:nvPr>
            <p:custDataLst>
              <p:tags r:id="rId6"/>
            </p:custDataLst>
          </p:nvPr>
        </p:nvPicPr>
        <p:blipFill>
          <a:blip r:embed="rId21">
            <a:extLst>
              <a:ext uri="{96DAC541-7B7A-43D3-8B79-37D633B846F1}">
                <asvg:svgBlip xmlns:asvg="http://schemas.microsoft.com/office/drawing/2016/SVG/main" r:embed="rId22"/>
              </a:ext>
            </a:extLst>
          </a:blip>
          <a:stretch>
            <a:fillRect/>
          </a:stretch>
        </p:blipFill>
        <p:spPr>
          <a:xfrm>
            <a:off x="1204879" y="2599051"/>
            <a:ext cx="1024720" cy="1024720"/>
          </a:xfrm>
          <a:prstGeom prst="rect">
            <a:avLst/>
          </a:prstGeom>
        </p:spPr>
      </p:pic>
      <p:sp>
        <p:nvSpPr>
          <p:cNvPr id="47" name="Rectangle 46">
            <a:extLst>
              <a:ext uri="{FF2B5EF4-FFF2-40B4-BE49-F238E27FC236}">
                <a16:creationId xmlns:a16="http://schemas.microsoft.com/office/drawing/2014/main" id="{D345FAA2-F5B4-17ED-B5B2-DA5867719778}"/>
              </a:ext>
            </a:extLst>
          </p:cNvPr>
          <p:cNvSpPr/>
          <p:nvPr/>
        </p:nvSpPr>
        <p:spPr>
          <a:xfrm>
            <a:off x="2743496" y="3841454"/>
            <a:ext cx="1763593" cy="18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Komen tot uniforme set aan basisgetallen, die ten grondslag liggen aan de impactanalyse en investeringsaanvraag.</a:t>
            </a:r>
          </a:p>
          <a:p>
            <a:pPr marL="0" marR="0" lvl="0" indent="0" algn="l" defTabSz="914400" rtl="0" eaLnBrk="1" fontAlgn="auto" latinLnBrk="0" hangingPunct="1">
              <a:lnSpc>
                <a:spcPct val="100000"/>
              </a:lnSpc>
              <a:spcBef>
                <a:spcPts val="0"/>
              </a:spcBef>
              <a:spcAft>
                <a:spcPts val="0"/>
              </a:spcAft>
              <a:buClrTx/>
              <a:buSzTx/>
              <a:buFontTx/>
              <a:buNone/>
              <a:tabLst/>
              <a:defRPr/>
            </a:pPr>
            <a:br>
              <a:rPr lang="nl-NL" sz="1000">
                <a:solidFill>
                  <a:prstClr val="black"/>
                </a:solidFill>
                <a:latin typeface="Verdana" panose="020B0604030504040204" pitchFamily="34" charset="0"/>
                <a:ea typeface="Verdana" panose="020B0604030504040204" pitchFamily="34" charset="0"/>
              </a:rPr>
            </a:br>
            <a:endParaRPr lang="nl-NL" sz="1000">
              <a:solidFill>
                <a:prstClr val="black"/>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Waar mogelijk dezelfde input parameters hanteren voor alle </a:t>
            </a:r>
            <a:r>
              <a:rPr kumimoji="0" lang="nl-NL" sz="1000" b="0" i="1"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a:t>
            </a: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cases en gevraagde investeringen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48" name="Rectangle 47">
            <a:extLst>
              <a:ext uri="{FF2B5EF4-FFF2-40B4-BE49-F238E27FC236}">
                <a16:creationId xmlns:a16="http://schemas.microsoft.com/office/drawing/2014/main" id="{6B720C54-B993-1FAE-07A3-D9E1A38973EC}"/>
              </a:ext>
            </a:extLst>
          </p:cNvPr>
          <p:cNvSpPr/>
          <p:nvPr/>
        </p:nvSpPr>
        <p:spPr>
          <a:xfrm>
            <a:off x="4539743" y="3841455"/>
            <a:ext cx="1763593" cy="18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Per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case aannames maken wat de verwachte beoogde effecten zijn. </a:t>
            </a:r>
            <a:r>
              <a:rPr lang="nl-NL" sz="1000">
                <a:solidFill>
                  <a:prstClr val="black"/>
                </a:solidFill>
                <a:latin typeface="Verdana" panose="020B0604030504040204" pitchFamily="34" charset="0"/>
                <a:ea typeface="Verdana" panose="020B0604030504040204" pitchFamily="34" charset="0"/>
              </a:rPr>
              <a:t>Deze dienen met experts en bij stakeholders gevalideerd te worden.</a:t>
            </a:r>
            <a:endPar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000" i="1">
              <a:solidFill>
                <a:prstClr val="black"/>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Per </a:t>
            </a:r>
            <a:r>
              <a:rPr kumimoji="0" lang="nl-NL" sz="1000" b="0" i="1"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a:t>
            </a: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case opstellen. Op basis van pilots, literatuur, referenties, ‘best </a:t>
            </a:r>
            <a:r>
              <a:rPr kumimoji="0" lang="nl-NL" sz="1000" b="0" i="1"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guess</a:t>
            </a: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Validatie bij specialisten, verpleegkundigen, </a:t>
            </a:r>
            <a:r>
              <a:rPr lang="nl-NL" sz="1000" i="1">
                <a:solidFill>
                  <a:prstClr val="black"/>
                </a:solidFill>
                <a:latin typeface="Verdana" panose="020B0604030504040204" pitchFamily="34" charset="0"/>
                <a:ea typeface="Verdana" panose="020B0604030504040204" pitchFamily="34" charset="0"/>
              </a:rPr>
              <a:t>en </a:t>
            </a: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overige experts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49" name="Rectangle 48">
            <a:extLst>
              <a:ext uri="{FF2B5EF4-FFF2-40B4-BE49-F238E27FC236}">
                <a16:creationId xmlns:a16="http://schemas.microsoft.com/office/drawing/2014/main" id="{475887E0-4C3C-7988-0B07-207B194FDC57}"/>
              </a:ext>
            </a:extLst>
          </p:cNvPr>
          <p:cNvSpPr/>
          <p:nvPr/>
        </p:nvSpPr>
        <p:spPr>
          <a:xfrm>
            <a:off x="8132237" y="3841455"/>
            <a:ext cx="1763593" cy="18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Per </a:t>
            </a:r>
            <a:r>
              <a:rPr kumimoji="0" lang="nl-NL" sz="10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a:t>
            </a: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case in gezamenlijkheid bepalen wat het ambitieniveau 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000">
              <a:solidFill>
                <a:prstClr val="black"/>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000">
              <a:solidFill>
                <a:prstClr val="black"/>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Per </a:t>
            </a:r>
            <a:r>
              <a:rPr kumimoji="0" lang="nl-NL" sz="1000" b="0" i="1"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a:t>
            </a: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case en overkoepelend bepalen en consolideren voor het hele transformatieplan</a:t>
            </a:r>
          </a:p>
        </p:txBody>
      </p:sp>
      <p:sp>
        <p:nvSpPr>
          <p:cNvPr id="50" name="Rectangle 49">
            <a:extLst>
              <a:ext uri="{FF2B5EF4-FFF2-40B4-BE49-F238E27FC236}">
                <a16:creationId xmlns:a16="http://schemas.microsoft.com/office/drawing/2014/main" id="{26112BAB-FD12-44AD-5A2C-D694B3A73683}"/>
              </a:ext>
            </a:extLst>
          </p:cNvPr>
          <p:cNvSpPr/>
          <p:nvPr/>
        </p:nvSpPr>
        <p:spPr>
          <a:xfrm>
            <a:off x="9928484" y="3841455"/>
            <a:ext cx="1684440" cy="18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Koppelen van benodigde investering aan de mijlpalenplanning; wanneer ontvang je welk bedrag van de zorgverzekeraar?</a:t>
            </a:r>
          </a:p>
        </p:txBody>
      </p:sp>
      <p:sp>
        <p:nvSpPr>
          <p:cNvPr id="51" name="Rectangle 50">
            <a:extLst>
              <a:ext uri="{FF2B5EF4-FFF2-40B4-BE49-F238E27FC236}">
                <a16:creationId xmlns:a16="http://schemas.microsoft.com/office/drawing/2014/main" id="{2CC84880-8ABB-098B-D666-7EBCA39D0E78}"/>
              </a:ext>
            </a:extLst>
          </p:cNvPr>
          <p:cNvSpPr/>
          <p:nvPr/>
        </p:nvSpPr>
        <p:spPr>
          <a:xfrm>
            <a:off x="6335990" y="3841455"/>
            <a:ext cx="1763593" cy="18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Bepalen welke investeringen, gedurende de scope van het transformatieplan nodig zijn om de ‘transformatie’ te kunnen realiseren.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000">
              <a:solidFill>
                <a:prstClr val="black"/>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Deels op </a:t>
            </a:r>
            <a:r>
              <a:rPr kumimoji="0" lang="nl-NL" sz="1000" b="0" i="1"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rPr>
              <a:t>use</a:t>
            </a: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 case niveau </a:t>
            </a:r>
            <a:r>
              <a:rPr lang="nl-NL" sz="1000" i="1">
                <a:solidFill>
                  <a:prstClr val="black"/>
                </a:solidFill>
                <a:latin typeface="Verdana" panose="020B0604030504040204" pitchFamily="34" charset="0"/>
                <a:ea typeface="Verdana" panose="020B0604030504040204" pitchFamily="34" charset="0"/>
              </a:rPr>
              <a:t>te bepalen, maar ook overkoepelend</a:t>
            </a:r>
            <a:endPar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52" name="Rectangle 51">
            <a:extLst>
              <a:ext uri="{FF2B5EF4-FFF2-40B4-BE49-F238E27FC236}">
                <a16:creationId xmlns:a16="http://schemas.microsoft.com/office/drawing/2014/main" id="{A1FA52AA-5550-129A-C811-957DF25401BB}"/>
              </a:ext>
            </a:extLst>
          </p:cNvPr>
          <p:cNvSpPr/>
          <p:nvPr/>
        </p:nvSpPr>
        <p:spPr>
          <a:xfrm>
            <a:off x="947249" y="3841454"/>
            <a:ext cx="1763593" cy="18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Komen tot uitgangspunten op welke manier de analyse opgezet.</a:t>
            </a:r>
            <a:endParaRPr lang="nl-NL" sz="1000">
              <a:solidFill>
                <a:prstClr val="black"/>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b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000">
              <a:solidFill>
                <a:prstClr val="black"/>
              </a:solidFill>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Eén keer opstellen voor gehele analyse</a:t>
            </a:r>
          </a:p>
        </p:txBody>
      </p:sp>
      <p:sp>
        <p:nvSpPr>
          <p:cNvPr id="53" name="Isosceles Triangle 52">
            <a:extLst>
              <a:ext uri="{FF2B5EF4-FFF2-40B4-BE49-F238E27FC236}">
                <a16:creationId xmlns:a16="http://schemas.microsoft.com/office/drawing/2014/main" id="{57E03117-C3AA-D332-86DD-4AB96574AA81}"/>
              </a:ext>
            </a:extLst>
          </p:cNvPr>
          <p:cNvSpPr/>
          <p:nvPr/>
        </p:nvSpPr>
        <p:spPr>
          <a:xfrm rot="5400000">
            <a:off x="2224333" y="2983275"/>
            <a:ext cx="782058" cy="256270"/>
          </a:xfrm>
          <a:prstGeom prst="triangle">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54" name="Isosceles Triangle 53">
            <a:extLst>
              <a:ext uri="{FF2B5EF4-FFF2-40B4-BE49-F238E27FC236}">
                <a16:creationId xmlns:a16="http://schemas.microsoft.com/office/drawing/2014/main" id="{6AEAF022-9675-EBF6-3F8E-2C87D6817219}"/>
              </a:ext>
            </a:extLst>
          </p:cNvPr>
          <p:cNvSpPr/>
          <p:nvPr/>
        </p:nvSpPr>
        <p:spPr>
          <a:xfrm rot="5400000">
            <a:off x="4020580" y="2983275"/>
            <a:ext cx="782058" cy="256270"/>
          </a:xfrm>
          <a:prstGeom prst="triangle">
            <a:avLst/>
          </a:prstGeom>
          <a:solidFill>
            <a:schemeClr val="bg2">
              <a:lumMod val="60000"/>
              <a:lumOff val="40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55" name="Isosceles Triangle 54">
            <a:extLst>
              <a:ext uri="{FF2B5EF4-FFF2-40B4-BE49-F238E27FC236}">
                <a16:creationId xmlns:a16="http://schemas.microsoft.com/office/drawing/2014/main" id="{9ECEF7CB-DE9F-93EB-D35D-DFC385075593}"/>
              </a:ext>
            </a:extLst>
          </p:cNvPr>
          <p:cNvSpPr/>
          <p:nvPr/>
        </p:nvSpPr>
        <p:spPr>
          <a:xfrm rot="5400000">
            <a:off x="5816827" y="2983275"/>
            <a:ext cx="782058" cy="256270"/>
          </a:xfrm>
          <a:prstGeom prst="triangle">
            <a:avLst/>
          </a:prstGeom>
          <a:solidFill>
            <a:schemeClr val="bg2">
              <a:lumMod val="20000"/>
              <a:lumOff val="80000"/>
            </a:schemeClr>
          </a:solidFill>
          <a:ln w="19050">
            <a:solidFill>
              <a:schemeClr val="bg2"/>
            </a:solidFill>
            <a:prstDash val="dash"/>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56" name="Isosceles Triangle 55">
            <a:extLst>
              <a:ext uri="{FF2B5EF4-FFF2-40B4-BE49-F238E27FC236}">
                <a16:creationId xmlns:a16="http://schemas.microsoft.com/office/drawing/2014/main" id="{D210DEA0-F60B-34D8-04D9-C8E025FDCF62}"/>
              </a:ext>
            </a:extLst>
          </p:cNvPr>
          <p:cNvSpPr/>
          <p:nvPr/>
        </p:nvSpPr>
        <p:spPr>
          <a:xfrm rot="5400000">
            <a:off x="7613073" y="2983275"/>
            <a:ext cx="782058" cy="256270"/>
          </a:xfrm>
          <a:prstGeom prst="triangle">
            <a:avLst/>
          </a:prstGeom>
          <a:solidFill>
            <a:schemeClr val="bg2">
              <a:lumMod val="20000"/>
              <a:lumOff val="80000"/>
            </a:schemeClr>
          </a:solidFill>
          <a:ln w="19050">
            <a:solidFill>
              <a:schemeClr val="bg2"/>
            </a:solidFill>
            <a:prstDash val="dash"/>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57" name="Isosceles Triangle 56">
            <a:extLst>
              <a:ext uri="{FF2B5EF4-FFF2-40B4-BE49-F238E27FC236}">
                <a16:creationId xmlns:a16="http://schemas.microsoft.com/office/drawing/2014/main" id="{EA8FBAFA-6198-9227-8A6D-6002D3F14D5A}"/>
              </a:ext>
            </a:extLst>
          </p:cNvPr>
          <p:cNvSpPr/>
          <p:nvPr/>
        </p:nvSpPr>
        <p:spPr>
          <a:xfrm rot="5400000">
            <a:off x="9409319" y="2983275"/>
            <a:ext cx="782058" cy="256270"/>
          </a:xfrm>
          <a:prstGeom prst="triangle">
            <a:avLst/>
          </a:prstGeom>
          <a:solidFill>
            <a:schemeClr val="bg2">
              <a:lumMod val="20000"/>
              <a:lumOff val="80000"/>
            </a:schemeClr>
          </a:solidFill>
          <a:ln w="19050">
            <a:solidFill>
              <a:schemeClr val="bg2"/>
            </a:solidFill>
            <a:prstDash val="dash"/>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pic>
        <p:nvPicPr>
          <p:cNvPr id="58" name="Graphic 57">
            <a:extLst>
              <a:ext uri="{FF2B5EF4-FFF2-40B4-BE49-F238E27FC236}">
                <a16:creationId xmlns:a16="http://schemas.microsoft.com/office/drawing/2014/main" id="{8D7A3416-66D1-EF82-E2B7-FC9B7AC73744}"/>
              </a:ext>
            </a:extLst>
          </p:cNvPr>
          <p:cNvPicPr>
            <a:picLocks noChangeAspect="1"/>
          </p:cNvPicPr>
          <p:nvPr>
            <p:custDataLst>
              <p:tags r:id="rId7"/>
            </p:custDataLst>
          </p:nvPr>
        </p:nvPicPr>
        <p:blipFill>
          <a:blip r:embed="rId23">
            <a:extLst>
              <a:ext uri="{96DAC541-7B7A-43D3-8B79-37D633B846F1}">
                <asvg:svgBlip xmlns:asvg="http://schemas.microsoft.com/office/drawing/2016/SVG/main" r:embed="rId24"/>
              </a:ext>
            </a:extLst>
          </a:blip>
          <a:stretch>
            <a:fillRect/>
          </a:stretch>
        </p:blipFill>
        <p:spPr>
          <a:xfrm>
            <a:off x="6133696" y="3407219"/>
            <a:ext cx="373297" cy="373297"/>
          </a:xfrm>
          <a:prstGeom prst="rect">
            <a:avLst/>
          </a:prstGeom>
        </p:spPr>
      </p:pic>
      <p:pic>
        <p:nvPicPr>
          <p:cNvPr id="59" name="Graphic 58">
            <a:extLst>
              <a:ext uri="{FF2B5EF4-FFF2-40B4-BE49-F238E27FC236}">
                <a16:creationId xmlns:a16="http://schemas.microsoft.com/office/drawing/2014/main" id="{18BCF46F-9EB4-F942-BC9E-D77E8254C12A}"/>
              </a:ext>
            </a:extLst>
          </p:cNvPr>
          <p:cNvPicPr>
            <a:picLocks noChangeAspect="1"/>
          </p:cNvPicPr>
          <p:nvPr>
            <p:custDataLst>
              <p:tags r:id="rId8"/>
            </p:custDataLst>
          </p:nvPr>
        </p:nvPicPr>
        <p:blipFill>
          <a:blip r:embed="rId23">
            <a:extLst>
              <a:ext uri="{96DAC541-7B7A-43D3-8B79-37D633B846F1}">
                <asvg:svgBlip xmlns:asvg="http://schemas.microsoft.com/office/drawing/2016/SVG/main" r:embed="rId24"/>
              </a:ext>
            </a:extLst>
          </a:blip>
          <a:stretch>
            <a:fillRect/>
          </a:stretch>
        </p:blipFill>
        <p:spPr>
          <a:xfrm>
            <a:off x="8004102" y="3407219"/>
            <a:ext cx="373297" cy="373297"/>
          </a:xfrm>
          <a:prstGeom prst="rect">
            <a:avLst/>
          </a:prstGeom>
        </p:spPr>
      </p:pic>
      <p:pic>
        <p:nvPicPr>
          <p:cNvPr id="60" name="Graphic 59">
            <a:extLst>
              <a:ext uri="{FF2B5EF4-FFF2-40B4-BE49-F238E27FC236}">
                <a16:creationId xmlns:a16="http://schemas.microsoft.com/office/drawing/2014/main" id="{E1437F7C-24ED-68DD-5C48-8B9E137B449A}"/>
              </a:ext>
            </a:extLst>
          </p:cNvPr>
          <p:cNvPicPr>
            <a:picLocks noChangeAspect="1"/>
          </p:cNvPicPr>
          <p:nvPr>
            <p:custDataLst>
              <p:tags r:id="rId9"/>
            </p:custDataLst>
          </p:nvPr>
        </p:nvPicPr>
        <p:blipFill>
          <a:blip r:embed="rId23">
            <a:extLst>
              <a:ext uri="{96DAC541-7B7A-43D3-8B79-37D633B846F1}">
                <asvg:svgBlip xmlns:asvg="http://schemas.microsoft.com/office/drawing/2016/SVG/main" r:embed="rId24"/>
              </a:ext>
            </a:extLst>
          </a:blip>
          <a:stretch>
            <a:fillRect/>
          </a:stretch>
        </p:blipFill>
        <p:spPr>
          <a:xfrm>
            <a:off x="9774487" y="3407219"/>
            <a:ext cx="373297" cy="373297"/>
          </a:xfrm>
          <a:prstGeom prst="rect">
            <a:avLst/>
          </a:prstGeom>
        </p:spPr>
      </p:pic>
      <p:sp>
        <p:nvSpPr>
          <p:cNvPr id="5" name="Rectangle: Top Corners Rounded 38">
            <a:hlinkClick r:id="rId25" action="ppaction://hlinksldjump"/>
            <a:extLst>
              <a:ext uri="{FF2B5EF4-FFF2-40B4-BE49-F238E27FC236}">
                <a16:creationId xmlns:a16="http://schemas.microsoft.com/office/drawing/2014/main" id="{EA01C8C6-383A-CFEE-BDF6-A73CCBA78837}"/>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19" name="Graphic 18" descr="Introductiepagina silhouet">
            <a:hlinkClick r:id="rId26" action="ppaction://hlinksldjump"/>
            <a:extLst>
              <a:ext uri="{FF2B5EF4-FFF2-40B4-BE49-F238E27FC236}">
                <a16:creationId xmlns:a16="http://schemas.microsoft.com/office/drawing/2014/main" id="{136A4360-6BB4-83AD-92FE-AE5C118F9AB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65136" y="147223"/>
            <a:ext cx="144000" cy="144000"/>
          </a:xfrm>
          <a:prstGeom prst="rect">
            <a:avLst/>
          </a:prstGeom>
        </p:spPr>
      </p:pic>
      <p:sp>
        <p:nvSpPr>
          <p:cNvPr id="20" name="Rectangle: Top Corners Rounded 1">
            <a:hlinkClick r:id="rId29" action="ppaction://hlinksldjump"/>
            <a:extLst>
              <a:ext uri="{FF2B5EF4-FFF2-40B4-BE49-F238E27FC236}">
                <a16:creationId xmlns:a16="http://schemas.microsoft.com/office/drawing/2014/main" id="{ED872E1D-F902-90CA-CA06-EC0F14531B21}"/>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1" name="Rectangle: Top Corners Rounded 1">
            <a:hlinkClick r:id="rId30" action="ppaction://hlinksldjump"/>
            <a:extLst>
              <a:ext uri="{FF2B5EF4-FFF2-40B4-BE49-F238E27FC236}">
                <a16:creationId xmlns:a16="http://schemas.microsoft.com/office/drawing/2014/main" id="{6EC4A56E-7415-7C65-51D3-5F80AA8BFB0B}"/>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2" name="Rectangle: Top Corners Rounded 1">
            <a:hlinkClick r:id="rId31" action="ppaction://hlinksldjump"/>
            <a:extLst>
              <a:ext uri="{FF2B5EF4-FFF2-40B4-BE49-F238E27FC236}">
                <a16:creationId xmlns:a16="http://schemas.microsoft.com/office/drawing/2014/main" id="{0BA45565-4DD1-0866-D2E7-CDF715635372}"/>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3" name="Rectangle: Top Corners Rounded 1">
            <a:hlinkClick r:id="rId32" action="ppaction://hlinksldjump"/>
            <a:extLst>
              <a:ext uri="{FF2B5EF4-FFF2-40B4-BE49-F238E27FC236}">
                <a16:creationId xmlns:a16="http://schemas.microsoft.com/office/drawing/2014/main" id="{E3C57C59-7392-2598-C1F4-6BBB33C34471}"/>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24" name="Rectangle: Top Corners Rounded 1">
            <a:hlinkClick r:id="rId33" action="ppaction://hlinksldjump"/>
            <a:extLst>
              <a:ext uri="{FF2B5EF4-FFF2-40B4-BE49-F238E27FC236}">
                <a16:creationId xmlns:a16="http://schemas.microsoft.com/office/drawing/2014/main" id="{ABC0BB8E-24F4-E7CE-D5B3-F2E710388093}"/>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5" name="Rectangle: Top Corners Rounded 1">
            <a:hlinkClick r:id="rId34" action="ppaction://hlinksldjump"/>
            <a:extLst>
              <a:ext uri="{FF2B5EF4-FFF2-40B4-BE49-F238E27FC236}">
                <a16:creationId xmlns:a16="http://schemas.microsoft.com/office/drawing/2014/main" id="{2225D014-4832-0E7C-F7B0-B038F079D1B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26" name="Rectangle: Top Corners Rounded 1">
            <a:hlinkClick r:id="rId35" action="ppaction://hlinksldjump"/>
            <a:extLst>
              <a:ext uri="{FF2B5EF4-FFF2-40B4-BE49-F238E27FC236}">
                <a16:creationId xmlns:a16="http://schemas.microsoft.com/office/drawing/2014/main" id="{41107F7E-D8CF-B035-9788-87EBFB2E023A}"/>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27" name="Rectangle: Top Corners Rounded 1">
            <a:hlinkClick r:id="rId36" action="ppaction://hlinksldjump"/>
            <a:extLst>
              <a:ext uri="{FF2B5EF4-FFF2-40B4-BE49-F238E27FC236}">
                <a16:creationId xmlns:a16="http://schemas.microsoft.com/office/drawing/2014/main" id="{E0386F48-53E6-096F-81C8-DBC7A3472EB0}"/>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28" name="Rectangle: Top Corners Rounded 1">
            <a:hlinkClick r:id="rId37" action="ppaction://hlinksldjump"/>
            <a:extLst>
              <a:ext uri="{FF2B5EF4-FFF2-40B4-BE49-F238E27FC236}">
                <a16:creationId xmlns:a16="http://schemas.microsoft.com/office/drawing/2014/main" id="{9BC71E60-A437-0B95-F8E9-879A8C9539E8}"/>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29" name="Rectangle: Top Corners Rounded 1">
            <a:hlinkClick r:id="rId38" action="ppaction://hlinksldjump"/>
            <a:extLst>
              <a:ext uri="{FF2B5EF4-FFF2-40B4-BE49-F238E27FC236}">
                <a16:creationId xmlns:a16="http://schemas.microsoft.com/office/drawing/2014/main" id="{BE63D533-7A39-4B56-39CC-F87C518CD30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0" name="Rectangle: Top Corners Rounded 1">
            <a:hlinkClick r:id="rId39" action="ppaction://hlinksldjump"/>
            <a:extLst>
              <a:ext uri="{FF2B5EF4-FFF2-40B4-BE49-F238E27FC236}">
                <a16:creationId xmlns:a16="http://schemas.microsoft.com/office/drawing/2014/main" id="{375CE7C8-11DC-79C7-E1A3-98442D542B5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42700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57D62-60D1-EED1-158B-0DC5E896561A}"/>
              </a:ext>
            </a:extLst>
          </p:cNvPr>
          <p:cNvSpPr>
            <a:spLocks noGrp="1"/>
          </p:cNvSpPr>
          <p:nvPr>
            <p:ph type="title"/>
          </p:nvPr>
        </p:nvSpPr>
        <p:spPr/>
        <p:txBody>
          <a:bodyPr/>
          <a:lstStyle/>
          <a:p>
            <a:r>
              <a:rPr lang="nl-NL"/>
              <a:t>Uitgangspunten businesscase</a:t>
            </a:r>
          </a:p>
        </p:txBody>
      </p:sp>
      <p:sp>
        <p:nvSpPr>
          <p:cNvPr id="4" name="Text Placeholder 3">
            <a:extLst>
              <a:ext uri="{FF2B5EF4-FFF2-40B4-BE49-F238E27FC236}">
                <a16:creationId xmlns:a16="http://schemas.microsoft.com/office/drawing/2014/main" id="{D108D371-21D5-A7ED-AAD0-7768B8D889EA}"/>
              </a:ext>
            </a:extLst>
          </p:cNvPr>
          <p:cNvSpPr>
            <a:spLocks noGrp="1"/>
          </p:cNvSpPr>
          <p:nvPr>
            <p:ph type="body" sz="quarter" idx="10"/>
          </p:nvPr>
        </p:nvSpPr>
        <p:spPr/>
        <p:txBody>
          <a:bodyPr/>
          <a:lstStyle/>
          <a:p>
            <a:r>
              <a:rPr lang="nl-NL"/>
              <a:t>Vier uitgangspunten onderliggend aan de businesscase uit- en toegelicht </a:t>
            </a:r>
            <a:r>
              <a:rPr lang="nl-NL" baseline="30000"/>
              <a:t>1</a:t>
            </a:r>
            <a:endParaRPr lang="nl-NL"/>
          </a:p>
        </p:txBody>
      </p:sp>
      <p:sp>
        <p:nvSpPr>
          <p:cNvPr id="19" name="Speech Bubble: Rectangle 18">
            <a:extLst>
              <a:ext uri="{FF2B5EF4-FFF2-40B4-BE49-F238E27FC236}">
                <a16:creationId xmlns:a16="http://schemas.microsoft.com/office/drawing/2014/main" id="{147C640B-1C23-5C11-8DAD-6A77397D9BFD}"/>
              </a:ext>
            </a:extLst>
          </p:cNvPr>
          <p:cNvSpPr/>
          <p:nvPr/>
        </p:nvSpPr>
        <p:spPr>
          <a:xfrm>
            <a:off x="529432" y="2426373"/>
            <a:ext cx="4762655" cy="1756297"/>
          </a:xfrm>
          <a:prstGeom prst="wedgeRectCallout">
            <a:avLst>
              <a:gd name="adj1" fmla="val 59048"/>
              <a:gd name="adj2" fmla="val -25427"/>
            </a:avLst>
          </a:prstGeom>
          <a:noFill/>
          <a:ln w="12700">
            <a:noFill/>
          </a:ln>
          <a:effectLst/>
        </p:spPr>
        <p:style>
          <a:lnRef idx="2">
            <a:schemeClr val="accent1"/>
          </a:lnRef>
          <a:fillRef idx="1">
            <a:schemeClr val="lt1"/>
          </a:fillRef>
          <a:effectRef idx="0">
            <a:schemeClr val="accent1"/>
          </a:effectRef>
          <a:fontRef idx="minor">
            <a:schemeClr val="dk1"/>
          </a:fontRef>
        </p:style>
        <p:txBody>
          <a:bodyPr lIns="360000" rtlCol="0" anchor="t"/>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Voor de doorrekening van de impact gaan we uit van een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potentieel- en investeringsberekening</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Hierbij hanteren we de </a:t>
            </a:r>
            <a:r>
              <a:rPr kumimoji="0" lang="nl-NL" sz="1100" b="1" i="0" u="none" strike="noStrike" kern="1200" cap="none" spc="0" normalizeH="0" baseline="0" noProof="0" err="1">
                <a:ln>
                  <a:noFill/>
                </a:ln>
                <a:solidFill>
                  <a:prstClr val="black"/>
                </a:solidFill>
                <a:effectLst/>
                <a:uLnTx/>
                <a:uFillTx/>
                <a:latin typeface="Verdana Pro" panose="020B0604030504040204" pitchFamily="34" charset="0"/>
              </a:rPr>
              <a:t>ceteris</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 </a:t>
            </a:r>
            <a:r>
              <a:rPr kumimoji="0" lang="nl-NL" sz="1100" b="1" i="0" u="none" strike="noStrike" kern="1200" cap="none" spc="0" normalizeH="0" baseline="0" noProof="0" err="1">
                <a:ln>
                  <a:noFill/>
                </a:ln>
                <a:solidFill>
                  <a:prstClr val="black"/>
                </a:solidFill>
                <a:effectLst/>
                <a:uLnTx/>
                <a:uFillTx/>
                <a:latin typeface="Verdana Pro" panose="020B0604030504040204" pitchFamily="34" charset="0"/>
              </a:rPr>
              <a:t>paribus</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 </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voorwaarde: 'alle overige factoren blijven gelijk’. We zetten de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toekomstige</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situatie</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met</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zonder</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transformatieplan</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tegen elkaar af, gegeven de stijgende zorgvraag, waarbij we personele tekorten en andere limiterende factoren buiten beschouwing laten. Dit om de ‘ontoegankelijkheid van zorg’ en gezondheidsverlies niet te hoeven beprijzen. Het betreft dus een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fictieve</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doorrekening </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om zoveel mogelijk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'appels met appels</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te kunnen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vergelijken</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a:t>
            </a:r>
          </a:p>
        </p:txBody>
      </p:sp>
      <p:sp>
        <p:nvSpPr>
          <p:cNvPr id="20" name="Speech Bubble: Rectangle 19">
            <a:extLst>
              <a:ext uri="{FF2B5EF4-FFF2-40B4-BE49-F238E27FC236}">
                <a16:creationId xmlns:a16="http://schemas.microsoft.com/office/drawing/2014/main" id="{37440828-15DB-BC0F-A9BF-62B884F8E49E}"/>
              </a:ext>
            </a:extLst>
          </p:cNvPr>
          <p:cNvSpPr/>
          <p:nvPr/>
        </p:nvSpPr>
        <p:spPr>
          <a:xfrm flipH="1">
            <a:off x="529430" y="1526777"/>
            <a:ext cx="4762654" cy="788193"/>
          </a:xfrm>
          <a:prstGeom prst="wedgeRectCallout">
            <a:avLst>
              <a:gd name="adj1" fmla="val -58794"/>
              <a:gd name="adj2" fmla="val 33989"/>
            </a:avLst>
          </a:prstGeom>
          <a:noFill/>
          <a:ln w="12700">
            <a:noFill/>
          </a:ln>
          <a:effectLst/>
        </p:spPr>
        <p:style>
          <a:lnRef idx="2">
            <a:schemeClr val="accent1"/>
          </a:lnRef>
          <a:fillRef idx="1">
            <a:schemeClr val="lt1"/>
          </a:fillRef>
          <a:effectRef idx="0">
            <a:schemeClr val="accent1"/>
          </a:effectRef>
          <a:fontRef idx="minor">
            <a:schemeClr val="dk1"/>
          </a:fontRef>
        </p:style>
        <p:txBody>
          <a:bodyPr lIns="360000" tIns="45720" rIns="91440" bIns="45720" rtlCol="0" anchor="t"/>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Het potentieel van dit transformatieplan wordt uitgedrukt in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tijdswinst (in fte)</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impact op zorguitgaven (€’s)</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Hierbij wordt de toekomstige situatie </a:t>
            </a:r>
            <a:r>
              <a:rPr kumimoji="0" lang="nl-NL" sz="1100" b="0" i="0" u="sng" strike="noStrike" kern="1200" cap="none" spc="0" normalizeH="0" baseline="0" noProof="0">
                <a:ln>
                  <a:noFill/>
                </a:ln>
                <a:solidFill>
                  <a:prstClr val="black"/>
                </a:solidFill>
                <a:effectLst/>
                <a:uLnTx/>
                <a:uFillTx/>
                <a:latin typeface="Verdana Pro" panose="020B0604030504040204" pitchFamily="34" charset="0"/>
              </a:rPr>
              <a:t>met</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transformatieplan afgezet tegen de toekomstige situatie </a:t>
            </a:r>
            <a:r>
              <a:rPr kumimoji="0" lang="nl-NL" sz="1100" b="0" i="0" u="sng" strike="noStrike" kern="1200" cap="none" spc="0" normalizeH="0" baseline="0" noProof="0">
                <a:ln>
                  <a:noFill/>
                </a:ln>
                <a:solidFill>
                  <a:prstClr val="black"/>
                </a:solidFill>
                <a:effectLst/>
                <a:uLnTx/>
                <a:uFillTx/>
                <a:latin typeface="Verdana Pro" panose="020B0604030504040204" pitchFamily="34" charset="0"/>
              </a:rPr>
              <a:t>zonder</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transformatieplan.</a:t>
            </a:r>
            <a:r>
              <a:rPr kumimoji="0" lang="nl-NL" sz="1100" b="0" i="0" u="sng" strike="noStrike" kern="1200" cap="none" spc="0" normalizeH="0" baseline="0" noProof="0">
                <a:ln>
                  <a:noFill/>
                </a:ln>
                <a:solidFill>
                  <a:prstClr val="black"/>
                </a:solidFill>
                <a:effectLst/>
                <a:uLnTx/>
                <a:uFillTx/>
                <a:latin typeface="Verdana Pro" panose="020B0604030504040204" pitchFamily="34" charset="0"/>
              </a:rPr>
              <a:t> </a:t>
            </a:r>
            <a:endParaRPr kumimoji="0" lang="nl-NL" sz="1100" b="0" i="0" u="none" strike="noStrike" kern="1200" cap="none" spc="0" normalizeH="0" baseline="0" noProof="0">
              <a:ln>
                <a:noFill/>
              </a:ln>
              <a:solidFill>
                <a:prstClr val="black"/>
              </a:solidFill>
              <a:effectLst/>
              <a:uLnTx/>
              <a:uFillTx/>
              <a:latin typeface="Verdana Pro" panose="020B0604030504040204" pitchFamily="34" charset="0"/>
            </a:endParaRPr>
          </a:p>
        </p:txBody>
      </p:sp>
      <p:sp>
        <p:nvSpPr>
          <p:cNvPr id="21" name="TextBox 20">
            <a:extLst>
              <a:ext uri="{FF2B5EF4-FFF2-40B4-BE49-F238E27FC236}">
                <a16:creationId xmlns:a16="http://schemas.microsoft.com/office/drawing/2014/main" id="{5BE23C76-CDF8-4339-6756-6D82078DF0B7}"/>
              </a:ext>
            </a:extLst>
          </p:cNvPr>
          <p:cNvSpPr txBox="1"/>
          <p:nvPr/>
        </p:nvSpPr>
        <p:spPr>
          <a:xfrm>
            <a:off x="529433" y="2372269"/>
            <a:ext cx="348172" cy="369332"/>
          </a:xfrm>
          <a:prstGeom prst="rect">
            <a:avLst/>
          </a:prstGeom>
          <a:noFill/>
        </p:spPr>
        <p:txBody>
          <a:bodyPr wrap="none"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nl-NL" b="1">
                <a:solidFill>
                  <a:prstClr val="black"/>
                </a:solidFill>
                <a:latin typeface="Verdana Pro" panose="020B0604030504040204" pitchFamily="34" charset="0"/>
              </a:rPr>
              <a:t>2</a:t>
            </a:r>
            <a:endParaRPr kumimoji="0" lang="nl-NL" sz="1800" b="1" i="0" u="none" strike="noStrike" kern="1200" cap="none" spc="0" normalizeH="0" baseline="0" noProof="0">
              <a:ln>
                <a:noFill/>
              </a:ln>
              <a:solidFill>
                <a:prstClr val="black"/>
              </a:solidFill>
              <a:effectLst/>
              <a:uLnTx/>
              <a:uFillTx/>
              <a:latin typeface="Verdana Pro" panose="020B0604030504040204" pitchFamily="34" charset="0"/>
            </a:endParaRPr>
          </a:p>
        </p:txBody>
      </p:sp>
      <p:sp>
        <p:nvSpPr>
          <p:cNvPr id="22" name="TextBox 21">
            <a:extLst>
              <a:ext uri="{FF2B5EF4-FFF2-40B4-BE49-F238E27FC236}">
                <a16:creationId xmlns:a16="http://schemas.microsoft.com/office/drawing/2014/main" id="{070474BA-D239-5AD7-6F9C-9988D97C1EEE}"/>
              </a:ext>
            </a:extLst>
          </p:cNvPr>
          <p:cNvSpPr txBox="1"/>
          <p:nvPr/>
        </p:nvSpPr>
        <p:spPr>
          <a:xfrm>
            <a:off x="529433" y="1526777"/>
            <a:ext cx="348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1" i="0" u="none" strike="noStrike" kern="1200" cap="none" spc="0" normalizeH="0" baseline="0" noProof="0">
                <a:ln>
                  <a:noFill/>
                </a:ln>
                <a:solidFill>
                  <a:prstClr val="black"/>
                </a:solidFill>
                <a:effectLst/>
                <a:uLnTx/>
                <a:uFillTx/>
                <a:latin typeface="Verdana Pro" panose="020B0604030504040204" pitchFamily="34" charset="0"/>
              </a:rPr>
              <a:t>1</a:t>
            </a:r>
          </a:p>
        </p:txBody>
      </p:sp>
      <p:cxnSp>
        <p:nvCxnSpPr>
          <p:cNvPr id="23" name="Straight Connector 22">
            <a:extLst>
              <a:ext uri="{FF2B5EF4-FFF2-40B4-BE49-F238E27FC236}">
                <a16:creationId xmlns:a16="http://schemas.microsoft.com/office/drawing/2014/main" id="{4AE76EC3-C7EF-FC97-3B5D-8166F8040EAB}"/>
              </a:ext>
            </a:extLst>
          </p:cNvPr>
          <p:cNvCxnSpPr>
            <a:cxnSpLocks/>
          </p:cNvCxnSpPr>
          <p:nvPr/>
        </p:nvCxnSpPr>
        <p:spPr>
          <a:xfrm flipV="1">
            <a:off x="6096000" y="3197066"/>
            <a:ext cx="3332692" cy="1198744"/>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A559E78B-13E3-72E2-DA42-4AD616A2656C}"/>
              </a:ext>
            </a:extLst>
          </p:cNvPr>
          <p:cNvSpPr txBox="1"/>
          <p:nvPr/>
        </p:nvSpPr>
        <p:spPr>
          <a:xfrm>
            <a:off x="5811306" y="4491871"/>
            <a:ext cx="569387"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400" b="0" i="0" u="none" strike="noStrike" kern="1200" cap="none" spc="0" normalizeH="0" baseline="0" noProof="0">
                <a:ln>
                  <a:noFill/>
                </a:ln>
                <a:solidFill>
                  <a:prstClr val="black"/>
                </a:solidFill>
                <a:effectLst/>
                <a:uLnTx/>
                <a:uFillTx/>
                <a:latin typeface="Aptos"/>
                <a:ea typeface="+mn-ea"/>
                <a:cs typeface="+mn-cs"/>
              </a:rPr>
              <a:t>2024</a:t>
            </a:r>
          </a:p>
        </p:txBody>
      </p:sp>
      <p:sp>
        <p:nvSpPr>
          <p:cNvPr id="25" name="TextBox 24">
            <a:extLst>
              <a:ext uri="{FF2B5EF4-FFF2-40B4-BE49-F238E27FC236}">
                <a16:creationId xmlns:a16="http://schemas.microsoft.com/office/drawing/2014/main" id="{4EFEF722-FEFD-57C3-3A0C-90233A15F91B}"/>
              </a:ext>
            </a:extLst>
          </p:cNvPr>
          <p:cNvSpPr txBox="1"/>
          <p:nvPr/>
        </p:nvSpPr>
        <p:spPr>
          <a:xfrm>
            <a:off x="6039908" y="3677868"/>
            <a:ext cx="79057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Aptos"/>
                <a:ea typeface="+mn-ea"/>
                <a:cs typeface="+mn-cs"/>
              </a:rPr>
              <a:t>Huidige situatie</a:t>
            </a:r>
          </a:p>
        </p:txBody>
      </p:sp>
      <p:sp>
        <p:nvSpPr>
          <p:cNvPr id="26" name="TextBox 25">
            <a:extLst>
              <a:ext uri="{FF2B5EF4-FFF2-40B4-BE49-F238E27FC236}">
                <a16:creationId xmlns:a16="http://schemas.microsoft.com/office/drawing/2014/main" id="{70021F62-864B-1B53-AE34-25E1F247B47A}"/>
              </a:ext>
            </a:extLst>
          </p:cNvPr>
          <p:cNvSpPr txBox="1"/>
          <p:nvPr/>
        </p:nvSpPr>
        <p:spPr>
          <a:xfrm>
            <a:off x="9087906" y="4491871"/>
            <a:ext cx="569387"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400" b="0" i="0" u="none" strike="noStrike" kern="1200" cap="none" spc="0" normalizeH="0" baseline="0" noProof="0">
                <a:ln>
                  <a:noFill/>
                </a:ln>
                <a:solidFill>
                  <a:prstClr val="black"/>
                </a:solidFill>
                <a:effectLst/>
                <a:uLnTx/>
                <a:uFillTx/>
                <a:latin typeface="Aptos"/>
                <a:ea typeface="+mn-ea"/>
                <a:cs typeface="+mn-cs"/>
              </a:rPr>
              <a:t>2030</a:t>
            </a:r>
          </a:p>
        </p:txBody>
      </p:sp>
      <p:sp>
        <p:nvSpPr>
          <p:cNvPr id="27" name="TextBox 26">
            <a:extLst>
              <a:ext uri="{FF2B5EF4-FFF2-40B4-BE49-F238E27FC236}">
                <a16:creationId xmlns:a16="http://schemas.microsoft.com/office/drawing/2014/main" id="{554C80E3-7722-9B63-6F86-5834A0709749}"/>
              </a:ext>
            </a:extLst>
          </p:cNvPr>
          <p:cNvSpPr txBox="1"/>
          <p:nvPr/>
        </p:nvSpPr>
        <p:spPr>
          <a:xfrm>
            <a:off x="8060603" y="2616463"/>
            <a:ext cx="1843087"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Aptos"/>
                <a:ea typeface="+mn-ea"/>
                <a:cs typeface="+mn-cs"/>
              </a:rPr>
              <a:t>Toekomstige situatie zonder transformatieplan</a:t>
            </a:r>
          </a:p>
        </p:txBody>
      </p:sp>
      <p:sp>
        <p:nvSpPr>
          <p:cNvPr id="28" name="TextBox 27">
            <a:extLst>
              <a:ext uri="{FF2B5EF4-FFF2-40B4-BE49-F238E27FC236}">
                <a16:creationId xmlns:a16="http://schemas.microsoft.com/office/drawing/2014/main" id="{1CFC7E99-8700-1AB5-CA84-1DB9169695ED}"/>
              </a:ext>
            </a:extLst>
          </p:cNvPr>
          <p:cNvSpPr txBox="1"/>
          <p:nvPr/>
        </p:nvSpPr>
        <p:spPr>
          <a:xfrm>
            <a:off x="9774860" y="4014886"/>
            <a:ext cx="1543928" cy="400110"/>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nl-NL" sz="1000" b="0" i="1" u="none" strike="noStrike" kern="1200" cap="none" spc="0" normalizeH="0" baseline="0" noProof="0">
                <a:ln>
                  <a:noFill/>
                </a:ln>
                <a:solidFill>
                  <a:prstClr val="black"/>
                </a:solidFill>
                <a:effectLst/>
                <a:uLnTx/>
                <a:uFillTx/>
                <a:latin typeface="Aptos"/>
                <a:ea typeface="+mn-ea"/>
                <a:cs typeface="+mn-cs"/>
              </a:rPr>
              <a:t>Toekomstige situatie met transformatieplan</a:t>
            </a:r>
          </a:p>
        </p:txBody>
      </p:sp>
      <p:cxnSp>
        <p:nvCxnSpPr>
          <p:cNvPr id="29" name="Straight Connector 28">
            <a:extLst>
              <a:ext uri="{FF2B5EF4-FFF2-40B4-BE49-F238E27FC236}">
                <a16:creationId xmlns:a16="http://schemas.microsoft.com/office/drawing/2014/main" id="{990E35C5-5465-9AC1-E0C0-4E8BD9688D06}"/>
              </a:ext>
            </a:extLst>
          </p:cNvPr>
          <p:cNvCxnSpPr>
            <a:cxnSpLocks/>
          </p:cNvCxnSpPr>
          <p:nvPr/>
        </p:nvCxnSpPr>
        <p:spPr>
          <a:xfrm flipV="1">
            <a:off x="6096000" y="4235287"/>
            <a:ext cx="3332692" cy="160523"/>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661EFD35-BE17-9C8D-09B5-84E622063A83}"/>
              </a:ext>
            </a:extLst>
          </p:cNvPr>
          <p:cNvCxnSpPr>
            <a:cxnSpLocks/>
          </p:cNvCxnSpPr>
          <p:nvPr/>
        </p:nvCxnSpPr>
        <p:spPr>
          <a:xfrm>
            <a:off x="5967606" y="2608888"/>
            <a:ext cx="0" cy="1836632"/>
          </a:xfrm>
          <a:prstGeom prst="line">
            <a:avLst/>
          </a:prstGeom>
          <a:ln w="6350">
            <a:solidFill>
              <a:schemeClr val="bg1">
                <a:lumMod val="75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06AD5E6-AFF0-52F3-941F-2799381C6904}"/>
              </a:ext>
            </a:extLst>
          </p:cNvPr>
          <p:cNvCxnSpPr>
            <a:cxnSpLocks/>
          </p:cNvCxnSpPr>
          <p:nvPr/>
        </p:nvCxnSpPr>
        <p:spPr>
          <a:xfrm flipV="1">
            <a:off x="5978492" y="4445520"/>
            <a:ext cx="4123451" cy="0"/>
          </a:xfrm>
          <a:prstGeom prst="line">
            <a:avLst/>
          </a:prstGeom>
          <a:ln w="6350">
            <a:solidFill>
              <a:schemeClr val="bg1">
                <a:lumMod val="75000"/>
              </a:schemeClr>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D1500DA0-A62C-9CA1-6599-9BB51DECA14B}"/>
              </a:ext>
            </a:extLst>
          </p:cNvPr>
          <p:cNvSpPr txBox="1"/>
          <p:nvPr/>
        </p:nvSpPr>
        <p:spPr>
          <a:xfrm>
            <a:off x="10002586" y="4491871"/>
            <a:ext cx="394659" cy="2616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1" u="none" strike="noStrike" kern="1200" cap="none" spc="0" normalizeH="0" baseline="0" noProof="0">
                <a:ln>
                  <a:noFill/>
                </a:ln>
                <a:solidFill>
                  <a:prstClr val="black"/>
                </a:solidFill>
                <a:effectLst/>
                <a:uLnTx/>
                <a:uFillTx/>
                <a:latin typeface="Aptos"/>
                <a:ea typeface="+mn-ea"/>
                <a:cs typeface="+mn-cs"/>
              </a:rPr>
              <a:t>Tijd</a:t>
            </a:r>
          </a:p>
        </p:txBody>
      </p:sp>
      <p:sp>
        <p:nvSpPr>
          <p:cNvPr id="33" name="TextBox 32">
            <a:extLst>
              <a:ext uri="{FF2B5EF4-FFF2-40B4-BE49-F238E27FC236}">
                <a16:creationId xmlns:a16="http://schemas.microsoft.com/office/drawing/2014/main" id="{0BEE24A2-19E3-6311-A1B4-35804D447DF6}"/>
              </a:ext>
            </a:extLst>
          </p:cNvPr>
          <p:cNvSpPr txBox="1"/>
          <p:nvPr/>
        </p:nvSpPr>
        <p:spPr>
          <a:xfrm rot="16200000">
            <a:off x="4934492" y="2519510"/>
            <a:ext cx="1579254"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1" u="none" strike="noStrike" kern="1200" cap="none" spc="0" normalizeH="0" baseline="0" noProof="0">
                <a:ln>
                  <a:noFill/>
                </a:ln>
                <a:solidFill>
                  <a:prstClr val="black"/>
                </a:solidFill>
                <a:effectLst/>
                <a:uLnTx/>
                <a:uFillTx/>
                <a:latin typeface="Aptos"/>
                <a:ea typeface="+mn-ea"/>
                <a:cs typeface="+mn-cs"/>
              </a:rPr>
              <a:t>Benodigd personeel</a:t>
            </a:r>
            <a:br>
              <a:rPr kumimoji="0" lang="nl-NL" sz="1100" b="0" i="1" u="none" strike="noStrike" kern="1200" cap="none" spc="0" normalizeH="0" baseline="0" noProof="0">
                <a:ln>
                  <a:noFill/>
                </a:ln>
                <a:solidFill>
                  <a:prstClr val="black"/>
                </a:solidFill>
                <a:effectLst/>
                <a:uLnTx/>
                <a:uFillTx/>
                <a:latin typeface="Aptos"/>
                <a:ea typeface="+mn-ea"/>
                <a:cs typeface="+mn-cs"/>
              </a:rPr>
            </a:br>
            <a:r>
              <a:rPr kumimoji="0" lang="nl-NL" sz="1100" b="0" i="1" u="none" strike="noStrike" kern="1200" cap="none" spc="0" normalizeH="0" baseline="0" noProof="0">
                <a:ln>
                  <a:noFill/>
                </a:ln>
                <a:solidFill>
                  <a:prstClr val="black"/>
                </a:solidFill>
                <a:effectLst/>
                <a:uLnTx/>
                <a:uFillTx/>
                <a:latin typeface="Aptos"/>
                <a:ea typeface="+mn-ea"/>
                <a:cs typeface="+mn-cs"/>
              </a:rPr>
              <a:t>c.q. zorguitgaven</a:t>
            </a:r>
          </a:p>
        </p:txBody>
      </p:sp>
      <p:sp>
        <p:nvSpPr>
          <p:cNvPr id="34" name="Right Brace 33">
            <a:extLst>
              <a:ext uri="{FF2B5EF4-FFF2-40B4-BE49-F238E27FC236}">
                <a16:creationId xmlns:a16="http://schemas.microsoft.com/office/drawing/2014/main" id="{D8868119-F01C-1992-6021-DA5276381D60}"/>
              </a:ext>
            </a:extLst>
          </p:cNvPr>
          <p:cNvSpPr/>
          <p:nvPr/>
        </p:nvSpPr>
        <p:spPr>
          <a:xfrm>
            <a:off x="9490167" y="3197067"/>
            <a:ext cx="167126" cy="1033012"/>
          </a:xfrm>
          <a:prstGeom prst="rightBrace">
            <a:avLst/>
          </a:prstGeom>
          <a:ln w="12700">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Box 34">
            <a:extLst>
              <a:ext uri="{FF2B5EF4-FFF2-40B4-BE49-F238E27FC236}">
                <a16:creationId xmlns:a16="http://schemas.microsoft.com/office/drawing/2014/main" id="{940043E8-7250-9BD2-5538-9B354B1B29FE}"/>
              </a:ext>
            </a:extLst>
          </p:cNvPr>
          <p:cNvSpPr txBox="1"/>
          <p:nvPr/>
        </p:nvSpPr>
        <p:spPr>
          <a:xfrm>
            <a:off x="9774860" y="3430468"/>
            <a:ext cx="1964460" cy="600164"/>
          </a:xfrm>
          <a:prstGeom prst="rect">
            <a:avLst/>
          </a:prstGeom>
          <a:noFill/>
        </p:spPr>
        <p:txBody>
          <a:bodyPr wrap="square" lIns="91440" tIns="45720" rIns="91440" bIns="45720" anchor="t">
            <a:spAutoFit/>
          </a:bodyPr>
          <a:lstStyle/>
          <a:p>
            <a:pPr>
              <a:defRPr/>
            </a:pPr>
            <a:r>
              <a:rPr lang="nl-NL" sz="1100" b="1" i="1">
                <a:solidFill>
                  <a:prstClr val="black"/>
                </a:solidFill>
                <a:latin typeface="Aptos"/>
              </a:rPr>
              <a:t>Transformatie potentieel</a:t>
            </a:r>
            <a:r>
              <a:rPr kumimoji="0" lang="nl-NL" sz="1100" b="1" i="1" u="none" strike="noStrike" kern="1200" cap="none" spc="0" normalizeH="0" baseline="0" noProof="0">
                <a:ln>
                  <a:noFill/>
                </a:ln>
                <a:solidFill>
                  <a:prstClr val="black"/>
                </a:solidFill>
                <a:effectLst/>
                <a:uLnTx/>
                <a:uFillTx/>
                <a:latin typeface="Aptos"/>
                <a:ea typeface="+mn-ea"/>
                <a:cs typeface="+mn-cs"/>
              </a:rPr>
              <a:t> wat berekend wordt in de impactanalyse</a:t>
            </a:r>
          </a:p>
        </p:txBody>
      </p:sp>
      <p:sp>
        <p:nvSpPr>
          <p:cNvPr id="36" name="Speech Bubble: Rectangle 35">
            <a:extLst>
              <a:ext uri="{FF2B5EF4-FFF2-40B4-BE49-F238E27FC236}">
                <a16:creationId xmlns:a16="http://schemas.microsoft.com/office/drawing/2014/main" id="{7EB02C06-B8B2-B0E3-395C-5E6EED19E953}"/>
              </a:ext>
            </a:extLst>
          </p:cNvPr>
          <p:cNvSpPr/>
          <p:nvPr/>
        </p:nvSpPr>
        <p:spPr>
          <a:xfrm>
            <a:off x="529432" y="5112464"/>
            <a:ext cx="4762655" cy="1182052"/>
          </a:xfrm>
          <a:prstGeom prst="wedgeRectCallout">
            <a:avLst>
              <a:gd name="adj1" fmla="val 60004"/>
              <a:gd name="adj2" fmla="val -41155"/>
            </a:avLst>
          </a:prstGeom>
          <a:noFill/>
          <a:ln w="12700">
            <a:noFill/>
          </a:ln>
          <a:effectLst/>
        </p:spPr>
        <p:style>
          <a:lnRef idx="2">
            <a:schemeClr val="accent1"/>
          </a:lnRef>
          <a:fillRef idx="1">
            <a:schemeClr val="lt1"/>
          </a:fillRef>
          <a:effectRef idx="0">
            <a:schemeClr val="accent1"/>
          </a:effectRef>
          <a:fontRef idx="minor">
            <a:schemeClr val="dk1"/>
          </a:fontRef>
        </p:style>
        <p:txBody>
          <a:bodyPr lIns="360000" rtlCol="0" anchor="t"/>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De hierboven beschreven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tijdswinst</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(in fte) is een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uitkomst</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van het verwachte effect van de </a:t>
            </a:r>
            <a:r>
              <a:rPr kumimoji="0" lang="nl-NL" sz="1100" b="0" i="0" u="none" strike="noStrike" kern="1200" cap="none" spc="0" normalizeH="0" baseline="0" noProof="0" err="1">
                <a:ln>
                  <a:noFill/>
                </a:ln>
                <a:solidFill>
                  <a:prstClr val="black"/>
                </a:solidFill>
                <a:effectLst/>
                <a:uLnTx/>
                <a:uFillTx/>
                <a:latin typeface="Verdana Pro" panose="020B0604030504040204" pitchFamily="34" charset="0"/>
              </a:rPr>
              <a:t>use</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cases die onderdeel uitmaken van dit transformatieplan. Om deze te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effectueren</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is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niet alleen </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een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digitale </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procesverandering, </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maar ook een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cultuurverandering</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nodig. Hier wordt rekening mee gehouden in het plan qua benodigde inzet en investering</a:t>
            </a:r>
          </a:p>
        </p:txBody>
      </p:sp>
      <p:sp>
        <p:nvSpPr>
          <p:cNvPr id="37" name="TextBox 36">
            <a:extLst>
              <a:ext uri="{FF2B5EF4-FFF2-40B4-BE49-F238E27FC236}">
                <a16:creationId xmlns:a16="http://schemas.microsoft.com/office/drawing/2014/main" id="{F960C5E1-448B-8D56-EAB4-D4863E614B0F}"/>
              </a:ext>
            </a:extLst>
          </p:cNvPr>
          <p:cNvSpPr txBox="1"/>
          <p:nvPr/>
        </p:nvSpPr>
        <p:spPr>
          <a:xfrm>
            <a:off x="529433" y="5009594"/>
            <a:ext cx="3481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800" b="1" i="0" u="none" strike="noStrike" kern="1200" cap="none" spc="0" normalizeH="0" baseline="0" noProof="0">
                <a:ln>
                  <a:noFill/>
                </a:ln>
                <a:solidFill>
                  <a:prstClr val="black"/>
                </a:solidFill>
                <a:effectLst/>
                <a:uLnTx/>
                <a:uFillTx/>
                <a:latin typeface="Verdana Pro" panose="020B0604030504040204" pitchFamily="34" charset="0"/>
              </a:rPr>
              <a:t>4</a:t>
            </a:r>
          </a:p>
        </p:txBody>
      </p:sp>
      <p:sp>
        <p:nvSpPr>
          <p:cNvPr id="38" name="Speech Bubble: Rectangle 37">
            <a:extLst>
              <a:ext uri="{FF2B5EF4-FFF2-40B4-BE49-F238E27FC236}">
                <a16:creationId xmlns:a16="http://schemas.microsoft.com/office/drawing/2014/main" id="{89C721D8-3169-5177-C1E9-248A7F946A4C}"/>
              </a:ext>
            </a:extLst>
          </p:cNvPr>
          <p:cNvSpPr/>
          <p:nvPr/>
        </p:nvSpPr>
        <p:spPr>
          <a:xfrm flipH="1">
            <a:off x="529430" y="4339793"/>
            <a:ext cx="4762654" cy="775569"/>
          </a:xfrm>
          <a:prstGeom prst="wedgeRectCallout">
            <a:avLst>
              <a:gd name="adj1" fmla="val -58794"/>
              <a:gd name="adj2" fmla="val 33989"/>
            </a:avLst>
          </a:prstGeom>
          <a:noFill/>
          <a:ln w="12700">
            <a:noFill/>
          </a:ln>
          <a:effectLst/>
        </p:spPr>
        <p:style>
          <a:lnRef idx="2">
            <a:schemeClr val="accent1"/>
          </a:lnRef>
          <a:fillRef idx="1">
            <a:schemeClr val="lt1"/>
          </a:fillRef>
          <a:effectRef idx="0">
            <a:schemeClr val="accent1"/>
          </a:effectRef>
          <a:fontRef idx="minor">
            <a:schemeClr val="dk1"/>
          </a:fontRef>
        </p:style>
        <p:txBody>
          <a:bodyPr lIns="360000" rtlCol="0" anchor="t"/>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De tijdswinst betreft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geen</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fte-besparing</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maar gaat om een fictieve afbuiging om met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hetzelfde personeel meer</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van de </a:t>
            </a:r>
            <a:r>
              <a:rPr kumimoji="0" lang="nl-NL" sz="1100" b="1" i="0" u="none" strike="noStrike" kern="1200" cap="none" spc="0" normalizeH="0" baseline="0" noProof="0">
                <a:ln>
                  <a:noFill/>
                </a:ln>
                <a:solidFill>
                  <a:prstClr val="black"/>
                </a:solidFill>
                <a:effectLst/>
                <a:uLnTx/>
                <a:uFillTx/>
                <a:latin typeface="Verdana Pro" panose="020B0604030504040204" pitchFamily="34" charset="0"/>
              </a:rPr>
              <a:t>zorgvraag</a:t>
            </a:r>
            <a:r>
              <a:rPr kumimoji="0" lang="nl-NL" sz="1100" b="0" i="0" u="none" strike="noStrike" kern="1200" cap="none" spc="0" normalizeH="0" baseline="0" noProof="0">
                <a:ln>
                  <a:noFill/>
                </a:ln>
                <a:solidFill>
                  <a:prstClr val="black"/>
                </a:solidFill>
                <a:effectLst/>
                <a:uLnTx/>
                <a:uFillTx/>
                <a:latin typeface="Verdana Pro" panose="020B0604030504040204" pitchFamily="34" charset="0"/>
              </a:rPr>
              <a:t> op te kunnen vangen – oftewel met hetzelfde aantal zorgverleners meer patiënten kunnen zien. </a:t>
            </a:r>
          </a:p>
        </p:txBody>
      </p:sp>
      <p:sp>
        <p:nvSpPr>
          <p:cNvPr id="39" name="TextBox 38">
            <a:extLst>
              <a:ext uri="{FF2B5EF4-FFF2-40B4-BE49-F238E27FC236}">
                <a16:creationId xmlns:a16="http://schemas.microsoft.com/office/drawing/2014/main" id="{4010725D-C042-734C-8571-1878F37B8103}"/>
              </a:ext>
            </a:extLst>
          </p:cNvPr>
          <p:cNvSpPr txBox="1"/>
          <p:nvPr/>
        </p:nvSpPr>
        <p:spPr>
          <a:xfrm>
            <a:off x="529433" y="4291935"/>
            <a:ext cx="348172" cy="369332"/>
          </a:xfrm>
          <a:prstGeom prst="rect">
            <a:avLst/>
          </a:prstGeom>
          <a:noFill/>
        </p:spPr>
        <p:txBody>
          <a:bodyPr wrap="none"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nl-NL" sz="1800" b="1" i="0" u="none" strike="noStrike" kern="1200" cap="none" spc="0" normalizeH="0" baseline="0" noProof="0">
                <a:ln>
                  <a:noFill/>
                </a:ln>
                <a:solidFill>
                  <a:prstClr val="black"/>
                </a:solidFill>
                <a:effectLst/>
                <a:uLnTx/>
                <a:uFillTx/>
                <a:latin typeface="Verdana Pro" panose="020B0604030504040204" pitchFamily="34" charset="0"/>
              </a:rPr>
              <a:t>3</a:t>
            </a:r>
          </a:p>
        </p:txBody>
      </p:sp>
      <p:sp>
        <p:nvSpPr>
          <p:cNvPr id="52" name="Rectangle: Top Corners Rounded 38">
            <a:hlinkClick r:id="rId2" action="ppaction://hlinksldjump"/>
            <a:extLst>
              <a:ext uri="{FF2B5EF4-FFF2-40B4-BE49-F238E27FC236}">
                <a16:creationId xmlns:a16="http://schemas.microsoft.com/office/drawing/2014/main" id="{377BB85F-0B07-D094-60F5-AC9D4A3F6825}"/>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3" name="Graphic 52" descr="Introductiepagina silhouet">
            <a:hlinkClick r:id="rId3" action="ppaction://hlinksldjump"/>
            <a:extLst>
              <a:ext uri="{FF2B5EF4-FFF2-40B4-BE49-F238E27FC236}">
                <a16:creationId xmlns:a16="http://schemas.microsoft.com/office/drawing/2014/main" id="{94057E49-23A6-CFEA-8BE6-32FCD62799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36" y="147223"/>
            <a:ext cx="144000" cy="144000"/>
          </a:xfrm>
          <a:prstGeom prst="rect">
            <a:avLst/>
          </a:prstGeom>
        </p:spPr>
      </p:pic>
      <p:sp>
        <p:nvSpPr>
          <p:cNvPr id="54" name="Rectangle: Top Corners Rounded 1">
            <a:hlinkClick r:id="rId6" action="ppaction://hlinksldjump"/>
            <a:extLst>
              <a:ext uri="{FF2B5EF4-FFF2-40B4-BE49-F238E27FC236}">
                <a16:creationId xmlns:a16="http://schemas.microsoft.com/office/drawing/2014/main" id="{3FC4985C-3BA9-A4E0-BF5B-0336BA8EE5A9}"/>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55" name="Rectangle: Top Corners Rounded 1">
            <a:hlinkClick r:id="rId7" action="ppaction://hlinksldjump"/>
            <a:extLst>
              <a:ext uri="{FF2B5EF4-FFF2-40B4-BE49-F238E27FC236}">
                <a16:creationId xmlns:a16="http://schemas.microsoft.com/office/drawing/2014/main" id="{1956E2C1-36E1-BF82-7AF4-8D4744E157D6}"/>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56" name="Rectangle: Top Corners Rounded 1">
            <a:hlinkClick r:id="rId8" action="ppaction://hlinksldjump"/>
            <a:extLst>
              <a:ext uri="{FF2B5EF4-FFF2-40B4-BE49-F238E27FC236}">
                <a16:creationId xmlns:a16="http://schemas.microsoft.com/office/drawing/2014/main" id="{B2C808C5-B78C-2876-2C4D-E2DC975D7B18}"/>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57" name="Rectangle: Top Corners Rounded 1">
            <a:hlinkClick r:id="rId9" action="ppaction://hlinksldjump"/>
            <a:extLst>
              <a:ext uri="{FF2B5EF4-FFF2-40B4-BE49-F238E27FC236}">
                <a16:creationId xmlns:a16="http://schemas.microsoft.com/office/drawing/2014/main" id="{9B9871B9-B6F1-9621-DF95-D9989362B4A5}"/>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58" name="Rectangle: Top Corners Rounded 1">
            <a:hlinkClick r:id="rId10" action="ppaction://hlinksldjump"/>
            <a:extLst>
              <a:ext uri="{FF2B5EF4-FFF2-40B4-BE49-F238E27FC236}">
                <a16:creationId xmlns:a16="http://schemas.microsoft.com/office/drawing/2014/main" id="{5EE60CED-B1A1-FEEB-BC08-F24061C1D7CC}"/>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59" name="Rectangle: Top Corners Rounded 1">
            <a:hlinkClick r:id="rId11" action="ppaction://hlinksldjump"/>
            <a:extLst>
              <a:ext uri="{FF2B5EF4-FFF2-40B4-BE49-F238E27FC236}">
                <a16:creationId xmlns:a16="http://schemas.microsoft.com/office/drawing/2014/main" id="{E8AC63D7-3C68-5148-3978-770484208951}"/>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60" name="Rectangle: Top Corners Rounded 1">
            <a:hlinkClick r:id="rId12" action="ppaction://hlinksldjump"/>
            <a:extLst>
              <a:ext uri="{FF2B5EF4-FFF2-40B4-BE49-F238E27FC236}">
                <a16:creationId xmlns:a16="http://schemas.microsoft.com/office/drawing/2014/main" id="{E9933065-629F-70C2-63E0-A94317E5622E}"/>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61" name="Rectangle: Top Corners Rounded 1">
            <a:hlinkClick r:id="rId13" action="ppaction://hlinksldjump"/>
            <a:extLst>
              <a:ext uri="{FF2B5EF4-FFF2-40B4-BE49-F238E27FC236}">
                <a16:creationId xmlns:a16="http://schemas.microsoft.com/office/drawing/2014/main" id="{095B177E-31FE-7C55-6D70-2E74D3073F36}"/>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62" name="Rectangle: Top Corners Rounded 1">
            <a:hlinkClick r:id="rId14" action="ppaction://hlinksldjump"/>
            <a:extLst>
              <a:ext uri="{FF2B5EF4-FFF2-40B4-BE49-F238E27FC236}">
                <a16:creationId xmlns:a16="http://schemas.microsoft.com/office/drawing/2014/main" id="{CCDA3226-6C4F-28B0-9A5B-5335576B05DA}"/>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63" name="Rectangle: Top Corners Rounded 1">
            <a:hlinkClick r:id="rId15" action="ppaction://hlinksldjump"/>
            <a:extLst>
              <a:ext uri="{FF2B5EF4-FFF2-40B4-BE49-F238E27FC236}">
                <a16:creationId xmlns:a16="http://schemas.microsoft.com/office/drawing/2014/main" id="{3C76C47E-2C3D-C85C-3DBD-CD9970F45CCA}"/>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64" name="Rectangle: Top Corners Rounded 1">
            <a:hlinkClick r:id="rId16" action="ppaction://hlinksldjump"/>
            <a:extLst>
              <a:ext uri="{FF2B5EF4-FFF2-40B4-BE49-F238E27FC236}">
                <a16:creationId xmlns:a16="http://schemas.microsoft.com/office/drawing/2014/main" id="{6BC9031B-7448-36DA-B11C-709D5EF6F62E}"/>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 name="Tekstvak 11">
            <a:extLst>
              <a:ext uri="{FF2B5EF4-FFF2-40B4-BE49-F238E27FC236}">
                <a16:creationId xmlns:a16="http://schemas.microsoft.com/office/drawing/2014/main" id="{1C8CCEA1-ED8D-DA40-B82C-F12A6FC9B3D4}"/>
              </a:ext>
            </a:extLst>
          </p:cNvPr>
          <p:cNvSpPr txBox="1"/>
          <p:nvPr/>
        </p:nvSpPr>
        <p:spPr>
          <a:xfrm>
            <a:off x="529430" y="6499492"/>
            <a:ext cx="6671783" cy="246221"/>
          </a:xfrm>
          <a:prstGeom prst="rect">
            <a:avLst/>
          </a:prstGeom>
          <a:noFill/>
        </p:spPr>
        <p:txBody>
          <a:bodyPr wrap="square" rtlCol="0">
            <a:spAutoFit/>
          </a:bodyPr>
          <a:lstStyle/>
          <a:p>
            <a:r>
              <a:rPr lang="nl-NL" sz="1000"/>
              <a:t>1) Een overzicht van alle gehanteerde uitgangspunten met betrekking tot de businesscase is terug te vinden in de bijlage</a:t>
            </a:r>
          </a:p>
        </p:txBody>
      </p:sp>
    </p:spTree>
    <p:extLst>
      <p:ext uri="{BB962C8B-B14F-4D97-AF65-F5344CB8AC3E}">
        <p14:creationId xmlns:p14="http://schemas.microsoft.com/office/powerpoint/2010/main" val="12019338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41BC1-122C-95DB-4A01-13EB725A5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4B85-606D-E43F-61C5-B3617D5F4AD9}"/>
              </a:ext>
            </a:extLst>
          </p:cNvPr>
          <p:cNvSpPr>
            <a:spLocks noGrp="1"/>
          </p:cNvSpPr>
          <p:nvPr>
            <p:ph type="title"/>
          </p:nvPr>
        </p:nvSpPr>
        <p:spPr/>
        <p:txBody>
          <a:bodyPr/>
          <a:lstStyle/>
          <a:p>
            <a:r>
              <a:rPr lang="nl-NL"/>
              <a:t>Bepalen van de impact</a:t>
            </a:r>
          </a:p>
        </p:txBody>
      </p:sp>
      <p:sp>
        <p:nvSpPr>
          <p:cNvPr id="4" name="Text Placeholder 3">
            <a:extLst>
              <a:ext uri="{FF2B5EF4-FFF2-40B4-BE49-F238E27FC236}">
                <a16:creationId xmlns:a16="http://schemas.microsoft.com/office/drawing/2014/main" id="{8D397A83-D1D4-3A8F-FAFC-7DB183BCCBFD}"/>
              </a:ext>
            </a:extLst>
          </p:cNvPr>
          <p:cNvSpPr>
            <a:spLocks noGrp="1"/>
          </p:cNvSpPr>
          <p:nvPr>
            <p:ph type="body" sz="quarter" idx="10"/>
          </p:nvPr>
        </p:nvSpPr>
        <p:spPr/>
        <p:txBody>
          <a:bodyPr/>
          <a:lstStyle/>
          <a:p>
            <a:r>
              <a:rPr lang="nl-NL"/>
              <a:t>De verwachte impact van dit transformatieplan wordt ‘bottom-up’ en ‘top-down’ benaderd</a:t>
            </a:r>
          </a:p>
        </p:txBody>
      </p:sp>
      <p:sp>
        <p:nvSpPr>
          <p:cNvPr id="3" name="Arrow: Chevron 2">
            <a:extLst>
              <a:ext uri="{FF2B5EF4-FFF2-40B4-BE49-F238E27FC236}">
                <a16:creationId xmlns:a16="http://schemas.microsoft.com/office/drawing/2014/main" id="{E1315346-24CC-DB4F-7246-1AC4545FA8F2}"/>
              </a:ext>
            </a:extLst>
          </p:cNvPr>
          <p:cNvSpPr/>
          <p:nvPr/>
        </p:nvSpPr>
        <p:spPr>
          <a:xfrm>
            <a:off x="6124482" y="1829341"/>
            <a:ext cx="5229318" cy="1778794"/>
          </a:xfrm>
          <a:prstGeom prst="chevron">
            <a:avLst/>
          </a:prstGeom>
          <a:solidFill>
            <a:srgbClr val="F1F2F9"/>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40" name="Arrow: Pentagon 39">
            <a:extLst>
              <a:ext uri="{FF2B5EF4-FFF2-40B4-BE49-F238E27FC236}">
                <a16:creationId xmlns:a16="http://schemas.microsoft.com/office/drawing/2014/main" id="{ABE15497-222B-E428-6F2C-B8A531AF8C27}"/>
              </a:ext>
            </a:extLst>
          </p:cNvPr>
          <p:cNvSpPr/>
          <p:nvPr/>
        </p:nvSpPr>
        <p:spPr>
          <a:xfrm>
            <a:off x="1520824" y="1829341"/>
            <a:ext cx="5229318" cy="1778794"/>
          </a:xfrm>
          <a:prstGeom prst="homePlate">
            <a:avLst/>
          </a:prstGeom>
          <a:solidFill>
            <a:srgbClr val="F1F2F9"/>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42" name="TextBox 41">
            <a:extLst>
              <a:ext uri="{FF2B5EF4-FFF2-40B4-BE49-F238E27FC236}">
                <a16:creationId xmlns:a16="http://schemas.microsoft.com/office/drawing/2014/main" id="{7B1A40E5-BD2B-8060-9A25-89022E5EB49A}"/>
              </a:ext>
            </a:extLst>
          </p:cNvPr>
          <p:cNvSpPr txBox="1"/>
          <p:nvPr/>
        </p:nvSpPr>
        <p:spPr>
          <a:xfrm>
            <a:off x="3298033" y="2133963"/>
            <a:ext cx="2956716" cy="1015663"/>
          </a:xfrm>
          <a:prstGeom prst="rect">
            <a:avLst/>
          </a:prstGeom>
          <a:noFill/>
        </p:spPr>
        <p:txBody>
          <a:bodyPr wrap="square" rtlCol="0">
            <a:spAutoFit/>
          </a:bodyPr>
          <a:lstStyle/>
          <a:p>
            <a:r>
              <a:rPr lang="nl-NL" sz="1200">
                <a:latin typeface="Verdana Pro" panose="020B0604030504040204" pitchFamily="34" charset="0"/>
              </a:rPr>
              <a:t>Vanuit het </a:t>
            </a:r>
            <a:r>
              <a:rPr lang="nl-NL" sz="1200" err="1">
                <a:latin typeface="Verdana Pro" panose="020B0604030504040204" pitchFamily="34" charset="0"/>
              </a:rPr>
              <a:t>quadruple</a:t>
            </a:r>
            <a:r>
              <a:rPr lang="nl-NL" sz="1200">
                <a:latin typeface="Verdana Pro" panose="020B0604030504040204" pitchFamily="34" charset="0"/>
              </a:rPr>
              <a:t> </a:t>
            </a:r>
            <a:r>
              <a:rPr lang="nl-NL" sz="1200" err="1">
                <a:latin typeface="Verdana Pro" panose="020B0604030504040204" pitchFamily="34" charset="0"/>
              </a:rPr>
              <a:t>aim</a:t>
            </a:r>
            <a:r>
              <a:rPr lang="nl-NL" sz="1200">
                <a:latin typeface="Verdana Pro" panose="020B0604030504040204" pitchFamily="34" charset="0"/>
              </a:rPr>
              <a:t>-model zijn zowel kwalitatieve, als ook kwantitatieve ‘impactdrivers’ in kaart gebracht, waar de </a:t>
            </a:r>
            <a:r>
              <a:rPr lang="nl-NL" sz="1200" err="1">
                <a:latin typeface="Verdana Pro" panose="020B0604030504040204" pitchFamily="34" charset="0"/>
              </a:rPr>
              <a:t>usecase</a:t>
            </a:r>
            <a:r>
              <a:rPr lang="nl-NL" sz="1200">
                <a:latin typeface="Verdana Pro" panose="020B0604030504040204" pitchFamily="34" charset="0"/>
              </a:rPr>
              <a:t> effect op zal hebben</a:t>
            </a:r>
          </a:p>
        </p:txBody>
      </p:sp>
      <p:sp>
        <p:nvSpPr>
          <p:cNvPr id="43" name="TextBox 42">
            <a:extLst>
              <a:ext uri="{FF2B5EF4-FFF2-40B4-BE49-F238E27FC236}">
                <a16:creationId xmlns:a16="http://schemas.microsoft.com/office/drawing/2014/main" id="{06981384-57B8-089A-6C7D-942231F01F36}"/>
              </a:ext>
            </a:extLst>
          </p:cNvPr>
          <p:cNvSpPr txBox="1"/>
          <p:nvPr/>
        </p:nvSpPr>
        <p:spPr>
          <a:xfrm>
            <a:off x="6947766" y="2026241"/>
            <a:ext cx="2339823" cy="1200329"/>
          </a:xfrm>
          <a:prstGeom prst="rect">
            <a:avLst/>
          </a:prstGeom>
          <a:noFill/>
        </p:spPr>
        <p:txBody>
          <a:bodyPr wrap="square" rtlCol="0">
            <a:spAutoFit/>
          </a:bodyPr>
          <a:lstStyle/>
          <a:p>
            <a:r>
              <a:rPr lang="nl-NL" sz="1200">
                <a:latin typeface="Verdana Pro" panose="020B0604030504040204" pitchFamily="34" charset="0"/>
              </a:rPr>
              <a:t>De grootste, te </a:t>
            </a:r>
            <a:r>
              <a:rPr lang="nl-NL" sz="1200" err="1">
                <a:latin typeface="Verdana Pro" panose="020B0604030504040204" pitchFamily="34" charset="0"/>
              </a:rPr>
              <a:t>kwantifi-ceren</a:t>
            </a:r>
            <a:r>
              <a:rPr lang="nl-NL" sz="1200">
                <a:latin typeface="Verdana Pro" panose="020B0604030504040204" pitchFamily="34" charset="0"/>
              </a:rPr>
              <a:t>, impactdrivers zijn uitgewerkt als bottom-up onderbouwing voor de maatschappelijke business case, aan de hand van:</a:t>
            </a:r>
          </a:p>
        </p:txBody>
      </p:sp>
      <p:pic>
        <p:nvPicPr>
          <p:cNvPr id="44" name="Graphic 43">
            <a:extLst>
              <a:ext uri="{FF2B5EF4-FFF2-40B4-BE49-F238E27FC236}">
                <a16:creationId xmlns:a16="http://schemas.microsoft.com/office/drawing/2014/main" id="{619B576C-A8F7-C0CA-D1AE-081806A78693}"/>
              </a:ext>
            </a:extLst>
          </p:cNvPr>
          <p:cNvPicPr>
            <a:picLocks noChangeAspect="1"/>
          </p:cNvPicPr>
          <p:nvPr>
            <p:custDataLst>
              <p:tags r:id="rId1"/>
            </p:custDataLst>
          </p:nvPr>
        </p:nvPicPr>
        <p:blipFill>
          <a:blip r:embed="rId8">
            <a:extLst>
              <a:ext uri="{96DAC541-7B7A-43D3-8B79-37D633B846F1}">
                <asvg:svgBlip xmlns:asvg="http://schemas.microsoft.com/office/drawing/2016/SVG/main" r:embed="rId9"/>
              </a:ext>
            </a:extLst>
          </a:blip>
          <a:stretch>
            <a:fillRect/>
          </a:stretch>
        </p:blipFill>
        <p:spPr>
          <a:xfrm>
            <a:off x="9463081" y="1962403"/>
            <a:ext cx="468000" cy="468000"/>
          </a:xfrm>
          <a:prstGeom prst="rect">
            <a:avLst/>
          </a:prstGeom>
        </p:spPr>
      </p:pic>
      <p:pic>
        <p:nvPicPr>
          <p:cNvPr id="45" name="Graphic 44">
            <a:extLst>
              <a:ext uri="{FF2B5EF4-FFF2-40B4-BE49-F238E27FC236}">
                <a16:creationId xmlns:a16="http://schemas.microsoft.com/office/drawing/2014/main" id="{0E5BC868-B8B2-3CE2-EE64-10CF234D3D6A}"/>
              </a:ext>
            </a:extLst>
          </p:cNvPr>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tretch>
            <a:fillRect/>
          </a:stretch>
        </p:blipFill>
        <p:spPr>
          <a:xfrm>
            <a:off x="9463081" y="2430404"/>
            <a:ext cx="468000" cy="468000"/>
          </a:xfrm>
          <a:prstGeom prst="rect">
            <a:avLst/>
          </a:prstGeom>
        </p:spPr>
      </p:pic>
      <p:grpSp>
        <p:nvGrpSpPr>
          <p:cNvPr id="46" name="Group 45">
            <a:extLst>
              <a:ext uri="{FF2B5EF4-FFF2-40B4-BE49-F238E27FC236}">
                <a16:creationId xmlns:a16="http://schemas.microsoft.com/office/drawing/2014/main" id="{ACC29593-B2C1-8A7B-FC00-5FFF12E56604}"/>
              </a:ext>
            </a:extLst>
          </p:cNvPr>
          <p:cNvGrpSpPr>
            <a:grpSpLocks noChangeAspect="1"/>
          </p:cNvGrpSpPr>
          <p:nvPr/>
        </p:nvGrpSpPr>
        <p:grpSpPr>
          <a:xfrm>
            <a:off x="9458847" y="2900782"/>
            <a:ext cx="463275" cy="468000"/>
            <a:chOff x="14250603" y="1810906"/>
            <a:chExt cx="1026000" cy="1036468"/>
          </a:xfrm>
        </p:grpSpPr>
        <p:pic>
          <p:nvPicPr>
            <p:cNvPr id="47" name="Graphic 46">
              <a:extLst>
                <a:ext uri="{FF2B5EF4-FFF2-40B4-BE49-F238E27FC236}">
                  <a16:creationId xmlns:a16="http://schemas.microsoft.com/office/drawing/2014/main" id="{12CB8F59-9783-BD91-98A1-139699C8358C}"/>
                </a:ext>
              </a:extLst>
            </p:cNvPr>
            <p:cNvPicPr>
              <a:picLocks noChangeAspect="1"/>
            </p:cNvPicPr>
            <p:nvPr>
              <p:custDataLst>
                <p:tags r:id="rId5"/>
              </p:custDataLst>
            </p:nvPr>
          </p:nvPicPr>
          <p:blipFill>
            <a:blip r:embed="rId12">
              <a:extLst>
                <a:ext uri="{96DAC541-7B7A-43D3-8B79-37D633B846F1}">
                  <asvg:svgBlip xmlns:asvg="http://schemas.microsoft.com/office/drawing/2016/SVG/main" r:embed="rId13"/>
                </a:ext>
              </a:extLst>
            </a:blip>
            <a:stretch>
              <a:fillRect/>
            </a:stretch>
          </p:blipFill>
          <p:spPr>
            <a:xfrm>
              <a:off x="14250603" y="1821374"/>
              <a:ext cx="1026000" cy="1026000"/>
            </a:xfrm>
            <a:prstGeom prst="rect">
              <a:avLst/>
            </a:prstGeom>
          </p:spPr>
        </p:pic>
        <p:pic>
          <p:nvPicPr>
            <p:cNvPr id="48" name="Graphic 47">
              <a:extLst>
                <a:ext uri="{FF2B5EF4-FFF2-40B4-BE49-F238E27FC236}">
                  <a16:creationId xmlns:a16="http://schemas.microsoft.com/office/drawing/2014/main" id="{E9D5CFB6-6AFC-0A1D-7334-ACE710085A08}"/>
                </a:ext>
              </a:extLst>
            </p:cNvPr>
            <p:cNvPicPr>
              <a:picLocks noChangeAspect="1"/>
            </p:cNvPicPr>
            <p:nvPr>
              <p:custDataLst>
                <p:tags r:id="rId6"/>
              </p:custDataLst>
            </p:nvPr>
          </p:nvPicPr>
          <p:blipFill>
            <a:blip r:embed="rId14">
              <a:extLst>
                <a:ext uri="{96DAC541-7B7A-43D3-8B79-37D633B846F1}">
                  <asvg:svgBlip xmlns:asvg="http://schemas.microsoft.com/office/drawing/2016/SVG/main" r:embed="rId15"/>
                </a:ext>
              </a:extLst>
            </a:blip>
            <a:stretch>
              <a:fillRect/>
            </a:stretch>
          </p:blipFill>
          <p:spPr>
            <a:xfrm>
              <a:off x="14308994" y="1810906"/>
              <a:ext cx="388201" cy="388201"/>
            </a:xfrm>
            <a:prstGeom prst="rect">
              <a:avLst/>
            </a:prstGeom>
          </p:spPr>
        </p:pic>
      </p:grpSp>
      <p:sp>
        <p:nvSpPr>
          <p:cNvPr id="49" name="TextBox 48">
            <a:extLst>
              <a:ext uri="{FF2B5EF4-FFF2-40B4-BE49-F238E27FC236}">
                <a16:creationId xmlns:a16="http://schemas.microsoft.com/office/drawing/2014/main" id="{5CA5F72F-5A41-F961-FC23-BC36B5676D0A}"/>
              </a:ext>
            </a:extLst>
          </p:cNvPr>
          <p:cNvSpPr txBox="1"/>
          <p:nvPr/>
        </p:nvSpPr>
        <p:spPr>
          <a:xfrm>
            <a:off x="9922123" y="2065598"/>
            <a:ext cx="800644" cy="261610"/>
          </a:xfrm>
          <a:prstGeom prst="rect">
            <a:avLst/>
          </a:prstGeom>
          <a:noFill/>
        </p:spPr>
        <p:txBody>
          <a:bodyPr wrap="square" rtlCol="0">
            <a:spAutoFit/>
          </a:bodyPr>
          <a:lstStyle/>
          <a:p>
            <a:r>
              <a:rPr lang="nl-NL" sz="1050"/>
              <a:t>Doelgroep</a:t>
            </a:r>
          </a:p>
        </p:txBody>
      </p:sp>
      <p:sp>
        <p:nvSpPr>
          <p:cNvPr id="50" name="TextBox 49">
            <a:extLst>
              <a:ext uri="{FF2B5EF4-FFF2-40B4-BE49-F238E27FC236}">
                <a16:creationId xmlns:a16="http://schemas.microsoft.com/office/drawing/2014/main" id="{F93401FD-069D-FF5E-5463-748186D30D2B}"/>
              </a:ext>
            </a:extLst>
          </p:cNvPr>
          <p:cNvSpPr txBox="1"/>
          <p:nvPr/>
        </p:nvSpPr>
        <p:spPr>
          <a:xfrm>
            <a:off x="9922123" y="2533599"/>
            <a:ext cx="800644" cy="253916"/>
          </a:xfrm>
          <a:prstGeom prst="rect">
            <a:avLst/>
          </a:prstGeom>
          <a:noFill/>
        </p:spPr>
        <p:txBody>
          <a:bodyPr wrap="square" rtlCol="0">
            <a:spAutoFit/>
          </a:bodyPr>
          <a:lstStyle/>
          <a:p>
            <a:r>
              <a:rPr lang="nl-NL" sz="1050"/>
              <a:t>Effect</a:t>
            </a:r>
          </a:p>
        </p:txBody>
      </p:sp>
      <p:sp>
        <p:nvSpPr>
          <p:cNvPr id="51" name="TextBox 50">
            <a:extLst>
              <a:ext uri="{FF2B5EF4-FFF2-40B4-BE49-F238E27FC236}">
                <a16:creationId xmlns:a16="http://schemas.microsoft.com/office/drawing/2014/main" id="{D63ADF53-4C3B-DC32-E14A-7ED91EB022E6}"/>
              </a:ext>
            </a:extLst>
          </p:cNvPr>
          <p:cNvSpPr txBox="1"/>
          <p:nvPr/>
        </p:nvSpPr>
        <p:spPr>
          <a:xfrm>
            <a:off x="9922123" y="3011958"/>
            <a:ext cx="800644" cy="261610"/>
          </a:xfrm>
          <a:prstGeom prst="rect">
            <a:avLst/>
          </a:prstGeom>
          <a:noFill/>
        </p:spPr>
        <p:txBody>
          <a:bodyPr wrap="square" rtlCol="0">
            <a:spAutoFit/>
          </a:bodyPr>
          <a:lstStyle/>
          <a:p>
            <a:r>
              <a:rPr lang="nl-NL" sz="1050"/>
              <a:t>Inclusie</a:t>
            </a:r>
          </a:p>
        </p:txBody>
      </p:sp>
      <p:sp>
        <p:nvSpPr>
          <p:cNvPr id="52" name="TextBox 51">
            <a:extLst>
              <a:ext uri="{FF2B5EF4-FFF2-40B4-BE49-F238E27FC236}">
                <a16:creationId xmlns:a16="http://schemas.microsoft.com/office/drawing/2014/main" id="{4937578D-47A7-DBAA-7EE3-98E95A40A048}"/>
              </a:ext>
            </a:extLst>
          </p:cNvPr>
          <p:cNvSpPr txBox="1"/>
          <p:nvPr/>
        </p:nvSpPr>
        <p:spPr>
          <a:xfrm>
            <a:off x="9783643" y="2291261"/>
            <a:ext cx="800644" cy="261610"/>
          </a:xfrm>
          <a:prstGeom prst="rect">
            <a:avLst/>
          </a:prstGeom>
          <a:noFill/>
        </p:spPr>
        <p:txBody>
          <a:bodyPr wrap="square" rtlCol="0">
            <a:spAutoFit/>
          </a:bodyPr>
          <a:lstStyle/>
          <a:p>
            <a:pPr algn="ctr"/>
            <a:r>
              <a:rPr lang="nl-NL" sz="1050" b="1"/>
              <a:t>X</a:t>
            </a:r>
          </a:p>
        </p:txBody>
      </p:sp>
      <p:sp>
        <p:nvSpPr>
          <p:cNvPr id="53" name="TextBox 52">
            <a:extLst>
              <a:ext uri="{FF2B5EF4-FFF2-40B4-BE49-F238E27FC236}">
                <a16:creationId xmlns:a16="http://schemas.microsoft.com/office/drawing/2014/main" id="{B8B84BF2-E663-8EBB-8874-DF0A63EA3773}"/>
              </a:ext>
            </a:extLst>
          </p:cNvPr>
          <p:cNvSpPr txBox="1"/>
          <p:nvPr/>
        </p:nvSpPr>
        <p:spPr>
          <a:xfrm>
            <a:off x="9783643" y="2794705"/>
            <a:ext cx="800644" cy="261610"/>
          </a:xfrm>
          <a:prstGeom prst="rect">
            <a:avLst/>
          </a:prstGeom>
          <a:noFill/>
        </p:spPr>
        <p:txBody>
          <a:bodyPr wrap="square" rtlCol="0">
            <a:spAutoFit/>
          </a:bodyPr>
          <a:lstStyle/>
          <a:p>
            <a:pPr algn="ctr"/>
            <a:r>
              <a:rPr lang="nl-NL" sz="1050" b="1"/>
              <a:t>X</a:t>
            </a:r>
          </a:p>
        </p:txBody>
      </p:sp>
      <p:sp>
        <p:nvSpPr>
          <p:cNvPr id="54" name="Arrow: Right 53">
            <a:extLst>
              <a:ext uri="{FF2B5EF4-FFF2-40B4-BE49-F238E27FC236}">
                <a16:creationId xmlns:a16="http://schemas.microsoft.com/office/drawing/2014/main" id="{99E715D0-1CD3-F8E8-AE44-801E8383323E}"/>
              </a:ext>
            </a:extLst>
          </p:cNvPr>
          <p:cNvSpPr/>
          <p:nvPr/>
        </p:nvSpPr>
        <p:spPr>
          <a:xfrm rot="16200000">
            <a:off x="348745" y="2475826"/>
            <a:ext cx="1748055" cy="501195"/>
          </a:xfrm>
          <a:prstGeom prst="rightArrow">
            <a:avLst/>
          </a:prstGeom>
          <a:solidFill>
            <a:schemeClr val="bg1">
              <a:lumMod val="85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55" name="TextBox 54">
            <a:extLst>
              <a:ext uri="{FF2B5EF4-FFF2-40B4-BE49-F238E27FC236}">
                <a16:creationId xmlns:a16="http://schemas.microsoft.com/office/drawing/2014/main" id="{727830AC-9D05-304D-C084-5E90D18AC47B}"/>
              </a:ext>
            </a:extLst>
          </p:cNvPr>
          <p:cNvSpPr txBox="1"/>
          <p:nvPr/>
        </p:nvSpPr>
        <p:spPr>
          <a:xfrm rot="16200000">
            <a:off x="222398" y="2709474"/>
            <a:ext cx="1474173" cy="307777"/>
          </a:xfrm>
          <a:prstGeom prst="rect">
            <a:avLst/>
          </a:prstGeom>
          <a:noFill/>
        </p:spPr>
        <p:txBody>
          <a:bodyPr wrap="square" rtlCol="0">
            <a:spAutoFit/>
          </a:bodyPr>
          <a:lstStyle/>
          <a:p>
            <a:pPr algn="ctr"/>
            <a:r>
              <a:rPr lang="nl-NL" sz="1400"/>
              <a:t>Bottom-up</a:t>
            </a:r>
          </a:p>
        </p:txBody>
      </p:sp>
      <p:sp>
        <p:nvSpPr>
          <p:cNvPr id="56" name="Arrow: Right 55">
            <a:extLst>
              <a:ext uri="{FF2B5EF4-FFF2-40B4-BE49-F238E27FC236}">
                <a16:creationId xmlns:a16="http://schemas.microsoft.com/office/drawing/2014/main" id="{D8E0BE1D-56CA-1780-3152-51422F273428}"/>
              </a:ext>
            </a:extLst>
          </p:cNvPr>
          <p:cNvSpPr/>
          <p:nvPr/>
        </p:nvSpPr>
        <p:spPr>
          <a:xfrm rot="5400000" flipV="1">
            <a:off x="348745" y="4467702"/>
            <a:ext cx="1748055" cy="501195"/>
          </a:xfrm>
          <a:prstGeom prst="rightArrow">
            <a:avLst/>
          </a:prstGeom>
          <a:solidFill>
            <a:schemeClr val="bg1">
              <a:lumMod val="85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57" name="TextBox 56">
            <a:extLst>
              <a:ext uri="{FF2B5EF4-FFF2-40B4-BE49-F238E27FC236}">
                <a16:creationId xmlns:a16="http://schemas.microsoft.com/office/drawing/2014/main" id="{98993A07-9C77-C475-AE73-97B9D6735024}"/>
              </a:ext>
            </a:extLst>
          </p:cNvPr>
          <p:cNvSpPr txBox="1"/>
          <p:nvPr/>
        </p:nvSpPr>
        <p:spPr>
          <a:xfrm rot="5400000" flipV="1">
            <a:off x="205097" y="4444774"/>
            <a:ext cx="1508777" cy="307777"/>
          </a:xfrm>
          <a:prstGeom prst="rect">
            <a:avLst/>
          </a:prstGeom>
          <a:noFill/>
        </p:spPr>
        <p:txBody>
          <a:bodyPr wrap="square" rtlCol="0">
            <a:spAutoFit/>
          </a:bodyPr>
          <a:lstStyle/>
          <a:p>
            <a:pPr algn="ctr"/>
            <a:r>
              <a:rPr lang="nl-NL" sz="1400"/>
              <a:t>Top-down</a:t>
            </a:r>
          </a:p>
        </p:txBody>
      </p:sp>
      <p:sp>
        <p:nvSpPr>
          <p:cNvPr id="58" name="Rectangle 57">
            <a:extLst>
              <a:ext uri="{FF2B5EF4-FFF2-40B4-BE49-F238E27FC236}">
                <a16:creationId xmlns:a16="http://schemas.microsoft.com/office/drawing/2014/main" id="{73439F07-2914-2E66-58B2-5180E160935C}"/>
              </a:ext>
            </a:extLst>
          </p:cNvPr>
          <p:cNvSpPr/>
          <p:nvPr/>
        </p:nvSpPr>
        <p:spPr>
          <a:xfrm>
            <a:off x="6334125" y="3849969"/>
            <a:ext cx="5019675" cy="1778794"/>
          </a:xfrm>
          <a:prstGeom prst="rect">
            <a:avLst/>
          </a:prstGeom>
          <a:solidFill>
            <a:srgbClr val="F1F2F9"/>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59" name="Rectangle 58">
            <a:extLst>
              <a:ext uri="{FF2B5EF4-FFF2-40B4-BE49-F238E27FC236}">
                <a16:creationId xmlns:a16="http://schemas.microsoft.com/office/drawing/2014/main" id="{8C4F56DD-6B23-3C70-F226-12982C4169B7}"/>
              </a:ext>
            </a:extLst>
          </p:cNvPr>
          <p:cNvSpPr/>
          <p:nvPr/>
        </p:nvSpPr>
        <p:spPr>
          <a:xfrm>
            <a:off x="1520824" y="3842285"/>
            <a:ext cx="4337052" cy="1778794"/>
          </a:xfrm>
          <a:prstGeom prst="rect">
            <a:avLst/>
          </a:prstGeom>
          <a:solidFill>
            <a:srgbClr val="F1F2F9"/>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pic>
        <p:nvPicPr>
          <p:cNvPr id="60" name="Graphic 59">
            <a:extLst>
              <a:ext uri="{FF2B5EF4-FFF2-40B4-BE49-F238E27FC236}">
                <a16:creationId xmlns:a16="http://schemas.microsoft.com/office/drawing/2014/main" id="{0F5AB3EB-137E-F57A-EDF1-76C9F97B186A}"/>
              </a:ext>
            </a:extLst>
          </p:cNvPr>
          <p:cNvPicPr>
            <a:picLocks noChangeAspect="1"/>
          </p:cNvPicPr>
          <p:nvPr>
            <p:custDataLst>
              <p:tags r:id="rId3"/>
            </p:custDataLst>
          </p:nvPr>
        </p:nvPicPr>
        <p:blipFill>
          <a:blip r:embed="rId16">
            <a:extLst>
              <a:ext uri="{96DAC541-7B7A-43D3-8B79-37D633B846F1}">
                <asvg:svgBlip xmlns:asvg="http://schemas.microsoft.com/office/drawing/2016/SVG/main" r:embed="rId17"/>
              </a:ext>
            </a:extLst>
          </a:blip>
          <a:stretch>
            <a:fillRect/>
          </a:stretch>
        </p:blipFill>
        <p:spPr>
          <a:xfrm>
            <a:off x="1572415" y="4221538"/>
            <a:ext cx="1026281" cy="1026281"/>
          </a:xfrm>
          <a:prstGeom prst="rect">
            <a:avLst/>
          </a:prstGeom>
        </p:spPr>
      </p:pic>
      <p:sp>
        <p:nvSpPr>
          <p:cNvPr id="61" name="TextBox 60">
            <a:extLst>
              <a:ext uri="{FF2B5EF4-FFF2-40B4-BE49-F238E27FC236}">
                <a16:creationId xmlns:a16="http://schemas.microsoft.com/office/drawing/2014/main" id="{5435280E-BB2C-25A8-F2B4-0C590AD8D595}"/>
              </a:ext>
            </a:extLst>
          </p:cNvPr>
          <p:cNvSpPr txBox="1"/>
          <p:nvPr/>
        </p:nvSpPr>
        <p:spPr>
          <a:xfrm>
            <a:off x="2598462" y="4146906"/>
            <a:ext cx="3259414" cy="1015663"/>
          </a:xfrm>
          <a:prstGeom prst="rect">
            <a:avLst/>
          </a:prstGeom>
          <a:noFill/>
        </p:spPr>
        <p:txBody>
          <a:bodyPr wrap="square" rtlCol="0">
            <a:spAutoFit/>
          </a:bodyPr>
          <a:lstStyle/>
          <a:p>
            <a:r>
              <a:rPr lang="nl-NL" sz="1200">
                <a:latin typeface="Verdana Pro" panose="020B0604030504040204" pitchFamily="34" charset="0"/>
              </a:rPr>
              <a:t>Niet alle impactdrivers kunnen bottom-up gekwantificeerd worden. Een deel is daarom top-down benaderd, op basis van voorhanden literatuur, pilots en/ of expert-inschattingen </a:t>
            </a:r>
          </a:p>
        </p:txBody>
      </p:sp>
      <p:sp>
        <p:nvSpPr>
          <p:cNvPr id="62" name="TextBox 61">
            <a:extLst>
              <a:ext uri="{FF2B5EF4-FFF2-40B4-BE49-F238E27FC236}">
                <a16:creationId xmlns:a16="http://schemas.microsoft.com/office/drawing/2014/main" id="{8D546CA6-1F86-685A-5D41-41D38D46E643}"/>
              </a:ext>
            </a:extLst>
          </p:cNvPr>
          <p:cNvSpPr txBox="1"/>
          <p:nvPr/>
        </p:nvSpPr>
        <p:spPr>
          <a:xfrm>
            <a:off x="7905651" y="4243261"/>
            <a:ext cx="3334409" cy="1015663"/>
          </a:xfrm>
          <a:prstGeom prst="rect">
            <a:avLst/>
          </a:prstGeom>
          <a:noFill/>
        </p:spPr>
        <p:txBody>
          <a:bodyPr wrap="square" rtlCol="0">
            <a:spAutoFit/>
          </a:bodyPr>
          <a:lstStyle/>
          <a:p>
            <a:r>
              <a:rPr lang="nl-NL" sz="1200">
                <a:latin typeface="Verdana Pro" panose="020B0604030504040204" pitchFamily="34" charset="0"/>
              </a:rPr>
              <a:t>Daarnaast zullen ook na 2026 nog verdere </a:t>
            </a:r>
            <a:r>
              <a:rPr lang="nl-NL" sz="1200" err="1">
                <a:latin typeface="Verdana Pro" panose="020B0604030504040204" pitchFamily="34" charset="0"/>
              </a:rPr>
              <a:t>usecases</a:t>
            </a:r>
            <a:r>
              <a:rPr lang="nl-NL" sz="1200">
                <a:latin typeface="Verdana Pro" panose="020B0604030504040204" pitchFamily="34" charset="0"/>
              </a:rPr>
              <a:t> worden uitgerold op het fundament wat nu wordt neergezet. De verwachte impact hiervan is afgeleid van de impact van de eerste </a:t>
            </a:r>
            <a:r>
              <a:rPr lang="nl-NL" sz="1200" err="1">
                <a:latin typeface="Verdana Pro" panose="020B0604030504040204" pitchFamily="34" charset="0"/>
              </a:rPr>
              <a:t>usecases</a:t>
            </a:r>
            <a:endParaRPr lang="nl-NL" sz="1200">
              <a:latin typeface="Verdana Pro" panose="020B0604030504040204" pitchFamily="34" charset="0"/>
            </a:endParaRPr>
          </a:p>
        </p:txBody>
      </p:sp>
      <p:pic>
        <p:nvPicPr>
          <p:cNvPr id="63" name="Graphic 62">
            <a:extLst>
              <a:ext uri="{FF2B5EF4-FFF2-40B4-BE49-F238E27FC236}">
                <a16:creationId xmlns:a16="http://schemas.microsoft.com/office/drawing/2014/main" id="{1F6294E2-FB44-CBAB-D0B3-DBD8E1A8DCDC}"/>
              </a:ext>
            </a:extLst>
          </p:cNvPr>
          <p:cNvPicPr>
            <a:picLocks noChangeAspect="1"/>
          </p:cNvPicPr>
          <p:nvPr>
            <p:custDataLst>
              <p:tags r:id="rId4"/>
            </p:custDataLst>
          </p:nvPr>
        </p:nvPicPr>
        <p:blipFill>
          <a:blip r:embed="rId18">
            <a:extLst>
              <a:ext uri="{96DAC541-7B7A-43D3-8B79-37D633B846F1}">
                <asvg:svgBlip xmlns:asvg="http://schemas.microsoft.com/office/drawing/2016/SVG/main" r:embed="rId19"/>
              </a:ext>
            </a:extLst>
          </a:blip>
          <a:stretch>
            <a:fillRect/>
          </a:stretch>
        </p:blipFill>
        <p:spPr>
          <a:xfrm>
            <a:off x="6703957" y="4218681"/>
            <a:ext cx="1026000" cy="1026000"/>
          </a:xfrm>
          <a:prstGeom prst="rect">
            <a:avLst/>
          </a:prstGeom>
        </p:spPr>
      </p:pic>
      <p:sp>
        <p:nvSpPr>
          <p:cNvPr id="64" name="TextBox 63">
            <a:extLst>
              <a:ext uri="{FF2B5EF4-FFF2-40B4-BE49-F238E27FC236}">
                <a16:creationId xmlns:a16="http://schemas.microsoft.com/office/drawing/2014/main" id="{A713A7A3-D138-382D-465E-F3089859767A}"/>
              </a:ext>
            </a:extLst>
          </p:cNvPr>
          <p:cNvSpPr txBox="1"/>
          <p:nvPr/>
        </p:nvSpPr>
        <p:spPr>
          <a:xfrm>
            <a:off x="5658336" y="4308488"/>
            <a:ext cx="900000" cy="1061829"/>
          </a:xfrm>
          <a:prstGeom prst="rect">
            <a:avLst/>
          </a:prstGeom>
          <a:noFill/>
        </p:spPr>
        <p:txBody>
          <a:bodyPr wrap="square" rtlCol="0">
            <a:spAutoFit/>
          </a:bodyPr>
          <a:lstStyle/>
          <a:p>
            <a:pPr algn="ctr"/>
            <a:r>
              <a:rPr lang="nl-NL" sz="6300" b="1">
                <a:solidFill>
                  <a:schemeClr val="bg2">
                    <a:lumMod val="50000"/>
                  </a:schemeClr>
                </a:solidFill>
              </a:rPr>
              <a:t>+</a:t>
            </a:r>
          </a:p>
        </p:txBody>
      </p:sp>
      <p:pic>
        <p:nvPicPr>
          <p:cNvPr id="65" name="Afbeelding 55">
            <a:extLst>
              <a:ext uri="{FF2B5EF4-FFF2-40B4-BE49-F238E27FC236}">
                <a16:creationId xmlns:a16="http://schemas.microsoft.com/office/drawing/2014/main" id="{4B0547EB-7FE9-04FB-82C0-ABC7D12F12D2}"/>
              </a:ext>
            </a:extLst>
          </p:cNvPr>
          <p:cNvPicPr>
            <a:picLocks noChangeAspect="1"/>
          </p:cNvPicPr>
          <p:nvPr/>
        </p:nvPicPr>
        <p:blipFill>
          <a:blip r:embed="rId20"/>
          <a:stretch>
            <a:fillRect/>
          </a:stretch>
        </p:blipFill>
        <p:spPr>
          <a:xfrm>
            <a:off x="1601443" y="1962403"/>
            <a:ext cx="1573446" cy="1573446"/>
          </a:xfrm>
          <a:prstGeom prst="rect">
            <a:avLst/>
          </a:prstGeom>
        </p:spPr>
      </p:pic>
      <p:sp>
        <p:nvSpPr>
          <p:cNvPr id="70" name="Rectangle: Top Corners Rounded 38">
            <a:hlinkClick r:id="rId21" action="ppaction://hlinksldjump"/>
            <a:extLst>
              <a:ext uri="{FF2B5EF4-FFF2-40B4-BE49-F238E27FC236}">
                <a16:creationId xmlns:a16="http://schemas.microsoft.com/office/drawing/2014/main" id="{B54D9F33-628F-D01F-2345-32F14E530819}"/>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71" name="Graphic 70" descr="Introductiepagina silhouet">
            <a:hlinkClick r:id="rId22" action="ppaction://hlinksldjump"/>
            <a:extLst>
              <a:ext uri="{FF2B5EF4-FFF2-40B4-BE49-F238E27FC236}">
                <a16:creationId xmlns:a16="http://schemas.microsoft.com/office/drawing/2014/main" id="{18617F78-D7B6-0C72-679B-1D84E0F68D7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5136" y="147223"/>
            <a:ext cx="144000" cy="144000"/>
          </a:xfrm>
          <a:prstGeom prst="rect">
            <a:avLst/>
          </a:prstGeom>
        </p:spPr>
      </p:pic>
      <p:sp>
        <p:nvSpPr>
          <p:cNvPr id="72" name="Rectangle: Top Corners Rounded 1">
            <a:hlinkClick r:id="rId25" action="ppaction://hlinksldjump"/>
            <a:extLst>
              <a:ext uri="{FF2B5EF4-FFF2-40B4-BE49-F238E27FC236}">
                <a16:creationId xmlns:a16="http://schemas.microsoft.com/office/drawing/2014/main" id="{BBD1E7A8-D66D-5286-0E6D-BA63635F76EB}"/>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3" name="Rectangle: Top Corners Rounded 1">
            <a:hlinkClick r:id="rId26" action="ppaction://hlinksldjump"/>
            <a:extLst>
              <a:ext uri="{FF2B5EF4-FFF2-40B4-BE49-F238E27FC236}">
                <a16:creationId xmlns:a16="http://schemas.microsoft.com/office/drawing/2014/main" id="{C2903B3F-19D6-4D7F-70B2-A0C3ED53779E}"/>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74" name="Rectangle: Top Corners Rounded 1">
            <a:hlinkClick r:id="rId27" action="ppaction://hlinksldjump"/>
            <a:extLst>
              <a:ext uri="{FF2B5EF4-FFF2-40B4-BE49-F238E27FC236}">
                <a16:creationId xmlns:a16="http://schemas.microsoft.com/office/drawing/2014/main" id="{C024E96E-DB69-35B5-393F-7EEDFAC5380C}"/>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75" name="Rectangle: Top Corners Rounded 1">
            <a:hlinkClick r:id="rId28" action="ppaction://hlinksldjump"/>
            <a:extLst>
              <a:ext uri="{FF2B5EF4-FFF2-40B4-BE49-F238E27FC236}">
                <a16:creationId xmlns:a16="http://schemas.microsoft.com/office/drawing/2014/main" id="{B2317C80-32E3-44FF-9257-CF0EC9804326}"/>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76" name="Rectangle: Top Corners Rounded 1">
            <a:hlinkClick r:id="rId29" action="ppaction://hlinksldjump"/>
            <a:extLst>
              <a:ext uri="{FF2B5EF4-FFF2-40B4-BE49-F238E27FC236}">
                <a16:creationId xmlns:a16="http://schemas.microsoft.com/office/drawing/2014/main" id="{DD3FC9E1-FF84-24F1-4DF9-7430C7AD7FB2}"/>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77" name="Rectangle: Top Corners Rounded 1">
            <a:hlinkClick r:id="rId30" action="ppaction://hlinksldjump"/>
            <a:extLst>
              <a:ext uri="{FF2B5EF4-FFF2-40B4-BE49-F238E27FC236}">
                <a16:creationId xmlns:a16="http://schemas.microsoft.com/office/drawing/2014/main" id="{B8E8CDBB-34D5-C771-E499-4DD12DB14854}"/>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78" name="Rectangle: Top Corners Rounded 1">
            <a:hlinkClick r:id="rId31" action="ppaction://hlinksldjump"/>
            <a:extLst>
              <a:ext uri="{FF2B5EF4-FFF2-40B4-BE49-F238E27FC236}">
                <a16:creationId xmlns:a16="http://schemas.microsoft.com/office/drawing/2014/main" id="{B462E270-8196-EAEA-960E-11BC3D60B2A1}"/>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79" name="Rectangle: Top Corners Rounded 1">
            <a:hlinkClick r:id="rId32" action="ppaction://hlinksldjump"/>
            <a:extLst>
              <a:ext uri="{FF2B5EF4-FFF2-40B4-BE49-F238E27FC236}">
                <a16:creationId xmlns:a16="http://schemas.microsoft.com/office/drawing/2014/main" id="{740918FE-0E12-103E-C336-4F8C2B7456C8}"/>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80" name="Rectangle: Top Corners Rounded 1">
            <a:hlinkClick r:id="rId33" action="ppaction://hlinksldjump"/>
            <a:extLst>
              <a:ext uri="{FF2B5EF4-FFF2-40B4-BE49-F238E27FC236}">
                <a16:creationId xmlns:a16="http://schemas.microsoft.com/office/drawing/2014/main" id="{CC4DCC7F-4B01-0359-6297-5C0F0B74641A}"/>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81" name="Rectangle: Top Corners Rounded 1">
            <a:hlinkClick r:id="rId34" action="ppaction://hlinksldjump"/>
            <a:extLst>
              <a:ext uri="{FF2B5EF4-FFF2-40B4-BE49-F238E27FC236}">
                <a16:creationId xmlns:a16="http://schemas.microsoft.com/office/drawing/2014/main" id="{2D802E5E-8D10-D995-3BB1-647ACBECFB84}"/>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82" name="Rectangle: Top Corners Rounded 1">
            <a:hlinkClick r:id="rId35" action="ppaction://hlinksldjump"/>
            <a:extLst>
              <a:ext uri="{FF2B5EF4-FFF2-40B4-BE49-F238E27FC236}">
                <a16:creationId xmlns:a16="http://schemas.microsoft.com/office/drawing/2014/main" id="{E37349DE-D8AA-9F76-0204-B58EC55C5FCE}"/>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10112916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63FBD9-39D4-1FFE-4B9C-CF2E68E10C7E}"/>
              </a:ext>
            </a:extLst>
          </p:cNvPr>
          <p:cNvSpPr>
            <a:spLocks noGrp="1"/>
          </p:cNvSpPr>
          <p:nvPr>
            <p:ph type="title"/>
          </p:nvPr>
        </p:nvSpPr>
        <p:spPr/>
        <p:txBody>
          <a:bodyPr/>
          <a:lstStyle/>
          <a:p>
            <a:r>
              <a:rPr lang="nl-NL"/>
              <a:t>Verwachte impact op zorgkosten</a:t>
            </a:r>
          </a:p>
        </p:txBody>
      </p:sp>
      <p:sp>
        <p:nvSpPr>
          <p:cNvPr id="7" name="Text Placeholder 6">
            <a:extLst>
              <a:ext uri="{FF2B5EF4-FFF2-40B4-BE49-F238E27FC236}">
                <a16:creationId xmlns:a16="http://schemas.microsoft.com/office/drawing/2014/main" id="{A2FC5A02-B8A3-CCA9-CA6E-48B9DD44EEB3}"/>
              </a:ext>
            </a:extLst>
          </p:cNvPr>
          <p:cNvSpPr>
            <a:spLocks noGrp="1"/>
          </p:cNvSpPr>
          <p:nvPr>
            <p:ph type="body" sz="quarter" idx="10"/>
          </p:nvPr>
        </p:nvSpPr>
        <p:spPr>
          <a:xfrm>
            <a:off x="425302" y="969998"/>
            <a:ext cx="10912984" cy="504000"/>
          </a:xfrm>
        </p:spPr>
        <p:txBody>
          <a:bodyPr/>
          <a:lstStyle/>
          <a:p>
            <a:r>
              <a:rPr lang="nl-NL"/>
              <a:t>Kwantitatieve impactdrivers zijn bottom-up berekend, kwalitatieve impactdrivers zijn top-down benaderd</a:t>
            </a:r>
          </a:p>
          <a:p>
            <a:endParaRPr lang="nl-NL"/>
          </a:p>
        </p:txBody>
      </p:sp>
      <p:sp>
        <p:nvSpPr>
          <p:cNvPr id="14" name="TextBox 13">
            <a:extLst>
              <a:ext uri="{FF2B5EF4-FFF2-40B4-BE49-F238E27FC236}">
                <a16:creationId xmlns:a16="http://schemas.microsoft.com/office/drawing/2014/main" id="{43FAF7E3-2482-7D44-F975-6B11A340ED56}"/>
              </a:ext>
            </a:extLst>
          </p:cNvPr>
          <p:cNvSpPr txBox="1"/>
          <p:nvPr/>
        </p:nvSpPr>
        <p:spPr>
          <a:xfrm>
            <a:off x="443593" y="6077225"/>
            <a:ext cx="11044911" cy="369332"/>
          </a:xfrm>
          <a:prstGeom prst="rect">
            <a:avLst/>
          </a:prstGeom>
          <a:solidFill>
            <a:schemeClr val="bg1">
              <a:lumMod val="9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srgbClr val="1B1C33"/>
                </a:solidFill>
                <a:effectLst/>
                <a:uLnTx/>
                <a:uFillTx/>
                <a:latin typeface="Aptos"/>
                <a:ea typeface="+mn-ea"/>
                <a:cs typeface="HelveticaNowDisplay Light" panose="020B0404030202020204" pitchFamily="34" charset="0"/>
              </a:rPr>
              <a:t>1) Bronnen: RIVM (% stijging zorguitgaven), </a:t>
            </a:r>
            <a:r>
              <a:rPr kumimoji="0" lang="nl-NL" sz="900" b="0" i="0" u="none" strike="noStrike" kern="1200" cap="none" spc="0" normalizeH="0" baseline="0" noProof="0" err="1">
                <a:ln>
                  <a:noFill/>
                </a:ln>
                <a:solidFill>
                  <a:srgbClr val="1B1C33"/>
                </a:solidFill>
                <a:effectLst/>
                <a:uLnTx/>
                <a:uFillTx/>
                <a:latin typeface="Aptos"/>
                <a:ea typeface="+mn-ea"/>
                <a:cs typeface="HelveticaNowDisplay Light" panose="020B0404030202020204" pitchFamily="34" charset="0"/>
              </a:rPr>
              <a:t>Zorgcijfersdatabank</a:t>
            </a:r>
            <a:r>
              <a:rPr kumimoji="0" lang="nl-NL" sz="900" b="0" i="0" u="none" strike="noStrike" kern="1200" cap="none" spc="0" normalizeH="0" baseline="0" noProof="0">
                <a:ln>
                  <a:noFill/>
                </a:ln>
                <a:solidFill>
                  <a:srgbClr val="1B1C33"/>
                </a:solidFill>
                <a:effectLst/>
                <a:uLnTx/>
                <a:uFillTx/>
                <a:latin typeface="Aptos"/>
                <a:ea typeface="+mn-ea"/>
                <a:cs typeface="HelveticaNowDisplay Light" panose="020B0404030202020204" pitchFamily="34" charset="0"/>
              </a:rPr>
              <a:t> (zorguitgaven)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900">
                <a:solidFill>
                  <a:prstClr val="black"/>
                </a:solidFill>
                <a:latin typeface="Aptos"/>
              </a:rPr>
              <a:t>2</a:t>
            </a:r>
            <a:r>
              <a:rPr kumimoji="0" lang="nl-NL" sz="900" b="0" i="0" u="none" strike="noStrike" kern="1200" cap="none" spc="0" normalizeH="0" baseline="0" noProof="0">
                <a:ln>
                  <a:noFill/>
                </a:ln>
                <a:solidFill>
                  <a:prstClr val="black"/>
                </a:solidFill>
                <a:effectLst/>
                <a:uLnTx/>
                <a:uFillTx/>
                <a:latin typeface="Aptos"/>
                <a:ea typeface="+mn-ea"/>
              </a:rPr>
              <a:t>) De stijging van zorgkosten is benaderd door het RIVM</a:t>
            </a:r>
            <a:r>
              <a:rPr kumimoji="0" lang="nl-NL" sz="900" b="0" i="0" u="none" strike="noStrike" kern="1200" cap="none" spc="0" normalizeH="0" baseline="30000" noProof="0">
                <a:ln>
                  <a:noFill/>
                </a:ln>
                <a:solidFill>
                  <a:prstClr val="black"/>
                </a:solidFill>
                <a:effectLst/>
                <a:uLnTx/>
                <a:uFillTx/>
                <a:latin typeface="Aptos"/>
                <a:ea typeface="+mn-ea"/>
              </a:rPr>
              <a:t> </a:t>
            </a:r>
            <a:r>
              <a:rPr kumimoji="0" lang="nl-NL" sz="900" b="0" i="0" u="none" strike="noStrike" kern="1200" cap="none" spc="0" normalizeH="0" baseline="0" noProof="0">
                <a:ln>
                  <a:noFill/>
                </a:ln>
                <a:solidFill>
                  <a:prstClr val="black"/>
                </a:solidFill>
                <a:effectLst/>
                <a:uLnTx/>
                <a:uFillTx/>
                <a:latin typeface="Aptos"/>
                <a:ea typeface="+mn-ea"/>
              </a:rPr>
              <a:t>en neemt hierin de volumegroei o.b.v. demografie, prevalentie en incidentie van ziekten etc. mee. Prijsontwikkelingen zijn hierin niet meegenomen (nominale groei)</a:t>
            </a:r>
            <a:endParaRPr kumimoji="0" lang="nl-NL" sz="900" b="0" i="0" u="none" strike="noStrike" kern="1200" cap="none" spc="0" normalizeH="0" baseline="0" noProof="0">
              <a:ln>
                <a:noFill/>
              </a:ln>
              <a:solidFill>
                <a:srgbClr val="1B1C33"/>
              </a:solidFill>
              <a:effectLst/>
              <a:uLnTx/>
              <a:uFillTx/>
              <a:latin typeface="Aptos"/>
              <a:ea typeface="+mn-ea"/>
              <a:cs typeface="HelveticaNowDisplay Light" panose="020B0404030202020204" pitchFamily="34" charset="0"/>
            </a:endParaRPr>
          </a:p>
        </p:txBody>
      </p:sp>
      <p:sp>
        <p:nvSpPr>
          <p:cNvPr id="25" name="TextBox 24">
            <a:extLst>
              <a:ext uri="{FF2B5EF4-FFF2-40B4-BE49-F238E27FC236}">
                <a16:creationId xmlns:a16="http://schemas.microsoft.com/office/drawing/2014/main" id="{1C76EF92-FC31-C165-281E-19EEED314707}"/>
              </a:ext>
            </a:extLst>
          </p:cNvPr>
          <p:cNvSpPr txBox="1"/>
          <p:nvPr/>
        </p:nvSpPr>
        <p:spPr>
          <a:xfrm>
            <a:off x="743847" y="1503576"/>
            <a:ext cx="4900053"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1" i="0" u="none" strike="noStrike" kern="1200" cap="none" spc="0" normalizeH="0" baseline="0" noProof="0">
                <a:ln>
                  <a:noFill/>
                </a:ln>
                <a:solidFill>
                  <a:prstClr val="black"/>
                </a:solidFill>
                <a:effectLst/>
                <a:uLnTx/>
                <a:uFillTx/>
                <a:latin typeface="Verdana Pro" panose="020B0604030504040204" pitchFamily="34" charset="0"/>
                <a:cs typeface="HelveticaNowDisplay Light" panose="020B0404030202020204" pitchFamily="34" charset="0"/>
              </a:rPr>
              <a:t>Met realisatie van dit transformatieplan buigen de verwachte jaarlijkse zorguitgaven af</a:t>
            </a:r>
          </a:p>
        </p:txBody>
      </p:sp>
      <p:sp>
        <p:nvSpPr>
          <p:cNvPr id="35" name="Tekstvak 26">
            <a:extLst>
              <a:ext uri="{FF2B5EF4-FFF2-40B4-BE49-F238E27FC236}">
                <a16:creationId xmlns:a16="http://schemas.microsoft.com/office/drawing/2014/main" id="{859A2F9E-9330-29E1-18ED-F4CFDEE7A8C5}"/>
              </a:ext>
            </a:extLst>
          </p:cNvPr>
          <p:cNvSpPr txBox="1"/>
          <p:nvPr/>
        </p:nvSpPr>
        <p:spPr>
          <a:xfrm>
            <a:off x="6438234" y="1503576"/>
            <a:ext cx="4900053" cy="4016484"/>
          </a:xfrm>
          <a:prstGeom prst="rect">
            <a:avLst/>
          </a:prstGeom>
          <a:noFill/>
        </p:spPr>
        <p:txBody>
          <a:bodyPr wrap="square" rtlCol="0">
            <a:spAutoFit/>
          </a:bodyPr>
          <a:lstStyle/>
          <a:p>
            <a:pPr marL="171450" indent="-171450">
              <a:spcAft>
                <a:spcPts val="600"/>
              </a:spcAft>
              <a:buFont typeface="Arial" panose="020B0604020202020204" pitchFamily="34" charset="0"/>
              <a:buChar char="•"/>
            </a:pPr>
            <a:r>
              <a:rPr lang="nl-NL" sz="1200">
                <a:latin typeface="Verdana Pro" panose="020B0604030504040204" pitchFamily="34" charset="0"/>
              </a:rPr>
              <a:t>De zorgkosten (</a:t>
            </a:r>
            <a:r>
              <a:rPr lang="nl-NL" sz="1200" err="1">
                <a:latin typeface="Verdana Pro" panose="020B0604030504040204" pitchFamily="34" charset="0"/>
              </a:rPr>
              <a:t>Zvw</a:t>
            </a:r>
            <a:r>
              <a:rPr lang="nl-NL" sz="1200">
                <a:latin typeface="Verdana Pro" panose="020B0604030504040204" pitchFamily="34" charset="0"/>
              </a:rPr>
              <a:t>) in de regio Midden-Nederland zijn </a:t>
            </a:r>
            <a:br>
              <a:rPr lang="nl-NL" sz="1200">
                <a:latin typeface="Verdana Pro" panose="020B0604030504040204" pitchFamily="34" charset="0"/>
              </a:rPr>
            </a:br>
            <a:r>
              <a:rPr lang="nl-NL" sz="1200">
                <a:latin typeface="Verdana Pro" panose="020B0604030504040204" pitchFamily="34" charset="0"/>
              </a:rPr>
              <a:t>ca. € XX miljard in 2023 en stijgen jaarlijks met gem. X,X% tot ca € XX miljard in 2030 </a:t>
            </a:r>
            <a:r>
              <a:rPr lang="nl-NL" sz="1200" baseline="30000">
                <a:latin typeface="Verdana Pro" panose="020B0604030504040204" pitchFamily="34" charset="0"/>
              </a:rPr>
              <a:t>1,2</a:t>
            </a:r>
          </a:p>
          <a:p>
            <a:pPr marL="171450" indent="-171450">
              <a:spcAft>
                <a:spcPts val="600"/>
              </a:spcAft>
              <a:buFont typeface="Arial" panose="020B0604020202020204" pitchFamily="34" charset="0"/>
              <a:buChar char="•"/>
            </a:pPr>
            <a:r>
              <a:rPr lang="nl-NL" sz="1200">
                <a:latin typeface="Verdana Pro" panose="020B0604030504040204" pitchFamily="34" charset="0"/>
              </a:rPr>
              <a:t>Met realisatie van de </a:t>
            </a:r>
            <a:r>
              <a:rPr lang="nl-NL" sz="1200" err="1">
                <a:latin typeface="Verdana Pro" panose="020B0604030504040204" pitchFamily="34" charset="0"/>
              </a:rPr>
              <a:t>usecases</a:t>
            </a:r>
            <a:r>
              <a:rPr lang="nl-NL" sz="1200">
                <a:latin typeface="Verdana Pro" panose="020B0604030504040204" pitchFamily="34" charset="0"/>
              </a:rPr>
              <a:t> uit dit transformatieplan komt vanaf 202X meer ruimte voor de zorg vrij, d.w.z. er kan meer zorg geleverd worden met dezelfde (medische) professionals</a:t>
            </a:r>
          </a:p>
          <a:p>
            <a:pPr marL="171450" indent="-171450">
              <a:spcAft>
                <a:spcPts val="600"/>
              </a:spcAft>
              <a:buFont typeface="Arial" panose="020B0604020202020204" pitchFamily="34" charset="0"/>
              <a:buChar char="•"/>
            </a:pPr>
            <a:r>
              <a:rPr lang="nl-NL" sz="1200">
                <a:latin typeface="Verdana Pro" panose="020B0604030504040204" pitchFamily="34" charset="0"/>
              </a:rPr>
              <a:t>Bottom-up is gekwantificeerd dat in 2026 met de </a:t>
            </a:r>
            <a:r>
              <a:rPr lang="nl-NL" sz="1200" err="1">
                <a:latin typeface="Verdana Pro" panose="020B0604030504040204" pitchFamily="34" charset="0"/>
              </a:rPr>
              <a:t>usecases</a:t>
            </a:r>
            <a:r>
              <a:rPr lang="nl-NL" sz="1200">
                <a:latin typeface="Verdana Pro" panose="020B0604030504040204" pitchFamily="34" charset="0"/>
              </a:rPr>
              <a:t> in dit plan ca. X,X% de van de jaarlijkse zorguitgaven wordt omgebogen. Top-down is beredeneerd dat additioneel minimaal X,X% additioneel kan worden omgebogen. Dit staat gelijk aan ca. € X,X miljoen euro per jaar wat aan zorgruimte gecreëerd wordt ten opzichte van de situatie zonder dit transformatieplan</a:t>
            </a:r>
          </a:p>
          <a:p>
            <a:pPr marL="171450" indent="-171450">
              <a:spcAft>
                <a:spcPts val="600"/>
              </a:spcAft>
              <a:buFont typeface="Arial" panose="020B0604020202020204" pitchFamily="34" charset="0"/>
              <a:buChar char="•"/>
            </a:pPr>
            <a:r>
              <a:rPr lang="nl-NL" sz="1200">
                <a:latin typeface="Verdana Pro" panose="020B0604030504040204" pitchFamily="34" charset="0"/>
              </a:rPr>
              <a:t>Daarnaast wordt met dit transformatieplan een fundament gelegd wat als vliegwiel dient voor de digitalisering in de regio. Ook na 2026 zullen aanvullende </a:t>
            </a:r>
            <a:r>
              <a:rPr lang="nl-NL" sz="1200" err="1">
                <a:latin typeface="Verdana Pro" panose="020B0604030504040204" pitchFamily="34" charset="0"/>
              </a:rPr>
              <a:t>usecases</a:t>
            </a:r>
            <a:r>
              <a:rPr lang="nl-NL" sz="1200">
                <a:latin typeface="Verdana Pro" panose="020B0604030504040204" pitchFamily="34" charset="0"/>
              </a:rPr>
              <a:t> (zoals X, Y, Z) uitgerold worden, wat richting 2030 naar verwachting nog eens € X à Y miljoen per jaar aan zorgruimte creëert per jaar. </a:t>
            </a:r>
          </a:p>
        </p:txBody>
      </p:sp>
      <p:cxnSp>
        <p:nvCxnSpPr>
          <p:cNvPr id="37" name="Straight Connector 36">
            <a:extLst>
              <a:ext uri="{FF2B5EF4-FFF2-40B4-BE49-F238E27FC236}">
                <a16:creationId xmlns:a16="http://schemas.microsoft.com/office/drawing/2014/main" id="{FC3D5B40-BC8A-1756-7C61-D6911511F8F0}"/>
              </a:ext>
            </a:extLst>
          </p:cNvPr>
          <p:cNvCxnSpPr>
            <a:cxnSpLocks/>
          </p:cNvCxnSpPr>
          <p:nvPr/>
        </p:nvCxnSpPr>
        <p:spPr>
          <a:xfrm>
            <a:off x="743847" y="2317125"/>
            <a:ext cx="0" cy="262044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A74CCF0-86D1-0985-B7A6-C87A98EF69CF}"/>
              </a:ext>
            </a:extLst>
          </p:cNvPr>
          <p:cNvSpPr txBox="1"/>
          <p:nvPr/>
        </p:nvSpPr>
        <p:spPr>
          <a:xfrm rot="16200000">
            <a:off x="-1154" y="2703917"/>
            <a:ext cx="1128835" cy="261610"/>
          </a:xfrm>
          <a:prstGeom prst="rect">
            <a:avLst/>
          </a:prstGeom>
          <a:noFill/>
        </p:spPr>
        <p:txBody>
          <a:bodyPr wrap="square" rtlCol="0">
            <a:spAutoFit/>
          </a:bodyPr>
          <a:lstStyle/>
          <a:p>
            <a:r>
              <a:rPr lang="en-GB" sz="1100" err="1">
                <a:solidFill>
                  <a:schemeClr val="bg1">
                    <a:lumMod val="50000"/>
                  </a:schemeClr>
                </a:solidFill>
                <a:latin typeface="Verdana Pro" panose="020B0604030504040204" pitchFamily="34" charset="0"/>
              </a:rPr>
              <a:t>Zorguitgaven</a:t>
            </a:r>
            <a:endParaRPr lang="en-GB" sz="1100">
              <a:solidFill>
                <a:schemeClr val="bg1">
                  <a:lumMod val="50000"/>
                </a:schemeClr>
              </a:solidFill>
              <a:latin typeface="Verdana Pro" panose="020B0604030504040204" pitchFamily="34" charset="0"/>
            </a:endParaRPr>
          </a:p>
        </p:txBody>
      </p:sp>
      <p:cxnSp>
        <p:nvCxnSpPr>
          <p:cNvPr id="39" name="Straight Connector 38">
            <a:extLst>
              <a:ext uri="{FF2B5EF4-FFF2-40B4-BE49-F238E27FC236}">
                <a16:creationId xmlns:a16="http://schemas.microsoft.com/office/drawing/2014/main" id="{F550EC3C-4E1F-C688-8C2F-B79F8125C400}"/>
              </a:ext>
            </a:extLst>
          </p:cNvPr>
          <p:cNvCxnSpPr>
            <a:cxnSpLocks/>
          </p:cNvCxnSpPr>
          <p:nvPr/>
        </p:nvCxnSpPr>
        <p:spPr>
          <a:xfrm>
            <a:off x="743847" y="4937566"/>
            <a:ext cx="461165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EF1EA61-567D-3695-F34F-8D44DCCA6746}"/>
              </a:ext>
            </a:extLst>
          </p:cNvPr>
          <p:cNvSpPr txBox="1"/>
          <p:nvPr/>
        </p:nvSpPr>
        <p:spPr>
          <a:xfrm>
            <a:off x="708376"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2023</a:t>
            </a:r>
          </a:p>
        </p:txBody>
      </p:sp>
      <p:sp>
        <p:nvSpPr>
          <p:cNvPr id="42" name="TextBox 41">
            <a:extLst>
              <a:ext uri="{FF2B5EF4-FFF2-40B4-BE49-F238E27FC236}">
                <a16:creationId xmlns:a16="http://schemas.microsoft.com/office/drawing/2014/main" id="{6D3E56A6-16DE-D4B6-31DE-A0CAC74C3E9B}"/>
              </a:ext>
            </a:extLst>
          </p:cNvPr>
          <p:cNvSpPr txBox="1"/>
          <p:nvPr/>
        </p:nvSpPr>
        <p:spPr>
          <a:xfrm>
            <a:off x="1300051"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2024</a:t>
            </a:r>
          </a:p>
        </p:txBody>
      </p:sp>
      <p:sp>
        <p:nvSpPr>
          <p:cNvPr id="43" name="TextBox 42">
            <a:extLst>
              <a:ext uri="{FF2B5EF4-FFF2-40B4-BE49-F238E27FC236}">
                <a16:creationId xmlns:a16="http://schemas.microsoft.com/office/drawing/2014/main" id="{EBDD8D7C-6F92-A4F0-C4E1-1EBD3F816D6F}"/>
              </a:ext>
            </a:extLst>
          </p:cNvPr>
          <p:cNvSpPr txBox="1"/>
          <p:nvPr/>
        </p:nvSpPr>
        <p:spPr>
          <a:xfrm>
            <a:off x="1891726"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2025</a:t>
            </a:r>
          </a:p>
        </p:txBody>
      </p:sp>
      <p:sp>
        <p:nvSpPr>
          <p:cNvPr id="44" name="TextBox 43">
            <a:extLst>
              <a:ext uri="{FF2B5EF4-FFF2-40B4-BE49-F238E27FC236}">
                <a16:creationId xmlns:a16="http://schemas.microsoft.com/office/drawing/2014/main" id="{B8E61BC2-B42D-7C67-1FE1-681EA71CB641}"/>
              </a:ext>
            </a:extLst>
          </p:cNvPr>
          <p:cNvSpPr txBox="1"/>
          <p:nvPr/>
        </p:nvSpPr>
        <p:spPr>
          <a:xfrm>
            <a:off x="2483401"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2026</a:t>
            </a:r>
          </a:p>
        </p:txBody>
      </p:sp>
      <p:sp>
        <p:nvSpPr>
          <p:cNvPr id="46" name="TextBox 45">
            <a:extLst>
              <a:ext uri="{FF2B5EF4-FFF2-40B4-BE49-F238E27FC236}">
                <a16:creationId xmlns:a16="http://schemas.microsoft.com/office/drawing/2014/main" id="{DBC132A2-ADC7-AAC1-4B14-8D2E7072861E}"/>
              </a:ext>
            </a:extLst>
          </p:cNvPr>
          <p:cNvSpPr txBox="1"/>
          <p:nvPr/>
        </p:nvSpPr>
        <p:spPr>
          <a:xfrm>
            <a:off x="3075076"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2027</a:t>
            </a:r>
          </a:p>
        </p:txBody>
      </p:sp>
      <p:sp>
        <p:nvSpPr>
          <p:cNvPr id="47" name="TextBox 46">
            <a:extLst>
              <a:ext uri="{FF2B5EF4-FFF2-40B4-BE49-F238E27FC236}">
                <a16:creationId xmlns:a16="http://schemas.microsoft.com/office/drawing/2014/main" id="{F6B93F5D-F7AF-763F-7674-30974E6BC490}"/>
              </a:ext>
            </a:extLst>
          </p:cNvPr>
          <p:cNvSpPr txBox="1"/>
          <p:nvPr/>
        </p:nvSpPr>
        <p:spPr>
          <a:xfrm>
            <a:off x="3666751"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2028</a:t>
            </a:r>
          </a:p>
        </p:txBody>
      </p:sp>
      <p:sp>
        <p:nvSpPr>
          <p:cNvPr id="48" name="TextBox 47">
            <a:extLst>
              <a:ext uri="{FF2B5EF4-FFF2-40B4-BE49-F238E27FC236}">
                <a16:creationId xmlns:a16="http://schemas.microsoft.com/office/drawing/2014/main" id="{CD21D7DC-3C99-17DE-1F84-FDF018A1960C}"/>
              </a:ext>
            </a:extLst>
          </p:cNvPr>
          <p:cNvSpPr txBox="1"/>
          <p:nvPr/>
        </p:nvSpPr>
        <p:spPr>
          <a:xfrm>
            <a:off x="4258426"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2029</a:t>
            </a:r>
          </a:p>
        </p:txBody>
      </p:sp>
      <p:sp>
        <p:nvSpPr>
          <p:cNvPr id="49" name="TextBox 48">
            <a:extLst>
              <a:ext uri="{FF2B5EF4-FFF2-40B4-BE49-F238E27FC236}">
                <a16:creationId xmlns:a16="http://schemas.microsoft.com/office/drawing/2014/main" id="{11115666-0220-BD6F-064B-8DF31F07B60A}"/>
              </a:ext>
            </a:extLst>
          </p:cNvPr>
          <p:cNvSpPr txBox="1"/>
          <p:nvPr/>
        </p:nvSpPr>
        <p:spPr>
          <a:xfrm>
            <a:off x="4850099" y="5004782"/>
            <a:ext cx="513842" cy="215444"/>
          </a:xfrm>
          <a:prstGeom prst="rect">
            <a:avLst/>
          </a:prstGeom>
          <a:noFill/>
        </p:spPr>
        <p:txBody>
          <a:bodyPr wrap="square" rtlCol="0">
            <a:spAutoFit/>
          </a:bodyPr>
          <a:lstStyle/>
          <a:p>
            <a:pPr algn="ctr"/>
            <a:r>
              <a:rPr lang="en-GB" sz="800">
                <a:solidFill>
                  <a:schemeClr val="bg1">
                    <a:lumMod val="50000"/>
                  </a:schemeClr>
                </a:solidFill>
                <a:latin typeface="Verdana Pro" panose="020B0604030504040204" pitchFamily="34" charset="0"/>
              </a:rPr>
              <a:t>2030</a:t>
            </a:r>
          </a:p>
        </p:txBody>
      </p:sp>
      <p:cxnSp>
        <p:nvCxnSpPr>
          <p:cNvPr id="51" name="Straight Connector 50">
            <a:extLst>
              <a:ext uri="{FF2B5EF4-FFF2-40B4-BE49-F238E27FC236}">
                <a16:creationId xmlns:a16="http://schemas.microsoft.com/office/drawing/2014/main" id="{0597AE8B-6C24-32D9-FDBB-5F2899496D50}"/>
              </a:ext>
            </a:extLst>
          </p:cNvPr>
          <p:cNvCxnSpPr>
            <a:cxnSpLocks/>
          </p:cNvCxnSpPr>
          <p:nvPr/>
        </p:nvCxnSpPr>
        <p:spPr>
          <a:xfrm flipV="1">
            <a:off x="965297" y="2549219"/>
            <a:ext cx="4320005" cy="215858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102851B-BA9A-AAFB-7109-1B05372D4319}"/>
              </a:ext>
            </a:extLst>
          </p:cNvPr>
          <p:cNvCxnSpPr>
            <a:cxnSpLocks/>
          </p:cNvCxnSpPr>
          <p:nvPr/>
        </p:nvCxnSpPr>
        <p:spPr>
          <a:xfrm flipV="1">
            <a:off x="998869" y="2938275"/>
            <a:ext cx="4286433" cy="1769527"/>
          </a:xfrm>
          <a:prstGeom prst="line">
            <a:avLst/>
          </a:prstGeom>
          <a:ln w="12700">
            <a:solidFill>
              <a:srgbClr val="0E9D9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BC4C0A-6B82-8F43-DE5F-533E215F5AC8}"/>
              </a:ext>
            </a:extLst>
          </p:cNvPr>
          <p:cNvCxnSpPr>
            <a:cxnSpLocks/>
          </p:cNvCxnSpPr>
          <p:nvPr/>
        </p:nvCxnSpPr>
        <p:spPr>
          <a:xfrm flipV="1">
            <a:off x="998868" y="3331675"/>
            <a:ext cx="4286434" cy="1376127"/>
          </a:xfrm>
          <a:prstGeom prst="line">
            <a:avLst/>
          </a:prstGeom>
          <a:ln>
            <a:solidFill>
              <a:srgbClr val="0E9D90"/>
            </a:solidFill>
            <a:prstDash val="dash"/>
          </a:ln>
        </p:spPr>
        <p:style>
          <a:lnRef idx="1">
            <a:schemeClr val="accent1"/>
          </a:lnRef>
          <a:fillRef idx="0">
            <a:schemeClr val="accent1"/>
          </a:fillRef>
          <a:effectRef idx="0">
            <a:schemeClr val="accent1"/>
          </a:effectRef>
          <a:fontRef idx="minor">
            <a:schemeClr val="tx1"/>
          </a:fontRef>
        </p:style>
      </p:cxnSp>
      <p:sp>
        <p:nvSpPr>
          <p:cNvPr id="4" name="Rectangle: Top Corners Rounded 38">
            <a:hlinkClick r:id="rId2" action="ppaction://hlinksldjump"/>
            <a:extLst>
              <a:ext uri="{FF2B5EF4-FFF2-40B4-BE49-F238E27FC236}">
                <a16:creationId xmlns:a16="http://schemas.microsoft.com/office/drawing/2014/main" id="{93D5DBCA-74D2-2041-05F1-C54B06E7563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3" action="ppaction://hlinksldjump"/>
            <a:extLst>
              <a:ext uri="{FF2B5EF4-FFF2-40B4-BE49-F238E27FC236}">
                <a16:creationId xmlns:a16="http://schemas.microsoft.com/office/drawing/2014/main" id="{F21D6616-782F-C092-368B-BB2184E0C1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36" y="147223"/>
            <a:ext cx="144000" cy="144000"/>
          </a:xfrm>
          <a:prstGeom prst="rect">
            <a:avLst/>
          </a:prstGeom>
        </p:spPr>
      </p:pic>
      <p:sp>
        <p:nvSpPr>
          <p:cNvPr id="6" name="Rectangle: Top Corners Rounded 1">
            <a:hlinkClick r:id="rId6" action="ppaction://hlinksldjump"/>
            <a:extLst>
              <a:ext uri="{FF2B5EF4-FFF2-40B4-BE49-F238E27FC236}">
                <a16:creationId xmlns:a16="http://schemas.microsoft.com/office/drawing/2014/main" id="{7B34403B-9BDC-FE98-018F-D75759DB0D5B}"/>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8" name="Rectangle: Top Corners Rounded 1">
            <a:hlinkClick r:id="rId7" action="ppaction://hlinksldjump"/>
            <a:extLst>
              <a:ext uri="{FF2B5EF4-FFF2-40B4-BE49-F238E27FC236}">
                <a16:creationId xmlns:a16="http://schemas.microsoft.com/office/drawing/2014/main" id="{CCDF4083-9D1F-9620-0F42-E0BB9D599D7F}"/>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9" name="Rectangle: Top Corners Rounded 1">
            <a:hlinkClick r:id="rId8" action="ppaction://hlinksldjump"/>
            <a:extLst>
              <a:ext uri="{FF2B5EF4-FFF2-40B4-BE49-F238E27FC236}">
                <a16:creationId xmlns:a16="http://schemas.microsoft.com/office/drawing/2014/main" id="{06CFD5F1-F0A1-2A4A-D520-62D73F1CA0D4}"/>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0" name="Rectangle: Top Corners Rounded 1">
            <a:hlinkClick r:id="rId9" action="ppaction://hlinksldjump"/>
            <a:extLst>
              <a:ext uri="{FF2B5EF4-FFF2-40B4-BE49-F238E27FC236}">
                <a16:creationId xmlns:a16="http://schemas.microsoft.com/office/drawing/2014/main" id="{630AC03A-60D7-22A7-FB05-C5D5DE8F35EF}"/>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1" name="Rectangle: Top Corners Rounded 1">
            <a:hlinkClick r:id="rId10" action="ppaction://hlinksldjump"/>
            <a:extLst>
              <a:ext uri="{FF2B5EF4-FFF2-40B4-BE49-F238E27FC236}">
                <a16:creationId xmlns:a16="http://schemas.microsoft.com/office/drawing/2014/main" id="{FFB8BF91-9157-4244-EE6C-7C85FB9EDB38}"/>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1" action="ppaction://hlinksldjump"/>
            <a:extLst>
              <a:ext uri="{FF2B5EF4-FFF2-40B4-BE49-F238E27FC236}">
                <a16:creationId xmlns:a16="http://schemas.microsoft.com/office/drawing/2014/main" id="{FB6FC1BF-8A9C-75FC-15C6-1598F0CE08B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12" action="ppaction://hlinksldjump"/>
            <a:extLst>
              <a:ext uri="{FF2B5EF4-FFF2-40B4-BE49-F238E27FC236}">
                <a16:creationId xmlns:a16="http://schemas.microsoft.com/office/drawing/2014/main" id="{5CE14614-B31A-C48E-B9FD-9518D3C25F5B}"/>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3" action="ppaction://hlinksldjump"/>
            <a:extLst>
              <a:ext uri="{FF2B5EF4-FFF2-40B4-BE49-F238E27FC236}">
                <a16:creationId xmlns:a16="http://schemas.microsoft.com/office/drawing/2014/main" id="{E56D4737-B343-B5C1-7AEF-0934F92E2348}"/>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4" action="ppaction://hlinksldjump"/>
            <a:extLst>
              <a:ext uri="{FF2B5EF4-FFF2-40B4-BE49-F238E27FC236}">
                <a16:creationId xmlns:a16="http://schemas.microsoft.com/office/drawing/2014/main" id="{13A3D47B-FE44-317C-2832-B4CF1B6F61AA}"/>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5" action="ppaction://hlinksldjump"/>
            <a:extLst>
              <a:ext uri="{FF2B5EF4-FFF2-40B4-BE49-F238E27FC236}">
                <a16:creationId xmlns:a16="http://schemas.microsoft.com/office/drawing/2014/main" id="{D17426A7-7AB1-0E05-161A-D018FD2A0176}"/>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6" action="ppaction://hlinksldjump"/>
            <a:extLst>
              <a:ext uri="{FF2B5EF4-FFF2-40B4-BE49-F238E27FC236}">
                <a16:creationId xmlns:a16="http://schemas.microsoft.com/office/drawing/2014/main" id="{08CFDEB3-6EE0-75A1-9FE0-3A027E1AFBB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9" name="Rechthoek: afgeronde hoeken 18">
            <a:extLst>
              <a:ext uri="{FF2B5EF4-FFF2-40B4-BE49-F238E27FC236}">
                <a16:creationId xmlns:a16="http://schemas.microsoft.com/office/drawing/2014/main" id="{9E2D6B8D-F07C-25EF-AF13-815D26D84156}"/>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394306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F3716E-03D5-196E-DD59-AB5570EF39B5}"/>
              </a:ext>
            </a:extLst>
          </p:cNvPr>
          <p:cNvSpPr>
            <a:spLocks noGrp="1"/>
          </p:cNvSpPr>
          <p:nvPr>
            <p:ph type="title"/>
          </p:nvPr>
        </p:nvSpPr>
        <p:spPr/>
        <p:txBody>
          <a:bodyPr/>
          <a:lstStyle/>
          <a:p>
            <a:r>
              <a:rPr lang="nl-NL"/>
              <a:t>Verwachte impact op zorgpersoneel</a:t>
            </a:r>
          </a:p>
        </p:txBody>
      </p:sp>
      <p:sp>
        <p:nvSpPr>
          <p:cNvPr id="4" name="Content Placeholder 3">
            <a:extLst>
              <a:ext uri="{FF2B5EF4-FFF2-40B4-BE49-F238E27FC236}">
                <a16:creationId xmlns:a16="http://schemas.microsoft.com/office/drawing/2014/main" id="{39A53372-4786-723E-E1C2-EF738960F214}"/>
              </a:ext>
            </a:extLst>
          </p:cNvPr>
          <p:cNvSpPr>
            <a:spLocks noGrp="1"/>
          </p:cNvSpPr>
          <p:nvPr>
            <p:ph idx="1"/>
          </p:nvPr>
        </p:nvSpPr>
        <p:spPr/>
        <p:txBody>
          <a:bodyPr/>
          <a:lstStyle/>
          <a:p>
            <a:r>
              <a:rPr lang="nl-NL"/>
              <a:t>[</a:t>
            </a:r>
            <a:r>
              <a:rPr lang="nl-NL" err="1"/>
              <a:t>Placeholder</a:t>
            </a:r>
            <a:r>
              <a:rPr lang="nl-NL"/>
              <a:t>] -&gt; zelfde soort slide als voorgaande, maar dan met focus op personeel</a:t>
            </a:r>
          </a:p>
        </p:txBody>
      </p:sp>
      <p:sp>
        <p:nvSpPr>
          <p:cNvPr id="5" name="Text Placeholder 4">
            <a:extLst>
              <a:ext uri="{FF2B5EF4-FFF2-40B4-BE49-F238E27FC236}">
                <a16:creationId xmlns:a16="http://schemas.microsoft.com/office/drawing/2014/main" id="{6C402F69-9728-4784-6D52-0B8F60D999D9}"/>
              </a:ext>
            </a:extLst>
          </p:cNvPr>
          <p:cNvSpPr>
            <a:spLocks noGrp="1"/>
          </p:cNvSpPr>
          <p:nvPr>
            <p:ph type="body" sz="quarter" idx="10"/>
          </p:nvPr>
        </p:nvSpPr>
        <p:spPr/>
        <p:txBody>
          <a:bodyPr/>
          <a:lstStyle/>
          <a:p>
            <a:endParaRPr lang="nl-NL"/>
          </a:p>
        </p:txBody>
      </p:sp>
      <p:sp>
        <p:nvSpPr>
          <p:cNvPr id="6" name="Rectangle: Top Corners Rounded 38">
            <a:hlinkClick r:id="rId3" action="ppaction://hlinksldjump"/>
            <a:extLst>
              <a:ext uri="{FF2B5EF4-FFF2-40B4-BE49-F238E27FC236}">
                <a16:creationId xmlns:a16="http://schemas.microsoft.com/office/drawing/2014/main" id="{BB2AA7D2-94E9-A6CE-9963-5C6662932DC7}"/>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7" name="Graphic 6" descr="Introductiepagina silhouet">
            <a:hlinkClick r:id="rId4" action="ppaction://hlinksldjump"/>
            <a:extLst>
              <a:ext uri="{FF2B5EF4-FFF2-40B4-BE49-F238E27FC236}">
                <a16:creationId xmlns:a16="http://schemas.microsoft.com/office/drawing/2014/main" id="{7243C87B-6DC2-74AF-549E-CAA5325044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8" name="Rectangle: Top Corners Rounded 1">
            <a:hlinkClick r:id="rId7" action="ppaction://hlinksldjump"/>
            <a:extLst>
              <a:ext uri="{FF2B5EF4-FFF2-40B4-BE49-F238E27FC236}">
                <a16:creationId xmlns:a16="http://schemas.microsoft.com/office/drawing/2014/main" id="{5173ED01-701D-54B7-0AA1-CACB2AA72B1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8" action="ppaction://hlinksldjump"/>
            <a:extLst>
              <a:ext uri="{FF2B5EF4-FFF2-40B4-BE49-F238E27FC236}">
                <a16:creationId xmlns:a16="http://schemas.microsoft.com/office/drawing/2014/main" id="{643E1599-BEF1-237D-715E-BBF907BD3CDF}"/>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9" action="ppaction://hlinksldjump"/>
            <a:extLst>
              <a:ext uri="{FF2B5EF4-FFF2-40B4-BE49-F238E27FC236}">
                <a16:creationId xmlns:a16="http://schemas.microsoft.com/office/drawing/2014/main" id="{6A33E27F-3E0E-8EA6-F3F1-C81C4F0F88CF}"/>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0" action="ppaction://hlinksldjump"/>
            <a:extLst>
              <a:ext uri="{FF2B5EF4-FFF2-40B4-BE49-F238E27FC236}">
                <a16:creationId xmlns:a16="http://schemas.microsoft.com/office/drawing/2014/main" id="{CC84F7BC-AA67-04F2-741A-DA910C355A9B}"/>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2" name="Rectangle: Top Corners Rounded 1">
            <a:hlinkClick r:id="rId11" action="ppaction://hlinksldjump"/>
            <a:extLst>
              <a:ext uri="{FF2B5EF4-FFF2-40B4-BE49-F238E27FC236}">
                <a16:creationId xmlns:a16="http://schemas.microsoft.com/office/drawing/2014/main" id="{87F9C231-0055-2EE2-DBB7-050A370A23DD}"/>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2" action="ppaction://hlinksldjump"/>
            <a:extLst>
              <a:ext uri="{FF2B5EF4-FFF2-40B4-BE49-F238E27FC236}">
                <a16:creationId xmlns:a16="http://schemas.microsoft.com/office/drawing/2014/main" id="{7E96806F-1C39-9A45-BD4C-0CA3D0A374CB}"/>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3" action="ppaction://hlinksldjump"/>
            <a:extLst>
              <a:ext uri="{FF2B5EF4-FFF2-40B4-BE49-F238E27FC236}">
                <a16:creationId xmlns:a16="http://schemas.microsoft.com/office/drawing/2014/main" id="{90BF5370-08A0-6553-BC07-7A2EB1721F61}"/>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4" action="ppaction://hlinksldjump"/>
            <a:extLst>
              <a:ext uri="{FF2B5EF4-FFF2-40B4-BE49-F238E27FC236}">
                <a16:creationId xmlns:a16="http://schemas.microsoft.com/office/drawing/2014/main" id="{09F56FDC-E3DD-020C-3E5A-7A837D30F04A}"/>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5" action="ppaction://hlinksldjump"/>
            <a:extLst>
              <a:ext uri="{FF2B5EF4-FFF2-40B4-BE49-F238E27FC236}">
                <a16:creationId xmlns:a16="http://schemas.microsoft.com/office/drawing/2014/main" id="{B7998D94-C1C6-AB06-B81B-0039379B0675}"/>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6" action="ppaction://hlinksldjump"/>
            <a:extLst>
              <a:ext uri="{FF2B5EF4-FFF2-40B4-BE49-F238E27FC236}">
                <a16:creationId xmlns:a16="http://schemas.microsoft.com/office/drawing/2014/main" id="{A479426B-7403-6F2B-9904-49C739C4AA77}"/>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7" action="ppaction://hlinksldjump"/>
            <a:extLst>
              <a:ext uri="{FF2B5EF4-FFF2-40B4-BE49-F238E27FC236}">
                <a16:creationId xmlns:a16="http://schemas.microsoft.com/office/drawing/2014/main" id="{B328CF62-A937-9911-231C-D6EE0207299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20" name="Rechthoek: afgeronde hoeken 19">
            <a:extLst>
              <a:ext uri="{FF2B5EF4-FFF2-40B4-BE49-F238E27FC236}">
                <a16:creationId xmlns:a16="http://schemas.microsoft.com/office/drawing/2014/main" id="{85C2E322-1BEC-BC72-208F-269BEF113337}"/>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27159634"/>
      </p:ext>
    </p:extLst>
  </p:cSld>
  <p:clrMapOvr>
    <a:masterClrMapping/>
  </p:clrMapOvr>
  <p:extLst>
    <p:ext uri="{6950BFC3-D8DA-4A85-94F7-54DA5524770B}">
      <p188:commentRel xmlns:p188="http://schemas.microsoft.com/office/powerpoint/2018/8/main" r:id="rId2"/>
    </p:ext>
  </p:extLs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61C58-B7B8-8EA0-E425-3AEE0C2306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98869E-0785-246B-CBB5-A88FEE93CD0F}"/>
              </a:ext>
            </a:extLst>
          </p:cNvPr>
          <p:cNvSpPr>
            <a:spLocks noGrp="1"/>
          </p:cNvSpPr>
          <p:nvPr>
            <p:ph type="title"/>
          </p:nvPr>
        </p:nvSpPr>
        <p:spPr/>
        <p:txBody>
          <a:bodyPr/>
          <a:lstStyle/>
          <a:p>
            <a:r>
              <a:rPr lang="nl-NL"/>
              <a:t>Overzicht kwantitatieve impactanalyse</a:t>
            </a:r>
          </a:p>
        </p:txBody>
      </p:sp>
      <p:sp>
        <p:nvSpPr>
          <p:cNvPr id="5" name="Text Placeholder 4">
            <a:extLst>
              <a:ext uri="{FF2B5EF4-FFF2-40B4-BE49-F238E27FC236}">
                <a16:creationId xmlns:a16="http://schemas.microsoft.com/office/drawing/2014/main" id="{6EB6F758-2415-AB13-DAFF-B852AE02667A}"/>
              </a:ext>
            </a:extLst>
          </p:cNvPr>
          <p:cNvSpPr>
            <a:spLocks noGrp="1"/>
          </p:cNvSpPr>
          <p:nvPr>
            <p:ph type="body" sz="quarter" idx="10"/>
          </p:nvPr>
        </p:nvSpPr>
        <p:spPr/>
        <p:txBody>
          <a:bodyPr/>
          <a:lstStyle/>
          <a:p>
            <a:endParaRPr lang="nl-NL"/>
          </a:p>
        </p:txBody>
      </p:sp>
      <p:graphicFrame>
        <p:nvGraphicFramePr>
          <p:cNvPr id="8" name="Content Placeholder 15">
            <a:extLst>
              <a:ext uri="{FF2B5EF4-FFF2-40B4-BE49-F238E27FC236}">
                <a16:creationId xmlns:a16="http://schemas.microsoft.com/office/drawing/2014/main" id="{D750672B-55B5-322A-3D87-75ADD353885D}"/>
              </a:ext>
            </a:extLst>
          </p:cNvPr>
          <p:cNvGraphicFramePr>
            <a:graphicFrameLocks/>
          </p:cNvGraphicFramePr>
          <p:nvPr>
            <p:extLst>
              <p:ext uri="{D42A27DB-BD31-4B8C-83A1-F6EECF244321}">
                <p14:modId xmlns:p14="http://schemas.microsoft.com/office/powerpoint/2010/main" val="262920399"/>
              </p:ext>
            </p:extLst>
          </p:nvPr>
        </p:nvGraphicFramePr>
        <p:xfrm>
          <a:off x="425302" y="1682500"/>
          <a:ext cx="10949523" cy="4408400"/>
        </p:xfrm>
        <a:graphic>
          <a:graphicData uri="http://schemas.openxmlformats.org/drawingml/2006/table">
            <a:tbl>
              <a:tblPr firstRow="1" bandRow="1">
                <a:tableStyleId>{2D5ABB26-0587-4C30-8999-92F81FD0307C}</a:tableStyleId>
              </a:tblPr>
              <a:tblGrid>
                <a:gridCol w="1014730">
                  <a:extLst>
                    <a:ext uri="{9D8B030D-6E8A-4147-A177-3AD203B41FA5}">
                      <a16:colId xmlns:a16="http://schemas.microsoft.com/office/drawing/2014/main" val="3254795847"/>
                    </a:ext>
                  </a:extLst>
                </a:gridCol>
                <a:gridCol w="674920">
                  <a:extLst>
                    <a:ext uri="{9D8B030D-6E8A-4147-A177-3AD203B41FA5}">
                      <a16:colId xmlns:a16="http://schemas.microsoft.com/office/drawing/2014/main" val="2525678486"/>
                    </a:ext>
                  </a:extLst>
                </a:gridCol>
                <a:gridCol w="695886">
                  <a:extLst>
                    <a:ext uri="{9D8B030D-6E8A-4147-A177-3AD203B41FA5}">
                      <a16:colId xmlns:a16="http://schemas.microsoft.com/office/drawing/2014/main" val="876280276"/>
                    </a:ext>
                  </a:extLst>
                </a:gridCol>
                <a:gridCol w="695886">
                  <a:extLst>
                    <a:ext uri="{9D8B030D-6E8A-4147-A177-3AD203B41FA5}">
                      <a16:colId xmlns:a16="http://schemas.microsoft.com/office/drawing/2014/main" val="450898889"/>
                    </a:ext>
                  </a:extLst>
                </a:gridCol>
                <a:gridCol w="695886">
                  <a:extLst>
                    <a:ext uri="{9D8B030D-6E8A-4147-A177-3AD203B41FA5}">
                      <a16:colId xmlns:a16="http://schemas.microsoft.com/office/drawing/2014/main" val="3036342612"/>
                    </a:ext>
                  </a:extLst>
                </a:gridCol>
                <a:gridCol w="695886">
                  <a:extLst>
                    <a:ext uri="{9D8B030D-6E8A-4147-A177-3AD203B41FA5}">
                      <a16:colId xmlns:a16="http://schemas.microsoft.com/office/drawing/2014/main" val="1755214161"/>
                    </a:ext>
                  </a:extLst>
                </a:gridCol>
                <a:gridCol w="695886">
                  <a:extLst>
                    <a:ext uri="{9D8B030D-6E8A-4147-A177-3AD203B41FA5}">
                      <a16:colId xmlns:a16="http://schemas.microsoft.com/office/drawing/2014/main" val="4046283696"/>
                    </a:ext>
                  </a:extLst>
                </a:gridCol>
                <a:gridCol w="695886">
                  <a:extLst>
                    <a:ext uri="{9D8B030D-6E8A-4147-A177-3AD203B41FA5}">
                      <a16:colId xmlns:a16="http://schemas.microsoft.com/office/drawing/2014/main" val="3887875322"/>
                    </a:ext>
                  </a:extLst>
                </a:gridCol>
                <a:gridCol w="213355">
                  <a:extLst>
                    <a:ext uri="{9D8B030D-6E8A-4147-A177-3AD203B41FA5}">
                      <a16:colId xmlns:a16="http://schemas.microsoft.com/office/drawing/2014/main" val="3460118511"/>
                    </a:ext>
                  </a:extLst>
                </a:gridCol>
                <a:gridCol w="695886">
                  <a:extLst>
                    <a:ext uri="{9D8B030D-6E8A-4147-A177-3AD203B41FA5}">
                      <a16:colId xmlns:a16="http://schemas.microsoft.com/office/drawing/2014/main" val="3334444550"/>
                    </a:ext>
                  </a:extLst>
                </a:gridCol>
                <a:gridCol w="695886">
                  <a:extLst>
                    <a:ext uri="{9D8B030D-6E8A-4147-A177-3AD203B41FA5}">
                      <a16:colId xmlns:a16="http://schemas.microsoft.com/office/drawing/2014/main" val="2768128650"/>
                    </a:ext>
                  </a:extLst>
                </a:gridCol>
                <a:gridCol w="695886">
                  <a:extLst>
                    <a:ext uri="{9D8B030D-6E8A-4147-A177-3AD203B41FA5}">
                      <a16:colId xmlns:a16="http://schemas.microsoft.com/office/drawing/2014/main" val="430453538"/>
                    </a:ext>
                  </a:extLst>
                </a:gridCol>
                <a:gridCol w="695886">
                  <a:extLst>
                    <a:ext uri="{9D8B030D-6E8A-4147-A177-3AD203B41FA5}">
                      <a16:colId xmlns:a16="http://schemas.microsoft.com/office/drawing/2014/main" val="257293131"/>
                    </a:ext>
                  </a:extLst>
                </a:gridCol>
                <a:gridCol w="695886">
                  <a:extLst>
                    <a:ext uri="{9D8B030D-6E8A-4147-A177-3AD203B41FA5}">
                      <a16:colId xmlns:a16="http://schemas.microsoft.com/office/drawing/2014/main" val="2248412156"/>
                    </a:ext>
                  </a:extLst>
                </a:gridCol>
                <a:gridCol w="695886">
                  <a:extLst>
                    <a:ext uri="{9D8B030D-6E8A-4147-A177-3AD203B41FA5}">
                      <a16:colId xmlns:a16="http://schemas.microsoft.com/office/drawing/2014/main" val="783198804"/>
                    </a:ext>
                  </a:extLst>
                </a:gridCol>
                <a:gridCol w="695886">
                  <a:extLst>
                    <a:ext uri="{9D8B030D-6E8A-4147-A177-3AD203B41FA5}">
                      <a16:colId xmlns:a16="http://schemas.microsoft.com/office/drawing/2014/main" val="387915865"/>
                    </a:ext>
                  </a:extLst>
                </a:gridCol>
              </a:tblGrid>
              <a:tr h="216000">
                <a:tc>
                  <a:txBody>
                    <a:bodyPr/>
                    <a:lstStyle/>
                    <a:p>
                      <a:endParaRPr lang="nl-NL" sz="900">
                        <a:latin typeface="Verdana Pro" panose="020B0604030504040204" pitchFamily="34" charset="0"/>
                      </a:endParaRPr>
                    </a:p>
                  </a:txBody>
                  <a:tcPr/>
                </a:tc>
                <a:tc gridSpan="7">
                  <a:txBody>
                    <a:bodyPr/>
                    <a:lstStyle/>
                    <a:p>
                      <a:pPr algn="ctr"/>
                      <a:r>
                        <a:rPr lang="nl-NL" sz="900" i="1">
                          <a:latin typeface="Verdana Pro" panose="020B0604030504040204" pitchFamily="34" charset="0"/>
                        </a:rPr>
                        <a:t>Impact op zorgpersoneel in 2029 (in fte)</a:t>
                      </a:r>
                    </a:p>
                  </a:txBody>
                  <a:tcPr>
                    <a:solidFill>
                      <a:srgbClr val="F1F2F9"/>
                    </a:solidFill>
                  </a:tcPr>
                </a:tc>
                <a:tc hMerge="1">
                  <a:txBody>
                    <a:bodyPr/>
                    <a:lstStyle/>
                    <a:p>
                      <a:endParaRPr lang="nl-NL" sz="1100"/>
                    </a:p>
                  </a:txBody>
                  <a:tcPr/>
                </a:tc>
                <a:tc hMerge="1">
                  <a:txBody>
                    <a:bodyPr/>
                    <a:lstStyle/>
                    <a:p>
                      <a:endParaRPr lang="nl-NL" sz="1100"/>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sz="1100"/>
                    </a:p>
                  </a:txBody>
                  <a:tcPr/>
                </a:tc>
                <a:tc>
                  <a:txBody>
                    <a:bodyPr/>
                    <a:lstStyle/>
                    <a:p>
                      <a:endParaRPr lang="nl-NL" sz="900">
                        <a:latin typeface="Verdana Pro" panose="020B0604030504040204" pitchFamily="34" charset="0"/>
                      </a:endParaRPr>
                    </a:p>
                  </a:txBody>
                  <a:tcPr/>
                </a:tc>
                <a:tc gridSpan="7">
                  <a:txBody>
                    <a:bodyPr/>
                    <a:lstStyle/>
                    <a:p>
                      <a:pPr algn="ctr"/>
                      <a:r>
                        <a:rPr lang="nl-NL" sz="900" i="1">
                          <a:latin typeface="Verdana Pro" panose="020B0604030504040204" pitchFamily="34" charset="0"/>
                        </a:rPr>
                        <a:t>Impact op zorgkosten jaarlijks vanaf 2029 (x </a:t>
                      </a:r>
                      <a:r>
                        <a:rPr kumimoji="0" lang="nl-NL" sz="900" b="0" i="1" u="none" strike="noStrike" kern="1200" cap="none" spc="0" normalizeH="0" baseline="0" noProof="0">
                          <a:ln>
                            <a:noFill/>
                          </a:ln>
                          <a:solidFill>
                            <a:srgbClr val="1B1C33"/>
                          </a:solidFill>
                          <a:effectLst/>
                          <a:uLnTx/>
                          <a:uFillTx/>
                          <a:latin typeface="Verdana Pro" panose="020B0604030504040204" pitchFamily="34" charset="0"/>
                          <a:cs typeface="HelveticaNowDisplay Bold" panose="020B0804030202020204" pitchFamily="34" charset="0"/>
                        </a:rPr>
                        <a:t>€ 1.000)</a:t>
                      </a:r>
                      <a:endParaRPr lang="nl-NL" sz="900" i="1">
                        <a:latin typeface="Verdana Pro" panose="020B0604030504040204" pitchFamily="34" charset="0"/>
                      </a:endParaRPr>
                    </a:p>
                  </a:txBody>
                  <a:tcPr>
                    <a:solidFill>
                      <a:schemeClr val="bg2">
                        <a:lumMod val="40000"/>
                        <a:lumOff val="60000"/>
                      </a:schemeClr>
                    </a:solidFill>
                  </a:tcPr>
                </a:tc>
                <a:tc hMerge="1">
                  <a:txBody>
                    <a:bodyPr/>
                    <a:lstStyle/>
                    <a:p>
                      <a:endParaRPr lang="nl-NL" sz="1100"/>
                    </a:p>
                  </a:txBody>
                  <a:tcPr/>
                </a:tc>
                <a:tc hMerge="1">
                  <a:txBody>
                    <a:bodyPr/>
                    <a:lstStyle/>
                    <a:p>
                      <a:endParaRPr lang="nl-NL" sz="1100"/>
                    </a:p>
                  </a:txBody>
                  <a:tcPr/>
                </a:tc>
                <a:tc hMerge="1">
                  <a:txBody>
                    <a:bodyPr/>
                    <a:lstStyle/>
                    <a:p>
                      <a:endParaRPr lang="nl-NL"/>
                    </a:p>
                  </a:txBody>
                  <a:tcPr/>
                </a:tc>
                <a:tc hMerge="1">
                  <a:txBody>
                    <a:bodyPr/>
                    <a:lstStyle/>
                    <a:p>
                      <a:endParaRPr lang="nl-NL"/>
                    </a:p>
                  </a:txBody>
                  <a:tcPr/>
                </a:tc>
                <a:tc hMerge="1">
                  <a:txBody>
                    <a:bodyPr/>
                    <a:lstStyle/>
                    <a:p>
                      <a:endParaRPr lang="nl-NL"/>
                    </a:p>
                  </a:txBody>
                  <a:tcPr/>
                </a:tc>
                <a:tc hMerge="1">
                  <a:txBody>
                    <a:bodyPr/>
                    <a:lstStyle/>
                    <a:p>
                      <a:endParaRPr lang="nl-NL" sz="1100"/>
                    </a:p>
                  </a:txBody>
                  <a:tcPr/>
                </a:tc>
                <a:extLst>
                  <a:ext uri="{0D108BD9-81ED-4DB2-BD59-A6C34878D82A}">
                    <a16:rowId xmlns:a16="http://schemas.microsoft.com/office/drawing/2014/main" val="4141178819"/>
                  </a:ext>
                </a:extLst>
              </a:tr>
              <a:tr h="216000">
                <a:tc>
                  <a:txBody>
                    <a:bodyPr/>
                    <a:lstStyle/>
                    <a:p>
                      <a:endParaRPr lang="nl-NL" sz="900">
                        <a:latin typeface="Verdana Pro" panose="020B0604030504040204" pitchFamily="34" charset="0"/>
                      </a:endParaRPr>
                    </a:p>
                  </a:txBody>
                  <a:tcPr>
                    <a:lnB w="12700" cap="flat" cmpd="sng" algn="ctr">
                      <a:noFill/>
                      <a:prstDash val="solid"/>
                      <a:round/>
                      <a:headEnd type="none" w="med" len="med"/>
                      <a:tailEnd type="none" w="med" len="med"/>
                    </a:lnB>
                  </a:tcPr>
                </a:tc>
                <a:tc>
                  <a:txBody>
                    <a:bodyPr/>
                    <a:lstStyle/>
                    <a:p>
                      <a:pPr algn="ctr"/>
                      <a:r>
                        <a:rPr lang="nl-NL" sz="800" b="1">
                          <a:latin typeface="Verdana Pro" panose="020B0604030504040204" pitchFamily="34" charset="0"/>
                        </a:rPr>
                        <a:t>MSZ</a:t>
                      </a:r>
                    </a:p>
                  </a:txBody>
                  <a:tcPr>
                    <a:lnR w="3175" cap="flat" cmpd="sng" algn="ctr">
                      <a:solidFill>
                        <a:srgbClr val="BCC1E2"/>
                      </a:solidFill>
                      <a:prstDash val="solid"/>
                      <a:round/>
                      <a:headEnd type="none" w="med" len="med"/>
                      <a:tailEnd type="none" w="med" len="med"/>
                    </a:lnR>
                    <a:lnB w="12700" cap="flat" cmpd="sng" algn="ctr">
                      <a:noFill/>
                      <a:prstDash val="solid"/>
                      <a:round/>
                      <a:headEnd type="none" w="med" len="med"/>
                      <a:tailEnd type="none" w="med" len="med"/>
                    </a:lnB>
                    <a:solidFill>
                      <a:srgbClr val="F1F2F9"/>
                    </a:solidFill>
                  </a:tcPr>
                </a:tc>
                <a:tc>
                  <a:txBody>
                    <a:bodyPr/>
                    <a:lstStyle/>
                    <a:p>
                      <a:pPr algn="ctr"/>
                      <a:r>
                        <a:rPr lang="nl-NL" sz="800" b="1">
                          <a:latin typeface="Verdana Pro" panose="020B0604030504040204" pitchFamily="34" charset="0"/>
                        </a:rPr>
                        <a:t>VVT</a:t>
                      </a: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B w="12700" cap="flat" cmpd="sng" algn="ctr">
                      <a:noFill/>
                      <a:prstDash val="solid"/>
                      <a:round/>
                      <a:headEnd type="none" w="med" len="med"/>
                      <a:tailEnd type="none" w="med" len="med"/>
                    </a:lnB>
                    <a:solidFill>
                      <a:srgbClr val="F1F2F9"/>
                    </a:solidFill>
                  </a:tcPr>
                </a:tc>
                <a:tc>
                  <a:txBody>
                    <a:bodyPr/>
                    <a:lstStyle/>
                    <a:p>
                      <a:pPr algn="ctr"/>
                      <a:r>
                        <a:rPr lang="nl-NL" sz="800" b="1">
                          <a:latin typeface="Verdana Pro" panose="020B0604030504040204" pitchFamily="34" charset="0"/>
                        </a:rPr>
                        <a:t>Huis-artsen</a:t>
                      </a: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B w="12700" cap="flat" cmpd="sng" algn="ctr">
                      <a:noFill/>
                      <a:prstDash val="solid"/>
                      <a:round/>
                      <a:headEnd type="none" w="med" len="med"/>
                      <a:tailEnd type="none" w="med" len="med"/>
                    </a:lnB>
                    <a:solidFill>
                      <a:srgbClr val="F1F2F9"/>
                    </a:solidFill>
                  </a:tcPr>
                </a:tc>
                <a:tc>
                  <a:txBody>
                    <a:bodyPr/>
                    <a:lstStyle/>
                    <a:p>
                      <a:pPr algn="ctr"/>
                      <a:r>
                        <a:rPr lang="nl-NL" sz="800" b="1">
                          <a:latin typeface="Verdana Pro" panose="020B0604030504040204" pitchFamily="34" charset="0"/>
                        </a:rPr>
                        <a:t>Apotheek</a:t>
                      </a: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B w="12700" cap="flat" cmpd="sng" algn="ctr">
                      <a:noFill/>
                      <a:prstDash val="solid"/>
                      <a:round/>
                      <a:headEnd type="none" w="med" len="med"/>
                      <a:tailEnd type="none" w="med" len="med"/>
                    </a:lnB>
                    <a:solidFill>
                      <a:srgbClr val="F1F2F9"/>
                    </a:solidFill>
                  </a:tcPr>
                </a:tc>
                <a:tc>
                  <a:txBody>
                    <a:bodyPr/>
                    <a:lstStyle/>
                    <a:p>
                      <a:pPr algn="ctr"/>
                      <a:r>
                        <a:rPr lang="nl-NL" sz="800" b="1">
                          <a:latin typeface="Verdana Pro" panose="020B0604030504040204" pitchFamily="34" charset="0"/>
                        </a:rPr>
                        <a:t>GGZ</a:t>
                      </a: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B w="12700" cap="flat" cmpd="sng" algn="ctr">
                      <a:noFill/>
                      <a:prstDash val="solid"/>
                      <a:round/>
                      <a:headEnd type="none" w="med" len="med"/>
                      <a:tailEnd type="none" w="med" len="med"/>
                    </a:lnB>
                    <a:solidFill>
                      <a:srgbClr val="F1F2F9"/>
                    </a:solidFill>
                  </a:tcPr>
                </a:tc>
                <a:tc>
                  <a:txBody>
                    <a:bodyPr/>
                    <a:lstStyle/>
                    <a:p>
                      <a:pPr algn="ctr"/>
                      <a:r>
                        <a:rPr lang="nl-NL" sz="800" b="1">
                          <a:latin typeface="Verdana Pro" panose="020B0604030504040204" pitchFamily="34" charset="0"/>
                        </a:rPr>
                        <a:t>Overige sectoren</a:t>
                      </a: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B w="12700" cap="flat" cmpd="sng" algn="ctr">
                      <a:noFill/>
                      <a:prstDash val="solid"/>
                      <a:round/>
                      <a:headEnd type="none" w="med" len="med"/>
                      <a:tailEnd type="none" w="med" len="med"/>
                    </a:lnB>
                    <a:solidFill>
                      <a:srgbClr val="F1F2F9"/>
                    </a:solidFill>
                  </a:tcPr>
                </a:tc>
                <a:tc>
                  <a:txBody>
                    <a:bodyPr/>
                    <a:lstStyle/>
                    <a:p>
                      <a:pPr algn="ctr"/>
                      <a:r>
                        <a:rPr lang="nl-NL" sz="800" b="1">
                          <a:latin typeface="Verdana Pro" panose="020B0604030504040204" pitchFamily="34" charset="0"/>
                        </a:rPr>
                        <a:t>Totaal</a:t>
                      </a:r>
                    </a:p>
                  </a:txBody>
                  <a:tcPr>
                    <a:lnL w="3175" cap="flat" cmpd="sng" algn="ctr">
                      <a:solidFill>
                        <a:srgbClr val="BCC1E2"/>
                      </a:solidFill>
                      <a:prstDash val="solid"/>
                      <a:round/>
                      <a:headEnd type="none" w="med" len="med"/>
                      <a:tailEnd type="none" w="med" len="med"/>
                    </a:lnL>
                    <a:lnB w="12700" cap="flat" cmpd="sng" algn="ctr">
                      <a:noFill/>
                      <a:prstDash val="solid"/>
                      <a:round/>
                      <a:headEnd type="none" w="med" len="med"/>
                      <a:tailEnd type="none" w="med" len="med"/>
                    </a:lnB>
                    <a:solidFill>
                      <a:srgbClr val="F1F2F9"/>
                    </a:solidFill>
                  </a:tcPr>
                </a:tc>
                <a:tc>
                  <a:txBody>
                    <a:bodyPr/>
                    <a:lstStyle/>
                    <a:p>
                      <a:endParaRPr lang="nl-NL" sz="800" b="1">
                        <a:latin typeface="Verdana Pro" panose="020B0604030504040204" pitchFamily="34" charset="0"/>
                      </a:endParaRPr>
                    </a:p>
                  </a:txBody>
                  <a:tcPr>
                    <a:lnB w="12700" cap="flat" cmpd="sng" algn="ctr">
                      <a:noFill/>
                      <a:prstDash val="solid"/>
                      <a:round/>
                      <a:headEnd type="none" w="med" len="med"/>
                      <a:tailEnd type="none" w="med" len="med"/>
                    </a:lnB>
                  </a:tcPr>
                </a:tc>
                <a:tc>
                  <a:txBody>
                    <a:bodyPr/>
                    <a:lstStyle/>
                    <a:p>
                      <a:pPr algn="ctr"/>
                      <a:r>
                        <a:rPr lang="nl-NL" sz="800" b="1">
                          <a:latin typeface="Verdana Pro" panose="020B0604030504040204" pitchFamily="34" charset="0"/>
                        </a:rPr>
                        <a:t>MSZ</a:t>
                      </a:r>
                    </a:p>
                  </a:txBody>
                  <a:tcPr>
                    <a:lnR w="3175" cap="flat" cmpd="sng" algn="ctr">
                      <a:solidFill>
                        <a:schemeClr val="bg1">
                          <a:lumMod val="50000"/>
                        </a:schemeClr>
                      </a:solidFill>
                      <a:prstDash val="solid"/>
                      <a:round/>
                      <a:headEnd type="none" w="med" len="med"/>
                      <a:tailEnd type="none" w="med" len="med"/>
                    </a:lnR>
                    <a:lnB w="12700" cap="flat" cmpd="sng" algn="ctr">
                      <a:noFill/>
                      <a:prstDash val="solid"/>
                      <a:round/>
                      <a:headEnd type="none" w="med" len="med"/>
                      <a:tailEnd type="none" w="med" len="med"/>
                    </a:lnB>
                    <a:solidFill>
                      <a:schemeClr val="bg2">
                        <a:lumMod val="40000"/>
                        <a:lumOff val="60000"/>
                      </a:schemeClr>
                    </a:solidFill>
                  </a:tcPr>
                </a:tc>
                <a:tc>
                  <a:txBody>
                    <a:bodyPr/>
                    <a:lstStyle/>
                    <a:p>
                      <a:pPr algn="ctr"/>
                      <a:r>
                        <a:rPr lang="nl-NL" sz="800" b="1">
                          <a:latin typeface="Verdana Pro" panose="020B0604030504040204" pitchFamily="34" charset="0"/>
                        </a:rPr>
                        <a:t>VVT</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12700" cap="flat" cmpd="sng" algn="ctr">
                      <a:noFill/>
                      <a:prstDash val="solid"/>
                      <a:round/>
                      <a:headEnd type="none" w="med" len="med"/>
                      <a:tailEnd type="none" w="med" len="med"/>
                    </a:lnB>
                    <a:solidFill>
                      <a:schemeClr val="bg2">
                        <a:lumMod val="40000"/>
                        <a:lumOff val="60000"/>
                      </a:schemeClr>
                    </a:solidFill>
                  </a:tcPr>
                </a:tc>
                <a:tc>
                  <a:txBody>
                    <a:bodyPr/>
                    <a:lstStyle/>
                    <a:p>
                      <a:pPr algn="ctr"/>
                      <a:r>
                        <a:rPr lang="nl-NL" sz="800" b="1">
                          <a:latin typeface="Verdana Pro" panose="020B0604030504040204" pitchFamily="34" charset="0"/>
                        </a:rPr>
                        <a:t>Huis-artsen</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12700" cap="flat" cmpd="sng" algn="ctr">
                      <a:noFill/>
                      <a:prstDash val="solid"/>
                      <a:round/>
                      <a:headEnd type="none" w="med" len="med"/>
                      <a:tailEnd type="none" w="med" len="med"/>
                    </a:lnB>
                    <a:solidFill>
                      <a:schemeClr val="bg2">
                        <a:lumMod val="40000"/>
                        <a:lumOff val="60000"/>
                      </a:schemeClr>
                    </a:solidFill>
                  </a:tcPr>
                </a:tc>
                <a:tc>
                  <a:txBody>
                    <a:bodyPr/>
                    <a:lstStyle/>
                    <a:p>
                      <a:pPr algn="ctr"/>
                      <a:r>
                        <a:rPr lang="nl-NL" sz="800" b="1">
                          <a:latin typeface="Verdana Pro" panose="020B0604030504040204" pitchFamily="34" charset="0"/>
                        </a:rPr>
                        <a:t>Apotheek</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12700" cap="flat" cmpd="sng" algn="ctr">
                      <a:noFill/>
                      <a:prstDash val="solid"/>
                      <a:round/>
                      <a:headEnd type="none" w="med" len="med"/>
                      <a:tailEnd type="none" w="med" len="med"/>
                    </a:lnB>
                    <a:solidFill>
                      <a:schemeClr val="bg2">
                        <a:lumMod val="40000"/>
                        <a:lumOff val="60000"/>
                      </a:schemeClr>
                    </a:solidFill>
                  </a:tcPr>
                </a:tc>
                <a:tc>
                  <a:txBody>
                    <a:bodyPr/>
                    <a:lstStyle/>
                    <a:p>
                      <a:pPr algn="ctr"/>
                      <a:r>
                        <a:rPr lang="nl-NL" sz="800" b="1">
                          <a:latin typeface="Verdana Pro" panose="020B0604030504040204" pitchFamily="34" charset="0"/>
                        </a:rPr>
                        <a:t>GGZ</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12700" cap="flat" cmpd="sng" algn="ctr">
                      <a:noFill/>
                      <a:prstDash val="solid"/>
                      <a:round/>
                      <a:headEnd type="none" w="med" len="med"/>
                      <a:tailEnd type="none" w="med" len="med"/>
                    </a:lnB>
                    <a:solidFill>
                      <a:schemeClr val="bg2">
                        <a:lumMod val="40000"/>
                        <a:lumOff val="60000"/>
                      </a:schemeClr>
                    </a:solidFill>
                  </a:tcPr>
                </a:tc>
                <a:tc>
                  <a:txBody>
                    <a:bodyPr/>
                    <a:lstStyle/>
                    <a:p>
                      <a:pPr algn="ctr"/>
                      <a:r>
                        <a:rPr lang="nl-NL" sz="800" b="1">
                          <a:latin typeface="Verdana Pro" panose="020B0604030504040204" pitchFamily="34" charset="0"/>
                        </a:rPr>
                        <a:t>Overige sectoren</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12700" cap="flat" cmpd="sng" algn="ctr">
                      <a:noFill/>
                      <a:prstDash val="solid"/>
                      <a:round/>
                      <a:headEnd type="none" w="med" len="med"/>
                      <a:tailEnd type="none" w="med" len="med"/>
                    </a:lnB>
                    <a:solidFill>
                      <a:schemeClr val="bg2">
                        <a:lumMod val="40000"/>
                        <a:lumOff val="60000"/>
                      </a:schemeClr>
                    </a:solidFill>
                  </a:tcPr>
                </a:tc>
                <a:tc>
                  <a:txBody>
                    <a:bodyPr/>
                    <a:lstStyle/>
                    <a:p>
                      <a:pPr algn="ctr"/>
                      <a:r>
                        <a:rPr lang="nl-NL" sz="800" b="1">
                          <a:latin typeface="Verdana Pro" panose="020B0604030504040204" pitchFamily="34" charset="0"/>
                        </a:rPr>
                        <a:t>Totaal</a:t>
                      </a:r>
                    </a:p>
                  </a:txBody>
                  <a:tcPr>
                    <a:lnL w="3175" cap="flat" cmpd="sng" algn="ctr">
                      <a:solidFill>
                        <a:schemeClr val="bg1">
                          <a:lumMod val="50000"/>
                        </a:schemeClr>
                      </a:solidFill>
                      <a:prstDash val="solid"/>
                      <a:round/>
                      <a:headEnd type="none" w="med" len="med"/>
                      <a:tailEnd type="none" w="med" len="med"/>
                    </a:lnL>
                    <a:lnB w="12700" cap="flat" cmpd="sng" algn="ctr">
                      <a:no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626498395"/>
                  </a:ext>
                </a:extLst>
              </a:tr>
              <a:tr h="0">
                <a:tc>
                  <a:txBody>
                    <a:bodyPr/>
                    <a:lstStyle/>
                    <a:p>
                      <a:endParaRPr lang="nl-NL" sz="100">
                        <a:latin typeface="Verdana Pro" panose="020B0604030504040204" pitchFamily="34" charset="0"/>
                      </a:endParaRPr>
                    </a:p>
                  </a:txBody>
                  <a:tcP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nl-NL" sz="100">
                        <a:latin typeface="Verdana Pro" panose="020B0604030504040204" pitchFamily="34" charset="0"/>
                      </a:endParaRPr>
                    </a:p>
                  </a:txBody>
                  <a:tcPr>
                    <a:lnR w="3175" cap="flat" cmpd="sng" algn="ctr">
                      <a:solidFill>
                        <a:srgbClr val="BCC1E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100">
                        <a:latin typeface="Verdana Pro" panose="020B0604030504040204" pitchFamily="34" charset="0"/>
                      </a:endParaRP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100">
                        <a:latin typeface="Verdana Pro" panose="020B0604030504040204" pitchFamily="34" charset="0"/>
                      </a:endParaRP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100">
                        <a:latin typeface="Verdana Pro" panose="020B0604030504040204" pitchFamily="34" charset="0"/>
                      </a:endParaRP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100">
                        <a:latin typeface="Verdana Pro" panose="020B0604030504040204" pitchFamily="34" charset="0"/>
                      </a:endParaRP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100">
                        <a:latin typeface="Verdana Pro" panose="020B0604030504040204" pitchFamily="34" charset="0"/>
                      </a:endParaRPr>
                    </a:p>
                  </a:txBody>
                  <a:tcP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100" b="1">
                        <a:latin typeface="Verdana Pro" panose="020B0604030504040204" pitchFamily="34" charset="0"/>
                      </a:endParaRPr>
                    </a:p>
                  </a:txBody>
                  <a:tcPr>
                    <a:lnL w="3175" cap="flat" cmpd="sng" algn="ctr">
                      <a:solidFill>
                        <a:srgbClr val="BCC1E2"/>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100">
                        <a:latin typeface="Verdana Pro" panose="020B0604030504040204" pitchFamily="34" charset="0"/>
                      </a:endParaRPr>
                    </a:p>
                  </a:txBody>
                  <a:tcP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nl-NL" sz="100">
                        <a:latin typeface="Verdana Pro" panose="020B0604030504040204" pitchFamily="34" charset="0"/>
                      </a:endParaRPr>
                    </a:p>
                  </a:txBody>
                  <a:tcPr>
                    <a:lnR w="3175"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endParaRPr lang="nl-NL" sz="100">
                        <a:latin typeface="Verdana Pro" panose="020B0604030504040204" pitchFamily="34" charset="0"/>
                      </a:endParaRP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endParaRPr lang="nl-NL" sz="100">
                        <a:latin typeface="Verdana Pro" panose="020B0604030504040204" pitchFamily="34" charset="0"/>
                      </a:endParaRP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endParaRPr lang="nl-NL" sz="100">
                        <a:latin typeface="Verdana Pro" panose="020B0604030504040204" pitchFamily="34" charset="0"/>
                      </a:endParaRP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endParaRPr lang="nl-NL" sz="100">
                        <a:latin typeface="Verdana Pro" panose="020B0604030504040204" pitchFamily="34" charset="0"/>
                      </a:endParaRP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endParaRPr lang="nl-NL" sz="100">
                        <a:latin typeface="Verdana Pro" panose="020B0604030504040204" pitchFamily="34" charset="0"/>
                      </a:endParaRP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endParaRPr lang="nl-NL" sz="100" b="1">
                        <a:latin typeface="Verdana Pro" panose="020B0604030504040204" pitchFamily="34" charset="0"/>
                      </a:endParaRPr>
                    </a:p>
                  </a:txBody>
                  <a:tcPr>
                    <a:lnL w="3175" cap="flat" cmpd="sng" algn="ctr">
                      <a:solidFill>
                        <a:schemeClr val="bg1">
                          <a:lumMod val="50000"/>
                        </a:schemeClr>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797558048"/>
                  </a:ext>
                </a:extLst>
              </a:tr>
              <a:tr h="540000">
                <a:tc>
                  <a:txBody>
                    <a:bodyPr/>
                    <a:lstStyle/>
                    <a:p>
                      <a:r>
                        <a:rPr lang="nl-NL" sz="800" b="1">
                          <a:latin typeface="Verdana Pro" panose="020B0604030504040204" pitchFamily="34" charset="0"/>
                        </a:rPr>
                        <a:t>Digitale (zorg)</a:t>
                      </a:r>
                      <a:br>
                        <a:rPr lang="nl-NL" sz="800" b="1">
                          <a:latin typeface="Verdana Pro" panose="020B0604030504040204" pitchFamily="34" charset="0"/>
                        </a:rPr>
                      </a:br>
                      <a:r>
                        <a:rPr lang="nl-NL" sz="800" b="1">
                          <a:latin typeface="Verdana Pro" panose="020B0604030504040204" pitchFamily="34" charset="0"/>
                        </a:rPr>
                        <a:t>communicatie</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b="1">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800">
                        <a:latin typeface="Verdana Pro" panose="020B0604030504040204" pitchFamily="34" charset="0"/>
                      </a:endParaRP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b="1">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273813427"/>
                  </a:ext>
                </a:extLst>
              </a:tr>
              <a:tr h="540000">
                <a:tc>
                  <a:txBody>
                    <a:bodyPr/>
                    <a:lstStyle/>
                    <a:p>
                      <a:r>
                        <a:rPr lang="nl-NL" sz="800" b="1">
                          <a:latin typeface="Verdana Pro" panose="020B0604030504040204" pitchFamily="34" charset="0"/>
                        </a:rPr>
                        <a:t>Medische</a:t>
                      </a:r>
                      <a:br>
                        <a:rPr lang="nl-NL" sz="800" b="1">
                          <a:latin typeface="Verdana Pro" panose="020B0604030504040204" pitchFamily="34" charset="0"/>
                        </a:rPr>
                      </a:br>
                      <a:r>
                        <a:rPr lang="nl-NL" sz="800" b="1">
                          <a:latin typeface="Verdana Pro" panose="020B0604030504040204" pitchFamily="34" charset="0"/>
                        </a:rPr>
                        <a:t>overdracht</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b="1">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800">
                        <a:latin typeface="Verdana Pro" panose="020B0604030504040204" pitchFamily="34" charset="0"/>
                      </a:endParaRP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i="0">
                        <a:latin typeface="Verdana Pro" panose="020B0604030504040204" pitchFamily="34" charset="0"/>
                      </a:endParaRPr>
                    </a:p>
                  </a:txBody>
                  <a:tcPr anchor="ctr">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b="1" i="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353604492"/>
                  </a:ext>
                </a:extLst>
              </a:tr>
              <a:tr h="540000">
                <a:tc>
                  <a:txBody>
                    <a:bodyPr/>
                    <a:lstStyle/>
                    <a:p>
                      <a:r>
                        <a:rPr lang="nl-NL" sz="800" b="1">
                          <a:latin typeface="Verdana Pro" panose="020B0604030504040204" pitchFamily="34" charset="0"/>
                        </a:rPr>
                        <a:t>Medicatie-</a:t>
                      </a:r>
                      <a:br>
                        <a:rPr lang="nl-NL" sz="800" b="1">
                          <a:latin typeface="Verdana Pro" panose="020B0604030504040204" pitchFamily="34" charset="0"/>
                        </a:rPr>
                      </a:br>
                      <a:r>
                        <a:rPr lang="nl-NL" sz="800" b="1">
                          <a:latin typeface="Verdana Pro" panose="020B0604030504040204" pitchFamily="34" charset="0"/>
                        </a:rPr>
                        <a:t>overdracht</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b="1">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800">
                        <a:latin typeface="Verdana Pro" panose="020B0604030504040204" pitchFamily="34" charset="0"/>
                      </a:endParaRP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b="1" i="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58394009"/>
                  </a:ext>
                </a:extLst>
              </a:tr>
              <a:tr h="540000">
                <a:tc>
                  <a:txBody>
                    <a:bodyPr/>
                    <a:lstStyle/>
                    <a:p>
                      <a:r>
                        <a:rPr lang="nl-NL" sz="800" b="1">
                          <a:latin typeface="Verdana Pro" panose="020B0604030504040204" pitchFamily="34" charset="0"/>
                        </a:rPr>
                        <a:t>Verpleegkundige</a:t>
                      </a:r>
                      <a:br>
                        <a:rPr lang="nl-NL" sz="800" b="1">
                          <a:latin typeface="Verdana Pro" panose="020B0604030504040204" pitchFamily="34" charset="0"/>
                        </a:rPr>
                      </a:br>
                      <a:r>
                        <a:rPr lang="nl-NL" sz="800" b="1">
                          <a:latin typeface="Verdana Pro" panose="020B0604030504040204" pitchFamily="34" charset="0"/>
                        </a:rPr>
                        <a:t>overdracht</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b="1">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800">
                        <a:latin typeface="Verdana Pro" panose="020B0604030504040204" pitchFamily="34" charset="0"/>
                      </a:endParaRP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b="1" i="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872496133"/>
                  </a:ext>
                </a:extLst>
              </a:tr>
              <a:tr h="540000">
                <a:tc>
                  <a:txBody>
                    <a:bodyPr/>
                    <a:lstStyle/>
                    <a:p>
                      <a:r>
                        <a:rPr lang="nl-NL" sz="800" b="1">
                          <a:latin typeface="Verdana Pro" panose="020B0604030504040204" pitchFamily="34" charset="0"/>
                        </a:rPr>
                        <a:t>Overdracht</a:t>
                      </a:r>
                      <a:br>
                        <a:rPr lang="nl-NL" sz="800" b="1">
                          <a:latin typeface="Verdana Pro" panose="020B0604030504040204" pitchFamily="34" charset="0"/>
                        </a:rPr>
                      </a:br>
                      <a:r>
                        <a:rPr lang="nl-NL" sz="800" b="1">
                          <a:latin typeface="Verdana Pro" panose="020B0604030504040204" pitchFamily="34" charset="0"/>
                        </a:rPr>
                        <a:t>Acute zorg</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b="1">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800">
                        <a:latin typeface="Verdana Pro" panose="020B0604030504040204" pitchFamily="34" charset="0"/>
                      </a:endParaRP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i="0">
                        <a:latin typeface="Verdana Pro" panose="020B0604030504040204" pitchFamily="34" charset="0"/>
                      </a:endParaRPr>
                    </a:p>
                  </a:txBody>
                  <a:tcPr anchor="ctr">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b="1">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3605267294"/>
                  </a:ext>
                </a:extLst>
              </a:tr>
              <a:tr h="540000">
                <a:tc>
                  <a:txBody>
                    <a:bodyPr/>
                    <a:lstStyle/>
                    <a:p>
                      <a:r>
                        <a:rPr lang="nl-NL" sz="800" b="1">
                          <a:latin typeface="Verdana Pro" panose="020B0604030504040204" pitchFamily="34" charset="0"/>
                        </a:rPr>
                        <a:t>Netwerkzorg</a:t>
                      </a:r>
                      <a:br>
                        <a:rPr lang="nl-NL" sz="800" b="1">
                          <a:latin typeface="Verdana Pro" panose="020B0604030504040204" pitchFamily="34" charset="0"/>
                        </a:rPr>
                      </a:br>
                      <a:r>
                        <a:rPr lang="nl-NL" sz="800" b="1">
                          <a:latin typeface="Verdana Pro" panose="020B0604030504040204" pitchFamily="34" charset="0"/>
                        </a:rPr>
                        <a:t>viewer</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800">
                        <a:latin typeface="Verdana Pro" panose="020B0604030504040204" pitchFamily="34" charset="0"/>
                      </a:endParaRPr>
                    </a:p>
                  </a:txBody>
                  <a:tcPr anchor="ctr">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R w="3175" cap="flat" cmpd="sng" algn="ctr">
                      <a:solidFill>
                        <a:srgbClr val="BCC1E2"/>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pPr algn="ctr"/>
                      <a:endParaRPr lang="nl-NL" sz="800" b="1">
                        <a:latin typeface="Verdana Pro" panose="020B0604030504040204" pitchFamily="34" charset="0"/>
                      </a:endParaRPr>
                    </a:p>
                  </a:txBody>
                  <a:tcPr anchor="ctr">
                    <a:lnL w="3175" cap="flat" cmpd="sng" algn="ctr">
                      <a:solidFill>
                        <a:srgbClr val="BCC1E2"/>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9"/>
                    </a:solidFill>
                  </a:tcPr>
                </a:tc>
                <a:tc>
                  <a:txBody>
                    <a:bodyPr/>
                    <a:lstStyle/>
                    <a:p>
                      <a:endParaRPr lang="nl-NL" sz="800">
                        <a:latin typeface="Verdana Pro" panose="020B0604030504040204" pitchFamily="34" charset="0"/>
                      </a:endParaRPr>
                    </a:p>
                  </a:txBody>
                  <a:tcPr anchor="ctr">
                    <a:lnT w="1270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ctr"/>
                      <a:endParaRPr lang="nl-NL" sz="800" i="0">
                        <a:latin typeface="Verdana Pro" panose="020B0604030504040204" pitchFamily="34" charset="0"/>
                      </a:endParaRPr>
                    </a:p>
                  </a:txBody>
                  <a:tcPr anchor="ctr">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tc>
                  <a:txBody>
                    <a:bodyPr/>
                    <a:lstStyle/>
                    <a:p>
                      <a:pPr algn="ctr"/>
                      <a:endParaRPr lang="nl-NL" sz="800" b="1">
                        <a:latin typeface="Verdana Pro" panose="020B0604030504040204" pitchFamily="34" charset="0"/>
                      </a:endParaRPr>
                    </a:p>
                  </a:txBody>
                  <a:tcPr anchor="ctr">
                    <a:lnL w="3175" cap="flat" cmpd="sng" algn="ctr">
                      <a:solidFill>
                        <a:schemeClr val="bg1">
                          <a:lumMod val="50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3901339374"/>
                  </a:ext>
                </a:extLst>
              </a:tr>
              <a:tr h="0">
                <a:tc>
                  <a:txBody>
                    <a:bodyPr/>
                    <a:lstStyle/>
                    <a:p>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b="1">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nl-NL" sz="100">
                        <a:latin typeface="Verdana Pro" panose="020B0604030504040204" pitchFamily="34" charset="0"/>
                      </a:endParaRPr>
                    </a:p>
                  </a:txBody>
                  <a:tcP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lang="nl-NL" sz="100" b="1">
                        <a:latin typeface="Verdana Pro" panose="020B0604030504040204" pitchFamily="34" charset="0"/>
                      </a:endParaRP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81188839"/>
                  </a:ext>
                </a:extLst>
              </a:tr>
              <a:tr h="370840">
                <a:tc>
                  <a:txBody>
                    <a:bodyPr/>
                    <a:lstStyle/>
                    <a:p>
                      <a:r>
                        <a:rPr lang="nl-NL" sz="1000" b="1">
                          <a:solidFill>
                            <a:schemeClr val="tx1">
                              <a:lumMod val="50000"/>
                              <a:lumOff val="50000"/>
                            </a:schemeClr>
                          </a:solidFill>
                          <a:latin typeface="Verdana Pro" panose="020B0604030504040204" pitchFamily="34" charset="0"/>
                        </a:rPr>
                        <a:t>Totaal</a:t>
                      </a:r>
                    </a:p>
                  </a:txBody>
                  <a:tcP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endParaRPr lang="nl-NL" sz="900" b="1">
                        <a:solidFill>
                          <a:schemeClr val="tx1">
                            <a:lumMod val="50000"/>
                            <a:lumOff val="50000"/>
                          </a:schemeClr>
                        </a:solidFill>
                        <a:latin typeface="Verdana Pro" panose="020B0604030504040204" pitchFamily="34" charset="0"/>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no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tc>
                  <a:txBody>
                    <a:bodyPr/>
                    <a:lstStyle/>
                    <a:p>
                      <a:pPr algn="ctr"/>
                      <a:endParaRPr lang="nl-NL" sz="900" b="1">
                        <a:solidFill>
                          <a:schemeClr val="tx1">
                            <a:lumMod val="50000"/>
                            <a:lumOff val="50000"/>
                          </a:schemeClr>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rgbClr val="DFECD0"/>
                    </a:solidFill>
                  </a:tcPr>
                </a:tc>
                <a:extLst>
                  <a:ext uri="{0D108BD9-81ED-4DB2-BD59-A6C34878D82A}">
                    <a16:rowId xmlns:a16="http://schemas.microsoft.com/office/drawing/2014/main" val="3761414607"/>
                  </a:ext>
                </a:extLst>
              </a:tr>
            </a:tbl>
          </a:graphicData>
        </a:graphic>
      </p:graphicFrame>
      <p:sp>
        <p:nvSpPr>
          <p:cNvPr id="4" name="Rectangle: Top Corners Rounded 38">
            <a:hlinkClick r:id="rId2" action="ppaction://hlinksldjump"/>
            <a:extLst>
              <a:ext uri="{FF2B5EF4-FFF2-40B4-BE49-F238E27FC236}">
                <a16:creationId xmlns:a16="http://schemas.microsoft.com/office/drawing/2014/main" id="{F466409C-913F-1CEE-A6F9-45A5D5DFE0E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6" name="Graphic 5" descr="Introductiepagina silhouet">
            <a:hlinkClick r:id="rId3" action="ppaction://hlinksldjump"/>
            <a:extLst>
              <a:ext uri="{FF2B5EF4-FFF2-40B4-BE49-F238E27FC236}">
                <a16:creationId xmlns:a16="http://schemas.microsoft.com/office/drawing/2014/main" id="{9058722B-1A4D-044A-5F76-1F79C7AB78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36" y="147223"/>
            <a:ext cx="144000" cy="144000"/>
          </a:xfrm>
          <a:prstGeom prst="rect">
            <a:avLst/>
          </a:prstGeom>
        </p:spPr>
      </p:pic>
      <p:sp>
        <p:nvSpPr>
          <p:cNvPr id="7" name="Rectangle: Top Corners Rounded 1">
            <a:hlinkClick r:id="rId6" action="ppaction://hlinksldjump"/>
            <a:extLst>
              <a:ext uri="{FF2B5EF4-FFF2-40B4-BE49-F238E27FC236}">
                <a16:creationId xmlns:a16="http://schemas.microsoft.com/office/drawing/2014/main" id="{8E23D8B0-C021-CF58-F5FB-51F067020085}"/>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7" action="ppaction://hlinksldjump"/>
            <a:extLst>
              <a:ext uri="{FF2B5EF4-FFF2-40B4-BE49-F238E27FC236}">
                <a16:creationId xmlns:a16="http://schemas.microsoft.com/office/drawing/2014/main" id="{6967799C-46EA-BE4F-949A-BA4033FBEA9D}"/>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8" action="ppaction://hlinksldjump"/>
            <a:extLst>
              <a:ext uri="{FF2B5EF4-FFF2-40B4-BE49-F238E27FC236}">
                <a16:creationId xmlns:a16="http://schemas.microsoft.com/office/drawing/2014/main" id="{2F3D8387-DB49-7D49-7454-F68334CE3BE1}"/>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9" action="ppaction://hlinksldjump"/>
            <a:extLst>
              <a:ext uri="{FF2B5EF4-FFF2-40B4-BE49-F238E27FC236}">
                <a16:creationId xmlns:a16="http://schemas.microsoft.com/office/drawing/2014/main" id="{75488D34-61D6-2A37-764F-334A4407A481}"/>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2" name="Rectangle: Top Corners Rounded 1">
            <a:hlinkClick r:id="rId10" action="ppaction://hlinksldjump"/>
            <a:extLst>
              <a:ext uri="{FF2B5EF4-FFF2-40B4-BE49-F238E27FC236}">
                <a16:creationId xmlns:a16="http://schemas.microsoft.com/office/drawing/2014/main" id="{C0A44DDE-B3F1-F14C-FD40-E25509BB51A1}"/>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1" action="ppaction://hlinksldjump"/>
            <a:extLst>
              <a:ext uri="{FF2B5EF4-FFF2-40B4-BE49-F238E27FC236}">
                <a16:creationId xmlns:a16="http://schemas.microsoft.com/office/drawing/2014/main" id="{1289F057-BC87-532F-FC06-F201A87A743E}"/>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2" action="ppaction://hlinksldjump"/>
            <a:extLst>
              <a:ext uri="{FF2B5EF4-FFF2-40B4-BE49-F238E27FC236}">
                <a16:creationId xmlns:a16="http://schemas.microsoft.com/office/drawing/2014/main" id="{D8441D30-FC30-BAEB-B2FA-E231C6F5C266}"/>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3" action="ppaction://hlinksldjump"/>
            <a:extLst>
              <a:ext uri="{FF2B5EF4-FFF2-40B4-BE49-F238E27FC236}">
                <a16:creationId xmlns:a16="http://schemas.microsoft.com/office/drawing/2014/main" id="{73DF9B8D-3B29-934A-1142-21A07FF5A79F}"/>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4" action="ppaction://hlinksldjump"/>
            <a:extLst>
              <a:ext uri="{FF2B5EF4-FFF2-40B4-BE49-F238E27FC236}">
                <a16:creationId xmlns:a16="http://schemas.microsoft.com/office/drawing/2014/main" id="{5FAAB4F2-4283-E575-04EE-82C849F8E370}"/>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5" action="ppaction://hlinksldjump"/>
            <a:extLst>
              <a:ext uri="{FF2B5EF4-FFF2-40B4-BE49-F238E27FC236}">
                <a16:creationId xmlns:a16="http://schemas.microsoft.com/office/drawing/2014/main" id="{A1971E00-D3A1-FFAF-213B-9ADADD3AC15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6" action="ppaction://hlinksldjump"/>
            <a:extLst>
              <a:ext uri="{FF2B5EF4-FFF2-40B4-BE49-F238E27FC236}">
                <a16:creationId xmlns:a16="http://schemas.microsoft.com/office/drawing/2014/main" id="{5D49CD07-87B2-4F24-998E-94684B131D24}"/>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9" name="Rechthoek: afgeronde hoeken 18">
            <a:extLst>
              <a:ext uri="{FF2B5EF4-FFF2-40B4-BE49-F238E27FC236}">
                <a16:creationId xmlns:a16="http://schemas.microsoft.com/office/drawing/2014/main" id="{80FC180B-0E9C-0D9C-06AD-599499BC9042}"/>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739144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2FFC-AACC-78EA-D03C-C4978A019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08ED05-1F0C-4E58-F5F0-2A8B1E555A58}"/>
              </a:ext>
            </a:extLst>
          </p:cNvPr>
          <p:cNvSpPr>
            <a:spLocks noGrp="1"/>
          </p:cNvSpPr>
          <p:nvPr>
            <p:ph type="title"/>
          </p:nvPr>
        </p:nvSpPr>
        <p:spPr/>
        <p:txBody>
          <a:bodyPr/>
          <a:lstStyle/>
          <a:p>
            <a:r>
              <a:rPr lang="nl-NL"/>
              <a:t>Overzicht kosten t/m 2029</a:t>
            </a:r>
          </a:p>
        </p:txBody>
      </p:sp>
      <p:sp>
        <p:nvSpPr>
          <p:cNvPr id="5" name="Text Placeholder 4">
            <a:extLst>
              <a:ext uri="{FF2B5EF4-FFF2-40B4-BE49-F238E27FC236}">
                <a16:creationId xmlns:a16="http://schemas.microsoft.com/office/drawing/2014/main" id="{6863A7CF-286B-FD99-0512-2E93D6BEE1E5}"/>
              </a:ext>
            </a:extLst>
          </p:cNvPr>
          <p:cNvSpPr>
            <a:spLocks noGrp="1"/>
          </p:cNvSpPr>
          <p:nvPr>
            <p:ph type="body" sz="quarter" idx="10"/>
          </p:nvPr>
        </p:nvSpPr>
        <p:spPr/>
        <p:txBody>
          <a:bodyPr/>
          <a:lstStyle/>
          <a:p>
            <a:endParaRPr lang="nl-NL"/>
          </a:p>
        </p:txBody>
      </p:sp>
      <p:graphicFrame>
        <p:nvGraphicFramePr>
          <p:cNvPr id="6" name="Table 5">
            <a:extLst>
              <a:ext uri="{FF2B5EF4-FFF2-40B4-BE49-F238E27FC236}">
                <a16:creationId xmlns:a16="http://schemas.microsoft.com/office/drawing/2014/main" id="{FD08FBAA-F3DB-535F-38B2-329D15D55FE9}"/>
              </a:ext>
            </a:extLst>
          </p:cNvPr>
          <p:cNvGraphicFramePr>
            <a:graphicFrameLocks noGrp="1"/>
          </p:cNvGraphicFramePr>
          <p:nvPr>
            <p:extLst>
              <p:ext uri="{D42A27DB-BD31-4B8C-83A1-F6EECF244321}">
                <p14:modId xmlns:p14="http://schemas.microsoft.com/office/powerpoint/2010/main" val="1425904861"/>
              </p:ext>
            </p:extLst>
          </p:nvPr>
        </p:nvGraphicFramePr>
        <p:xfrm>
          <a:off x="425302" y="1697143"/>
          <a:ext cx="9815056" cy="2290084"/>
        </p:xfrm>
        <a:graphic>
          <a:graphicData uri="http://schemas.openxmlformats.org/drawingml/2006/table">
            <a:tbl>
              <a:tblPr firstRow="1" bandRow="1">
                <a:tableStyleId>{5A111915-BE36-4E01-A7E5-04B1672EAD32}</a:tableStyleId>
              </a:tblPr>
              <a:tblGrid>
                <a:gridCol w="1831920">
                  <a:extLst>
                    <a:ext uri="{9D8B030D-6E8A-4147-A177-3AD203B41FA5}">
                      <a16:colId xmlns:a16="http://schemas.microsoft.com/office/drawing/2014/main" val="2876323124"/>
                    </a:ext>
                  </a:extLst>
                </a:gridCol>
                <a:gridCol w="1140448">
                  <a:extLst>
                    <a:ext uri="{9D8B030D-6E8A-4147-A177-3AD203B41FA5}">
                      <a16:colId xmlns:a16="http://schemas.microsoft.com/office/drawing/2014/main" val="2522672347"/>
                    </a:ext>
                  </a:extLst>
                </a:gridCol>
                <a:gridCol w="1140448">
                  <a:extLst>
                    <a:ext uri="{9D8B030D-6E8A-4147-A177-3AD203B41FA5}">
                      <a16:colId xmlns:a16="http://schemas.microsoft.com/office/drawing/2014/main" val="575723207"/>
                    </a:ext>
                  </a:extLst>
                </a:gridCol>
                <a:gridCol w="1140448">
                  <a:extLst>
                    <a:ext uri="{9D8B030D-6E8A-4147-A177-3AD203B41FA5}">
                      <a16:colId xmlns:a16="http://schemas.microsoft.com/office/drawing/2014/main" val="268842904"/>
                    </a:ext>
                  </a:extLst>
                </a:gridCol>
                <a:gridCol w="1140448">
                  <a:extLst>
                    <a:ext uri="{9D8B030D-6E8A-4147-A177-3AD203B41FA5}">
                      <a16:colId xmlns:a16="http://schemas.microsoft.com/office/drawing/2014/main" val="1687221373"/>
                    </a:ext>
                  </a:extLst>
                </a:gridCol>
                <a:gridCol w="1140448">
                  <a:extLst>
                    <a:ext uri="{9D8B030D-6E8A-4147-A177-3AD203B41FA5}">
                      <a16:colId xmlns:a16="http://schemas.microsoft.com/office/drawing/2014/main" val="2950581276"/>
                    </a:ext>
                  </a:extLst>
                </a:gridCol>
                <a:gridCol w="1140448">
                  <a:extLst>
                    <a:ext uri="{9D8B030D-6E8A-4147-A177-3AD203B41FA5}">
                      <a16:colId xmlns:a16="http://schemas.microsoft.com/office/drawing/2014/main" val="2965994941"/>
                    </a:ext>
                  </a:extLst>
                </a:gridCol>
                <a:gridCol w="1140448">
                  <a:extLst>
                    <a:ext uri="{9D8B030D-6E8A-4147-A177-3AD203B41FA5}">
                      <a16:colId xmlns:a16="http://schemas.microsoft.com/office/drawing/2014/main" val="3065917136"/>
                    </a:ext>
                  </a:extLst>
                </a:gridCol>
              </a:tblGrid>
              <a:tr h="216000">
                <a:tc>
                  <a:txBody>
                    <a:bodyPr/>
                    <a:lstStyle/>
                    <a:p>
                      <a:pPr algn="l"/>
                      <a:r>
                        <a:rPr kumimoji="0" lang="nl-NL" sz="1000" b="0" i="0" u="none" strike="noStrike" kern="1200" cap="none" spc="0" normalizeH="0" baseline="0" noProof="0">
                          <a:ln>
                            <a:noFill/>
                          </a:ln>
                          <a:solidFill>
                            <a:srgbClr val="1B1C33"/>
                          </a:solidFill>
                          <a:effectLst/>
                          <a:uLnTx/>
                          <a:uFillTx/>
                          <a:latin typeface="Verdana Pro" panose="020B0604030504040204" pitchFamily="34" charset="0"/>
                          <a:cs typeface="HelveticaNowDisplay Bold" panose="020B0804030202020204" pitchFamily="34" charset="0"/>
                        </a:rPr>
                        <a:t>( x € 1.000)</a:t>
                      </a:r>
                      <a:endParaRPr lang="nl-NL" sz="1000">
                        <a:latin typeface="Verdana Pro" panose="020B0604030504040204" pitchFamily="34" charset="0"/>
                      </a:endParaRPr>
                    </a:p>
                  </a:txBody>
                  <a:tcPr>
                    <a:lnL w="9525" cap="flat" cmpd="sng" algn="ctr">
                      <a:noFill/>
                      <a:prstDash val="solid"/>
                      <a:round/>
                      <a:headEnd type="none" w="med" len="med"/>
                      <a:tailEnd type="none" w="med" len="med"/>
                    </a:lnL>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lang="nl-NL" sz="1000">
                          <a:solidFill>
                            <a:schemeClr val="tx1"/>
                          </a:solidFill>
                          <a:latin typeface="Verdana Pro" panose="020B0604030504040204" pitchFamily="34" charset="0"/>
                        </a:rPr>
                        <a:t>2024</a:t>
                      </a:r>
                    </a:p>
                  </a:txBody>
                  <a:tcPr>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lang="nl-NL" sz="1000">
                          <a:solidFill>
                            <a:schemeClr val="tx1"/>
                          </a:solidFill>
                          <a:latin typeface="Verdana Pro" panose="020B0604030504040204" pitchFamily="34" charset="0"/>
                        </a:rPr>
                        <a:t>2025</a:t>
                      </a:r>
                    </a:p>
                  </a:txBody>
                  <a:tcPr>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lang="nl-NL" sz="1000">
                          <a:solidFill>
                            <a:schemeClr val="tx1"/>
                          </a:solidFill>
                          <a:latin typeface="Verdana Pro" panose="020B0604030504040204" pitchFamily="34" charset="0"/>
                        </a:rPr>
                        <a:t>2026</a:t>
                      </a:r>
                    </a:p>
                  </a:txBody>
                  <a:tcPr>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lang="nl-NL" sz="1000">
                          <a:solidFill>
                            <a:schemeClr val="tx1"/>
                          </a:solidFill>
                          <a:latin typeface="Verdana Pro" panose="020B0604030504040204" pitchFamily="34" charset="0"/>
                        </a:rPr>
                        <a:t>2027</a:t>
                      </a:r>
                    </a:p>
                  </a:txBody>
                  <a:tcPr>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lang="nl-NL" sz="1000">
                          <a:solidFill>
                            <a:schemeClr val="tx1"/>
                          </a:solidFill>
                          <a:latin typeface="Verdana Pro" panose="020B0604030504040204" pitchFamily="34" charset="0"/>
                        </a:rPr>
                        <a:t>2028</a:t>
                      </a:r>
                    </a:p>
                  </a:txBody>
                  <a:tcPr>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lang="nl-NL" sz="1000">
                          <a:solidFill>
                            <a:schemeClr val="tx1"/>
                          </a:solidFill>
                          <a:latin typeface="Verdana Pro" panose="020B0604030504040204" pitchFamily="34" charset="0"/>
                        </a:rPr>
                        <a:t>2029</a:t>
                      </a:r>
                    </a:p>
                  </a:txBody>
                  <a:tcPr>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b"/>
                      <a:r>
                        <a:rPr lang="en-US" sz="1000" b="1" i="0" u="none" strike="noStrike" err="1">
                          <a:solidFill>
                            <a:srgbClr val="000000"/>
                          </a:solidFill>
                          <a:effectLst/>
                          <a:latin typeface="Verdana Pro" panose="020B0604030504040204" pitchFamily="34" charset="0"/>
                        </a:rPr>
                        <a:t>Cumulatief</a:t>
                      </a:r>
                      <a:endParaRPr lang="en-NL" sz="1000" b="1" i="0" u="none" strike="noStrike">
                        <a:solidFill>
                          <a:srgbClr val="000000"/>
                        </a:solidFill>
                        <a:effectLst/>
                        <a:latin typeface="Verdana Pro" panose="020B0604030504040204" pitchFamily="34" charset="0"/>
                      </a:endParaRPr>
                    </a:p>
                  </a:txBody>
                  <a:tcPr>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69105607"/>
                  </a:ext>
                </a:extLst>
              </a:tr>
              <a:tr h="216000">
                <a:tc>
                  <a:txBody>
                    <a:bodyPr/>
                    <a:lstStyle/>
                    <a:p>
                      <a:r>
                        <a:rPr lang="nl-NL" sz="1000" b="1">
                          <a:latin typeface="Verdana Pro" panose="020B0604030504040204" pitchFamily="34" charset="0"/>
                        </a:rPr>
                        <a:t>Frictie kosten</a:t>
                      </a:r>
                    </a:p>
                  </a:txBody>
                  <a:tcPr>
                    <a:lnL w="9525" cap="flat" cmpd="sng" algn="ctr">
                      <a:noFill/>
                      <a:prstDash val="solid"/>
                      <a:round/>
                      <a:headEnd type="none" w="med" len="med"/>
                      <a:tailEnd type="none" w="med" len="med"/>
                    </a:lnL>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1000" b="1" i="0" u="none" strike="noStrike">
                          <a:solidFill>
                            <a:srgbClr val="000000"/>
                          </a:solidFill>
                          <a:effectLst/>
                          <a:latin typeface="Verdana Pro" panose="020B0604030504040204" pitchFamily="34" charset="0"/>
                        </a:rPr>
                        <a:t>€</a:t>
                      </a:r>
                      <a:r>
                        <a:rPr lang="en-US" sz="1000" b="1" i="0" u="none" strike="noStrike">
                          <a:solidFill>
                            <a:srgbClr val="000000"/>
                          </a:solidFill>
                          <a:effectLst/>
                          <a:latin typeface="Verdana Pro" panose="020B0604030504040204" pitchFamily="34" charset="0"/>
                        </a:rPr>
                        <a:t> XXX</a:t>
                      </a:r>
                      <a:endParaRPr lang="en-NL" sz="1000" b="1" i="0" u="none" strike="noStrike">
                        <a:solidFill>
                          <a:srgbClr val="000000"/>
                        </a:solidFill>
                        <a:effectLst/>
                        <a:latin typeface="Verdana Pro" panose="020B0604030504040204" pitchFamily="34" charset="0"/>
                      </a:endParaRPr>
                    </a:p>
                  </a:txBody>
                  <a:tcPr>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1000" b="1" i="0" u="none" strike="noStrike">
                          <a:solidFill>
                            <a:srgbClr val="000000"/>
                          </a:solidFill>
                          <a:effectLst/>
                          <a:latin typeface="Verdana Pro" panose="020B0604030504040204" pitchFamily="34" charset="0"/>
                        </a:rPr>
                        <a:t>€</a:t>
                      </a:r>
                      <a:r>
                        <a:rPr lang="en-US" sz="1000" b="1" i="0" u="none" strike="noStrike">
                          <a:solidFill>
                            <a:srgbClr val="000000"/>
                          </a:solidFill>
                          <a:effectLst/>
                          <a:latin typeface="Verdana Pro" panose="020B0604030504040204" pitchFamily="34" charset="0"/>
                        </a:rPr>
                        <a:t> XXX</a:t>
                      </a:r>
                      <a:endParaRPr lang="en-NL" sz="1000" b="1" i="0" u="none" strike="noStrike">
                        <a:solidFill>
                          <a:srgbClr val="000000"/>
                        </a:solidFill>
                        <a:effectLst/>
                        <a:latin typeface="Verdana Pro" panose="020B0604030504040204" pitchFamily="34" charset="0"/>
                      </a:endParaRPr>
                    </a:p>
                  </a:txBody>
                  <a:tcPr>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1000" b="1" i="0" u="none" strike="noStrike">
                          <a:solidFill>
                            <a:srgbClr val="000000"/>
                          </a:solidFill>
                          <a:effectLst/>
                          <a:latin typeface="Verdana Pro" panose="020B0604030504040204" pitchFamily="34" charset="0"/>
                        </a:rPr>
                        <a:t>€</a:t>
                      </a:r>
                      <a:r>
                        <a:rPr lang="en-US" sz="1000" b="1" i="0" u="none" strike="noStrike">
                          <a:solidFill>
                            <a:srgbClr val="000000"/>
                          </a:solidFill>
                          <a:effectLst/>
                          <a:latin typeface="Verdana Pro" panose="020B0604030504040204" pitchFamily="34" charset="0"/>
                        </a:rPr>
                        <a:t> XXX</a:t>
                      </a:r>
                      <a:endParaRPr lang="en-NL" sz="1000" b="1" i="0" u="none" strike="noStrike">
                        <a:solidFill>
                          <a:srgbClr val="000000"/>
                        </a:solidFill>
                        <a:effectLst/>
                        <a:latin typeface="Verdana Pro" panose="020B0604030504040204" pitchFamily="34" charset="0"/>
                      </a:endParaRPr>
                    </a:p>
                  </a:txBody>
                  <a:tcPr>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endParaRPr lang="en-NL" sz="1000" b="1" i="0" u="none" strike="noStrike">
                        <a:solidFill>
                          <a:srgbClr val="000000"/>
                        </a:solidFill>
                        <a:effectLst/>
                        <a:latin typeface="Verdana Pro" panose="020B0604030504040204" pitchFamily="34" charset="0"/>
                      </a:endParaRPr>
                    </a:p>
                  </a:txBody>
                  <a:tcPr>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a:endParaRPr lang="nl-NL" sz="1000" b="1">
                        <a:solidFill>
                          <a:schemeClr val="tx1"/>
                        </a:solidFill>
                        <a:latin typeface="Verdana Pro" panose="020B0604030504040204" pitchFamily="34" charset="0"/>
                      </a:endParaRPr>
                    </a:p>
                  </a:txBody>
                  <a:tcPr>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a:endParaRPr lang="nl-NL" sz="1000" b="1">
                        <a:solidFill>
                          <a:schemeClr val="tx1"/>
                        </a:solidFill>
                        <a:latin typeface="Verdana Pro" panose="020B0604030504040204" pitchFamily="34" charset="0"/>
                      </a:endParaRPr>
                    </a:p>
                  </a:txBody>
                  <a:tcPr>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1000" b="1" i="0" u="none" strike="noStrike">
                          <a:solidFill>
                            <a:srgbClr val="000000"/>
                          </a:solidFill>
                          <a:effectLst/>
                          <a:latin typeface="Verdana Pro" panose="020B0604030504040204" pitchFamily="34" charset="0"/>
                        </a:rPr>
                        <a:t> €</a:t>
                      </a:r>
                      <a:r>
                        <a:rPr lang="en-US" sz="1000" b="1" i="0" u="none" strike="noStrike">
                          <a:solidFill>
                            <a:srgbClr val="000000"/>
                          </a:solidFill>
                          <a:effectLst/>
                          <a:latin typeface="Verdana Pro" panose="020B0604030504040204" pitchFamily="34" charset="0"/>
                        </a:rPr>
                        <a:t> X.XXX</a:t>
                      </a:r>
                      <a:endParaRPr lang="en-NL" sz="1000" b="1" i="0" u="none" strike="noStrike">
                        <a:solidFill>
                          <a:srgbClr val="000000"/>
                        </a:solidFill>
                        <a:effectLst/>
                        <a:latin typeface="Verdana Pro" panose="020B0604030504040204" pitchFamily="34" charset="0"/>
                      </a:endParaRPr>
                    </a:p>
                  </a:txBody>
                  <a:tcPr>
                    <a:lnR w="9525" cap="flat" cmpd="sng" algn="ctr">
                      <a:no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74402328"/>
                  </a:ext>
                </a:extLst>
              </a:tr>
              <a:tr h="216000">
                <a:tc>
                  <a:txBody>
                    <a:bodyPr/>
                    <a:lstStyle/>
                    <a:p>
                      <a:pPr marL="457200" lvl="1" indent="-457200"/>
                      <a:r>
                        <a:rPr lang="nl-NL" sz="1000" i="1">
                          <a:latin typeface="Verdana Pro" panose="020B0604030504040204" pitchFamily="34" charset="0"/>
                        </a:rPr>
                        <a:t>Personeel</a:t>
                      </a:r>
                    </a:p>
                  </a:txBody>
                  <a:tcPr>
                    <a:lnL w="9525" cap="flat" cmpd="sng" algn="ctr">
                      <a:no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r>
                        <a:rPr lang="en-NL" sz="900" b="0" i="1" u="none" strike="noStrike" kern="1200">
                          <a:solidFill>
                            <a:srgbClr val="000000"/>
                          </a:solidFill>
                          <a:effectLst/>
                          <a:latin typeface="Verdana Pro" panose="020B0604030504040204" pitchFamily="34" charset="0"/>
                          <a:ea typeface="+mn-ea"/>
                          <a:cs typeface="+mn-cs"/>
                        </a:rPr>
                        <a:t> </a:t>
                      </a:r>
                    </a:p>
                  </a:txBody>
                  <a:tcP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a:endParaRPr lang="nl-NL" sz="900">
                        <a:latin typeface="Verdana Pro" panose="020B0604030504040204" pitchFamily="34" charset="0"/>
                      </a:endParaRPr>
                    </a:p>
                  </a:txBody>
                  <a:tcP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a:endParaRPr lang="nl-NL" sz="900">
                        <a:latin typeface="Verdana Pro" panose="020B0604030504040204" pitchFamily="34" charset="0"/>
                      </a:endParaRPr>
                    </a:p>
                  </a:txBody>
                  <a:tcP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a:t>
                      </a:r>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X.XXX</a:t>
                      </a:r>
                      <a:r>
                        <a:rPr lang="en-NL" sz="900" b="0" i="1" u="none" strike="noStrike">
                          <a:solidFill>
                            <a:srgbClr val="000000"/>
                          </a:solidFill>
                          <a:effectLst/>
                          <a:latin typeface="Verdana Pro" panose="020B0604030504040204" pitchFamily="34" charset="0"/>
                        </a:rPr>
                        <a:t>   </a:t>
                      </a:r>
                    </a:p>
                  </a:txBody>
                  <a:tcPr anchor="b">
                    <a:lnR w="952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16250061"/>
                  </a:ext>
                </a:extLst>
              </a:tr>
              <a:tr h="216000">
                <a:tc>
                  <a:txBody>
                    <a:bodyPr/>
                    <a:lstStyle/>
                    <a:p>
                      <a:pPr marL="457200" lvl="1" indent="-457200"/>
                      <a:r>
                        <a:rPr lang="nl-NL" sz="1000" i="1">
                          <a:latin typeface="Verdana Pro" panose="020B0604030504040204" pitchFamily="34" charset="0"/>
                        </a:rPr>
                        <a:t>Materieel</a:t>
                      </a:r>
                    </a:p>
                  </a:txBody>
                  <a:tcPr>
                    <a:lnL w="9525" cap="flat" cmpd="sng" algn="ctr">
                      <a:no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fontAlgn="b"/>
                      <a:r>
                        <a:rPr lang="en-US" sz="900" b="0" i="1" u="none" strike="noStrike">
                          <a:solidFill>
                            <a:srgbClr val="000000"/>
                          </a:solidFill>
                          <a:effectLst/>
                          <a:latin typeface="Verdana Pro" panose="020B0604030504040204" pitchFamily="34" charset="0"/>
                        </a:rPr>
                        <a:t>€ </a:t>
                      </a:r>
                      <a:r>
                        <a:rPr lang="nl-NL" sz="900" b="0" i="1" u="none" strike="noStrike">
                          <a:solidFill>
                            <a:srgbClr val="000000"/>
                          </a:solidFill>
                          <a:effectLst/>
                          <a:latin typeface="Verdana Pro" panose="020B0604030504040204" pitchFamily="34" charset="0"/>
                        </a:rPr>
                        <a:t>XXX</a:t>
                      </a:r>
                      <a:endParaRPr lang="en-NL" sz="900" b="0" i="1" u="none" strike="noStrike">
                        <a:solidFill>
                          <a:srgbClr val="000000"/>
                        </a:solidFill>
                        <a:effectLst/>
                        <a:latin typeface="Verdana Pro" panose="020B0604030504040204" pitchFamily="34" charset="0"/>
                      </a:endParaRPr>
                    </a:p>
                  </a:txBody>
                  <a:tcPr anchor="b">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fontAlgn="b"/>
                      <a:r>
                        <a:rPr lang="en-US" sz="900" b="0" i="1" u="none" strike="noStrike">
                          <a:solidFill>
                            <a:srgbClr val="000000"/>
                          </a:solidFill>
                          <a:effectLst/>
                          <a:latin typeface="Verdana Pro" panose="020B0604030504040204" pitchFamily="34" charset="0"/>
                        </a:rPr>
                        <a:t> € </a:t>
                      </a:r>
                      <a:r>
                        <a:rPr lang="nl-NL" sz="900" b="0" i="1" u="none" strike="noStrike">
                          <a:solidFill>
                            <a:srgbClr val="000000"/>
                          </a:solidFill>
                          <a:effectLst/>
                          <a:latin typeface="Verdana Pro" panose="020B0604030504040204" pitchFamily="34" charset="0"/>
                        </a:rPr>
                        <a:t>XXX</a:t>
                      </a:r>
                      <a:endParaRPr lang="en-NL" sz="900" b="0" i="1" u="none" strike="noStrike">
                        <a:solidFill>
                          <a:srgbClr val="000000"/>
                        </a:solidFill>
                        <a:effectLst/>
                        <a:latin typeface="Verdana Pro" panose="020B0604030504040204" pitchFamily="34" charset="0"/>
                      </a:endParaRPr>
                    </a:p>
                  </a:txBody>
                  <a:tcPr anchor="b">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fontAlgn="b"/>
                      <a:r>
                        <a:rPr lang="en-US" sz="900" b="0" i="1" u="none" strike="noStrike">
                          <a:solidFill>
                            <a:srgbClr val="000000"/>
                          </a:solidFill>
                          <a:effectLst/>
                          <a:latin typeface="Verdana Pro" panose="020B0604030504040204" pitchFamily="34" charset="0"/>
                        </a:rPr>
                        <a:t> € </a:t>
                      </a:r>
                      <a:r>
                        <a:rPr lang="nl-NL" sz="900" b="0" i="1" u="none" strike="noStrike">
                          <a:solidFill>
                            <a:srgbClr val="000000"/>
                          </a:solidFill>
                          <a:effectLst/>
                          <a:latin typeface="Verdana Pro" panose="020B0604030504040204" pitchFamily="34" charset="0"/>
                        </a:rPr>
                        <a:t>XXX</a:t>
                      </a:r>
                      <a:endParaRPr lang="en-NL" sz="900" b="0" i="1" u="none" strike="noStrike">
                        <a:solidFill>
                          <a:srgbClr val="000000"/>
                        </a:solidFill>
                        <a:effectLst/>
                        <a:latin typeface="Verdana Pro" panose="020B0604030504040204" pitchFamily="34" charset="0"/>
                      </a:endParaRPr>
                    </a:p>
                  </a:txBody>
                  <a:tcPr anchor="b">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fontAlgn="b"/>
                      <a:endParaRPr lang="en-NL" sz="900" b="0" i="1" u="none" strike="noStrike">
                        <a:solidFill>
                          <a:srgbClr val="000000"/>
                        </a:solidFill>
                        <a:effectLst/>
                        <a:latin typeface="Verdana Pro" panose="020B0604030504040204" pitchFamily="34" charset="0"/>
                      </a:endParaRPr>
                    </a:p>
                  </a:txBody>
                  <a:tcPr>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a:endParaRPr lang="nl-NL" sz="900">
                        <a:latin typeface="Verdana Pro" panose="020B0604030504040204" pitchFamily="34" charset="0"/>
                      </a:endParaRPr>
                    </a:p>
                  </a:txBody>
                  <a:tcPr>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a:endParaRPr lang="nl-NL" sz="900">
                        <a:latin typeface="Verdana Pro" panose="020B0604030504040204" pitchFamily="34" charset="0"/>
                      </a:endParaRPr>
                    </a:p>
                  </a:txBody>
                  <a:tcPr>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fontAlgn="b"/>
                      <a:r>
                        <a:rPr lang="en-US" sz="900" b="0" i="1" u="none" strike="noStrike">
                          <a:solidFill>
                            <a:srgbClr val="000000"/>
                          </a:solidFill>
                          <a:effectLst/>
                          <a:latin typeface="Verdana Pro" panose="020B0604030504040204" pitchFamily="34" charset="0"/>
                        </a:rPr>
                        <a:t> € </a:t>
                      </a:r>
                      <a:r>
                        <a:rPr lang="nl-NL" sz="900" b="0" i="1" u="none" strike="noStrike">
                          <a:solidFill>
                            <a:srgbClr val="000000"/>
                          </a:solidFill>
                          <a:effectLst/>
                          <a:latin typeface="Verdana Pro" panose="020B0604030504040204" pitchFamily="34" charset="0"/>
                        </a:rPr>
                        <a:t>X.XXX</a:t>
                      </a:r>
                      <a:endParaRPr lang="en-NL" sz="900" b="0" i="1" u="none" strike="noStrike">
                        <a:solidFill>
                          <a:srgbClr val="000000"/>
                        </a:solidFill>
                        <a:effectLst/>
                        <a:latin typeface="Verdana Pro" panose="020B0604030504040204" pitchFamily="34" charset="0"/>
                      </a:endParaRPr>
                    </a:p>
                  </a:txBody>
                  <a:tcPr anchor="b">
                    <a:lnR w="952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886378165"/>
                  </a:ext>
                </a:extLst>
              </a:tr>
              <a:tr h="0">
                <a:tc gridSpan="8">
                  <a:txBody>
                    <a:bodyPr/>
                    <a:lstStyle/>
                    <a:p>
                      <a:endParaRPr lang="nl-NL" sz="100" b="1">
                        <a:latin typeface="Verdana Pro" panose="020B0604030504040204" pitchFamily="34" charset="0"/>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F7F7F7"/>
                    </a:solidFill>
                  </a:tcPr>
                </a:tc>
                <a:tc hMerge="1">
                  <a:txBody>
                    <a:bodyPr/>
                    <a:lstStyle/>
                    <a:p>
                      <a:pPr algn="l"/>
                      <a:endParaRPr lang="nl-NL" sz="1100" b="1"/>
                    </a:p>
                  </a:txBody>
                  <a:tcPr>
                    <a:lnT w="6350" cap="flat" cmpd="sng" algn="ctr">
                      <a:noFill/>
                      <a:prstDash val="solid"/>
                      <a:miter lim="800000"/>
                    </a:lnT>
                    <a:solidFill>
                      <a:srgbClr val="B9D7B3"/>
                    </a:solidFill>
                  </a:tcPr>
                </a:tc>
                <a:tc hMerge="1">
                  <a:txBody>
                    <a:bodyPr/>
                    <a:lstStyle/>
                    <a:p>
                      <a:pPr algn="l"/>
                      <a:endParaRPr lang="nl-NL" sz="1100" b="1"/>
                    </a:p>
                  </a:txBody>
                  <a:tcPr>
                    <a:solidFill>
                      <a:srgbClr val="B9D7B3"/>
                    </a:solidFill>
                  </a:tcPr>
                </a:tc>
                <a:tc hMerge="1">
                  <a:txBody>
                    <a:bodyPr/>
                    <a:lstStyle/>
                    <a:p>
                      <a:pPr algn="l"/>
                      <a:endParaRPr lang="nl-NL" sz="1100" b="1"/>
                    </a:p>
                  </a:txBody>
                  <a:tcPr>
                    <a:solidFill>
                      <a:srgbClr val="B9D7B3"/>
                    </a:solidFill>
                  </a:tcPr>
                </a:tc>
                <a:tc hMerge="1">
                  <a:txBody>
                    <a:bodyPr/>
                    <a:lstStyle/>
                    <a:p>
                      <a:pPr algn="l"/>
                      <a:endParaRPr lang="nl-NL" sz="1100" b="1"/>
                    </a:p>
                  </a:txBody>
                  <a:tcPr>
                    <a:solidFill>
                      <a:srgbClr val="B9D7B3"/>
                    </a:solidFill>
                  </a:tcPr>
                </a:tc>
                <a:tc hMerge="1">
                  <a:txBody>
                    <a:bodyPr/>
                    <a:lstStyle/>
                    <a:p>
                      <a:pPr algn="l"/>
                      <a:endParaRPr lang="nl-NL" sz="1100" b="1"/>
                    </a:p>
                  </a:txBody>
                  <a:tcPr>
                    <a:solidFill>
                      <a:srgbClr val="B9D7B3"/>
                    </a:solidFill>
                  </a:tcPr>
                </a:tc>
                <a:tc hMerge="1">
                  <a:txBody>
                    <a:bodyPr/>
                    <a:lstStyle/>
                    <a:p>
                      <a:pPr algn="l"/>
                      <a:endParaRPr lang="nl-NL" sz="1100" b="1"/>
                    </a:p>
                  </a:txBody>
                  <a:tcPr>
                    <a:solidFill>
                      <a:srgbClr val="B9D7B3"/>
                    </a:solidFill>
                  </a:tcPr>
                </a:tc>
                <a:tc hMerge="1">
                  <a:txBody>
                    <a:bodyPr/>
                    <a:lstStyle/>
                    <a:p>
                      <a:pPr algn="l"/>
                      <a:endParaRPr lang="nl-NL" sz="1100" b="1"/>
                    </a:p>
                  </a:txBody>
                  <a:tcPr>
                    <a:solidFill>
                      <a:srgbClr val="B9D7B3"/>
                    </a:solidFill>
                  </a:tcPr>
                </a:tc>
                <a:extLst>
                  <a:ext uri="{0D108BD9-81ED-4DB2-BD59-A6C34878D82A}">
                    <a16:rowId xmlns:a16="http://schemas.microsoft.com/office/drawing/2014/main" val="28294608"/>
                  </a:ext>
                </a:extLst>
              </a:tr>
              <a:tr h="216000">
                <a:tc>
                  <a:txBody>
                    <a:bodyPr/>
                    <a:lstStyle/>
                    <a:p>
                      <a:pPr algn="l" fontAlgn="b"/>
                      <a:r>
                        <a:rPr lang="nl-NL" sz="1000" b="1" i="0" u="none" strike="noStrike">
                          <a:solidFill>
                            <a:srgbClr val="000000"/>
                          </a:solidFill>
                          <a:effectLst/>
                          <a:latin typeface="Verdana Pro" panose="020B0604030504040204" pitchFamily="34" charset="0"/>
                        </a:rPr>
                        <a:t>Directe structurele kosten</a:t>
                      </a:r>
                    </a:p>
                  </a:txBody>
                  <a:tcPr anchor="b">
                    <a:lnL w="9525" cap="flat" cmpd="sng" algn="ctr">
                      <a:noFill/>
                      <a:prstDash val="solid"/>
                      <a:round/>
                      <a:headEnd type="none" w="med" len="med"/>
                      <a:tailEnd type="none" w="med" len="med"/>
                    </a:lnL>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r>
                        <a:rPr lang="nl-NL" sz="1000" b="1" i="0" u="none" strike="noStrike" kern="1200">
                          <a:solidFill>
                            <a:srgbClr val="000000"/>
                          </a:solidFill>
                          <a:effectLst/>
                          <a:latin typeface="Verdana Pro" panose="020B0604030504040204" pitchFamily="34" charset="0"/>
                          <a:ea typeface="+mn-ea"/>
                          <a:cs typeface="+mn-cs"/>
                        </a:rPr>
                        <a:t>€ XXX </a:t>
                      </a:r>
                    </a:p>
                  </a:txBody>
                  <a:tcPr anchor="b">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r>
                        <a:rPr lang="nl-NL" sz="1000" b="1" i="0" u="none" strike="noStrike" kern="1200">
                          <a:solidFill>
                            <a:srgbClr val="000000"/>
                          </a:solidFill>
                          <a:effectLst/>
                          <a:latin typeface="Verdana Pro" panose="020B0604030504040204" pitchFamily="34" charset="0"/>
                          <a:ea typeface="+mn-ea"/>
                          <a:cs typeface="+mn-cs"/>
                        </a:rPr>
                        <a:t>€ XXX </a:t>
                      </a:r>
                    </a:p>
                  </a:txBody>
                  <a:tcPr anchor="b">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r>
                        <a:rPr lang="nl-NL" sz="1000" b="1" i="0" u="none" strike="noStrike" kern="1200">
                          <a:solidFill>
                            <a:srgbClr val="000000"/>
                          </a:solidFill>
                          <a:effectLst/>
                          <a:latin typeface="Verdana Pro" panose="020B0604030504040204" pitchFamily="34" charset="0"/>
                          <a:ea typeface="+mn-ea"/>
                          <a:cs typeface="+mn-cs"/>
                        </a:rPr>
                        <a:t>€ XXX </a:t>
                      </a:r>
                    </a:p>
                  </a:txBody>
                  <a:tcPr anchor="b">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r>
                        <a:rPr lang="nl-NL" sz="1000" b="1" i="0" u="none" strike="noStrike" kern="1200">
                          <a:solidFill>
                            <a:srgbClr val="000000"/>
                          </a:solidFill>
                          <a:effectLst/>
                          <a:latin typeface="Verdana Pro" panose="020B0604030504040204" pitchFamily="34" charset="0"/>
                          <a:ea typeface="+mn-ea"/>
                          <a:cs typeface="+mn-cs"/>
                        </a:rPr>
                        <a:t>€ XXX </a:t>
                      </a:r>
                    </a:p>
                  </a:txBody>
                  <a:tcPr anchor="b">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r>
                        <a:rPr lang="nl-NL" sz="1000" b="1" i="0" u="none" strike="noStrike" kern="1200">
                          <a:solidFill>
                            <a:srgbClr val="000000"/>
                          </a:solidFill>
                          <a:effectLst/>
                          <a:latin typeface="Verdana Pro" panose="020B0604030504040204" pitchFamily="34" charset="0"/>
                          <a:ea typeface="+mn-ea"/>
                          <a:cs typeface="+mn-cs"/>
                        </a:rPr>
                        <a:t>€ XXX</a:t>
                      </a:r>
                    </a:p>
                  </a:txBody>
                  <a:tcPr anchor="b">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r>
                        <a:rPr lang="nl-NL" sz="1000" b="1" i="0" u="none" strike="noStrike" kern="1200">
                          <a:solidFill>
                            <a:srgbClr val="000000"/>
                          </a:solidFill>
                          <a:effectLst/>
                          <a:latin typeface="Verdana Pro" panose="020B0604030504040204" pitchFamily="34" charset="0"/>
                          <a:ea typeface="+mn-ea"/>
                          <a:cs typeface="+mn-cs"/>
                        </a:rPr>
                        <a:t>€ XXX </a:t>
                      </a:r>
                    </a:p>
                  </a:txBody>
                  <a:tcPr anchor="b">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marL="0" algn="r" defTabSz="914400" rtl="0" eaLnBrk="1" fontAlgn="b" latinLnBrk="0" hangingPunct="1"/>
                      <a:endParaRPr lang="nl-NL" sz="1000" b="1" i="0" u="none" strike="noStrike" kern="1200">
                        <a:solidFill>
                          <a:srgbClr val="000000"/>
                        </a:solidFill>
                        <a:effectLst/>
                        <a:latin typeface="Verdana Pro" panose="020B0604030504040204" pitchFamily="34" charset="0"/>
                        <a:ea typeface="+mn-ea"/>
                        <a:cs typeface="+mn-cs"/>
                      </a:endParaRPr>
                    </a:p>
                  </a:txBody>
                  <a:tcPr anchor="b">
                    <a:lnR w="952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88655899"/>
                  </a:ext>
                </a:extLst>
              </a:tr>
              <a:tr h="0">
                <a:tc>
                  <a:txBody>
                    <a:bodyPr/>
                    <a:lstStyle/>
                    <a:p>
                      <a:pPr algn="l" fontAlgn="b"/>
                      <a:r>
                        <a:rPr lang="nl-NL" sz="1000" b="0" i="1" u="none" strike="noStrike">
                          <a:solidFill>
                            <a:srgbClr val="000000"/>
                          </a:solidFill>
                          <a:effectLst/>
                          <a:latin typeface="Verdana Pro" panose="020B0604030504040204" pitchFamily="34" charset="0"/>
                        </a:rPr>
                        <a:t>Personeel </a:t>
                      </a:r>
                      <a:r>
                        <a:rPr lang="nl-NL" sz="1000" b="0" i="1" u="none" strike="noStrike" baseline="30000">
                          <a:solidFill>
                            <a:srgbClr val="000000"/>
                          </a:solidFill>
                          <a:effectLst/>
                          <a:latin typeface="Verdana Pro" panose="020B0604030504040204" pitchFamily="34" charset="0"/>
                        </a:rPr>
                        <a:t>2</a:t>
                      </a:r>
                    </a:p>
                  </a:txBody>
                  <a:tcPr anchor="b">
                    <a:lnL w="9525" cap="flat" cmpd="sng" algn="ctr">
                      <a:no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a:t>
                      </a:r>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a:t>
                      </a:r>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a:t>
                      </a:r>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tc>
                  <a:txBody>
                    <a:bodyPr/>
                    <a:lstStyle/>
                    <a:p>
                      <a:pPr algn="r" fontAlgn="b"/>
                      <a:endParaRPr lang="nl-NL" sz="900" b="0" i="1" u="none" strike="noStrike" kern="1200">
                        <a:solidFill>
                          <a:srgbClr val="000000"/>
                        </a:solidFill>
                        <a:effectLst/>
                        <a:latin typeface="Verdana Pro" panose="020B0604030504040204" pitchFamily="34" charset="0"/>
                        <a:ea typeface="+mn-ea"/>
                        <a:cs typeface="+mn-cs"/>
                      </a:endParaRPr>
                    </a:p>
                  </a:txBody>
                  <a:tcPr anchor="b">
                    <a:lnR w="952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3217557"/>
                  </a:ext>
                </a:extLst>
              </a:tr>
              <a:tr h="0">
                <a:tc>
                  <a:txBody>
                    <a:bodyPr/>
                    <a:lstStyle/>
                    <a:p>
                      <a:pPr algn="l" fontAlgn="b"/>
                      <a:r>
                        <a:rPr lang="nl-NL" sz="1000" b="0" i="1" u="none" strike="noStrike">
                          <a:solidFill>
                            <a:srgbClr val="000000"/>
                          </a:solidFill>
                          <a:effectLst/>
                          <a:latin typeface="Verdana Pro" panose="020B0604030504040204" pitchFamily="34" charset="0"/>
                        </a:rPr>
                        <a:t>Materieel </a:t>
                      </a:r>
                      <a:r>
                        <a:rPr lang="nl-NL" sz="1000" b="0" i="1" u="none" strike="noStrike" baseline="30000">
                          <a:solidFill>
                            <a:srgbClr val="000000"/>
                          </a:solidFill>
                          <a:effectLst/>
                          <a:latin typeface="Verdana Pro" panose="020B0604030504040204" pitchFamily="34" charset="0"/>
                        </a:rPr>
                        <a:t>3</a:t>
                      </a:r>
                    </a:p>
                  </a:txBody>
                  <a:tcPr anchor="b">
                    <a:lnL w="9525" cap="flat" cmpd="sng" algn="ctr">
                      <a:no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900" b="0" i="1" u="none" strike="noStrike">
                          <a:solidFill>
                            <a:srgbClr val="000000"/>
                          </a:solidFill>
                          <a:effectLst/>
                          <a:latin typeface="Verdana Pro" panose="020B0604030504040204" pitchFamily="34" charset="0"/>
                        </a:rPr>
                        <a:t> € </a:t>
                      </a:r>
                      <a:r>
                        <a:rPr lang="nl-NL" sz="900" b="0" i="1" u="none" strike="noStrike">
                          <a:solidFill>
                            <a:srgbClr val="000000"/>
                          </a:solidFill>
                          <a:effectLst/>
                          <a:latin typeface="Verdana Pro" panose="020B0604030504040204" pitchFamily="34" charset="0"/>
                        </a:rPr>
                        <a:t>XXX</a:t>
                      </a:r>
                      <a:endParaRPr lang="en-NL" sz="900" b="0" i="1" u="none" strike="noStrike">
                        <a:solidFill>
                          <a:srgbClr val="000000"/>
                        </a:solidFill>
                        <a:effectLst/>
                        <a:latin typeface="Verdana Pro" panose="020B0604030504040204" pitchFamily="34" charset="0"/>
                      </a:endParaRPr>
                    </a:p>
                  </a:txBody>
                  <a:tcPr anchor="b">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a:t>
                      </a:r>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a:t>
                      </a:r>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NL" sz="900" b="0" i="1" u="none" strike="noStrike">
                          <a:solidFill>
                            <a:srgbClr val="000000"/>
                          </a:solidFill>
                          <a:effectLst/>
                          <a:latin typeface="Verdana Pro" panose="020B0604030504040204" pitchFamily="34" charset="0"/>
                        </a:rPr>
                        <a:t>€</a:t>
                      </a:r>
                      <a:r>
                        <a:rPr lang="en-US" sz="900" b="0" i="1" u="none" strike="noStrike">
                          <a:solidFill>
                            <a:srgbClr val="000000"/>
                          </a:solidFill>
                          <a:effectLst/>
                          <a:latin typeface="Verdana Pro" panose="020B0604030504040204" pitchFamily="34" charset="0"/>
                        </a:rPr>
                        <a:t> </a:t>
                      </a:r>
                      <a:r>
                        <a:rPr lang="en-NL" sz="900" b="0" i="1" u="none" strike="noStrike">
                          <a:solidFill>
                            <a:srgbClr val="000000"/>
                          </a:solidFill>
                          <a:effectLst/>
                          <a:latin typeface="Verdana Pro" panose="020B0604030504040204" pitchFamily="34" charset="0"/>
                        </a:rPr>
                        <a:t> </a:t>
                      </a:r>
                      <a:r>
                        <a:rPr lang="en-US" sz="900" b="0" i="1" u="none" strike="noStrike">
                          <a:solidFill>
                            <a:srgbClr val="000000"/>
                          </a:solidFill>
                          <a:effectLst/>
                          <a:latin typeface="Verdana Pro" panose="020B0604030504040204" pitchFamily="34" charset="0"/>
                        </a:rPr>
                        <a:t>XXX</a:t>
                      </a:r>
                      <a:r>
                        <a:rPr lang="en-NL" sz="900" b="0" i="1" u="none" strike="noStrike">
                          <a:solidFill>
                            <a:srgbClr val="000000"/>
                          </a:solidFill>
                          <a:effectLst/>
                          <a:latin typeface="Verdana Pro" panose="020B0604030504040204" pitchFamily="34" charset="0"/>
                        </a:rPr>
                        <a:t>   </a:t>
                      </a:r>
                    </a:p>
                  </a:txBody>
                  <a:tcPr anchor="b">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endParaRPr lang="nl-NL" sz="900" b="0" i="1" u="none" strike="noStrike">
                        <a:solidFill>
                          <a:srgbClr val="000000"/>
                        </a:solidFill>
                        <a:effectLst/>
                        <a:latin typeface="Verdana Pro" panose="020B0604030504040204" pitchFamily="34" charset="0"/>
                      </a:endParaRPr>
                    </a:p>
                  </a:txBody>
                  <a:tcPr anchor="b">
                    <a:lnR w="9525" cap="flat" cmpd="sng" algn="ctr">
                      <a:no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1345092"/>
                  </a:ext>
                </a:extLst>
              </a:tr>
              <a:tr h="313964">
                <a:tc>
                  <a:txBody>
                    <a:bodyPr/>
                    <a:lstStyle/>
                    <a:p>
                      <a:r>
                        <a:rPr lang="nl-NL" sz="1000" b="1">
                          <a:solidFill>
                            <a:schemeClr val="tx1">
                              <a:lumMod val="50000"/>
                              <a:lumOff val="50000"/>
                            </a:schemeClr>
                          </a:solidFill>
                          <a:latin typeface="Verdana Pro" panose="020B0604030504040204" pitchFamily="34" charset="0"/>
                        </a:rPr>
                        <a:t>Totaal</a:t>
                      </a:r>
                    </a:p>
                  </a:txBody>
                  <a:tcPr>
                    <a:lnL w="9525"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tc>
                  <a:txBody>
                    <a:bodyPr/>
                    <a:lstStyle/>
                    <a:p>
                      <a:pPr algn="r"/>
                      <a:r>
                        <a:rPr lang="nl-NL" sz="1000" b="1" i="0">
                          <a:solidFill>
                            <a:schemeClr val="tx1">
                              <a:lumMod val="50000"/>
                              <a:lumOff val="50000"/>
                            </a:schemeClr>
                          </a:solidFill>
                          <a:latin typeface="Verdana Pro" panose="020B0604030504040204" pitchFamily="34" charset="0"/>
                        </a:rPr>
                        <a:t>€ XXX</a:t>
                      </a:r>
                    </a:p>
                  </a:txBody>
                  <a:tcPr>
                    <a:lnR w="3175" cap="flat" cmpd="sng" algn="ctr">
                      <a:solidFill>
                        <a:srgbClr val="0E9D9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tc>
                  <a:txBody>
                    <a:bodyPr/>
                    <a:lstStyle/>
                    <a:p>
                      <a:pPr algn="r"/>
                      <a:r>
                        <a:rPr lang="nl-NL" sz="1000" b="1" i="0">
                          <a:solidFill>
                            <a:schemeClr val="tx1">
                              <a:lumMod val="50000"/>
                              <a:lumOff val="50000"/>
                            </a:schemeClr>
                          </a:solidFill>
                          <a:latin typeface="Verdana Pro" panose="020B0604030504040204" pitchFamily="34" charset="0"/>
                        </a:rPr>
                        <a:t>€ XXX</a:t>
                      </a: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tc>
                  <a:txBody>
                    <a:bodyPr/>
                    <a:lstStyle/>
                    <a:p>
                      <a:pPr algn="r"/>
                      <a:r>
                        <a:rPr lang="nl-NL" sz="1000" b="1" i="0">
                          <a:solidFill>
                            <a:schemeClr val="tx1">
                              <a:lumMod val="50000"/>
                              <a:lumOff val="50000"/>
                            </a:schemeClr>
                          </a:solidFill>
                          <a:latin typeface="Verdana Pro" panose="020B0604030504040204" pitchFamily="34" charset="0"/>
                        </a:rPr>
                        <a:t>€ XXX</a:t>
                      </a: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tc>
                  <a:txBody>
                    <a:bodyPr/>
                    <a:lstStyle/>
                    <a:p>
                      <a:pPr algn="r"/>
                      <a:r>
                        <a:rPr lang="nl-NL" sz="1000" b="1" i="0">
                          <a:solidFill>
                            <a:schemeClr val="tx1">
                              <a:lumMod val="50000"/>
                              <a:lumOff val="50000"/>
                            </a:schemeClr>
                          </a:solidFill>
                          <a:latin typeface="Verdana Pro" panose="020B0604030504040204" pitchFamily="34" charset="0"/>
                        </a:rPr>
                        <a:t>€ XXX</a:t>
                      </a: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tc>
                  <a:txBody>
                    <a:bodyPr/>
                    <a:lstStyle/>
                    <a:p>
                      <a:pPr algn="r"/>
                      <a:r>
                        <a:rPr lang="nl-NL" sz="1000" b="1" i="0">
                          <a:solidFill>
                            <a:schemeClr val="tx1">
                              <a:lumMod val="50000"/>
                              <a:lumOff val="50000"/>
                            </a:schemeClr>
                          </a:solidFill>
                          <a:latin typeface="Verdana Pro" panose="020B0604030504040204" pitchFamily="34" charset="0"/>
                        </a:rPr>
                        <a:t>€ XXX</a:t>
                      </a: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tc>
                  <a:txBody>
                    <a:bodyPr/>
                    <a:lstStyle/>
                    <a:p>
                      <a:pPr algn="r"/>
                      <a:r>
                        <a:rPr lang="nl-NL" sz="1000" b="1" i="0">
                          <a:solidFill>
                            <a:schemeClr val="tx1">
                              <a:lumMod val="50000"/>
                              <a:lumOff val="50000"/>
                            </a:schemeClr>
                          </a:solidFill>
                          <a:latin typeface="Verdana Pro" panose="020B0604030504040204" pitchFamily="34" charset="0"/>
                        </a:rPr>
                        <a:t>€ XXX</a:t>
                      </a:r>
                    </a:p>
                  </a:txBody>
                  <a:tcPr>
                    <a:lnL w="3175" cap="flat" cmpd="sng" algn="ctr">
                      <a:solidFill>
                        <a:srgbClr val="0E9D90"/>
                      </a:solidFill>
                      <a:prstDash val="solid"/>
                      <a:round/>
                      <a:headEnd type="none" w="med" len="med"/>
                      <a:tailEnd type="none" w="med" len="med"/>
                    </a:lnL>
                    <a:lnR w="3175" cap="flat" cmpd="sng" algn="ctr">
                      <a:solidFill>
                        <a:srgbClr val="0E9D9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tc>
                  <a:txBody>
                    <a:bodyPr/>
                    <a:lstStyle/>
                    <a:p>
                      <a:pPr algn="r"/>
                      <a:endParaRPr lang="nl-NL" sz="1000">
                        <a:solidFill>
                          <a:schemeClr val="bg1"/>
                        </a:solidFill>
                        <a:latin typeface="Verdana Pro" panose="020B0604030504040204" pitchFamily="34" charset="0"/>
                      </a:endParaRPr>
                    </a:p>
                  </a:txBody>
                  <a:tcPr>
                    <a:lnL w="3175" cap="flat" cmpd="sng" algn="ctr">
                      <a:solidFill>
                        <a:srgbClr val="0E9D90"/>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rgbClr val="DFECD0"/>
                    </a:solidFill>
                  </a:tcPr>
                </a:tc>
                <a:extLst>
                  <a:ext uri="{0D108BD9-81ED-4DB2-BD59-A6C34878D82A}">
                    <a16:rowId xmlns:a16="http://schemas.microsoft.com/office/drawing/2014/main" val="2209004691"/>
                  </a:ext>
                </a:extLst>
              </a:tr>
            </a:tbl>
          </a:graphicData>
        </a:graphic>
      </p:graphicFrame>
      <p:sp>
        <p:nvSpPr>
          <p:cNvPr id="4" name="Rectangle: Top Corners Rounded 38">
            <a:hlinkClick r:id="rId2" action="ppaction://hlinksldjump"/>
            <a:extLst>
              <a:ext uri="{FF2B5EF4-FFF2-40B4-BE49-F238E27FC236}">
                <a16:creationId xmlns:a16="http://schemas.microsoft.com/office/drawing/2014/main" id="{921924B6-344F-3AAA-6C3F-5207BB0FA9C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7" name="Graphic 6" descr="Introductiepagina silhouet">
            <a:hlinkClick r:id="rId3" action="ppaction://hlinksldjump"/>
            <a:extLst>
              <a:ext uri="{FF2B5EF4-FFF2-40B4-BE49-F238E27FC236}">
                <a16:creationId xmlns:a16="http://schemas.microsoft.com/office/drawing/2014/main" id="{76AACE73-FE47-BE33-F8C0-69053B5F1A8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36" y="147223"/>
            <a:ext cx="144000" cy="144000"/>
          </a:xfrm>
          <a:prstGeom prst="rect">
            <a:avLst/>
          </a:prstGeom>
        </p:spPr>
      </p:pic>
      <p:sp>
        <p:nvSpPr>
          <p:cNvPr id="8" name="Rectangle: Top Corners Rounded 1">
            <a:hlinkClick r:id="rId6" action="ppaction://hlinksldjump"/>
            <a:extLst>
              <a:ext uri="{FF2B5EF4-FFF2-40B4-BE49-F238E27FC236}">
                <a16:creationId xmlns:a16="http://schemas.microsoft.com/office/drawing/2014/main" id="{B9D39064-538D-B695-66E4-6D246A8CE5A3}"/>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7" action="ppaction://hlinksldjump"/>
            <a:extLst>
              <a:ext uri="{FF2B5EF4-FFF2-40B4-BE49-F238E27FC236}">
                <a16:creationId xmlns:a16="http://schemas.microsoft.com/office/drawing/2014/main" id="{6FB70839-E199-C25D-F190-0BDF600DCC18}"/>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8" action="ppaction://hlinksldjump"/>
            <a:extLst>
              <a:ext uri="{FF2B5EF4-FFF2-40B4-BE49-F238E27FC236}">
                <a16:creationId xmlns:a16="http://schemas.microsoft.com/office/drawing/2014/main" id="{594B7591-3B17-67A5-CBDD-73D652AB1E5C}"/>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9" action="ppaction://hlinksldjump"/>
            <a:extLst>
              <a:ext uri="{FF2B5EF4-FFF2-40B4-BE49-F238E27FC236}">
                <a16:creationId xmlns:a16="http://schemas.microsoft.com/office/drawing/2014/main" id="{33668C5F-20B1-CE11-EB7F-FE860199AFE8}"/>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2" name="Rectangle: Top Corners Rounded 1">
            <a:hlinkClick r:id="rId10" action="ppaction://hlinksldjump"/>
            <a:extLst>
              <a:ext uri="{FF2B5EF4-FFF2-40B4-BE49-F238E27FC236}">
                <a16:creationId xmlns:a16="http://schemas.microsoft.com/office/drawing/2014/main" id="{BC3B92BB-CA2E-CC77-1DFF-B55F6281A083}"/>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1" action="ppaction://hlinksldjump"/>
            <a:extLst>
              <a:ext uri="{FF2B5EF4-FFF2-40B4-BE49-F238E27FC236}">
                <a16:creationId xmlns:a16="http://schemas.microsoft.com/office/drawing/2014/main" id="{652AA587-AB22-F2B4-2DA7-6477D2781809}"/>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2" action="ppaction://hlinksldjump"/>
            <a:extLst>
              <a:ext uri="{FF2B5EF4-FFF2-40B4-BE49-F238E27FC236}">
                <a16:creationId xmlns:a16="http://schemas.microsoft.com/office/drawing/2014/main" id="{25A24E1E-3FFF-402A-C7B3-1CCE8FF36313}"/>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3" action="ppaction://hlinksldjump"/>
            <a:extLst>
              <a:ext uri="{FF2B5EF4-FFF2-40B4-BE49-F238E27FC236}">
                <a16:creationId xmlns:a16="http://schemas.microsoft.com/office/drawing/2014/main" id="{84EE8FF9-1587-8224-29DB-36BAEB7D40A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4" action="ppaction://hlinksldjump"/>
            <a:extLst>
              <a:ext uri="{FF2B5EF4-FFF2-40B4-BE49-F238E27FC236}">
                <a16:creationId xmlns:a16="http://schemas.microsoft.com/office/drawing/2014/main" id="{EA26CD3A-C846-6DFD-6C7A-132F631DA971}"/>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5" action="ppaction://hlinksldjump"/>
            <a:extLst>
              <a:ext uri="{FF2B5EF4-FFF2-40B4-BE49-F238E27FC236}">
                <a16:creationId xmlns:a16="http://schemas.microsoft.com/office/drawing/2014/main" id="{C3C81826-FC57-FB66-B9DA-B70C48CA77E9}"/>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6" action="ppaction://hlinksldjump"/>
            <a:extLst>
              <a:ext uri="{FF2B5EF4-FFF2-40B4-BE49-F238E27FC236}">
                <a16:creationId xmlns:a16="http://schemas.microsoft.com/office/drawing/2014/main" id="{E103110B-E51E-621B-6662-0C84A86442A3}"/>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19" name="Rechthoek: afgeronde hoeken 18">
            <a:extLst>
              <a:ext uri="{FF2B5EF4-FFF2-40B4-BE49-F238E27FC236}">
                <a16:creationId xmlns:a16="http://schemas.microsoft.com/office/drawing/2014/main" id="{7F03B0B0-1A65-8418-C89A-855B4B76B3C4}"/>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827243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3A982-E896-F374-1A10-8F274BBE2C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33EDE5-CC6F-931D-4C59-4E67551B714B}"/>
              </a:ext>
            </a:extLst>
          </p:cNvPr>
          <p:cNvSpPr>
            <a:spLocks noGrp="1"/>
          </p:cNvSpPr>
          <p:nvPr>
            <p:ph type="title"/>
          </p:nvPr>
        </p:nvSpPr>
        <p:spPr/>
        <p:txBody>
          <a:bodyPr/>
          <a:lstStyle/>
          <a:p>
            <a:r>
              <a:rPr lang="nl-NL"/>
              <a:t>Impact transformatieplan in relatie tot benodigde investering</a:t>
            </a:r>
          </a:p>
        </p:txBody>
      </p:sp>
      <p:graphicFrame>
        <p:nvGraphicFramePr>
          <p:cNvPr id="4" name="Chart 3">
            <a:extLst>
              <a:ext uri="{FF2B5EF4-FFF2-40B4-BE49-F238E27FC236}">
                <a16:creationId xmlns:a16="http://schemas.microsoft.com/office/drawing/2014/main" id="{E6281E68-6F08-E5E3-0CDA-B4308E77C066}"/>
              </a:ext>
            </a:extLst>
          </p:cNvPr>
          <p:cNvGraphicFramePr/>
          <p:nvPr>
            <p:extLst>
              <p:ext uri="{D42A27DB-BD31-4B8C-83A1-F6EECF244321}">
                <p14:modId xmlns:p14="http://schemas.microsoft.com/office/powerpoint/2010/main" val="58413101"/>
              </p:ext>
            </p:extLst>
          </p:nvPr>
        </p:nvGraphicFramePr>
        <p:xfrm>
          <a:off x="556401" y="2912583"/>
          <a:ext cx="11069656" cy="2916999"/>
        </p:xfrm>
        <a:graphic>
          <a:graphicData uri="http://schemas.openxmlformats.org/drawingml/2006/chart">
            <c:chart xmlns:c="http://schemas.openxmlformats.org/drawingml/2006/chart" xmlns:r="http://schemas.openxmlformats.org/officeDocument/2006/relationships" r:id="rId9"/>
          </a:graphicData>
        </a:graphic>
      </p:graphicFrame>
      <p:sp>
        <p:nvSpPr>
          <p:cNvPr id="8" name="Rectangle 7">
            <a:extLst>
              <a:ext uri="{FF2B5EF4-FFF2-40B4-BE49-F238E27FC236}">
                <a16:creationId xmlns:a16="http://schemas.microsoft.com/office/drawing/2014/main" id="{86CFF582-61D8-24EA-8669-421A72AE3822}"/>
              </a:ext>
            </a:extLst>
          </p:cNvPr>
          <p:cNvSpPr/>
          <p:nvPr/>
        </p:nvSpPr>
        <p:spPr>
          <a:xfrm>
            <a:off x="1" y="5801196"/>
            <a:ext cx="12192000" cy="587000"/>
          </a:xfrm>
          <a:prstGeom prst="rect">
            <a:avLst/>
          </a:prstGeom>
          <a:solidFill>
            <a:schemeClr val="bg1">
              <a:lumMod val="95000"/>
            </a:schemeClr>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10" name="Text Placeholder 2">
            <a:extLst>
              <a:ext uri="{FF2B5EF4-FFF2-40B4-BE49-F238E27FC236}">
                <a16:creationId xmlns:a16="http://schemas.microsoft.com/office/drawing/2014/main" id="{4DE7AFBD-83DC-F1FC-8948-F0B47AF58EFB}"/>
              </a:ext>
            </a:extLst>
          </p:cNvPr>
          <p:cNvSpPr>
            <a:spLocks noGrp="1"/>
          </p:cNvSpPr>
          <p:nvPr/>
        </p:nvSpPr>
        <p:spPr bwMode="auto">
          <a:xfrm>
            <a:off x="266531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C8E2B20-4BB4-46F8-8B36-C9B36D3541CE}" type="datetime'''''''''''20''''''''''''''''''''2''''''''''''5'''">
              <a:rPr lang="nl-NL" altLang="en-US" b="1" smtClean="0"/>
              <a:pPr marL="0" lvl="0" indent="0" algn="ctr">
                <a:spcBef>
                  <a:spcPct val="0"/>
                </a:spcBef>
                <a:spcAft>
                  <a:spcPct val="0"/>
                </a:spcAft>
                <a:buNone/>
              </a:pPr>
              <a:t>2025</a:t>
            </a:fld>
            <a:endParaRPr lang="nl-NL" b="1" noProof="0"/>
          </a:p>
        </p:txBody>
      </p:sp>
      <p:sp>
        <p:nvSpPr>
          <p:cNvPr id="11" name="Text Placeholder 2">
            <a:extLst>
              <a:ext uri="{FF2B5EF4-FFF2-40B4-BE49-F238E27FC236}">
                <a16:creationId xmlns:a16="http://schemas.microsoft.com/office/drawing/2014/main" id="{DD550743-E255-E362-9502-899E1F5FE117}"/>
              </a:ext>
            </a:extLst>
          </p:cNvPr>
          <p:cNvSpPr>
            <a:spLocks noGrp="1"/>
          </p:cNvSpPr>
          <p:nvPr/>
        </p:nvSpPr>
        <p:spPr bwMode="auto">
          <a:xfrm>
            <a:off x="381730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3A0A097C-C873-4137-B6E2-B291F9DE21D9}" type="datetime'''''''2''''''''''0''''''''''''''''2''''''''''''''''''6'''''">
              <a:rPr lang="nl-NL" altLang="en-US" b="1" smtClean="0"/>
              <a:pPr marL="0" lvl="0" indent="0" algn="ctr">
                <a:spcBef>
                  <a:spcPct val="0"/>
                </a:spcBef>
                <a:spcAft>
                  <a:spcPct val="0"/>
                </a:spcAft>
                <a:buNone/>
              </a:pPr>
              <a:t>2026</a:t>
            </a:fld>
            <a:endParaRPr lang="nl-NL" b="1" noProof="0"/>
          </a:p>
        </p:txBody>
      </p:sp>
      <p:sp>
        <p:nvSpPr>
          <p:cNvPr id="12" name="Text Placeholder 2">
            <a:extLst>
              <a:ext uri="{FF2B5EF4-FFF2-40B4-BE49-F238E27FC236}">
                <a16:creationId xmlns:a16="http://schemas.microsoft.com/office/drawing/2014/main" id="{A65B9F53-B213-F8CE-3519-6893C1F6E5E5}"/>
              </a:ext>
            </a:extLst>
          </p:cNvPr>
          <p:cNvSpPr>
            <a:spLocks noGrp="1"/>
          </p:cNvSpPr>
          <p:nvPr/>
        </p:nvSpPr>
        <p:spPr bwMode="auto">
          <a:xfrm>
            <a:off x="496929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F1F120A-03DA-4BA7-B113-6903B9C45A1F}" type="datetime'2''''0''''''''''''2''''''''''''''7'''">
              <a:rPr lang="nl-NL" altLang="en-US" b="1" smtClean="0"/>
              <a:pPr marL="0" lvl="0" indent="0" algn="ctr">
                <a:spcBef>
                  <a:spcPct val="0"/>
                </a:spcBef>
                <a:spcAft>
                  <a:spcPct val="0"/>
                </a:spcAft>
                <a:buNone/>
              </a:pPr>
              <a:t>2027</a:t>
            </a:fld>
            <a:endParaRPr lang="nl-NL" b="1" noProof="0"/>
          </a:p>
        </p:txBody>
      </p:sp>
      <p:sp>
        <p:nvSpPr>
          <p:cNvPr id="13" name="Text Placeholder 2">
            <a:extLst>
              <a:ext uri="{FF2B5EF4-FFF2-40B4-BE49-F238E27FC236}">
                <a16:creationId xmlns:a16="http://schemas.microsoft.com/office/drawing/2014/main" id="{36162A88-E10A-1423-DDA8-81654C0863E5}"/>
              </a:ext>
            </a:extLst>
          </p:cNvPr>
          <p:cNvSpPr>
            <a:spLocks noGrp="1"/>
          </p:cNvSpPr>
          <p:nvPr/>
        </p:nvSpPr>
        <p:spPr bwMode="auto">
          <a:xfrm>
            <a:off x="612128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0998874F-4846-4714-A1A6-20EDBEB37DB8}" type="datetime'''''''''''''''2''''''''''''''0''''''''''2''''''''8'''''''">
              <a:rPr lang="nl-NL" altLang="en-US" b="1" smtClean="0"/>
              <a:pPr marL="0" lvl="0" indent="0" algn="ctr">
                <a:spcBef>
                  <a:spcPct val="0"/>
                </a:spcBef>
                <a:spcAft>
                  <a:spcPct val="0"/>
                </a:spcAft>
                <a:buNone/>
              </a:pPr>
              <a:t>2028</a:t>
            </a:fld>
            <a:endParaRPr lang="nl-NL" b="1" noProof="0"/>
          </a:p>
        </p:txBody>
      </p:sp>
      <p:sp>
        <p:nvSpPr>
          <p:cNvPr id="14" name="Text Placeholder 2">
            <a:extLst>
              <a:ext uri="{FF2B5EF4-FFF2-40B4-BE49-F238E27FC236}">
                <a16:creationId xmlns:a16="http://schemas.microsoft.com/office/drawing/2014/main" id="{EE700E6C-CD09-DDC5-FA7D-11566C546A64}"/>
              </a:ext>
            </a:extLst>
          </p:cNvPr>
          <p:cNvSpPr>
            <a:spLocks noGrp="1"/>
          </p:cNvSpPr>
          <p:nvPr/>
        </p:nvSpPr>
        <p:spPr bwMode="auto">
          <a:xfrm>
            <a:off x="727327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F5D83CE2-D2A7-4CC8-8ED2-2E5520D13FCE}" type="datetime'2''''''''''0''''2''''''9'''''''''''''''''''''''''''''''''">
              <a:rPr lang="nl-NL" altLang="en-US" b="1" smtClean="0"/>
              <a:pPr marL="0" lvl="0" indent="0" algn="ctr">
                <a:spcBef>
                  <a:spcPct val="0"/>
                </a:spcBef>
                <a:spcAft>
                  <a:spcPct val="0"/>
                </a:spcAft>
                <a:buNone/>
              </a:pPr>
              <a:t>2029</a:t>
            </a:fld>
            <a:endParaRPr lang="nl-NL" b="1" noProof="0"/>
          </a:p>
        </p:txBody>
      </p:sp>
      <p:sp>
        <p:nvSpPr>
          <p:cNvPr id="15" name="Text Placeholder 2">
            <a:extLst>
              <a:ext uri="{FF2B5EF4-FFF2-40B4-BE49-F238E27FC236}">
                <a16:creationId xmlns:a16="http://schemas.microsoft.com/office/drawing/2014/main" id="{7B2E7A47-9DE9-6DA7-5A8A-A5D0BDDB58AF}"/>
              </a:ext>
            </a:extLst>
          </p:cNvPr>
          <p:cNvSpPr>
            <a:spLocks noGrp="1"/>
          </p:cNvSpPr>
          <p:nvPr/>
        </p:nvSpPr>
        <p:spPr bwMode="auto">
          <a:xfrm>
            <a:off x="842526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ACD603E9-135A-4B09-B7DB-5335747CA94C}" type="datetime'''''''''''2''''''''''''''''''0''''''''''''''''''''3''''0'''''">
              <a:rPr lang="nl-NL" altLang="en-US" b="1" smtClean="0"/>
              <a:pPr marL="0" lvl="0" indent="0" algn="ctr">
                <a:spcBef>
                  <a:spcPct val="0"/>
                </a:spcBef>
                <a:spcAft>
                  <a:spcPct val="0"/>
                </a:spcAft>
                <a:buNone/>
              </a:pPr>
              <a:t>2030</a:t>
            </a:fld>
            <a:endParaRPr lang="nl-NL" b="1" noProof="0"/>
          </a:p>
        </p:txBody>
      </p:sp>
      <p:sp>
        <p:nvSpPr>
          <p:cNvPr id="16" name="Text Placeholder 2">
            <a:extLst>
              <a:ext uri="{FF2B5EF4-FFF2-40B4-BE49-F238E27FC236}">
                <a16:creationId xmlns:a16="http://schemas.microsoft.com/office/drawing/2014/main" id="{510F4D0C-6CF3-E5C8-1CB9-2D5ECF3AA6CA}"/>
              </a:ext>
            </a:extLst>
          </p:cNvPr>
          <p:cNvSpPr>
            <a:spLocks noGrp="1"/>
          </p:cNvSpPr>
          <p:nvPr/>
        </p:nvSpPr>
        <p:spPr bwMode="auto">
          <a:xfrm>
            <a:off x="151332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1929F179-CA07-49F9-9108-D22E8FD76B09}" type="datetime'''''''2''''''''''0''''''''2''''''''''''''''''''''''''''4'''">
              <a:rPr lang="nl-NL" altLang="en-US" b="1" smtClean="0"/>
              <a:pPr marL="0" lvl="0" indent="0" algn="ctr">
                <a:spcBef>
                  <a:spcPct val="0"/>
                </a:spcBef>
                <a:spcAft>
                  <a:spcPct val="0"/>
                </a:spcAft>
                <a:buNone/>
              </a:pPr>
              <a:t>2024</a:t>
            </a:fld>
            <a:endParaRPr lang="nl-NL" b="1" noProof="0"/>
          </a:p>
        </p:txBody>
      </p:sp>
      <p:sp>
        <p:nvSpPr>
          <p:cNvPr id="18" name="Text Placeholder 2">
            <a:extLst>
              <a:ext uri="{FF2B5EF4-FFF2-40B4-BE49-F238E27FC236}">
                <a16:creationId xmlns:a16="http://schemas.microsoft.com/office/drawing/2014/main" id="{48AE1DAF-1775-BBAD-BEE0-E0D2855D1095}"/>
              </a:ext>
            </a:extLst>
          </p:cNvPr>
          <p:cNvSpPr>
            <a:spLocks noGrp="1"/>
          </p:cNvSpPr>
          <p:nvPr>
            <p:custDataLst>
              <p:tags r:id="rId1"/>
            </p:custDataLst>
          </p:nvPr>
        </p:nvSpPr>
        <p:spPr bwMode="auto">
          <a:xfrm>
            <a:off x="612431"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nl-NL" b="1" noProof="0"/>
              <a:t>Totaal</a:t>
            </a:r>
          </a:p>
        </p:txBody>
      </p:sp>
      <p:sp>
        <p:nvSpPr>
          <p:cNvPr id="19" name="Text Placeholder 2">
            <a:extLst>
              <a:ext uri="{FF2B5EF4-FFF2-40B4-BE49-F238E27FC236}">
                <a16:creationId xmlns:a16="http://schemas.microsoft.com/office/drawing/2014/main" id="{8CAD9661-447D-713B-7D3D-ABB332ACED06}"/>
              </a:ext>
            </a:extLst>
          </p:cNvPr>
          <p:cNvSpPr>
            <a:spLocks noGrp="1"/>
          </p:cNvSpPr>
          <p:nvPr>
            <p:custDataLst>
              <p:tags r:id="rId2"/>
            </p:custDataLst>
          </p:nvPr>
        </p:nvSpPr>
        <p:spPr bwMode="auto">
          <a:xfrm>
            <a:off x="266531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i="1">
                <a:solidFill>
                  <a:srgbClr val="000000"/>
                </a:solidFill>
                <a:latin typeface="Aptos Narrow" panose="020B0004020202020204" pitchFamily="34" charset="0"/>
              </a:rPr>
              <a:t>- 360</a:t>
            </a:r>
            <a:endParaRPr lang="nl-NL" i="1" noProof="0"/>
          </a:p>
        </p:txBody>
      </p:sp>
      <p:sp>
        <p:nvSpPr>
          <p:cNvPr id="20" name="Text Placeholder 2">
            <a:extLst>
              <a:ext uri="{FF2B5EF4-FFF2-40B4-BE49-F238E27FC236}">
                <a16:creationId xmlns:a16="http://schemas.microsoft.com/office/drawing/2014/main" id="{76724E5B-C0E6-F651-93AB-3E4794A76222}"/>
              </a:ext>
            </a:extLst>
          </p:cNvPr>
          <p:cNvSpPr>
            <a:spLocks noGrp="1"/>
          </p:cNvSpPr>
          <p:nvPr>
            <p:custDataLst>
              <p:tags r:id="rId3"/>
            </p:custDataLst>
          </p:nvPr>
        </p:nvSpPr>
        <p:spPr bwMode="auto">
          <a:xfrm>
            <a:off x="381730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i="1" noProof="0">
                <a:solidFill>
                  <a:srgbClr val="000000"/>
                </a:solidFill>
                <a:latin typeface="Aptos Narrow" panose="020B0004020202020204" pitchFamily="34" charset="0"/>
              </a:rPr>
              <a:t>+ 5</a:t>
            </a:r>
            <a:endParaRPr lang="nl-NL" i="1" noProof="0"/>
          </a:p>
        </p:txBody>
      </p:sp>
      <p:sp>
        <p:nvSpPr>
          <p:cNvPr id="21" name="Text Placeholder 2">
            <a:extLst>
              <a:ext uri="{FF2B5EF4-FFF2-40B4-BE49-F238E27FC236}">
                <a16:creationId xmlns:a16="http://schemas.microsoft.com/office/drawing/2014/main" id="{2AD98181-6E82-F778-E24F-B2FE8AD48980}"/>
              </a:ext>
            </a:extLst>
          </p:cNvPr>
          <p:cNvSpPr>
            <a:spLocks noGrp="1"/>
          </p:cNvSpPr>
          <p:nvPr>
            <p:custDataLst>
              <p:tags r:id="rId4"/>
            </p:custDataLst>
          </p:nvPr>
        </p:nvSpPr>
        <p:spPr bwMode="auto">
          <a:xfrm>
            <a:off x="496929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sz="1400" b="0" i="1" u="none" strike="noStrike">
                <a:solidFill>
                  <a:srgbClr val="000000"/>
                </a:solidFill>
                <a:effectLst/>
                <a:latin typeface="Aptos Narrow" panose="020B0004020202020204" pitchFamily="34" charset="0"/>
              </a:rPr>
              <a:t>+ 475</a:t>
            </a:r>
            <a:endParaRPr lang="nl-NL" noProof="0"/>
          </a:p>
        </p:txBody>
      </p:sp>
      <p:sp>
        <p:nvSpPr>
          <p:cNvPr id="22" name="Text Placeholder 2">
            <a:extLst>
              <a:ext uri="{FF2B5EF4-FFF2-40B4-BE49-F238E27FC236}">
                <a16:creationId xmlns:a16="http://schemas.microsoft.com/office/drawing/2014/main" id="{4B81F96A-6056-3DC6-EB18-CA657D4B56F2}"/>
              </a:ext>
            </a:extLst>
          </p:cNvPr>
          <p:cNvSpPr>
            <a:spLocks noGrp="1"/>
          </p:cNvSpPr>
          <p:nvPr>
            <p:custDataLst>
              <p:tags r:id="rId5"/>
            </p:custDataLst>
          </p:nvPr>
        </p:nvSpPr>
        <p:spPr bwMode="auto">
          <a:xfrm>
            <a:off x="612128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sz="1400" b="0" i="1" u="none" strike="noStrike">
                <a:solidFill>
                  <a:srgbClr val="000000"/>
                </a:solidFill>
                <a:effectLst/>
                <a:latin typeface="Aptos Narrow" panose="020B0004020202020204" pitchFamily="34" charset="0"/>
              </a:rPr>
              <a:t>+ 572</a:t>
            </a:r>
            <a:endParaRPr lang="nl-NL" noProof="0"/>
          </a:p>
        </p:txBody>
      </p:sp>
      <p:sp>
        <p:nvSpPr>
          <p:cNvPr id="23" name="Text Placeholder 2">
            <a:extLst>
              <a:ext uri="{FF2B5EF4-FFF2-40B4-BE49-F238E27FC236}">
                <a16:creationId xmlns:a16="http://schemas.microsoft.com/office/drawing/2014/main" id="{5D481B03-4AA8-255A-10A5-143F80E0DC84}"/>
              </a:ext>
            </a:extLst>
          </p:cNvPr>
          <p:cNvSpPr>
            <a:spLocks noGrp="1"/>
          </p:cNvSpPr>
          <p:nvPr>
            <p:custDataLst>
              <p:tags r:id="rId6"/>
            </p:custDataLst>
          </p:nvPr>
        </p:nvSpPr>
        <p:spPr bwMode="auto">
          <a:xfrm>
            <a:off x="727327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sz="1400" b="0" i="1" u="none" strike="noStrike">
                <a:solidFill>
                  <a:srgbClr val="000000"/>
                </a:solidFill>
                <a:effectLst/>
                <a:latin typeface="Aptos Narrow" panose="020B0004020202020204" pitchFamily="34" charset="0"/>
              </a:rPr>
              <a:t>+ 568</a:t>
            </a:r>
            <a:endParaRPr lang="nl-NL" noProof="0"/>
          </a:p>
        </p:txBody>
      </p:sp>
      <p:sp>
        <p:nvSpPr>
          <p:cNvPr id="24" name="Text Placeholder 2">
            <a:extLst>
              <a:ext uri="{FF2B5EF4-FFF2-40B4-BE49-F238E27FC236}">
                <a16:creationId xmlns:a16="http://schemas.microsoft.com/office/drawing/2014/main" id="{615E9214-ECB7-DDD2-0D18-0A5DB3A4FF98}"/>
              </a:ext>
            </a:extLst>
          </p:cNvPr>
          <p:cNvSpPr>
            <a:spLocks noGrp="1"/>
          </p:cNvSpPr>
          <p:nvPr/>
        </p:nvSpPr>
        <p:spPr bwMode="auto">
          <a:xfrm>
            <a:off x="842526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sz="1400" b="0" i="1" u="none" strike="noStrike">
                <a:solidFill>
                  <a:srgbClr val="000000"/>
                </a:solidFill>
                <a:effectLst/>
                <a:latin typeface="Aptos Narrow" panose="020B0004020202020204" pitchFamily="34" charset="0"/>
              </a:rPr>
              <a:t>XXX</a:t>
            </a:r>
            <a:endParaRPr lang="nl-NL" noProof="0"/>
          </a:p>
        </p:txBody>
      </p:sp>
      <p:sp>
        <p:nvSpPr>
          <p:cNvPr id="25" name="Text Placeholder 2">
            <a:extLst>
              <a:ext uri="{FF2B5EF4-FFF2-40B4-BE49-F238E27FC236}">
                <a16:creationId xmlns:a16="http://schemas.microsoft.com/office/drawing/2014/main" id="{22454819-E674-DBC5-8B3B-9C54952C2837}"/>
              </a:ext>
            </a:extLst>
          </p:cNvPr>
          <p:cNvSpPr>
            <a:spLocks noGrp="1"/>
          </p:cNvSpPr>
          <p:nvPr/>
        </p:nvSpPr>
        <p:spPr bwMode="auto">
          <a:xfrm>
            <a:off x="151332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nl-NL" altLang="en-US"/>
              <a:t>- 65</a:t>
            </a:r>
            <a:endParaRPr lang="nl-NL" noProof="0"/>
          </a:p>
        </p:txBody>
      </p:sp>
      <p:sp>
        <p:nvSpPr>
          <p:cNvPr id="27" name="Text Placeholder 2">
            <a:extLst>
              <a:ext uri="{FF2B5EF4-FFF2-40B4-BE49-F238E27FC236}">
                <a16:creationId xmlns:a16="http://schemas.microsoft.com/office/drawing/2014/main" id="{A0A63AB5-B47C-3AFD-CD81-50DE93D2D3EE}"/>
              </a:ext>
            </a:extLst>
          </p:cNvPr>
          <p:cNvSpPr>
            <a:spLocks noGrp="1"/>
          </p:cNvSpPr>
          <p:nvPr/>
        </p:nvSpPr>
        <p:spPr bwMode="auto">
          <a:xfrm>
            <a:off x="612431"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nl-NL" b="1" noProof="0"/>
              <a:t>Jaar</a:t>
            </a:r>
          </a:p>
        </p:txBody>
      </p:sp>
      <p:sp>
        <p:nvSpPr>
          <p:cNvPr id="28" name="Text Placeholder 2">
            <a:extLst>
              <a:ext uri="{FF2B5EF4-FFF2-40B4-BE49-F238E27FC236}">
                <a16:creationId xmlns:a16="http://schemas.microsoft.com/office/drawing/2014/main" id="{D16A0226-DE3D-2EF3-581F-AD5CE9A99F21}"/>
              </a:ext>
            </a:extLst>
          </p:cNvPr>
          <p:cNvSpPr>
            <a:spLocks noGrp="1"/>
          </p:cNvSpPr>
          <p:nvPr/>
        </p:nvSpPr>
        <p:spPr bwMode="auto">
          <a:xfrm>
            <a:off x="9577254"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nl-NL" b="1"/>
              <a:t>2031</a:t>
            </a:r>
            <a:endParaRPr lang="nl-NL" b="1" noProof="0"/>
          </a:p>
        </p:txBody>
      </p:sp>
      <p:sp>
        <p:nvSpPr>
          <p:cNvPr id="29" name="Text Placeholder 2">
            <a:extLst>
              <a:ext uri="{FF2B5EF4-FFF2-40B4-BE49-F238E27FC236}">
                <a16:creationId xmlns:a16="http://schemas.microsoft.com/office/drawing/2014/main" id="{ADE56766-73D5-CBF7-7E2E-CF6C71C12B1E}"/>
              </a:ext>
            </a:extLst>
          </p:cNvPr>
          <p:cNvSpPr>
            <a:spLocks noGrp="1"/>
          </p:cNvSpPr>
          <p:nvPr/>
        </p:nvSpPr>
        <p:spPr bwMode="auto">
          <a:xfrm>
            <a:off x="9577254"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sz="1400" b="0" i="1" u="none" strike="noStrike">
                <a:solidFill>
                  <a:srgbClr val="000000"/>
                </a:solidFill>
                <a:effectLst/>
                <a:latin typeface="Aptos Narrow" panose="020B0004020202020204" pitchFamily="34" charset="0"/>
              </a:rPr>
              <a:t>XXX</a:t>
            </a:r>
            <a:endParaRPr lang="nl-NL" noProof="0"/>
          </a:p>
        </p:txBody>
      </p:sp>
      <p:sp>
        <p:nvSpPr>
          <p:cNvPr id="30" name="Text Placeholder 2">
            <a:extLst>
              <a:ext uri="{FF2B5EF4-FFF2-40B4-BE49-F238E27FC236}">
                <a16:creationId xmlns:a16="http://schemas.microsoft.com/office/drawing/2014/main" id="{040FDD44-4E86-7D8F-8576-73D685B9C36B}"/>
              </a:ext>
            </a:extLst>
          </p:cNvPr>
          <p:cNvSpPr>
            <a:spLocks noGrp="1"/>
          </p:cNvSpPr>
          <p:nvPr/>
        </p:nvSpPr>
        <p:spPr bwMode="auto">
          <a:xfrm>
            <a:off x="10729246" y="5897844"/>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nl-NL" b="1" noProof="0"/>
              <a:t>2032</a:t>
            </a:r>
          </a:p>
        </p:txBody>
      </p:sp>
      <p:sp>
        <p:nvSpPr>
          <p:cNvPr id="31" name="Text Placeholder 2">
            <a:extLst>
              <a:ext uri="{FF2B5EF4-FFF2-40B4-BE49-F238E27FC236}">
                <a16:creationId xmlns:a16="http://schemas.microsoft.com/office/drawing/2014/main" id="{5F7AC352-6A1C-EA11-CF59-00FCDD8D503A}"/>
              </a:ext>
            </a:extLst>
          </p:cNvPr>
          <p:cNvSpPr>
            <a:spLocks noGrp="1"/>
          </p:cNvSpPr>
          <p:nvPr/>
        </p:nvSpPr>
        <p:spPr bwMode="auto">
          <a:xfrm>
            <a:off x="10729246" y="6127846"/>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sz="1400" b="0" i="1" u="none" strike="noStrike">
                <a:solidFill>
                  <a:srgbClr val="000000"/>
                </a:solidFill>
                <a:effectLst/>
                <a:latin typeface="Aptos Narrow" panose="020B0004020202020204" pitchFamily="34" charset="0"/>
              </a:rPr>
              <a:t>XXX</a:t>
            </a:r>
            <a:endParaRPr lang="nl-NL" noProof="0"/>
          </a:p>
        </p:txBody>
      </p:sp>
      <p:sp>
        <p:nvSpPr>
          <p:cNvPr id="32" name="Rectangle 31">
            <a:extLst>
              <a:ext uri="{FF2B5EF4-FFF2-40B4-BE49-F238E27FC236}">
                <a16:creationId xmlns:a16="http://schemas.microsoft.com/office/drawing/2014/main" id="{2968C65C-1563-AAB9-AC7C-711F35A4E519}"/>
              </a:ext>
            </a:extLst>
          </p:cNvPr>
          <p:cNvSpPr/>
          <p:nvPr/>
        </p:nvSpPr>
        <p:spPr>
          <a:xfrm>
            <a:off x="7441125" y="6388196"/>
            <a:ext cx="1263877" cy="469804"/>
          </a:xfrm>
          <a:prstGeom prst="rect">
            <a:avLst/>
          </a:prstGeom>
          <a:solidFill>
            <a:schemeClr val="bg2"/>
          </a:solidFill>
          <a:ln w="12700">
            <a:noFill/>
          </a:ln>
          <a:effectLst/>
        </p:spPr>
        <p:style>
          <a:lnRef idx="2">
            <a:schemeClr val="accent1"/>
          </a:lnRef>
          <a:fillRef idx="1">
            <a:schemeClr val="lt1"/>
          </a:fillRef>
          <a:effectRef idx="0">
            <a:schemeClr val="accent1"/>
          </a:effectRef>
          <a:fontRef idx="minor">
            <a:schemeClr val="dk1"/>
          </a:fontRef>
        </p:style>
        <p:txBody>
          <a:bodyPr rtlCol="0" anchor="t"/>
          <a:lstStyle/>
          <a:p>
            <a:pPr marL="0" marR="0" indent="0" algn="just" defTabSz="914400" rtl="0" eaLnBrk="1" fontAlgn="auto" latinLnBrk="0" hangingPunct="1">
              <a:lnSpc>
                <a:spcPct val="100000"/>
              </a:lnSpc>
              <a:spcBef>
                <a:spcPts val="0"/>
              </a:spcBef>
              <a:spcAft>
                <a:spcPts val="600"/>
              </a:spcAft>
              <a:buClrTx/>
              <a:buSzTx/>
              <a:buFontTx/>
              <a:buNone/>
              <a:tabLst/>
            </a:pPr>
            <a:endParaRPr lang="nl-NL" sz="1400" b="1">
              <a:solidFill>
                <a:schemeClr val="tx1"/>
              </a:solidFill>
              <a:latin typeface="+mj-lt"/>
            </a:endParaRPr>
          </a:p>
        </p:txBody>
      </p:sp>
      <p:sp>
        <p:nvSpPr>
          <p:cNvPr id="33" name="Text Placeholder 2">
            <a:extLst>
              <a:ext uri="{FF2B5EF4-FFF2-40B4-BE49-F238E27FC236}">
                <a16:creationId xmlns:a16="http://schemas.microsoft.com/office/drawing/2014/main" id="{65A56217-8582-8849-2C9D-42072EF45582}"/>
              </a:ext>
            </a:extLst>
          </p:cNvPr>
          <p:cNvSpPr>
            <a:spLocks noGrp="1"/>
          </p:cNvSpPr>
          <p:nvPr>
            <p:custDataLst>
              <p:tags r:id="rId7"/>
            </p:custDataLst>
          </p:nvPr>
        </p:nvSpPr>
        <p:spPr bwMode="auto">
          <a:xfrm>
            <a:off x="7811394" y="6640560"/>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i="1" noProof="0">
                <a:solidFill>
                  <a:srgbClr val="000000"/>
                </a:solidFill>
                <a:latin typeface="Aptos Narrow" panose="020B0004020202020204" pitchFamily="34" charset="0"/>
              </a:rPr>
              <a:t>1.195</a:t>
            </a:r>
            <a:endParaRPr lang="nl-NL" noProof="0"/>
          </a:p>
        </p:txBody>
      </p:sp>
      <p:sp>
        <p:nvSpPr>
          <p:cNvPr id="34" name="Text Placeholder 2">
            <a:extLst>
              <a:ext uri="{FF2B5EF4-FFF2-40B4-BE49-F238E27FC236}">
                <a16:creationId xmlns:a16="http://schemas.microsoft.com/office/drawing/2014/main" id="{E37EA18B-1E2F-5999-018C-D63E0DCA0F88}"/>
              </a:ext>
            </a:extLst>
          </p:cNvPr>
          <p:cNvSpPr>
            <a:spLocks noGrp="1"/>
          </p:cNvSpPr>
          <p:nvPr/>
        </p:nvSpPr>
        <p:spPr bwMode="auto">
          <a:xfrm>
            <a:off x="7851081" y="6410558"/>
            <a:ext cx="3937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nl-NL" b="1" noProof="0"/>
              <a:t>T/m 2029</a:t>
            </a:r>
          </a:p>
        </p:txBody>
      </p:sp>
      <p:cxnSp>
        <p:nvCxnSpPr>
          <p:cNvPr id="35" name="Straight Connector 34">
            <a:extLst>
              <a:ext uri="{FF2B5EF4-FFF2-40B4-BE49-F238E27FC236}">
                <a16:creationId xmlns:a16="http://schemas.microsoft.com/office/drawing/2014/main" id="{5E96D254-E123-2A08-4410-74FB0F110AE6}"/>
              </a:ext>
            </a:extLst>
          </p:cNvPr>
          <p:cNvCxnSpPr>
            <a:cxnSpLocks/>
            <a:stCxn id="34" idx="0"/>
          </p:cNvCxnSpPr>
          <p:nvPr/>
        </p:nvCxnSpPr>
        <p:spPr>
          <a:xfrm flipV="1">
            <a:off x="8047931" y="3179288"/>
            <a:ext cx="0" cy="3231270"/>
          </a:xfrm>
          <a:prstGeom prst="line">
            <a:avLst/>
          </a:prstGeom>
          <a:ln>
            <a:solidFill>
              <a:schemeClr val="bg1">
                <a:lumMod val="50000"/>
              </a:schemeClr>
            </a:solidFill>
            <a:prstDash val="dash"/>
          </a:ln>
        </p:spPr>
        <p:style>
          <a:lnRef idx="2">
            <a:schemeClr val="accent6"/>
          </a:lnRef>
          <a:fillRef idx="0">
            <a:schemeClr val="accent6"/>
          </a:fillRef>
          <a:effectRef idx="1">
            <a:schemeClr val="accent6"/>
          </a:effectRef>
          <a:fontRef idx="minor">
            <a:schemeClr val="tx1"/>
          </a:fontRef>
        </p:style>
      </p:cxnSp>
      <p:sp>
        <p:nvSpPr>
          <p:cNvPr id="36" name="Rectangle 35">
            <a:extLst>
              <a:ext uri="{FF2B5EF4-FFF2-40B4-BE49-F238E27FC236}">
                <a16:creationId xmlns:a16="http://schemas.microsoft.com/office/drawing/2014/main" id="{E7C8F1DA-6D2A-AC96-2A12-5B54F5469888}"/>
              </a:ext>
            </a:extLst>
          </p:cNvPr>
          <p:cNvSpPr/>
          <p:nvPr/>
        </p:nvSpPr>
        <p:spPr>
          <a:xfrm>
            <a:off x="797255" y="1443192"/>
            <a:ext cx="5278273" cy="1471521"/>
          </a:xfrm>
          <a:prstGeom prst="rect">
            <a:avLst/>
          </a:prstGeom>
          <a:noFill/>
          <a:ln w="12700">
            <a:noFill/>
          </a:ln>
          <a:effectLst/>
        </p:spPr>
        <p:style>
          <a:lnRef idx="2">
            <a:schemeClr val="accent1"/>
          </a:lnRef>
          <a:fillRef idx="1">
            <a:schemeClr val="lt1"/>
          </a:fillRef>
          <a:effectRef idx="0">
            <a:schemeClr val="accent1"/>
          </a:effectRef>
          <a:fontRef idx="minor">
            <a:schemeClr val="dk1"/>
          </a:fontRef>
        </p:style>
        <p:txBody>
          <a:bodyPr rIns="90000" numCol="1" rtlCol="0" anchor="t"/>
          <a:lstStyle/>
          <a:p>
            <a:pPr marL="0" marR="0" indent="0" defTabSz="914400" rtl="0" eaLnBrk="1" fontAlgn="auto" latinLnBrk="0" hangingPunct="1">
              <a:spcAft>
                <a:spcPts val="300"/>
              </a:spcAft>
              <a:buClrTx/>
              <a:buSzTx/>
              <a:buFontTx/>
              <a:buNone/>
              <a:tabLst/>
            </a:pPr>
            <a:r>
              <a:rPr lang="nl-NL" sz="900">
                <a:solidFill>
                  <a:schemeClr val="tx1"/>
                </a:solidFill>
                <a:latin typeface="Verdana Pro" panose="020B0604030504040204" pitchFamily="34" charset="0"/>
              </a:rPr>
              <a:t>De </a:t>
            </a:r>
            <a:r>
              <a:rPr lang="nl-NL" sz="900" b="1">
                <a:solidFill>
                  <a:schemeClr val="tx1"/>
                </a:solidFill>
                <a:latin typeface="Verdana Pro" panose="020B0604030504040204" pitchFamily="34" charset="0"/>
              </a:rPr>
              <a:t>impact</a:t>
            </a:r>
            <a:r>
              <a:rPr lang="nl-NL" sz="900">
                <a:solidFill>
                  <a:schemeClr val="tx1"/>
                </a:solidFill>
                <a:latin typeface="Verdana Pro" panose="020B0604030504040204" pitchFamily="34" charset="0"/>
              </a:rPr>
              <a:t> kan worden uitgesplitst in </a:t>
            </a:r>
            <a:r>
              <a:rPr lang="nl-NL" sz="900" b="1">
                <a:solidFill>
                  <a:schemeClr val="tx1"/>
                </a:solidFill>
                <a:latin typeface="Verdana Pro" panose="020B0604030504040204" pitchFamily="34" charset="0"/>
              </a:rPr>
              <a:t>drie</a:t>
            </a:r>
            <a:r>
              <a:rPr lang="nl-NL" sz="900">
                <a:solidFill>
                  <a:schemeClr val="tx1"/>
                </a:solidFill>
                <a:latin typeface="Verdana Pro" panose="020B0604030504040204" pitchFamily="34" charset="0"/>
              </a:rPr>
              <a:t> </a:t>
            </a:r>
            <a:r>
              <a:rPr lang="nl-NL" sz="900" b="1">
                <a:solidFill>
                  <a:schemeClr val="tx1"/>
                </a:solidFill>
                <a:latin typeface="Verdana Pro" panose="020B0604030504040204" pitchFamily="34" charset="0"/>
              </a:rPr>
              <a:t>categorieën</a:t>
            </a:r>
            <a:r>
              <a:rPr lang="nl-NL" sz="900">
                <a:solidFill>
                  <a:schemeClr val="tx1"/>
                </a:solidFill>
                <a:latin typeface="Verdana Pro" panose="020B0604030504040204" pitchFamily="34" charset="0"/>
              </a:rPr>
              <a:t>:</a:t>
            </a:r>
          </a:p>
          <a:p>
            <a:pPr marL="180000" lvl="1" indent="-180000">
              <a:spcAft>
                <a:spcPts val="300"/>
              </a:spcAft>
              <a:buFont typeface="+mj-lt"/>
              <a:buAutoNum type="arabicPeriod"/>
            </a:pPr>
            <a:r>
              <a:rPr lang="nl-NL" sz="900">
                <a:solidFill>
                  <a:schemeClr val="tx1"/>
                </a:solidFill>
                <a:latin typeface="Verdana Pro" panose="020B0604030504040204" pitchFamily="34" charset="0"/>
              </a:rPr>
              <a:t>Bottom-up gekwantificeerd: De impact die vanuit de impactdrivers, doelgroepen, effecten en inclusie over tijd is bepaald en doorgerekend</a:t>
            </a:r>
          </a:p>
          <a:p>
            <a:pPr marL="180000" lvl="1" indent="-180000">
              <a:spcAft>
                <a:spcPts val="300"/>
              </a:spcAft>
              <a:buFont typeface="+mj-lt"/>
              <a:buAutoNum type="arabicPeriod"/>
            </a:pPr>
            <a:r>
              <a:rPr lang="nl-NL" sz="900">
                <a:solidFill>
                  <a:schemeClr val="tx1"/>
                </a:solidFill>
                <a:latin typeface="Verdana Pro" panose="020B0604030504040204" pitchFamily="34" charset="0"/>
              </a:rPr>
              <a:t>Top-down huidige </a:t>
            </a:r>
            <a:r>
              <a:rPr lang="nl-NL" sz="900" err="1">
                <a:solidFill>
                  <a:schemeClr val="tx1"/>
                </a:solidFill>
                <a:latin typeface="Verdana Pro" panose="020B0604030504040204" pitchFamily="34" charset="0"/>
              </a:rPr>
              <a:t>usecases</a:t>
            </a:r>
            <a:r>
              <a:rPr lang="nl-NL" sz="900">
                <a:solidFill>
                  <a:schemeClr val="tx1"/>
                </a:solidFill>
                <a:latin typeface="Verdana Pro" panose="020B0604030504040204" pitchFamily="34" charset="0"/>
              </a:rPr>
              <a:t>: Een benadering van de impact die ook met de implementatie van de </a:t>
            </a:r>
            <a:r>
              <a:rPr lang="nl-NL" sz="900" err="1">
                <a:solidFill>
                  <a:schemeClr val="tx1"/>
                </a:solidFill>
                <a:latin typeface="Verdana Pro" panose="020B0604030504040204" pitchFamily="34" charset="0"/>
              </a:rPr>
              <a:t>usecases</a:t>
            </a:r>
            <a:r>
              <a:rPr lang="nl-NL" sz="900">
                <a:solidFill>
                  <a:schemeClr val="tx1"/>
                </a:solidFill>
                <a:latin typeface="Verdana Pro" panose="020B0604030504040204" pitchFamily="34" charset="0"/>
              </a:rPr>
              <a:t> in dit plan gerealiseerd zal worden, maar die niet bottom-up gekwantificeerd kon worden</a:t>
            </a:r>
          </a:p>
          <a:p>
            <a:pPr marL="180000" lvl="1" indent="-180000">
              <a:spcAft>
                <a:spcPts val="300"/>
              </a:spcAft>
              <a:buFont typeface="+mj-lt"/>
              <a:buAutoNum type="arabicPeriod"/>
            </a:pPr>
            <a:r>
              <a:rPr lang="nl-NL" sz="900">
                <a:solidFill>
                  <a:schemeClr val="tx1"/>
                </a:solidFill>
                <a:latin typeface="Verdana Pro" panose="020B0604030504040204" pitchFamily="34" charset="0"/>
              </a:rPr>
              <a:t>Top-down nieuwe </a:t>
            </a:r>
            <a:r>
              <a:rPr lang="nl-NL" sz="900" err="1">
                <a:solidFill>
                  <a:schemeClr val="tx1"/>
                </a:solidFill>
                <a:latin typeface="Verdana Pro" panose="020B0604030504040204" pitchFamily="34" charset="0"/>
              </a:rPr>
              <a:t>usecases</a:t>
            </a:r>
            <a:r>
              <a:rPr lang="nl-NL" sz="900">
                <a:solidFill>
                  <a:schemeClr val="tx1"/>
                </a:solidFill>
                <a:latin typeface="Verdana Pro" panose="020B0604030504040204" pitchFamily="34" charset="0"/>
              </a:rPr>
              <a:t>: Een doorvertaling van nieuwe </a:t>
            </a:r>
            <a:r>
              <a:rPr lang="nl-NL" sz="900" err="1">
                <a:solidFill>
                  <a:schemeClr val="tx1"/>
                </a:solidFill>
                <a:latin typeface="Verdana Pro" panose="020B0604030504040204" pitchFamily="34" charset="0"/>
              </a:rPr>
              <a:t>usecases</a:t>
            </a:r>
            <a:r>
              <a:rPr lang="nl-NL" sz="900">
                <a:solidFill>
                  <a:schemeClr val="tx1"/>
                </a:solidFill>
                <a:latin typeface="Verdana Pro" panose="020B0604030504040204" pitchFamily="34" charset="0"/>
              </a:rPr>
              <a:t> die na 2026 uitgerold zullen worden in de regio, waarvoor de komende jaren het fundament gelegd zal worden met dit transformatieplan</a:t>
            </a:r>
            <a:endParaRPr lang="nl-NL" sz="900" b="1">
              <a:solidFill>
                <a:schemeClr val="tx1"/>
              </a:solidFill>
              <a:latin typeface="Verdana Pro" panose="020B0604030504040204" pitchFamily="34" charset="0"/>
            </a:endParaRPr>
          </a:p>
        </p:txBody>
      </p:sp>
      <p:sp>
        <p:nvSpPr>
          <p:cNvPr id="37" name="TextBox 36">
            <a:extLst>
              <a:ext uri="{FF2B5EF4-FFF2-40B4-BE49-F238E27FC236}">
                <a16:creationId xmlns:a16="http://schemas.microsoft.com/office/drawing/2014/main" id="{269DD162-C3E0-6758-2F01-C039BDAD15C0}"/>
              </a:ext>
            </a:extLst>
          </p:cNvPr>
          <p:cNvSpPr txBox="1"/>
          <p:nvPr/>
        </p:nvSpPr>
        <p:spPr>
          <a:xfrm>
            <a:off x="6075529" y="1443192"/>
            <a:ext cx="5237328" cy="1138773"/>
          </a:xfrm>
          <a:prstGeom prst="rect">
            <a:avLst/>
          </a:prstGeom>
          <a:noFill/>
        </p:spPr>
        <p:txBody>
          <a:bodyPr wrap="square" lIns="91440" tIns="45720" rIns="91440" bIns="45720" anchor="t">
            <a:spAutoFit/>
          </a:bodyPr>
          <a:lstStyle/>
          <a:p>
            <a:pPr indent="-274638">
              <a:spcAft>
                <a:spcPts val="300"/>
              </a:spcAft>
            </a:pPr>
            <a:r>
              <a:rPr lang="nl-NL" sz="900">
                <a:solidFill>
                  <a:schemeClr val="tx1"/>
                </a:solidFill>
                <a:latin typeface="Verdana Pro" panose="020B0604030504040204" pitchFamily="34" charset="0"/>
              </a:rPr>
              <a:t>Ook de </a:t>
            </a:r>
            <a:r>
              <a:rPr lang="nl-NL" sz="900" b="1">
                <a:solidFill>
                  <a:schemeClr val="tx1"/>
                </a:solidFill>
                <a:latin typeface="Verdana Pro" panose="020B0604030504040204" pitchFamily="34" charset="0"/>
              </a:rPr>
              <a:t>kosten</a:t>
            </a:r>
            <a:r>
              <a:rPr lang="nl-NL" sz="900">
                <a:solidFill>
                  <a:schemeClr val="tx1"/>
                </a:solidFill>
                <a:latin typeface="Verdana Pro" panose="020B0604030504040204" pitchFamily="34" charset="0"/>
              </a:rPr>
              <a:t> kunnen in </a:t>
            </a:r>
            <a:r>
              <a:rPr lang="nl-NL" sz="900" b="1">
                <a:solidFill>
                  <a:schemeClr val="tx1"/>
                </a:solidFill>
                <a:latin typeface="Verdana Pro" panose="020B0604030504040204" pitchFamily="34" charset="0"/>
              </a:rPr>
              <a:t>twee</a:t>
            </a:r>
            <a:r>
              <a:rPr lang="nl-NL" sz="900">
                <a:solidFill>
                  <a:schemeClr val="tx1"/>
                </a:solidFill>
                <a:latin typeface="Verdana Pro" panose="020B0604030504040204" pitchFamily="34" charset="0"/>
              </a:rPr>
              <a:t> </a:t>
            </a:r>
            <a:r>
              <a:rPr lang="nl-NL" sz="900" b="1">
                <a:solidFill>
                  <a:schemeClr val="tx1"/>
                </a:solidFill>
                <a:latin typeface="Verdana Pro" panose="020B0604030504040204" pitchFamily="34" charset="0"/>
              </a:rPr>
              <a:t>categorieën</a:t>
            </a:r>
            <a:r>
              <a:rPr lang="nl-NL" sz="900">
                <a:solidFill>
                  <a:schemeClr val="tx1"/>
                </a:solidFill>
                <a:latin typeface="Verdana Pro" panose="020B0604030504040204" pitchFamily="34" charset="0"/>
              </a:rPr>
              <a:t> worden opgedeeld:</a:t>
            </a:r>
          </a:p>
          <a:p>
            <a:pPr marL="179705" indent="-179705">
              <a:spcAft>
                <a:spcPts val="300"/>
              </a:spcAft>
              <a:buFont typeface="+mj-lt"/>
              <a:buAutoNum type="arabicPeriod"/>
            </a:pPr>
            <a:r>
              <a:rPr lang="nl-NL" sz="900">
                <a:highlight>
                  <a:srgbClr val="FFFF00"/>
                </a:highlight>
                <a:latin typeface="Verdana Pro"/>
              </a:rPr>
              <a:t>Frictiekosten</a:t>
            </a:r>
            <a:r>
              <a:rPr lang="nl-NL" sz="900">
                <a:latin typeface="Verdana Pro"/>
              </a:rPr>
              <a:t>: Deze zien op de uitwerking van processen, implementatie van technologie en adoptie in de regio – hiervoor worden IZA-middelen aangevraagd</a:t>
            </a:r>
          </a:p>
          <a:p>
            <a:pPr marL="180000" indent="-180000">
              <a:spcAft>
                <a:spcPts val="300"/>
              </a:spcAft>
              <a:buFont typeface="+mj-lt"/>
              <a:buAutoNum type="arabicPeriod"/>
            </a:pPr>
            <a:r>
              <a:rPr lang="nl-NL" sz="900">
                <a:solidFill>
                  <a:schemeClr val="tx1"/>
                </a:solidFill>
                <a:latin typeface="Verdana Pro" panose="020B0604030504040204" pitchFamily="34" charset="0"/>
              </a:rPr>
              <a:t>Directe structurele kosten*: Deze zien op de kosten om </a:t>
            </a:r>
            <a:r>
              <a:rPr lang="nl-NL" sz="900">
                <a:latin typeface="Verdana Pro" panose="020B0604030504040204" pitchFamily="34" charset="0"/>
              </a:rPr>
              <a:t>het fundament en alles wat hierbij komt kijken</a:t>
            </a:r>
            <a:r>
              <a:rPr lang="nl-NL" sz="900">
                <a:solidFill>
                  <a:schemeClr val="tx1"/>
                </a:solidFill>
                <a:latin typeface="Verdana Pro" panose="020B0604030504040204" pitchFamily="34" charset="0"/>
              </a:rPr>
              <a:t> in de lucht te houden, te beheren en door te ontwikkelen, zowel qua techniek als qua mensen – deze kosten worden </a:t>
            </a:r>
            <a:r>
              <a:rPr lang="nl-NL" sz="900" u="sng">
                <a:solidFill>
                  <a:schemeClr val="tx1"/>
                </a:solidFill>
                <a:latin typeface="Verdana Pro" panose="020B0604030504040204" pitchFamily="34" charset="0"/>
              </a:rPr>
              <a:t>niet </a:t>
            </a:r>
            <a:r>
              <a:rPr lang="nl-NL" sz="900">
                <a:solidFill>
                  <a:schemeClr val="tx1"/>
                </a:solidFill>
                <a:latin typeface="Verdana Pro" panose="020B0604030504040204" pitchFamily="34" charset="0"/>
              </a:rPr>
              <a:t>meegenomen in de aangevraagde IZA-middelen</a:t>
            </a:r>
          </a:p>
        </p:txBody>
      </p:sp>
      <p:sp>
        <p:nvSpPr>
          <p:cNvPr id="38" name="TextBox 37">
            <a:extLst>
              <a:ext uri="{FF2B5EF4-FFF2-40B4-BE49-F238E27FC236}">
                <a16:creationId xmlns:a16="http://schemas.microsoft.com/office/drawing/2014/main" id="{D77D372E-6B80-BA7F-88CE-9DEFFFDE8B40}"/>
              </a:ext>
            </a:extLst>
          </p:cNvPr>
          <p:cNvSpPr txBox="1"/>
          <p:nvPr/>
        </p:nvSpPr>
        <p:spPr>
          <a:xfrm>
            <a:off x="3031244" y="2787448"/>
            <a:ext cx="5903206" cy="338554"/>
          </a:xfrm>
          <a:prstGeom prst="rect">
            <a:avLst/>
          </a:prstGeom>
          <a:noFill/>
        </p:spPr>
        <p:txBody>
          <a:bodyPr wrap="square">
            <a:spAutoFit/>
          </a:bodyPr>
          <a:lstStyle/>
          <a:p>
            <a:pPr algn="ctr" rtl="0">
              <a:defRPr sz="1400" b="1" i="0" u="none" strike="noStrike" kern="1200" spc="0" baseline="0">
                <a:solidFill>
                  <a:prstClr val="black">
                    <a:lumMod val="65000"/>
                    <a:lumOff val="35000"/>
                  </a:prstClr>
                </a:solidFill>
                <a:latin typeface="+mn-lt"/>
                <a:ea typeface="+mn-ea"/>
                <a:cs typeface="+mn-cs"/>
              </a:defRPr>
            </a:pPr>
            <a:r>
              <a:rPr kumimoji="0" lang="nl-NL" sz="1600" b="1" i="0" u="none" strike="noStrike" kern="1200" cap="none" spc="0" normalizeH="0" baseline="0" noProof="0">
                <a:ln>
                  <a:noFill/>
                </a:ln>
                <a:solidFill>
                  <a:srgbClr val="0E9D90"/>
                </a:solidFill>
                <a:effectLst/>
                <a:uLnTx/>
                <a:uFillTx/>
                <a:cs typeface="HelveticaNowDisplay Bold" panose="020B0804030202020204" pitchFamily="34" charset="0"/>
              </a:rPr>
              <a:t>Samenvatting businesscase  (x € 1.000)</a:t>
            </a:r>
          </a:p>
        </p:txBody>
      </p:sp>
      <p:sp>
        <p:nvSpPr>
          <p:cNvPr id="7" name="Rectangle 6">
            <a:extLst>
              <a:ext uri="{FF2B5EF4-FFF2-40B4-BE49-F238E27FC236}">
                <a16:creationId xmlns:a16="http://schemas.microsoft.com/office/drawing/2014/main" id="{2DF5B1B0-CA8F-08C3-B2FB-70DBC1F9FC8B}"/>
              </a:ext>
            </a:extLst>
          </p:cNvPr>
          <p:cNvSpPr/>
          <p:nvPr/>
        </p:nvSpPr>
        <p:spPr>
          <a:xfrm>
            <a:off x="1710174" y="3435781"/>
            <a:ext cx="4203700" cy="66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FICTIEVE GETALLEN!!!</a:t>
            </a:r>
          </a:p>
        </p:txBody>
      </p:sp>
      <p:sp>
        <p:nvSpPr>
          <p:cNvPr id="5" name="Rectangle: Top Corners Rounded 38">
            <a:hlinkClick r:id="rId10" action="ppaction://hlinksldjump"/>
            <a:extLst>
              <a:ext uri="{FF2B5EF4-FFF2-40B4-BE49-F238E27FC236}">
                <a16:creationId xmlns:a16="http://schemas.microsoft.com/office/drawing/2014/main" id="{98D21D76-340F-ABAD-D256-7E4F36BCF8A2}"/>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6" name="Graphic 5" descr="Introductiepagina silhouet">
            <a:hlinkClick r:id="rId11" action="ppaction://hlinksldjump"/>
            <a:extLst>
              <a:ext uri="{FF2B5EF4-FFF2-40B4-BE49-F238E27FC236}">
                <a16:creationId xmlns:a16="http://schemas.microsoft.com/office/drawing/2014/main" id="{CD5E10F8-BE40-2AF3-FDC9-17CAFAE3F2E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5136" y="147223"/>
            <a:ext cx="144000" cy="144000"/>
          </a:xfrm>
          <a:prstGeom prst="rect">
            <a:avLst/>
          </a:prstGeom>
        </p:spPr>
      </p:pic>
      <p:sp>
        <p:nvSpPr>
          <p:cNvPr id="9" name="Rectangle: Top Corners Rounded 1">
            <a:hlinkClick r:id="rId14" action="ppaction://hlinksldjump"/>
            <a:extLst>
              <a:ext uri="{FF2B5EF4-FFF2-40B4-BE49-F238E27FC236}">
                <a16:creationId xmlns:a16="http://schemas.microsoft.com/office/drawing/2014/main" id="{C9EE0EB5-7211-A404-E6EC-FAEBDA31E4D7}"/>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17" name="Rectangle: Top Corners Rounded 1">
            <a:hlinkClick r:id="rId15" action="ppaction://hlinksldjump"/>
            <a:extLst>
              <a:ext uri="{FF2B5EF4-FFF2-40B4-BE49-F238E27FC236}">
                <a16:creationId xmlns:a16="http://schemas.microsoft.com/office/drawing/2014/main" id="{4F505554-B617-831A-9D84-C83099276F5F}"/>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6" name="Rectangle: Top Corners Rounded 1">
            <a:hlinkClick r:id="rId16" action="ppaction://hlinksldjump"/>
            <a:extLst>
              <a:ext uri="{FF2B5EF4-FFF2-40B4-BE49-F238E27FC236}">
                <a16:creationId xmlns:a16="http://schemas.microsoft.com/office/drawing/2014/main" id="{ACC669BB-4052-77BA-4706-E8059BB6C312}"/>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9" name="Rectangle: Top Corners Rounded 1">
            <a:hlinkClick r:id="rId17" action="ppaction://hlinksldjump"/>
            <a:extLst>
              <a:ext uri="{FF2B5EF4-FFF2-40B4-BE49-F238E27FC236}">
                <a16:creationId xmlns:a16="http://schemas.microsoft.com/office/drawing/2014/main" id="{110FF460-590D-5FD9-221A-0D97D7A77E5D}"/>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40" name="Rectangle: Top Corners Rounded 1">
            <a:hlinkClick r:id="rId18" action="ppaction://hlinksldjump"/>
            <a:extLst>
              <a:ext uri="{FF2B5EF4-FFF2-40B4-BE49-F238E27FC236}">
                <a16:creationId xmlns:a16="http://schemas.microsoft.com/office/drawing/2014/main" id="{56E1B8AF-2D87-0899-D9DA-05D98F62552F}"/>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1" name="Rectangle: Top Corners Rounded 1">
            <a:hlinkClick r:id="rId19" action="ppaction://hlinksldjump"/>
            <a:extLst>
              <a:ext uri="{FF2B5EF4-FFF2-40B4-BE49-F238E27FC236}">
                <a16:creationId xmlns:a16="http://schemas.microsoft.com/office/drawing/2014/main" id="{7953AF58-8C18-5E1C-C5C0-A4FBE24E922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42" name="Rectangle: Top Corners Rounded 1">
            <a:hlinkClick r:id="rId20" action="ppaction://hlinksldjump"/>
            <a:extLst>
              <a:ext uri="{FF2B5EF4-FFF2-40B4-BE49-F238E27FC236}">
                <a16:creationId xmlns:a16="http://schemas.microsoft.com/office/drawing/2014/main" id="{F7A0C320-1423-D4C5-D4A2-62D4BFE5E54B}"/>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43" name="Rectangle: Top Corners Rounded 1">
            <a:hlinkClick r:id="rId21" action="ppaction://hlinksldjump"/>
            <a:extLst>
              <a:ext uri="{FF2B5EF4-FFF2-40B4-BE49-F238E27FC236}">
                <a16:creationId xmlns:a16="http://schemas.microsoft.com/office/drawing/2014/main" id="{4805C8E2-6512-9A7B-2A80-C5D0DB789CEA}"/>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4" name="Rectangle: Top Corners Rounded 1">
            <a:hlinkClick r:id="rId22" action="ppaction://hlinksldjump"/>
            <a:extLst>
              <a:ext uri="{FF2B5EF4-FFF2-40B4-BE49-F238E27FC236}">
                <a16:creationId xmlns:a16="http://schemas.microsoft.com/office/drawing/2014/main" id="{1BDE56C0-509C-BBD8-DE1E-8B098DD1D29F}"/>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5" name="Rectangle: Top Corners Rounded 1">
            <a:hlinkClick r:id="rId23" action="ppaction://hlinksldjump"/>
            <a:extLst>
              <a:ext uri="{FF2B5EF4-FFF2-40B4-BE49-F238E27FC236}">
                <a16:creationId xmlns:a16="http://schemas.microsoft.com/office/drawing/2014/main" id="{6B3369E9-D4A2-AEAE-097D-661B1144366E}"/>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6" name="Rectangle: Top Corners Rounded 1">
            <a:hlinkClick r:id="rId24" action="ppaction://hlinksldjump"/>
            <a:extLst>
              <a:ext uri="{FF2B5EF4-FFF2-40B4-BE49-F238E27FC236}">
                <a16:creationId xmlns:a16="http://schemas.microsoft.com/office/drawing/2014/main" id="{299FE488-E5AE-4FAE-7315-6E9DB9A2E173}"/>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4807352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a:xfrm>
            <a:off x="769061" y="2728540"/>
            <a:ext cx="10515600" cy="1261351"/>
          </a:xfrm>
        </p:spPr>
        <p:txBody>
          <a:bodyPr vert="horz">
            <a:normAutofit/>
          </a:bodyPr>
          <a:lstStyle/>
          <a:p>
            <a:r>
              <a:rPr lang="nl-NL"/>
              <a:t>Mogelijke indicatoren (</a:t>
            </a:r>
            <a:r>
              <a:rPr lang="nl-NL" err="1"/>
              <a:t>KPI’s</a:t>
            </a:r>
            <a:r>
              <a:rPr lang="nl-NL"/>
              <a:t>) voor effectmeting en impactanalyse</a:t>
            </a:r>
            <a:endParaRPr lang="en-US"/>
          </a:p>
        </p:txBody>
      </p:sp>
    </p:spTree>
    <p:extLst>
      <p:ext uri="{BB962C8B-B14F-4D97-AF65-F5344CB8AC3E}">
        <p14:creationId xmlns:p14="http://schemas.microsoft.com/office/powerpoint/2010/main" val="17960147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3C9881A1-4C11-2D38-7AC0-548C5AB90529}"/>
              </a:ext>
            </a:extLst>
          </p:cNvPr>
          <p:cNvSpPr/>
          <p:nvPr/>
        </p:nvSpPr>
        <p:spPr>
          <a:xfrm>
            <a:off x="10496508" y="5257800"/>
            <a:ext cx="1524000" cy="14992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2" name="Table 1">
            <a:extLst>
              <a:ext uri="{FF2B5EF4-FFF2-40B4-BE49-F238E27FC236}">
                <a16:creationId xmlns:a16="http://schemas.microsoft.com/office/drawing/2014/main" id="{5263002F-B90A-1F48-39D1-E44670A4B732}"/>
              </a:ext>
            </a:extLst>
          </p:cNvPr>
          <p:cNvGraphicFramePr>
            <a:graphicFrameLocks noGrp="1"/>
          </p:cNvGraphicFramePr>
          <p:nvPr/>
        </p:nvGraphicFramePr>
        <p:xfrm>
          <a:off x="439120" y="2650243"/>
          <a:ext cx="7497401" cy="1485678"/>
        </p:xfrm>
        <a:graphic>
          <a:graphicData uri="http://schemas.openxmlformats.org/drawingml/2006/table">
            <a:tbl>
              <a:tblPr firstRow="1" bandRow="1">
                <a:tableStyleId>{5C22544A-7EE6-4342-B048-85BDC9FD1C3A}</a:tableStyleId>
              </a:tblPr>
              <a:tblGrid>
                <a:gridCol w="3682311">
                  <a:extLst>
                    <a:ext uri="{9D8B030D-6E8A-4147-A177-3AD203B41FA5}">
                      <a16:colId xmlns:a16="http://schemas.microsoft.com/office/drawing/2014/main" val="216771494"/>
                    </a:ext>
                  </a:extLst>
                </a:gridCol>
                <a:gridCol w="3815090">
                  <a:extLst>
                    <a:ext uri="{9D8B030D-6E8A-4147-A177-3AD203B41FA5}">
                      <a16:colId xmlns:a16="http://schemas.microsoft.com/office/drawing/2014/main" val="4178124603"/>
                    </a:ext>
                  </a:extLst>
                </a:gridCol>
              </a:tblGrid>
              <a:tr h="247613">
                <a:tc>
                  <a:txBody>
                    <a:bodyPr/>
                    <a:lstStyle/>
                    <a:p>
                      <a:r>
                        <a:rPr lang="en-NL" sz="1000" err="1">
                          <a:solidFill>
                            <a:schemeClr val="tx1"/>
                          </a:solidFill>
                          <a:latin typeface="Verdana" panose="020B0604030504040204" pitchFamily="34" charset="0"/>
                          <a:ea typeface="Verdana" panose="020B0604030504040204" pitchFamily="34" charset="0"/>
                        </a:rPr>
                        <a:t>Algemene</a:t>
                      </a:r>
                      <a:r>
                        <a:rPr lang="en-NL" sz="1000">
                          <a:solidFill>
                            <a:schemeClr val="tx1"/>
                          </a:solidFill>
                          <a:latin typeface="Verdana" panose="020B0604030504040204" pitchFamily="34" charset="0"/>
                          <a:ea typeface="Verdana" panose="020B0604030504040204" pitchFamily="34" charset="0"/>
                        </a:rPr>
                        <a:t> </a:t>
                      </a:r>
                      <a:r>
                        <a:rPr lang="en-NL" sz="1000" err="1">
                          <a:solidFill>
                            <a:schemeClr val="tx1"/>
                          </a:solidFill>
                          <a:latin typeface="Verdana" panose="020B0604030504040204" pitchFamily="34" charset="0"/>
                          <a:ea typeface="Verdana" panose="020B0604030504040204" pitchFamily="34" charset="0"/>
                        </a:rPr>
                        <a:t>effecten</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2C877"/>
                    </a:solidFill>
                  </a:tcPr>
                </a:tc>
                <a:tc>
                  <a:txBody>
                    <a:bodyPr/>
                    <a:lstStyle/>
                    <a:p>
                      <a:pPr algn="r"/>
                      <a:r>
                        <a:rPr lang="nl-NL" sz="1000">
                          <a:solidFill>
                            <a:schemeClr val="tx1"/>
                          </a:solidFill>
                          <a:latin typeface="Verdana" panose="020B0604030504040204" pitchFamily="34" charset="0"/>
                          <a:ea typeface="Verdana" panose="020B0604030504040204" pitchFamily="34" charset="0"/>
                        </a:rPr>
                        <a:t>Thema</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2C877"/>
                    </a:solidFill>
                  </a:tcPr>
                </a:tc>
                <a:extLst>
                  <a:ext uri="{0D108BD9-81ED-4DB2-BD59-A6C34878D82A}">
                    <a16:rowId xmlns:a16="http://schemas.microsoft.com/office/drawing/2014/main" val="147431491"/>
                  </a:ext>
                </a:extLst>
              </a:tr>
              <a:tr h="247613">
                <a:tc>
                  <a:txBody>
                    <a:bodyPr/>
                    <a:lstStyle/>
                    <a:p>
                      <a:r>
                        <a:rPr lang="en-NL" sz="1000" err="1">
                          <a:latin typeface="Verdana" panose="020B0604030504040204" pitchFamily="34" charset="0"/>
                          <a:ea typeface="Verdana" panose="020B0604030504040204" pitchFamily="34" charset="0"/>
                        </a:rPr>
                        <a:t>Hogere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kwaliteit</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zorg</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5067637"/>
                  </a:ext>
                </a:extLst>
              </a:tr>
              <a:tr h="247613">
                <a:tc>
                  <a:txBody>
                    <a:bodyPr/>
                    <a:lstStyle/>
                    <a:p>
                      <a:r>
                        <a:rPr lang="en-NL" sz="1000">
                          <a:latin typeface="Verdana" panose="020B0604030504040204" pitchFamily="34" charset="0"/>
                          <a:ea typeface="Verdana" panose="020B0604030504040204" pitchFamily="34" charset="0"/>
                        </a:rPr>
                        <a:t>Verbeterde ervaring inwoner en p</a:t>
                      </a:r>
                      <a:r>
                        <a:rPr lang="nl-NL" sz="1000" err="1">
                          <a:latin typeface="Verdana" panose="020B0604030504040204" pitchFamily="34" charset="0"/>
                          <a:ea typeface="Verdana" panose="020B0604030504040204" pitchFamily="34" charset="0"/>
                        </a:rPr>
                        <a:t>rofessionals</a:t>
                      </a:r>
                      <a:endParaRPr lang="en-NL" sz="1000">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227995"/>
                  </a:ext>
                </a:extLst>
              </a:tr>
              <a:tr h="247613">
                <a:tc>
                  <a:txBody>
                    <a:bodyPr/>
                    <a:lstStyle/>
                    <a:p>
                      <a:r>
                        <a:rPr lang="en-NL" sz="1000">
                          <a:latin typeface="Verdana" panose="020B0604030504040204" pitchFamily="34" charset="0"/>
                          <a:ea typeface="Verdana" panose="020B0604030504040204" pitchFamily="34" charset="0"/>
                        </a:rPr>
                        <a:t>Goede </a:t>
                      </a:r>
                      <a:r>
                        <a:rPr lang="en-NL" sz="1000" err="1">
                          <a:latin typeface="Verdana" panose="020B0604030504040204" pitchFamily="34" charset="0"/>
                          <a:ea typeface="Verdana" panose="020B0604030504040204" pitchFamily="34" charset="0"/>
                        </a:rPr>
                        <a:t>regionale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samenwerking</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0908911"/>
                  </a:ext>
                </a:extLst>
              </a:tr>
              <a:tr h="247613">
                <a:tc>
                  <a:txBody>
                    <a:bodyPr/>
                    <a:lstStyle/>
                    <a:p>
                      <a:r>
                        <a:rPr lang="en-NL" sz="1000" err="1">
                          <a:latin typeface="Verdana" panose="020B0604030504040204" pitchFamily="34" charset="0"/>
                          <a:ea typeface="Verdana" panose="020B0604030504040204" pitchFamily="34" charset="0"/>
                        </a:rPr>
                        <a:t>Gestroomlijn</a:t>
                      </a:r>
                      <a:r>
                        <a:rPr lang="nl-NL" sz="1000">
                          <a:latin typeface="Verdana" panose="020B0604030504040204" pitchFamily="34" charset="0"/>
                          <a:ea typeface="Verdana" panose="020B0604030504040204" pitchFamily="34" charset="0"/>
                        </a:rPr>
                        <a:t>d</a:t>
                      </a:r>
                      <a:r>
                        <a:rPr lang="en-NL" sz="1000">
                          <a:latin typeface="Verdana" panose="020B0604030504040204" pitchFamily="34" charset="0"/>
                          <a:ea typeface="Verdana" panose="020B0604030504040204" pitchFamily="34" charset="0"/>
                        </a:rPr>
                        <a:t>e </a:t>
                      </a:r>
                      <a:r>
                        <a:rPr lang="en-NL" sz="1000" err="1">
                          <a:latin typeface="Verdana" panose="020B0604030504040204" pitchFamily="34" charset="0"/>
                          <a:ea typeface="Verdana" panose="020B0604030504040204" pitchFamily="34" charset="0"/>
                        </a:rPr>
                        <a:t>gegevensuitwisseling</a:t>
                      </a:r>
                      <a:endParaRPr lang="en-NL" sz="1000">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635351"/>
                  </a:ext>
                </a:extLst>
              </a:tr>
              <a:tr h="247613">
                <a:tc>
                  <a:txBody>
                    <a:bodyPr/>
                    <a:lstStyle/>
                    <a:p>
                      <a:r>
                        <a:rPr lang="en-NL" sz="1000">
                          <a:latin typeface="Verdana" panose="020B0604030504040204" pitchFamily="34" charset="0"/>
                          <a:ea typeface="Verdana" panose="020B0604030504040204" pitchFamily="34" charset="0"/>
                        </a:rPr>
                        <a:t>Verhoogde </a:t>
                      </a:r>
                      <a:r>
                        <a:rPr lang="nl-NL" sz="1000">
                          <a:latin typeface="Verdana" panose="020B0604030504040204" pitchFamily="34" charset="0"/>
                          <a:ea typeface="Verdana" panose="020B0604030504040204" pitchFamily="34" charset="0"/>
                        </a:rPr>
                        <a:t>effectiviteit</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1224328"/>
                  </a:ext>
                </a:extLst>
              </a:tr>
            </a:tbl>
          </a:graphicData>
        </a:graphic>
      </p:graphicFrame>
      <p:graphicFrame>
        <p:nvGraphicFramePr>
          <p:cNvPr id="3" name="Table 2">
            <a:extLst>
              <a:ext uri="{FF2B5EF4-FFF2-40B4-BE49-F238E27FC236}">
                <a16:creationId xmlns:a16="http://schemas.microsoft.com/office/drawing/2014/main" id="{D95FF6A8-EC81-FA24-EA23-097C5595B4E6}"/>
              </a:ext>
            </a:extLst>
          </p:cNvPr>
          <p:cNvGraphicFramePr>
            <a:graphicFrameLocks noGrp="1"/>
          </p:cNvGraphicFramePr>
          <p:nvPr/>
        </p:nvGraphicFramePr>
        <p:xfrm>
          <a:off x="439121" y="4395045"/>
          <a:ext cx="3667227" cy="1655292"/>
        </p:xfrm>
        <a:graphic>
          <a:graphicData uri="http://schemas.openxmlformats.org/drawingml/2006/table">
            <a:tbl>
              <a:tblPr firstRow="1" bandRow="1">
                <a:tableStyleId>{5C22544A-7EE6-4342-B048-85BDC9FD1C3A}</a:tableStyleId>
              </a:tblPr>
              <a:tblGrid>
                <a:gridCol w="2342519">
                  <a:extLst>
                    <a:ext uri="{9D8B030D-6E8A-4147-A177-3AD203B41FA5}">
                      <a16:colId xmlns:a16="http://schemas.microsoft.com/office/drawing/2014/main" val="216771494"/>
                    </a:ext>
                  </a:extLst>
                </a:gridCol>
                <a:gridCol w="1324708">
                  <a:extLst>
                    <a:ext uri="{9D8B030D-6E8A-4147-A177-3AD203B41FA5}">
                      <a16:colId xmlns:a16="http://schemas.microsoft.com/office/drawing/2014/main" val="4178124603"/>
                    </a:ext>
                  </a:extLst>
                </a:gridCol>
              </a:tblGrid>
              <a:tr h="174579">
                <a:tc>
                  <a:txBody>
                    <a:bodyPr/>
                    <a:lstStyle/>
                    <a:p>
                      <a:r>
                        <a:rPr lang="en-NL" sz="1000" err="1">
                          <a:solidFill>
                            <a:schemeClr val="tx1"/>
                          </a:solidFill>
                          <a:latin typeface="Verdana" panose="020B0604030504040204" pitchFamily="34" charset="0"/>
                          <a:ea typeface="Verdana" panose="020B0604030504040204" pitchFamily="34" charset="0"/>
                        </a:rPr>
                        <a:t>Inwoners</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tc>
                  <a:txBody>
                    <a:bodyPr/>
                    <a:lstStyle/>
                    <a:p>
                      <a:pPr algn="r"/>
                      <a:r>
                        <a:rPr lang="nl-NL" sz="1000">
                          <a:solidFill>
                            <a:schemeClr val="tx1"/>
                          </a:solidFill>
                          <a:latin typeface="Verdana" panose="020B0604030504040204" pitchFamily="34" charset="0"/>
                          <a:ea typeface="Verdana" panose="020B0604030504040204" pitchFamily="34" charset="0"/>
                        </a:rPr>
                        <a:t>Thema</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extLst>
                  <a:ext uri="{0D108BD9-81ED-4DB2-BD59-A6C34878D82A}">
                    <a16:rowId xmlns:a16="http://schemas.microsoft.com/office/drawing/2014/main" val="147431491"/>
                  </a:ext>
                </a:extLst>
              </a:tr>
              <a:tr h="174579">
                <a:tc>
                  <a:txBody>
                    <a:bodyPr/>
                    <a:lstStyle/>
                    <a:p>
                      <a:r>
                        <a:rPr lang="en-NL" sz="1000" err="1">
                          <a:solidFill>
                            <a:schemeClr val="tx1"/>
                          </a:solidFill>
                          <a:latin typeface="Verdana" panose="020B0604030504040204" pitchFamily="34" charset="0"/>
                          <a:ea typeface="Verdana" panose="020B0604030504040204" pitchFamily="34" charset="0"/>
                        </a:rPr>
                        <a:t>Hogere</a:t>
                      </a:r>
                      <a:r>
                        <a:rPr lang="en-NL" sz="1000">
                          <a:solidFill>
                            <a:schemeClr val="tx1"/>
                          </a:solidFill>
                          <a:latin typeface="Verdana" panose="020B0604030504040204" pitchFamily="34" charset="0"/>
                          <a:ea typeface="Verdana" panose="020B0604030504040204" pitchFamily="34" charset="0"/>
                        </a:rPr>
                        <a:t> </a:t>
                      </a:r>
                      <a:r>
                        <a:rPr lang="en-NL" sz="1000" err="1">
                          <a:solidFill>
                            <a:schemeClr val="tx1"/>
                          </a:solidFill>
                          <a:latin typeface="Verdana" panose="020B0604030504040204" pitchFamily="34" charset="0"/>
                          <a:ea typeface="Verdana" panose="020B0604030504040204" pitchFamily="34" charset="0"/>
                        </a:rPr>
                        <a:t>kwaliteit</a:t>
                      </a:r>
                      <a:r>
                        <a:rPr lang="en-NL" sz="1000">
                          <a:solidFill>
                            <a:schemeClr val="tx1"/>
                          </a:solidFill>
                          <a:latin typeface="Verdana" panose="020B0604030504040204" pitchFamily="34" charset="0"/>
                          <a:ea typeface="Verdana" panose="020B0604030504040204" pitchFamily="34" charset="0"/>
                        </a:rPr>
                        <a:t> </a:t>
                      </a:r>
                      <a:r>
                        <a:rPr lang="en-NL" sz="1000" err="1">
                          <a:solidFill>
                            <a:schemeClr val="tx1"/>
                          </a:solidFill>
                          <a:latin typeface="Verdana" panose="020B0604030504040204" pitchFamily="34" charset="0"/>
                          <a:ea typeface="Verdana" panose="020B0604030504040204" pitchFamily="34" charset="0"/>
                        </a:rPr>
                        <a:t>zorg</a:t>
                      </a:r>
                      <a:r>
                        <a:rPr lang="en-NL" sz="1000">
                          <a:solidFill>
                            <a:schemeClr val="tx1"/>
                          </a:solidFill>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1, 2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5067637"/>
                  </a:ext>
                </a:extLst>
              </a:tr>
              <a:tr h="174579">
                <a:tc>
                  <a:txBody>
                    <a:bodyPr/>
                    <a:lstStyle/>
                    <a:p>
                      <a:r>
                        <a:rPr lang="en-NL" sz="1000">
                          <a:solidFill>
                            <a:schemeClr val="tx1"/>
                          </a:solidFill>
                          <a:latin typeface="Verdana" panose="020B0604030504040204" pitchFamily="34" charset="0"/>
                          <a:ea typeface="Verdana" panose="020B0604030504040204" pitchFamily="34" charset="0"/>
                        </a:rPr>
                        <a:t>Meer regie op eigen </a:t>
                      </a:r>
                      <a:r>
                        <a:rPr lang="en-NL" sz="1000" err="1">
                          <a:solidFill>
                            <a:schemeClr val="tx1"/>
                          </a:solidFill>
                          <a:latin typeface="Verdana" panose="020B0604030504040204" pitchFamily="34" charset="0"/>
                          <a:ea typeface="Verdana" panose="020B0604030504040204" pitchFamily="34" charset="0"/>
                        </a:rPr>
                        <a:t>zorgproces</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227995"/>
                  </a:ext>
                </a:extLst>
              </a:tr>
              <a:tr h="283692">
                <a:tc>
                  <a:txBody>
                    <a:bodyPr/>
                    <a:lstStyle/>
                    <a:p>
                      <a:r>
                        <a:rPr lang="en-NL" sz="1000" err="1">
                          <a:solidFill>
                            <a:schemeClr val="tx1"/>
                          </a:solidFill>
                          <a:latin typeface="Verdana" panose="020B0604030504040204" pitchFamily="34" charset="0"/>
                          <a:ea typeface="Verdana" panose="020B0604030504040204" pitchFamily="34" charset="0"/>
                        </a:rPr>
                        <a:t>Één</a:t>
                      </a:r>
                      <a:r>
                        <a:rPr lang="en-NL" sz="1000">
                          <a:solidFill>
                            <a:schemeClr val="tx1"/>
                          </a:solidFill>
                          <a:latin typeface="Verdana" panose="020B0604030504040204" pitchFamily="34" charset="0"/>
                          <a:ea typeface="Verdana" panose="020B0604030504040204" pitchFamily="34" charset="0"/>
                        </a:rPr>
                        <a:t> </a:t>
                      </a:r>
                      <a:r>
                        <a:rPr lang="en-NL" sz="1000" err="1">
                          <a:solidFill>
                            <a:schemeClr val="tx1"/>
                          </a:solidFill>
                          <a:latin typeface="Verdana" panose="020B0604030504040204" pitchFamily="34" charset="0"/>
                          <a:ea typeface="Verdana" panose="020B0604030504040204" pitchFamily="34" charset="0"/>
                        </a:rPr>
                        <a:t>bron</a:t>
                      </a:r>
                      <a:r>
                        <a:rPr lang="en-NL" sz="1000">
                          <a:solidFill>
                            <a:schemeClr val="tx1"/>
                          </a:solidFill>
                          <a:latin typeface="Verdana" panose="020B0604030504040204" pitchFamily="34" charset="0"/>
                          <a:ea typeface="Verdana" panose="020B0604030504040204" pitchFamily="34" charset="0"/>
                        </a:rPr>
                        <a:t> van de eigen </a:t>
                      </a:r>
                      <a:r>
                        <a:rPr lang="en-NL" sz="1000" err="1">
                          <a:solidFill>
                            <a:schemeClr val="tx1"/>
                          </a:solidFill>
                          <a:latin typeface="Verdana" panose="020B0604030504040204" pitchFamily="34" charset="0"/>
                          <a:ea typeface="Verdana" panose="020B0604030504040204" pitchFamily="34" charset="0"/>
                        </a:rPr>
                        <a:t>informatie</a:t>
                      </a:r>
                      <a:r>
                        <a:rPr lang="en-NL" sz="1000">
                          <a:solidFill>
                            <a:schemeClr val="tx1"/>
                          </a:solidFill>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0908911"/>
                  </a:ext>
                </a:extLst>
              </a:tr>
              <a:tr h="174579">
                <a:tc>
                  <a:txBody>
                    <a:bodyPr/>
                    <a:lstStyle/>
                    <a:p>
                      <a:r>
                        <a:rPr lang="en-NL" sz="1000">
                          <a:solidFill>
                            <a:schemeClr val="tx1"/>
                          </a:solidFill>
                          <a:latin typeface="Verdana" panose="020B0604030504040204" pitchFamily="34" charset="0"/>
                          <a:ea typeface="Verdana" panose="020B0604030504040204" pitchFamily="34" charset="0"/>
                        </a:rPr>
                        <a:t>Minder over/</a:t>
                      </a:r>
                      <a:r>
                        <a:rPr lang="en-NL" sz="1000" err="1">
                          <a:solidFill>
                            <a:schemeClr val="tx1"/>
                          </a:solidFill>
                          <a:latin typeface="Verdana" panose="020B0604030504040204" pitchFamily="34" charset="0"/>
                          <a:ea typeface="Verdana" panose="020B0604030504040204" pitchFamily="34" charset="0"/>
                        </a:rPr>
                        <a:t>onder</a:t>
                      </a:r>
                      <a:r>
                        <a:rPr lang="en-NL" sz="1000">
                          <a:solidFill>
                            <a:schemeClr val="tx1"/>
                          </a:solidFill>
                          <a:latin typeface="Verdana" panose="020B0604030504040204" pitchFamily="34" charset="0"/>
                          <a:ea typeface="Verdana" panose="020B0604030504040204" pitchFamily="34" charset="0"/>
                        </a:rPr>
                        <a:t> </a:t>
                      </a:r>
                      <a:r>
                        <a:rPr lang="en-NL" sz="1000" err="1">
                          <a:solidFill>
                            <a:schemeClr val="tx1"/>
                          </a:solidFill>
                          <a:latin typeface="Verdana" panose="020B0604030504040204" pitchFamily="34" charset="0"/>
                          <a:ea typeface="Verdana" panose="020B0604030504040204" pitchFamily="34" charset="0"/>
                        </a:rPr>
                        <a:t>behandeling</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635351"/>
                  </a:ext>
                </a:extLst>
              </a:tr>
              <a:tr h="283692">
                <a:tc>
                  <a:txBody>
                    <a:bodyPr/>
                    <a:lstStyle/>
                    <a:p>
                      <a:r>
                        <a:rPr lang="en-NL" sz="1000">
                          <a:solidFill>
                            <a:schemeClr val="tx1"/>
                          </a:solidFill>
                          <a:latin typeface="Verdana" panose="020B0604030504040204" pitchFamily="34" charset="0"/>
                          <a:ea typeface="Verdana" panose="020B0604030504040204" pitchFamily="34" charset="0"/>
                        </a:rPr>
                        <a:t>Eenvoudig in contact komen met zorgverlener</a:t>
                      </a:r>
                      <a:r>
                        <a:rPr lang="nl-NL" sz="1000">
                          <a:solidFill>
                            <a:schemeClr val="tx1"/>
                          </a:solidFill>
                          <a:latin typeface="Verdana" panose="020B0604030504040204" pitchFamily="34" charset="0"/>
                          <a:ea typeface="Verdana" panose="020B0604030504040204" pitchFamily="34" charset="0"/>
                        </a:rPr>
                        <a:t> indien nodig</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1224328"/>
                  </a:ext>
                </a:extLst>
              </a:tr>
            </a:tbl>
          </a:graphicData>
        </a:graphic>
      </p:graphicFrame>
      <p:graphicFrame>
        <p:nvGraphicFramePr>
          <p:cNvPr id="5" name="Table 4">
            <a:extLst>
              <a:ext uri="{FF2B5EF4-FFF2-40B4-BE49-F238E27FC236}">
                <a16:creationId xmlns:a16="http://schemas.microsoft.com/office/drawing/2014/main" id="{F26580BE-3A05-9985-BB64-9F629611002D}"/>
              </a:ext>
            </a:extLst>
          </p:cNvPr>
          <p:cNvGraphicFramePr>
            <a:graphicFrameLocks noGrp="1"/>
          </p:cNvGraphicFramePr>
          <p:nvPr/>
        </p:nvGraphicFramePr>
        <p:xfrm>
          <a:off x="4269296" y="4395045"/>
          <a:ext cx="3667227" cy="1655292"/>
        </p:xfrm>
        <a:graphic>
          <a:graphicData uri="http://schemas.openxmlformats.org/drawingml/2006/table">
            <a:tbl>
              <a:tblPr firstRow="1" bandRow="1">
                <a:tableStyleId>{5C22544A-7EE6-4342-B048-85BDC9FD1C3A}</a:tableStyleId>
              </a:tblPr>
              <a:tblGrid>
                <a:gridCol w="2971476">
                  <a:extLst>
                    <a:ext uri="{9D8B030D-6E8A-4147-A177-3AD203B41FA5}">
                      <a16:colId xmlns:a16="http://schemas.microsoft.com/office/drawing/2014/main" val="216771494"/>
                    </a:ext>
                  </a:extLst>
                </a:gridCol>
                <a:gridCol w="695751">
                  <a:extLst>
                    <a:ext uri="{9D8B030D-6E8A-4147-A177-3AD203B41FA5}">
                      <a16:colId xmlns:a16="http://schemas.microsoft.com/office/drawing/2014/main" val="4178124603"/>
                    </a:ext>
                  </a:extLst>
                </a:gridCol>
              </a:tblGrid>
              <a:tr h="275882">
                <a:tc>
                  <a:txBody>
                    <a:bodyPr/>
                    <a:lstStyle/>
                    <a:p>
                      <a:r>
                        <a:rPr lang="en-NL" sz="1000" err="1">
                          <a:solidFill>
                            <a:schemeClr val="tx1"/>
                          </a:solidFill>
                          <a:latin typeface="Verdana" panose="020B0604030504040204" pitchFamily="34" charset="0"/>
                          <a:ea typeface="Verdana" panose="020B0604030504040204" pitchFamily="34" charset="0"/>
                        </a:rPr>
                        <a:t>Huisartsen</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tc>
                  <a:txBody>
                    <a:bodyPr/>
                    <a:lstStyle/>
                    <a:p>
                      <a:pPr algn="r"/>
                      <a:r>
                        <a:rPr lang="nl-NL" sz="1000">
                          <a:solidFill>
                            <a:schemeClr val="tx1"/>
                          </a:solidFill>
                          <a:latin typeface="Verdana" panose="020B0604030504040204" pitchFamily="34" charset="0"/>
                          <a:ea typeface="Verdana" panose="020B0604030504040204" pitchFamily="34" charset="0"/>
                        </a:rPr>
                        <a:t>Thema</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extLst>
                  <a:ext uri="{0D108BD9-81ED-4DB2-BD59-A6C34878D82A}">
                    <a16:rowId xmlns:a16="http://schemas.microsoft.com/office/drawing/2014/main" val="147431491"/>
                  </a:ext>
                </a:extLst>
              </a:tr>
              <a:tr h="275882">
                <a:tc>
                  <a:txBody>
                    <a:bodyPr/>
                    <a:lstStyle/>
                    <a:p>
                      <a:r>
                        <a:rPr lang="en-NL" sz="1000" err="1">
                          <a:latin typeface="Verdana" panose="020B0604030504040204" pitchFamily="34" charset="0"/>
                          <a:ea typeface="Verdana" panose="020B0604030504040204" pitchFamily="34" charset="0"/>
                        </a:rPr>
                        <a:t>Reductie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fouten</a:t>
                      </a:r>
                      <a:r>
                        <a:rPr lang="en-NL" sz="1000">
                          <a:latin typeface="Verdana" panose="020B0604030504040204" pitchFamily="34" charset="0"/>
                          <a:ea typeface="Verdana" panose="020B0604030504040204" pitchFamily="34" charset="0"/>
                        </a:rPr>
                        <a:t> in </a:t>
                      </a:r>
                      <a:r>
                        <a:rPr lang="en-NL" sz="1000" err="1">
                          <a:latin typeface="Verdana" panose="020B0604030504040204" pitchFamily="34" charset="0"/>
                          <a:ea typeface="Verdana" panose="020B0604030504040204" pitchFamily="34" charset="0"/>
                        </a:rPr>
                        <a:t>communicatie</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1, 2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5067637"/>
                  </a:ext>
                </a:extLst>
              </a:tr>
              <a:tr h="275882">
                <a:tc>
                  <a:txBody>
                    <a:bodyPr/>
                    <a:lstStyle/>
                    <a:p>
                      <a:r>
                        <a:rPr lang="nl-NL" sz="1000">
                          <a:latin typeface="Verdana" panose="020B0604030504040204" pitchFamily="34" charset="0"/>
                          <a:ea typeface="Verdana" panose="020B0604030504040204" pitchFamily="34" charset="0"/>
                        </a:rPr>
                        <a:t>Verhogen werkplezier</a:t>
                      </a:r>
                      <a:endParaRPr lang="en-NL" sz="1000">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1, 2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227995"/>
                  </a:ext>
                </a:extLst>
              </a:tr>
              <a:tr h="275882">
                <a:tc>
                  <a:txBody>
                    <a:bodyPr/>
                    <a:lstStyle/>
                    <a:p>
                      <a:r>
                        <a:rPr lang="en-NL" sz="1000" err="1">
                          <a:latin typeface="Verdana" panose="020B0604030504040204" pitchFamily="34" charset="0"/>
                          <a:ea typeface="Verdana" panose="020B0604030504040204" pitchFamily="34" charset="0"/>
                        </a:rPr>
                        <a:t>Reductie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administratieve</a:t>
                      </a:r>
                      <a:r>
                        <a:rPr lang="en-NL" sz="1000">
                          <a:latin typeface="Verdana" panose="020B0604030504040204" pitchFamily="34" charset="0"/>
                          <a:ea typeface="Verdana" panose="020B0604030504040204" pitchFamily="34" charset="0"/>
                        </a:rPr>
                        <a:t> last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0908911"/>
                  </a:ext>
                </a:extLst>
              </a:tr>
              <a:tr h="275882">
                <a:tc>
                  <a:txBody>
                    <a:bodyPr/>
                    <a:lstStyle/>
                    <a:p>
                      <a:r>
                        <a:rPr lang="en-NL" sz="1000">
                          <a:latin typeface="Verdana" panose="020B0604030504040204" pitchFamily="34" charset="0"/>
                          <a:ea typeface="Verdana" panose="020B0604030504040204" pitchFamily="34" charset="0"/>
                        </a:rPr>
                        <a:t>Reductie </a:t>
                      </a:r>
                      <a:r>
                        <a:rPr lang="nl-NL" sz="1000">
                          <a:latin typeface="Verdana" panose="020B0604030504040204" pitchFamily="34" charset="0"/>
                          <a:ea typeface="Verdana" panose="020B0604030504040204" pitchFamily="34" charset="0"/>
                        </a:rPr>
                        <a:t>onnodige verwijzingen</a:t>
                      </a:r>
                      <a:endParaRPr lang="en-NL" sz="1000">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635351"/>
                  </a:ext>
                </a:extLst>
              </a:tr>
              <a:tr h="275882">
                <a:tc>
                  <a:txBody>
                    <a:bodyPr/>
                    <a:lstStyle/>
                    <a:p>
                      <a:r>
                        <a:rPr lang="en-NL" sz="1000">
                          <a:latin typeface="Verdana" panose="020B0604030504040204" pitchFamily="34" charset="0"/>
                          <a:ea typeface="Verdana" panose="020B0604030504040204" pitchFamily="34" charset="0"/>
                        </a:rPr>
                        <a:t>Verhoogde </a:t>
                      </a:r>
                      <a:r>
                        <a:rPr lang="nl-NL" sz="1000">
                          <a:latin typeface="Verdana" panose="020B0604030504040204" pitchFamily="34" charset="0"/>
                          <a:ea typeface="Verdana" panose="020B0604030504040204" pitchFamily="34" charset="0"/>
                        </a:rPr>
                        <a:t>effectiviteit/passende zorg</a:t>
                      </a:r>
                      <a:endParaRPr lang="en-NL" sz="1000">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1224328"/>
                  </a:ext>
                </a:extLst>
              </a:tr>
            </a:tbl>
          </a:graphicData>
        </a:graphic>
      </p:graphicFrame>
      <p:graphicFrame>
        <p:nvGraphicFramePr>
          <p:cNvPr id="6" name="Table 5">
            <a:extLst>
              <a:ext uri="{FF2B5EF4-FFF2-40B4-BE49-F238E27FC236}">
                <a16:creationId xmlns:a16="http://schemas.microsoft.com/office/drawing/2014/main" id="{371E64BF-924A-0119-942D-6BB0F348BE26}"/>
              </a:ext>
            </a:extLst>
          </p:cNvPr>
          <p:cNvGraphicFramePr>
            <a:graphicFrameLocks noGrp="1"/>
          </p:cNvGraphicFramePr>
          <p:nvPr/>
        </p:nvGraphicFramePr>
        <p:xfrm>
          <a:off x="8099471" y="4395044"/>
          <a:ext cx="3609251" cy="1655290"/>
        </p:xfrm>
        <a:graphic>
          <a:graphicData uri="http://schemas.openxmlformats.org/drawingml/2006/table">
            <a:tbl>
              <a:tblPr firstRow="1" bandRow="1">
                <a:tableStyleId>{5C22544A-7EE6-4342-B048-85BDC9FD1C3A}</a:tableStyleId>
              </a:tblPr>
              <a:tblGrid>
                <a:gridCol w="2620225">
                  <a:extLst>
                    <a:ext uri="{9D8B030D-6E8A-4147-A177-3AD203B41FA5}">
                      <a16:colId xmlns:a16="http://schemas.microsoft.com/office/drawing/2014/main" val="216771494"/>
                    </a:ext>
                  </a:extLst>
                </a:gridCol>
                <a:gridCol w="989026">
                  <a:extLst>
                    <a:ext uri="{9D8B030D-6E8A-4147-A177-3AD203B41FA5}">
                      <a16:colId xmlns:a16="http://schemas.microsoft.com/office/drawing/2014/main" val="4178124603"/>
                    </a:ext>
                  </a:extLst>
                </a:gridCol>
              </a:tblGrid>
              <a:tr h="249855">
                <a:tc>
                  <a:txBody>
                    <a:bodyPr/>
                    <a:lstStyle/>
                    <a:p>
                      <a:r>
                        <a:rPr lang="en-NL" sz="1000" err="1">
                          <a:solidFill>
                            <a:schemeClr val="tx1"/>
                          </a:solidFill>
                          <a:latin typeface="Verdana" panose="020B0604030504040204" pitchFamily="34" charset="0"/>
                          <a:ea typeface="Verdana" panose="020B0604030504040204" pitchFamily="34" charset="0"/>
                        </a:rPr>
                        <a:t>Ziekenhuizen</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tc>
                  <a:txBody>
                    <a:bodyPr/>
                    <a:lstStyle/>
                    <a:p>
                      <a:pPr algn="r"/>
                      <a:r>
                        <a:rPr lang="nl-NL" sz="1000">
                          <a:solidFill>
                            <a:schemeClr val="tx1"/>
                          </a:solidFill>
                          <a:latin typeface="Verdana" panose="020B0604030504040204" pitchFamily="34" charset="0"/>
                          <a:ea typeface="Verdana" panose="020B0604030504040204" pitchFamily="34" charset="0"/>
                        </a:rPr>
                        <a:t>Thema</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extLst>
                  <a:ext uri="{0D108BD9-81ED-4DB2-BD59-A6C34878D82A}">
                    <a16:rowId xmlns:a16="http://schemas.microsoft.com/office/drawing/2014/main" val="147431491"/>
                  </a:ext>
                </a:extLst>
              </a:tr>
              <a:tr h="249855">
                <a:tc>
                  <a:txBody>
                    <a:bodyPr/>
                    <a:lstStyle/>
                    <a:p>
                      <a:r>
                        <a:rPr lang="en-NL" sz="1000" err="1">
                          <a:latin typeface="Verdana" panose="020B0604030504040204" pitchFamily="34" charset="0"/>
                          <a:ea typeface="Verdana" panose="020B0604030504040204" pitchFamily="34" charset="0"/>
                        </a:rPr>
                        <a:t>Reductie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onnodige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verwijzingen</a:t>
                      </a:r>
                      <a:endParaRPr lang="en-NL" sz="1000">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5067637"/>
                  </a:ext>
                </a:extLst>
              </a:tr>
              <a:tr h="406015">
                <a:tc>
                  <a:txBody>
                    <a:bodyPr/>
                    <a:lstStyle/>
                    <a:p>
                      <a:r>
                        <a:rPr lang="en-NL" sz="1000" err="1">
                          <a:latin typeface="Verdana" panose="020B0604030504040204" pitchFamily="34" charset="0"/>
                          <a:ea typeface="Verdana" panose="020B0604030504040204" pitchFamily="34" charset="0"/>
                        </a:rPr>
                        <a:t>Snel</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en</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inzichtelijk</a:t>
                      </a:r>
                      <a:r>
                        <a:rPr lang="en-NL" sz="1000">
                          <a:latin typeface="Verdana" panose="020B0604030504040204" pitchFamily="34" charset="0"/>
                          <a:ea typeface="Verdana" panose="020B0604030504040204" pitchFamily="34" charset="0"/>
                        </a:rPr>
                        <a:t> de </a:t>
                      </a:r>
                      <a:r>
                        <a:rPr lang="en-NL" sz="1000" err="1">
                          <a:latin typeface="Verdana" panose="020B0604030504040204" pitchFamily="34" charset="0"/>
                          <a:ea typeface="Verdana" panose="020B0604030504040204" pitchFamily="34" charset="0"/>
                        </a:rPr>
                        <a:t>gewenste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pati</a:t>
                      </a:r>
                      <a:r>
                        <a:rPr lang="nl-NL" sz="1000" err="1">
                          <a:latin typeface="Verdana" panose="020B0604030504040204" pitchFamily="34" charset="0"/>
                          <a:ea typeface="Verdana" panose="020B0604030504040204" pitchFamily="34" charset="0"/>
                        </a:rPr>
                        <a:t>ën</a:t>
                      </a:r>
                      <a:r>
                        <a:rPr lang="en-NL" sz="1000" err="1">
                          <a:latin typeface="Verdana" panose="020B0604030504040204" pitchFamily="34" charset="0"/>
                          <a:ea typeface="Verdana" panose="020B0604030504040204" pitchFamily="34" charset="0"/>
                        </a:rPr>
                        <a:t>tinformatie</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227995"/>
                  </a:ext>
                </a:extLst>
              </a:tr>
              <a:tr h="249855">
                <a:tc>
                  <a:txBody>
                    <a:bodyPr/>
                    <a:lstStyle/>
                    <a:p>
                      <a:r>
                        <a:rPr lang="en-NL" sz="1000">
                          <a:latin typeface="Verdana" panose="020B0604030504040204" pitchFamily="34" charset="0"/>
                          <a:ea typeface="Verdana" panose="020B0604030504040204" pitchFamily="34" charset="0"/>
                        </a:rPr>
                        <a:t>Tijdsbesparing consult</a:t>
                      </a:r>
                      <a:r>
                        <a:rPr lang="nl-NL" sz="1000">
                          <a:latin typeface="Verdana" panose="020B0604030504040204" pitchFamily="34" charset="0"/>
                          <a:ea typeface="Verdana" panose="020B0604030504040204" pitchFamily="34" charset="0"/>
                        </a:rPr>
                        <a:t>/JZOJP</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0908911"/>
                  </a:ext>
                </a:extLst>
              </a:tr>
              <a:tr h="249855">
                <a:tc>
                  <a:txBody>
                    <a:bodyPr/>
                    <a:lstStyle/>
                    <a:p>
                      <a:r>
                        <a:rPr lang="en-NL" sz="1000">
                          <a:latin typeface="Verdana" panose="020B0604030504040204" pitchFamily="34" charset="0"/>
                          <a:ea typeface="Verdana" panose="020B0604030504040204" pitchFamily="34" charset="0"/>
                        </a:rPr>
                        <a:t>Gestroomlijn</a:t>
                      </a:r>
                      <a:r>
                        <a:rPr lang="nl-NL" sz="1000">
                          <a:latin typeface="Verdana" panose="020B0604030504040204" pitchFamily="34" charset="0"/>
                          <a:ea typeface="Verdana" panose="020B0604030504040204" pitchFamily="34" charset="0"/>
                        </a:rPr>
                        <a:t>d</a:t>
                      </a:r>
                      <a:r>
                        <a:rPr lang="en-NL" sz="1000">
                          <a:latin typeface="Verdana" panose="020B0604030504040204" pitchFamily="34" charset="0"/>
                          <a:ea typeface="Verdana" panose="020B0604030504040204" pitchFamily="34" charset="0"/>
                        </a:rPr>
                        <a:t>e gegevensuitwisseling</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635351"/>
                  </a:ext>
                </a:extLst>
              </a:tr>
              <a:tr h="249855">
                <a:tc>
                  <a:txBody>
                    <a:bodyPr/>
                    <a:lstStyle/>
                    <a:p>
                      <a:r>
                        <a:rPr lang="nl-NL" sz="1000">
                          <a:latin typeface="Verdana" panose="020B0604030504040204" pitchFamily="34" charset="0"/>
                          <a:ea typeface="Verdana" panose="020B0604030504040204" pitchFamily="34" charset="0"/>
                        </a:rPr>
                        <a:t>Meer tijd voor de patiënt</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1,</a:t>
                      </a:r>
                      <a:r>
                        <a:rPr lang="nl-NL" sz="1000">
                          <a:solidFill>
                            <a:schemeClr val="tx1"/>
                          </a:solidFill>
                          <a:latin typeface="Verdana" panose="020B0604030504040204" pitchFamily="34" charset="0"/>
                          <a:ea typeface="Verdana" panose="020B0604030504040204" pitchFamily="34" charset="0"/>
                        </a:rPr>
                        <a:t> </a:t>
                      </a: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1224328"/>
                  </a:ext>
                </a:extLst>
              </a:tr>
            </a:tbl>
          </a:graphicData>
        </a:graphic>
      </p:graphicFrame>
      <p:graphicFrame>
        <p:nvGraphicFramePr>
          <p:cNvPr id="8" name="Table 7">
            <a:extLst>
              <a:ext uri="{FF2B5EF4-FFF2-40B4-BE49-F238E27FC236}">
                <a16:creationId xmlns:a16="http://schemas.microsoft.com/office/drawing/2014/main" id="{6540299A-67A9-9993-7924-AFD9BF3EA3BF}"/>
              </a:ext>
            </a:extLst>
          </p:cNvPr>
          <p:cNvGraphicFramePr>
            <a:graphicFrameLocks noGrp="1"/>
          </p:cNvGraphicFramePr>
          <p:nvPr/>
        </p:nvGraphicFramePr>
        <p:xfrm>
          <a:off x="8083871" y="2650243"/>
          <a:ext cx="3624851" cy="1485678"/>
        </p:xfrm>
        <a:graphic>
          <a:graphicData uri="http://schemas.openxmlformats.org/drawingml/2006/table">
            <a:tbl>
              <a:tblPr firstRow="1" bandRow="1">
                <a:tableStyleId>{5C22544A-7EE6-4342-B048-85BDC9FD1C3A}</a:tableStyleId>
              </a:tblPr>
              <a:tblGrid>
                <a:gridCol w="2432368">
                  <a:extLst>
                    <a:ext uri="{9D8B030D-6E8A-4147-A177-3AD203B41FA5}">
                      <a16:colId xmlns:a16="http://schemas.microsoft.com/office/drawing/2014/main" val="216771494"/>
                    </a:ext>
                  </a:extLst>
                </a:gridCol>
                <a:gridCol w="1192483">
                  <a:extLst>
                    <a:ext uri="{9D8B030D-6E8A-4147-A177-3AD203B41FA5}">
                      <a16:colId xmlns:a16="http://schemas.microsoft.com/office/drawing/2014/main" val="4178124603"/>
                    </a:ext>
                  </a:extLst>
                </a:gridCol>
              </a:tblGrid>
              <a:tr h="247613">
                <a:tc>
                  <a:txBody>
                    <a:bodyPr/>
                    <a:lstStyle/>
                    <a:p>
                      <a:r>
                        <a:rPr lang="en-NL" sz="1000">
                          <a:solidFill>
                            <a:schemeClr val="tx1"/>
                          </a:solidFill>
                          <a:latin typeface="Verdana" panose="020B0604030504040204" pitchFamily="34" charset="0"/>
                          <a:ea typeface="Verdana" panose="020B0604030504040204" pitchFamily="34" charset="0"/>
                        </a:rPr>
                        <a:t>VVT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tc>
                  <a:txBody>
                    <a:bodyPr/>
                    <a:lstStyle/>
                    <a:p>
                      <a:pPr algn="r"/>
                      <a:r>
                        <a:rPr lang="nl-NL" sz="1000">
                          <a:solidFill>
                            <a:schemeClr val="tx1"/>
                          </a:solidFill>
                          <a:latin typeface="Verdana" panose="020B0604030504040204" pitchFamily="34" charset="0"/>
                          <a:ea typeface="Verdana" panose="020B0604030504040204" pitchFamily="34" charset="0"/>
                        </a:rPr>
                        <a:t>Thema</a:t>
                      </a:r>
                      <a:endParaRPr lang="en-NL" sz="1000">
                        <a:solidFill>
                          <a:schemeClr val="tx1"/>
                        </a:solidFill>
                        <a:latin typeface="Verdana" panose="020B0604030504040204" pitchFamily="34" charset="0"/>
                        <a:ea typeface="Verdana" panose="020B060403050404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DEBCE"/>
                    </a:solidFill>
                  </a:tcPr>
                </a:tc>
                <a:extLst>
                  <a:ext uri="{0D108BD9-81ED-4DB2-BD59-A6C34878D82A}">
                    <a16:rowId xmlns:a16="http://schemas.microsoft.com/office/drawing/2014/main" val="147431491"/>
                  </a:ext>
                </a:extLst>
              </a:tr>
              <a:tr h="247613">
                <a:tc>
                  <a:txBody>
                    <a:bodyPr/>
                    <a:lstStyle/>
                    <a:p>
                      <a:r>
                        <a:rPr lang="en-NL" sz="1000" err="1">
                          <a:latin typeface="Verdana" panose="020B0604030504040204" pitchFamily="34" charset="0"/>
                          <a:ea typeface="Verdana" panose="020B0604030504040204" pitchFamily="34" charset="0"/>
                        </a:rPr>
                        <a:t>Reductie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fouten</a:t>
                      </a:r>
                      <a:r>
                        <a:rPr lang="en-NL" sz="1000">
                          <a:latin typeface="Verdana" panose="020B0604030504040204" pitchFamily="34" charset="0"/>
                          <a:ea typeface="Verdana" panose="020B0604030504040204" pitchFamily="34" charset="0"/>
                        </a:rPr>
                        <a:t> in </a:t>
                      </a:r>
                      <a:r>
                        <a:rPr lang="en-NL" sz="1000" err="1">
                          <a:latin typeface="Verdana" panose="020B0604030504040204" pitchFamily="34" charset="0"/>
                          <a:ea typeface="Verdana" panose="020B0604030504040204" pitchFamily="34" charset="0"/>
                        </a:rPr>
                        <a:t>communicatie</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5067637"/>
                  </a:ext>
                </a:extLst>
              </a:tr>
              <a:tr h="247613">
                <a:tc>
                  <a:txBody>
                    <a:bodyPr/>
                    <a:lstStyle/>
                    <a:p>
                      <a:r>
                        <a:rPr lang="en-NL" sz="1000" err="1">
                          <a:latin typeface="Verdana" panose="020B0604030504040204" pitchFamily="34" charset="0"/>
                          <a:ea typeface="Verdana" panose="020B0604030504040204" pitchFamily="34" charset="0"/>
                        </a:rPr>
                        <a:t>Verbeterde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overdracht</a:t>
                      </a:r>
                      <a:endParaRPr lang="en-NL" sz="1000">
                        <a:latin typeface="Verdana" panose="020B0604030504040204" pitchFamily="34" charset="0"/>
                        <a:ea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227995"/>
                  </a:ext>
                </a:extLst>
              </a:tr>
              <a:tr h="247613">
                <a:tc>
                  <a:txBody>
                    <a:bodyPr/>
                    <a:lstStyle/>
                    <a:p>
                      <a:r>
                        <a:rPr lang="en-NL" sz="1000" err="1">
                          <a:latin typeface="Verdana" panose="020B0604030504040204" pitchFamily="34" charset="0"/>
                          <a:ea typeface="Verdana" panose="020B0604030504040204" pitchFamily="34" charset="0"/>
                        </a:rPr>
                        <a:t>Reductie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administratieve</a:t>
                      </a:r>
                      <a:r>
                        <a:rPr lang="en-NL" sz="1000">
                          <a:latin typeface="Verdana" panose="020B0604030504040204" pitchFamily="34" charset="0"/>
                          <a:ea typeface="Verdana" panose="020B0604030504040204" pitchFamily="34" charset="0"/>
                        </a:rPr>
                        <a:t> last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0908911"/>
                  </a:ext>
                </a:extLst>
              </a:tr>
              <a:tr h="247613">
                <a:tc>
                  <a:txBody>
                    <a:bodyPr/>
                    <a:lstStyle/>
                    <a:p>
                      <a:r>
                        <a:rPr lang="en-NL" sz="1000" err="1">
                          <a:latin typeface="Verdana" panose="020B0604030504040204" pitchFamily="34" charset="0"/>
                          <a:ea typeface="Verdana" panose="020B0604030504040204" pitchFamily="34" charset="0"/>
                        </a:rPr>
                        <a:t>Verbeterde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kwaliteit</a:t>
                      </a:r>
                      <a:r>
                        <a:rPr lang="en-NL" sz="1000">
                          <a:latin typeface="Verdana" panose="020B0604030504040204" pitchFamily="34" charset="0"/>
                          <a:ea typeface="Verdana" panose="020B0604030504040204" pitchFamily="34" charset="0"/>
                        </a:rPr>
                        <a:t> acute </a:t>
                      </a:r>
                      <a:r>
                        <a:rPr lang="en-NL" sz="1000" err="1">
                          <a:latin typeface="Verdana" panose="020B0604030504040204" pitchFamily="34" charset="0"/>
                          <a:ea typeface="Verdana" panose="020B0604030504040204" pitchFamily="34" charset="0"/>
                        </a:rPr>
                        <a:t>zorg</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635351"/>
                  </a:ext>
                </a:extLst>
              </a:tr>
              <a:tr h="247613">
                <a:tc>
                  <a:txBody>
                    <a:bodyPr/>
                    <a:lstStyle/>
                    <a:p>
                      <a:r>
                        <a:rPr lang="en-NL" sz="1000" err="1">
                          <a:latin typeface="Verdana" panose="020B0604030504040204" pitchFamily="34" charset="0"/>
                          <a:ea typeface="Verdana" panose="020B0604030504040204" pitchFamily="34" charset="0"/>
                        </a:rPr>
                        <a:t>Verhoogde</a:t>
                      </a:r>
                      <a:r>
                        <a:rPr lang="en-NL" sz="1000">
                          <a:latin typeface="Verdana" panose="020B0604030504040204" pitchFamily="34" charset="0"/>
                          <a:ea typeface="Verdana" panose="020B0604030504040204" pitchFamily="34" charset="0"/>
                        </a:rPr>
                        <a:t> </a:t>
                      </a:r>
                      <a:r>
                        <a:rPr lang="en-NL" sz="1000" err="1">
                          <a:latin typeface="Verdana" panose="020B0604030504040204" pitchFamily="34" charset="0"/>
                          <a:ea typeface="Verdana" panose="020B0604030504040204" pitchFamily="34" charset="0"/>
                        </a:rPr>
                        <a:t>productiviteit</a:t>
                      </a:r>
                      <a:r>
                        <a:rPr lang="en-NL" sz="1000">
                          <a:latin typeface="Verdana" panose="020B0604030504040204" pitchFamily="34" charset="0"/>
                          <a:ea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NL" sz="1000">
                          <a:solidFill>
                            <a:schemeClr val="tx1"/>
                          </a:solidFill>
                          <a:latin typeface="Verdana" panose="020B0604030504040204" pitchFamily="34" charset="0"/>
                          <a:ea typeface="Verdana" panose="020B0604030504040204" pitchFamily="34" charset="0"/>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1224328"/>
                  </a:ext>
                </a:extLst>
              </a:tr>
            </a:tbl>
          </a:graphicData>
        </a:graphic>
      </p:graphicFrame>
      <p:sp>
        <p:nvSpPr>
          <p:cNvPr id="10" name="Tijdelijke aanduiding voor inhoud 49">
            <a:extLst>
              <a:ext uri="{FF2B5EF4-FFF2-40B4-BE49-F238E27FC236}">
                <a16:creationId xmlns:a16="http://schemas.microsoft.com/office/drawing/2014/main" id="{CB522C9B-0706-ADDD-841A-C4CD8853E5D7}"/>
              </a:ext>
            </a:extLst>
          </p:cNvPr>
          <p:cNvSpPr txBox="1">
            <a:spLocks/>
          </p:cNvSpPr>
          <p:nvPr/>
        </p:nvSpPr>
        <p:spPr>
          <a:xfrm>
            <a:off x="335322" y="1368055"/>
            <a:ext cx="11431375" cy="27528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Met de realisatie van de </a:t>
            </a:r>
            <a:r>
              <a:rPr kumimoji="0" lang="nl-NL" sz="14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usecases</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en gegevensdiensten onder zowel thema 1, Digitale en (zorg)communicatie met inwoners en patiënten, en professionals onderling, als thema 2, Dossier Inzage en Digitale Overdracht van (Acute) Zorg, ter ondersteuning van de basis op orde, wordt grote impact verwacht.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 </a:t>
            </a:r>
            <a:r>
              <a:rPr kumimoji="0" lang="en-NL" sz="14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verwachte</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NL" sz="14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effecten</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 de regio</a:t>
            </a:r>
            <a:r>
              <a:rPr lang="nl-NL" sz="1400" b="1">
                <a:solidFill>
                  <a:prstClr val="black"/>
                </a:solidFill>
              </a:rPr>
              <a:t> van</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het beschikbaar hebben van </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 </a:t>
            </a:r>
            <a:r>
              <a:rPr kumimoji="0" lang="en-NL" sz="14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juiste</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formatie, op het juiste moment en op de juiste plek, </a:t>
            </a:r>
            <a:r>
              <a:rPr lang="nl-NL" sz="1400" b="1">
                <a:solidFill>
                  <a:prstClr val="black"/>
                </a:solidFill>
              </a:rPr>
              <a:t>é</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n</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het faciliteren van samenwerken in het netwerk</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zijn</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NL" sz="14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algemeen</a:t>
            </a:r>
            <a:r>
              <a:rPr lang="nl-NL" sz="1400" b="1">
                <a:solidFill>
                  <a:prstClr val="black"/>
                </a:solidFill>
              </a:rPr>
              <a:t> </a:t>
            </a:r>
            <a:r>
              <a:rPr kumimoji="0" lang="en-NL" sz="14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en</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nl-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over de </a:t>
            </a:r>
            <a:r>
              <a:rPr kumimoji="0" lang="en-NL" sz="14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domeinen</a:t>
            </a:r>
            <a:r>
              <a:rPr kumimoji="0" lang="en-NL"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endParaRPr kumimoji="0" lang="nl-NL" sz="1400" b="1" i="0" u="none" strike="noStrike" kern="1200" cap="none" spc="0" normalizeH="0" baseline="0" noProof="0">
              <a:ln>
                <a:noFill/>
              </a:ln>
              <a:solidFill>
                <a:prstClr val="black"/>
              </a:solidFill>
              <a:effectLst/>
              <a:uLnTx/>
              <a:uFillTx/>
              <a:latin typeface="Verdana" panose="020B0604030504040204" pitchFamily="34" charset="0"/>
              <a:ea typeface="Calibri" panose="020F0502020204030204" pitchFamily="34" charset="0"/>
              <a:cs typeface="Arial" panose="020B0604020202020204" pitchFamily="34" charset="0"/>
            </a:endParaRPr>
          </a:p>
        </p:txBody>
      </p:sp>
      <p:sp>
        <p:nvSpPr>
          <p:cNvPr id="12" name="Rechthoek 8">
            <a:extLst>
              <a:ext uri="{FF2B5EF4-FFF2-40B4-BE49-F238E27FC236}">
                <a16:creationId xmlns:a16="http://schemas.microsoft.com/office/drawing/2014/main" id="{24887F56-A7D1-8BC1-AA6A-E2811362FB0B}"/>
              </a:ext>
            </a:extLst>
          </p:cNvPr>
          <p:cNvSpPr/>
          <p:nvPr/>
        </p:nvSpPr>
        <p:spPr>
          <a:xfrm>
            <a:off x="11036300" y="6242289"/>
            <a:ext cx="1125351" cy="581908"/>
          </a:xfrm>
          <a:prstGeom prst="rect">
            <a:avLst/>
          </a:prstGeom>
          <a:blipFill dpi="0" rotWithShape="1">
            <a:blip r:embed="rId4"/>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hthoek 14">
            <a:extLst>
              <a:ext uri="{FF2B5EF4-FFF2-40B4-BE49-F238E27FC236}">
                <a16:creationId xmlns:a16="http://schemas.microsoft.com/office/drawing/2014/main" id="{AE8499E0-2ADF-4ED8-2FD6-09351ADB1C06}"/>
              </a:ext>
            </a:extLst>
          </p:cNvPr>
          <p:cNvSpPr/>
          <p:nvPr/>
        </p:nvSpPr>
        <p:spPr>
          <a:xfrm>
            <a:off x="9209674" y="802109"/>
            <a:ext cx="1116419" cy="3951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Autofit/>
          </a:bodyPr>
          <a:lstStyle/>
          <a:p>
            <a:pPr algn="l"/>
            <a:r>
              <a:rPr lang="nl-NL" sz="2800">
                <a:latin typeface="Verdana Pro" panose="020B0604030504040204" pitchFamily="34" charset="0"/>
              </a:rPr>
              <a:t>Mogelijke indicatoren voor effectmeting en impactanalyse van beoogde transformaties</a:t>
            </a:r>
            <a:endParaRPr lang="nl-NL" sz="2800" b="1">
              <a:solidFill>
                <a:srgbClr val="8C95CD"/>
              </a:solidFill>
              <a:latin typeface="Verdana Pro" panose="020B0604030504040204" pitchFamily="34" charset="0"/>
            </a:endParaRPr>
          </a:p>
        </p:txBody>
      </p:sp>
      <p:sp>
        <p:nvSpPr>
          <p:cNvPr id="42" name="Rectangle: Top Corners Rounded 38">
            <a:hlinkClick r:id="rId5" action="ppaction://hlinksldjump"/>
            <a:extLst>
              <a:ext uri="{FF2B5EF4-FFF2-40B4-BE49-F238E27FC236}">
                <a16:creationId xmlns:a16="http://schemas.microsoft.com/office/drawing/2014/main" id="{41177215-2D77-5FF7-7100-F8057961ACC0}"/>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43" name="Graphic 42" descr="Introductiepagina silhouet">
            <a:hlinkClick r:id="rId6" action="ppaction://hlinksldjump"/>
            <a:extLst>
              <a:ext uri="{FF2B5EF4-FFF2-40B4-BE49-F238E27FC236}">
                <a16:creationId xmlns:a16="http://schemas.microsoft.com/office/drawing/2014/main" id="{4D7B03CF-D4C5-745B-38F9-0EB9414422C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44" name="Rectangle: Top Corners Rounded 1">
            <a:hlinkClick r:id="rId9" action="ppaction://hlinksldjump"/>
            <a:extLst>
              <a:ext uri="{FF2B5EF4-FFF2-40B4-BE49-F238E27FC236}">
                <a16:creationId xmlns:a16="http://schemas.microsoft.com/office/drawing/2014/main" id="{185C7E9B-AFFB-79F3-0612-28D04DDD6685}"/>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45" name="Rectangle: Top Corners Rounded 1">
            <a:hlinkClick r:id="rId10" action="ppaction://hlinksldjump"/>
            <a:extLst>
              <a:ext uri="{FF2B5EF4-FFF2-40B4-BE49-F238E27FC236}">
                <a16:creationId xmlns:a16="http://schemas.microsoft.com/office/drawing/2014/main" id="{A89F2592-5C7B-00B3-3E61-370CEE3FF27D}"/>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46" name="Rectangle: Top Corners Rounded 1">
            <a:hlinkClick r:id="rId11" action="ppaction://hlinksldjump"/>
            <a:extLst>
              <a:ext uri="{FF2B5EF4-FFF2-40B4-BE49-F238E27FC236}">
                <a16:creationId xmlns:a16="http://schemas.microsoft.com/office/drawing/2014/main" id="{62741C40-CE03-5757-7212-5B63F1F2B3EF}"/>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47" name="Rectangle: Top Corners Rounded 1">
            <a:hlinkClick r:id="rId12" action="ppaction://hlinksldjump"/>
            <a:extLst>
              <a:ext uri="{FF2B5EF4-FFF2-40B4-BE49-F238E27FC236}">
                <a16:creationId xmlns:a16="http://schemas.microsoft.com/office/drawing/2014/main" id="{12F0873C-D5E6-8D75-FAE0-CA7BE9B8229F}"/>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48" name="Rectangle: Top Corners Rounded 1">
            <a:hlinkClick r:id="rId13" action="ppaction://hlinksldjump"/>
            <a:extLst>
              <a:ext uri="{FF2B5EF4-FFF2-40B4-BE49-F238E27FC236}">
                <a16:creationId xmlns:a16="http://schemas.microsoft.com/office/drawing/2014/main" id="{962E932E-093E-938C-D563-FF06F92A2F97}"/>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9" name="Rectangle: Top Corners Rounded 1">
            <a:hlinkClick r:id="rId14" action="ppaction://hlinksldjump"/>
            <a:extLst>
              <a:ext uri="{FF2B5EF4-FFF2-40B4-BE49-F238E27FC236}">
                <a16:creationId xmlns:a16="http://schemas.microsoft.com/office/drawing/2014/main" id="{91B0E80E-5B73-9B3F-4CCE-5EC55DEF91F4}"/>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50" name="Rectangle: Top Corners Rounded 1">
            <a:hlinkClick r:id="rId15" action="ppaction://hlinksldjump"/>
            <a:extLst>
              <a:ext uri="{FF2B5EF4-FFF2-40B4-BE49-F238E27FC236}">
                <a16:creationId xmlns:a16="http://schemas.microsoft.com/office/drawing/2014/main" id="{5A419821-F82B-B109-1D36-8220E84192DE}"/>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51" name="Rectangle: Top Corners Rounded 1">
            <a:hlinkClick r:id="rId16" action="ppaction://hlinksldjump"/>
            <a:extLst>
              <a:ext uri="{FF2B5EF4-FFF2-40B4-BE49-F238E27FC236}">
                <a16:creationId xmlns:a16="http://schemas.microsoft.com/office/drawing/2014/main" id="{535F043D-47D4-59E4-0C3D-D3667C371E31}"/>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52" name="Rectangle: Top Corners Rounded 1">
            <a:hlinkClick r:id="rId17" action="ppaction://hlinksldjump"/>
            <a:extLst>
              <a:ext uri="{FF2B5EF4-FFF2-40B4-BE49-F238E27FC236}">
                <a16:creationId xmlns:a16="http://schemas.microsoft.com/office/drawing/2014/main" id="{29A81C4C-1C0F-FCB6-214C-20ACCF1C5794}"/>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53" name="Rectangle: Top Corners Rounded 1">
            <a:hlinkClick r:id="rId18" action="ppaction://hlinksldjump"/>
            <a:extLst>
              <a:ext uri="{FF2B5EF4-FFF2-40B4-BE49-F238E27FC236}">
                <a16:creationId xmlns:a16="http://schemas.microsoft.com/office/drawing/2014/main" id="{249D9DFF-600C-D8A9-6DCA-5A23A0697B23}"/>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54" name="Rectangle: Top Corners Rounded 1">
            <a:hlinkClick r:id="rId19" action="ppaction://hlinksldjump"/>
            <a:extLst>
              <a:ext uri="{FF2B5EF4-FFF2-40B4-BE49-F238E27FC236}">
                <a16:creationId xmlns:a16="http://schemas.microsoft.com/office/drawing/2014/main" id="{D61A4742-808C-94CE-034D-36F9F0F67D62}"/>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3680960288"/>
      </p:ext>
    </p:extLst>
  </p:cSld>
  <p:clrMapOvr>
    <a:masterClrMapping/>
  </p:clrMapOvr>
  <p:extLst>
    <p:ext uri="{6950BFC3-D8DA-4A85-94F7-54DA5524770B}">
      <p188:commentRel xmlns:p188="http://schemas.microsoft.com/office/powerpoint/2018/8/main" r:id="rId3"/>
    </p:ext>
  </p:extLst>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rmAutofit fontScale="90000"/>
          </a:bodyPr>
          <a:lstStyle/>
          <a:p>
            <a:pPr algn="l"/>
            <a:r>
              <a:rPr lang="nl-NL" sz="3600" b="1">
                <a:solidFill>
                  <a:srgbClr val="8C95CD"/>
                </a:solidFill>
                <a:latin typeface="Helvetica" pitchFamily="2" charset="0"/>
              </a:rPr>
              <a:t>…</a:t>
            </a:r>
          </a:p>
        </p:txBody>
      </p:sp>
      <p:sp>
        <p:nvSpPr>
          <p:cNvPr id="3" name="Tijdelijke aanduiding voor inhoud 2">
            <a:extLst>
              <a:ext uri="{FF2B5EF4-FFF2-40B4-BE49-F238E27FC236}">
                <a16:creationId xmlns:a16="http://schemas.microsoft.com/office/drawing/2014/main" id="{FE87F43F-A23F-7D2F-4D7F-443C970B1CE1}"/>
              </a:ext>
            </a:extLst>
          </p:cNvPr>
          <p:cNvSpPr>
            <a:spLocks noGrp="1"/>
          </p:cNvSpPr>
          <p:nvPr>
            <p:ph idx="1"/>
          </p:nvPr>
        </p:nvSpPr>
        <p:spPr/>
        <p:txBody>
          <a:bodyPr vert="horz" lIns="91440" tIns="45720" rIns="91440" bIns="45720" rtlCol="0" anchor="t">
            <a:noAutofit/>
          </a:bodyPr>
          <a:lstStyle/>
          <a:p>
            <a:pPr marL="0" lvl="1" indent="0" algn="just">
              <a:lnSpc>
                <a:spcPct val="110000"/>
              </a:lnSpc>
              <a:spcBef>
                <a:spcPts val="0"/>
              </a:spcBef>
              <a:buNone/>
            </a:pPr>
            <a:r>
              <a:rPr lang="nl-NL" sz="1800">
                <a:latin typeface="Verdana"/>
                <a:ea typeface="Verdana"/>
              </a:rPr>
              <a:t>[</a:t>
            </a:r>
            <a:r>
              <a:rPr lang="nl-NL" sz="1800" err="1">
                <a:latin typeface="Verdana"/>
                <a:ea typeface="Verdana"/>
              </a:rPr>
              <a:t>Placeholder</a:t>
            </a:r>
            <a:r>
              <a:rPr lang="nl-NL" sz="1800">
                <a:latin typeface="Verdana"/>
                <a:ea typeface="Verdana"/>
              </a:rPr>
              <a:t>]</a:t>
            </a:r>
          </a:p>
          <a:p>
            <a:pPr marL="0" lvl="1" indent="0" algn="just">
              <a:lnSpc>
                <a:spcPct val="110000"/>
              </a:lnSpc>
              <a:spcBef>
                <a:spcPts val="0"/>
              </a:spcBef>
              <a:buNone/>
            </a:pPr>
            <a:endParaRPr lang="nl-NL" sz="1800">
              <a:latin typeface="Verdana"/>
              <a:ea typeface="Verdana"/>
            </a:endParaRPr>
          </a:p>
        </p:txBody>
      </p:sp>
      <p:sp>
        <p:nvSpPr>
          <p:cNvPr id="6" name="Text Placeholder 5">
            <a:extLst>
              <a:ext uri="{FF2B5EF4-FFF2-40B4-BE49-F238E27FC236}">
                <a16:creationId xmlns:a16="http://schemas.microsoft.com/office/drawing/2014/main" id="{C179D3E2-2833-424B-ED07-8C33052F6D24}"/>
              </a:ext>
            </a:extLst>
          </p:cNvPr>
          <p:cNvSpPr>
            <a:spLocks noGrp="1"/>
          </p:cNvSpPr>
          <p:nvPr>
            <p:ph type="body" sz="quarter" idx="10"/>
          </p:nvPr>
        </p:nvSpPr>
        <p:spPr/>
        <p:txBody>
          <a:bodyPr/>
          <a:lstStyle/>
          <a:p>
            <a:endParaRPr lang="en-GB"/>
          </a:p>
        </p:txBody>
      </p:sp>
      <p:sp>
        <p:nvSpPr>
          <p:cNvPr id="2" name="Rechthoek 1">
            <a:extLst>
              <a:ext uri="{FF2B5EF4-FFF2-40B4-BE49-F238E27FC236}">
                <a16:creationId xmlns:a16="http://schemas.microsoft.com/office/drawing/2014/main" id="{1E5A5C06-06D7-91B5-7326-FA843C6B9F97}"/>
              </a:ext>
            </a:extLst>
          </p:cNvPr>
          <p:cNvSpPr/>
          <p:nvPr/>
        </p:nvSpPr>
        <p:spPr>
          <a:xfrm>
            <a:off x="10632841" y="5168766"/>
            <a:ext cx="1546459" cy="16727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echthoek 8">
            <a:extLst>
              <a:ext uri="{FF2B5EF4-FFF2-40B4-BE49-F238E27FC236}">
                <a16:creationId xmlns:a16="http://schemas.microsoft.com/office/drawing/2014/main" id="{E6272525-382C-0B04-EE69-2103F86EA8A4}"/>
              </a:ext>
            </a:extLst>
          </p:cNvPr>
          <p:cNvSpPr/>
          <p:nvPr/>
        </p:nvSpPr>
        <p:spPr>
          <a:xfrm>
            <a:off x="11221643" y="6376589"/>
            <a:ext cx="965408" cy="473008"/>
          </a:xfrm>
          <a:prstGeom prst="rect">
            <a:avLst/>
          </a:prstGeom>
          <a:blipFill dpi="0" rotWithShape="1">
            <a:blip r:embed="rId3"/>
            <a:srcRect/>
            <a:stretch>
              <a:fillRect l="-12330" t="-42202"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Rectangle: Top Corners Rounded 38">
            <a:hlinkClick r:id="rId4" action="ppaction://hlinksldjump"/>
            <a:extLst>
              <a:ext uri="{FF2B5EF4-FFF2-40B4-BE49-F238E27FC236}">
                <a16:creationId xmlns:a16="http://schemas.microsoft.com/office/drawing/2014/main" id="{C1E3FFA2-A820-0E4D-490F-161693793D8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34" name="Graphic 33" descr="Introductiepagina silhouet">
            <a:hlinkClick r:id="rId5" action="ppaction://hlinksldjump"/>
            <a:extLst>
              <a:ext uri="{FF2B5EF4-FFF2-40B4-BE49-F238E27FC236}">
                <a16:creationId xmlns:a16="http://schemas.microsoft.com/office/drawing/2014/main" id="{CFA03D66-1EE0-52EA-5BB9-DC60D90C41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35" name="Rectangle: Top Corners Rounded 1">
            <a:hlinkClick r:id="rId8" action="ppaction://hlinksldjump"/>
            <a:extLst>
              <a:ext uri="{FF2B5EF4-FFF2-40B4-BE49-F238E27FC236}">
                <a16:creationId xmlns:a16="http://schemas.microsoft.com/office/drawing/2014/main" id="{7364703F-B8B6-8437-2F65-CF463946C357}"/>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6" name="Rectangle: Top Corners Rounded 1">
            <a:hlinkClick r:id="rId9" action="ppaction://hlinksldjump"/>
            <a:extLst>
              <a:ext uri="{FF2B5EF4-FFF2-40B4-BE49-F238E27FC236}">
                <a16:creationId xmlns:a16="http://schemas.microsoft.com/office/drawing/2014/main" id="{A1E4DEE8-ADBD-9407-26B7-A640DC99F4E9}"/>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7" name="Rectangle: Top Corners Rounded 1">
            <a:hlinkClick r:id="rId10" action="ppaction://hlinksldjump"/>
            <a:extLst>
              <a:ext uri="{FF2B5EF4-FFF2-40B4-BE49-F238E27FC236}">
                <a16:creationId xmlns:a16="http://schemas.microsoft.com/office/drawing/2014/main" id="{2F442D65-7497-551C-68DA-0E0978323007}"/>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8" name="Rectangle: Top Corners Rounded 1">
            <a:hlinkClick r:id="rId11" action="ppaction://hlinksldjump"/>
            <a:extLst>
              <a:ext uri="{FF2B5EF4-FFF2-40B4-BE49-F238E27FC236}">
                <a16:creationId xmlns:a16="http://schemas.microsoft.com/office/drawing/2014/main" id="{2B765C52-DFA7-308A-8F56-837E709E4D2C}"/>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9" name="Rectangle: Top Corners Rounded 1">
            <a:hlinkClick r:id="rId12" action="ppaction://hlinksldjump"/>
            <a:extLst>
              <a:ext uri="{FF2B5EF4-FFF2-40B4-BE49-F238E27FC236}">
                <a16:creationId xmlns:a16="http://schemas.microsoft.com/office/drawing/2014/main" id="{864ABF10-0A46-E894-1978-C1A6D26B4E44}"/>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40" name="Rectangle: Top Corners Rounded 1">
            <a:hlinkClick r:id="rId13" action="ppaction://hlinksldjump"/>
            <a:extLst>
              <a:ext uri="{FF2B5EF4-FFF2-40B4-BE49-F238E27FC236}">
                <a16:creationId xmlns:a16="http://schemas.microsoft.com/office/drawing/2014/main" id="{1C1159DA-73A5-0339-ECAE-D2E9D0EADF05}"/>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41" name="Rectangle: Top Corners Rounded 1">
            <a:hlinkClick r:id="rId14" action="ppaction://hlinksldjump"/>
            <a:extLst>
              <a:ext uri="{FF2B5EF4-FFF2-40B4-BE49-F238E27FC236}">
                <a16:creationId xmlns:a16="http://schemas.microsoft.com/office/drawing/2014/main" id="{DBA5ADDD-2F5C-0774-4762-43E2E846AF19}"/>
              </a:ext>
            </a:extLst>
          </p:cNvPr>
          <p:cNvSpPr/>
          <p:nvPr/>
        </p:nvSpPr>
        <p:spPr>
          <a:xfrm>
            <a:off x="671209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Overkoepelende businesscase</a:t>
            </a:r>
          </a:p>
        </p:txBody>
      </p:sp>
      <p:sp>
        <p:nvSpPr>
          <p:cNvPr id="42" name="Rectangle: Top Corners Rounded 1">
            <a:hlinkClick r:id="rId15" action="ppaction://hlinksldjump"/>
            <a:extLst>
              <a:ext uri="{FF2B5EF4-FFF2-40B4-BE49-F238E27FC236}">
                <a16:creationId xmlns:a16="http://schemas.microsoft.com/office/drawing/2014/main" id="{F92D0947-2570-0B99-4A5F-77E25D14187E}"/>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43" name="Rectangle: Top Corners Rounded 1">
            <a:hlinkClick r:id="rId16" action="ppaction://hlinksldjump"/>
            <a:extLst>
              <a:ext uri="{FF2B5EF4-FFF2-40B4-BE49-F238E27FC236}">
                <a16:creationId xmlns:a16="http://schemas.microsoft.com/office/drawing/2014/main" id="{6ADCDC71-F1C3-E4C0-9B76-1D39B47864AE}"/>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44" name="Rectangle: Top Corners Rounded 1">
            <a:hlinkClick r:id="rId17" action="ppaction://hlinksldjump"/>
            <a:extLst>
              <a:ext uri="{FF2B5EF4-FFF2-40B4-BE49-F238E27FC236}">
                <a16:creationId xmlns:a16="http://schemas.microsoft.com/office/drawing/2014/main" id="{C895CF40-BF06-66B0-A721-5144F987D2EB}"/>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5" name="Rectangle: Top Corners Rounded 1">
            <a:hlinkClick r:id="rId18" action="ppaction://hlinksldjump"/>
            <a:extLst>
              <a:ext uri="{FF2B5EF4-FFF2-40B4-BE49-F238E27FC236}">
                <a16:creationId xmlns:a16="http://schemas.microsoft.com/office/drawing/2014/main" id="{F6ACD386-D38F-3561-2318-4037781FBF4D}"/>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30589547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a:xfrm>
            <a:off x="769061" y="2728540"/>
            <a:ext cx="10515600" cy="1261351"/>
          </a:xfrm>
        </p:spPr>
        <p:txBody>
          <a:bodyPr vert="horz">
            <a:normAutofit/>
          </a:bodyPr>
          <a:lstStyle/>
          <a:p>
            <a:r>
              <a:rPr lang="fr-FR"/>
              <a:t>Governance en </a:t>
            </a:r>
            <a:r>
              <a:rPr lang="fr-FR" err="1"/>
              <a:t>programmastructuur</a:t>
            </a:r>
            <a:r>
              <a:rPr lang="fr-FR"/>
              <a:t> </a:t>
            </a:r>
          </a:p>
        </p:txBody>
      </p:sp>
    </p:spTree>
    <p:extLst>
      <p:ext uri="{BB962C8B-B14F-4D97-AF65-F5344CB8AC3E}">
        <p14:creationId xmlns:p14="http://schemas.microsoft.com/office/powerpoint/2010/main" val="9652966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9720000" cy="504000"/>
          </a:xfrm>
        </p:spPr>
        <p:txBody>
          <a:bodyPr>
            <a:noAutofit/>
          </a:bodyPr>
          <a:lstStyle/>
          <a:p>
            <a:r>
              <a:rPr lang="nl-NL" err="1"/>
              <a:t>Governance</a:t>
            </a:r>
            <a:r>
              <a:rPr lang="nl-NL"/>
              <a:t> </a:t>
            </a:r>
            <a:r>
              <a:rPr lang="nl-NL" err="1"/>
              <a:t>Trijn</a:t>
            </a:r>
            <a:r>
              <a:rPr lang="nl-NL"/>
              <a:t> bij aanvraag transformatie</a:t>
            </a:r>
          </a:p>
        </p:txBody>
      </p:sp>
      <p:sp>
        <p:nvSpPr>
          <p:cNvPr id="3" name="Content Placeholder 16">
            <a:extLst>
              <a:ext uri="{FF2B5EF4-FFF2-40B4-BE49-F238E27FC236}">
                <a16:creationId xmlns:a16="http://schemas.microsoft.com/office/drawing/2014/main" id="{89EBDA20-7120-2C20-FFF7-52A2A1686E07}"/>
              </a:ext>
            </a:extLst>
          </p:cNvPr>
          <p:cNvSpPr>
            <a:spLocks noGrp="1"/>
          </p:cNvSpPr>
          <p:nvPr>
            <p:ph idx="1"/>
          </p:nvPr>
        </p:nvSpPr>
        <p:spPr>
          <a:xfrm>
            <a:off x="425302" y="1473998"/>
            <a:ext cx="11233171" cy="4693530"/>
          </a:xfrm>
        </p:spPr>
        <p:txBody>
          <a:bodyPr>
            <a:noAutofit/>
          </a:bodyPr>
          <a:lstStyle/>
          <a:p>
            <a:r>
              <a:rPr lang="nl-NL"/>
              <a:t>De Algemene Leden Vergadering (ALV) van </a:t>
            </a:r>
            <a:r>
              <a:rPr lang="nl-NL" err="1"/>
              <a:t>Trijn</a:t>
            </a:r>
            <a:r>
              <a:rPr lang="nl-NL"/>
              <a:t> wordt verbreed naar representatie vanuit de gemeenten, via een regiocoördinator IZA, de GGD, welzijn, de buurtteams en in verbinding met de bewonerstafels. Aansluiting op de gehele IZA transformatie opgave geschiedt via het tactisch en bestuurlijk overleg op regionaal niveau Midden Nederland.</a:t>
            </a:r>
          </a:p>
        </p:txBody>
      </p:sp>
      <p:sp>
        <p:nvSpPr>
          <p:cNvPr id="42" name="Text Placeholder 41">
            <a:extLst>
              <a:ext uri="{FF2B5EF4-FFF2-40B4-BE49-F238E27FC236}">
                <a16:creationId xmlns:a16="http://schemas.microsoft.com/office/drawing/2014/main" id="{01AFF4E4-1972-AC11-344E-333C2F52BA9A}"/>
              </a:ext>
            </a:extLst>
          </p:cNvPr>
          <p:cNvSpPr>
            <a:spLocks noGrp="1"/>
          </p:cNvSpPr>
          <p:nvPr>
            <p:ph type="body" sz="quarter" idx="10"/>
          </p:nvPr>
        </p:nvSpPr>
        <p:spPr/>
        <p:txBody>
          <a:bodyPr/>
          <a:lstStyle/>
          <a:p>
            <a:endParaRPr lang="en-GB"/>
          </a:p>
        </p:txBody>
      </p:sp>
      <p:pic>
        <p:nvPicPr>
          <p:cNvPr id="37" name="Afbeelding 36">
            <a:extLst>
              <a:ext uri="{FF2B5EF4-FFF2-40B4-BE49-F238E27FC236}">
                <a16:creationId xmlns:a16="http://schemas.microsoft.com/office/drawing/2014/main" id="{9150762D-8E43-732F-26DC-FFD78F0D3680}"/>
              </a:ext>
            </a:extLst>
          </p:cNvPr>
          <p:cNvPicPr>
            <a:picLocks noChangeAspect="1"/>
          </p:cNvPicPr>
          <p:nvPr/>
        </p:nvPicPr>
        <p:blipFill>
          <a:blip r:embed="rId3"/>
          <a:stretch>
            <a:fillRect/>
          </a:stretch>
        </p:blipFill>
        <p:spPr>
          <a:xfrm>
            <a:off x="3256014" y="2123811"/>
            <a:ext cx="5679973" cy="4455602"/>
          </a:xfrm>
          <a:prstGeom prst="rect">
            <a:avLst/>
          </a:prstGeom>
        </p:spPr>
      </p:pic>
      <p:sp>
        <p:nvSpPr>
          <p:cNvPr id="5" name="Rectangle: Top Corners Rounded 38">
            <a:hlinkClick r:id="rId4" action="ppaction://hlinksldjump"/>
            <a:extLst>
              <a:ext uri="{FF2B5EF4-FFF2-40B4-BE49-F238E27FC236}">
                <a16:creationId xmlns:a16="http://schemas.microsoft.com/office/drawing/2014/main" id="{C49C8507-743B-9694-CBED-EAEB0AB4B24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6" name="Graphic 5" descr="Introductiepagina silhouet">
            <a:hlinkClick r:id="rId5" action="ppaction://hlinksldjump"/>
            <a:extLst>
              <a:ext uri="{FF2B5EF4-FFF2-40B4-BE49-F238E27FC236}">
                <a16:creationId xmlns:a16="http://schemas.microsoft.com/office/drawing/2014/main" id="{890C98AE-0C89-6D09-3680-984E0210CF0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7" name="Rectangle: Top Corners Rounded 1">
            <a:hlinkClick r:id="rId8" action="ppaction://hlinksldjump"/>
            <a:extLst>
              <a:ext uri="{FF2B5EF4-FFF2-40B4-BE49-F238E27FC236}">
                <a16:creationId xmlns:a16="http://schemas.microsoft.com/office/drawing/2014/main" id="{7CE46CD6-497D-41B3-5990-551C30930E9E}"/>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8" name="Rectangle: Top Corners Rounded 1">
            <a:hlinkClick r:id="rId9" action="ppaction://hlinksldjump"/>
            <a:extLst>
              <a:ext uri="{FF2B5EF4-FFF2-40B4-BE49-F238E27FC236}">
                <a16:creationId xmlns:a16="http://schemas.microsoft.com/office/drawing/2014/main" id="{81F1A92E-D804-1E8C-8E3B-7657D3DF630A}"/>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9" name="Rectangle: Top Corners Rounded 1">
            <a:hlinkClick r:id="rId10" action="ppaction://hlinksldjump"/>
            <a:extLst>
              <a:ext uri="{FF2B5EF4-FFF2-40B4-BE49-F238E27FC236}">
                <a16:creationId xmlns:a16="http://schemas.microsoft.com/office/drawing/2014/main" id="{EF3C7462-292C-808D-CE0C-1CF8BA04AC88}"/>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0" name="Rectangle: Top Corners Rounded 1">
            <a:hlinkClick r:id="rId11" action="ppaction://hlinksldjump"/>
            <a:extLst>
              <a:ext uri="{FF2B5EF4-FFF2-40B4-BE49-F238E27FC236}">
                <a16:creationId xmlns:a16="http://schemas.microsoft.com/office/drawing/2014/main" id="{D10B783C-31EB-D55E-C110-6E3CB0EB4EB8}"/>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1" name="Rectangle: Top Corners Rounded 1">
            <a:hlinkClick r:id="rId12" action="ppaction://hlinksldjump"/>
            <a:extLst>
              <a:ext uri="{FF2B5EF4-FFF2-40B4-BE49-F238E27FC236}">
                <a16:creationId xmlns:a16="http://schemas.microsoft.com/office/drawing/2014/main" id="{157C3CCE-9BDA-A9C2-1EA5-13362F37E77B}"/>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3" action="ppaction://hlinksldjump"/>
            <a:extLst>
              <a:ext uri="{FF2B5EF4-FFF2-40B4-BE49-F238E27FC236}">
                <a16:creationId xmlns:a16="http://schemas.microsoft.com/office/drawing/2014/main" id="{16D3673D-997A-12FF-C4C3-4211F307BAFF}"/>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14" action="ppaction://hlinksldjump"/>
            <a:extLst>
              <a:ext uri="{FF2B5EF4-FFF2-40B4-BE49-F238E27FC236}">
                <a16:creationId xmlns:a16="http://schemas.microsoft.com/office/drawing/2014/main" id="{0A6B7E02-638F-E07F-2B1E-188D82236697}"/>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4" name="Rectangle: Top Corners Rounded 1">
            <a:hlinkClick r:id="rId15" action="ppaction://hlinksldjump"/>
            <a:extLst>
              <a:ext uri="{FF2B5EF4-FFF2-40B4-BE49-F238E27FC236}">
                <a16:creationId xmlns:a16="http://schemas.microsoft.com/office/drawing/2014/main" id="{D86C1A5C-2D8A-08BA-6E10-9D2BC16F762C}"/>
              </a:ext>
            </a:extLst>
          </p:cNvPr>
          <p:cNvSpPr/>
          <p:nvPr/>
        </p:nvSpPr>
        <p:spPr>
          <a:xfrm>
            <a:off x="762958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err="1">
                <a:solidFill>
                  <a:srgbClr val="F1F2F9"/>
                </a:solidFill>
                <a:latin typeface="Verdana Pro" panose="020B0604030504040204" pitchFamily="34" charset="0"/>
                <a:ea typeface="Verdana" panose="020B0604030504040204" pitchFamily="34" charset="0"/>
              </a:rPr>
              <a:t>Governance</a:t>
            </a:r>
            <a:r>
              <a:rPr lang="nl-NL" sz="600" b="1">
                <a:solidFill>
                  <a:srgbClr val="F1F2F9"/>
                </a:solidFill>
                <a:latin typeface="Verdana Pro" panose="020B0604030504040204" pitchFamily="34" charset="0"/>
                <a:ea typeface="Verdana" panose="020B0604030504040204" pitchFamily="34" charset="0"/>
              </a:rPr>
              <a:t> en </a:t>
            </a:r>
            <a:r>
              <a:rPr lang="nl-NL" sz="600" b="1" err="1">
                <a:solidFill>
                  <a:srgbClr val="F1F2F9"/>
                </a:solidFill>
                <a:latin typeface="Verdana Pro" panose="020B0604030504040204" pitchFamily="34" charset="0"/>
                <a:ea typeface="Verdana" panose="020B0604030504040204" pitchFamily="34" charset="0"/>
              </a:rPr>
              <a:t>programma-structuur</a:t>
            </a:r>
            <a:endParaRPr lang="nl-NL" sz="600" b="1">
              <a:solidFill>
                <a:srgbClr val="F1F2F9"/>
              </a:solidFill>
              <a:latin typeface="Verdana Pro" panose="020B0604030504040204" pitchFamily="34" charset="0"/>
              <a:ea typeface="Verdana" panose="020B0604030504040204" pitchFamily="34" charset="0"/>
            </a:endParaRPr>
          </a:p>
        </p:txBody>
      </p:sp>
      <p:sp>
        <p:nvSpPr>
          <p:cNvPr id="15" name="Rectangle: Top Corners Rounded 1">
            <a:hlinkClick r:id="rId16" action="ppaction://hlinksldjump"/>
            <a:extLst>
              <a:ext uri="{FF2B5EF4-FFF2-40B4-BE49-F238E27FC236}">
                <a16:creationId xmlns:a16="http://schemas.microsoft.com/office/drawing/2014/main" id="{B9AEBF80-3C44-BAA3-20E3-9F9B3327606C}"/>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6" name="Rectangle: Top Corners Rounded 1">
            <a:hlinkClick r:id="rId17" action="ppaction://hlinksldjump"/>
            <a:extLst>
              <a:ext uri="{FF2B5EF4-FFF2-40B4-BE49-F238E27FC236}">
                <a16:creationId xmlns:a16="http://schemas.microsoft.com/office/drawing/2014/main" id="{999A04B4-9EB0-E338-D00F-1149CF20942F}"/>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7" name="Rectangle: Top Corners Rounded 1">
            <a:hlinkClick r:id="rId18" action="ppaction://hlinksldjump"/>
            <a:extLst>
              <a:ext uri="{FF2B5EF4-FFF2-40B4-BE49-F238E27FC236}">
                <a16:creationId xmlns:a16="http://schemas.microsoft.com/office/drawing/2014/main" id="{59B65A80-C8E4-E938-8C20-99516E98195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7761724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kstvak 38">
            <a:extLst>
              <a:ext uri="{FF2B5EF4-FFF2-40B4-BE49-F238E27FC236}">
                <a16:creationId xmlns:a16="http://schemas.microsoft.com/office/drawing/2014/main" id="{A37B24F8-B5A7-52AC-03C9-CC5AAF3C1064}"/>
              </a:ext>
            </a:extLst>
          </p:cNvPr>
          <p:cNvSpPr txBox="1"/>
          <p:nvPr/>
        </p:nvSpPr>
        <p:spPr>
          <a:xfrm>
            <a:off x="806301" y="4510823"/>
            <a:ext cx="5799221" cy="1092607"/>
          </a:xfrm>
          <a:prstGeom prst="rect">
            <a:avLst/>
          </a:prstGeom>
          <a:solidFill>
            <a:schemeClr val="accent5">
              <a:lumMod val="20000"/>
              <a:lumOff val="80000"/>
            </a:schemeClr>
          </a:solidFill>
        </p:spPr>
        <p:txBody>
          <a:bodyPr wrap="square" rtlCol="0">
            <a:spAutoFit/>
          </a:bodyPr>
          <a:lstStyle/>
          <a:p>
            <a:endParaRPr lang="nl-NL"/>
          </a:p>
          <a:p>
            <a:endParaRPr lang="nl-NL"/>
          </a:p>
          <a:p>
            <a:pPr algn="ctr"/>
            <a:endParaRPr lang="nl-NL" sz="1100"/>
          </a:p>
          <a:p>
            <a:pPr algn="ctr"/>
            <a:r>
              <a:rPr lang="nl-NL" sz="1100"/>
              <a:t>Mandaat</a:t>
            </a:r>
            <a:r>
              <a:rPr lang="nl-NL"/>
              <a:t> </a:t>
            </a:r>
            <a:r>
              <a:rPr lang="nl-NL" sz="1100"/>
              <a:t>vanuit de ALV</a:t>
            </a:r>
          </a:p>
        </p:txBody>
      </p:sp>
      <p:graphicFrame>
        <p:nvGraphicFramePr>
          <p:cNvPr id="33" name="Diagram 32">
            <a:extLst>
              <a:ext uri="{FF2B5EF4-FFF2-40B4-BE49-F238E27FC236}">
                <a16:creationId xmlns:a16="http://schemas.microsoft.com/office/drawing/2014/main" id="{21C58C0B-2796-4795-59A5-A26E914D7E4B}"/>
              </a:ext>
            </a:extLst>
          </p:cNvPr>
          <p:cNvGraphicFramePr/>
          <p:nvPr>
            <p:extLst>
              <p:ext uri="{D42A27DB-BD31-4B8C-83A1-F6EECF244321}">
                <p14:modId xmlns:p14="http://schemas.microsoft.com/office/powerpoint/2010/main" val="2152635536"/>
              </p:ext>
            </p:extLst>
          </p:nvPr>
        </p:nvGraphicFramePr>
        <p:xfrm>
          <a:off x="4203213" y="1872526"/>
          <a:ext cx="8128000" cy="4958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kstvak 1">
            <a:extLst>
              <a:ext uri="{FF2B5EF4-FFF2-40B4-BE49-F238E27FC236}">
                <a16:creationId xmlns:a16="http://schemas.microsoft.com/office/drawing/2014/main" id="{50285633-6FB7-1D28-385E-BFD3534A5E05}"/>
              </a:ext>
            </a:extLst>
          </p:cNvPr>
          <p:cNvSpPr txBox="1"/>
          <p:nvPr/>
        </p:nvSpPr>
        <p:spPr>
          <a:xfrm>
            <a:off x="806301" y="3251441"/>
            <a:ext cx="5799221" cy="1092607"/>
          </a:xfrm>
          <a:prstGeom prst="rect">
            <a:avLst/>
          </a:prstGeom>
          <a:solidFill>
            <a:schemeClr val="accent5">
              <a:lumMod val="20000"/>
              <a:lumOff val="80000"/>
            </a:schemeClr>
          </a:solidFill>
        </p:spPr>
        <p:txBody>
          <a:bodyPr wrap="square" rtlCol="0">
            <a:spAutoFit/>
          </a:bodyPr>
          <a:lstStyle/>
          <a:p>
            <a:endParaRPr lang="nl-NL"/>
          </a:p>
          <a:p>
            <a:endParaRPr lang="nl-NL"/>
          </a:p>
          <a:p>
            <a:endParaRPr lang="nl-NL"/>
          </a:p>
          <a:p>
            <a:pPr algn="ctr"/>
            <a:r>
              <a:rPr lang="nl-NL" sz="1100"/>
              <a:t>Adviserend </a:t>
            </a:r>
            <a:endParaRPr lang="nl-NL"/>
          </a:p>
        </p:txBody>
      </p:sp>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Autofit/>
          </a:bodyPr>
          <a:lstStyle/>
          <a:p>
            <a:pPr algn="l"/>
            <a:r>
              <a:rPr lang="nl-NL" b="1">
                <a:solidFill>
                  <a:srgbClr val="8C95CD"/>
                </a:solidFill>
                <a:latin typeface="Verdana Pro" panose="020B0604030504040204" pitchFamily="34" charset="0"/>
              </a:rPr>
              <a:t>Het programma voor de transformatieopgaven in relatie tot de </a:t>
            </a:r>
            <a:r>
              <a:rPr lang="nl-NL" b="1" err="1">
                <a:solidFill>
                  <a:srgbClr val="8C95CD"/>
                </a:solidFill>
                <a:latin typeface="Verdana Pro" panose="020B0604030504040204" pitchFamily="34" charset="0"/>
              </a:rPr>
              <a:t>Governance</a:t>
            </a:r>
            <a:r>
              <a:rPr lang="nl-NL" b="1">
                <a:solidFill>
                  <a:srgbClr val="8C95CD"/>
                </a:solidFill>
                <a:latin typeface="Verdana Pro" panose="020B0604030504040204" pitchFamily="34" charset="0"/>
              </a:rPr>
              <a:t> van </a:t>
            </a:r>
            <a:r>
              <a:rPr lang="nl-NL" b="1" err="1">
                <a:solidFill>
                  <a:srgbClr val="8C95CD"/>
                </a:solidFill>
                <a:latin typeface="Verdana Pro" panose="020B0604030504040204" pitchFamily="34" charset="0"/>
              </a:rPr>
              <a:t>Trijn</a:t>
            </a:r>
            <a:endParaRPr lang="nl-NL" b="1">
              <a:solidFill>
                <a:srgbClr val="8C95CD"/>
              </a:solidFill>
              <a:latin typeface="Verdana Pro" panose="020B0604030504040204" pitchFamily="34" charset="0"/>
            </a:endParaRPr>
          </a:p>
        </p:txBody>
      </p:sp>
      <p:sp>
        <p:nvSpPr>
          <p:cNvPr id="5" name="Content Placeholder 16">
            <a:extLst>
              <a:ext uri="{FF2B5EF4-FFF2-40B4-BE49-F238E27FC236}">
                <a16:creationId xmlns:a16="http://schemas.microsoft.com/office/drawing/2014/main" id="{3C1A8C40-1F6D-5B5E-74E3-5FEF363BD55B}"/>
              </a:ext>
            </a:extLst>
          </p:cNvPr>
          <p:cNvSpPr>
            <a:spLocks noGrp="1"/>
          </p:cNvSpPr>
          <p:nvPr>
            <p:ph idx="1"/>
          </p:nvPr>
        </p:nvSpPr>
        <p:spPr>
          <a:xfrm>
            <a:off x="425302" y="1384204"/>
            <a:ext cx="11233171" cy="4693530"/>
          </a:xfrm>
        </p:spPr>
        <p:txBody>
          <a:bodyPr>
            <a:noAutofit/>
          </a:bodyPr>
          <a:lstStyle/>
          <a:p>
            <a:pPr marL="0" indent="0" algn="just">
              <a:buNone/>
            </a:pPr>
            <a:r>
              <a:rPr lang="nl-NL" sz="1400" b="1">
                <a:effectLst/>
                <a:cs typeface="Times New Roman" panose="02020603050405020304" pitchFamily="18" charset="0"/>
              </a:rPr>
              <a:t>Vanui</a:t>
            </a:r>
            <a:r>
              <a:rPr lang="nl-NL" sz="1400" b="1">
                <a:cs typeface="Times New Roman" panose="02020603050405020304" pitchFamily="18" charset="0"/>
              </a:rPr>
              <a:t>t strategisch en tactisch beleid in de regio, vindt de uitvoering van de transformatie opgaven plaats binnen een programma met projectinzet en capaciteit van haar betrokken organisaties, leden en partners.</a:t>
            </a:r>
            <a:endParaRPr lang="nl-NL" sz="1400" b="1">
              <a:effectLst/>
              <a:cs typeface="Times New Roman" panose="02020603050405020304" pitchFamily="18" charset="0"/>
            </a:endParaRPr>
          </a:p>
        </p:txBody>
      </p:sp>
      <p:grpSp>
        <p:nvGrpSpPr>
          <p:cNvPr id="7" name="Groep 6">
            <a:extLst>
              <a:ext uri="{FF2B5EF4-FFF2-40B4-BE49-F238E27FC236}">
                <a16:creationId xmlns:a16="http://schemas.microsoft.com/office/drawing/2014/main" id="{4FB499E8-C16E-3C40-617B-495F3DD3C050}"/>
              </a:ext>
            </a:extLst>
          </p:cNvPr>
          <p:cNvGrpSpPr/>
          <p:nvPr/>
        </p:nvGrpSpPr>
        <p:grpSpPr>
          <a:xfrm>
            <a:off x="2828790" y="4722137"/>
            <a:ext cx="3625785" cy="538658"/>
            <a:chOff x="1984" y="2440004"/>
            <a:chExt cx="3817857" cy="538658"/>
          </a:xfrm>
        </p:grpSpPr>
        <p:sp>
          <p:nvSpPr>
            <p:cNvPr id="11" name="Rechthoek 10">
              <a:extLst>
                <a:ext uri="{FF2B5EF4-FFF2-40B4-BE49-F238E27FC236}">
                  <a16:creationId xmlns:a16="http://schemas.microsoft.com/office/drawing/2014/main" id="{3A0049E7-2F5C-80E9-6530-2507E95D44CA}"/>
                </a:ext>
              </a:extLst>
            </p:cNvPr>
            <p:cNvSpPr/>
            <p:nvPr/>
          </p:nvSpPr>
          <p:spPr>
            <a:xfrm>
              <a:off x="1984" y="2440004"/>
              <a:ext cx="1766093" cy="538658"/>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NL"/>
            </a:p>
          </p:txBody>
        </p:sp>
        <p:sp>
          <p:nvSpPr>
            <p:cNvPr id="12" name="Tekstvak 11">
              <a:extLst>
                <a:ext uri="{FF2B5EF4-FFF2-40B4-BE49-F238E27FC236}">
                  <a16:creationId xmlns:a16="http://schemas.microsoft.com/office/drawing/2014/main" id="{9E23E012-D464-F692-72E1-2D67CFD0023C}"/>
                </a:ext>
              </a:extLst>
            </p:cNvPr>
            <p:cNvSpPr txBox="1"/>
            <p:nvPr/>
          </p:nvSpPr>
          <p:spPr>
            <a:xfrm>
              <a:off x="13446" y="2440004"/>
              <a:ext cx="3806395"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algn="ctr" defTabSz="400050">
                <a:lnSpc>
                  <a:spcPct val="90000"/>
                </a:lnSpc>
                <a:spcBef>
                  <a:spcPct val="0"/>
                </a:spcBef>
                <a:spcAft>
                  <a:spcPct val="35000"/>
                </a:spcAft>
              </a:pPr>
              <a:r>
                <a:rPr lang="nl-NL" sz="900" kern="1200"/>
                <a:t>Stuurgroep Digitale Transformatie regio Midden Nederland</a:t>
              </a:r>
              <a:r>
                <a:rPr lang="nl-NL" sz="900"/>
                <a:t> </a:t>
              </a:r>
              <a:endParaRPr lang="nl-NL"/>
            </a:p>
            <a:p>
              <a:pPr algn="ctr" defTabSz="400050">
                <a:lnSpc>
                  <a:spcPct val="90000"/>
                </a:lnSpc>
                <a:spcBef>
                  <a:spcPct val="0"/>
                </a:spcBef>
                <a:spcAft>
                  <a:spcPct val="35000"/>
                </a:spcAft>
              </a:pPr>
              <a:r>
                <a:rPr lang="nl-NL" sz="900"/>
                <a:t>(afvaardiging per sector)</a:t>
              </a:r>
              <a:endParaRPr lang="nl-NL"/>
            </a:p>
          </p:txBody>
        </p:sp>
      </p:grpSp>
      <p:sp>
        <p:nvSpPr>
          <p:cNvPr id="20" name="Tekstvak 19">
            <a:extLst>
              <a:ext uri="{FF2B5EF4-FFF2-40B4-BE49-F238E27FC236}">
                <a16:creationId xmlns:a16="http://schemas.microsoft.com/office/drawing/2014/main" id="{AF816A4D-46B5-D38D-8871-2452EB6E831D}"/>
              </a:ext>
            </a:extLst>
          </p:cNvPr>
          <p:cNvSpPr txBox="1"/>
          <p:nvPr/>
        </p:nvSpPr>
        <p:spPr>
          <a:xfrm>
            <a:off x="965064" y="3484500"/>
            <a:ext cx="716435"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defPPr>
              <a:defRPr lang="nl-NL"/>
            </a:defPPr>
            <a:lvl1pPr lvl="0" indent="0" algn="ctr" defTabSz="400050">
              <a:lnSpc>
                <a:spcPct val="90000"/>
              </a:lnSpc>
              <a:spcBef>
                <a:spcPct val="0"/>
              </a:spcBef>
              <a:spcAft>
                <a:spcPct val="35000"/>
              </a:spcAft>
              <a:buNone/>
              <a:defRPr sz="900"/>
            </a:lvl1pPr>
          </a:lstStyle>
          <a:p>
            <a:r>
              <a:rPr lang="nl-NL"/>
              <a:t>CIO </a:t>
            </a:r>
          </a:p>
          <a:p>
            <a:r>
              <a:rPr lang="nl-NL"/>
              <a:t>Groep</a:t>
            </a:r>
          </a:p>
        </p:txBody>
      </p:sp>
      <p:sp>
        <p:nvSpPr>
          <p:cNvPr id="23" name="Tekstvak 22">
            <a:extLst>
              <a:ext uri="{FF2B5EF4-FFF2-40B4-BE49-F238E27FC236}">
                <a16:creationId xmlns:a16="http://schemas.microsoft.com/office/drawing/2014/main" id="{D1A2D45A-97A6-C70F-5B2F-EED59DDAFCA1}"/>
              </a:ext>
            </a:extLst>
          </p:cNvPr>
          <p:cNvSpPr txBox="1"/>
          <p:nvPr/>
        </p:nvSpPr>
        <p:spPr>
          <a:xfrm>
            <a:off x="1727674" y="3484500"/>
            <a:ext cx="716435"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defPPr>
              <a:defRPr lang="nl-NL"/>
            </a:defPPr>
            <a:lvl1pPr lvl="0" indent="0" algn="ctr" defTabSz="400050">
              <a:lnSpc>
                <a:spcPct val="90000"/>
              </a:lnSpc>
              <a:spcBef>
                <a:spcPct val="0"/>
              </a:spcBef>
              <a:spcAft>
                <a:spcPct val="35000"/>
              </a:spcAft>
              <a:buNone/>
              <a:defRPr sz="900"/>
            </a:lvl1pPr>
          </a:lstStyle>
          <a:p>
            <a:r>
              <a:rPr lang="nl-NL"/>
              <a:t>Platform </a:t>
            </a:r>
          </a:p>
          <a:p>
            <a:r>
              <a:rPr lang="nl-NL"/>
              <a:t>RTA</a:t>
            </a:r>
          </a:p>
        </p:txBody>
      </p:sp>
      <p:sp>
        <p:nvSpPr>
          <p:cNvPr id="26" name="Tekstvak 25">
            <a:extLst>
              <a:ext uri="{FF2B5EF4-FFF2-40B4-BE49-F238E27FC236}">
                <a16:creationId xmlns:a16="http://schemas.microsoft.com/office/drawing/2014/main" id="{B08A7B6D-9A08-F17E-F8A8-90BDABC12AA0}"/>
              </a:ext>
            </a:extLst>
          </p:cNvPr>
          <p:cNvSpPr txBox="1"/>
          <p:nvPr/>
        </p:nvSpPr>
        <p:spPr>
          <a:xfrm>
            <a:off x="2490284" y="3484500"/>
            <a:ext cx="716435"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defPPr>
              <a:defRPr lang="nl-NL"/>
            </a:defPPr>
            <a:lvl1pPr lvl="0" indent="0" algn="ctr" defTabSz="400050">
              <a:lnSpc>
                <a:spcPct val="90000"/>
              </a:lnSpc>
              <a:spcBef>
                <a:spcPct val="0"/>
              </a:spcBef>
              <a:spcAft>
                <a:spcPct val="35000"/>
              </a:spcAft>
              <a:buNone/>
              <a:defRPr sz="900"/>
            </a:lvl1pPr>
          </a:lstStyle>
          <a:p>
            <a:r>
              <a:rPr lang="nl-NL"/>
              <a:t>Platform </a:t>
            </a:r>
          </a:p>
          <a:p>
            <a:r>
              <a:rPr lang="nl-NL"/>
              <a:t>CXIO</a:t>
            </a:r>
          </a:p>
        </p:txBody>
      </p:sp>
      <p:sp>
        <p:nvSpPr>
          <p:cNvPr id="29" name="Tekstvak 28">
            <a:extLst>
              <a:ext uri="{FF2B5EF4-FFF2-40B4-BE49-F238E27FC236}">
                <a16:creationId xmlns:a16="http://schemas.microsoft.com/office/drawing/2014/main" id="{3325FBAC-D418-4DB9-A80E-49292C473998}"/>
              </a:ext>
            </a:extLst>
          </p:cNvPr>
          <p:cNvSpPr txBox="1"/>
          <p:nvPr/>
        </p:nvSpPr>
        <p:spPr>
          <a:xfrm>
            <a:off x="3252894" y="3484500"/>
            <a:ext cx="716435"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nl-NL" sz="900" kern="1200"/>
              <a:t>Platform Digitalisering</a:t>
            </a:r>
          </a:p>
        </p:txBody>
      </p:sp>
      <p:sp>
        <p:nvSpPr>
          <p:cNvPr id="32" name="Tekstvak 31">
            <a:extLst>
              <a:ext uri="{FF2B5EF4-FFF2-40B4-BE49-F238E27FC236}">
                <a16:creationId xmlns:a16="http://schemas.microsoft.com/office/drawing/2014/main" id="{83A88B1A-B502-E7C1-B74C-BD138A300FDD}"/>
              </a:ext>
            </a:extLst>
          </p:cNvPr>
          <p:cNvSpPr txBox="1"/>
          <p:nvPr/>
        </p:nvSpPr>
        <p:spPr>
          <a:xfrm>
            <a:off x="4015504" y="3484500"/>
            <a:ext cx="716435"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nl-NL" sz="900"/>
              <a:t>Data-architectuur groep</a:t>
            </a:r>
            <a:endParaRPr lang="nl-NL" sz="900" kern="1200"/>
          </a:p>
        </p:txBody>
      </p:sp>
      <p:sp>
        <p:nvSpPr>
          <p:cNvPr id="38" name="Tekstvak 37">
            <a:extLst>
              <a:ext uri="{FF2B5EF4-FFF2-40B4-BE49-F238E27FC236}">
                <a16:creationId xmlns:a16="http://schemas.microsoft.com/office/drawing/2014/main" id="{C66C96DF-2F43-EBEA-28D9-41F743F65C1A}"/>
              </a:ext>
            </a:extLst>
          </p:cNvPr>
          <p:cNvSpPr txBox="1"/>
          <p:nvPr/>
        </p:nvSpPr>
        <p:spPr>
          <a:xfrm>
            <a:off x="4778115" y="3484500"/>
            <a:ext cx="1677243"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nl-NL" sz="900"/>
              <a:t>Architectuurboard</a:t>
            </a:r>
            <a:r>
              <a:rPr lang="nl-NL" sz="900" kern="1200"/>
              <a:t> Digitale Transformatie regio Midden Nederland</a:t>
            </a:r>
          </a:p>
        </p:txBody>
      </p:sp>
      <p:sp>
        <p:nvSpPr>
          <p:cNvPr id="40" name="Tekstvak 39">
            <a:extLst>
              <a:ext uri="{FF2B5EF4-FFF2-40B4-BE49-F238E27FC236}">
                <a16:creationId xmlns:a16="http://schemas.microsoft.com/office/drawing/2014/main" id="{81680B7B-FC2F-4683-15EC-23737415D35C}"/>
              </a:ext>
            </a:extLst>
          </p:cNvPr>
          <p:cNvSpPr txBox="1"/>
          <p:nvPr/>
        </p:nvSpPr>
        <p:spPr>
          <a:xfrm>
            <a:off x="806301" y="1984999"/>
            <a:ext cx="5799221" cy="1092607"/>
          </a:xfrm>
          <a:prstGeom prst="rect">
            <a:avLst/>
          </a:prstGeom>
          <a:solidFill>
            <a:schemeClr val="accent5">
              <a:lumMod val="20000"/>
              <a:lumOff val="80000"/>
            </a:schemeClr>
          </a:solidFill>
        </p:spPr>
        <p:txBody>
          <a:bodyPr wrap="square" rtlCol="0">
            <a:spAutoFit/>
          </a:bodyPr>
          <a:lstStyle/>
          <a:p>
            <a:endParaRPr lang="nl-NL"/>
          </a:p>
          <a:p>
            <a:endParaRPr lang="nl-NL"/>
          </a:p>
          <a:p>
            <a:endParaRPr lang="nl-NL"/>
          </a:p>
          <a:p>
            <a:pPr algn="ctr"/>
            <a:r>
              <a:rPr lang="nl-NL" sz="1100"/>
              <a:t>Bevoegd</a:t>
            </a:r>
            <a:endParaRPr lang="nl-NL"/>
          </a:p>
        </p:txBody>
      </p:sp>
      <p:grpSp>
        <p:nvGrpSpPr>
          <p:cNvPr id="41" name="Groep 40">
            <a:extLst>
              <a:ext uri="{FF2B5EF4-FFF2-40B4-BE49-F238E27FC236}">
                <a16:creationId xmlns:a16="http://schemas.microsoft.com/office/drawing/2014/main" id="{8648CAB1-3793-2C00-B2DD-723AAE06D557}"/>
              </a:ext>
            </a:extLst>
          </p:cNvPr>
          <p:cNvGrpSpPr/>
          <p:nvPr/>
        </p:nvGrpSpPr>
        <p:grpSpPr>
          <a:xfrm>
            <a:off x="2000275" y="2171630"/>
            <a:ext cx="1677243" cy="538658"/>
            <a:chOff x="1984" y="2440004"/>
            <a:chExt cx="1766093" cy="538658"/>
          </a:xfrm>
        </p:grpSpPr>
        <p:sp>
          <p:nvSpPr>
            <p:cNvPr id="42" name="Rechthoek 41">
              <a:extLst>
                <a:ext uri="{FF2B5EF4-FFF2-40B4-BE49-F238E27FC236}">
                  <a16:creationId xmlns:a16="http://schemas.microsoft.com/office/drawing/2014/main" id="{B16D24FD-BC44-2526-16CA-157D75D8DB6B}"/>
                </a:ext>
              </a:extLst>
            </p:cNvPr>
            <p:cNvSpPr/>
            <p:nvPr/>
          </p:nvSpPr>
          <p:spPr>
            <a:xfrm>
              <a:off x="1984" y="2440004"/>
              <a:ext cx="1766093" cy="538658"/>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NL"/>
            </a:p>
          </p:txBody>
        </p:sp>
        <p:sp>
          <p:nvSpPr>
            <p:cNvPr id="43" name="Tekstvak 42">
              <a:extLst>
                <a:ext uri="{FF2B5EF4-FFF2-40B4-BE49-F238E27FC236}">
                  <a16:creationId xmlns:a16="http://schemas.microsoft.com/office/drawing/2014/main" id="{B9853E37-F8A9-190C-A503-7178950C0ACC}"/>
                </a:ext>
              </a:extLst>
            </p:cNvPr>
            <p:cNvSpPr txBox="1"/>
            <p:nvPr/>
          </p:nvSpPr>
          <p:spPr>
            <a:xfrm>
              <a:off x="1984" y="2440004"/>
              <a:ext cx="1766093"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nl-NL" sz="900" kern="1200"/>
                <a:t>Bestuur</a:t>
              </a:r>
            </a:p>
          </p:txBody>
        </p:sp>
      </p:grpSp>
      <p:grpSp>
        <p:nvGrpSpPr>
          <p:cNvPr id="44" name="Groep 43">
            <a:extLst>
              <a:ext uri="{FF2B5EF4-FFF2-40B4-BE49-F238E27FC236}">
                <a16:creationId xmlns:a16="http://schemas.microsoft.com/office/drawing/2014/main" id="{4995A6B3-57A4-DC9E-AA15-5D670E944D43}"/>
              </a:ext>
            </a:extLst>
          </p:cNvPr>
          <p:cNvGrpSpPr/>
          <p:nvPr/>
        </p:nvGrpSpPr>
        <p:grpSpPr>
          <a:xfrm>
            <a:off x="3759879" y="2168432"/>
            <a:ext cx="1677243" cy="538658"/>
            <a:chOff x="1984" y="2440004"/>
            <a:chExt cx="1766093" cy="538658"/>
          </a:xfrm>
        </p:grpSpPr>
        <p:sp>
          <p:nvSpPr>
            <p:cNvPr id="45" name="Rechthoek 44">
              <a:extLst>
                <a:ext uri="{FF2B5EF4-FFF2-40B4-BE49-F238E27FC236}">
                  <a16:creationId xmlns:a16="http://schemas.microsoft.com/office/drawing/2014/main" id="{3E6B9459-DA3F-78A1-3FDF-7579C6635097}"/>
                </a:ext>
              </a:extLst>
            </p:cNvPr>
            <p:cNvSpPr/>
            <p:nvPr/>
          </p:nvSpPr>
          <p:spPr>
            <a:xfrm>
              <a:off x="1984" y="2440004"/>
              <a:ext cx="1766093" cy="538658"/>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NL"/>
            </a:p>
          </p:txBody>
        </p:sp>
        <p:sp>
          <p:nvSpPr>
            <p:cNvPr id="46" name="Tekstvak 45">
              <a:extLst>
                <a:ext uri="{FF2B5EF4-FFF2-40B4-BE49-F238E27FC236}">
                  <a16:creationId xmlns:a16="http://schemas.microsoft.com/office/drawing/2014/main" id="{7F1F22D8-171B-945B-684A-26BD7C4FFCD3}"/>
                </a:ext>
              </a:extLst>
            </p:cNvPr>
            <p:cNvSpPr txBox="1"/>
            <p:nvPr/>
          </p:nvSpPr>
          <p:spPr>
            <a:xfrm>
              <a:off x="1984" y="2440004"/>
              <a:ext cx="1766093"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nl-NL" sz="900" kern="1200"/>
                <a:t>Directeur</a:t>
              </a:r>
            </a:p>
          </p:txBody>
        </p:sp>
      </p:grpSp>
      <p:sp>
        <p:nvSpPr>
          <p:cNvPr id="47" name="Tekstvak 46">
            <a:extLst>
              <a:ext uri="{FF2B5EF4-FFF2-40B4-BE49-F238E27FC236}">
                <a16:creationId xmlns:a16="http://schemas.microsoft.com/office/drawing/2014/main" id="{ECBD5980-834D-A134-5251-24B57B029D39}"/>
              </a:ext>
            </a:extLst>
          </p:cNvPr>
          <p:cNvSpPr txBox="1"/>
          <p:nvPr/>
        </p:nvSpPr>
        <p:spPr>
          <a:xfrm>
            <a:off x="777907" y="5749392"/>
            <a:ext cx="5799221" cy="984885"/>
          </a:xfrm>
          <a:prstGeom prst="rect">
            <a:avLst/>
          </a:prstGeom>
          <a:solidFill>
            <a:schemeClr val="accent5">
              <a:lumMod val="20000"/>
              <a:lumOff val="80000"/>
            </a:schemeClr>
          </a:solidFill>
        </p:spPr>
        <p:txBody>
          <a:bodyPr wrap="square" rtlCol="0">
            <a:spAutoFit/>
          </a:bodyPr>
          <a:lstStyle/>
          <a:p>
            <a:endParaRPr lang="nl-NL"/>
          </a:p>
          <a:p>
            <a:endParaRPr lang="nl-NL"/>
          </a:p>
          <a:p>
            <a:pPr algn="ctr"/>
            <a:endParaRPr lang="nl-NL" sz="1100"/>
          </a:p>
          <a:p>
            <a:pPr algn="ctr"/>
            <a:r>
              <a:rPr lang="nl-NL" sz="1100"/>
              <a:t>Uitvoerend</a:t>
            </a:r>
          </a:p>
        </p:txBody>
      </p:sp>
      <p:grpSp>
        <p:nvGrpSpPr>
          <p:cNvPr id="48" name="Groep 47">
            <a:extLst>
              <a:ext uri="{FF2B5EF4-FFF2-40B4-BE49-F238E27FC236}">
                <a16:creationId xmlns:a16="http://schemas.microsoft.com/office/drawing/2014/main" id="{4181C888-BF62-2362-53A0-DD3E20D9C496}"/>
              </a:ext>
            </a:extLst>
          </p:cNvPr>
          <p:cNvGrpSpPr/>
          <p:nvPr/>
        </p:nvGrpSpPr>
        <p:grpSpPr>
          <a:xfrm>
            <a:off x="2837211" y="5917828"/>
            <a:ext cx="1677243" cy="538658"/>
            <a:chOff x="1984" y="2440004"/>
            <a:chExt cx="1766093" cy="538658"/>
          </a:xfrm>
        </p:grpSpPr>
        <p:sp>
          <p:nvSpPr>
            <p:cNvPr id="49" name="Rechthoek 48">
              <a:extLst>
                <a:ext uri="{FF2B5EF4-FFF2-40B4-BE49-F238E27FC236}">
                  <a16:creationId xmlns:a16="http://schemas.microsoft.com/office/drawing/2014/main" id="{FBE146C8-D502-10AF-E94C-D3134C764814}"/>
                </a:ext>
              </a:extLst>
            </p:cNvPr>
            <p:cNvSpPr/>
            <p:nvPr/>
          </p:nvSpPr>
          <p:spPr>
            <a:xfrm>
              <a:off x="1984" y="2440004"/>
              <a:ext cx="1766093" cy="538658"/>
            </a:xfrm>
            <a:prstGeom prst="rect">
              <a:avLst/>
            </a:prstGeom>
            <a:ln>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NL"/>
            </a:p>
          </p:txBody>
        </p:sp>
        <p:sp>
          <p:nvSpPr>
            <p:cNvPr id="50" name="Tekstvak 49">
              <a:extLst>
                <a:ext uri="{FF2B5EF4-FFF2-40B4-BE49-F238E27FC236}">
                  <a16:creationId xmlns:a16="http://schemas.microsoft.com/office/drawing/2014/main" id="{A382DEF1-E0EC-4C94-99E1-67F3076B6BAE}"/>
                </a:ext>
              </a:extLst>
            </p:cNvPr>
            <p:cNvSpPr txBox="1"/>
            <p:nvPr/>
          </p:nvSpPr>
          <p:spPr>
            <a:xfrm>
              <a:off x="1984" y="2440004"/>
              <a:ext cx="1766093" cy="538658"/>
            </a:xfrm>
            <a:prstGeom prst="rect">
              <a:avLst/>
            </a:prstGeom>
            <a:solidFill>
              <a:srgbClr val="21BBEF"/>
            </a:solidFill>
            <a:ln>
              <a:solidFill>
                <a:schemeClr val="bg1"/>
              </a:solid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nl-NL" sz="900" kern="1200"/>
                <a:t>Programma</a:t>
              </a:r>
            </a:p>
          </p:txBody>
        </p:sp>
      </p:grpSp>
      <p:sp>
        <p:nvSpPr>
          <p:cNvPr id="51" name="Rechteraccolade 50">
            <a:extLst>
              <a:ext uri="{FF2B5EF4-FFF2-40B4-BE49-F238E27FC236}">
                <a16:creationId xmlns:a16="http://schemas.microsoft.com/office/drawing/2014/main" id="{1CB98C48-38B9-4965-EA9D-542972F727B5}"/>
              </a:ext>
            </a:extLst>
          </p:cNvPr>
          <p:cNvSpPr/>
          <p:nvPr/>
        </p:nvSpPr>
        <p:spPr>
          <a:xfrm>
            <a:off x="9843166" y="2123585"/>
            <a:ext cx="820262" cy="38860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grpSp>
        <p:nvGrpSpPr>
          <p:cNvPr id="52" name="Groep 51">
            <a:extLst>
              <a:ext uri="{FF2B5EF4-FFF2-40B4-BE49-F238E27FC236}">
                <a16:creationId xmlns:a16="http://schemas.microsoft.com/office/drawing/2014/main" id="{17A299FA-B111-E6CA-1C2D-F5F183B69A4D}"/>
              </a:ext>
            </a:extLst>
          </p:cNvPr>
          <p:cNvGrpSpPr/>
          <p:nvPr/>
        </p:nvGrpSpPr>
        <p:grpSpPr>
          <a:xfrm>
            <a:off x="10962175" y="3805945"/>
            <a:ext cx="716435" cy="538658"/>
            <a:chOff x="1984" y="2440004"/>
            <a:chExt cx="1766093" cy="538658"/>
          </a:xfrm>
        </p:grpSpPr>
        <p:sp>
          <p:nvSpPr>
            <p:cNvPr id="53" name="Rechthoek 52">
              <a:extLst>
                <a:ext uri="{FF2B5EF4-FFF2-40B4-BE49-F238E27FC236}">
                  <a16:creationId xmlns:a16="http://schemas.microsoft.com/office/drawing/2014/main" id="{827F2CBE-AD1E-F457-F4CB-FA8524A14A7C}"/>
                </a:ext>
              </a:extLst>
            </p:cNvPr>
            <p:cNvSpPr/>
            <p:nvPr/>
          </p:nvSpPr>
          <p:spPr>
            <a:xfrm>
              <a:off x="1984" y="2440004"/>
              <a:ext cx="1766093" cy="538658"/>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NL"/>
            </a:p>
          </p:txBody>
        </p:sp>
        <p:sp>
          <p:nvSpPr>
            <p:cNvPr id="54" name="Tekstvak 53">
              <a:extLst>
                <a:ext uri="{FF2B5EF4-FFF2-40B4-BE49-F238E27FC236}">
                  <a16:creationId xmlns:a16="http://schemas.microsoft.com/office/drawing/2014/main" id="{826AAB05-37DA-3088-1093-CD8152808C84}"/>
                </a:ext>
              </a:extLst>
            </p:cNvPr>
            <p:cNvSpPr txBox="1"/>
            <p:nvPr/>
          </p:nvSpPr>
          <p:spPr>
            <a:xfrm>
              <a:off x="1984" y="2440004"/>
              <a:ext cx="1766093" cy="538658"/>
            </a:xfrm>
            <a:prstGeom prst="rect">
              <a:avLst/>
            </a:prstGeom>
            <a:solidFill>
              <a:srgbClr val="21BBEF"/>
            </a:solidFill>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nl-NL" sz="900" kern="1200"/>
                <a:t>ALV</a:t>
              </a:r>
            </a:p>
          </p:txBody>
        </p:sp>
      </p:grpSp>
      <p:sp>
        <p:nvSpPr>
          <p:cNvPr id="74" name="Tekstvak 73">
            <a:extLst>
              <a:ext uri="{FF2B5EF4-FFF2-40B4-BE49-F238E27FC236}">
                <a16:creationId xmlns:a16="http://schemas.microsoft.com/office/drawing/2014/main" id="{49CE1595-1BF9-7AEC-5183-5BA8E52FC9A3}"/>
              </a:ext>
            </a:extLst>
          </p:cNvPr>
          <p:cNvSpPr txBox="1"/>
          <p:nvPr/>
        </p:nvSpPr>
        <p:spPr>
          <a:xfrm>
            <a:off x="965674" y="4725471"/>
            <a:ext cx="1707035" cy="538658"/>
          </a:xfrm>
          <a:prstGeom prst="rect">
            <a:avLst/>
          </a:prstGeom>
          <a:solidFill>
            <a:srgbClr val="21BBEF"/>
          </a:solidFill>
          <a:ln w="57150">
            <a:solidFill>
              <a:schemeClr val="bg1"/>
            </a:solidFill>
            <a:prstDash val="dash"/>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defPPr>
              <a:defRPr lang="nl-NL"/>
            </a:defPPr>
            <a:lvl1pPr lvl="0" indent="0" algn="ctr" defTabSz="400050">
              <a:lnSpc>
                <a:spcPct val="90000"/>
              </a:lnSpc>
              <a:spcBef>
                <a:spcPct val="0"/>
              </a:spcBef>
              <a:spcAft>
                <a:spcPct val="35000"/>
              </a:spcAft>
              <a:buNone/>
              <a:defRPr sz="900"/>
            </a:lvl1pPr>
          </a:lstStyle>
          <a:p>
            <a:r>
              <a:rPr lang="nl-NL"/>
              <a:t>Voortgang &amp; monitoring Zilveren Kruis</a:t>
            </a:r>
            <a:endParaRPr lang="nl-NL">
              <a:cs typeface="Calibri"/>
            </a:endParaRPr>
          </a:p>
        </p:txBody>
      </p:sp>
      <p:sp>
        <p:nvSpPr>
          <p:cNvPr id="30" name="Rectangle: Top Corners Rounded 38">
            <a:hlinkClick r:id="rId8" action="ppaction://hlinksldjump"/>
            <a:extLst>
              <a:ext uri="{FF2B5EF4-FFF2-40B4-BE49-F238E27FC236}">
                <a16:creationId xmlns:a16="http://schemas.microsoft.com/office/drawing/2014/main" id="{24454178-5AD1-0717-CB9D-624C25E835FB}"/>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31" name="Graphic 30" descr="Introductiepagina silhouet">
            <a:hlinkClick r:id="rId9" action="ppaction://hlinksldjump"/>
            <a:extLst>
              <a:ext uri="{FF2B5EF4-FFF2-40B4-BE49-F238E27FC236}">
                <a16:creationId xmlns:a16="http://schemas.microsoft.com/office/drawing/2014/main" id="{041E9A09-7A9F-A76E-82E2-60561BBBE6B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136" y="147223"/>
            <a:ext cx="144000" cy="144000"/>
          </a:xfrm>
          <a:prstGeom prst="rect">
            <a:avLst/>
          </a:prstGeom>
        </p:spPr>
      </p:pic>
      <p:sp>
        <p:nvSpPr>
          <p:cNvPr id="34" name="Rectangle: Top Corners Rounded 1">
            <a:hlinkClick r:id="rId12" action="ppaction://hlinksldjump"/>
            <a:extLst>
              <a:ext uri="{FF2B5EF4-FFF2-40B4-BE49-F238E27FC236}">
                <a16:creationId xmlns:a16="http://schemas.microsoft.com/office/drawing/2014/main" id="{A93C05D7-0EA5-EF90-576F-6CAADDE9B9AB}"/>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5" name="Rectangle: Top Corners Rounded 1">
            <a:hlinkClick r:id="rId13" action="ppaction://hlinksldjump"/>
            <a:extLst>
              <a:ext uri="{FF2B5EF4-FFF2-40B4-BE49-F238E27FC236}">
                <a16:creationId xmlns:a16="http://schemas.microsoft.com/office/drawing/2014/main" id="{0303CAAA-B52C-708F-60A8-DCDCF9292BF3}"/>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6" name="Rectangle: Top Corners Rounded 1">
            <a:hlinkClick r:id="rId14" action="ppaction://hlinksldjump"/>
            <a:extLst>
              <a:ext uri="{FF2B5EF4-FFF2-40B4-BE49-F238E27FC236}">
                <a16:creationId xmlns:a16="http://schemas.microsoft.com/office/drawing/2014/main" id="{F2E7AC42-3B29-8DE4-21A7-39ABC115A6DD}"/>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7" name="Rectangle: Top Corners Rounded 1">
            <a:hlinkClick r:id="rId15" action="ppaction://hlinksldjump"/>
            <a:extLst>
              <a:ext uri="{FF2B5EF4-FFF2-40B4-BE49-F238E27FC236}">
                <a16:creationId xmlns:a16="http://schemas.microsoft.com/office/drawing/2014/main" id="{BE0ED83B-A3E4-4461-18CC-538D81382A91}"/>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55" name="Rectangle: Top Corners Rounded 1">
            <a:hlinkClick r:id="rId16" action="ppaction://hlinksldjump"/>
            <a:extLst>
              <a:ext uri="{FF2B5EF4-FFF2-40B4-BE49-F238E27FC236}">
                <a16:creationId xmlns:a16="http://schemas.microsoft.com/office/drawing/2014/main" id="{9F2896D3-013C-B26B-3929-D622DD0D51D9}"/>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56" name="Rectangle: Top Corners Rounded 1">
            <a:hlinkClick r:id="rId17" action="ppaction://hlinksldjump"/>
            <a:extLst>
              <a:ext uri="{FF2B5EF4-FFF2-40B4-BE49-F238E27FC236}">
                <a16:creationId xmlns:a16="http://schemas.microsoft.com/office/drawing/2014/main" id="{8DA8EFB5-E843-2A91-F1FC-2535695ACD77}"/>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57" name="Rectangle: Top Corners Rounded 1">
            <a:hlinkClick r:id="rId18" action="ppaction://hlinksldjump"/>
            <a:extLst>
              <a:ext uri="{FF2B5EF4-FFF2-40B4-BE49-F238E27FC236}">
                <a16:creationId xmlns:a16="http://schemas.microsoft.com/office/drawing/2014/main" id="{FE2E8400-CB9C-6FE9-9380-83EDE035EAC1}"/>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58" name="Rectangle: Top Corners Rounded 1">
            <a:hlinkClick r:id="rId19" action="ppaction://hlinksldjump"/>
            <a:extLst>
              <a:ext uri="{FF2B5EF4-FFF2-40B4-BE49-F238E27FC236}">
                <a16:creationId xmlns:a16="http://schemas.microsoft.com/office/drawing/2014/main" id="{D52E3E61-92CA-95CF-D3F6-4A2A82D04898}"/>
              </a:ext>
            </a:extLst>
          </p:cNvPr>
          <p:cNvSpPr/>
          <p:nvPr/>
        </p:nvSpPr>
        <p:spPr>
          <a:xfrm>
            <a:off x="762958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err="1">
                <a:solidFill>
                  <a:srgbClr val="F1F2F9"/>
                </a:solidFill>
                <a:latin typeface="Verdana Pro" panose="020B0604030504040204" pitchFamily="34" charset="0"/>
                <a:ea typeface="Verdana" panose="020B0604030504040204" pitchFamily="34" charset="0"/>
              </a:rPr>
              <a:t>Governance</a:t>
            </a:r>
            <a:r>
              <a:rPr lang="nl-NL" sz="600" b="1">
                <a:solidFill>
                  <a:srgbClr val="F1F2F9"/>
                </a:solidFill>
                <a:latin typeface="Verdana Pro" panose="020B0604030504040204" pitchFamily="34" charset="0"/>
                <a:ea typeface="Verdana" panose="020B0604030504040204" pitchFamily="34" charset="0"/>
              </a:rPr>
              <a:t> en </a:t>
            </a:r>
            <a:r>
              <a:rPr lang="nl-NL" sz="600" b="1" err="1">
                <a:solidFill>
                  <a:srgbClr val="F1F2F9"/>
                </a:solidFill>
                <a:latin typeface="Verdana Pro" panose="020B0604030504040204" pitchFamily="34" charset="0"/>
                <a:ea typeface="Verdana" panose="020B0604030504040204" pitchFamily="34" charset="0"/>
              </a:rPr>
              <a:t>programma-structuur</a:t>
            </a:r>
            <a:endParaRPr lang="nl-NL" sz="600" b="1">
              <a:solidFill>
                <a:srgbClr val="F1F2F9"/>
              </a:solidFill>
              <a:latin typeface="Verdana Pro" panose="020B0604030504040204" pitchFamily="34" charset="0"/>
              <a:ea typeface="Verdana" panose="020B0604030504040204" pitchFamily="34" charset="0"/>
            </a:endParaRPr>
          </a:p>
        </p:txBody>
      </p:sp>
      <p:sp>
        <p:nvSpPr>
          <p:cNvPr id="59" name="Rectangle: Top Corners Rounded 1">
            <a:hlinkClick r:id="rId20" action="ppaction://hlinksldjump"/>
            <a:extLst>
              <a:ext uri="{FF2B5EF4-FFF2-40B4-BE49-F238E27FC236}">
                <a16:creationId xmlns:a16="http://schemas.microsoft.com/office/drawing/2014/main" id="{80387E1A-2103-9E66-8330-EC5DA408FD5B}"/>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60" name="Rectangle: Top Corners Rounded 1">
            <a:hlinkClick r:id="rId21" action="ppaction://hlinksldjump"/>
            <a:extLst>
              <a:ext uri="{FF2B5EF4-FFF2-40B4-BE49-F238E27FC236}">
                <a16:creationId xmlns:a16="http://schemas.microsoft.com/office/drawing/2014/main" id="{4BDCBFAA-6897-938D-6621-878AC139D0F4}"/>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61" name="Rectangle: Top Corners Rounded 1">
            <a:hlinkClick r:id="rId22" action="ppaction://hlinksldjump"/>
            <a:extLst>
              <a:ext uri="{FF2B5EF4-FFF2-40B4-BE49-F238E27FC236}">
                <a16:creationId xmlns:a16="http://schemas.microsoft.com/office/drawing/2014/main" id="{654CDD64-D08C-2D54-64C8-C28926DBEEA5}"/>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32683591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Autofit/>
          </a:bodyPr>
          <a:lstStyle/>
          <a:p>
            <a:pPr algn="l"/>
            <a:r>
              <a:rPr lang="nl-NL" b="1">
                <a:solidFill>
                  <a:srgbClr val="8C95CD"/>
                </a:solidFill>
              </a:rPr>
              <a:t>Programmastructuur voor de uitvoering van de IZA Transformatieopgaven</a:t>
            </a:r>
          </a:p>
        </p:txBody>
      </p:sp>
      <p:sp>
        <p:nvSpPr>
          <p:cNvPr id="6" name="Tijdelijke aanduiding voor inhoud 1">
            <a:extLst>
              <a:ext uri="{FF2B5EF4-FFF2-40B4-BE49-F238E27FC236}">
                <a16:creationId xmlns:a16="http://schemas.microsoft.com/office/drawing/2014/main" id="{1C90293C-FC77-8B3F-4F14-41F5A243B6A2}"/>
              </a:ext>
            </a:extLst>
          </p:cNvPr>
          <p:cNvSpPr>
            <a:spLocks noGrp="1"/>
          </p:cNvSpPr>
          <p:nvPr>
            <p:ph idx="1"/>
          </p:nvPr>
        </p:nvSpPr>
        <p:spPr>
          <a:xfrm>
            <a:off x="425302" y="1977630"/>
            <a:ext cx="5369311" cy="4189897"/>
          </a:xfrm>
        </p:spPr>
        <p:txBody>
          <a:bodyPr vert="horz" lIns="91440" tIns="45720" rIns="91440" bIns="45720" rtlCol="0" anchor="t">
            <a:noAutofit/>
          </a:bodyPr>
          <a:lstStyle/>
          <a:p>
            <a:pPr marL="0" indent="0" algn="just">
              <a:lnSpc>
                <a:spcPct val="107000"/>
              </a:lnSpc>
              <a:spcAft>
                <a:spcPts val="800"/>
              </a:spcAft>
              <a:buNone/>
            </a:pPr>
            <a:r>
              <a:rPr lang="nl-NL" sz="1200">
                <a:effectLst/>
                <a:latin typeface="Verdana"/>
                <a:ea typeface="Calibri" panose="020F0502020204030204" pitchFamily="34" charset="0"/>
                <a:cs typeface="Arial"/>
              </a:rPr>
              <a:t>Het </a:t>
            </a:r>
            <a:r>
              <a:rPr lang="nl-NL" sz="1200">
                <a:latin typeface="Verdana"/>
                <a:ea typeface="Calibri" panose="020F0502020204030204" pitchFamily="34" charset="0"/>
                <a:cs typeface="Arial"/>
              </a:rPr>
              <a:t>programma ‘Digitalisering en Databeschikbaarheid als drijvende kracht voor Netwerkzorg in Midden-Nederland’ wordt onder regie van RSO </a:t>
            </a:r>
            <a:r>
              <a:rPr lang="nl-NL" sz="1200" err="1">
                <a:latin typeface="Verdana"/>
                <a:ea typeface="Calibri" panose="020F0502020204030204" pitchFamily="34" charset="0"/>
                <a:cs typeface="Arial"/>
              </a:rPr>
              <a:t>Trijn</a:t>
            </a:r>
            <a:r>
              <a:rPr lang="nl-NL" sz="1200">
                <a:latin typeface="Verdana"/>
                <a:ea typeface="Calibri" panose="020F0502020204030204" pitchFamily="34" charset="0"/>
                <a:cs typeface="Arial"/>
              </a:rPr>
              <a:t> uitgevoerd met haar leden en partners in de regio. Het programma geeft uitvoering aan de ambitie en transformatieopgave van de regio Midden-Nederland als </a:t>
            </a:r>
            <a:r>
              <a:rPr lang="nl-NL" sz="1200">
                <a:effectLst/>
                <a:latin typeface="Verdana"/>
                <a:ea typeface="Calibri" panose="020F0502020204030204" pitchFamily="34" charset="0"/>
                <a:cs typeface="Arial"/>
              </a:rPr>
              <a:t>het gaat om </a:t>
            </a:r>
            <a:r>
              <a:rPr lang="nl-NL" sz="1200" err="1">
                <a:effectLst/>
                <a:latin typeface="Verdana"/>
                <a:ea typeface="Calibri" panose="020F0502020204030204" pitchFamily="34" charset="0"/>
                <a:cs typeface="Arial"/>
              </a:rPr>
              <a:t>domeinoverstijgende</a:t>
            </a:r>
            <a:r>
              <a:rPr lang="nl-NL" sz="1200">
                <a:effectLst/>
                <a:latin typeface="Verdana"/>
                <a:ea typeface="Calibri" panose="020F0502020204030204" pitchFamily="34" charset="0"/>
                <a:cs typeface="Arial"/>
              </a:rPr>
              <a:t> digitalisering en gegevensuitwisseling.</a:t>
            </a:r>
          </a:p>
          <a:p>
            <a:pPr marL="0" indent="0" algn="just">
              <a:lnSpc>
                <a:spcPct val="107000"/>
              </a:lnSpc>
              <a:spcAft>
                <a:spcPts val="800"/>
              </a:spcAft>
              <a:buNone/>
            </a:pPr>
            <a:r>
              <a:rPr lang="nl-NL" sz="1200">
                <a:effectLst/>
                <a:latin typeface="Verdana"/>
                <a:ea typeface="Calibri" panose="020F0502020204030204" pitchFamily="34" charset="0"/>
                <a:cs typeface="Arial"/>
              </a:rPr>
              <a:t>O.l.v. een </a:t>
            </a:r>
            <a:r>
              <a:rPr lang="nl-NL" sz="1200">
                <a:latin typeface="Verdana"/>
                <a:ea typeface="Calibri" panose="020F0502020204030204" pitchFamily="34" charset="0"/>
                <a:cs typeface="Arial"/>
              </a:rPr>
              <a:t>regionale programmamanager, met toezicht van de stuurgroep Digitale Transformatie regio Midden Nederland én advisering van de Architectuurboard Digitale Transformatie regio Midden Nederland, wordt vanuit 3 programmaprojecten (1 fundament en 2 </a:t>
            </a:r>
            <a:r>
              <a:rPr lang="nl-NL" sz="1200" err="1">
                <a:latin typeface="Verdana"/>
                <a:ea typeface="Calibri" panose="020F0502020204030204" pitchFamily="34" charset="0"/>
                <a:cs typeface="Arial"/>
              </a:rPr>
              <a:t>use</a:t>
            </a:r>
            <a:r>
              <a:rPr lang="nl-NL" sz="1200">
                <a:latin typeface="Verdana"/>
                <a:ea typeface="Calibri" panose="020F0502020204030204" pitchFamily="34" charset="0"/>
                <a:cs typeface="Arial"/>
              </a:rPr>
              <a:t> cases) invulling gegeven aan </a:t>
            </a:r>
            <a:r>
              <a:rPr lang="nl-NL" sz="1200">
                <a:effectLst/>
                <a:latin typeface="Verdana"/>
                <a:ea typeface="Calibri" panose="020F0502020204030204" pitchFamily="34" charset="0"/>
                <a:cs typeface="Arial"/>
              </a:rPr>
              <a:t>de transformatieopgaven. Daarvoor zijn projectleiders nodig, welke onder meer worden ondersteund door het programmabureau. Afhankelijk van de specifieke scope van elk programmaproject –nader te bepalen in transformatieplannen – zullen er één of meerdere werkgroepen worden geformeerd met representatie van stakeholders (brede oproep) vanuit de leden van RSO </a:t>
            </a:r>
            <a:r>
              <a:rPr lang="nl-NL" sz="1200" err="1">
                <a:effectLst/>
                <a:latin typeface="Verdana"/>
                <a:ea typeface="Calibri" panose="020F0502020204030204" pitchFamily="34" charset="0"/>
                <a:cs typeface="Arial"/>
              </a:rPr>
              <a:t>Trijn</a:t>
            </a:r>
            <a:r>
              <a:rPr lang="nl-NL" sz="1200">
                <a:effectLst/>
                <a:latin typeface="Verdana"/>
                <a:ea typeface="Calibri" panose="020F0502020204030204" pitchFamily="34" charset="0"/>
                <a:cs typeface="Arial"/>
              </a:rPr>
              <a:t>, het sociaal domein en (andere) partners in de regio.</a:t>
            </a:r>
            <a:r>
              <a:rPr lang="nl-NL" sz="1200">
                <a:latin typeface="Verdana"/>
                <a:ea typeface="Calibri" panose="020F0502020204030204" pitchFamily="34" charset="0"/>
                <a:cs typeface="Arial"/>
              </a:rPr>
              <a:t> </a:t>
            </a:r>
            <a:endParaRPr lang="nl-NL" sz="1200">
              <a:effectLst/>
              <a:latin typeface="Verdana" panose="020B0604030504040204" pitchFamily="34" charset="0"/>
              <a:ea typeface="Calibri" panose="020F0502020204030204" pitchFamily="34" charset="0"/>
              <a:cs typeface="Arial" panose="020B0604020202020204" pitchFamily="34" charset="0"/>
            </a:endParaRPr>
          </a:p>
        </p:txBody>
      </p:sp>
      <p:sp>
        <p:nvSpPr>
          <p:cNvPr id="18" name="TextBox 5">
            <a:extLst>
              <a:ext uri="{FF2B5EF4-FFF2-40B4-BE49-F238E27FC236}">
                <a16:creationId xmlns:a16="http://schemas.microsoft.com/office/drawing/2014/main" id="{CB44B1CD-10C8-5702-6E72-2163ADF14BE4}"/>
              </a:ext>
            </a:extLst>
          </p:cNvPr>
          <p:cNvSpPr txBox="1"/>
          <p:nvPr/>
        </p:nvSpPr>
        <p:spPr>
          <a:xfrm>
            <a:off x="425302" y="1372381"/>
            <a:ext cx="10836350" cy="533031"/>
          </a:xfrm>
          <a:prstGeom prst="rect">
            <a:avLst/>
          </a:prstGeom>
          <a:noFill/>
        </p:spPr>
        <p:txBody>
          <a:bodyPr wrap="square">
            <a:spAutoFit/>
          </a:bodyPr>
          <a:lstStyle/>
          <a:p>
            <a:pPr algn="just">
              <a:lnSpc>
                <a:spcPct val="107000"/>
              </a:lnSpc>
              <a:spcAft>
                <a:spcPts val="800"/>
              </a:spcAft>
            </a:pPr>
            <a:r>
              <a:rPr lang="nl-NL" sz="1400" b="1">
                <a:effectLst/>
                <a:latin typeface="Verdana" panose="020B0604030504040204" pitchFamily="34" charset="0"/>
                <a:ea typeface="Calibri" panose="020F0502020204030204" pitchFamily="34" charset="0"/>
                <a:cs typeface="Arial" panose="020B0604020202020204" pitchFamily="34" charset="0"/>
              </a:rPr>
              <a:t>De transformatieopgaven </a:t>
            </a:r>
            <a:r>
              <a:rPr lang="nl-NL" sz="1400" b="1">
                <a:latin typeface="Verdana" panose="020B0604030504040204" pitchFamily="34" charset="0"/>
                <a:ea typeface="Calibri" panose="020F0502020204030204" pitchFamily="34" charset="0"/>
                <a:cs typeface="Arial" panose="020B0604020202020204" pitchFamily="34" charset="0"/>
              </a:rPr>
              <a:t>in deze initiële aanvraag snelle toets, zullen na goedkeuring verder worden uitgewerkt in transformatieplannen</a:t>
            </a:r>
            <a:r>
              <a:rPr lang="nl-NL" sz="1400" b="1">
                <a:effectLst/>
                <a:latin typeface="Verdana" panose="020B0604030504040204" pitchFamily="34" charset="0"/>
                <a:ea typeface="Calibri" panose="020F0502020204030204" pitchFamily="34" charset="0"/>
                <a:cs typeface="Arial" panose="020B0604020202020204" pitchFamily="34" charset="0"/>
              </a:rPr>
              <a:t>. </a:t>
            </a:r>
            <a:r>
              <a:rPr lang="nl-NL" sz="1400" b="1">
                <a:latin typeface="Verdana" panose="020B0604030504040204" pitchFamily="34" charset="0"/>
                <a:ea typeface="Calibri" panose="020F0502020204030204" pitchFamily="34" charset="0"/>
                <a:cs typeface="Arial" panose="020B0604020202020204" pitchFamily="34" charset="0"/>
              </a:rPr>
              <a:t>Het </a:t>
            </a:r>
            <a:r>
              <a:rPr lang="nl-NL" sz="1400" b="1">
                <a:effectLst/>
                <a:latin typeface="Verdana" panose="020B0604030504040204" pitchFamily="34" charset="0"/>
                <a:ea typeface="Calibri" panose="020F0502020204030204" pitchFamily="34" charset="0"/>
                <a:cs typeface="Arial" panose="020B0604020202020204" pitchFamily="34" charset="0"/>
              </a:rPr>
              <a:t>voorstel voor de programmastructuur op hoofdlijnen is als volgt.</a:t>
            </a:r>
          </a:p>
        </p:txBody>
      </p:sp>
      <p:grpSp>
        <p:nvGrpSpPr>
          <p:cNvPr id="2" name="Group 18">
            <a:extLst>
              <a:ext uri="{FF2B5EF4-FFF2-40B4-BE49-F238E27FC236}">
                <a16:creationId xmlns:a16="http://schemas.microsoft.com/office/drawing/2014/main" id="{D2893DFE-2192-8011-A6FE-7A68F664C5FE}"/>
              </a:ext>
            </a:extLst>
          </p:cNvPr>
          <p:cNvGrpSpPr/>
          <p:nvPr/>
        </p:nvGrpSpPr>
        <p:grpSpPr>
          <a:xfrm>
            <a:off x="5981561" y="1977631"/>
            <a:ext cx="5585413" cy="3632110"/>
            <a:chOff x="5981561" y="1874761"/>
            <a:chExt cx="5585413" cy="3632110"/>
          </a:xfrm>
        </p:grpSpPr>
        <p:sp>
          <p:nvSpPr>
            <p:cNvPr id="5" name="Rectangle 15">
              <a:extLst>
                <a:ext uri="{FF2B5EF4-FFF2-40B4-BE49-F238E27FC236}">
                  <a16:creationId xmlns:a16="http://schemas.microsoft.com/office/drawing/2014/main" id="{F026355E-F022-668E-BA00-CCD7A6C2959F}"/>
                </a:ext>
              </a:extLst>
            </p:cNvPr>
            <p:cNvSpPr/>
            <p:nvPr/>
          </p:nvSpPr>
          <p:spPr>
            <a:xfrm>
              <a:off x="5988424" y="1874761"/>
              <a:ext cx="5578550" cy="3632110"/>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1">
              <a:extLst>
                <a:ext uri="{FF2B5EF4-FFF2-40B4-BE49-F238E27FC236}">
                  <a16:creationId xmlns:a16="http://schemas.microsoft.com/office/drawing/2014/main" id="{6F138680-B22D-02CE-9D88-6A4CA9AF7BFA}"/>
                </a:ext>
              </a:extLst>
            </p:cNvPr>
            <p:cNvPicPr>
              <a:picLocks noChangeAspect="1"/>
            </p:cNvPicPr>
            <p:nvPr/>
          </p:nvPicPr>
          <p:blipFill>
            <a:blip r:embed="rId3"/>
            <a:stretch>
              <a:fillRect/>
            </a:stretch>
          </p:blipFill>
          <p:spPr>
            <a:xfrm>
              <a:off x="6028245" y="1907090"/>
              <a:ext cx="5509854" cy="3571507"/>
            </a:xfrm>
            <a:prstGeom prst="rect">
              <a:avLst/>
            </a:prstGeom>
            <a:ln>
              <a:noFill/>
            </a:ln>
          </p:spPr>
        </p:pic>
        <p:pic>
          <p:nvPicPr>
            <p:cNvPr id="11" name="Picture 10">
              <a:extLst>
                <a:ext uri="{FF2B5EF4-FFF2-40B4-BE49-F238E27FC236}">
                  <a16:creationId xmlns:a16="http://schemas.microsoft.com/office/drawing/2014/main" id="{939E4B1B-7CFE-4DCF-94A4-990D066BBC4A}"/>
                </a:ext>
              </a:extLst>
            </p:cNvPr>
            <p:cNvPicPr>
              <a:picLocks noChangeAspect="1"/>
            </p:cNvPicPr>
            <p:nvPr/>
          </p:nvPicPr>
          <p:blipFill>
            <a:blip r:embed="rId4"/>
            <a:stretch>
              <a:fillRect/>
            </a:stretch>
          </p:blipFill>
          <p:spPr>
            <a:xfrm>
              <a:off x="6278881" y="5267772"/>
              <a:ext cx="900000" cy="181950"/>
            </a:xfrm>
            <a:prstGeom prst="rect">
              <a:avLst/>
            </a:prstGeom>
          </p:spPr>
        </p:pic>
        <p:sp>
          <p:nvSpPr>
            <p:cNvPr id="12" name="TextBox 14">
              <a:extLst>
                <a:ext uri="{FF2B5EF4-FFF2-40B4-BE49-F238E27FC236}">
                  <a16:creationId xmlns:a16="http://schemas.microsoft.com/office/drawing/2014/main" id="{A8FB83C0-8478-7C16-B23E-DFCE8CD0A472}"/>
                </a:ext>
              </a:extLst>
            </p:cNvPr>
            <p:cNvSpPr txBox="1"/>
            <p:nvPr/>
          </p:nvSpPr>
          <p:spPr>
            <a:xfrm>
              <a:off x="5981561" y="5220247"/>
              <a:ext cx="276726" cy="276999"/>
            </a:xfrm>
            <a:prstGeom prst="rect">
              <a:avLst/>
            </a:prstGeom>
            <a:noFill/>
          </p:spPr>
          <p:txBody>
            <a:bodyPr wrap="square">
              <a:spAutoFit/>
            </a:bodyPr>
            <a:lstStyle/>
            <a:p>
              <a:r>
                <a:rPr lang="nl-NL" sz="1200">
                  <a:effectLst/>
                  <a:latin typeface="Verdana"/>
                  <a:ea typeface="Calibri" panose="020F0502020204030204" pitchFamily="34" charset="0"/>
                  <a:cs typeface="Arial"/>
                </a:rPr>
                <a:t>=</a:t>
              </a:r>
              <a:endParaRPr lang="en-GB" sz="1200"/>
            </a:p>
          </p:txBody>
        </p:sp>
      </p:grpSp>
      <p:sp>
        <p:nvSpPr>
          <p:cNvPr id="28" name="Rectangle: Top Corners Rounded 38">
            <a:hlinkClick r:id="rId5" action="ppaction://hlinksldjump"/>
            <a:extLst>
              <a:ext uri="{FF2B5EF4-FFF2-40B4-BE49-F238E27FC236}">
                <a16:creationId xmlns:a16="http://schemas.microsoft.com/office/drawing/2014/main" id="{475F6EEE-F22C-F523-3D2F-99D1A65AD2C8}"/>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29" name="Graphic 28" descr="Introductiepagina silhouet">
            <a:hlinkClick r:id="rId6" action="ppaction://hlinksldjump"/>
            <a:extLst>
              <a:ext uri="{FF2B5EF4-FFF2-40B4-BE49-F238E27FC236}">
                <a16:creationId xmlns:a16="http://schemas.microsoft.com/office/drawing/2014/main" id="{AC4A6811-F4C3-73AD-D5AC-FE5344A58C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136" y="147223"/>
            <a:ext cx="144000" cy="144000"/>
          </a:xfrm>
          <a:prstGeom prst="rect">
            <a:avLst/>
          </a:prstGeom>
        </p:spPr>
      </p:pic>
      <p:sp>
        <p:nvSpPr>
          <p:cNvPr id="30" name="Rectangle: Top Corners Rounded 1">
            <a:hlinkClick r:id="rId9" action="ppaction://hlinksldjump"/>
            <a:extLst>
              <a:ext uri="{FF2B5EF4-FFF2-40B4-BE49-F238E27FC236}">
                <a16:creationId xmlns:a16="http://schemas.microsoft.com/office/drawing/2014/main" id="{EBD70897-D027-B632-8279-2DECB404E00A}"/>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31" name="Rectangle: Top Corners Rounded 1">
            <a:hlinkClick r:id="rId10" action="ppaction://hlinksldjump"/>
            <a:extLst>
              <a:ext uri="{FF2B5EF4-FFF2-40B4-BE49-F238E27FC236}">
                <a16:creationId xmlns:a16="http://schemas.microsoft.com/office/drawing/2014/main" id="{59E07D44-9226-D72C-C4BA-223607D375F0}"/>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32" name="Rectangle: Top Corners Rounded 1">
            <a:hlinkClick r:id="rId11" action="ppaction://hlinksldjump"/>
            <a:extLst>
              <a:ext uri="{FF2B5EF4-FFF2-40B4-BE49-F238E27FC236}">
                <a16:creationId xmlns:a16="http://schemas.microsoft.com/office/drawing/2014/main" id="{43709998-F97E-D5FE-FD16-0B2B804662E8}"/>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33" name="Rectangle: Top Corners Rounded 1">
            <a:hlinkClick r:id="rId12" action="ppaction://hlinksldjump"/>
            <a:extLst>
              <a:ext uri="{FF2B5EF4-FFF2-40B4-BE49-F238E27FC236}">
                <a16:creationId xmlns:a16="http://schemas.microsoft.com/office/drawing/2014/main" id="{AAB5F2AE-A4DE-F043-F6F2-05481F48C1E1}"/>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34" name="Rectangle: Top Corners Rounded 1">
            <a:hlinkClick r:id="rId13" action="ppaction://hlinksldjump"/>
            <a:extLst>
              <a:ext uri="{FF2B5EF4-FFF2-40B4-BE49-F238E27FC236}">
                <a16:creationId xmlns:a16="http://schemas.microsoft.com/office/drawing/2014/main" id="{FB15016A-2974-D655-8F99-0A39BE70B310}"/>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35" name="Rectangle: Top Corners Rounded 1">
            <a:hlinkClick r:id="rId14" action="ppaction://hlinksldjump"/>
            <a:extLst>
              <a:ext uri="{FF2B5EF4-FFF2-40B4-BE49-F238E27FC236}">
                <a16:creationId xmlns:a16="http://schemas.microsoft.com/office/drawing/2014/main" id="{A9FC8F9C-BD98-951B-4747-F3DEF384B6F7}"/>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6" name="Rectangle: Top Corners Rounded 1">
            <a:hlinkClick r:id="rId15" action="ppaction://hlinksldjump"/>
            <a:extLst>
              <a:ext uri="{FF2B5EF4-FFF2-40B4-BE49-F238E27FC236}">
                <a16:creationId xmlns:a16="http://schemas.microsoft.com/office/drawing/2014/main" id="{C01586FD-9FA0-B997-D628-0A59D5473FB9}"/>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7" name="Rectangle: Top Corners Rounded 1">
            <a:hlinkClick r:id="rId16" action="ppaction://hlinksldjump"/>
            <a:extLst>
              <a:ext uri="{FF2B5EF4-FFF2-40B4-BE49-F238E27FC236}">
                <a16:creationId xmlns:a16="http://schemas.microsoft.com/office/drawing/2014/main" id="{7C381EF8-3887-55C8-50F9-2782DFE61A3E}"/>
              </a:ext>
            </a:extLst>
          </p:cNvPr>
          <p:cNvSpPr/>
          <p:nvPr/>
        </p:nvSpPr>
        <p:spPr>
          <a:xfrm>
            <a:off x="762958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err="1">
                <a:solidFill>
                  <a:srgbClr val="F1F2F9"/>
                </a:solidFill>
                <a:latin typeface="Verdana Pro" panose="020B0604030504040204" pitchFamily="34" charset="0"/>
                <a:ea typeface="Verdana" panose="020B0604030504040204" pitchFamily="34" charset="0"/>
              </a:rPr>
              <a:t>Governance</a:t>
            </a:r>
            <a:r>
              <a:rPr lang="nl-NL" sz="600" b="1">
                <a:solidFill>
                  <a:srgbClr val="F1F2F9"/>
                </a:solidFill>
                <a:latin typeface="Verdana Pro" panose="020B0604030504040204" pitchFamily="34" charset="0"/>
                <a:ea typeface="Verdana" panose="020B0604030504040204" pitchFamily="34" charset="0"/>
              </a:rPr>
              <a:t> en </a:t>
            </a:r>
            <a:r>
              <a:rPr lang="nl-NL" sz="600" b="1" err="1">
                <a:solidFill>
                  <a:srgbClr val="F1F2F9"/>
                </a:solidFill>
                <a:latin typeface="Verdana Pro" panose="020B0604030504040204" pitchFamily="34" charset="0"/>
                <a:ea typeface="Verdana" panose="020B0604030504040204" pitchFamily="34" charset="0"/>
              </a:rPr>
              <a:t>programma-structuur</a:t>
            </a:r>
            <a:endParaRPr lang="nl-NL" sz="600" b="1">
              <a:solidFill>
                <a:srgbClr val="F1F2F9"/>
              </a:solidFill>
              <a:latin typeface="Verdana Pro" panose="020B0604030504040204" pitchFamily="34" charset="0"/>
              <a:ea typeface="Verdana" panose="020B0604030504040204" pitchFamily="34" charset="0"/>
            </a:endParaRPr>
          </a:p>
        </p:txBody>
      </p:sp>
      <p:sp>
        <p:nvSpPr>
          <p:cNvPr id="38" name="Rectangle: Top Corners Rounded 1">
            <a:hlinkClick r:id="rId17" action="ppaction://hlinksldjump"/>
            <a:extLst>
              <a:ext uri="{FF2B5EF4-FFF2-40B4-BE49-F238E27FC236}">
                <a16:creationId xmlns:a16="http://schemas.microsoft.com/office/drawing/2014/main" id="{A5D3A941-36F4-2BB3-AF48-7B07497F6A41}"/>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9" name="Rectangle: Top Corners Rounded 1">
            <a:hlinkClick r:id="rId18" action="ppaction://hlinksldjump"/>
            <a:extLst>
              <a:ext uri="{FF2B5EF4-FFF2-40B4-BE49-F238E27FC236}">
                <a16:creationId xmlns:a16="http://schemas.microsoft.com/office/drawing/2014/main" id="{4752B8B1-CE90-1091-DB96-21B5FFFF85C8}"/>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40" name="Rectangle: Top Corners Rounded 1">
            <a:hlinkClick r:id="rId19" action="ppaction://hlinksldjump"/>
            <a:extLst>
              <a:ext uri="{FF2B5EF4-FFF2-40B4-BE49-F238E27FC236}">
                <a16:creationId xmlns:a16="http://schemas.microsoft.com/office/drawing/2014/main" id="{E52C37D7-01B8-E69F-E9C8-B71335648028}"/>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 name="Rechthoek: afgeronde hoeken 2">
            <a:extLst>
              <a:ext uri="{FF2B5EF4-FFF2-40B4-BE49-F238E27FC236}">
                <a16:creationId xmlns:a16="http://schemas.microsoft.com/office/drawing/2014/main" id="{E90FCA12-6435-E712-2C59-3B52E9E71515}"/>
              </a:ext>
            </a:extLst>
          </p:cNvPr>
          <p:cNvSpPr/>
          <p:nvPr/>
        </p:nvSpPr>
        <p:spPr>
          <a:xfrm rot="20103230">
            <a:off x="3882023" y="3056655"/>
            <a:ext cx="4054379" cy="1637997"/>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Concept</a:t>
            </a:r>
            <a:endParaRPr kumimoji="0" lang="nl-NL" sz="2800" b="1" i="1" u="none" strike="noStrike" kern="1200" cap="none" spc="0" normalizeH="0" baseline="0" noProof="0">
              <a:ln>
                <a:noFill/>
              </a:ln>
              <a:solidFill>
                <a:srgbClr val="BCC1E2"/>
              </a:solidFill>
              <a:effectLst/>
              <a:uLnTx/>
              <a:uFillTx/>
              <a:latin typeface="Verdana" panose="020B0604030504040204" pitchFamily="34" charset="0"/>
              <a:ea typeface="Verdan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nl-NL" sz="2000" b="1" i="1">
                <a:solidFill>
                  <a:srgbClr val="BCC1E2"/>
                </a:solidFill>
                <a:latin typeface="Verdana" panose="020B0604030504040204" pitchFamily="34" charset="0"/>
                <a:ea typeface="Verdana" panose="020B0604030504040204" pitchFamily="34" charset="0"/>
              </a:rPr>
              <a:t>Uit Snelle Toets, wordt nog samengevat</a:t>
            </a:r>
            <a:endParaRPr kumimoji="0" lang="en-NL" sz="1000" b="1" i="1" u="none" strike="noStrike" kern="1200" cap="none" spc="0" normalizeH="0" baseline="0" noProof="0">
              <a:ln>
                <a:noFill/>
              </a:ln>
              <a:solidFill>
                <a:srgbClr val="BCC1E2"/>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811432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1" y="465998"/>
            <a:ext cx="10461773" cy="504000"/>
          </a:xfrm>
        </p:spPr>
        <p:txBody>
          <a:bodyPr>
            <a:noAutofit/>
          </a:bodyPr>
          <a:lstStyle/>
          <a:p>
            <a:r>
              <a:rPr lang="nl-NL" b="1">
                <a:solidFill>
                  <a:srgbClr val="8C95CD"/>
                </a:solidFill>
              </a:rPr>
              <a:t>Aansluiting bemensing deelnemende organisaties</a:t>
            </a:r>
          </a:p>
        </p:txBody>
      </p:sp>
      <p:sp>
        <p:nvSpPr>
          <p:cNvPr id="35" name="Tijdelijke aanduiding voor inhoud 1">
            <a:extLst>
              <a:ext uri="{FF2B5EF4-FFF2-40B4-BE49-F238E27FC236}">
                <a16:creationId xmlns:a16="http://schemas.microsoft.com/office/drawing/2014/main" id="{E8C325CB-7703-76F6-E460-CFDA8C195A8E}"/>
              </a:ext>
            </a:extLst>
          </p:cNvPr>
          <p:cNvSpPr>
            <a:spLocks noGrp="1"/>
          </p:cNvSpPr>
          <p:nvPr>
            <p:ph idx="1"/>
          </p:nvPr>
        </p:nvSpPr>
        <p:spPr/>
        <p:txBody>
          <a:bodyPr>
            <a:normAutofit lnSpcReduction="10000"/>
          </a:bodyPr>
          <a:lstStyle/>
          <a:p>
            <a:pPr marL="0" indent="0">
              <a:lnSpc>
                <a:spcPct val="110000"/>
              </a:lnSpc>
              <a:spcBef>
                <a:spcPts val="0"/>
              </a:spcBef>
              <a:buNone/>
            </a:pPr>
            <a:r>
              <a:rPr lang="nl-NL" sz="1200">
                <a:latin typeface="Verdana" panose="020B0604030504040204" pitchFamily="34" charset="0"/>
                <a:ea typeface="Verdana" panose="020B0604030504040204" pitchFamily="34" charset="0"/>
              </a:rPr>
              <a:t>In de verschillende expert- en werkgroepen vragen we bemensing uit de deelnemende organisaties. Per project zullen in</a:t>
            </a:r>
            <a:r>
              <a:rPr lang="nl-NL" sz="1200"/>
              <a:t> </a:t>
            </a:r>
            <a:r>
              <a:rPr lang="nl-NL" sz="1200">
                <a:latin typeface="Verdana" panose="020B0604030504040204" pitchFamily="34" charset="0"/>
                <a:ea typeface="Verdana" panose="020B0604030504040204" pitchFamily="34" charset="0"/>
              </a:rPr>
              <a:t>verschillende stadia van het project en in de diverse onderdelen verschillende type functionarissen nodig zijn. Om het behapbaar te houden kunnen sectorafgevaardigden geduid worden. We denken globaal aan:</a:t>
            </a:r>
          </a:p>
          <a:p>
            <a:pPr>
              <a:lnSpc>
                <a:spcPct val="110000"/>
              </a:lnSpc>
              <a:spcBef>
                <a:spcPts val="0"/>
              </a:spcBef>
            </a:pPr>
            <a:endParaRPr lang="nl-NL" sz="1200">
              <a:latin typeface="Verdana" panose="020B0604030504040204" pitchFamily="34" charset="0"/>
              <a:ea typeface="Verdana" panose="020B0604030504040204" pitchFamily="34" charset="0"/>
            </a:endParaRPr>
          </a:p>
          <a:p>
            <a:pPr marL="285750">
              <a:lnSpc>
                <a:spcPct val="110000"/>
              </a:lnSpc>
              <a:spcBef>
                <a:spcPts val="0"/>
              </a:spcBef>
            </a:pPr>
            <a:r>
              <a:rPr lang="nl-NL" sz="1200">
                <a:latin typeface="Verdana" panose="020B0604030504040204" pitchFamily="34" charset="0"/>
                <a:ea typeface="Verdana" panose="020B0604030504040204" pitchFamily="34" charset="0"/>
              </a:rPr>
              <a:t>Projectleider</a:t>
            </a:r>
          </a:p>
          <a:p>
            <a:pPr marL="285750">
              <a:lnSpc>
                <a:spcPct val="110000"/>
              </a:lnSpc>
              <a:spcBef>
                <a:spcPts val="0"/>
              </a:spcBef>
            </a:pPr>
            <a:r>
              <a:rPr lang="nl-NL" sz="1200">
                <a:latin typeface="Verdana" panose="020B0604030504040204" pitchFamily="34" charset="0"/>
                <a:ea typeface="Verdana" panose="020B0604030504040204" pitchFamily="34" charset="0"/>
              </a:rPr>
              <a:t>Zorgprofessional</a:t>
            </a:r>
          </a:p>
          <a:p>
            <a:pPr marL="285750">
              <a:lnSpc>
                <a:spcPct val="110000"/>
              </a:lnSpc>
              <a:spcBef>
                <a:spcPts val="0"/>
              </a:spcBef>
            </a:pPr>
            <a:r>
              <a:rPr lang="nl-NL" sz="1200">
                <a:latin typeface="Verdana" panose="020B0604030504040204" pitchFamily="34" charset="0"/>
                <a:ea typeface="Verdana" panose="020B0604030504040204" pitchFamily="34" charset="0"/>
              </a:rPr>
              <a:t>Business-/informatieanalist</a:t>
            </a:r>
          </a:p>
          <a:p>
            <a:pPr marL="285750">
              <a:lnSpc>
                <a:spcPct val="110000"/>
              </a:lnSpc>
              <a:spcBef>
                <a:spcPts val="0"/>
              </a:spcBef>
            </a:pPr>
            <a:r>
              <a:rPr lang="nl-NL" sz="1200">
                <a:latin typeface="Verdana" panose="020B0604030504040204" pitchFamily="34" charset="0"/>
                <a:ea typeface="Verdana" panose="020B0604030504040204" pitchFamily="34" charset="0"/>
              </a:rPr>
              <a:t>Functioneel-/applicatiebeheerder</a:t>
            </a:r>
          </a:p>
          <a:p>
            <a:pPr marL="285750">
              <a:lnSpc>
                <a:spcPct val="110000"/>
              </a:lnSpc>
              <a:spcBef>
                <a:spcPts val="0"/>
              </a:spcBef>
            </a:pPr>
            <a:r>
              <a:rPr lang="nl-NL" sz="1200">
                <a:latin typeface="Verdana" panose="020B0604030504040204" pitchFamily="34" charset="0"/>
                <a:ea typeface="Verdana" panose="020B0604030504040204" pitchFamily="34" charset="0"/>
              </a:rPr>
              <a:t>FG/</a:t>
            </a:r>
            <a:r>
              <a:rPr lang="nl-NL" sz="1200" err="1">
                <a:latin typeface="Verdana" panose="020B0604030504040204" pitchFamily="34" charset="0"/>
                <a:ea typeface="Verdana" panose="020B0604030504040204" pitchFamily="34" charset="0"/>
              </a:rPr>
              <a:t>Ciso</a:t>
            </a:r>
            <a:endParaRPr lang="nl-NL" sz="1200">
              <a:latin typeface="Verdana" panose="020B0604030504040204" pitchFamily="34" charset="0"/>
              <a:ea typeface="Verdana" panose="020B0604030504040204" pitchFamily="34" charset="0"/>
            </a:endParaRPr>
          </a:p>
          <a:p>
            <a:pPr marL="285750">
              <a:lnSpc>
                <a:spcPct val="110000"/>
              </a:lnSpc>
              <a:spcBef>
                <a:spcPts val="0"/>
              </a:spcBef>
            </a:pPr>
            <a:r>
              <a:rPr lang="nl-NL" sz="1200">
                <a:latin typeface="Verdana" panose="020B0604030504040204" pitchFamily="34" charset="0"/>
                <a:ea typeface="Verdana" panose="020B0604030504040204" pitchFamily="34" charset="0"/>
              </a:rPr>
              <a:t>Architect</a:t>
            </a:r>
          </a:p>
          <a:p>
            <a:pPr marL="285750">
              <a:lnSpc>
                <a:spcPct val="110000"/>
              </a:lnSpc>
              <a:spcBef>
                <a:spcPts val="0"/>
              </a:spcBef>
            </a:pPr>
            <a:r>
              <a:rPr lang="nl-NL" sz="1200">
                <a:latin typeface="Verdana" panose="020B0604030504040204" pitchFamily="34" charset="0"/>
                <a:ea typeface="Verdana" panose="020B0604030504040204" pitchFamily="34" charset="0"/>
              </a:rPr>
              <a:t>Transmuraal manager</a:t>
            </a:r>
          </a:p>
          <a:p>
            <a:pPr marL="285750">
              <a:lnSpc>
                <a:spcPct val="110000"/>
              </a:lnSpc>
              <a:spcBef>
                <a:spcPts val="0"/>
              </a:spcBef>
            </a:pPr>
            <a:r>
              <a:rPr lang="nl-NL" sz="1200">
                <a:latin typeface="Verdana" panose="020B0604030504040204" pitchFamily="34" charset="0"/>
                <a:ea typeface="Verdana" panose="020B0604030504040204" pitchFamily="34" charset="0"/>
              </a:rPr>
              <a:t>Zorgmanagers</a:t>
            </a:r>
          </a:p>
          <a:p>
            <a:pPr marL="285750">
              <a:lnSpc>
                <a:spcPct val="110000"/>
              </a:lnSpc>
              <a:spcBef>
                <a:spcPts val="0"/>
              </a:spcBef>
            </a:pPr>
            <a:r>
              <a:rPr lang="nl-NL" sz="1200">
                <a:latin typeface="Verdana" panose="020B0604030504040204" pitchFamily="34" charset="0"/>
                <a:ea typeface="Verdana" panose="020B0604030504040204" pitchFamily="34" charset="0"/>
              </a:rPr>
              <a:t>CIO</a:t>
            </a:r>
          </a:p>
          <a:p>
            <a:pPr marL="285750">
              <a:lnSpc>
                <a:spcPct val="110000"/>
              </a:lnSpc>
              <a:spcBef>
                <a:spcPts val="0"/>
              </a:spcBef>
            </a:pPr>
            <a:r>
              <a:rPr lang="nl-NL" sz="1200">
                <a:latin typeface="Verdana" panose="020B0604030504040204" pitchFamily="34" charset="0"/>
                <a:ea typeface="Verdana" panose="020B0604030504040204" pitchFamily="34" charset="0"/>
              </a:rPr>
              <a:t>Bestuurder</a:t>
            </a:r>
          </a:p>
          <a:p>
            <a:pPr marL="285750">
              <a:lnSpc>
                <a:spcPct val="110000"/>
              </a:lnSpc>
              <a:spcBef>
                <a:spcPts val="0"/>
              </a:spcBef>
            </a:pPr>
            <a:r>
              <a:rPr lang="nl-NL" sz="1200">
                <a:latin typeface="Verdana" panose="020B0604030504040204" pitchFamily="34" charset="0"/>
                <a:ea typeface="Verdana" panose="020B0604030504040204" pitchFamily="34" charset="0"/>
              </a:rPr>
              <a:t>Communicatieadviseur</a:t>
            </a:r>
          </a:p>
          <a:p>
            <a:pPr marL="285750">
              <a:lnSpc>
                <a:spcPct val="110000"/>
              </a:lnSpc>
              <a:spcBef>
                <a:spcPts val="0"/>
              </a:spcBef>
            </a:pPr>
            <a:endParaRPr lang="nl-NL" sz="1200">
              <a:latin typeface="Verdana" panose="020B0604030504040204" pitchFamily="34" charset="0"/>
              <a:ea typeface="Verdana" panose="020B0604030504040204" pitchFamily="34" charset="0"/>
            </a:endParaRPr>
          </a:p>
          <a:p>
            <a:pPr marL="57150" indent="0">
              <a:lnSpc>
                <a:spcPct val="110000"/>
              </a:lnSpc>
              <a:spcBef>
                <a:spcPts val="0"/>
              </a:spcBef>
              <a:buNone/>
            </a:pPr>
            <a:r>
              <a:rPr lang="nl-NL" sz="1200">
                <a:latin typeface="Verdana" panose="020B0604030504040204" pitchFamily="34" charset="0"/>
                <a:ea typeface="Verdana" panose="020B0604030504040204" pitchFamily="34" charset="0"/>
              </a:rPr>
              <a:t>Wanneer een koplopergroep wordt aangewezen, hoeven de niet-deelnemende organisaties niet deel te nemen, maar blijven wel actief verbonden.</a:t>
            </a:r>
          </a:p>
        </p:txBody>
      </p:sp>
      <p:sp>
        <p:nvSpPr>
          <p:cNvPr id="10" name="Gelijkbenige driehoek 9">
            <a:extLst>
              <a:ext uri="{FF2B5EF4-FFF2-40B4-BE49-F238E27FC236}">
                <a16:creationId xmlns:a16="http://schemas.microsoft.com/office/drawing/2014/main" id="{E2A35C01-33C1-F1FE-E524-9360924883B8}"/>
              </a:ext>
            </a:extLst>
          </p:cNvPr>
          <p:cNvSpPr/>
          <p:nvPr/>
        </p:nvSpPr>
        <p:spPr>
          <a:xfrm rot="16486328">
            <a:off x="10516598" y="310063"/>
            <a:ext cx="256201" cy="627399"/>
          </a:xfrm>
          <a:prstGeom prst="triangle">
            <a:avLst/>
          </a:prstGeom>
          <a:solidFill>
            <a:srgbClr val="21B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Rectangle: Top Corners Rounded 38">
            <a:hlinkClick r:id="rId3" action="ppaction://hlinksldjump"/>
            <a:extLst>
              <a:ext uri="{FF2B5EF4-FFF2-40B4-BE49-F238E27FC236}">
                <a16:creationId xmlns:a16="http://schemas.microsoft.com/office/drawing/2014/main" id="{EE17EEBA-13D2-372B-B565-5DEF14ED3D9C}"/>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4" action="ppaction://hlinksldjump"/>
            <a:extLst>
              <a:ext uri="{FF2B5EF4-FFF2-40B4-BE49-F238E27FC236}">
                <a16:creationId xmlns:a16="http://schemas.microsoft.com/office/drawing/2014/main" id="{79E1E8C6-47C9-EA79-5FAD-2F0C4037F9C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6" name="Rectangle: Top Corners Rounded 1">
            <a:hlinkClick r:id="rId7" action="ppaction://hlinksldjump"/>
            <a:extLst>
              <a:ext uri="{FF2B5EF4-FFF2-40B4-BE49-F238E27FC236}">
                <a16:creationId xmlns:a16="http://schemas.microsoft.com/office/drawing/2014/main" id="{CF84CE86-C32A-635E-1EE2-74FBF219EA39}"/>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8" action="ppaction://hlinksldjump"/>
            <a:extLst>
              <a:ext uri="{FF2B5EF4-FFF2-40B4-BE49-F238E27FC236}">
                <a16:creationId xmlns:a16="http://schemas.microsoft.com/office/drawing/2014/main" id="{42624D3F-FF71-44BF-58A1-5B5659F2D22B}"/>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1" name="Rectangle: Top Corners Rounded 1">
            <a:hlinkClick r:id="rId9" action="ppaction://hlinksldjump"/>
            <a:extLst>
              <a:ext uri="{FF2B5EF4-FFF2-40B4-BE49-F238E27FC236}">
                <a16:creationId xmlns:a16="http://schemas.microsoft.com/office/drawing/2014/main" id="{546EA696-8235-B891-EC67-6399DF2BC985}"/>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2" name="Rectangle: Top Corners Rounded 1">
            <a:hlinkClick r:id="rId10" action="ppaction://hlinksldjump"/>
            <a:extLst>
              <a:ext uri="{FF2B5EF4-FFF2-40B4-BE49-F238E27FC236}">
                <a16:creationId xmlns:a16="http://schemas.microsoft.com/office/drawing/2014/main" id="{6E3B9E40-6503-1BAF-5A1B-7DAF79F21CA0}"/>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4" name="Rectangle: Top Corners Rounded 1">
            <a:hlinkClick r:id="rId11" action="ppaction://hlinksldjump"/>
            <a:extLst>
              <a:ext uri="{FF2B5EF4-FFF2-40B4-BE49-F238E27FC236}">
                <a16:creationId xmlns:a16="http://schemas.microsoft.com/office/drawing/2014/main" id="{F7D2A387-09CB-2ADA-3D59-FED877DFEC54}"/>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5" name="Rectangle: Top Corners Rounded 1">
            <a:hlinkClick r:id="rId12" action="ppaction://hlinksldjump"/>
            <a:extLst>
              <a:ext uri="{FF2B5EF4-FFF2-40B4-BE49-F238E27FC236}">
                <a16:creationId xmlns:a16="http://schemas.microsoft.com/office/drawing/2014/main" id="{A50E54D3-6C31-5514-8095-58CBFB3BDFD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6" name="Rectangle: Top Corners Rounded 1">
            <a:hlinkClick r:id="rId13" action="ppaction://hlinksldjump"/>
            <a:extLst>
              <a:ext uri="{FF2B5EF4-FFF2-40B4-BE49-F238E27FC236}">
                <a16:creationId xmlns:a16="http://schemas.microsoft.com/office/drawing/2014/main" id="{86ED7AFB-7A97-D6C0-EAFD-CCD19B4C44AB}"/>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7" name="Rectangle: Top Corners Rounded 1">
            <a:hlinkClick r:id="rId14" action="ppaction://hlinksldjump"/>
            <a:extLst>
              <a:ext uri="{FF2B5EF4-FFF2-40B4-BE49-F238E27FC236}">
                <a16:creationId xmlns:a16="http://schemas.microsoft.com/office/drawing/2014/main" id="{2109C5B0-8C07-10FD-B164-317B656D738B}"/>
              </a:ext>
            </a:extLst>
          </p:cNvPr>
          <p:cNvSpPr/>
          <p:nvPr/>
        </p:nvSpPr>
        <p:spPr>
          <a:xfrm>
            <a:off x="762958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err="1">
                <a:solidFill>
                  <a:srgbClr val="F1F2F9"/>
                </a:solidFill>
                <a:latin typeface="Verdana Pro" panose="020B0604030504040204" pitchFamily="34" charset="0"/>
                <a:ea typeface="Verdana" panose="020B0604030504040204" pitchFamily="34" charset="0"/>
              </a:rPr>
              <a:t>Governance</a:t>
            </a:r>
            <a:r>
              <a:rPr lang="nl-NL" sz="600" b="1">
                <a:solidFill>
                  <a:srgbClr val="F1F2F9"/>
                </a:solidFill>
                <a:latin typeface="Verdana Pro" panose="020B0604030504040204" pitchFamily="34" charset="0"/>
                <a:ea typeface="Verdana" panose="020B0604030504040204" pitchFamily="34" charset="0"/>
              </a:rPr>
              <a:t> en </a:t>
            </a:r>
            <a:r>
              <a:rPr lang="nl-NL" sz="600" b="1" err="1">
                <a:solidFill>
                  <a:srgbClr val="F1F2F9"/>
                </a:solidFill>
                <a:latin typeface="Verdana Pro" panose="020B0604030504040204" pitchFamily="34" charset="0"/>
                <a:ea typeface="Verdana" panose="020B0604030504040204" pitchFamily="34" charset="0"/>
              </a:rPr>
              <a:t>programma-structuur</a:t>
            </a:r>
            <a:endParaRPr lang="nl-NL" sz="600" b="1">
              <a:solidFill>
                <a:srgbClr val="F1F2F9"/>
              </a:solidFill>
              <a:latin typeface="Verdana Pro" panose="020B0604030504040204" pitchFamily="34" charset="0"/>
              <a:ea typeface="Verdana" panose="020B0604030504040204" pitchFamily="34" charset="0"/>
            </a:endParaRPr>
          </a:p>
        </p:txBody>
      </p:sp>
      <p:sp>
        <p:nvSpPr>
          <p:cNvPr id="18" name="Rectangle: Top Corners Rounded 1">
            <a:hlinkClick r:id="rId15" action="ppaction://hlinksldjump"/>
            <a:extLst>
              <a:ext uri="{FF2B5EF4-FFF2-40B4-BE49-F238E27FC236}">
                <a16:creationId xmlns:a16="http://schemas.microsoft.com/office/drawing/2014/main" id="{1DA989B7-4159-185C-DBD9-B284414EFBCE}"/>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9" name="Rectangle: Top Corners Rounded 1">
            <a:hlinkClick r:id="rId16" action="ppaction://hlinksldjump"/>
            <a:extLst>
              <a:ext uri="{FF2B5EF4-FFF2-40B4-BE49-F238E27FC236}">
                <a16:creationId xmlns:a16="http://schemas.microsoft.com/office/drawing/2014/main" id="{18A9C1A6-A252-7A76-7858-065402834A45}"/>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20" name="Rectangle: Top Corners Rounded 1">
            <a:hlinkClick r:id="rId17" action="ppaction://hlinksldjump"/>
            <a:extLst>
              <a:ext uri="{FF2B5EF4-FFF2-40B4-BE49-F238E27FC236}">
                <a16:creationId xmlns:a16="http://schemas.microsoft.com/office/drawing/2014/main" id="{0D87B023-5FDF-3D74-4CE1-7C1DB0E100CA}"/>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8123305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194">
            <a:extLst>
              <a:ext uri="{FF2B5EF4-FFF2-40B4-BE49-F238E27FC236}">
                <a16:creationId xmlns:a16="http://schemas.microsoft.com/office/drawing/2014/main" id="{725EDD8B-79AD-E012-5AFF-67F306EB8930}"/>
              </a:ext>
            </a:extLst>
          </p:cNvPr>
          <p:cNvGrpSpPr/>
          <p:nvPr/>
        </p:nvGrpSpPr>
        <p:grpSpPr>
          <a:xfrm>
            <a:off x="0" y="1131683"/>
            <a:ext cx="9247064" cy="901126"/>
            <a:chOff x="0" y="1131683"/>
            <a:chExt cx="9247064" cy="901126"/>
          </a:xfrm>
        </p:grpSpPr>
        <p:sp>
          <p:nvSpPr>
            <p:cNvPr id="61" name="Rectangle 188">
              <a:extLst>
                <a:ext uri="{FF2B5EF4-FFF2-40B4-BE49-F238E27FC236}">
                  <a16:creationId xmlns:a16="http://schemas.microsoft.com/office/drawing/2014/main" id="{0E2142D1-5598-6CA7-7FC2-38D5A6495381}"/>
                </a:ext>
              </a:extLst>
            </p:cNvPr>
            <p:cNvSpPr/>
            <p:nvPr/>
          </p:nvSpPr>
          <p:spPr>
            <a:xfrm>
              <a:off x="0" y="1131683"/>
              <a:ext cx="9247064" cy="90112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TextBox 191">
              <a:extLst>
                <a:ext uri="{FF2B5EF4-FFF2-40B4-BE49-F238E27FC236}">
                  <a16:creationId xmlns:a16="http://schemas.microsoft.com/office/drawing/2014/main" id="{80115A65-01E0-213E-B5AD-3FC3FC11D7BC}"/>
                </a:ext>
              </a:extLst>
            </p:cNvPr>
            <p:cNvSpPr txBox="1"/>
            <p:nvPr/>
          </p:nvSpPr>
          <p:spPr>
            <a:xfrm>
              <a:off x="0" y="1131683"/>
              <a:ext cx="100239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400" b="1" i="0" u="none" strike="noStrike" kern="1200" cap="none" spc="0" normalizeH="0" baseline="0" noProof="0">
                  <a:ln>
                    <a:noFill/>
                  </a:ln>
                  <a:solidFill>
                    <a:prstClr val="white">
                      <a:lumMod val="50000"/>
                    </a:prstClr>
                  </a:solidFill>
                  <a:effectLst/>
                  <a:uLnTx/>
                  <a:uFillTx/>
                  <a:latin typeface="Calibri"/>
                  <a:ea typeface="+mn-ea"/>
                  <a:cs typeface="+mn-cs"/>
                </a:rPr>
                <a:t>Strategisch</a:t>
              </a:r>
            </a:p>
          </p:txBody>
        </p:sp>
      </p:grpSp>
      <p:grpSp>
        <p:nvGrpSpPr>
          <p:cNvPr id="65" name="Group 195">
            <a:extLst>
              <a:ext uri="{FF2B5EF4-FFF2-40B4-BE49-F238E27FC236}">
                <a16:creationId xmlns:a16="http://schemas.microsoft.com/office/drawing/2014/main" id="{CB52E611-1848-1DB1-2E9E-6DF16B9E9C2D}"/>
              </a:ext>
            </a:extLst>
          </p:cNvPr>
          <p:cNvGrpSpPr/>
          <p:nvPr/>
        </p:nvGrpSpPr>
        <p:grpSpPr>
          <a:xfrm>
            <a:off x="0" y="2027644"/>
            <a:ext cx="9247064" cy="947017"/>
            <a:chOff x="0" y="2027644"/>
            <a:chExt cx="9247064" cy="947017"/>
          </a:xfrm>
        </p:grpSpPr>
        <p:sp>
          <p:nvSpPr>
            <p:cNvPr id="67" name="Rectangle 189">
              <a:extLst>
                <a:ext uri="{FF2B5EF4-FFF2-40B4-BE49-F238E27FC236}">
                  <a16:creationId xmlns:a16="http://schemas.microsoft.com/office/drawing/2014/main" id="{34F6F248-5EF5-B95D-0BFA-E4956601A2FE}"/>
                </a:ext>
              </a:extLst>
            </p:cNvPr>
            <p:cNvSpPr/>
            <p:nvPr/>
          </p:nvSpPr>
          <p:spPr>
            <a:xfrm>
              <a:off x="0" y="2027644"/>
              <a:ext cx="9247064" cy="947017"/>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68" name="TextBox 192">
              <a:extLst>
                <a:ext uri="{FF2B5EF4-FFF2-40B4-BE49-F238E27FC236}">
                  <a16:creationId xmlns:a16="http://schemas.microsoft.com/office/drawing/2014/main" id="{49BE38D7-358A-78E5-E5EF-8C2100203A26}"/>
                </a:ext>
              </a:extLst>
            </p:cNvPr>
            <p:cNvSpPr txBox="1"/>
            <p:nvPr/>
          </p:nvSpPr>
          <p:spPr>
            <a:xfrm>
              <a:off x="0" y="2027644"/>
              <a:ext cx="7738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400" b="1" i="0" u="none" strike="noStrike" kern="1200" cap="none" spc="0" normalizeH="0" baseline="0" noProof="0">
                  <a:ln>
                    <a:noFill/>
                  </a:ln>
                  <a:solidFill>
                    <a:prstClr val="white">
                      <a:lumMod val="50000"/>
                    </a:prstClr>
                  </a:solidFill>
                  <a:effectLst/>
                  <a:uLnTx/>
                  <a:uFillTx/>
                  <a:latin typeface="Calibri"/>
                  <a:ea typeface="+mn-ea"/>
                  <a:cs typeface="+mn-cs"/>
                </a:rPr>
                <a:t>Tactisch</a:t>
              </a:r>
            </a:p>
          </p:txBody>
        </p:sp>
      </p:grpSp>
      <p:grpSp>
        <p:nvGrpSpPr>
          <p:cNvPr id="73" name="Group 196">
            <a:extLst>
              <a:ext uri="{FF2B5EF4-FFF2-40B4-BE49-F238E27FC236}">
                <a16:creationId xmlns:a16="http://schemas.microsoft.com/office/drawing/2014/main" id="{9E4895E9-73B5-201A-F97B-10E086EF61C7}"/>
              </a:ext>
            </a:extLst>
          </p:cNvPr>
          <p:cNvGrpSpPr/>
          <p:nvPr/>
        </p:nvGrpSpPr>
        <p:grpSpPr>
          <a:xfrm>
            <a:off x="0" y="2974661"/>
            <a:ext cx="9247064" cy="3883339"/>
            <a:chOff x="0" y="2974661"/>
            <a:chExt cx="9247064" cy="3883339"/>
          </a:xfrm>
        </p:grpSpPr>
        <p:sp>
          <p:nvSpPr>
            <p:cNvPr id="74" name="Rectangle 190">
              <a:extLst>
                <a:ext uri="{FF2B5EF4-FFF2-40B4-BE49-F238E27FC236}">
                  <a16:creationId xmlns:a16="http://schemas.microsoft.com/office/drawing/2014/main" id="{A98F8BB0-B20F-2DF7-551E-5EC9C1BA345E}"/>
                </a:ext>
              </a:extLst>
            </p:cNvPr>
            <p:cNvSpPr/>
            <p:nvPr/>
          </p:nvSpPr>
          <p:spPr>
            <a:xfrm>
              <a:off x="0" y="2974661"/>
              <a:ext cx="9247064" cy="388333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193">
              <a:extLst>
                <a:ext uri="{FF2B5EF4-FFF2-40B4-BE49-F238E27FC236}">
                  <a16:creationId xmlns:a16="http://schemas.microsoft.com/office/drawing/2014/main" id="{93614C2C-B28F-0E43-5263-65B265F4FF57}"/>
                </a:ext>
              </a:extLst>
            </p:cNvPr>
            <p:cNvSpPr txBox="1"/>
            <p:nvPr/>
          </p:nvSpPr>
          <p:spPr>
            <a:xfrm>
              <a:off x="0" y="2978683"/>
              <a:ext cx="116326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400" b="1" i="0" u="none" strike="noStrike" kern="1200" cap="none" spc="0" normalizeH="0" baseline="0" noProof="0">
                  <a:ln>
                    <a:noFill/>
                  </a:ln>
                  <a:solidFill>
                    <a:prstClr val="white">
                      <a:lumMod val="50000"/>
                    </a:prstClr>
                  </a:solidFill>
                  <a:effectLst/>
                  <a:uLnTx/>
                  <a:uFillTx/>
                  <a:latin typeface="Calibri"/>
                  <a:ea typeface="+mn-ea"/>
                  <a:cs typeface="+mn-cs"/>
                </a:rPr>
                <a:t>Operationeel</a:t>
              </a:r>
            </a:p>
          </p:txBody>
        </p:sp>
      </p:grpSp>
      <p:sp>
        <p:nvSpPr>
          <p:cNvPr id="59" name="Tekstvak 32">
            <a:extLst>
              <a:ext uri="{FF2B5EF4-FFF2-40B4-BE49-F238E27FC236}">
                <a16:creationId xmlns:a16="http://schemas.microsoft.com/office/drawing/2014/main" id="{71CF7517-826B-3700-E45E-A7250E3B77A4}"/>
              </a:ext>
            </a:extLst>
          </p:cNvPr>
          <p:cNvSpPr txBox="1"/>
          <p:nvPr/>
        </p:nvSpPr>
        <p:spPr>
          <a:xfrm>
            <a:off x="496503" y="4500387"/>
            <a:ext cx="1834505" cy="663967"/>
          </a:xfrm>
          <a:prstGeom prst="rect">
            <a:avLst/>
          </a:prstGeom>
          <a:solidFill>
            <a:schemeClr val="accent5">
              <a:lumMod val="20000"/>
              <a:lumOff val="80000"/>
            </a:schemeClr>
          </a:solidFill>
          <a:ln>
            <a:solidFill>
              <a:schemeClr val="tx1"/>
            </a:solidFill>
            <a:prstDash val="dash"/>
          </a:ln>
        </p:spPr>
        <p:txBody>
          <a:bodyPr wrap="square" lIns="88900" tIns="38100" rIns="88900" bIns="3810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Helvetica"/>
              <a:ea typeface="+mn-ea"/>
              <a:cs typeface="+mn-cs"/>
            </a:endParaRPr>
          </a:p>
        </p:txBody>
      </p:sp>
      <p:sp>
        <p:nvSpPr>
          <p:cNvPr id="60" name="Tekstvak 15">
            <a:extLst>
              <a:ext uri="{FF2B5EF4-FFF2-40B4-BE49-F238E27FC236}">
                <a16:creationId xmlns:a16="http://schemas.microsoft.com/office/drawing/2014/main" id="{4290A1CE-E7ED-480D-8F1C-55C4C2F8DC71}"/>
              </a:ext>
            </a:extLst>
          </p:cNvPr>
          <p:cNvSpPr txBox="1"/>
          <p:nvPr/>
        </p:nvSpPr>
        <p:spPr>
          <a:xfrm>
            <a:off x="574853" y="4561256"/>
            <a:ext cx="1677243"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defPPr>
              <a:defRPr lang="en-NL"/>
            </a:defPPr>
            <a:lvl1pPr marR="0" lvl="0" indent="0" algn="ctr" defTabSz="400050" fontAlgn="auto">
              <a:lnSpc>
                <a:spcPct val="90000"/>
              </a:lnSpc>
              <a:spcBef>
                <a:spcPct val="0"/>
              </a:spcBef>
              <a:spcAft>
                <a:spcPct val="35000"/>
              </a:spcAft>
              <a:buClrTx/>
              <a:buSzTx/>
              <a:buFontTx/>
              <a:buNone/>
              <a:tabLst/>
              <a:defRPr kumimoji="0" sz="1000" b="1" i="0" u="none" strike="noStrike" cap="none" spc="0" normalizeH="0" baseline="0">
                <a:ln>
                  <a:noFill/>
                </a:ln>
                <a:solidFill>
                  <a:prstClr val="white"/>
                </a:solidFill>
                <a:effectLst/>
                <a:uLnTx/>
                <a:uFillTx/>
                <a:latin typeface="Calibri"/>
              </a:defRPr>
            </a:lvl1p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solidFill>
                <a:effectLst/>
                <a:uLnTx/>
                <a:uFillTx/>
                <a:latin typeface="Helvetica"/>
                <a:ea typeface="+mn-ea"/>
                <a:cs typeface="+mn-cs"/>
              </a:rPr>
              <a:t>Inhoudsdeskundigen</a:t>
            </a:r>
          </a:p>
        </p:txBody>
      </p:sp>
      <p:sp>
        <p:nvSpPr>
          <p:cNvPr id="151" name="Tekstvak 32">
            <a:extLst>
              <a:ext uri="{FF2B5EF4-FFF2-40B4-BE49-F238E27FC236}">
                <a16:creationId xmlns:a16="http://schemas.microsoft.com/office/drawing/2014/main" id="{97C3F7CA-E433-AFB1-90D8-DAAEEAA0E442}"/>
              </a:ext>
            </a:extLst>
          </p:cNvPr>
          <p:cNvSpPr txBox="1"/>
          <p:nvPr/>
        </p:nvSpPr>
        <p:spPr>
          <a:xfrm>
            <a:off x="2164832" y="2118333"/>
            <a:ext cx="1834505" cy="663967"/>
          </a:xfrm>
          <a:prstGeom prst="rect">
            <a:avLst/>
          </a:prstGeom>
          <a:solidFill>
            <a:schemeClr val="accent5">
              <a:lumMod val="20000"/>
              <a:lumOff val="80000"/>
            </a:schemeClr>
          </a:solidFill>
          <a:ln>
            <a:solidFill>
              <a:schemeClr val="tx1"/>
            </a:solidFill>
            <a:prstDash val="dash"/>
          </a:ln>
        </p:spPr>
        <p:txBody>
          <a:bodyPr wrap="square" lIns="88900" tIns="38100" rIns="88900" bIns="3810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Helvetica"/>
              <a:ea typeface="+mn-ea"/>
              <a:cs typeface="+mn-cs"/>
            </a:endParaRPr>
          </a:p>
        </p:txBody>
      </p:sp>
      <p:cxnSp>
        <p:nvCxnSpPr>
          <p:cNvPr id="145" name="Straight Connector 144">
            <a:extLst>
              <a:ext uri="{FF2B5EF4-FFF2-40B4-BE49-F238E27FC236}">
                <a16:creationId xmlns:a16="http://schemas.microsoft.com/office/drawing/2014/main" id="{4D00CF10-F31C-5FD2-7841-14A523FF56BC}"/>
              </a:ext>
            </a:extLst>
          </p:cNvPr>
          <p:cNvCxnSpPr>
            <a:cxnSpLocks/>
            <a:stCxn id="144" idx="3"/>
            <a:endCxn id="12" idx="1"/>
          </p:cNvCxnSpPr>
          <p:nvPr/>
        </p:nvCxnSpPr>
        <p:spPr>
          <a:xfrm>
            <a:off x="3990876" y="1604230"/>
            <a:ext cx="329756"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Tekstvak 32">
            <a:extLst>
              <a:ext uri="{FF2B5EF4-FFF2-40B4-BE49-F238E27FC236}">
                <a16:creationId xmlns:a16="http://schemas.microsoft.com/office/drawing/2014/main" id="{8E14A6B5-7B4B-AFA6-134D-104D05B0F465}"/>
              </a:ext>
            </a:extLst>
          </p:cNvPr>
          <p:cNvSpPr txBox="1"/>
          <p:nvPr/>
        </p:nvSpPr>
        <p:spPr>
          <a:xfrm>
            <a:off x="2164831" y="1248588"/>
            <a:ext cx="1826045" cy="711284"/>
          </a:xfrm>
          <a:prstGeom prst="rect">
            <a:avLst/>
          </a:prstGeom>
          <a:solidFill>
            <a:schemeClr val="accent5">
              <a:lumMod val="20000"/>
              <a:lumOff val="80000"/>
            </a:schemeClr>
          </a:solidFill>
          <a:ln>
            <a:solidFill>
              <a:schemeClr val="tx1"/>
            </a:solidFill>
            <a:prstDash val="dash"/>
          </a:ln>
        </p:spPr>
        <p:txBody>
          <a:bodyPr wrap="square" lIns="88900" tIns="38100" rIns="88900" bIns="3810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black"/>
              </a:solidFill>
              <a:effectLst/>
              <a:uLnTx/>
              <a:uFillTx/>
              <a:latin typeface="Helvetica"/>
              <a:ea typeface="+mn-ea"/>
              <a:cs typeface="+mn-cs"/>
            </a:endParaRPr>
          </a:p>
        </p:txBody>
      </p:sp>
      <p:sp>
        <p:nvSpPr>
          <p:cNvPr id="117" name="Tekstvak 32">
            <a:extLst>
              <a:ext uri="{FF2B5EF4-FFF2-40B4-BE49-F238E27FC236}">
                <a16:creationId xmlns:a16="http://schemas.microsoft.com/office/drawing/2014/main" id="{B3FF3798-E182-23E5-1D2C-2DBA61E8994E}"/>
              </a:ext>
            </a:extLst>
          </p:cNvPr>
          <p:cNvSpPr txBox="1"/>
          <p:nvPr/>
        </p:nvSpPr>
        <p:spPr>
          <a:xfrm>
            <a:off x="3045896" y="5883785"/>
            <a:ext cx="4216642" cy="737040"/>
          </a:xfrm>
          <a:prstGeom prst="rect">
            <a:avLst/>
          </a:prstGeom>
          <a:solidFill>
            <a:schemeClr val="bg1"/>
          </a:solidFill>
          <a:ln>
            <a:solidFill>
              <a:srgbClr val="21BBEF"/>
            </a:solidFill>
          </a:ln>
        </p:spPr>
        <p:txBody>
          <a:bodyPr wrap="square" lIns="88900" tIns="38100" rIns="88900" bIns="3810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Helvetica"/>
                <a:ea typeface="+mn-ea"/>
                <a:cs typeface="+mn-cs"/>
              </a:rPr>
              <a:t>Fundament: digitalisering &amp; gegevensuitwisseling </a:t>
            </a:r>
          </a:p>
        </p:txBody>
      </p:sp>
      <p:sp>
        <p:nvSpPr>
          <p:cNvPr id="105" name="Tekstvak 32">
            <a:extLst>
              <a:ext uri="{FF2B5EF4-FFF2-40B4-BE49-F238E27FC236}">
                <a16:creationId xmlns:a16="http://schemas.microsoft.com/office/drawing/2014/main" id="{02CF2C57-372F-6A1E-72B5-53CAFE3A4D31}"/>
              </a:ext>
            </a:extLst>
          </p:cNvPr>
          <p:cNvSpPr txBox="1"/>
          <p:nvPr/>
        </p:nvSpPr>
        <p:spPr>
          <a:xfrm>
            <a:off x="3045896" y="3673211"/>
            <a:ext cx="1833278" cy="2081992"/>
          </a:xfrm>
          <a:prstGeom prst="rect">
            <a:avLst/>
          </a:prstGeom>
          <a:solidFill>
            <a:schemeClr val="bg1"/>
          </a:solidFill>
          <a:ln>
            <a:solidFill>
              <a:srgbClr val="21BBEF"/>
            </a:solidFill>
          </a:ln>
        </p:spPr>
        <p:txBody>
          <a:bodyPr wrap="square" lIns="88900" tIns="38100" rIns="88900" bIns="3810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Helvetica"/>
                <a:ea typeface="Verdana" panose="020B0604030504040204" pitchFamily="34" charset="0"/>
                <a:cs typeface="+mn-cs"/>
              </a:rPr>
              <a:t>Digitale en (zorg) communicatie</a:t>
            </a:r>
            <a:r>
              <a:rPr kumimoji="0" lang="nl-NL" sz="1000" b="0" i="0" u="none" strike="noStrike" kern="1200" cap="none" spc="0" normalizeH="0" baseline="0" noProof="0">
                <a:ln>
                  <a:noFill/>
                </a:ln>
                <a:solidFill>
                  <a:prstClr val="black"/>
                </a:solidFill>
                <a:effectLst/>
                <a:uLnTx/>
                <a:uFillTx/>
                <a:latin typeface="Helvetica"/>
                <a:ea typeface="+mn-ea"/>
                <a:cs typeface="+mn-cs"/>
              </a:rPr>
              <a:t> (thema 1)</a:t>
            </a:r>
          </a:p>
        </p:txBody>
      </p:sp>
      <p:sp>
        <p:nvSpPr>
          <p:cNvPr id="103" name="Tekstvak 32">
            <a:extLst>
              <a:ext uri="{FF2B5EF4-FFF2-40B4-BE49-F238E27FC236}">
                <a16:creationId xmlns:a16="http://schemas.microsoft.com/office/drawing/2014/main" id="{A2B3724D-3218-86C6-65B2-0E65F45613D0}"/>
              </a:ext>
            </a:extLst>
          </p:cNvPr>
          <p:cNvSpPr txBox="1"/>
          <p:nvPr/>
        </p:nvSpPr>
        <p:spPr>
          <a:xfrm>
            <a:off x="5468268" y="3705777"/>
            <a:ext cx="1833278" cy="2052000"/>
          </a:xfrm>
          <a:prstGeom prst="rect">
            <a:avLst/>
          </a:prstGeom>
          <a:solidFill>
            <a:schemeClr val="bg1"/>
          </a:solidFill>
          <a:ln>
            <a:solidFill>
              <a:srgbClr val="21BBEF"/>
            </a:solidFill>
          </a:ln>
        </p:spPr>
        <p:txBody>
          <a:bodyPr wrap="square" lIns="88900" tIns="38100" rIns="88900" bIns="3810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black"/>
                </a:solidFill>
                <a:effectLst/>
                <a:uLnTx/>
                <a:uFillTx/>
                <a:latin typeface="Helvetica"/>
                <a:ea typeface="Verdana" panose="020B0604030504040204" pitchFamily="34" charset="0"/>
                <a:cs typeface="+mn-cs"/>
              </a:rPr>
              <a:t>Dossier inzage en digitale overdracht (</a:t>
            </a:r>
            <a:r>
              <a:rPr kumimoji="0" lang="nl-NL" sz="1000" b="0" i="0" u="none" strike="noStrike" kern="1200" cap="none" spc="0" normalizeH="0" baseline="0" noProof="0">
                <a:ln>
                  <a:noFill/>
                </a:ln>
                <a:solidFill>
                  <a:prstClr val="black"/>
                </a:solidFill>
                <a:effectLst/>
                <a:uLnTx/>
                <a:uFillTx/>
                <a:latin typeface="Helvetica"/>
                <a:ea typeface="+mn-ea"/>
                <a:cs typeface="+mn-cs"/>
              </a:rPr>
              <a:t>thema 2) </a:t>
            </a:r>
          </a:p>
        </p:txBody>
      </p:sp>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1" y="465998"/>
            <a:ext cx="11503939" cy="504000"/>
          </a:xfrm>
        </p:spPr>
        <p:txBody>
          <a:bodyPr>
            <a:noAutofit/>
          </a:bodyPr>
          <a:lstStyle/>
          <a:p>
            <a:r>
              <a:rPr lang="nl-NL">
                <a:latin typeface="Verdana Pro" panose="020B0604030504040204" pitchFamily="34" charset="0"/>
              </a:rPr>
              <a:t>Programmastructuur IZA transformatieplan</a:t>
            </a:r>
          </a:p>
        </p:txBody>
      </p:sp>
      <p:sp>
        <p:nvSpPr>
          <p:cNvPr id="12" name="Tekstvak 11">
            <a:extLst>
              <a:ext uri="{FF2B5EF4-FFF2-40B4-BE49-F238E27FC236}">
                <a16:creationId xmlns:a16="http://schemas.microsoft.com/office/drawing/2014/main" id="{9E23E012-D464-F692-72E1-2D67CFD0023C}"/>
              </a:ext>
            </a:extLst>
          </p:cNvPr>
          <p:cNvSpPr txBox="1"/>
          <p:nvPr/>
        </p:nvSpPr>
        <p:spPr>
          <a:xfrm>
            <a:off x="4320632" y="1334901"/>
            <a:ext cx="1677243"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solidFill>
                <a:effectLst/>
                <a:uLnTx/>
                <a:uFillTx/>
                <a:latin typeface="Helvetica"/>
                <a:ea typeface="+mn-ea"/>
                <a:cs typeface="+mn-cs"/>
              </a:rPr>
              <a:t>Stuurgroep DTMN </a:t>
            </a:r>
            <a:r>
              <a:rPr kumimoji="0" lang="nl-NL" sz="1000" b="1" i="0" u="none" strike="noStrike" kern="1200" cap="none" spc="0" normalizeH="0" baseline="30000" noProof="0">
                <a:ln>
                  <a:noFill/>
                </a:ln>
                <a:solidFill>
                  <a:prstClr val="white"/>
                </a:solidFill>
                <a:effectLst/>
                <a:uLnTx/>
                <a:uFillTx/>
                <a:latin typeface="Helvetica"/>
                <a:ea typeface="+mn-ea"/>
                <a:cs typeface="+mn-cs"/>
              </a:rPr>
              <a:t>2</a:t>
            </a:r>
            <a:br>
              <a:rPr kumimoji="0" lang="nl-NL" sz="1000" b="1" i="0" u="none" strike="noStrike" kern="1200" cap="none" spc="0" normalizeH="0" baseline="0" noProof="0">
                <a:ln>
                  <a:noFill/>
                </a:ln>
                <a:solidFill>
                  <a:prstClr val="white"/>
                </a:solidFill>
                <a:effectLst/>
                <a:uLnTx/>
                <a:uFillTx/>
                <a:latin typeface="Helvetica"/>
                <a:ea typeface="+mn-ea"/>
                <a:cs typeface="+mn-cs"/>
              </a:rPr>
            </a:br>
            <a:br>
              <a:rPr kumimoji="0" lang="nl-NL" sz="1000" b="1" i="0" u="none" strike="noStrike" kern="1200" cap="none" spc="0" normalizeH="0" baseline="0" noProof="0">
                <a:ln>
                  <a:noFill/>
                </a:ln>
                <a:solidFill>
                  <a:prstClr val="white"/>
                </a:solidFill>
                <a:effectLst/>
                <a:uLnTx/>
                <a:uFillTx/>
                <a:latin typeface="Helvetica"/>
                <a:ea typeface="+mn-ea"/>
                <a:cs typeface="+mn-cs"/>
              </a:rPr>
            </a:br>
            <a:endParaRPr kumimoji="0" lang="nl-NL" sz="1000" b="1" i="0" u="none" strike="noStrike" kern="1200" cap="none" spc="0" normalizeH="0" baseline="0" noProof="0">
              <a:ln>
                <a:noFill/>
              </a:ln>
              <a:solidFill>
                <a:prstClr val="white"/>
              </a:solidFill>
              <a:effectLst/>
              <a:uLnTx/>
              <a:uFillTx/>
              <a:latin typeface="Helvetica"/>
              <a:ea typeface="+mn-ea"/>
              <a:cs typeface="+mn-cs"/>
            </a:endParaRPr>
          </a:p>
        </p:txBody>
      </p:sp>
      <p:sp>
        <p:nvSpPr>
          <p:cNvPr id="122" name="Tekstvak 11">
            <a:extLst>
              <a:ext uri="{FF2B5EF4-FFF2-40B4-BE49-F238E27FC236}">
                <a16:creationId xmlns:a16="http://schemas.microsoft.com/office/drawing/2014/main" id="{A19B6B85-7A38-B315-2834-C56BBD120DD1}"/>
              </a:ext>
            </a:extLst>
          </p:cNvPr>
          <p:cNvSpPr txBox="1"/>
          <p:nvPr/>
        </p:nvSpPr>
        <p:spPr>
          <a:xfrm>
            <a:off x="6319172" y="1334901"/>
            <a:ext cx="1744033" cy="538658"/>
          </a:xfrm>
          <a:prstGeom prst="rect">
            <a:avLst/>
          </a:prstGeom>
          <a:solidFill>
            <a:srgbClr val="7AD6F6"/>
          </a:solidFill>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defPPr>
              <a:defRPr lang="en-NL"/>
            </a:defPPr>
            <a:lvl1pPr marR="0" lvl="0" indent="0" algn="ctr" defTabSz="400050" fontAlgn="auto">
              <a:lnSpc>
                <a:spcPct val="90000"/>
              </a:lnSpc>
              <a:spcBef>
                <a:spcPct val="0"/>
              </a:spcBef>
              <a:spcAft>
                <a:spcPct val="35000"/>
              </a:spcAft>
              <a:buClrTx/>
              <a:buSzTx/>
              <a:buFontTx/>
              <a:buNone/>
              <a:tabLst/>
              <a:defRPr kumimoji="0" sz="1000" b="1" i="0" u="none" strike="noStrike" cap="none" spc="0" normalizeH="0" baseline="0">
                <a:ln>
                  <a:noFill/>
                </a:ln>
                <a:solidFill>
                  <a:prstClr val="white"/>
                </a:solidFill>
                <a:effectLst/>
                <a:uLnTx/>
                <a:uFillTx/>
                <a:latin typeface="Calibri"/>
              </a:defRPr>
            </a:lvl1p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lumMod val="50000"/>
                  </a:prstClr>
                </a:solidFill>
                <a:effectLst/>
                <a:uLnTx/>
                <a:uFillTx/>
                <a:latin typeface="Helvetica"/>
                <a:ea typeface="+mn-ea"/>
                <a:cs typeface="+mn-cs"/>
              </a:rPr>
              <a:t>1e en 2e verzekeraar</a:t>
            </a:r>
          </a:p>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lumMod val="50000"/>
                  </a:prstClr>
                </a:solidFill>
                <a:effectLst/>
                <a:uLnTx/>
                <a:uFillTx/>
                <a:latin typeface="Helvetica"/>
                <a:ea typeface="+mn-ea"/>
                <a:cs typeface="Helvetica"/>
              </a:rPr>
              <a:t>Gemeenten</a:t>
            </a:r>
          </a:p>
        </p:txBody>
      </p:sp>
      <p:sp>
        <p:nvSpPr>
          <p:cNvPr id="16" name="Tekstvak 15">
            <a:extLst>
              <a:ext uri="{FF2B5EF4-FFF2-40B4-BE49-F238E27FC236}">
                <a16:creationId xmlns:a16="http://schemas.microsoft.com/office/drawing/2014/main" id="{D8D80FBF-9AA0-AA4A-FB6A-2E855AB9557F}"/>
              </a:ext>
            </a:extLst>
          </p:cNvPr>
          <p:cNvSpPr txBox="1"/>
          <p:nvPr/>
        </p:nvSpPr>
        <p:spPr>
          <a:xfrm>
            <a:off x="2243182" y="2179202"/>
            <a:ext cx="1677243"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defPPr>
              <a:defRPr lang="en-NL"/>
            </a:defPPr>
            <a:lvl1pPr marR="0" lvl="0" indent="0" algn="ctr" defTabSz="400050" fontAlgn="auto">
              <a:lnSpc>
                <a:spcPct val="90000"/>
              </a:lnSpc>
              <a:spcBef>
                <a:spcPct val="0"/>
              </a:spcBef>
              <a:spcAft>
                <a:spcPct val="35000"/>
              </a:spcAft>
              <a:buClrTx/>
              <a:buSzTx/>
              <a:buFontTx/>
              <a:buNone/>
              <a:tabLst/>
              <a:defRPr kumimoji="0" sz="1000" b="1" i="0" u="none" strike="noStrike" cap="none" spc="0" normalizeH="0" baseline="0">
                <a:ln>
                  <a:noFill/>
                </a:ln>
                <a:solidFill>
                  <a:prstClr val="white"/>
                </a:solidFill>
                <a:effectLst/>
                <a:uLnTx/>
                <a:uFillTx/>
                <a:latin typeface="Calibri"/>
              </a:defRPr>
            </a:lvl1pPr>
          </a:lstStyle>
          <a:p>
            <a:pPr>
              <a:defRPr/>
            </a:pPr>
            <a:r>
              <a:rPr lang="nl-NL">
                <a:latin typeface="Helvetica"/>
              </a:rPr>
              <a:t>Architectuurraad</a:t>
            </a:r>
            <a:r>
              <a:rPr kumimoji="0" lang="nl-NL" sz="1000" b="1" i="0" u="none" strike="noStrike" kern="1200" cap="none" spc="0" normalizeH="0" baseline="0" noProof="0">
                <a:ln>
                  <a:noFill/>
                </a:ln>
                <a:effectLst/>
                <a:uLnTx/>
                <a:uFillTx/>
                <a:latin typeface="Helvetica"/>
                <a:ea typeface="+mn-ea"/>
                <a:cs typeface="+mn-cs"/>
              </a:rPr>
              <a:t> </a:t>
            </a:r>
            <a:endParaRPr lang="nl-NL"/>
          </a:p>
          <a:p>
            <a:pPr marL="0" marR="0" lvl="0" indent="0" algn="ctr" defTabSz="400050">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effectLst/>
                <a:uLnTx/>
                <a:uFillTx/>
                <a:latin typeface="Helvetica"/>
                <a:ea typeface="+mn-ea"/>
                <a:cs typeface="+mn-cs"/>
              </a:rPr>
              <a:t>DTMN </a:t>
            </a:r>
            <a:r>
              <a:rPr kumimoji="0" lang="nl-NL" sz="1000" b="1" i="0" u="none" strike="noStrike" kern="1200" cap="none" spc="0" normalizeH="0" baseline="30000" noProof="0">
                <a:ln>
                  <a:noFill/>
                </a:ln>
                <a:effectLst/>
                <a:uLnTx/>
                <a:uFillTx/>
                <a:latin typeface="Helvetica"/>
                <a:ea typeface="+mn-ea"/>
                <a:cs typeface="+mn-cs"/>
              </a:rPr>
              <a:t>3</a:t>
            </a:r>
            <a:endParaRPr lang="nl-NL">
              <a:ea typeface="+mn-ea"/>
              <a:cs typeface="+mn-cs"/>
            </a:endParaRPr>
          </a:p>
        </p:txBody>
      </p:sp>
      <p:sp>
        <p:nvSpPr>
          <p:cNvPr id="32" name="Tekstvak 31">
            <a:extLst>
              <a:ext uri="{FF2B5EF4-FFF2-40B4-BE49-F238E27FC236}">
                <a16:creationId xmlns:a16="http://schemas.microsoft.com/office/drawing/2014/main" id="{83A88B1A-B502-E7C1-B74C-BD138A300FDD}"/>
              </a:ext>
            </a:extLst>
          </p:cNvPr>
          <p:cNvSpPr txBox="1"/>
          <p:nvPr/>
        </p:nvSpPr>
        <p:spPr>
          <a:xfrm>
            <a:off x="2243182" y="1343722"/>
            <a:ext cx="1624629"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5715" tIns="5715" rIns="5715" bIns="5715"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solidFill>
                <a:effectLst/>
                <a:uLnTx/>
                <a:uFillTx/>
                <a:latin typeface="Helvetica"/>
                <a:ea typeface="+mn-ea"/>
                <a:cs typeface="+mn-cs"/>
              </a:rPr>
              <a:t>Klankbordgroep </a:t>
            </a:r>
            <a:r>
              <a:rPr kumimoji="0" lang="nl-NL" sz="1000" b="1" i="0" u="none" strike="noStrike" kern="1200" cap="none" spc="0" normalizeH="0" baseline="30000" noProof="0">
                <a:ln>
                  <a:noFill/>
                </a:ln>
                <a:solidFill>
                  <a:prstClr val="white"/>
                </a:solidFill>
                <a:effectLst/>
                <a:uLnTx/>
                <a:uFillTx/>
                <a:latin typeface="Helvetica"/>
                <a:ea typeface="+mn-ea"/>
                <a:cs typeface="+mn-cs"/>
              </a:rPr>
              <a:t>1</a:t>
            </a:r>
          </a:p>
        </p:txBody>
      </p:sp>
      <p:sp>
        <p:nvSpPr>
          <p:cNvPr id="41" name="Tekstvak 11">
            <a:extLst>
              <a:ext uri="{FF2B5EF4-FFF2-40B4-BE49-F238E27FC236}">
                <a16:creationId xmlns:a16="http://schemas.microsoft.com/office/drawing/2014/main" id="{4A9C7153-C314-E260-F46C-B0EBAE1D18A8}"/>
              </a:ext>
            </a:extLst>
          </p:cNvPr>
          <p:cNvSpPr txBox="1"/>
          <p:nvPr/>
        </p:nvSpPr>
        <p:spPr>
          <a:xfrm>
            <a:off x="4317173" y="2179202"/>
            <a:ext cx="1677243"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solidFill>
                <a:effectLst/>
                <a:uLnTx/>
                <a:uFillTx/>
                <a:latin typeface="Helvetica"/>
                <a:ea typeface="+mn-ea"/>
                <a:cs typeface="+mn-cs"/>
              </a:rPr>
              <a:t>Programmamanagement</a:t>
            </a:r>
            <a:br>
              <a:rPr kumimoji="0" lang="nl-NL" sz="1000" b="1" i="0" u="none" strike="noStrike" kern="1200" cap="none" spc="0" normalizeH="0" baseline="0" noProof="0">
                <a:ln>
                  <a:noFill/>
                </a:ln>
                <a:solidFill>
                  <a:prstClr val="white"/>
                </a:solidFill>
                <a:effectLst/>
                <a:uLnTx/>
                <a:uFillTx/>
                <a:latin typeface="Helvetica"/>
                <a:ea typeface="+mn-ea"/>
                <a:cs typeface="+mn-cs"/>
              </a:rPr>
            </a:br>
            <a:endParaRPr kumimoji="0" lang="nl-NL" sz="1000" b="1" i="0" u="none" strike="noStrike" kern="1200" cap="none" spc="0" normalizeH="0" baseline="0" noProof="0">
              <a:ln>
                <a:noFill/>
              </a:ln>
              <a:solidFill>
                <a:prstClr val="white"/>
              </a:solidFill>
              <a:effectLst/>
              <a:uLnTx/>
              <a:uFillTx/>
              <a:latin typeface="Helvetica"/>
              <a:ea typeface="+mn-ea"/>
              <a:cs typeface="+mn-cs"/>
            </a:endParaRPr>
          </a:p>
          <a:p>
            <a:pPr marL="0" marR="0" lvl="0" indent="0" algn="ctr" defTabSz="400050" rtl="0" eaLnBrk="1" fontAlgn="auto" latinLnBrk="0" hangingPunct="1">
              <a:lnSpc>
                <a:spcPct val="90000"/>
              </a:lnSpc>
              <a:spcBef>
                <a:spcPct val="0"/>
              </a:spcBef>
              <a:spcAft>
                <a:spcPct val="35000"/>
              </a:spcAft>
              <a:buClrTx/>
              <a:buSzTx/>
              <a:buFontTx/>
              <a:buNone/>
              <a:tabLst/>
              <a:defRPr/>
            </a:pPr>
            <a:endParaRPr kumimoji="0" lang="nl-NL" sz="1000" b="1" i="0" u="none" strike="noStrike" kern="1200" cap="none" spc="0" normalizeH="0" baseline="0" noProof="0">
              <a:ln>
                <a:noFill/>
              </a:ln>
              <a:solidFill>
                <a:prstClr val="white"/>
              </a:solidFill>
              <a:effectLst/>
              <a:uLnTx/>
              <a:uFillTx/>
              <a:latin typeface="Helvetica"/>
              <a:ea typeface="+mn-ea"/>
              <a:cs typeface="+mn-cs"/>
            </a:endParaRPr>
          </a:p>
        </p:txBody>
      </p:sp>
      <p:sp>
        <p:nvSpPr>
          <p:cNvPr id="48" name="Tekstvak 11">
            <a:extLst>
              <a:ext uri="{FF2B5EF4-FFF2-40B4-BE49-F238E27FC236}">
                <a16:creationId xmlns:a16="http://schemas.microsoft.com/office/drawing/2014/main" id="{68690838-1C2E-4A7C-FDB0-5CBBBAF157AF}"/>
              </a:ext>
            </a:extLst>
          </p:cNvPr>
          <p:cNvSpPr txBox="1"/>
          <p:nvPr/>
        </p:nvSpPr>
        <p:spPr>
          <a:xfrm>
            <a:off x="6317279" y="2179202"/>
            <a:ext cx="1745929"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Programmabureau: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 Programmasecretaris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 Programmaondersteuning</a:t>
            </a:r>
          </a:p>
        </p:txBody>
      </p:sp>
      <p:sp>
        <p:nvSpPr>
          <p:cNvPr id="51" name="Tekstvak 11">
            <a:extLst>
              <a:ext uri="{FF2B5EF4-FFF2-40B4-BE49-F238E27FC236}">
                <a16:creationId xmlns:a16="http://schemas.microsoft.com/office/drawing/2014/main" id="{914B96BF-C765-2354-E8B4-0974A4F9DB3E}"/>
              </a:ext>
            </a:extLst>
          </p:cNvPr>
          <p:cNvSpPr txBox="1"/>
          <p:nvPr/>
        </p:nvSpPr>
        <p:spPr>
          <a:xfrm>
            <a:off x="3123914" y="3022365"/>
            <a:ext cx="1677243"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solidFill>
                <a:effectLst/>
                <a:uLnTx/>
                <a:uFillTx/>
                <a:latin typeface="Helvetica"/>
                <a:ea typeface="+mn-ea"/>
                <a:cs typeface="+mn-cs"/>
              </a:rPr>
              <a:t>Themacoördinator</a:t>
            </a:r>
            <a:br>
              <a:rPr kumimoji="0" lang="nl-NL" sz="1000" b="1" i="0" u="none" strike="noStrike" kern="1200" cap="none" spc="0" normalizeH="0" baseline="0" noProof="0">
                <a:ln>
                  <a:noFill/>
                </a:ln>
                <a:solidFill>
                  <a:prstClr val="white"/>
                </a:solidFill>
                <a:effectLst/>
                <a:uLnTx/>
                <a:uFillTx/>
                <a:latin typeface="Helvetica"/>
                <a:ea typeface="+mn-ea"/>
                <a:cs typeface="+mn-cs"/>
              </a:rPr>
            </a:br>
            <a:endParaRPr kumimoji="0" lang="nl-NL" sz="1000" b="1" i="0" u="none" strike="noStrike" kern="1200" cap="none" spc="0" normalizeH="0" baseline="0" noProof="0">
              <a:ln>
                <a:noFill/>
              </a:ln>
              <a:solidFill>
                <a:prstClr val="white"/>
              </a:solidFill>
              <a:effectLst/>
              <a:uLnTx/>
              <a:uFillTx/>
              <a:latin typeface="Helvetica"/>
              <a:ea typeface="+mn-ea"/>
              <a:cs typeface="+mn-cs"/>
            </a:endParaRPr>
          </a:p>
        </p:txBody>
      </p:sp>
      <p:sp>
        <p:nvSpPr>
          <p:cNvPr id="57" name="Tekstvak 11">
            <a:extLst>
              <a:ext uri="{FF2B5EF4-FFF2-40B4-BE49-F238E27FC236}">
                <a16:creationId xmlns:a16="http://schemas.microsoft.com/office/drawing/2014/main" id="{82235DE1-F71E-40CF-68E3-865B1AE2F5D2}"/>
              </a:ext>
            </a:extLst>
          </p:cNvPr>
          <p:cNvSpPr txBox="1"/>
          <p:nvPr/>
        </p:nvSpPr>
        <p:spPr>
          <a:xfrm>
            <a:off x="5546286" y="3041719"/>
            <a:ext cx="1677243" cy="538658"/>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1" i="0" u="none" strike="noStrike" kern="1200" cap="none" spc="0" normalizeH="0" baseline="0" noProof="0">
                <a:ln>
                  <a:noFill/>
                </a:ln>
                <a:solidFill>
                  <a:prstClr val="white"/>
                </a:solidFill>
                <a:effectLst/>
                <a:uLnTx/>
                <a:uFillTx/>
                <a:latin typeface="Helvetica"/>
                <a:ea typeface="+mn-ea"/>
                <a:cs typeface="+mn-cs"/>
              </a:rPr>
              <a:t>Themacoördinator</a:t>
            </a:r>
            <a:br>
              <a:rPr kumimoji="0" lang="nl-NL" sz="1000" b="1" i="0" u="none" strike="noStrike" kern="1200" cap="none" spc="0" normalizeH="0" baseline="0" noProof="0">
                <a:ln>
                  <a:noFill/>
                </a:ln>
                <a:solidFill>
                  <a:prstClr val="white"/>
                </a:solidFill>
                <a:effectLst/>
                <a:uLnTx/>
                <a:uFillTx/>
                <a:latin typeface="Helvetica"/>
                <a:ea typeface="+mn-ea"/>
                <a:cs typeface="+mn-cs"/>
              </a:rPr>
            </a:br>
            <a:endParaRPr kumimoji="0" lang="nl-NL" sz="1000" b="1" i="0" u="none" strike="noStrike" kern="1200" cap="none" spc="0" normalizeH="0" baseline="0" noProof="0">
              <a:ln>
                <a:noFill/>
              </a:ln>
              <a:solidFill>
                <a:prstClr val="white"/>
              </a:solidFill>
              <a:effectLst/>
              <a:uLnTx/>
              <a:uFillTx/>
              <a:latin typeface="Helvetica"/>
              <a:ea typeface="+mn-ea"/>
              <a:cs typeface="+mn-cs"/>
            </a:endParaRPr>
          </a:p>
        </p:txBody>
      </p:sp>
      <p:sp>
        <p:nvSpPr>
          <p:cNvPr id="63" name="Tekstvak 11">
            <a:extLst>
              <a:ext uri="{FF2B5EF4-FFF2-40B4-BE49-F238E27FC236}">
                <a16:creationId xmlns:a16="http://schemas.microsoft.com/office/drawing/2014/main" id="{3643C7B0-32A7-3AB2-6925-648B82900753}"/>
              </a:ext>
            </a:extLst>
          </p:cNvPr>
          <p:cNvSpPr txBox="1"/>
          <p:nvPr/>
        </p:nvSpPr>
        <p:spPr>
          <a:xfrm>
            <a:off x="3416070" y="6113180"/>
            <a:ext cx="1677243" cy="288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0" tIns="46800" rIns="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0.0 </a:t>
            </a:r>
            <a:br>
              <a:rPr kumimoji="0" lang="nl-NL" sz="1000" b="0" i="0" u="none" strike="noStrike" kern="1200" cap="none" spc="0" normalizeH="0" baseline="0" noProof="0">
                <a:ln>
                  <a:noFill/>
                </a:ln>
                <a:solidFill>
                  <a:prstClr val="white"/>
                </a:solidFill>
                <a:effectLst/>
                <a:uLnTx/>
                <a:uFillTx/>
                <a:latin typeface="Helvetica"/>
                <a:ea typeface="+mn-ea"/>
                <a:cs typeface="+mn-cs"/>
              </a:rPr>
            </a:br>
            <a:r>
              <a:rPr kumimoji="0" lang="nl-NL" sz="1000" b="0" i="0" u="none" strike="noStrike" kern="1200" cap="none" spc="0" normalizeH="0" baseline="0" noProof="0">
                <a:ln>
                  <a:noFill/>
                </a:ln>
                <a:solidFill>
                  <a:prstClr val="white"/>
                </a:solidFill>
                <a:effectLst/>
                <a:uLnTx/>
                <a:uFillTx/>
                <a:latin typeface="Helvetica"/>
                <a:ea typeface="+mn-ea"/>
                <a:cs typeface="+mn-cs"/>
              </a:rPr>
              <a:t>(Fundament </a:t>
            </a:r>
            <a:r>
              <a:rPr kumimoji="0" lang="nl-NL" sz="1000" b="0" i="0" u="none" strike="noStrike" kern="1200" cap="none" spc="0" normalizeH="0" baseline="30000" noProof="0">
                <a:ln>
                  <a:noFill/>
                </a:ln>
                <a:solidFill>
                  <a:prstClr val="white"/>
                </a:solidFill>
                <a:effectLst/>
                <a:uLnTx/>
                <a:uFillTx/>
                <a:latin typeface="Helvetica"/>
                <a:ea typeface="+mn-ea"/>
                <a:cs typeface="+mn-cs"/>
              </a:rPr>
              <a:t>4</a:t>
            </a:r>
            <a:r>
              <a:rPr kumimoji="0" lang="nl-NL" sz="1000" b="0" i="0" u="none" strike="noStrike" kern="1200" cap="none" spc="0" normalizeH="0" baseline="0" noProof="0">
                <a:ln>
                  <a:noFill/>
                </a:ln>
                <a:solidFill>
                  <a:prstClr val="white"/>
                </a:solidFill>
                <a:effectLst/>
                <a:uLnTx/>
                <a:uFillTx/>
                <a:latin typeface="Helvetica"/>
                <a:ea typeface="+mn-ea"/>
                <a:cs typeface="+mn-cs"/>
              </a:rPr>
              <a:t>)</a:t>
            </a:r>
          </a:p>
        </p:txBody>
      </p:sp>
      <p:cxnSp>
        <p:nvCxnSpPr>
          <p:cNvPr id="104" name="Connector: Elbow 103">
            <a:extLst>
              <a:ext uri="{FF2B5EF4-FFF2-40B4-BE49-F238E27FC236}">
                <a16:creationId xmlns:a16="http://schemas.microsoft.com/office/drawing/2014/main" id="{DD8A34CD-49A1-D02D-DCD7-861D5C08B3BF}"/>
              </a:ext>
            </a:extLst>
          </p:cNvPr>
          <p:cNvCxnSpPr>
            <a:cxnSpLocks/>
            <a:stCxn id="57" idx="0"/>
            <a:endCxn id="41" idx="2"/>
          </p:cNvCxnSpPr>
          <p:nvPr/>
        </p:nvCxnSpPr>
        <p:spPr>
          <a:xfrm rot="16200000" flipV="1">
            <a:off x="5608423" y="2265233"/>
            <a:ext cx="323859" cy="122911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66" name="Tekstvak 11">
            <a:extLst>
              <a:ext uri="{FF2B5EF4-FFF2-40B4-BE49-F238E27FC236}">
                <a16:creationId xmlns:a16="http://schemas.microsoft.com/office/drawing/2014/main" id="{AB7C0CBD-95A5-0312-0783-928A9AE00376}"/>
              </a:ext>
            </a:extLst>
          </p:cNvPr>
          <p:cNvSpPr txBox="1"/>
          <p:nvPr/>
        </p:nvSpPr>
        <p:spPr>
          <a:xfrm>
            <a:off x="3123914" y="4071084"/>
            <a:ext cx="1677243" cy="360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0" tIns="46800" rIns="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1.1</a:t>
            </a:r>
            <a:br>
              <a:rPr kumimoji="0" lang="nl-NL" sz="1000" b="0" i="0" u="none" strike="noStrike" kern="1200" cap="none" spc="0" normalizeH="0" baseline="0" noProof="0">
                <a:ln>
                  <a:noFill/>
                </a:ln>
                <a:solidFill>
                  <a:prstClr val="white"/>
                </a:solidFill>
                <a:effectLst/>
                <a:uLnTx/>
                <a:uFillTx/>
                <a:latin typeface="Helvetica"/>
                <a:ea typeface="+mn-ea"/>
                <a:cs typeface="+mn-cs"/>
              </a:rPr>
            </a:br>
            <a:r>
              <a:rPr kumimoji="0" lang="nl-NL" sz="1000" b="0" i="0" u="none" strike="noStrike" kern="1200" cap="none" spc="0" normalizeH="0" baseline="0" noProof="0">
                <a:ln>
                  <a:noFill/>
                </a:ln>
                <a:solidFill>
                  <a:prstClr val="white"/>
                </a:solidFill>
                <a:effectLst/>
                <a:uLnTx/>
                <a:uFillTx/>
                <a:latin typeface="Helvetica"/>
                <a:ea typeface="+mn-ea"/>
                <a:cs typeface="+mn-cs"/>
              </a:rPr>
              <a:t> (Meedenkconsult)</a:t>
            </a:r>
          </a:p>
        </p:txBody>
      </p:sp>
      <p:sp>
        <p:nvSpPr>
          <p:cNvPr id="70" name="Tekstvak 11">
            <a:extLst>
              <a:ext uri="{FF2B5EF4-FFF2-40B4-BE49-F238E27FC236}">
                <a16:creationId xmlns:a16="http://schemas.microsoft.com/office/drawing/2014/main" id="{26DA5BA6-9E9B-D139-5D25-22BD8F19F730}"/>
              </a:ext>
            </a:extLst>
          </p:cNvPr>
          <p:cNvSpPr txBox="1"/>
          <p:nvPr/>
        </p:nvSpPr>
        <p:spPr>
          <a:xfrm>
            <a:off x="5546286" y="4071084"/>
            <a:ext cx="1677243" cy="360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2.1</a:t>
            </a:r>
            <a:br>
              <a:rPr kumimoji="0" lang="nl-NL" sz="1000" b="0" i="0" u="none" strike="noStrike" kern="1200" cap="none" spc="0" normalizeH="0" baseline="0" noProof="0">
                <a:ln>
                  <a:noFill/>
                </a:ln>
                <a:solidFill>
                  <a:prstClr val="white"/>
                </a:solidFill>
                <a:effectLst/>
                <a:uLnTx/>
                <a:uFillTx/>
                <a:latin typeface="Helvetica"/>
                <a:ea typeface="+mn-ea"/>
                <a:cs typeface="+mn-cs"/>
              </a:rPr>
            </a:br>
            <a:r>
              <a:rPr kumimoji="0" lang="nl-NL" sz="1000" b="0" i="0" u="none" strike="noStrike" kern="1200" cap="none" spc="0" normalizeH="0" baseline="0" noProof="0">
                <a:ln>
                  <a:noFill/>
                </a:ln>
                <a:solidFill>
                  <a:prstClr val="white"/>
                </a:solidFill>
                <a:effectLst/>
                <a:uLnTx/>
                <a:uFillTx/>
                <a:latin typeface="Helvetica"/>
                <a:ea typeface="+mn-ea"/>
                <a:cs typeface="+mn-cs"/>
              </a:rPr>
              <a:t>(BGZ)</a:t>
            </a:r>
          </a:p>
        </p:txBody>
      </p:sp>
      <p:sp>
        <p:nvSpPr>
          <p:cNvPr id="81" name="Tekstvak 11">
            <a:extLst>
              <a:ext uri="{FF2B5EF4-FFF2-40B4-BE49-F238E27FC236}">
                <a16:creationId xmlns:a16="http://schemas.microsoft.com/office/drawing/2014/main" id="{92D59FC4-4E9B-6E8D-4014-5152E016F7D0}"/>
              </a:ext>
            </a:extLst>
          </p:cNvPr>
          <p:cNvSpPr txBox="1"/>
          <p:nvPr/>
        </p:nvSpPr>
        <p:spPr>
          <a:xfrm>
            <a:off x="5546286" y="4496721"/>
            <a:ext cx="1677243" cy="360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2.2</a:t>
            </a:r>
            <a:br>
              <a:rPr kumimoji="0" lang="nl-NL" sz="1000" b="0" i="0" u="none" strike="noStrike" kern="1200" cap="none" spc="0" normalizeH="0" baseline="0" noProof="0">
                <a:ln>
                  <a:noFill/>
                </a:ln>
                <a:solidFill>
                  <a:prstClr val="white"/>
                </a:solidFill>
                <a:effectLst/>
                <a:uLnTx/>
                <a:uFillTx/>
                <a:latin typeface="Helvetica"/>
                <a:ea typeface="+mn-ea"/>
                <a:cs typeface="+mn-cs"/>
              </a:rPr>
            </a:br>
            <a:r>
              <a:rPr kumimoji="0" lang="nl-NL" sz="1000" b="0" i="0" u="none" strike="noStrike" kern="1200" cap="none" spc="0" normalizeH="0" baseline="0" noProof="0">
                <a:ln>
                  <a:noFill/>
                </a:ln>
                <a:solidFill>
                  <a:prstClr val="white"/>
                </a:solidFill>
                <a:effectLst/>
                <a:uLnTx/>
                <a:uFillTx/>
                <a:latin typeface="Helvetica"/>
                <a:ea typeface="+mn-ea"/>
                <a:cs typeface="+mn-cs"/>
              </a:rPr>
              <a:t>(Medicatieoverdracht)</a:t>
            </a:r>
          </a:p>
        </p:txBody>
      </p:sp>
      <p:sp>
        <p:nvSpPr>
          <p:cNvPr id="83" name="Tekstvak 11">
            <a:extLst>
              <a:ext uri="{FF2B5EF4-FFF2-40B4-BE49-F238E27FC236}">
                <a16:creationId xmlns:a16="http://schemas.microsoft.com/office/drawing/2014/main" id="{9B0AC780-8CA6-371C-110B-442EEEB175DB}"/>
              </a:ext>
            </a:extLst>
          </p:cNvPr>
          <p:cNvSpPr txBox="1"/>
          <p:nvPr/>
        </p:nvSpPr>
        <p:spPr>
          <a:xfrm>
            <a:off x="5546286" y="4922358"/>
            <a:ext cx="1677243" cy="360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2.3</a:t>
            </a:r>
            <a:br>
              <a:rPr lang="nl-NL" sz="1000" b="0" i="0" u="none" strike="noStrike" kern="1200" cap="none" spc="0" normalizeH="0" baseline="0" noProof="0">
                <a:ln>
                  <a:noFill/>
                </a:ln>
                <a:effectLst/>
                <a:uLnTx/>
                <a:uFillTx/>
                <a:latin typeface="Helvetica"/>
              </a:rPr>
            </a:br>
            <a:r>
              <a:rPr kumimoji="0" lang="nl-NL" sz="1000" b="0" i="0" u="none" strike="noStrike" kern="1200" cap="none" spc="0" normalizeH="0" baseline="0" noProof="0">
                <a:ln>
                  <a:noFill/>
                </a:ln>
                <a:solidFill>
                  <a:prstClr val="white"/>
                </a:solidFill>
                <a:effectLst/>
                <a:uLnTx/>
                <a:uFillTx/>
                <a:latin typeface="Helvetica"/>
                <a:ea typeface="+mn-ea"/>
                <a:cs typeface="+mn-cs"/>
              </a:rPr>
              <a:t>(Verpleegkundige o</a:t>
            </a:r>
            <a:r>
              <a:rPr lang="nl-NL" sz="1000" err="1">
                <a:solidFill>
                  <a:prstClr val="white"/>
                </a:solidFill>
                <a:latin typeface="Helvetica"/>
              </a:rPr>
              <a:t>verdracht</a:t>
            </a:r>
            <a:r>
              <a:rPr kumimoji="0" lang="nl-NL" sz="1000" b="0" i="0" u="none" strike="noStrike" kern="1200" cap="none" spc="0" normalizeH="0" baseline="0" noProof="0">
                <a:ln>
                  <a:noFill/>
                </a:ln>
                <a:solidFill>
                  <a:prstClr val="white"/>
                </a:solidFill>
                <a:effectLst/>
                <a:uLnTx/>
                <a:uFillTx/>
                <a:latin typeface="Helvetica"/>
                <a:ea typeface="+mn-ea"/>
                <a:cs typeface="+mn-cs"/>
              </a:rPr>
              <a:t>)</a:t>
            </a:r>
          </a:p>
        </p:txBody>
      </p:sp>
      <p:sp>
        <p:nvSpPr>
          <p:cNvPr id="84" name="Tekstvak 11">
            <a:extLst>
              <a:ext uri="{FF2B5EF4-FFF2-40B4-BE49-F238E27FC236}">
                <a16:creationId xmlns:a16="http://schemas.microsoft.com/office/drawing/2014/main" id="{945D45FA-0985-D80A-12BC-DA1CA9CB747A}"/>
              </a:ext>
            </a:extLst>
          </p:cNvPr>
          <p:cNvSpPr txBox="1"/>
          <p:nvPr/>
        </p:nvSpPr>
        <p:spPr>
          <a:xfrm>
            <a:off x="5546286" y="5347995"/>
            <a:ext cx="1677243" cy="360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2.4</a:t>
            </a:r>
            <a:br>
              <a:rPr kumimoji="0" lang="nl-NL" sz="1000" b="0" i="0" u="none" strike="noStrike" kern="1200" cap="none" spc="0" normalizeH="0" baseline="0" noProof="0">
                <a:ln>
                  <a:noFill/>
                </a:ln>
                <a:solidFill>
                  <a:prstClr val="white"/>
                </a:solidFill>
                <a:effectLst/>
                <a:uLnTx/>
                <a:uFillTx/>
                <a:latin typeface="Helvetica"/>
                <a:ea typeface="+mn-ea"/>
                <a:cs typeface="+mn-cs"/>
              </a:rPr>
            </a:br>
            <a:r>
              <a:rPr kumimoji="0" lang="nl-NL" sz="1000" b="0" i="0" u="none" strike="noStrike" kern="1200" cap="none" spc="0" normalizeH="0" baseline="0" noProof="0">
                <a:ln>
                  <a:noFill/>
                </a:ln>
                <a:solidFill>
                  <a:prstClr val="white"/>
                </a:solidFill>
                <a:effectLst/>
                <a:uLnTx/>
                <a:uFillTx/>
                <a:latin typeface="Helvetica"/>
                <a:ea typeface="+mn-ea"/>
                <a:cs typeface="+mn-cs"/>
              </a:rPr>
              <a:t>(Acute zorg)</a:t>
            </a:r>
          </a:p>
        </p:txBody>
      </p:sp>
      <p:sp>
        <p:nvSpPr>
          <p:cNvPr id="91" name="Tekstvak 11">
            <a:extLst>
              <a:ext uri="{FF2B5EF4-FFF2-40B4-BE49-F238E27FC236}">
                <a16:creationId xmlns:a16="http://schemas.microsoft.com/office/drawing/2014/main" id="{00774BC4-AA93-1964-1F83-809EB340301F}"/>
              </a:ext>
            </a:extLst>
          </p:cNvPr>
          <p:cNvSpPr txBox="1"/>
          <p:nvPr/>
        </p:nvSpPr>
        <p:spPr>
          <a:xfrm>
            <a:off x="9554853" y="2936891"/>
            <a:ext cx="1677243" cy="288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90000" tIns="46800" rIns="9000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200" b="0" i="0" u="none" strike="noStrike" kern="1200" cap="none" spc="0" normalizeH="0" baseline="0" noProof="0">
                <a:ln>
                  <a:noFill/>
                </a:ln>
                <a:solidFill>
                  <a:prstClr val="white"/>
                </a:solidFill>
                <a:effectLst/>
                <a:uLnTx/>
                <a:uFillTx/>
                <a:latin typeface="Helvetica"/>
                <a:ea typeface="+mn-ea"/>
                <a:cs typeface="+mn-cs"/>
              </a:rPr>
              <a:t>Werkgroep</a:t>
            </a:r>
          </a:p>
        </p:txBody>
      </p:sp>
      <p:sp>
        <p:nvSpPr>
          <p:cNvPr id="99" name="TextBox 98">
            <a:extLst>
              <a:ext uri="{FF2B5EF4-FFF2-40B4-BE49-F238E27FC236}">
                <a16:creationId xmlns:a16="http://schemas.microsoft.com/office/drawing/2014/main" id="{27A5315B-36F5-45B3-AD9E-E7552593DE3F}"/>
              </a:ext>
            </a:extLst>
          </p:cNvPr>
          <p:cNvSpPr txBox="1"/>
          <p:nvPr/>
        </p:nvSpPr>
        <p:spPr>
          <a:xfrm>
            <a:off x="9565205" y="3224891"/>
            <a:ext cx="1677243" cy="854978"/>
          </a:xfrm>
          <a:prstGeom prst="rect">
            <a:avLst/>
          </a:prstGeom>
          <a:noFill/>
        </p:spPr>
        <p:txBody>
          <a:bodyPr wrap="square" rtlCol="0">
            <a:spAutoFit/>
          </a:bodyPr>
          <a:lstStyle/>
          <a:p>
            <a:pPr marL="36000" marR="0" lvl="0" indent="-36000" algn="l" defTabSz="914400" rtl="0" eaLnBrk="1" fontAlgn="auto" latinLnBrk="0" hangingPunct="1">
              <a:lnSpc>
                <a:spcPct val="120000"/>
              </a:lnSpc>
              <a:spcBef>
                <a:spcPts val="0"/>
              </a:spcBef>
              <a:spcAft>
                <a:spcPts val="0"/>
              </a:spcAft>
              <a:buClrTx/>
              <a:buSzTx/>
              <a:buFontTx/>
              <a:buNone/>
              <a:tabLst/>
              <a:defRPr/>
            </a:pPr>
            <a:r>
              <a:rPr kumimoji="0" lang="nl-NL" sz="1050" b="0" i="1" u="none" strike="noStrike" kern="1200" cap="none" spc="0" normalizeH="0" baseline="0" noProof="0">
                <a:ln>
                  <a:noFill/>
                </a:ln>
                <a:solidFill>
                  <a:prstClr val="black"/>
                </a:solidFill>
                <a:effectLst/>
                <a:uLnTx/>
                <a:uFillTx/>
                <a:latin typeface="Helvetica"/>
                <a:ea typeface="+mn-ea"/>
                <a:cs typeface="+mn-cs"/>
              </a:rPr>
              <a:t>Bestaat uit</a:t>
            </a:r>
            <a:r>
              <a:rPr kumimoji="0" lang="nl-NL" sz="1050" b="0" i="0" u="none" strike="noStrike" kern="1200" cap="none" spc="0" normalizeH="0" baseline="0" noProof="0">
                <a:ln>
                  <a:noFill/>
                </a:ln>
                <a:solidFill>
                  <a:prstClr val="black"/>
                </a:solidFill>
                <a:effectLst/>
                <a:uLnTx/>
                <a:uFillTx/>
                <a:latin typeface="Helvetica"/>
                <a:ea typeface="+mn-ea"/>
                <a:cs typeface="+mn-cs"/>
              </a:rPr>
              <a:t>:</a:t>
            </a:r>
          </a:p>
          <a:p>
            <a:pPr marL="108000" marR="0" lvl="0" indent="-1080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prstClr val="black"/>
                </a:solidFill>
                <a:effectLst/>
                <a:uLnTx/>
                <a:uFillTx/>
                <a:latin typeface="Helvetica"/>
                <a:ea typeface="+mn-ea"/>
                <a:cs typeface="+mn-cs"/>
              </a:rPr>
              <a:t>Projectleider</a:t>
            </a:r>
          </a:p>
          <a:p>
            <a:pPr marL="108000" marR="0" lvl="0" indent="-1080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err="1">
                <a:ln>
                  <a:noFill/>
                </a:ln>
                <a:solidFill>
                  <a:prstClr val="black"/>
                </a:solidFill>
                <a:effectLst/>
                <a:uLnTx/>
                <a:uFillTx/>
                <a:latin typeface="Helvetica"/>
                <a:ea typeface="+mn-ea"/>
                <a:cs typeface="+mn-cs"/>
              </a:rPr>
              <a:t>Werkgroepleden</a:t>
            </a:r>
            <a:endParaRPr kumimoji="0" lang="nl-NL" sz="1050" b="0" i="0" u="none" strike="noStrike" kern="1200" cap="none" spc="0" normalizeH="0" baseline="0" noProof="0">
              <a:ln>
                <a:noFill/>
              </a:ln>
              <a:solidFill>
                <a:prstClr val="black"/>
              </a:solidFill>
              <a:effectLst/>
              <a:uLnTx/>
              <a:uFillTx/>
              <a:latin typeface="Helvetica"/>
              <a:ea typeface="+mn-ea"/>
              <a:cs typeface="+mn-cs"/>
            </a:endParaRPr>
          </a:p>
          <a:p>
            <a:pPr marL="108000" marR="0" lvl="0" indent="-1080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nl-NL" sz="1050" b="0" i="0" u="none" strike="noStrike" kern="1200" cap="none" spc="0" normalizeH="0" baseline="0" noProof="0">
                <a:ln>
                  <a:noFill/>
                </a:ln>
                <a:solidFill>
                  <a:prstClr val="black"/>
                </a:solidFill>
                <a:effectLst/>
                <a:uLnTx/>
                <a:uFillTx/>
                <a:latin typeface="Helvetica"/>
                <a:ea typeface="+mn-ea"/>
                <a:cs typeface="+mn-cs"/>
              </a:rPr>
              <a:t>Schrijfondersteuning</a:t>
            </a:r>
          </a:p>
        </p:txBody>
      </p:sp>
      <p:cxnSp>
        <p:nvCxnSpPr>
          <p:cNvPr id="118" name="Connector: Elbow 117">
            <a:extLst>
              <a:ext uri="{FF2B5EF4-FFF2-40B4-BE49-F238E27FC236}">
                <a16:creationId xmlns:a16="http://schemas.microsoft.com/office/drawing/2014/main" id="{7499164F-E87E-1565-BB70-8A2AA82DF664}"/>
              </a:ext>
            </a:extLst>
          </p:cNvPr>
          <p:cNvCxnSpPr>
            <a:cxnSpLocks/>
            <a:stCxn id="51" idx="0"/>
            <a:endCxn id="41" idx="2"/>
          </p:cNvCxnSpPr>
          <p:nvPr/>
        </p:nvCxnSpPr>
        <p:spPr>
          <a:xfrm rot="5400000" flipH="1" flipV="1">
            <a:off x="4406913" y="2273484"/>
            <a:ext cx="304505" cy="119325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471FAC54-ED34-92B8-9922-CF1BA04281DC}"/>
              </a:ext>
            </a:extLst>
          </p:cNvPr>
          <p:cNvCxnSpPr>
            <a:cxnSpLocks/>
            <a:stCxn id="12" idx="3"/>
            <a:endCxn id="122" idx="1"/>
          </p:cNvCxnSpPr>
          <p:nvPr/>
        </p:nvCxnSpPr>
        <p:spPr>
          <a:xfrm>
            <a:off x="5997875" y="1604230"/>
            <a:ext cx="321297"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EA4B300-C99B-6061-F123-85C0193C2695}"/>
              </a:ext>
            </a:extLst>
          </p:cNvPr>
          <p:cNvCxnSpPr>
            <a:cxnSpLocks/>
            <a:stCxn id="41" idx="1"/>
            <a:endCxn id="151" idx="3"/>
          </p:cNvCxnSpPr>
          <p:nvPr/>
        </p:nvCxnSpPr>
        <p:spPr>
          <a:xfrm flipH="1">
            <a:off x="3999337" y="2448531"/>
            <a:ext cx="317836" cy="1786"/>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BE6FD384-478B-6210-81C7-39F38BD990AD}"/>
              </a:ext>
            </a:extLst>
          </p:cNvPr>
          <p:cNvCxnSpPr>
            <a:cxnSpLocks/>
            <a:stCxn id="48" idx="2"/>
          </p:cNvCxnSpPr>
          <p:nvPr/>
        </p:nvCxnSpPr>
        <p:spPr>
          <a:xfrm rot="5400000">
            <a:off x="6126951" y="1746705"/>
            <a:ext cx="92138" cy="203444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52" name="Tekstvak 32">
            <a:extLst>
              <a:ext uri="{FF2B5EF4-FFF2-40B4-BE49-F238E27FC236}">
                <a16:creationId xmlns:a16="http://schemas.microsoft.com/office/drawing/2014/main" id="{B05BC92C-5328-E8D0-44B8-F77B1A6B4D93}"/>
              </a:ext>
            </a:extLst>
          </p:cNvPr>
          <p:cNvSpPr txBox="1"/>
          <p:nvPr/>
        </p:nvSpPr>
        <p:spPr>
          <a:xfrm>
            <a:off x="9554853" y="2051730"/>
            <a:ext cx="1677243" cy="330198"/>
          </a:xfrm>
          <a:prstGeom prst="rect">
            <a:avLst/>
          </a:prstGeom>
          <a:solidFill>
            <a:schemeClr val="accent5">
              <a:lumMod val="20000"/>
              <a:lumOff val="80000"/>
            </a:schemeClr>
          </a:solidFill>
          <a:ln>
            <a:solidFill>
              <a:schemeClr val="tx1"/>
            </a:solidFill>
            <a:prstDash val="dash"/>
          </a:ln>
        </p:spPr>
        <p:txBody>
          <a:bodyPr wrap="square" lIns="88900" tIns="38100" rIns="88900" bIns="381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1200" cap="none" spc="0" normalizeH="0" baseline="0" noProof="0">
                <a:ln>
                  <a:noFill/>
                </a:ln>
                <a:solidFill>
                  <a:prstClr val="black"/>
                </a:solidFill>
                <a:effectLst/>
                <a:uLnTx/>
                <a:uFillTx/>
                <a:latin typeface="Helvetica"/>
                <a:ea typeface="+mn-ea"/>
                <a:cs typeface="+mn-cs"/>
              </a:rPr>
              <a:t>Adviserend</a:t>
            </a:r>
          </a:p>
        </p:txBody>
      </p:sp>
      <p:cxnSp>
        <p:nvCxnSpPr>
          <p:cNvPr id="164" name="Straight Connector 163">
            <a:extLst>
              <a:ext uri="{FF2B5EF4-FFF2-40B4-BE49-F238E27FC236}">
                <a16:creationId xmlns:a16="http://schemas.microsoft.com/office/drawing/2014/main" id="{06C0F2E8-0DDD-5092-F5F6-2C54D23A6879}"/>
              </a:ext>
            </a:extLst>
          </p:cNvPr>
          <p:cNvCxnSpPr>
            <a:cxnSpLocks/>
            <a:stCxn id="12" idx="2"/>
            <a:endCxn id="41" idx="0"/>
          </p:cNvCxnSpPr>
          <p:nvPr/>
        </p:nvCxnSpPr>
        <p:spPr>
          <a:xfrm flipH="1">
            <a:off x="5155795" y="1873559"/>
            <a:ext cx="3459" cy="3056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2B0B79ED-CC13-33A2-6691-0CFD5ECECA40}"/>
              </a:ext>
            </a:extLst>
          </p:cNvPr>
          <p:cNvCxnSpPr>
            <a:cxnSpLocks/>
          </p:cNvCxnSpPr>
          <p:nvPr/>
        </p:nvCxnSpPr>
        <p:spPr>
          <a:xfrm>
            <a:off x="9247065" y="1248588"/>
            <a:ext cx="0" cy="526827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D74C0953-1683-28B6-0D65-ECF6FB98B811}"/>
              </a:ext>
            </a:extLst>
          </p:cNvPr>
          <p:cNvCxnSpPr>
            <a:cxnSpLocks/>
            <a:stCxn id="117" idx="1"/>
            <a:endCxn id="59" idx="2"/>
          </p:cNvCxnSpPr>
          <p:nvPr/>
        </p:nvCxnSpPr>
        <p:spPr>
          <a:xfrm rot="10800000">
            <a:off x="1413756" y="5164355"/>
            <a:ext cx="1632140" cy="1087951"/>
          </a:xfrm>
          <a:prstGeom prst="bentConnector2">
            <a:avLst/>
          </a:prstGeom>
          <a:ln>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83804E2C-884F-BBB6-9679-3D56D557991D}"/>
              </a:ext>
            </a:extLst>
          </p:cNvPr>
          <p:cNvCxnSpPr>
            <a:cxnSpLocks/>
            <a:stCxn id="105" idx="1"/>
            <a:endCxn id="59" idx="2"/>
          </p:cNvCxnSpPr>
          <p:nvPr/>
        </p:nvCxnSpPr>
        <p:spPr>
          <a:xfrm rot="10800000" flipV="1">
            <a:off x="1413756" y="4714206"/>
            <a:ext cx="1632140" cy="450147"/>
          </a:xfrm>
          <a:prstGeom prst="bentConnector4">
            <a:avLst>
              <a:gd name="adj1" fmla="val 21900"/>
              <a:gd name="adj2" fmla="val 178780"/>
            </a:avLst>
          </a:prstGeom>
          <a:ln>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Tekstvak 11">
            <a:extLst>
              <a:ext uri="{FF2B5EF4-FFF2-40B4-BE49-F238E27FC236}">
                <a16:creationId xmlns:a16="http://schemas.microsoft.com/office/drawing/2014/main" id="{81206D06-6EFA-638C-DA5B-2070794D63D0}"/>
              </a:ext>
            </a:extLst>
          </p:cNvPr>
          <p:cNvSpPr txBox="1"/>
          <p:nvPr/>
        </p:nvSpPr>
        <p:spPr>
          <a:xfrm>
            <a:off x="3123914" y="4496721"/>
            <a:ext cx="1677243" cy="360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0" tIns="46800" rIns="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1.2 </a:t>
            </a:r>
            <a:br>
              <a:rPr kumimoji="0" lang="nl-NL" sz="1000" b="0" i="0" u="none" strike="noStrike" kern="1200" cap="none" spc="0" normalizeH="0" baseline="0" noProof="0">
                <a:ln>
                  <a:noFill/>
                </a:ln>
                <a:solidFill>
                  <a:prstClr val="white"/>
                </a:solidFill>
                <a:effectLst/>
                <a:uLnTx/>
                <a:uFillTx/>
                <a:latin typeface="Helvetica"/>
                <a:ea typeface="+mn-ea"/>
                <a:cs typeface="+mn-cs"/>
              </a:rPr>
            </a:br>
            <a:r>
              <a:rPr kumimoji="0" lang="nl-NL" sz="1000" b="0" i="0" u="none" strike="noStrike" kern="1200" cap="none" spc="0" normalizeH="0" baseline="0" noProof="0">
                <a:ln>
                  <a:noFill/>
                </a:ln>
                <a:solidFill>
                  <a:prstClr val="white"/>
                </a:solidFill>
                <a:effectLst/>
                <a:uLnTx/>
                <a:uFillTx/>
                <a:latin typeface="Helvetica"/>
                <a:ea typeface="+mn-ea"/>
                <a:cs typeface="+mn-cs"/>
              </a:rPr>
              <a:t>(Digitaal verwijzen)</a:t>
            </a:r>
          </a:p>
        </p:txBody>
      </p:sp>
      <p:sp>
        <p:nvSpPr>
          <p:cNvPr id="71" name="Tekstvak 11">
            <a:extLst>
              <a:ext uri="{FF2B5EF4-FFF2-40B4-BE49-F238E27FC236}">
                <a16:creationId xmlns:a16="http://schemas.microsoft.com/office/drawing/2014/main" id="{B7E8D9ED-A506-C7AE-E244-4AED7AF9E4A6}"/>
              </a:ext>
            </a:extLst>
          </p:cNvPr>
          <p:cNvSpPr txBox="1"/>
          <p:nvPr/>
        </p:nvSpPr>
        <p:spPr>
          <a:xfrm>
            <a:off x="3123914" y="4922358"/>
            <a:ext cx="1677243" cy="360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0" tIns="46800" rIns="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1.3 (Tweewegcommunicatie)</a:t>
            </a:r>
          </a:p>
        </p:txBody>
      </p:sp>
      <p:sp>
        <p:nvSpPr>
          <p:cNvPr id="80" name="Tekstvak 11">
            <a:extLst>
              <a:ext uri="{FF2B5EF4-FFF2-40B4-BE49-F238E27FC236}">
                <a16:creationId xmlns:a16="http://schemas.microsoft.com/office/drawing/2014/main" id="{48BCCB48-61EC-C3F9-E44C-08C74CBD9220}"/>
              </a:ext>
            </a:extLst>
          </p:cNvPr>
          <p:cNvSpPr txBox="1"/>
          <p:nvPr/>
        </p:nvSpPr>
        <p:spPr>
          <a:xfrm>
            <a:off x="5225196" y="6113180"/>
            <a:ext cx="1677243" cy="288000"/>
          </a:xfrm>
          <a:prstGeom prst="rect">
            <a:avLst/>
          </a:prstGeom>
          <a:solidFill>
            <a:srgbClr val="21BBEF"/>
          </a:solidFill>
          <a:ln>
            <a:noFill/>
          </a:ln>
        </p:spPr>
        <p:style>
          <a:lnRef idx="0">
            <a:scrgbClr r="0" g="0" b="0"/>
          </a:lnRef>
          <a:fillRef idx="0">
            <a:scrgbClr r="0" g="0" b="0"/>
          </a:fillRef>
          <a:effectRef idx="0">
            <a:scrgbClr r="0" g="0" b="0"/>
          </a:effectRef>
          <a:fontRef idx="minor">
            <a:schemeClr val="lt1"/>
          </a:fontRef>
        </p:style>
        <p:txBody>
          <a:bodyPr spcFirstLastPara="0" vert="horz" wrap="square" lIns="0" tIns="46800" rIns="0" bIns="46800" numCol="1" spcCol="1270" anchor="ctr" anchorCtr="0">
            <a:noAutofit/>
          </a:body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nl-NL" sz="1000" b="0" i="0" u="none" strike="noStrike" kern="1200" cap="none" spc="0" normalizeH="0" baseline="0" noProof="0">
                <a:ln>
                  <a:noFill/>
                </a:ln>
                <a:solidFill>
                  <a:prstClr val="white"/>
                </a:solidFill>
                <a:effectLst/>
                <a:uLnTx/>
                <a:uFillTx/>
                <a:latin typeface="Helvetica"/>
                <a:ea typeface="+mn-ea"/>
                <a:cs typeface="+mn-cs"/>
              </a:rPr>
              <a:t>Werkgroep 2.5 </a:t>
            </a:r>
            <a:br>
              <a:rPr kumimoji="0" lang="nl-NL" sz="1000" b="0" i="0" u="none" strike="noStrike" kern="1200" cap="none" spc="0" normalizeH="0" baseline="0" noProof="0">
                <a:ln>
                  <a:noFill/>
                </a:ln>
                <a:solidFill>
                  <a:prstClr val="white"/>
                </a:solidFill>
                <a:effectLst/>
                <a:uLnTx/>
                <a:uFillTx/>
                <a:latin typeface="Helvetica"/>
                <a:ea typeface="+mn-ea"/>
                <a:cs typeface="+mn-cs"/>
              </a:rPr>
            </a:br>
            <a:r>
              <a:rPr kumimoji="0" lang="nl-NL" sz="1000" b="0" i="0" u="none" strike="noStrike" kern="1200" cap="none" spc="0" normalizeH="0" baseline="0" noProof="0">
                <a:ln>
                  <a:noFill/>
                </a:ln>
                <a:solidFill>
                  <a:prstClr val="white"/>
                </a:solidFill>
                <a:effectLst/>
                <a:uLnTx/>
                <a:uFillTx/>
                <a:latin typeface="Helvetica"/>
                <a:ea typeface="+mn-ea"/>
                <a:cs typeface="+mn-cs"/>
              </a:rPr>
              <a:t>(Inzage en samenwerking)</a:t>
            </a:r>
          </a:p>
        </p:txBody>
      </p:sp>
      <p:cxnSp>
        <p:nvCxnSpPr>
          <p:cNvPr id="92" name="Connector: Elbow 91">
            <a:extLst>
              <a:ext uri="{FF2B5EF4-FFF2-40B4-BE49-F238E27FC236}">
                <a16:creationId xmlns:a16="http://schemas.microsoft.com/office/drawing/2014/main" id="{EBA815DF-4BEC-0C98-7E63-A0D1BCFEFAC7}"/>
              </a:ext>
            </a:extLst>
          </p:cNvPr>
          <p:cNvCxnSpPr>
            <a:cxnSpLocks/>
            <a:stCxn id="103" idx="1"/>
            <a:endCxn id="59" idx="2"/>
          </p:cNvCxnSpPr>
          <p:nvPr/>
        </p:nvCxnSpPr>
        <p:spPr>
          <a:xfrm rot="10800000" flipV="1">
            <a:off x="1413756" y="4731776"/>
            <a:ext cx="4054512" cy="432577"/>
          </a:xfrm>
          <a:prstGeom prst="bentConnector4">
            <a:avLst>
              <a:gd name="adj1" fmla="val 11438"/>
              <a:gd name="adj2" fmla="val 253037"/>
            </a:avLst>
          </a:prstGeom>
          <a:ln>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FAA2153-0196-3AC8-E274-FB539E70B3E4}"/>
              </a:ext>
            </a:extLst>
          </p:cNvPr>
          <p:cNvCxnSpPr>
            <a:cxnSpLocks/>
            <a:stCxn id="141" idx="2"/>
            <a:endCxn id="105" idx="0"/>
          </p:cNvCxnSpPr>
          <p:nvPr/>
        </p:nvCxnSpPr>
        <p:spPr>
          <a:xfrm>
            <a:off x="3962535" y="3525606"/>
            <a:ext cx="0" cy="147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7A39BE6-A4CA-A3A1-D8C3-B1F4A3323AAE}"/>
              </a:ext>
            </a:extLst>
          </p:cNvPr>
          <p:cNvCxnSpPr>
            <a:cxnSpLocks/>
            <a:stCxn id="57" idx="2"/>
            <a:endCxn id="103" idx="0"/>
          </p:cNvCxnSpPr>
          <p:nvPr/>
        </p:nvCxnSpPr>
        <p:spPr>
          <a:xfrm flipH="1">
            <a:off x="6384907" y="3580377"/>
            <a:ext cx="1" cy="12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7FD798E9-FD0B-8F79-5647-D6CB6593357D}"/>
              </a:ext>
            </a:extLst>
          </p:cNvPr>
          <p:cNvCxnSpPr>
            <a:cxnSpLocks/>
            <a:stCxn id="117" idx="3"/>
            <a:endCxn id="57" idx="2"/>
          </p:cNvCxnSpPr>
          <p:nvPr/>
        </p:nvCxnSpPr>
        <p:spPr>
          <a:xfrm flipH="1" flipV="1">
            <a:off x="6384908" y="3580377"/>
            <a:ext cx="877630" cy="2671928"/>
          </a:xfrm>
          <a:prstGeom prst="bentConnector4">
            <a:avLst>
              <a:gd name="adj1" fmla="val -166052"/>
              <a:gd name="adj2" fmla="val 97892"/>
            </a:avLst>
          </a:prstGeom>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E2F75194-3703-0382-4A52-21DF39E8D060}"/>
              </a:ext>
            </a:extLst>
          </p:cNvPr>
          <p:cNvSpPr/>
          <p:nvPr/>
        </p:nvSpPr>
        <p:spPr>
          <a:xfrm>
            <a:off x="3376459" y="3363293"/>
            <a:ext cx="1172152" cy="1623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Elske v/d Pol</a:t>
            </a:r>
          </a:p>
        </p:txBody>
      </p:sp>
      <p:sp>
        <p:nvSpPr>
          <p:cNvPr id="146" name="Rectangle 145">
            <a:extLst>
              <a:ext uri="{FF2B5EF4-FFF2-40B4-BE49-F238E27FC236}">
                <a16:creationId xmlns:a16="http://schemas.microsoft.com/office/drawing/2014/main" id="{EE57AF38-1A83-3F71-5B90-8B242207ABCE}"/>
              </a:ext>
            </a:extLst>
          </p:cNvPr>
          <p:cNvSpPr/>
          <p:nvPr/>
        </p:nvSpPr>
        <p:spPr>
          <a:xfrm>
            <a:off x="5681115" y="3363293"/>
            <a:ext cx="1407584" cy="1623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Liesbeth v/d Heuvel</a:t>
            </a:r>
          </a:p>
        </p:txBody>
      </p:sp>
      <p:sp>
        <p:nvSpPr>
          <p:cNvPr id="147" name="Rectangle 146">
            <a:extLst>
              <a:ext uri="{FF2B5EF4-FFF2-40B4-BE49-F238E27FC236}">
                <a16:creationId xmlns:a16="http://schemas.microsoft.com/office/drawing/2014/main" id="{5A9D65ED-432E-1367-26EA-1E4C54A9DBD3}"/>
              </a:ext>
            </a:extLst>
          </p:cNvPr>
          <p:cNvSpPr/>
          <p:nvPr/>
        </p:nvSpPr>
        <p:spPr>
          <a:xfrm>
            <a:off x="4453732" y="2373268"/>
            <a:ext cx="1407584" cy="303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Liesbeth v/d Heuvel</a:t>
            </a:r>
            <a:br>
              <a:rPr kumimoji="0" lang="nl-NL" sz="1000" b="0" i="0" u="none" strike="noStrike" kern="1200" cap="none" spc="0" normalizeH="0" baseline="0" noProof="0">
                <a:ln>
                  <a:noFill/>
                </a:ln>
                <a:solidFill>
                  <a:sysClr val="windowText" lastClr="000000"/>
                </a:solidFill>
                <a:effectLst/>
                <a:uLnTx/>
                <a:uFillTx/>
                <a:latin typeface="Calibri"/>
                <a:ea typeface="+mn-ea"/>
                <a:cs typeface="+mn-cs"/>
              </a:rPr>
            </a:b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Erik Teichert</a:t>
            </a:r>
          </a:p>
        </p:txBody>
      </p:sp>
      <p:sp>
        <p:nvSpPr>
          <p:cNvPr id="159" name="Rectangle 158">
            <a:extLst>
              <a:ext uri="{FF2B5EF4-FFF2-40B4-BE49-F238E27FC236}">
                <a16:creationId xmlns:a16="http://schemas.microsoft.com/office/drawing/2014/main" id="{84F5004F-A472-3859-789F-17B22FDD8A75}"/>
              </a:ext>
            </a:extLst>
          </p:cNvPr>
          <p:cNvSpPr/>
          <p:nvPr/>
        </p:nvSpPr>
        <p:spPr>
          <a:xfrm>
            <a:off x="4453732" y="1541158"/>
            <a:ext cx="1407584" cy="303562"/>
          </a:xfrm>
          <a:prstGeom prst="rect">
            <a:avLst/>
          </a:prstGeom>
          <a:solidFill>
            <a:schemeClr val="bg1"/>
          </a:solidFill>
          <a:ln>
            <a:solidFill>
              <a:srgbClr val="21BB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Eva </a:t>
            </a:r>
            <a:r>
              <a:rPr kumimoji="0" lang="nl-NL" sz="1000" b="0" i="0" u="none" strike="noStrike" kern="1200" cap="none" spc="0" normalizeH="0" baseline="0" noProof="0" err="1">
                <a:ln>
                  <a:noFill/>
                </a:ln>
                <a:solidFill>
                  <a:sysClr val="windowText" lastClr="000000"/>
                </a:solidFill>
                <a:effectLst/>
                <a:uLnTx/>
                <a:uFillTx/>
                <a:latin typeface="Calibri"/>
                <a:ea typeface="+mn-ea"/>
                <a:cs typeface="+mn-cs"/>
              </a:rPr>
              <a:t>Marquarita</a:t>
            </a:r>
            <a:br>
              <a:rPr kumimoji="0" lang="nl-NL" sz="1000" b="0" i="0" u="none" strike="noStrike" kern="1200" cap="none" spc="0" normalizeH="0" baseline="0" noProof="0">
                <a:ln>
                  <a:noFill/>
                </a:ln>
                <a:solidFill>
                  <a:sysClr val="windowText" lastClr="000000"/>
                </a:solidFill>
                <a:effectLst/>
                <a:uLnTx/>
                <a:uFillTx/>
                <a:latin typeface="Calibri"/>
                <a:ea typeface="+mn-ea"/>
                <a:cs typeface="+mn-cs"/>
              </a:rPr>
            </a:b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Daniëlle v/d Meer</a:t>
            </a:r>
          </a:p>
        </p:txBody>
      </p:sp>
      <p:sp>
        <p:nvSpPr>
          <p:cNvPr id="160" name="Rectangle 159">
            <a:extLst>
              <a:ext uri="{FF2B5EF4-FFF2-40B4-BE49-F238E27FC236}">
                <a16:creationId xmlns:a16="http://schemas.microsoft.com/office/drawing/2014/main" id="{EB434BCA-6D88-3CAE-02C4-ADE0B1398CCC}"/>
              </a:ext>
            </a:extLst>
          </p:cNvPr>
          <p:cNvSpPr/>
          <p:nvPr/>
        </p:nvSpPr>
        <p:spPr>
          <a:xfrm>
            <a:off x="7024655" y="4169928"/>
            <a:ext cx="1489509" cy="162313"/>
          </a:xfrm>
          <a:prstGeom prst="rect">
            <a:avLst/>
          </a:prstGeom>
          <a:solidFill>
            <a:schemeClr val="bg1"/>
          </a:solidFill>
          <a:ln>
            <a:solidFill>
              <a:srgbClr val="21BB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err="1">
                <a:ln>
                  <a:noFill/>
                </a:ln>
                <a:solidFill>
                  <a:sysClr val="windowText" lastClr="000000"/>
                </a:solidFill>
                <a:effectLst/>
                <a:uLnTx/>
                <a:uFillTx/>
                <a:latin typeface="Calibri"/>
                <a:ea typeface="+mn-ea"/>
                <a:cs typeface="+mn-cs"/>
              </a:rPr>
              <a:t>Mbalia</a:t>
            </a: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 Dopper-</a:t>
            </a:r>
            <a:r>
              <a:rPr kumimoji="0" lang="nl-NL" sz="1000" b="0" i="0" u="none" strike="noStrike" kern="1200" cap="none" spc="0" normalizeH="0" baseline="0" noProof="0" err="1">
                <a:ln>
                  <a:noFill/>
                </a:ln>
                <a:solidFill>
                  <a:sysClr val="windowText" lastClr="000000"/>
                </a:solidFill>
                <a:effectLst/>
                <a:uLnTx/>
                <a:uFillTx/>
                <a:latin typeface="Calibri"/>
                <a:ea typeface="+mn-ea"/>
                <a:cs typeface="+mn-cs"/>
              </a:rPr>
              <a:t>Hovius</a:t>
            </a:r>
            <a:endParaRPr kumimoji="0" lang="nl-NL" sz="1000" b="0" i="0" u="none" strike="noStrike" kern="1200" cap="none" spc="0" normalizeH="0" baseline="0" noProof="0">
              <a:ln>
                <a:noFill/>
              </a:ln>
              <a:solidFill>
                <a:sysClr val="windowText" lastClr="000000"/>
              </a:solidFill>
              <a:effectLst/>
              <a:uLnTx/>
              <a:uFillTx/>
              <a:latin typeface="Calibri"/>
              <a:ea typeface="+mn-ea"/>
              <a:cs typeface="+mn-cs"/>
            </a:endParaRPr>
          </a:p>
        </p:txBody>
      </p:sp>
      <p:sp>
        <p:nvSpPr>
          <p:cNvPr id="161" name="Rectangle 160">
            <a:extLst>
              <a:ext uri="{FF2B5EF4-FFF2-40B4-BE49-F238E27FC236}">
                <a16:creationId xmlns:a16="http://schemas.microsoft.com/office/drawing/2014/main" id="{345C7DB1-3989-A970-E004-C7E50F9D0BCB}"/>
              </a:ext>
            </a:extLst>
          </p:cNvPr>
          <p:cNvSpPr/>
          <p:nvPr/>
        </p:nvSpPr>
        <p:spPr>
          <a:xfrm>
            <a:off x="7024655" y="5024156"/>
            <a:ext cx="1489509" cy="162313"/>
          </a:xfrm>
          <a:prstGeom prst="rect">
            <a:avLst/>
          </a:prstGeom>
          <a:solidFill>
            <a:schemeClr val="bg1"/>
          </a:solidFill>
          <a:ln>
            <a:solidFill>
              <a:srgbClr val="21BB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err="1">
                <a:ln>
                  <a:noFill/>
                </a:ln>
                <a:solidFill>
                  <a:sysClr val="windowText" lastClr="000000"/>
                </a:solidFill>
                <a:effectLst/>
                <a:uLnTx/>
                <a:uFillTx/>
                <a:latin typeface="Calibri"/>
                <a:ea typeface="+mn-ea"/>
                <a:cs typeface="+mn-cs"/>
              </a:rPr>
              <a:t>Mbalia</a:t>
            </a: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 Dopper-</a:t>
            </a:r>
            <a:r>
              <a:rPr kumimoji="0" lang="nl-NL" sz="1000" b="0" i="0" u="none" strike="noStrike" kern="1200" cap="none" spc="0" normalizeH="0" baseline="0" noProof="0" err="1">
                <a:ln>
                  <a:noFill/>
                </a:ln>
                <a:solidFill>
                  <a:sysClr val="windowText" lastClr="000000"/>
                </a:solidFill>
                <a:effectLst/>
                <a:uLnTx/>
                <a:uFillTx/>
                <a:latin typeface="Calibri"/>
                <a:ea typeface="+mn-ea"/>
                <a:cs typeface="+mn-cs"/>
              </a:rPr>
              <a:t>Hovius</a:t>
            </a:r>
            <a:endParaRPr kumimoji="0" lang="nl-NL" sz="1000" b="0" i="0" u="none" strike="noStrike" kern="1200" cap="none" spc="0" normalizeH="0" baseline="0" noProof="0">
              <a:ln>
                <a:noFill/>
              </a:ln>
              <a:solidFill>
                <a:sysClr val="windowText" lastClr="000000"/>
              </a:solidFill>
              <a:effectLst/>
              <a:uLnTx/>
              <a:uFillTx/>
              <a:latin typeface="Calibri"/>
              <a:ea typeface="+mn-ea"/>
              <a:cs typeface="+mn-cs"/>
            </a:endParaRPr>
          </a:p>
        </p:txBody>
      </p:sp>
      <p:sp>
        <p:nvSpPr>
          <p:cNvPr id="162" name="Rectangle 161">
            <a:extLst>
              <a:ext uri="{FF2B5EF4-FFF2-40B4-BE49-F238E27FC236}">
                <a16:creationId xmlns:a16="http://schemas.microsoft.com/office/drawing/2014/main" id="{5DE2113F-52FA-BCB0-DC27-16866899C8AC}"/>
              </a:ext>
            </a:extLst>
          </p:cNvPr>
          <p:cNvSpPr/>
          <p:nvPr/>
        </p:nvSpPr>
        <p:spPr>
          <a:xfrm>
            <a:off x="7024655" y="4591098"/>
            <a:ext cx="1489509" cy="162313"/>
          </a:xfrm>
          <a:prstGeom prst="rect">
            <a:avLst/>
          </a:prstGeom>
          <a:solidFill>
            <a:schemeClr val="bg1"/>
          </a:solidFill>
          <a:ln>
            <a:solidFill>
              <a:srgbClr val="21BB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Nadia van Beerschoten</a:t>
            </a:r>
          </a:p>
        </p:txBody>
      </p:sp>
      <p:sp>
        <p:nvSpPr>
          <p:cNvPr id="163" name="Rectangle 162">
            <a:extLst>
              <a:ext uri="{FF2B5EF4-FFF2-40B4-BE49-F238E27FC236}">
                <a16:creationId xmlns:a16="http://schemas.microsoft.com/office/drawing/2014/main" id="{EC4BDBFC-54F3-DB8E-D548-156E44B42F1C}"/>
              </a:ext>
            </a:extLst>
          </p:cNvPr>
          <p:cNvSpPr/>
          <p:nvPr/>
        </p:nvSpPr>
        <p:spPr>
          <a:xfrm>
            <a:off x="7024655" y="5441942"/>
            <a:ext cx="1489509" cy="162313"/>
          </a:xfrm>
          <a:prstGeom prst="rect">
            <a:avLst/>
          </a:prstGeom>
          <a:solidFill>
            <a:schemeClr val="bg1"/>
          </a:solidFill>
          <a:ln>
            <a:solidFill>
              <a:srgbClr val="21BB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Amy van Kooten </a:t>
            </a:r>
          </a:p>
        </p:txBody>
      </p:sp>
      <p:sp>
        <p:nvSpPr>
          <p:cNvPr id="169" name="Rectangle 168">
            <a:extLst>
              <a:ext uri="{FF2B5EF4-FFF2-40B4-BE49-F238E27FC236}">
                <a16:creationId xmlns:a16="http://schemas.microsoft.com/office/drawing/2014/main" id="{9408B630-B847-0EE3-D7AA-D461B6F4D6CB}"/>
              </a:ext>
            </a:extLst>
          </p:cNvPr>
          <p:cNvSpPr/>
          <p:nvPr/>
        </p:nvSpPr>
        <p:spPr>
          <a:xfrm>
            <a:off x="3301266" y="5393275"/>
            <a:ext cx="1322538" cy="162313"/>
          </a:xfrm>
          <a:prstGeom prst="rect">
            <a:avLst/>
          </a:prstGeom>
          <a:solidFill>
            <a:schemeClr val="bg1"/>
          </a:solidFill>
          <a:ln>
            <a:solidFill>
              <a:srgbClr val="21BB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Mi Sun v/d Mannen</a:t>
            </a:r>
          </a:p>
        </p:txBody>
      </p:sp>
      <p:sp>
        <p:nvSpPr>
          <p:cNvPr id="170" name="TextBox 169">
            <a:extLst>
              <a:ext uri="{FF2B5EF4-FFF2-40B4-BE49-F238E27FC236}">
                <a16:creationId xmlns:a16="http://schemas.microsoft.com/office/drawing/2014/main" id="{3F1086C3-1729-719F-4F3F-2956062D4281}"/>
              </a:ext>
            </a:extLst>
          </p:cNvPr>
          <p:cNvSpPr txBox="1"/>
          <p:nvPr/>
        </p:nvSpPr>
        <p:spPr>
          <a:xfrm>
            <a:off x="182881" y="6665078"/>
            <a:ext cx="9064182" cy="2231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850" b="0" i="0" u="none" strike="noStrike" kern="1200" cap="none" spc="0" normalizeH="0" baseline="30000" noProof="0">
                <a:ln>
                  <a:noFill/>
                </a:ln>
                <a:solidFill>
                  <a:prstClr val="black"/>
                </a:solidFill>
                <a:effectLst/>
                <a:uLnTx/>
                <a:uFillTx/>
                <a:latin typeface="Calibri"/>
                <a:ea typeface="+mn-ea"/>
                <a:cs typeface="+mn-cs"/>
              </a:rPr>
              <a:t>1</a:t>
            </a:r>
            <a:r>
              <a:rPr kumimoji="0" lang="nl-NL" sz="850" b="0" i="0" u="none" strike="noStrike" kern="1200" cap="none" spc="0" normalizeH="0" baseline="0" noProof="0">
                <a:ln>
                  <a:noFill/>
                </a:ln>
                <a:solidFill>
                  <a:prstClr val="black"/>
                </a:solidFill>
                <a:effectLst/>
                <a:uLnTx/>
                <a:uFillTx/>
                <a:latin typeface="Calibri"/>
                <a:ea typeface="+mn-ea"/>
                <a:cs typeface="+mn-cs"/>
              </a:rPr>
              <a:t> Afvaardiging vanuit (o.a.) CIO groep en platformen </a:t>
            </a:r>
            <a:r>
              <a:rPr kumimoji="0" lang="nl-NL" sz="850" b="0" i="0" u="none" strike="noStrike" kern="1200" cap="none" spc="0" normalizeH="0" baseline="0" noProof="0" err="1">
                <a:ln>
                  <a:noFill/>
                </a:ln>
                <a:solidFill>
                  <a:prstClr val="black"/>
                </a:solidFill>
                <a:effectLst/>
                <a:uLnTx/>
                <a:uFillTx/>
                <a:latin typeface="Calibri"/>
                <a:ea typeface="+mn-ea"/>
                <a:cs typeface="+mn-cs"/>
              </a:rPr>
              <a:t>RTA’s</a:t>
            </a:r>
            <a:r>
              <a:rPr kumimoji="0" lang="nl-NL" sz="850" b="0" i="0" u="none" strike="noStrike" kern="1200" cap="none" spc="0" normalizeH="0" baseline="0" noProof="0">
                <a:ln>
                  <a:noFill/>
                </a:ln>
                <a:solidFill>
                  <a:prstClr val="black"/>
                </a:solidFill>
                <a:effectLst/>
                <a:uLnTx/>
                <a:uFillTx/>
                <a:latin typeface="Calibri"/>
                <a:ea typeface="+mn-ea"/>
                <a:cs typeface="+mn-cs"/>
              </a:rPr>
              <a:t>, </a:t>
            </a:r>
            <a:r>
              <a:rPr kumimoji="0" lang="nl-NL" sz="850" b="0" i="0" u="none" strike="noStrike" kern="1200" cap="none" spc="0" normalizeH="0" baseline="0" noProof="0" err="1">
                <a:ln>
                  <a:noFill/>
                </a:ln>
                <a:solidFill>
                  <a:prstClr val="black"/>
                </a:solidFill>
                <a:effectLst/>
                <a:uLnTx/>
                <a:uFillTx/>
                <a:latin typeface="Calibri"/>
                <a:ea typeface="+mn-ea"/>
                <a:cs typeface="+mn-cs"/>
              </a:rPr>
              <a:t>CXIO’s</a:t>
            </a:r>
            <a:r>
              <a:rPr kumimoji="0" lang="nl-NL" sz="850" b="0" i="0" u="none" strike="noStrike" kern="1200" cap="none" spc="0" normalizeH="0" baseline="0" noProof="0">
                <a:ln>
                  <a:noFill/>
                </a:ln>
                <a:solidFill>
                  <a:prstClr val="black"/>
                </a:solidFill>
                <a:effectLst/>
                <a:uLnTx/>
                <a:uFillTx/>
                <a:latin typeface="Calibri"/>
                <a:ea typeface="+mn-ea"/>
                <a:cs typeface="+mn-cs"/>
              </a:rPr>
              <a:t> , Digitalisering. </a:t>
            </a:r>
            <a:r>
              <a:rPr kumimoji="0" lang="nl-NL" sz="850" b="0" i="0" u="none" strike="noStrike" kern="1200" cap="none" spc="0" normalizeH="0" baseline="30000" noProof="0">
                <a:ln>
                  <a:noFill/>
                </a:ln>
                <a:solidFill>
                  <a:prstClr val="black"/>
                </a:solidFill>
                <a:effectLst/>
                <a:uLnTx/>
                <a:uFillTx/>
                <a:latin typeface="Calibri"/>
                <a:ea typeface="+mn-ea"/>
                <a:cs typeface="+mn-cs"/>
              </a:rPr>
              <a:t>2</a:t>
            </a:r>
            <a:r>
              <a:rPr kumimoji="0" lang="nl-NL" sz="850" b="0" i="0" u="none" strike="noStrike" kern="1200" cap="none" spc="0" normalizeH="0" baseline="0" noProof="0">
                <a:ln>
                  <a:noFill/>
                </a:ln>
                <a:solidFill>
                  <a:prstClr val="black"/>
                </a:solidFill>
                <a:effectLst/>
                <a:uLnTx/>
                <a:uFillTx/>
                <a:latin typeface="Calibri"/>
                <a:ea typeface="+mn-ea"/>
                <a:cs typeface="+mn-cs"/>
              </a:rPr>
              <a:t> Digitale Transformatie regio Midden Nederland. </a:t>
            </a:r>
            <a:r>
              <a:rPr kumimoji="0" lang="nl-NL" sz="850" b="0" i="0" u="none" strike="noStrike" kern="1200" cap="none" spc="0" normalizeH="0" baseline="30000" noProof="0">
                <a:ln>
                  <a:noFill/>
                </a:ln>
                <a:solidFill>
                  <a:prstClr val="black"/>
                </a:solidFill>
                <a:effectLst/>
                <a:uLnTx/>
                <a:uFillTx/>
                <a:latin typeface="Calibri"/>
                <a:ea typeface="+mn-ea"/>
                <a:cs typeface="+mn-cs"/>
              </a:rPr>
              <a:t>3</a:t>
            </a:r>
            <a:r>
              <a:rPr kumimoji="0" lang="nl-NL" sz="850" b="0" i="0" u="none" strike="noStrike" kern="1200" cap="none" spc="0" normalizeH="0" baseline="0" noProof="0">
                <a:ln>
                  <a:noFill/>
                </a:ln>
                <a:solidFill>
                  <a:prstClr val="black"/>
                </a:solidFill>
                <a:effectLst/>
                <a:uLnTx/>
                <a:uFillTx/>
                <a:latin typeface="Calibri"/>
                <a:ea typeface="+mn-ea"/>
                <a:cs typeface="+mn-cs"/>
              </a:rPr>
              <a:t> In oprichting. </a:t>
            </a:r>
            <a:r>
              <a:rPr kumimoji="0" lang="nl-NL" sz="850" b="0" i="0" u="none" strike="noStrike" kern="1200" cap="none" spc="0" normalizeH="0" baseline="30000" noProof="0">
                <a:ln>
                  <a:noFill/>
                </a:ln>
                <a:solidFill>
                  <a:prstClr val="black"/>
                </a:solidFill>
                <a:effectLst/>
                <a:uLnTx/>
                <a:uFillTx/>
                <a:latin typeface="Calibri"/>
                <a:ea typeface="+mn-ea"/>
                <a:cs typeface="+mn-cs"/>
              </a:rPr>
              <a:t>4</a:t>
            </a:r>
            <a:r>
              <a:rPr kumimoji="0" lang="nl-NL" sz="850" b="0" i="0" u="none" strike="noStrike" kern="1200" cap="none" spc="0" normalizeH="0" baseline="0" noProof="0">
                <a:ln>
                  <a:noFill/>
                </a:ln>
                <a:solidFill>
                  <a:prstClr val="black"/>
                </a:solidFill>
                <a:effectLst/>
                <a:uLnTx/>
                <a:uFillTx/>
                <a:latin typeface="Calibri"/>
                <a:ea typeface="+mn-ea"/>
                <a:cs typeface="+mn-cs"/>
              </a:rPr>
              <a:t> Bevat o.a. de doelarchitectuur en generieke functies.</a:t>
            </a:r>
          </a:p>
        </p:txBody>
      </p:sp>
      <p:sp>
        <p:nvSpPr>
          <p:cNvPr id="184" name="Rectangle 183">
            <a:extLst>
              <a:ext uri="{FF2B5EF4-FFF2-40B4-BE49-F238E27FC236}">
                <a16:creationId xmlns:a16="http://schemas.microsoft.com/office/drawing/2014/main" id="{0360A03B-3186-E2AC-D5F8-2BB2F6F54032}"/>
              </a:ext>
            </a:extLst>
          </p:cNvPr>
          <p:cNvSpPr/>
          <p:nvPr/>
        </p:nvSpPr>
        <p:spPr>
          <a:xfrm>
            <a:off x="4492947" y="6486319"/>
            <a:ext cx="1322538" cy="162313"/>
          </a:xfrm>
          <a:prstGeom prst="rect">
            <a:avLst/>
          </a:prstGeom>
          <a:solidFill>
            <a:schemeClr val="bg1"/>
          </a:solidFill>
          <a:ln>
            <a:solidFill>
              <a:srgbClr val="21BB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0" i="0" u="none" strike="noStrike" kern="1200" cap="none" spc="0" normalizeH="0" baseline="0" noProof="0">
                <a:ln>
                  <a:noFill/>
                </a:ln>
                <a:solidFill>
                  <a:sysClr val="windowText" lastClr="000000"/>
                </a:solidFill>
                <a:effectLst/>
                <a:uLnTx/>
                <a:uFillTx/>
                <a:latin typeface="Calibri"/>
                <a:ea typeface="+mn-ea"/>
                <a:cs typeface="+mn-cs"/>
              </a:rPr>
              <a:t>Chris Slijkhuis</a:t>
            </a:r>
          </a:p>
        </p:txBody>
      </p:sp>
      <p:sp>
        <p:nvSpPr>
          <p:cNvPr id="6" name="TextBox 5">
            <a:extLst>
              <a:ext uri="{FF2B5EF4-FFF2-40B4-BE49-F238E27FC236}">
                <a16:creationId xmlns:a16="http://schemas.microsoft.com/office/drawing/2014/main" id="{B7D0C94C-550C-1538-C185-DB6B899E2377}"/>
              </a:ext>
            </a:extLst>
          </p:cNvPr>
          <p:cNvSpPr txBox="1"/>
          <p:nvPr/>
        </p:nvSpPr>
        <p:spPr>
          <a:xfrm>
            <a:off x="5423820" y="6886779"/>
            <a:ext cx="332975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err="1">
                <a:ln>
                  <a:noFill/>
                </a:ln>
                <a:solidFill>
                  <a:prstClr val="black"/>
                </a:solidFill>
                <a:effectLst/>
                <a:uLnTx/>
                <a:uFillTx/>
                <a:latin typeface="Calibri"/>
                <a:ea typeface="+mn-ea"/>
                <a:cs typeface="+mn-cs"/>
              </a:rPr>
              <a:t>Doelarchitectuur</a:t>
            </a:r>
            <a:r>
              <a:rPr kumimoji="0" lang="en-GB" sz="1100" b="0" i="0" u="none" strike="noStrike" kern="1200" cap="none" spc="0" normalizeH="0" baseline="0" noProof="0">
                <a:ln>
                  <a:noFill/>
                </a:ln>
                <a:solidFill>
                  <a:prstClr val="black"/>
                </a:solidFill>
                <a:effectLst/>
                <a:uLnTx/>
                <a:uFillTx/>
                <a:latin typeface="Calibri"/>
                <a:ea typeface="+mn-ea"/>
                <a:cs typeface="+mn-cs"/>
              </a:rPr>
              <a:t> = (</a:t>
            </a:r>
            <a:r>
              <a:rPr kumimoji="0" lang="en-GB" sz="1100" b="0" i="0" u="none" strike="noStrike" kern="1200" cap="none" spc="0" normalizeH="0" baseline="0" noProof="0" err="1">
                <a:ln>
                  <a:noFill/>
                </a:ln>
                <a:solidFill>
                  <a:prstClr val="black"/>
                </a:solidFill>
                <a:effectLst/>
                <a:uLnTx/>
                <a:uFillTx/>
                <a:latin typeface="Calibri"/>
                <a:ea typeface="+mn-ea"/>
                <a:cs typeface="+mn-cs"/>
              </a:rPr>
              <a:t>o.a.</a:t>
            </a:r>
            <a:r>
              <a:rPr kumimoji="0" lang="en-GB" sz="1100" b="0" i="0" u="none" strike="noStrike" kern="1200" cap="none" spc="0" normalizeH="0" baseline="0" noProof="0">
                <a:ln>
                  <a:noFill/>
                </a:ln>
                <a:solidFill>
                  <a:prstClr val="black"/>
                </a:solidFill>
                <a:effectLst/>
                <a:uLnTx/>
                <a:uFillTx/>
                <a:latin typeface="Calibri"/>
                <a:ea typeface="+mn-ea"/>
                <a:cs typeface="+mn-cs"/>
              </a:rPr>
              <a:t>) data &amp; </a:t>
            </a:r>
            <a:r>
              <a:rPr kumimoji="0" lang="en-GB" sz="1100" b="0" i="0" u="none" strike="noStrike" kern="1200" cap="none" spc="0" normalizeH="0" baseline="0" noProof="0" err="1">
                <a:ln>
                  <a:noFill/>
                </a:ln>
                <a:solidFill>
                  <a:prstClr val="black"/>
                </a:solidFill>
                <a:effectLst/>
                <a:uLnTx/>
                <a:uFillTx/>
                <a:latin typeface="Calibri"/>
                <a:ea typeface="+mn-ea"/>
                <a:cs typeface="+mn-cs"/>
              </a:rPr>
              <a:t>applicatie-architectuur</a:t>
            </a:r>
            <a:endParaRPr kumimoji="0" lang="en-GB" sz="1100" b="0" i="0" u="none" strike="noStrike" kern="1200" cap="none" spc="0" normalizeH="0" baseline="0" noProof="0">
              <a:ln>
                <a:noFill/>
              </a:ln>
              <a:solidFill>
                <a:prstClr val="black"/>
              </a:solidFill>
              <a:effectLst/>
              <a:uLnTx/>
              <a:uFillTx/>
              <a:latin typeface="Calibri"/>
              <a:ea typeface="+mn-ea"/>
              <a:cs typeface="+mn-cs"/>
            </a:endParaRPr>
          </a:p>
        </p:txBody>
      </p:sp>
      <p:sp>
        <p:nvSpPr>
          <p:cNvPr id="2" name="Tekstvak 1">
            <a:extLst>
              <a:ext uri="{FF2B5EF4-FFF2-40B4-BE49-F238E27FC236}">
                <a16:creationId xmlns:a16="http://schemas.microsoft.com/office/drawing/2014/main" id="{203477D5-DFF9-71D9-2F71-046D121B6A4C}"/>
              </a:ext>
            </a:extLst>
          </p:cNvPr>
          <p:cNvSpPr txBox="1"/>
          <p:nvPr/>
        </p:nvSpPr>
        <p:spPr>
          <a:xfrm rot="10800000" flipV="1">
            <a:off x="9331173" y="4764300"/>
            <a:ext cx="2598067" cy="1200329"/>
          </a:xfrm>
          <a:prstGeom prst="rect">
            <a:avLst/>
          </a:prstGeom>
          <a:solidFill>
            <a:srgbClr val="FFFF00"/>
          </a:solidFill>
          <a:ln>
            <a:solidFill>
              <a:schemeClr val="bg2">
                <a:lumMod val="50000"/>
              </a:schemeClr>
            </a:solidFill>
          </a:ln>
        </p:spPr>
        <p:txBody>
          <a:bodyPr wrap="square" rtlCol="0">
            <a:spAutoFit/>
          </a:bodyPr>
          <a:lstStyle/>
          <a:p>
            <a:r>
              <a:rPr lang="nl-NL"/>
              <a:t>Programmamanagement, projectleiders en </a:t>
            </a:r>
            <a:r>
              <a:rPr lang="nl-NL" err="1"/>
              <a:t>werkgroepleden</a:t>
            </a:r>
            <a:r>
              <a:rPr lang="nl-NL"/>
              <a:t> wijzigen voor de uitvoeringsfase</a:t>
            </a:r>
          </a:p>
        </p:txBody>
      </p:sp>
      <p:sp>
        <p:nvSpPr>
          <p:cNvPr id="22" name="Rectangle: Top Corners Rounded 38">
            <a:hlinkClick r:id="rId3" action="ppaction://hlinksldjump"/>
            <a:extLst>
              <a:ext uri="{FF2B5EF4-FFF2-40B4-BE49-F238E27FC236}">
                <a16:creationId xmlns:a16="http://schemas.microsoft.com/office/drawing/2014/main" id="{8A2AE20E-BF00-3FFC-5FFC-366A8A39DC45}"/>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23" name="Graphic 22" descr="Introductiepagina silhouet">
            <a:hlinkClick r:id="rId4" action="ppaction://hlinksldjump"/>
            <a:extLst>
              <a:ext uri="{FF2B5EF4-FFF2-40B4-BE49-F238E27FC236}">
                <a16:creationId xmlns:a16="http://schemas.microsoft.com/office/drawing/2014/main" id="{B2CB469A-E8AE-A20A-86C7-E6057DA2D36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24" name="Rectangle: Top Corners Rounded 1">
            <a:hlinkClick r:id="rId7" action="ppaction://hlinksldjump"/>
            <a:extLst>
              <a:ext uri="{FF2B5EF4-FFF2-40B4-BE49-F238E27FC236}">
                <a16:creationId xmlns:a16="http://schemas.microsoft.com/office/drawing/2014/main" id="{A592D982-9BC9-A25D-61DF-59C6F8004828}"/>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25" name="Rectangle: Top Corners Rounded 1">
            <a:hlinkClick r:id="rId8" action="ppaction://hlinksldjump"/>
            <a:extLst>
              <a:ext uri="{FF2B5EF4-FFF2-40B4-BE49-F238E27FC236}">
                <a16:creationId xmlns:a16="http://schemas.microsoft.com/office/drawing/2014/main" id="{4DFA3BED-0D33-4092-2F42-4A9F6980E108}"/>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26" name="Rectangle: Top Corners Rounded 1">
            <a:hlinkClick r:id="rId9" action="ppaction://hlinksldjump"/>
            <a:extLst>
              <a:ext uri="{FF2B5EF4-FFF2-40B4-BE49-F238E27FC236}">
                <a16:creationId xmlns:a16="http://schemas.microsoft.com/office/drawing/2014/main" id="{19B81F5B-5A57-50DC-6F85-B4E7C59FC090}"/>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27" name="Rectangle: Top Corners Rounded 1">
            <a:hlinkClick r:id="rId10" action="ppaction://hlinksldjump"/>
            <a:extLst>
              <a:ext uri="{FF2B5EF4-FFF2-40B4-BE49-F238E27FC236}">
                <a16:creationId xmlns:a16="http://schemas.microsoft.com/office/drawing/2014/main" id="{2E2BFA33-64F2-552F-C877-49293CAF1711}"/>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28" name="Rectangle: Top Corners Rounded 1">
            <a:hlinkClick r:id="rId11" action="ppaction://hlinksldjump"/>
            <a:extLst>
              <a:ext uri="{FF2B5EF4-FFF2-40B4-BE49-F238E27FC236}">
                <a16:creationId xmlns:a16="http://schemas.microsoft.com/office/drawing/2014/main" id="{2591B8FA-2644-ACCD-A345-2EC0848E58E6}"/>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29" name="Rectangle: Top Corners Rounded 1">
            <a:hlinkClick r:id="rId12" action="ppaction://hlinksldjump"/>
            <a:extLst>
              <a:ext uri="{FF2B5EF4-FFF2-40B4-BE49-F238E27FC236}">
                <a16:creationId xmlns:a16="http://schemas.microsoft.com/office/drawing/2014/main" id="{86DA49C1-8467-D862-2364-448E74BF89A3}"/>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30" name="Rectangle: Top Corners Rounded 1">
            <a:hlinkClick r:id="rId13" action="ppaction://hlinksldjump"/>
            <a:extLst>
              <a:ext uri="{FF2B5EF4-FFF2-40B4-BE49-F238E27FC236}">
                <a16:creationId xmlns:a16="http://schemas.microsoft.com/office/drawing/2014/main" id="{A3DA053A-C21B-5614-883B-49EEAE632EEC}"/>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31" name="Rectangle: Top Corners Rounded 1">
            <a:hlinkClick r:id="rId14" action="ppaction://hlinksldjump"/>
            <a:extLst>
              <a:ext uri="{FF2B5EF4-FFF2-40B4-BE49-F238E27FC236}">
                <a16:creationId xmlns:a16="http://schemas.microsoft.com/office/drawing/2014/main" id="{09A12D78-74AA-7F1E-3740-88AED935C34D}"/>
              </a:ext>
            </a:extLst>
          </p:cNvPr>
          <p:cNvSpPr/>
          <p:nvPr/>
        </p:nvSpPr>
        <p:spPr>
          <a:xfrm>
            <a:off x="762958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err="1">
                <a:solidFill>
                  <a:srgbClr val="F1F2F9"/>
                </a:solidFill>
                <a:latin typeface="Verdana Pro" panose="020B0604030504040204" pitchFamily="34" charset="0"/>
                <a:ea typeface="Verdana" panose="020B0604030504040204" pitchFamily="34" charset="0"/>
              </a:rPr>
              <a:t>Governance</a:t>
            </a:r>
            <a:r>
              <a:rPr lang="nl-NL" sz="600" b="1">
                <a:solidFill>
                  <a:srgbClr val="F1F2F9"/>
                </a:solidFill>
                <a:latin typeface="Verdana Pro" panose="020B0604030504040204" pitchFamily="34" charset="0"/>
                <a:ea typeface="Verdana" panose="020B0604030504040204" pitchFamily="34" charset="0"/>
              </a:rPr>
              <a:t> en </a:t>
            </a:r>
            <a:r>
              <a:rPr lang="nl-NL" sz="600" b="1" err="1">
                <a:solidFill>
                  <a:srgbClr val="F1F2F9"/>
                </a:solidFill>
                <a:latin typeface="Verdana Pro" panose="020B0604030504040204" pitchFamily="34" charset="0"/>
                <a:ea typeface="Verdana" panose="020B0604030504040204" pitchFamily="34" charset="0"/>
              </a:rPr>
              <a:t>programma-structuur</a:t>
            </a:r>
            <a:endParaRPr lang="nl-NL" sz="600" b="1">
              <a:solidFill>
                <a:srgbClr val="F1F2F9"/>
              </a:solidFill>
              <a:latin typeface="Verdana Pro" panose="020B0604030504040204" pitchFamily="34" charset="0"/>
              <a:ea typeface="Verdana" panose="020B0604030504040204" pitchFamily="34" charset="0"/>
            </a:endParaRPr>
          </a:p>
        </p:txBody>
      </p:sp>
      <p:sp>
        <p:nvSpPr>
          <p:cNvPr id="33" name="Rectangle: Top Corners Rounded 1">
            <a:hlinkClick r:id="rId15" action="ppaction://hlinksldjump"/>
            <a:extLst>
              <a:ext uri="{FF2B5EF4-FFF2-40B4-BE49-F238E27FC236}">
                <a16:creationId xmlns:a16="http://schemas.microsoft.com/office/drawing/2014/main" id="{8C31AF80-7991-8DFC-1227-3E643E590BC3}"/>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34" name="Rectangle: Top Corners Rounded 1">
            <a:hlinkClick r:id="rId16" action="ppaction://hlinksldjump"/>
            <a:extLst>
              <a:ext uri="{FF2B5EF4-FFF2-40B4-BE49-F238E27FC236}">
                <a16:creationId xmlns:a16="http://schemas.microsoft.com/office/drawing/2014/main" id="{7F744B47-E535-EE5C-B5ED-EA9A41BD2C27}"/>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35" name="Rectangle: Top Corners Rounded 1">
            <a:hlinkClick r:id="rId17" action="ppaction://hlinksldjump"/>
            <a:extLst>
              <a:ext uri="{FF2B5EF4-FFF2-40B4-BE49-F238E27FC236}">
                <a16:creationId xmlns:a16="http://schemas.microsoft.com/office/drawing/2014/main" id="{94CA8DD8-E09E-242C-B261-408E5C6C57C9}"/>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3" name="Rechthoek: afgeronde hoeken 2">
            <a:extLst>
              <a:ext uri="{FF2B5EF4-FFF2-40B4-BE49-F238E27FC236}">
                <a16:creationId xmlns:a16="http://schemas.microsoft.com/office/drawing/2014/main" id="{F6802FFA-58BD-1C6D-C679-67E0CF9790D2}"/>
              </a:ext>
            </a:extLst>
          </p:cNvPr>
          <p:cNvSpPr/>
          <p:nvPr/>
        </p:nvSpPr>
        <p:spPr>
          <a:xfrm rot="20103230">
            <a:off x="3882023" y="3056655"/>
            <a:ext cx="4054379" cy="1637997"/>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Concept</a:t>
            </a:r>
          </a:p>
          <a:p>
            <a:pPr marL="0" marR="0" lvl="0" indent="0" algn="ctr" defTabSz="914400" rtl="0" eaLnBrk="1" fontAlgn="auto" latinLnBrk="0" hangingPunct="1">
              <a:lnSpc>
                <a:spcPct val="100000"/>
              </a:lnSpc>
              <a:spcBef>
                <a:spcPts val="0"/>
              </a:spcBef>
              <a:spcAft>
                <a:spcPts val="0"/>
              </a:spcAft>
              <a:buClrTx/>
              <a:buSzTx/>
              <a:buFontTx/>
              <a:buNone/>
              <a:tabLst/>
              <a:defRPr/>
            </a:pPr>
            <a:r>
              <a:rPr lang="nl-NL" sz="2000" b="1" i="1">
                <a:solidFill>
                  <a:srgbClr val="BCC1E2"/>
                </a:solidFill>
                <a:latin typeface="Verdana" panose="020B0604030504040204" pitchFamily="34" charset="0"/>
                <a:ea typeface="Verdana" panose="020B0604030504040204" pitchFamily="34" charset="0"/>
              </a:rPr>
              <a:t>Nog aanpassen</a:t>
            </a:r>
            <a:endParaRPr kumimoji="0" lang="en-NL" sz="1000" b="1" i="1" u="none" strike="noStrike" kern="1200" cap="none" spc="0" normalizeH="0" baseline="0" noProof="0">
              <a:ln>
                <a:noFill/>
              </a:ln>
              <a:solidFill>
                <a:srgbClr val="BCC1E2"/>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13707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7A01-DA1F-9277-FF36-4B6345337CF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61AD0B0-565D-730F-8895-45C18B8D39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861AD0B0-565D-730F-8895-45C18B8D395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5C62422F-CFB2-974E-7E1C-1F7102E43488}"/>
              </a:ext>
            </a:extLst>
          </p:cNvPr>
          <p:cNvSpPr>
            <a:spLocks noGrp="1"/>
          </p:cNvSpPr>
          <p:nvPr>
            <p:ph type="title"/>
          </p:nvPr>
        </p:nvSpPr>
        <p:spPr/>
        <p:txBody>
          <a:bodyPr vert="horz">
            <a:normAutofit/>
          </a:bodyPr>
          <a:lstStyle/>
          <a:p>
            <a:pPr algn="ctr"/>
            <a:r>
              <a:rPr lang="fr-FR" sz="3600" err="1">
                <a:latin typeface="Verdana Pro"/>
                <a:cs typeface="Helvetica"/>
              </a:rPr>
              <a:t>Implementatieplanning</a:t>
            </a:r>
            <a:r>
              <a:rPr lang="fr-FR" sz="3600">
                <a:latin typeface="Verdana Pro"/>
                <a:cs typeface="Helvetica"/>
              </a:rPr>
              <a:t> en </a:t>
            </a:r>
            <a:r>
              <a:rPr lang="fr-FR" sz="3600" err="1">
                <a:latin typeface="Verdana Pro"/>
                <a:cs typeface="Helvetica"/>
              </a:rPr>
              <a:t>aanpak</a:t>
            </a:r>
            <a:endParaRPr lang="fr-FR" sz="3600">
              <a:latin typeface="Verdana Pro"/>
              <a:cs typeface="Helvetica"/>
            </a:endParaRPr>
          </a:p>
        </p:txBody>
      </p:sp>
    </p:spTree>
    <p:extLst>
      <p:ext uri="{BB962C8B-B14F-4D97-AF65-F5344CB8AC3E}">
        <p14:creationId xmlns:p14="http://schemas.microsoft.com/office/powerpoint/2010/main" val="38171503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CF2A-F478-3702-B250-3475415BD382}"/>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0F563D31-0814-0CB3-FCE1-FB81A8B2A864}"/>
              </a:ext>
            </a:extLst>
          </p:cNvPr>
          <p:cNvSpPr>
            <a:spLocks noGrp="1"/>
          </p:cNvSpPr>
          <p:nvPr>
            <p:ph type="title"/>
          </p:nvPr>
        </p:nvSpPr>
        <p:spPr/>
        <p:txBody>
          <a:bodyPr>
            <a:noAutofit/>
          </a:bodyPr>
          <a:lstStyle/>
          <a:p>
            <a:r>
              <a:rPr lang="nl-NL"/>
              <a:t>Tijdslijnen &amp; afspraken Generieke functies en gemeenschappelijke voorzieningen</a:t>
            </a:r>
          </a:p>
        </p:txBody>
      </p:sp>
      <p:sp>
        <p:nvSpPr>
          <p:cNvPr id="3" name="Tijdelijke aanduiding voor inhoud 2">
            <a:extLst>
              <a:ext uri="{FF2B5EF4-FFF2-40B4-BE49-F238E27FC236}">
                <a16:creationId xmlns:a16="http://schemas.microsoft.com/office/drawing/2014/main" id="{AE5F6157-CC5F-EE53-0989-979AA0EA2D0F}"/>
              </a:ext>
            </a:extLst>
          </p:cNvPr>
          <p:cNvSpPr>
            <a:spLocks noGrp="1"/>
          </p:cNvSpPr>
          <p:nvPr>
            <p:ph idx="1"/>
          </p:nvPr>
        </p:nvSpPr>
        <p:spPr>
          <a:xfrm>
            <a:off x="425302" y="1667072"/>
            <a:ext cx="11233171" cy="4580466"/>
          </a:xfrm>
        </p:spPr>
        <p:txBody>
          <a:bodyPr vert="horz" lIns="91440" tIns="45720" rIns="91440" bIns="45720" rtlCol="0" anchor="t">
            <a:noAutofit/>
          </a:bodyPr>
          <a:lstStyle/>
          <a:p>
            <a:pPr marL="180000" lvl="1" indent="0">
              <a:buNone/>
            </a:pPr>
            <a:endParaRPr lang="nl-NL"/>
          </a:p>
        </p:txBody>
      </p:sp>
      <p:sp>
        <p:nvSpPr>
          <p:cNvPr id="2" name="Rectangle: Top Corners Rounded 38">
            <a:hlinkClick r:id="rId3" action="ppaction://hlinksldjump"/>
            <a:extLst>
              <a:ext uri="{FF2B5EF4-FFF2-40B4-BE49-F238E27FC236}">
                <a16:creationId xmlns:a16="http://schemas.microsoft.com/office/drawing/2014/main" id="{B34BF6A2-A776-BCE9-5715-6FB4F80B72D0}"/>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4" action="ppaction://hlinksldjump"/>
            <a:extLst>
              <a:ext uri="{FF2B5EF4-FFF2-40B4-BE49-F238E27FC236}">
                <a16:creationId xmlns:a16="http://schemas.microsoft.com/office/drawing/2014/main" id="{762D6335-D8AC-7DF6-3824-972DD20EDA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8" name="Rectangle: Top Corners Rounded 1">
            <a:hlinkClick r:id="rId7" action="ppaction://hlinksldjump"/>
            <a:extLst>
              <a:ext uri="{FF2B5EF4-FFF2-40B4-BE49-F238E27FC236}">
                <a16:creationId xmlns:a16="http://schemas.microsoft.com/office/drawing/2014/main" id="{8AF5E48B-0ADB-BC1F-21F9-E256BB9B1386}"/>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8" action="ppaction://hlinksldjump"/>
            <a:extLst>
              <a:ext uri="{FF2B5EF4-FFF2-40B4-BE49-F238E27FC236}">
                <a16:creationId xmlns:a16="http://schemas.microsoft.com/office/drawing/2014/main" id="{F4281BEF-9841-8200-1AE2-6F45C9F78DF7}"/>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9" action="ppaction://hlinksldjump"/>
            <a:extLst>
              <a:ext uri="{FF2B5EF4-FFF2-40B4-BE49-F238E27FC236}">
                <a16:creationId xmlns:a16="http://schemas.microsoft.com/office/drawing/2014/main" id="{606937DA-3C35-713F-5585-9B59F97C2B41}"/>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0" action="ppaction://hlinksldjump"/>
            <a:extLst>
              <a:ext uri="{FF2B5EF4-FFF2-40B4-BE49-F238E27FC236}">
                <a16:creationId xmlns:a16="http://schemas.microsoft.com/office/drawing/2014/main" id="{0705300D-77D1-E153-83CB-BB65C882CBEB}"/>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2" name="Rectangle: Top Corners Rounded 1">
            <a:hlinkClick r:id="rId11" action="ppaction://hlinksldjump"/>
            <a:extLst>
              <a:ext uri="{FF2B5EF4-FFF2-40B4-BE49-F238E27FC236}">
                <a16:creationId xmlns:a16="http://schemas.microsoft.com/office/drawing/2014/main" id="{D7A1FCDC-CEEE-431E-3854-118548C1B652}"/>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2" action="ppaction://hlinksldjump"/>
            <a:extLst>
              <a:ext uri="{FF2B5EF4-FFF2-40B4-BE49-F238E27FC236}">
                <a16:creationId xmlns:a16="http://schemas.microsoft.com/office/drawing/2014/main" id="{C2146669-A844-EA29-466E-AAD8BF9BF7AC}"/>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3" action="ppaction://hlinksldjump"/>
            <a:extLst>
              <a:ext uri="{FF2B5EF4-FFF2-40B4-BE49-F238E27FC236}">
                <a16:creationId xmlns:a16="http://schemas.microsoft.com/office/drawing/2014/main" id="{BFB430BE-1391-D7BD-AB22-D4604FDE9CAD}"/>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4" action="ppaction://hlinksldjump"/>
            <a:extLst>
              <a:ext uri="{FF2B5EF4-FFF2-40B4-BE49-F238E27FC236}">
                <a16:creationId xmlns:a16="http://schemas.microsoft.com/office/drawing/2014/main" id="{F98FF40B-4BCD-B625-D963-CA53F53BEB30}"/>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5" action="ppaction://hlinksldjump"/>
            <a:extLst>
              <a:ext uri="{FF2B5EF4-FFF2-40B4-BE49-F238E27FC236}">
                <a16:creationId xmlns:a16="http://schemas.microsoft.com/office/drawing/2014/main" id="{654E4FAC-D0D5-D1F5-61A3-60883A5A7072}"/>
              </a:ext>
            </a:extLst>
          </p:cNvPr>
          <p:cNvSpPr/>
          <p:nvPr/>
        </p:nvSpPr>
        <p:spPr>
          <a:xfrm>
            <a:off x="854706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6" action="ppaction://hlinksldjump"/>
            <a:extLst>
              <a:ext uri="{FF2B5EF4-FFF2-40B4-BE49-F238E27FC236}">
                <a16:creationId xmlns:a16="http://schemas.microsoft.com/office/drawing/2014/main" id="{238164CE-D534-D0D1-E433-B847AF7EC92B}"/>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7" action="ppaction://hlinksldjump"/>
            <a:extLst>
              <a:ext uri="{FF2B5EF4-FFF2-40B4-BE49-F238E27FC236}">
                <a16:creationId xmlns:a16="http://schemas.microsoft.com/office/drawing/2014/main" id="{E5CE5979-EC87-99E2-A23B-23B34CFF3700}"/>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7" name="Rechthoek: afgeronde hoeken 6">
            <a:extLst>
              <a:ext uri="{FF2B5EF4-FFF2-40B4-BE49-F238E27FC236}">
                <a16:creationId xmlns:a16="http://schemas.microsoft.com/office/drawing/2014/main" id="{E31E5468-FAF9-0A61-678F-74B6E0F699F8}"/>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52" name="Tijdelijke aanduiding voor tekst 6">
            <a:extLst>
              <a:ext uri="{FF2B5EF4-FFF2-40B4-BE49-F238E27FC236}">
                <a16:creationId xmlns:a16="http://schemas.microsoft.com/office/drawing/2014/main" id="{412CCE13-A7A4-DD47-9508-DA81F9AFF787}"/>
              </a:ext>
            </a:extLst>
          </p:cNvPr>
          <p:cNvSpPr txBox="1">
            <a:spLocks/>
          </p:cNvSpPr>
          <p:nvPr/>
        </p:nvSpPr>
        <p:spPr>
          <a:xfrm>
            <a:off x="515937" y="1894437"/>
            <a:ext cx="1439862" cy="4737374"/>
          </a:xfrm>
          <a:prstGeom prst="roundRect">
            <a:avLst>
              <a:gd name="adj" fmla="val 3437"/>
            </a:avLst>
          </a:prstGeom>
          <a:solidFill>
            <a:srgbClr val="A5A5A5">
              <a:lumMod val="60000"/>
              <a:lumOff val="40000"/>
            </a:srgbClr>
          </a:solidFill>
        </p:spPr>
        <p:txBody>
          <a:bodyPr vert="horz" lIns="72000" tIns="432000" rIns="72000" bIns="180000" rtlCol="0">
            <a:spAutoFit/>
          </a:bodyPr>
          <a:lstStyle>
            <a:lvl1pPr marL="0" indent="0" algn="l" defTabSz="914400" rtl="0" eaLnBrk="1" latinLnBrk="0" hangingPunct="1">
              <a:lnSpc>
                <a:spcPct val="120000"/>
              </a:lnSpc>
              <a:spcBef>
                <a:spcPts val="1000"/>
              </a:spcBef>
              <a:buFont typeface="Arial" panose="020B0604020202020204" pitchFamily="34" charset="0"/>
              <a:buNone/>
              <a:defRPr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Identificatie &amp; authenticatie -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ZORG-ID SMART</a:t>
            </a:r>
          </a:p>
          <a:p>
            <a:pPr marL="171450" marR="0" lvl="0" indent="-171450" algn="l" defTabSz="914400" rtl="0" eaLnBrk="1" fontAlgn="auto" latinLnBrk="0" hangingPunct="1">
              <a:lnSpc>
                <a:spcPct val="120000"/>
              </a:lnSpc>
              <a:spcBef>
                <a:spcPts val="100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Volgen ontwikkeling </a:t>
            </a:r>
            <a:r>
              <a:rPr kumimoji="0" lang="nl-NL" sz="900" b="0" i="0" u="none" strike="noStrike" kern="1200" cap="none" spc="0" normalizeH="0" baseline="0" noProof="0" err="1">
                <a:ln>
                  <a:noFill/>
                </a:ln>
                <a:solidFill>
                  <a:sysClr val="windowText" lastClr="000000"/>
                </a:solidFill>
                <a:effectLst/>
                <a:uLnTx/>
                <a:uFillTx/>
                <a:latin typeface="PT Sans" panose="020B0503020203020204" pitchFamily="34" charset="0"/>
                <a:ea typeface="+mn-ea"/>
                <a:cs typeface="Calibri"/>
              </a:rPr>
              <a:t>NEN-norm</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hlinkClick r:id="rId18"/>
              </a:rPr>
              <a:t>zie </a:t>
            </a:r>
            <a:r>
              <a:rPr kumimoji="0" lang="nl-NL" sz="900" b="0" i="0" u="none" strike="noStrike" kern="1200" cap="none" spc="0" normalizeH="0" baseline="0" noProof="0" err="1">
                <a:ln>
                  <a:noFill/>
                </a:ln>
                <a:solidFill>
                  <a:sysClr val="windowText" lastClr="000000"/>
                </a:solidFill>
                <a:effectLst/>
                <a:uLnTx/>
                <a:uFillTx/>
                <a:latin typeface="PT Sans" panose="020B0503020203020204" pitchFamily="34" charset="0"/>
                <a:ea typeface="+mn-ea"/>
                <a:cs typeface="Calibri"/>
                <a:hlinkClick r:id="rId18"/>
              </a:rPr>
              <a:t>Egiz</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hlinkClick r:id="rId18"/>
              </a:rPr>
              <a:t> site</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Toestemming –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MITZ</a:t>
            </a:r>
          </a:p>
          <a:p>
            <a:pPr marL="171450" marR="0" lvl="0" indent="-171450" algn="l" defTabSz="914400" rtl="0" eaLnBrk="1" fontAlgn="auto" latinLnBrk="0" hangingPunct="1">
              <a:lnSpc>
                <a:spcPct val="120000"/>
              </a:lnSpc>
              <a:spcBef>
                <a:spcPts val="100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In kaart brengen implementatie bij leveranciers en aanbieders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hlinkClick r:id="rId19"/>
              </a:rPr>
              <a:t>zie hier meer informatie</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Adressering –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ZORG-AB</a:t>
            </a:r>
            <a:endParaRPr kumimoji="0" lang="nl-NL" sz="900" b="1" i="1"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a:p>
            <a:pPr marL="171450" marR="0" lvl="0" indent="-171450" algn="l" defTabSz="914400" rtl="0" eaLnBrk="1" fontAlgn="auto" latinLnBrk="0" hangingPunct="1">
              <a:lnSpc>
                <a:spcPct val="120000"/>
              </a:lnSpc>
              <a:spcBef>
                <a:spcPts val="100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Q2 Start aansluiten per zorgaanbieder. </a:t>
            </a:r>
            <a:r>
              <a:rPr kumimoji="0" lang="nl-NL" sz="900" b="0" i="0" u="none" strike="noStrike" kern="1200" cap="none" spc="0" normalizeH="0" baseline="0" noProof="0" err="1">
                <a:ln>
                  <a:noFill/>
                </a:ln>
                <a:solidFill>
                  <a:sysClr val="windowText" lastClr="000000"/>
                </a:solidFill>
                <a:effectLst/>
                <a:uLnTx/>
                <a:uFillTx/>
                <a:latin typeface="PT Sans" panose="020B0503020203020204" pitchFamily="34" charset="0"/>
                <a:ea typeface="+mn-ea"/>
                <a:cs typeface="Calibri"/>
              </a:rPr>
              <a:t>Zelfassesment</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 doen (VZVZ) en opdracht verstrekken aan leverancier(s) voor implementatie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hlinkClick r:id="rId20"/>
              </a:rPr>
              <a:t>zie hier meer informatie</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t>
            </a:r>
          </a:p>
        </p:txBody>
      </p:sp>
      <p:sp>
        <p:nvSpPr>
          <p:cNvPr id="53" name="Tijdelijke aanduiding voor tekst 3">
            <a:extLst>
              <a:ext uri="{FF2B5EF4-FFF2-40B4-BE49-F238E27FC236}">
                <a16:creationId xmlns:a16="http://schemas.microsoft.com/office/drawing/2014/main" id="{FBC6A3FA-F4F9-5042-D602-C6F423AB873E}"/>
              </a:ext>
            </a:extLst>
          </p:cNvPr>
          <p:cNvSpPr txBox="1">
            <a:spLocks/>
          </p:cNvSpPr>
          <p:nvPr/>
        </p:nvSpPr>
        <p:spPr>
          <a:xfrm>
            <a:off x="2142066" y="1974446"/>
            <a:ext cx="1439862" cy="1087257"/>
          </a:xfrm>
          <a:prstGeom prst="roundRect">
            <a:avLst>
              <a:gd name="adj" fmla="val 3437"/>
            </a:avLst>
          </a:prstGeom>
          <a:solidFill>
            <a:srgbClr val="A5A5A5">
              <a:lumMod val="60000"/>
              <a:lumOff val="40000"/>
            </a:srgbClr>
          </a:solidFill>
        </p:spPr>
        <p:txBody>
          <a:bodyPr vert="horz" lIns="72000" tIns="432000" rIns="72000" bIns="180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54" name="Tijdelijke aanduiding voor tekst 4">
            <a:extLst>
              <a:ext uri="{FF2B5EF4-FFF2-40B4-BE49-F238E27FC236}">
                <a16:creationId xmlns:a16="http://schemas.microsoft.com/office/drawing/2014/main" id="{2F8B7B82-9179-C299-AA54-80311D104DFE}"/>
              </a:ext>
            </a:extLst>
          </p:cNvPr>
          <p:cNvSpPr txBox="1">
            <a:spLocks/>
          </p:cNvSpPr>
          <p:nvPr/>
        </p:nvSpPr>
        <p:spPr>
          <a:xfrm>
            <a:off x="3768195" y="1974446"/>
            <a:ext cx="1439862" cy="2975643"/>
          </a:xfrm>
          <a:prstGeom prst="roundRect">
            <a:avLst>
              <a:gd name="adj" fmla="val 3437"/>
            </a:avLst>
          </a:prstGeom>
          <a:solidFill>
            <a:srgbClr val="A5A5A5">
              <a:lumMod val="60000"/>
              <a:lumOff val="40000"/>
            </a:srgbClr>
          </a:solidFill>
        </p:spPr>
        <p:txBody>
          <a:bodyPr vert="horz" lIns="72000" tIns="432000" rIns="72000" bIns="180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Identificatie &amp; authenticatie –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ZORG-ID SMART</a:t>
            </a:r>
          </a:p>
          <a:p>
            <a:pPr marL="228600" marR="0" lvl="0" indent="-228600" algn="l" defTabSz="914400" rtl="0" eaLnBrk="1" fontAlgn="auto" latinLnBrk="0" hangingPunct="1">
              <a:lnSpc>
                <a:spcPct val="120000"/>
              </a:lnSpc>
              <a:spcBef>
                <a:spcPts val="100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Oriënteren op DEZI stelsel en overstap naar ZORG-ID Smart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hlinkClick r:id="rId21"/>
              </a:rPr>
              <a:t>Zie hier meer info</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err="1">
                <a:ln>
                  <a:noFill/>
                </a:ln>
                <a:solidFill>
                  <a:sysClr val="windowText" lastClr="000000"/>
                </a:solidFill>
                <a:effectLst/>
                <a:uLnTx/>
                <a:uFillTx/>
                <a:latin typeface="PT Sans" panose="020B0503020203020204" pitchFamily="34" charset="0"/>
                <a:ea typeface="+mn-ea"/>
                <a:cs typeface="Calibri"/>
              </a:rPr>
              <a:t>Logging</a:t>
            </a: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 NEN7513</a:t>
            </a:r>
          </a:p>
          <a:p>
            <a:pPr marL="228600" marR="0" lvl="0" indent="-228600" algn="l" defTabSz="914400" rtl="0" eaLnBrk="1" fontAlgn="auto" latinLnBrk="0" hangingPunct="1">
              <a:lnSpc>
                <a:spcPct val="120000"/>
              </a:lnSpc>
              <a:spcBef>
                <a:spcPts val="100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Audit op NEN 7510 en 7513 </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55" name="Tijdelijke aanduiding voor tekst 5">
            <a:extLst>
              <a:ext uri="{FF2B5EF4-FFF2-40B4-BE49-F238E27FC236}">
                <a16:creationId xmlns:a16="http://schemas.microsoft.com/office/drawing/2014/main" id="{AAC5BDCB-0600-7861-BB68-7EC558AB2C77}"/>
              </a:ext>
            </a:extLst>
          </p:cNvPr>
          <p:cNvSpPr txBox="1">
            <a:spLocks/>
          </p:cNvSpPr>
          <p:nvPr/>
        </p:nvSpPr>
        <p:spPr>
          <a:xfrm>
            <a:off x="5394324" y="1974446"/>
            <a:ext cx="1439862" cy="1087257"/>
          </a:xfrm>
          <a:prstGeom prst="roundRect">
            <a:avLst>
              <a:gd name="adj" fmla="val 3437"/>
            </a:avLst>
          </a:prstGeom>
          <a:solidFill>
            <a:srgbClr val="A5A5A5">
              <a:lumMod val="60000"/>
              <a:lumOff val="40000"/>
            </a:srgbClr>
          </a:solidFill>
        </p:spPr>
        <p:txBody>
          <a:bodyPr vert="horz" lIns="72000" tIns="432000" rIns="72000" bIns="180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56" name="Tijdelijke aanduiding voor tekst 7">
            <a:extLst>
              <a:ext uri="{FF2B5EF4-FFF2-40B4-BE49-F238E27FC236}">
                <a16:creationId xmlns:a16="http://schemas.microsoft.com/office/drawing/2014/main" id="{1C296991-F570-71AF-9936-10050A264A30}"/>
              </a:ext>
            </a:extLst>
          </p:cNvPr>
          <p:cNvSpPr txBox="1">
            <a:spLocks/>
          </p:cNvSpPr>
          <p:nvPr/>
        </p:nvSpPr>
        <p:spPr>
          <a:xfrm>
            <a:off x="7020453" y="1974446"/>
            <a:ext cx="1439862" cy="1426085"/>
          </a:xfrm>
          <a:prstGeom prst="roundRect">
            <a:avLst>
              <a:gd name="adj" fmla="val 3437"/>
            </a:avLst>
          </a:prstGeom>
          <a:solidFill>
            <a:srgbClr val="A5A5A5">
              <a:lumMod val="60000"/>
              <a:lumOff val="40000"/>
            </a:srgbClr>
          </a:solidFill>
        </p:spPr>
        <p:txBody>
          <a:bodyPr vert="horz" lIns="72000" tIns="432000" rIns="72000" bIns="180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Toestemming –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MITZ</a:t>
            </a:r>
          </a:p>
          <a:p>
            <a:pPr marL="228600" marR="0" lvl="0" indent="-228600" algn="l" defTabSz="914400" rtl="0" eaLnBrk="1" fontAlgn="auto" latinLnBrk="0" hangingPunct="1">
              <a:lnSpc>
                <a:spcPct val="120000"/>
              </a:lnSpc>
              <a:spcBef>
                <a:spcPts val="100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Alle segmenten/ aanbieders zijn aangesloten op Mitz</a:t>
            </a:r>
          </a:p>
        </p:txBody>
      </p:sp>
      <p:sp>
        <p:nvSpPr>
          <p:cNvPr id="57" name="Tijdelijke aanduiding voor tekst 8">
            <a:extLst>
              <a:ext uri="{FF2B5EF4-FFF2-40B4-BE49-F238E27FC236}">
                <a16:creationId xmlns:a16="http://schemas.microsoft.com/office/drawing/2014/main" id="{2A599FDA-0B81-85F1-BB7C-0FF4A2D4836E}"/>
              </a:ext>
            </a:extLst>
          </p:cNvPr>
          <p:cNvSpPr txBox="1">
            <a:spLocks/>
          </p:cNvSpPr>
          <p:nvPr/>
        </p:nvSpPr>
        <p:spPr>
          <a:xfrm>
            <a:off x="8646582" y="1974446"/>
            <a:ext cx="1439862" cy="1087257"/>
          </a:xfrm>
          <a:prstGeom prst="roundRect">
            <a:avLst>
              <a:gd name="adj" fmla="val 3437"/>
            </a:avLst>
          </a:prstGeom>
          <a:solidFill>
            <a:srgbClr val="A5A5A5">
              <a:lumMod val="60000"/>
              <a:lumOff val="40000"/>
            </a:srgbClr>
          </a:solidFill>
        </p:spPr>
        <p:txBody>
          <a:bodyPr vert="horz" lIns="72000" tIns="432000" rIns="72000" bIns="180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58" name="Tijdelijke aanduiding voor tekst 9">
            <a:extLst>
              <a:ext uri="{FF2B5EF4-FFF2-40B4-BE49-F238E27FC236}">
                <a16:creationId xmlns:a16="http://schemas.microsoft.com/office/drawing/2014/main" id="{594C1A8D-733D-04A7-4FA5-BA9FF55033F9}"/>
              </a:ext>
            </a:extLst>
          </p:cNvPr>
          <p:cNvSpPr txBox="1">
            <a:spLocks/>
          </p:cNvSpPr>
          <p:nvPr/>
        </p:nvSpPr>
        <p:spPr>
          <a:xfrm>
            <a:off x="10272713" y="1974446"/>
            <a:ext cx="1439862" cy="1087257"/>
          </a:xfrm>
          <a:prstGeom prst="roundRect">
            <a:avLst>
              <a:gd name="adj" fmla="val 3437"/>
            </a:avLst>
          </a:prstGeom>
          <a:solidFill>
            <a:srgbClr val="A5A5A5">
              <a:lumMod val="60000"/>
              <a:lumOff val="40000"/>
            </a:srgbClr>
          </a:solidFill>
        </p:spPr>
        <p:txBody>
          <a:bodyPr vert="horz" lIns="72000" tIns="432000" rIns="72000" bIns="180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en-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59" name="Tijdelijke aanduiding voor tekst 10">
            <a:extLst>
              <a:ext uri="{FF2B5EF4-FFF2-40B4-BE49-F238E27FC236}">
                <a16:creationId xmlns:a16="http://schemas.microsoft.com/office/drawing/2014/main" id="{ED7BB317-89C9-4BB9-F52B-15D621DF272E}"/>
              </a:ext>
            </a:extLst>
          </p:cNvPr>
          <p:cNvSpPr txBox="1">
            <a:spLocks/>
          </p:cNvSpPr>
          <p:nvPr/>
        </p:nvSpPr>
        <p:spPr>
          <a:xfrm>
            <a:off x="778668" y="1388660"/>
            <a:ext cx="914400" cy="914400"/>
          </a:xfrm>
          <a:prstGeom prst="ellipse">
            <a:avLst/>
          </a:prstGeom>
          <a:solidFill>
            <a:schemeClr val="accent6"/>
          </a:solidFill>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Calibri"/>
              </a:rPr>
              <a:t>2024 Q2</a:t>
            </a:r>
          </a:p>
        </p:txBody>
      </p:sp>
      <p:sp>
        <p:nvSpPr>
          <p:cNvPr id="60" name="Tijdelijke aanduiding voor tekst 11">
            <a:extLst>
              <a:ext uri="{FF2B5EF4-FFF2-40B4-BE49-F238E27FC236}">
                <a16:creationId xmlns:a16="http://schemas.microsoft.com/office/drawing/2014/main" id="{0CB260F5-3AD7-0F78-22DF-B78109C531F2}"/>
              </a:ext>
            </a:extLst>
          </p:cNvPr>
          <p:cNvSpPr txBox="1">
            <a:spLocks/>
          </p:cNvSpPr>
          <p:nvPr/>
        </p:nvSpPr>
        <p:spPr>
          <a:xfrm>
            <a:off x="2405062" y="138866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2024</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Q4</a:t>
            </a:r>
          </a:p>
        </p:txBody>
      </p:sp>
      <p:sp>
        <p:nvSpPr>
          <p:cNvPr id="61" name="Tijdelijke aanduiding voor tekst 12">
            <a:extLst>
              <a:ext uri="{FF2B5EF4-FFF2-40B4-BE49-F238E27FC236}">
                <a16:creationId xmlns:a16="http://schemas.microsoft.com/office/drawing/2014/main" id="{B056654C-3EDA-9593-63E1-D16DE9647D86}"/>
              </a:ext>
            </a:extLst>
          </p:cNvPr>
          <p:cNvSpPr txBox="1">
            <a:spLocks/>
          </p:cNvSpPr>
          <p:nvPr/>
        </p:nvSpPr>
        <p:spPr>
          <a:xfrm>
            <a:off x="4031456" y="138866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Q1</a:t>
            </a:r>
          </a:p>
        </p:txBody>
      </p:sp>
      <p:sp>
        <p:nvSpPr>
          <p:cNvPr id="62" name="Tijdelijke aanduiding voor tekst 13">
            <a:extLst>
              <a:ext uri="{FF2B5EF4-FFF2-40B4-BE49-F238E27FC236}">
                <a16:creationId xmlns:a16="http://schemas.microsoft.com/office/drawing/2014/main" id="{044E13BE-06A7-8D69-3E0C-DB5C5E775536}"/>
              </a:ext>
            </a:extLst>
          </p:cNvPr>
          <p:cNvSpPr txBox="1">
            <a:spLocks/>
          </p:cNvSpPr>
          <p:nvPr/>
        </p:nvSpPr>
        <p:spPr>
          <a:xfrm>
            <a:off x="5657850" y="138866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Q2</a:t>
            </a:r>
          </a:p>
        </p:txBody>
      </p:sp>
      <p:sp>
        <p:nvSpPr>
          <p:cNvPr id="63" name="Tijdelijke aanduiding voor tekst 14">
            <a:extLst>
              <a:ext uri="{FF2B5EF4-FFF2-40B4-BE49-F238E27FC236}">
                <a16:creationId xmlns:a16="http://schemas.microsoft.com/office/drawing/2014/main" id="{1FD593F6-221C-055A-B00E-E5A3E84A01A5}"/>
              </a:ext>
            </a:extLst>
          </p:cNvPr>
          <p:cNvSpPr txBox="1">
            <a:spLocks/>
          </p:cNvSpPr>
          <p:nvPr/>
        </p:nvSpPr>
        <p:spPr>
          <a:xfrm>
            <a:off x="7284244" y="138866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Q3</a:t>
            </a:r>
          </a:p>
        </p:txBody>
      </p:sp>
      <p:sp>
        <p:nvSpPr>
          <p:cNvPr id="64" name="Tijdelijke aanduiding voor tekst 15">
            <a:extLst>
              <a:ext uri="{FF2B5EF4-FFF2-40B4-BE49-F238E27FC236}">
                <a16:creationId xmlns:a16="http://schemas.microsoft.com/office/drawing/2014/main" id="{946E93F5-CE47-6362-BB5E-6F56D8C9BD6F}"/>
              </a:ext>
            </a:extLst>
          </p:cNvPr>
          <p:cNvSpPr txBox="1">
            <a:spLocks/>
          </p:cNvSpPr>
          <p:nvPr/>
        </p:nvSpPr>
        <p:spPr>
          <a:xfrm>
            <a:off x="8910638" y="1388660"/>
            <a:ext cx="914400" cy="914400"/>
          </a:xfrm>
          <a:prstGeom prst="ellipse">
            <a:avLst/>
          </a:prstGeom>
          <a:solidFill>
            <a:schemeClr val="accent6"/>
          </a:solidFill>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800" b="1"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Q4</a:t>
            </a:r>
          </a:p>
        </p:txBody>
      </p:sp>
      <p:sp>
        <p:nvSpPr>
          <p:cNvPr id="65" name="Tijdelijke aanduiding voor tekst 16">
            <a:extLst>
              <a:ext uri="{FF2B5EF4-FFF2-40B4-BE49-F238E27FC236}">
                <a16:creationId xmlns:a16="http://schemas.microsoft.com/office/drawing/2014/main" id="{F185263F-8B45-3FE4-7296-3D73ED116D25}"/>
              </a:ext>
            </a:extLst>
          </p:cNvPr>
          <p:cNvSpPr txBox="1">
            <a:spLocks/>
          </p:cNvSpPr>
          <p:nvPr/>
        </p:nvSpPr>
        <p:spPr>
          <a:xfrm>
            <a:off x="10537031" y="1388660"/>
            <a:ext cx="914400" cy="914400"/>
          </a:xfrm>
          <a:prstGeom prst="ellipse">
            <a:avLst/>
          </a:prstGeom>
          <a:solidFill>
            <a:schemeClr val="accent6"/>
          </a:solidFill>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2026</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Q1</a:t>
            </a:r>
          </a:p>
        </p:txBody>
      </p:sp>
      <p:sp>
        <p:nvSpPr>
          <p:cNvPr id="66" name="Tijdelijke aanduiding voor tekst 8">
            <a:extLst>
              <a:ext uri="{FF2B5EF4-FFF2-40B4-BE49-F238E27FC236}">
                <a16:creationId xmlns:a16="http://schemas.microsoft.com/office/drawing/2014/main" id="{C64F443B-6D3C-B190-93AB-6CE6C90EBEA9}"/>
              </a:ext>
            </a:extLst>
          </p:cNvPr>
          <p:cNvSpPr txBox="1">
            <a:spLocks/>
          </p:cNvSpPr>
          <p:nvPr/>
        </p:nvSpPr>
        <p:spPr>
          <a:xfrm>
            <a:off x="5394324" y="3519520"/>
            <a:ext cx="6318251" cy="2932953"/>
          </a:xfrm>
          <a:prstGeom prst="roundRect">
            <a:avLst>
              <a:gd name="adj" fmla="val 3437"/>
            </a:avLst>
          </a:prstGeom>
          <a:solidFill>
            <a:srgbClr val="A5A5A5">
              <a:lumMod val="60000"/>
              <a:lumOff val="40000"/>
            </a:srgbClr>
          </a:solidFill>
        </p:spPr>
        <p:txBody>
          <a:bodyPr vert="horz" wrap="square" lIns="72000" tIns="72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1" i="0" u="sng" strike="noStrike" kern="1200" cap="none" spc="0" normalizeH="0" baseline="0" noProof="0">
                <a:ln>
                  <a:noFill/>
                </a:ln>
                <a:solidFill>
                  <a:prstClr val="black"/>
                </a:solidFill>
                <a:effectLst/>
                <a:uLnTx/>
                <a:uFillTx/>
                <a:latin typeface="PT Sans" panose="020B0503020203020204" pitchFamily="34" charset="0"/>
                <a:ea typeface="+mn-ea"/>
                <a:cs typeface="Calibri"/>
              </a:rPr>
              <a:t>Overige afspraken:</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rPr>
              <a:t>Identificatie &amp; autorisatie: </a:t>
            </a: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rPr>
              <a:t>ZORG-ID SMART</a:t>
            </a:r>
            <a:endPar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endParaRP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srgbClr val="000000"/>
                </a:solidFill>
                <a:effectLst/>
                <a:uLnTx/>
                <a:uFillTx/>
                <a:latin typeface="PT Sans" panose="020B0503020203020204" pitchFamily="34" charset="0"/>
                <a:ea typeface="+mn-ea"/>
                <a:cs typeface="Calibri"/>
              </a:rPr>
              <a:t>Spreek af dat, vooruitlopend op de invulling van de </a:t>
            </a:r>
            <a:r>
              <a:rPr kumimoji="0" lang="nl-NL" sz="900" b="0" i="0" u="none" strike="noStrike" kern="1200" cap="none" spc="0" normalizeH="0" baseline="0" noProof="0" err="1">
                <a:ln>
                  <a:noFill/>
                </a:ln>
                <a:solidFill>
                  <a:srgbClr val="000000"/>
                </a:solidFill>
                <a:effectLst/>
                <a:uLnTx/>
                <a:uFillTx/>
                <a:latin typeface="PT Sans" panose="020B0503020203020204" pitchFamily="34" charset="0"/>
                <a:ea typeface="+mn-ea"/>
                <a:cs typeface="Calibri"/>
              </a:rPr>
              <a:t>NEN-norm</a:t>
            </a:r>
            <a:r>
              <a:rPr kumimoji="0" lang="nl-NL" sz="900" b="0" i="0" u="none" strike="noStrike" kern="1200" cap="none" spc="0" normalizeH="0" baseline="0" noProof="0">
                <a:ln>
                  <a:noFill/>
                </a:ln>
                <a:solidFill>
                  <a:srgbClr val="000000"/>
                </a:solidFill>
                <a:effectLst/>
                <a:uLnTx/>
                <a:uFillTx/>
                <a:latin typeface="PT Sans" panose="020B0503020203020204" pitchFamily="34" charset="0"/>
                <a:ea typeface="+mn-ea"/>
                <a:cs typeface="Calibri"/>
              </a:rPr>
              <a:t>, partijen zich committeren aan het gebruik van een WDO-erkend of </a:t>
            </a:r>
            <a:r>
              <a:rPr kumimoji="0" lang="nl-NL" sz="900" b="0" i="0" u="none" strike="noStrike" kern="1200" cap="none" spc="0" normalizeH="0" baseline="0" noProof="0" err="1">
                <a:ln>
                  <a:noFill/>
                </a:ln>
                <a:solidFill>
                  <a:srgbClr val="000000"/>
                </a:solidFill>
                <a:effectLst/>
                <a:uLnTx/>
                <a:uFillTx/>
                <a:latin typeface="PT Sans" panose="020B0503020203020204" pitchFamily="34" charset="0"/>
                <a:ea typeface="+mn-ea"/>
                <a:cs typeface="Calibri"/>
              </a:rPr>
              <a:t>zorgspecifiek</a:t>
            </a:r>
            <a:r>
              <a:rPr kumimoji="0" lang="nl-NL" sz="900" b="0" i="0" u="none" strike="noStrike" kern="1200" cap="none" spc="0" normalizeH="0" baseline="0" noProof="0">
                <a:ln>
                  <a:noFill/>
                </a:ln>
                <a:solidFill>
                  <a:srgbClr val="000000"/>
                </a:solidFill>
                <a:effectLst/>
                <a:uLnTx/>
                <a:uFillTx/>
                <a:latin typeface="PT Sans" panose="020B0503020203020204" pitchFamily="34" charset="0"/>
                <a:ea typeface="+mn-ea"/>
                <a:cs typeface="Calibri"/>
              </a:rPr>
              <a:t> inlogmiddel (betrouwbaarheids-niveau ‘substantieel' of 'hoog') voor digitale authenticatie van zorgmedewerkers. </a:t>
            </a: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srgbClr val="000000"/>
                </a:solidFill>
                <a:effectLst/>
                <a:uLnTx/>
                <a:uFillTx/>
                <a:latin typeface="PT Sans" panose="020B0503020203020204" pitchFamily="34" charset="0"/>
                <a:ea typeface="+mn-ea"/>
                <a:cs typeface="Calibri"/>
              </a:rPr>
              <a:t>Zorg dat monitor op voortgang bij leveranciers en zorgaanbieders wordt ingeregeld zodat tijdig acties ondernomen kunnen worden.</a:t>
            </a: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nl-NL" sz="900" b="0" i="0" u="none" strike="noStrike" kern="1200" cap="none" spc="0" normalizeH="0" baseline="0" noProof="0">
              <a:ln>
                <a:noFill/>
              </a:ln>
              <a:solidFill>
                <a:srgbClr val="000000"/>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rPr>
              <a:t>Toestemming – </a:t>
            </a: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rPr>
              <a:t>MITZ</a:t>
            </a: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rPr>
              <a:t>Acties om gebruik (door burgers) te stimuleren. Hiervoor verkenning aansluiting (bestaande) campagnes (o.a. NVZ) en regionale campagne door zorgaanbieders. </a:t>
            </a: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rPr>
              <a:t>Adressering – </a:t>
            </a: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rPr>
              <a:t>ZORG-AB</a:t>
            </a:r>
            <a:endPar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endParaRP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rPr>
              <a:t>Maak de procesafspraak dat alle partijen zich committeren aan de landelijke oplossingen (waarschijnlijk ook Zorg-AB) en deze vullen, binnen 6 maanden  nadat deze functionaliteit beschikbaar is. Zorg dat monitoring op voortgang wordt ingeregeld zodat tijdig acties ondernomen worden.</a:t>
            </a: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endPar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rPr>
              <a:t>Autorisatie </a:t>
            </a:r>
            <a:r>
              <a:rPr kumimoji="0" lang="nl-NL" sz="900" b="1" i="1" u="none" strike="noStrike" kern="1200" cap="none" spc="0" normalizeH="0" baseline="0" noProof="0" err="1">
                <a:ln>
                  <a:noFill/>
                </a:ln>
                <a:solidFill>
                  <a:prstClr val="black"/>
                </a:solidFill>
                <a:effectLst/>
                <a:uLnTx/>
                <a:uFillTx/>
                <a:latin typeface="PT Sans" panose="020B0503020203020204" pitchFamily="34" charset="0"/>
                <a:ea typeface="+mn-ea"/>
                <a:cs typeface="Calibri"/>
              </a:rPr>
              <a:t>ntb</a:t>
            </a:r>
            <a:r>
              <a:rPr kumimoji="0" lang="nl-NL" sz="900" b="1" i="1" u="none" strike="noStrike" kern="1200" cap="none" spc="0" normalizeH="0" baseline="0" noProof="0">
                <a:ln>
                  <a:noFill/>
                </a:ln>
                <a:solidFill>
                  <a:prstClr val="black"/>
                </a:solidFill>
                <a:effectLst/>
                <a:uLnTx/>
                <a:uFillTx/>
                <a:latin typeface="PT Sans" panose="020B0503020203020204" pitchFamily="34" charset="0"/>
                <a:ea typeface="+mn-ea"/>
                <a:cs typeface="Calibri"/>
              </a:rPr>
              <a:t> volgt vanuit VWS + </a:t>
            </a:r>
            <a:r>
              <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rPr>
              <a:t>Lokalisatie </a:t>
            </a:r>
            <a:r>
              <a:rPr kumimoji="0" lang="nl-NL" sz="900" b="1" i="1" u="none" strike="noStrike" kern="1200" cap="none" spc="0" normalizeH="0" baseline="0" noProof="0">
                <a:ln>
                  <a:noFill/>
                </a:ln>
                <a:solidFill>
                  <a:prstClr val="black"/>
                </a:solidFill>
                <a:effectLst/>
                <a:uLnTx/>
                <a:uFillTx/>
                <a:latin typeface="PT Sans" panose="020B0503020203020204" pitchFamily="34" charset="0"/>
                <a:ea typeface="+mn-ea"/>
                <a:cs typeface="Calibri"/>
              </a:rPr>
              <a:t>ook vanuit VWS</a:t>
            </a:r>
            <a:endParaRPr kumimoji="0" lang="en-US" sz="900" b="0" i="1" u="none" strike="noStrike" kern="1200" cap="none" spc="0" normalizeH="0" baseline="0" noProof="0">
              <a:ln>
                <a:noFill/>
              </a:ln>
              <a:solidFill>
                <a:prstClr val="black"/>
              </a:solidFill>
              <a:effectLst/>
              <a:uLnTx/>
              <a:uFillTx/>
              <a:latin typeface="PT Sans" panose="020B0503020203020204" pitchFamily="34" charset="0"/>
              <a:ea typeface="+mn-ea"/>
              <a:cs typeface="Calibri"/>
            </a:endParaRP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rPr>
              <a:t>Maak de procesafspraak dat alle partijen zich committeren aan de toekomstige landelijke oplossing en deze vullen, binnen 6 maanden nadat deze functionaliteit beschikbaar is. </a:t>
            </a:r>
          </a:p>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Calibri"/>
              </a:rPr>
              <a:t>Zorg dat monitoring op voortgang wordt ingeregeld zodat tijdig acties ondernomen kunnen worden</a:t>
            </a:r>
          </a:p>
        </p:txBody>
      </p:sp>
      <p:cxnSp>
        <p:nvCxnSpPr>
          <p:cNvPr id="67" name="Verbindingslijn: gebogen 66">
            <a:extLst>
              <a:ext uri="{FF2B5EF4-FFF2-40B4-BE49-F238E27FC236}">
                <a16:creationId xmlns:a16="http://schemas.microsoft.com/office/drawing/2014/main" id="{ACA01367-D04E-B2E4-0BD3-687AE25DD55E}"/>
              </a:ext>
            </a:extLst>
          </p:cNvPr>
          <p:cNvCxnSpPr>
            <a:cxnSpLocks/>
          </p:cNvCxnSpPr>
          <p:nvPr/>
        </p:nvCxnSpPr>
        <p:spPr>
          <a:xfrm rot="16200000" flipH="1">
            <a:off x="2727038" y="2644528"/>
            <a:ext cx="2804829" cy="2529744"/>
          </a:xfrm>
          <a:prstGeom prst="bentConnector2">
            <a:avLst/>
          </a:prstGeom>
          <a:noFill/>
          <a:ln w="6350" cap="flat" cmpd="sng" algn="ctr">
            <a:solidFill>
              <a:srgbClr val="4472C4"/>
            </a:solidFill>
            <a:prstDash val="solid"/>
            <a:miter lim="800000"/>
            <a:tailEnd type="triangle"/>
          </a:ln>
          <a:effectLst/>
        </p:spPr>
      </p:cxnSp>
      <p:sp>
        <p:nvSpPr>
          <p:cNvPr id="68" name="Rechthoek: afgeronde hoeken 67">
            <a:extLst>
              <a:ext uri="{FF2B5EF4-FFF2-40B4-BE49-F238E27FC236}">
                <a16:creationId xmlns:a16="http://schemas.microsoft.com/office/drawing/2014/main" id="{9D285814-AA4A-5506-5943-09C30F16A1AC}"/>
              </a:ext>
            </a:extLst>
          </p:cNvPr>
          <p:cNvSpPr/>
          <p:nvPr/>
        </p:nvSpPr>
        <p:spPr>
          <a:xfrm rot="20103230">
            <a:off x="3075960" y="3442565"/>
            <a:ext cx="4054379" cy="1637997"/>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Concept</a:t>
            </a:r>
            <a:endParaRPr kumimoji="0" lang="nl-NL" sz="2800" b="1" i="1" u="none" strike="noStrike" kern="1200" cap="none" spc="0" normalizeH="0" baseline="0" noProof="0">
              <a:ln>
                <a:noFill/>
              </a:ln>
              <a:solidFill>
                <a:srgbClr val="BCC1E2"/>
              </a:solidFill>
              <a:effectLst/>
              <a:uLnTx/>
              <a:uFillTx/>
              <a:latin typeface="Verdana" panose="020B0604030504040204" pitchFamily="34" charset="0"/>
              <a:ea typeface="Verdan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nl-NL" sz="2000" b="1" i="1">
                <a:solidFill>
                  <a:srgbClr val="BCC1E2"/>
                </a:solidFill>
                <a:latin typeface="Verdana" panose="020B0604030504040204" pitchFamily="34" charset="0"/>
                <a:ea typeface="Verdana" panose="020B0604030504040204" pitchFamily="34" charset="0"/>
              </a:rPr>
              <a:t>Nog valideren, </a:t>
            </a:r>
          </a:p>
          <a:p>
            <a:pPr marL="0" marR="0" lvl="0" indent="0" algn="ctr" defTabSz="914400" rtl="0" eaLnBrk="1" fontAlgn="auto" latinLnBrk="0" hangingPunct="1">
              <a:lnSpc>
                <a:spcPct val="100000"/>
              </a:lnSpc>
              <a:spcBef>
                <a:spcPts val="0"/>
              </a:spcBef>
              <a:spcAft>
                <a:spcPts val="0"/>
              </a:spcAft>
              <a:buClrTx/>
              <a:buSzTx/>
              <a:buFontTx/>
              <a:buNone/>
              <a:tabLst/>
              <a:defRPr/>
            </a:pPr>
            <a:r>
              <a:rPr lang="nl-NL" sz="2000" b="1" i="1">
                <a:solidFill>
                  <a:srgbClr val="BCC1E2"/>
                </a:solidFill>
                <a:latin typeface="Verdana" panose="020B0604030504040204" pitchFamily="34" charset="0"/>
                <a:ea typeface="Verdana" panose="020B0604030504040204" pitchFamily="34" charset="0"/>
              </a:rPr>
              <a:t>zonodig aanpassen</a:t>
            </a:r>
            <a:endParaRPr kumimoji="0" lang="en-NL" sz="1000" b="1" i="1" u="none" strike="noStrike" kern="1200" cap="none" spc="0" normalizeH="0" baseline="0" noProof="0">
              <a:ln>
                <a:noFill/>
              </a:ln>
              <a:solidFill>
                <a:srgbClr val="BCC1E2"/>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010078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612B-5147-D717-2FFD-BA74A736C7C1}"/>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D1563C0F-EA8B-16A9-8D22-3FFA146966BA}"/>
              </a:ext>
            </a:extLst>
          </p:cNvPr>
          <p:cNvSpPr>
            <a:spLocks noGrp="1"/>
          </p:cNvSpPr>
          <p:nvPr>
            <p:ph type="title"/>
          </p:nvPr>
        </p:nvSpPr>
        <p:spPr/>
        <p:txBody>
          <a:bodyPr>
            <a:noAutofit/>
          </a:bodyPr>
          <a:lstStyle/>
          <a:p>
            <a:r>
              <a:rPr lang="nl-NL"/>
              <a:t>Tijdslijnen &amp; afspraken inzake </a:t>
            </a:r>
            <a:r>
              <a:rPr lang="nl-NL" err="1"/>
              <a:t>Wegiz</a:t>
            </a:r>
            <a:r>
              <a:rPr lang="nl-NL"/>
              <a:t> agenda</a:t>
            </a:r>
          </a:p>
        </p:txBody>
      </p:sp>
      <p:sp>
        <p:nvSpPr>
          <p:cNvPr id="3" name="Tijdelijke aanduiding voor inhoud 2">
            <a:extLst>
              <a:ext uri="{FF2B5EF4-FFF2-40B4-BE49-F238E27FC236}">
                <a16:creationId xmlns:a16="http://schemas.microsoft.com/office/drawing/2014/main" id="{9C950F04-07F4-B541-4A89-F19F65439721}"/>
              </a:ext>
            </a:extLst>
          </p:cNvPr>
          <p:cNvSpPr>
            <a:spLocks noGrp="1"/>
          </p:cNvSpPr>
          <p:nvPr>
            <p:ph idx="1"/>
          </p:nvPr>
        </p:nvSpPr>
        <p:spPr>
          <a:xfrm>
            <a:off x="425302" y="1724222"/>
            <a:ext cx="11233171" cy="4580466"/>
          </a:xfrm>
        </p:spPr>
        <p:txBody>
          <a:bodyPr vert="horz" lIns="91440" tIns="45720" rIns="91440" bIns="45720" rtlCol="0" anchor="t">
            <a:noAutofit/>
          </a:bodyPr>
          <a:lstStyle/>
          <a:p>
            <a:pPr marL="180000" lvl="1" indent="0">
              <a:buNone/>
            </a:pPr>
            <a:endParaRPr lang="nl-NL"/>
          </a:p>
        </p:txBody>
      </p:sp>
      <p:sp>
        <p:nvSpPr>
          <p:cNvPr id="2" name="Rectangle: Top Corners Rounded 38">
            <a:hlinkClick r:id="rId3" action="ppaction://hlinksldjump"/>
            <a:extLst>
              <a:ext uri="{FF2B5EF4-FFF2-40B4-BE49-F238E27FC236}">
                <a16:creationId xmlns:a16="http://schemas.microsoft.com/office/drawing/2014/main" id="{4A21693F-C2FB-08F9-9A72-B860C700B92E}"/>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4" action="ppaction://hlinksldjump"/>
            <a:extLst>
              <a:ext uri="{FF2B5EF4-FFF2-40B4-BE49-F238E27FC236}">
                <a16:creationId xmlns:a16="http://schemas.microsoft.com/office/drawing/2014/main" id="{5169EC0A-25C2-D8E2-8458-00635A47825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8" name="Rectangle: Top Corners Rounded 1">
            <a:hlinkClick r:id="rId7" action="ppaction://hlinksldjump"/>
            <a:extLst>
              <a:ext uri="{FF2B5EF4-FFF2-40B4-BE49-F238E27FC236}">
                <a16:creationId xmlns:a16="http://schemas.microsoft.com/office/drawing/2014/main" id="{4426FB0E-57A8-0ACA-93D4-D0EAB8F0EBA8}"/>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8" action="ppaction://hlinksldjump"/>
            <a:extLst>
              <a:ext uri="{FF2B5EF4-FFF2-40B4-BE49-F238E27FC236}">
                <a16:creationId xmlns:a16="http://schemas.microsoft.com/office/drawing/2014/main" id="{5FD9E272-0D7E-45F9-E6F8-692857D1C201}"/>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9" action="ppaction://hlinksldjump"/>
            <a:extLst>
              <a:ext uri="{FF2B5EF4-FFF2-40B4-BE49-F238E27FC236}">
                <a16:creationId xmlns:a16="http://schemas.microsoft.com/office/drawing/2014/main" id="{BA2C047E-5BC5-FF2A-34D4-1449ABB85792}"/>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0" action="ppaction://hlinksldjump"/>
            <a:extLst>
              <a:ext uri="{FF2B5EF4-FFF2-40B4-BE49-F238E27FC236}">
                <a16:creationId xmlns:a16="http://schemas.microsoft.com/office/drawing/2014/main" id="{98F4B2D3-0F38-3970-D6FB-0384DB300DBE}"/>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2" name="Rectangle: Top Corners Rounded 1">
            <a:hlinkClick r:id="rId11" action="ppaction://hlinksldjump"/>
            <a:extLst>
              <a:ext uri="{FF2B5EF4-FFF2-40B4-BE49-F238E27FC236}">
                <a16:creationId xmlns:a16="http://schemas.microsoft.com/office/drawing/2014/main" id="{69D1F4CA-0D0E-7BC4-E369-FFBCFDFFE8C2}"/>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2" action="ppaction://hlinksldjump"/>
            <a:extLst>
              <a:ext uri="{FF2B5EF4-FFF2-40B4-BE49-F238E27FC236}">
                <a16:creationId xmlns:a16="http://schemas.microsoft.com/office/drawing/2014/main" id="{7174529C-0448-E23E-0E4B-A5729A0431DA}"/>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3" action="ppaction://hlinksldjump"/>
            <a:extLst>
              <a:ext uri="{FF2B5EF4-FFF2-40B4-BE49-F238E27FC236}">
                <a16:creationId xmlns:a16="http://schemas.microsoft.com/office/drawing/2014/main" id="{65D5CFCA-BF72-085E-85A6-901330F6B102}"/>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4" action="ppaction://hlinksldjump"/>
            <a:extLst>
              <a:ext uri="{FF2B5EF4-FFF2-40B4-BE49-F238E27FC236}">
                <a16:creationId xmlns:a16="http://schemas.microsoft.com/office/drawing/2014/main" id="{5F9BFF9D-F9C9-435B-B3A9-5C296A95A722}"/>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5" action="ppaction://hlinksldjump"/>
            <a:extLst>
              <a:ext uri="{FF2B5EF4-FFF2-40B4-BE49-F238E27FC236}">
                <a16:creationId xmlns:a16="http://schemas.microsoft.com/office/drawing/2014/main" id="{3EE91E0F-8676-325C-4E8C-6D5F489C27ED}"/>
              </a:ext>
            </a:extLst>
          </p:cNvPr>
          <p:cNvSpPr/>
          <p:nvPr/>
        </p:nvSpPr>
        <p:spPr>
          <a:xfrm>
            <a:off x="854706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6" action="ppaction://hlinksldjump"/>
            <a:extLst>
              <a:ext uri="{FF2B5EF4-FFF2-40B4-BE49-F238E27FC236}">
                <a16:creationId xmlns:a16="http://schemas.microsoft.com/office/drawing/2014/main" id="{27F6B98A-B98F-9B3E-F002-59EA08635029}"/>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7" action="ppaction://hlinksldjump"/>
            <a:extLst>
              <a:ext uri="{FF2B5EF4-FFF2-40B4-BE49-F238E27FC236}">
                <a16:creationId xmlns:a16="http://schemas.microsoft.com/office/drawing/2014/main" id="{0DD11B92-605C-DF39-BD71-D7A567881507}"/>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7" name="Rechthoek: afgeronde hoeken 6">
            <a:extLst>
              <a:ext uri="{FF2B5EF4-FFF2-40B4-BE49-F238E27FC236}">
                <a16:creationId xmlns:a16="http://schemas.microsoft.com/office/drawing/2014/main" id="{3D2649D1-6681-0D19-0487-0D934C9F5651}"/>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
        <p:nvSpPr>
          <p:cNvPr id="34" name="Tijdelijke aanduiding voor tekst 6">
            <a:extLst>
              <a:ext uri="{FF2B5EF4-FFF2-40B4-BE49-F238E27FC236}">
                <a16:creationId xmlns:a16="http://schemas.microsoft.com/office/drawing/2014/main" id="{9F334D12-17A7-35C8-F1C8-9657BDCE9A74}"/>
              </a:ext>
            </a:extLst>
          </p:cNvPr>
          <p:cNvSpPr txBox="1">
            <a:spLocks/>
          </p:cNvSpPr>
          <p:nvPr/>
        </p:nvSpPr>
        <p:spPr>
          <a:xfrm>
            <a:off x="515936" y="1695269"/>
            <a:ext cx="1495743" cy="5311890"/>
          </a:xfrm>
          <a:prstGeom prst="roundRect">
            <a:avLst>
              <a:gd name="adj" fmla="val 3437"/>
            </a:avLst>
          </a:prstGeom>
          <a:solidFill>
            <a:srgbClr val="A5A5A5">
              <a:lumMod val="60000"/>
              <a:lumOff val="40000"/>
            </a:srgbClr>
          </a:solidFill>
        </p:spPr>
        <p:txBody>
          <a:bodyPr vert="horz" lIns="72000" tIns="360000" rIns="72000" bIns="72000" rtlCol="0">
            <a:spAutoFit/>
          </a:bodyPr>
          <a:lstStyle>
            <a:lvl1pPr marL="0" indent="0" algn="l" defTabSz="914400" rtl="0" eaLnBrk="1" latinLnBrk="0" hangingPunct="1">
              <a:lnSpc>
                <a:spcPct val="120000"/>
              </a:lnSpc>
              <a:spcBef>
                <a:spcPts val="1000"/>
              </a:spcBef>
              <a:buFont typeface="Arial" panose="020B0604020202020204" pitchFamily="34" charset="0"/>
              <a:buNone/>
              <a:defRPr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Medicatieoverdracht</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Inwerkingtreding AMvB (incl Zibs en FHIR) Voorschrijven &amp; Ter hand stellen voor: Huisarts naar Apotheek per 01/01/24 en Huisarts naar patient per 01/07/24</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eOverdracht</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PoC met Dataplatform en Viewer: Inzien/raadplegen eOverdracht data getoetst - voor 3ZH/2VVT/GGZ</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Met spoed beschikbaar</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Doorstart van Programma 'Met spoed beschikbaar 2.0' voor alle partijen in acute zorgketen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hlinkClick r:id="rId18"/>
              </a:rPr>
              <a:t>zie hier</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Duwen op uitbreiding van de scope; middels "standaarden“ Regionale coordinatierol vormgeven samen met ROAZ en procesafspraken maken over transformatie-aanvragen en monitoring</a:t>
            </a:r>
          </a:p>
        </p:txBody>
      </p:sp>
      <p:sp>
        <p:nvSpPr>
          <p:cNvPr id="35" name="Tijdelijke aanduiding voor tekst 3">
            <a:extLst>
              <a:ext uri="{FF2B5EF4-FFF2-40B4-BE49-F238E27FC236}">
                <a16:creationId xmlns:a16="http://schemas.microsoft.com/office/drawing/2014/main" id="{5FC5BC50-92E4-184E-B9A9-6D0232C0701A}"/>
              </a:ext>
            </a:extLst>
          </p:cNvPr>
          <p:cNvSpPr txBox="1">
            <a:spLocks/>
          </p:cNvSpPr>
          <p:nvPr/>
        </p:nvSpPr>
        <p:spPr>
          <a:xfrm>
            <a:off x="2142066" y="1695268"/>
            <a:ext cx="1439862" cy="4058236"/>
          </a:xfrm>
          <a:prstGeom prst="roundRect">
            <a:avLst>
              <a:gd name="adj" fmla="val 3437"/>
            </a:avLst>
          </a:prstGeom>
          <a:solidFill>
            <a:srgbClr val="A5A5A5">
              <a:lumMod val="60000"/>
              <a:lumOff val="40000"/>
            </a:srgbClr>
          </a:solidFill>
        </p:spPr>
        <p:txBody>
          <a:bodyPr vert="horz" lIns="72000" tIns="360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Medicatieoverdracht</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Per zorgaanbieder /regio:</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breng huidige processen in kaart</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volg implementatie bij leveranciers</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sluit aan bij LSP</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eOverdracht</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evt. Aanmelden bij eOverdracht ICTU voor ondersteuning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Twiin portaal+</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Volgen ontwikkelingen rondom update van bestaande oplossingen: Twiin portaal Plus en landelijk XDS</a:t>
            </a: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t>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t>(</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hlinkClick r:id="rId19"/>
              </a:rPr>
              <a:t>zie hier</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t>Met spoed beschikbaar</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b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A</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ndere sectoren die hiermee te maken hebben stimuleren dat ook te doen. </a:t>
            </a:r>
            <a:r>
              <a:rPr kumimoji="0" lang="nl-NL" sz="900" b="0" i="0" u="none" strike="noStrike" kern="1200" cap="none" spc="0" normalizeH="0" baseline="0" noProof="0">
                <a:ln>
                  <a:noFill/>
                </a:ln>
                <a:solidFill>
                  <a:sysClr val="windowText" lastClr="000000"/>
                </a:solidFill>
                <a:effectLst/>
                <a:highlight>
                  <a:srgbClr val="FFFF00"/>
                </a:highlight>
                <a:uLnTx/>
                <a:uFillTx/>
                <a:latin typeface="PT Sans" panose="020B0503020203020204" pitchFamily="34" charset="77"/>
                <a:ea typeface="+mn-ea"/>
                <a:cs typeface="+mn-cs"/>
              </a:rPr>
              <a:t>Actiehouder</a:t>
            </a:r>
            <a:endParaRPr kumimoji="0" lang="nl-NL" sz="900" b="1" i="0" u="none" strike="noStrike" kern="1200" cap="none" spc="0" normalizeH="0" baseline="0" noProof="0">
              <a:ln>
                <a:noFill/>
              </a:ln>
              <a:solidFill>
                <a:sysClr val="windowText" lastClr="000000"/>
              </a:solidFill>
              <a:effectLst/>
              <a:highlight>
                <a:srgbClr val="FFFF00"/>
              </a:highlight>
              <a:uLnTx/>
              <a:uFillTx/>
              <a:latin typeface="PT Sans" panose="020B0503020203020204" pitchFamily="34" charset="77"/>
              <a:ea typeface="+mn-ea"/>
              <a:cs typeface="Calibri"/>
            </a:endParaRPr>
          </a:p>
        </p:txBody>
      </p:sp>
      <p:sp>
        <p:nvSpPr>
          <p:cNvPr id="36" name="Tijdelijke aanduiding voor tekst 4">
            <a:extLst>
              <a:ext uri="{FF2B5EF4-FFF2-40B4-BE49-F238E27FC236}">
                <a16:creationId xmlns:a16="http://schemas.microsoft.com/office/drawing/2014/main" id="{624BF277-B1BF-6C36-B9A6-20164FE2E159}"/>
              </a:ext>
            </a:extLst>
          </p:cNvPr>
          <p:cNvSpPr txBox="1">
            <a:spLocks/>
          </p:cNvSpPr>
          <p:nvPr/>
        </p:nvSpPr>
        <p:spPr>
          <a:xfrm>
            <a:off x="3768195" y="1695268"/>
            <a:ext cx="1439862" cy="2907106"/>
          </a:xfrm>
          <a:prstGeom prst="roundRect">
            <a:avLst>
              <a:gd name="adj" fmla="val 3437"/>
            </a:avLst>
          </a:prstGeom>
          <a:solidFill>
            <a:srgbClr val="A5A5A5">
              <a:lumMod val="60000"/>
              <a:lumOff val="40000"/>
            </a:srgbClr>
          </a:solidFill>
        </p:spPr>
        <p:txBody>
          <a:bodyPr vert="horz" lIns="72000" tIns="360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BGZ – VIPP5</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Stimuleer aansluiten bij Twiin voor uitwisseling BgZ volgens TA Notified Pull als zorgaanbieder of als regio-organisatie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hlinkClick r:id="rId20"/>
              </a:rPr>
              <a:t>zie hier</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a:t>
            </a:r>
            <a:endPar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Medicatieoverdracht</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Volg begeleide uitrol in Kickstart regio's en kijk welke stappen er  door de andere regio(partijen) al genomen kunnen worden</a:t>
            </a: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t>.</a:t>
            </a:r>
            <a:endPar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endParaRPr>
          </a:p>
        </p:txBody>
      </p:sp>
      <p:sp>
        <p:nvSpPr>
          <p:cNvPr id="37" name="Tijdelijke aanduiding voor tekst 5">
            <a:extLst>
              <a:ext uri="{FF2B5EF4-FFF2-40B4-BE49-F238E27FC236}">
                <a16:creationId xmlns:a16="http://schemas.microsoft.com/office/drawing/2014/main" id="{1807FA6F-D49B-7F6B-3568-8C992554D6C5}"/>
              </a:ext>
            </a:extLst>
          </p:cNvPr>
          <p:cNvSpPr txBox="1">
            <a:spLocks/>
          </p:cNvSpPr>
          <p:nvPr/>
        </p:nvSpPr>
        <p:spPr>
          <a:xfrm>
            <a:off x="5394324" y="1695268"/>
            <a:ext cx="1439862" cy="3339899"/>
          </a:xfrm>
          <a:prstGeom prst="roundRect">
            <a:avLst>
              <a:gd name="adj" fmla="val 3437"/>
            </a:avLst>
          </a:prstGeom>
          <a:solidFill>
            <a:srgbClr val="A5A5A5">
              <a:lumMod val="60000"/>
              <a:lumOff val="40000"/>
            </a:srgbClr>
          </a:solidFill>
        </p:spPr>
        <p:txBody>
          <a:bodyPr vert="horz" lIns="72000" tIns="360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BGZ – VIPP5</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Publicatie AMvB verwacht voor MSZ (incl. PGO).</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UC 2.1 (snelle toets Trijn): MSZ instellingen kunnen BgZ en correspondentie digitaal verzenden + ontvangen  &amp; voldoen aan kwaliteitsstandaard BgZ &amp; Informatiestandaard BgZ &amp; NEN norm 7540</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eOverdracht</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Zelfscan per aanbieder (</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hlinkClick r:id="rId21"/>
              </a:rPr>
              <a:t>zie hier</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t>
            </a:r>
            <a:endPar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38" name="Tijdelijke aanduiding voor tekst 7">
            <a:extLst>
              <a:ext uri="{FF2B5EF4-FFF2-40B4-BE49-F238E27FC236}">
                <a16:creationId xmlns:a16="http://schemas.microsoft.com/office/drawing/2014/main" id="{5230490B-6112-FF54-1811-EE41AB0DE5EF}"/>
              </a:ext>
            </a:extLst>
          </p:cNvPr>
          <p:cNvSpPr txBox="1">
            <a:spLocks/>
          </p:cNvSpPr>
          <p:nvPr/>
        </p:nvSpPr>
        <p:spPr>
          <a:xfrm>
            <a:off x="7020453" y="1695268"/>
            <a:ext cx="1439862" cy="2029746"/>
          </a:xfrm>
          <a:prstGeom prst="roundRect">
            <a:avLst>
              <a:gd name="adj" fmla="val 3437"/>
            </a:avLst>
          </a:prstGeom>
          <a:solidFill>
            <a:srgbClr val="A5A5A5">
              <a:lumMod val="60000"/>
              <a:lumOff val="40000"/>
            </a:srgbClr>
          </a:solidFill>
        </p:spPr>
        <p:txBody>
          <a:bodyPr vert="horz" lIns="72000" tIns="360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BGZ- VIPP5</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CDA naar FHIR MSZ leveranciers zijn aan zet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Medicatieoverdracht</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Publicatie AMvB Medicatiegegevens.</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t>eOverdracht</a:t>
            </a:r>
            <a:b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77"/>
                <a:ea typeface="+mn-ea"/>
                <a:cs typeface="Calibri"/>
              </a:rPr>
              <a:t>Publicatie AMvB</a:t>
            </a:r>
            <a:endPar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39" name="Tijdelijke aanduiding voor tekst 8">
            <a:extLst>
              <a:ext uri="{FF2B5EF4-FFF2-40B4-BE49-F238E27FC236}">
                <a16:creationId xmlns:a16="http://schemas.microsoft.com/office/drawing/2014/main" id="{3DDF95B2-A818-854A-DBF0-15632492D2FE}"/>
              </a:ext>
            </a:extLst>
          </p:cNvPr>
          <p:cNvSpPr txBox="1">
            <a:spLocks/>
          </p:cNvSpPr>
          <p:nvPr/>
        </p:nvSpPr>
        <p:spPr>
          <a:xfrm>
            <a:off x="8646582" y="1695268"/>
            <a:ext cx="1439862" cy="2365359"/>
          </a:xfrm>
          <a:prstGeom prst="roundRect">
            <a:avLst>
              <a:gd name="adj" fmla="val 3437"/>
            </a:avLst>
          </a:prstGeom>
          <a:solidFill>
            <a:srgbClr val="A5A5A5">
              <a:lumMod val="60000"/>
              <a:lumOff val="40000"/>
            </a:srgbClr>
          </a:solidFill>
        </p:spPr>
        <p:txBody>
          <a:bodyPr vert="horz" lIns="72000" tIns="360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BGZ – VIPP5</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Inwerkingtreding AMvB voor MSZ (incl. PGO) verwacht.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Medicatieoverdracht</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Stimuleer stappen ten behoeve van brede uitrol van Medicatieoverdracht in alle segmenten</a:t>
            </a: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endPar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endParaRPr>
          </a:p>
        </p:txBody>
      </p:sp>
      <p:sp>
        <p:nvSpPr>
          <p:cNvPr id="40" name="Tijdelijke aanduiding voor tekst 9">
            <a:extLst>
              <a:ext uri="{FF2B5EF4-FFF2-40B4-BE49-F238E27FC236}">
                <a16:creationId xmlns:a16="http://schemas.microsoft.com/office/drawing/2014/main" id="{12B80532-21A9-8322-C176-7EE1D33029D9}"/>
              </a:ext>
            </a:extLst>
          </p:cNvPr>
          <p:cNvSpPr txBox="1">
            <a:spLocks/>
          </p:cNvSpPr>
          <p:nvPr/>
        </p:nvSpPr>
        <p:spPr>
          <a:xfrm>
            <a:off x="10272712" y="1695268"/>
            <a:ext cx="1591949" cy="4745412"/>
          </a:xfrm>
          <a:prstGeom prst="roundRect">
            <a:avLst>
              <a:gd name="adj" fmla="val 3437"/>
            </a:avLst>
          </a:prstGeom>
          <a:solidFill>
            <a:srgbClr val="A5A5A5">
              <a:lumMod val="60000"/>
              <a:lumOff val="40000"/>
            </a:srgbClr>
          </a:solidFill>
        </p:spPr>
        <p:txBody>
          <a:bodyPr vert="horz" wrap="square" lIns="72000" tIns="360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Medicatieoverdracht</a:t>
            </a:r>
            <a:b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b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Calibri"/>
              </a:rPr>
              <a:t>UC 2.2 (snelle toets aanvraagTrijn):Voor 2027 in gebruik in alle segmenten/sectoren:</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MP9+Labwaarden+CIO</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NEN7503+NEN 7542</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UC 2.3 (snelle toets aanvraag Trijn): </a:t>
            </a: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Voor 2027 in gebruik in MSZ-VVT-(GGZ):</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Dataset eOverdracht verzenden/beschikbaar stellen/opvragen/ ontvangen/overnemen</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77"/>
                <a:ea typeface="+mn-ea"/>
                <a:cs typeface="+mn-cs"/>
              </a:rPr>
              <a:t>UC 2.4 (snelle toets aanvraag Trijn): in gebruik in MSZ-SEH-HAP-HA-Meldkamer/ZCC/Ambulance:</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Alle verwijzingen+ overdrachten digitaal+gestructureerd terugkoppeling</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sng"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voldoen aan Informatiestandaard+Kwaliteitsstandaard+NEN7545</a:t>
            </a:r>
          </a:p>
        </p:txBody>
      </p:sp>
      <p:sp>
        <p:nvSpPr>
          <p:cNvPr id="48" name="Tijdelijke aanduiding voor tekst 8">
            <a:extLst>
              <a:ext uri="{FF2B5EF4-FFF2-40B4-BE49-F238E27FC236}">
                <a16:creationId xmlns:a16="http://schemas.microsoft.com/office/drawing/2014/main" id="{5ACB630B-8597-3555-67EA-58E9078DC896}"/>
              </a:ext>
            </a:extLst>
          </p:cNvPr>
          <p:cNvSpPr txBox="1">
            <a:spLocks/>
          </p:cNvSpPr>
          <p:nvPr/>
        </p:nvSpPr>
        <p:spPr>
          <a:xfrm>
            <a:off x="3639134" y="5085582"/>
            <a:ext cx="6598072" cy="1830137"/>
          </a:xfrm>
          <a:prstGeom prst="roundRect">
            <a:avLst>
              <a:gd name="adj" fmla="val 3437"/>
            </a:avLst>
          </a:prstGeom>
          <a:solidFill>
            <a:srgbClr val="A5A5A5">
              <a:lumMod val="60000"/>
              <a:lumOff val="40000"/>
            </a:srgbClr>
          </a:solidFill>
        </p:spPr>
        <p:txBody>
          <a:bodyPr vert="horz" wrap="square" lIns="72000" tIns="72000" rIns="72000" bIns="7200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0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1" i="0" u="sng" strike="noStrike" kern="1200" cap="none" spc="0" normalizeH="0" baseline="0" noProof="0">
                <a:ln>
                  <a:noFill/>
                </a:ln>
                <a:solidFill>
                  <a:prstClr val="black"/>
                </a:solidFill>
                <a:effectLst/>
                <a:uLnTx/>
                <a:uFillTx/>
                <a:latin typeface="PT Sans" panose="020B0503020203020204" pitchFamily="34" charset="0"/>
                <a:ea typeface="+mn-ea"/>
                <a:cs typeface="Calibri"/>
              </a:rPr>
              <a:t>Overige afspraken:</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prstClr val="black"/>
                </a:solidFill>
                <a:effectLst/>
                <a:uLnTx/>
                <a:uFillTx/>
                <a:latin typeface="PT Sans" panose="020B0503020203020204" pitchFamily="34" charset="0"/>
                <a:ea typeface="+mn-ea"/>
                <a:cs typeface="Calibri"/>
              </a:rPr>
              <a:t>BGZ – VIPP5</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prstClr val="black"/>
                </a:solidFill>
                <a:effectLst/>
                <a:highlight>
                  <a:srgbClr val="FFFF00"/>
                </a:highlight>
                <a:uLnTx/>
                <a:uFillTx/>
                <a:latin typeface="PT Sans" panose="020B0503020203020204" pitchFamily="34" charset="77"/>
                <a:ea typeface="+mn-ea"/>
                <a:cs typeface="+mn-cs"/>
              </a:rPr>
              <a:t>XXX</a:t>
            </a:r>
            <a:r>
              <a:rPr kumimoji="0" lang="nl-NL" sz="900" b="0" i="0" u="none" strike="noStrike" kern="1200" cap="none" spc="0" normalizeH="0" baseline="0" noProof="0">
                <a:ln>
                  <a:noFill/>
                </a:ln>
                <a:solidFill>
                  <a:prstClr val="black"/>
                </a:solidFill>
                <a:effectLst/>
                <a:uLnTx/>
                <a:uFillTx/>
                <a:latin typeface="PT Sans" panose="020B0503020203020204" pitchFamily="34" charset="77"/>
                <a:ea typeface="+mn-ea"/>
                <a:cs typeface="+mn-cs"/>
              </a:rPr>
              <a:t> monitort conform tijdslijnen </a:t>
            </a:r>
            <a:r>
              <a:rPr kumimoji="0" lang="nl-NL" sz="900" b="0" i="0" u="none" strike="noStrike" kern="1200" cap="none" spc="0" normalizeH="0" baseline="0" noProof="0" err="1">
                <a:ln>
                  <a:noFill/>
                </a:ln>
                <a:solidFill>
                  <a:prstClr val="black"/>
                </a:solidFill>
                <a:effectLst/>
                <a:uLnTx/>
                <a:uFillTx/>
                <a:latin typeface="PT Sans" panose="020B0503020203020204" pitchFamily="34" charset="77"/>
                <a:ea typeface="+mn-ea"/>
                <a:cs typeface="+mn-cs"/>
              </a:rPr>
              <a:t>Wegiz</a:t>
            </a:r>
            <a:r>
              <a:rPr kumimoji="0" lang="nl-NL" sz="900" b="0" i="0" u="none" strike="noStrike" kern="1200" cap="none" spc="0" normalizeH="0" baseline="0" noProof="0">
                <a:ln>
                  <a:noFill/>
                </a:ln>
                <a:solidFill>
                  <a:prstClr val="black"/>
                </a:solidFill>
                <a:effectLst/>
                <a:uLnTx/>
                <a:uFillTx/>
                <a:latin typeface="PT Sans" panose="020B0503020203020204" pitchFamily="34" charset="77"/>
                <a:ea typeface="+mn-ea"/>
                <a:cs typeface="+mn-cs"/>
              </a:rPr>
              <a:t>, de voortgang en bestendiging op dit thema per kwartaal bij MSZ zorgaanbieders.</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prstClr val="black"/>
                </a:solidFill>
                <a:effectLst/>
                <a:uLnTx/>
                <a:uFillTx/>
                <a:latin typeface="PT Sans" panose="020B0503020203020204" pitchFamily="34" charset="77"/>
                <a:ea typeface="+mn-ea"/>
                <a:cs typeface="+mn-cs"/>
              </a:rPr>
              <a:t>Beeldbeschikbaarheid – </a:t>
            </a:r>
            <a:r>
              <a:rPr kumimoji="0" lang="nl-NL" sz="900" b="1" i="0" u="none" strike="noStrike" kern="1200" cap="none" spc="0" normalizeH="0" baseline="0" noProof="0" err="1">
                <a:ln>
                  <a:noFill/>
                </a:ln>
                <a:solidFill>
                  <a:prstClr val="black"/>
                </a:solidFill>
                <a:effectLst/>
                <a:uLnTx/>
                <a:uFillTx/>
                <a:latin typeface="PT Sans" panose="020B0503020203020204" pitchFamily="34" charset="77"/>
                <a:ea typeface="+mn-ea"/>
                <a:cs typeface="+mn-cs"/>
              </a:rPr>
              <a:t>Twiin</a:t>
            </a:r>
            <a:r>
              <a:rPr kumimoji="0" lang="nl-NL" sz="900" b="1" i="0" u="none" strike="noStrike" kern="1200" cap="none" spc="0" normalizeH="0" baseline="0" noProof="0">
                <a:ln>
                  <a:noFill/>
                </a:ln>
                <a:solidFill>
                  <a:prstClr val="black"/>
                </a:solidFill>
                <a:effectLst/>
                <a:uLnTx/>
                <a:uFillTx/>
                <a:latin typeface="PT Sans" panose="020B0503020203020204" pitchFamily="34" charset="77"/>
                <a:ea typeface="+mn-ea"/>
                <a:cs typeface="+mn-cs"/>
              </a:rPr>
              <a:t> portaal+</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mn-cs"/>
              </a:rPr>
              <a:t>Breng bestaande aansluitingen in de regio in beeld en stimuleer beweging naar landelijke oplossingen in afstemming met de MSZ zorgaanbieders. </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mn-cs"/>
              </a:rPr>
              <a:t>Monitor de voortgang op dit thema  per kwartaal</a:t>
            </a:r>
            <a:r>
              <a:rPr kumimoji="0" lang="nl-NL" sz="900" b="0"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nl-NL" sz="900" b="1" i="0" u="none" strike="noStrike" kern="1200" cap="none" spc="0" normalizeH="0" baseline="0" noProof="0">
                <a:ln>
                  <a:noFill/>
                </a:ln>
                <a:solidFill>
                  <a:sysClr val="windowText" lastClr="000000"/>
                </a:solidFill>
                <a:effectLst/>
                <a:uLnTx/>
                <a:uFillTx/>
                <a:latin typeface="PT Sans" panose="020B0503020203020204" pitchFamily="34" charset="0"/>
                <a:ea typeface="+mn-ea"/>
                <a:cs typeface="+mn-cs"/>
              </a:rPr>
              <a:t>Met spoed beschikbaar</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mn-cs"/>
              </a:rPr>
              <a:t>Politie/</a:t>
            </a:r>
            <a:r>
              <a:rPr kumimoji="0" lang="nl-NL" sz="900" b="0" i="0" u="none" strike="noStrike" kern="1200" cap="none" spc="0" normalizeH="0" baseline="0" noProof="0" err="1">
                <a:ln>
                  <a:noFill/>
                </a:ln>
                <a:solidFill>
                  <a:prstClr val="black"/>
                </a:solidFill>
                <a:effectLst/>
                <a:uLnTx/>
                <a:uFillTx/>
                <a:latin typeface="PT Sans" panose="020B0503020203020204" pitchFamily="34" charset="0"/>
                <a:ea typeface="+mn-ea"/>
                <a:cs typeface="+mn-cs"/>
              </a:rPr>
              <a:t>BOA's</a:t>
            </a: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mn-cs"/>
              </a:rPr>
              <a:t> ook hierin meenemen en in </a:t>
            </a:r>
            <a:r>
              <a:rPr kumimoji="0" lang="nl-NL" sz="900" b="0" i="0" u="none" strike="noStrike" kern="1200" cap="none" spc="0" normalizeH="0" baseline="0" noProof="0" err="1">
                <a:ln>
                  <a:noFill/>
                </a:ln>
                <a:solidFill>
                  <a:prstClr val="black"/>
                </a:solidFill>
                <a:effectLst/>
                <a:uLnTx/>
                <a:uFillTx/>
                <a:latin typeface="PT Sans" panose="020B0503020203020204" pitchFamily="34" charset="0"/>
                <a:ea typeface="+mn-ea"/>
                <a:cs typeface="+mn-cs"/>
              </a:rPr>
              <a:t>RTA's</a:t>
            </a: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mn-cs"/>
              </a:rPr>
              <a:t> opnemen</a:t>
            </a:r>
          </a:p>
          <a:p>
            <a:pPr marL="228600" marR="0" lvl="0" indent="-22860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nl-NL" sz="900" b="0" i="0" u="none" strike="noStrike" kern="1200" cap="none" spc="0" normalizeH="0" baseline="0" noProof="0">
                <a:ln>
                  <a:noFill/>
                </a:ln>
                <a:solidFill>
                  <a:prstClr val="black"/>
                </a:solidFill>
                <a:effectLst/>
                <a:uLnTx/>
                <a:uFillTx/>
                <a:latin typeface="PT Sans" panose="020B0503020203020204" pitchFamily="34" charset="0"/>
                <a:ea typeface="+mn-ea"/>
                <a:cs typeface="+mn-cs"/>
              </a:rPr>
              <a:t>Nagaan welke informatie nodig is, wat er mag (wettelijk) en bij welke wensen dit moet aansluiten.</a:t>
            </a:r>
          </a:p>
        </p:txBody>
      </p:sp>
      <p:cxnSp>
        <p:nvCxnSpPr>
          <p:cNvPr id="49" name="Verbindingslijn: gebogen 48">
            <a:extLst>
              <a:ext uri="{FF2B5EF4-FFF2-40B4-BE49-F238E27FC236}">
                <a16:creationId xmlns:a16="http://schemas.microsoft.com/office/drawing/2014/main" id="{2827A09C-F0F5-9803-F49C-0574869CAFFD}"/>
              </a:ext>
            </a:extLst>
          </p:cNvPr>
          <p:cNvCxnSpPr>
            <a:cxnSpLocks/>
            <a:endCxn id="48" idx="0"/>
          </p:cNvCxnSpPr>
          <p:nvPr/>
        </p:nvCxnSpPr>
        <p:spPr>
          <a:xfrm rot="16200000" flipH="1">
            <a:off x="3493850" y="1641262"/>
            <a:ext cx="3596928" cy="3291712"/>
          </a:xfrm>
          <a:prstGeom prst="bentConnector3">
            <a:avLst>
              <a:gd name="adj1" fmla="val 97085"/>
            </a:avLst>
          </a:prstGeom>
          <a:noFill/>
          <a:ln w="6350" cap="flat" cmpd="sng" algn="ctr">
            <a:solidFill>
              <a:srgbClr val="4472C4"/>
            </a:solidFill>
            <a:prstDash val="solid"/>
            <a:miter lim="800000"/>
            <a:tailEnd type="triangle"/>
          </a:ln>
          <a:effectLst/>
        </p:spPr>
      </p:cxnSp>
      <p:sp>
        <p:nvSpPr>
          <p:cNvPr id="59" name="Tijdelijke aanduiding voor tekst 10">
            <a:extLst>
              <a:ext uri="{FF2B5EF4-FFF2-40B4-BE49-F238E27FC236}">
                <a16:creationId xmlns:a16="http://schemas.microsoft.com/office/drawing/2014/main" id="{8A043A54-95F1-4014-604D-D10B68280EFF}"/>
              </a:ext>
            </a:extLst>
          </p:cNvPr>
          <p:cNvSpPr txBox="1">
            <a:spLocks/>
          </p:cNvSpPr>
          <p:nvPr/>
        </p:nvSpPr>
        <p:spPr>
          <a:xfrm>
            <a:off x="778668" y="1077950"/>
            <a:ext cx="914400" cy="914400"/>
          </a:xfrm>
          <a:prstGeom prst="ellipse">
            <a:avLst/>
          </a:prstGeom>
          <a:solidFill>
            <a:schemeClr val="accent6"/>
          </a:solidFill>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Calibri"/>
              </a:rPr>
              <a:t>2024 Q2</a:t>
            </a:r>
          </a:p>
        </p:txBody>
      </p:sp>
      <p:sp>
        <p:nvSpPr>
          <p:cNvPr id="60" name="Tijdelijke aanduiding voor tekst 11">
            <a:extLst>
              <a:ext uri="{FF2B5EF4-FFF2-40B4-BE49-F238E27FC236}">
                <a16:creationId xmlns:a16="http://schemas.microsoft.com/office/drawing/2014/main" id="{AC4BB331-5B29-C572-2C07-2CBFE51E1E00}"/>
              </a:ext>
            </a:extLst>
          </p:cNvPr>
          <p:cNvSpPr txBox="1">
            <a:spLocks/>
          </p:cNvSpPr>
          <p:nvPr/>
        </p:nvSpPr>
        <p:spPr>
          <a:xfrm>
            <a:off x="2405062" y="107795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2024</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Q4</a:t>
            </a:r>
          </a:p>
        </p:txBody>
      </p:sp>
      <p:sp>
        <p:nvSpPr>
          <p:cNvPr id="61" name="Tijdelijke aanduiding voor tekst 12">
            <a:extLst>
              <a:ext uri="{FF2B5EF4-FFF2-40B4-BE49-F238E27FC236}">
                <a16:creationId xmlns:a16="http://schemas.microsoft.com/office/drawing/2014/main" id="{C59629E9-79B1-7C94-D690-97E0E45E694F}"/>
              </a:ext>
            </a:extLst>
          </p:cNvPr>
          <p:cNvSpPr txBox="1">
            <a:spLocks/>
          </p:cNvSpPr>
          <p:nvPr/>
        </p:nvSpPr>
        <p:spPr>
          <a:xfrm>
            <a:off x="4031456" y="107795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Q1</a:t>
            </a:r>
          </a:p>
        </p:txBody>
      </p:sp>
      <p:sp>
        <p:nvSpPr>
          <p:cNvPr id="62" name="Tijdelijke aanduiding voor tekst 13">
            <a:extLst>
              <a:ext uri="{FF2B5EF4-FFF2-40B4-BE49-F238E27FC236}">
                <a16:creationId xmlns:a16="http://schemas.microsoft.com/office/drawing/2014/main" id="{5DF48EB3-4C1E-4398-C445-3E647A58D7B0}"/>
              </a:ext>
            </a:extLst>
          </p:cNvPr>
          <p:cNvSpPr txBox="1">
            <a:spLocks/>
          </p:cNvSpPr>
          <p:nvPr/>
        </p:nvSpPr>
        <p:spPr>
          <a:xfrm>
            <a:off x="5657850" y="107795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Q2</a:t>
            </a:r>
          </a:p>
        </p:txBody>
      </p:sp>
      <p:sp>
        <p:nvSpPr>
          <p:cNvPr id="63" name="Tijdelijke aanduiding voor tekst 14">
            <a:extLst>
              <a:ext uri="{FF2B5EF4-FFF2-40B4-BE49-F238E27FC236}">
                <a16:creationId xmlns:a16="http://schemas.microsoft.com/office/drawing/2014/main" id="{DEB01DBF-A003-47F4-7AF5-2365933C32A7}"/>
              </a:ext>
            </a:extLst>
          </p:cNvPr>
          <p:cNvSpPr txBox="1">
            <a:spLocks/>
          </p:cNvSpPr>
          <p:nvPr/>
        </p:nvSpPr>
        <p:spPr>
          <a:xfrm>
            <a:off x="7284244" y="1077950"/>
            <a:ext cx="914400" cy="914400"/>
          </a:xfrm>
          <a:prstGeom prst="ellipse">
            <a:avLst/>
          </a:prstGeom>
          <a:solidFill>
            <a:schemeClr val="accent6"/>
          </a:solidFill>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Q3</a:t>
            </a:r>
          </a:p>
        </p:txBody>
      </p:sp>
      <p:sp>
        <p:nvSpPr>
          <p:cNvPr id="64" name="Tijdelijke aanduiding voor tekst 15">
            <a:extLst>
              <a:ext uri="{FF2B5EF4-FFF2-40B4-BE49-F238E27FC236}">
                <a16:creationId xmlns:a16="http://schemas.microsoft.com/office/drawing/2014/main" id="{4EAB39ED-16C0-8D6D-6000-4739C985628F}"/>
              </a:ext>
            </a:extLst>
          </p:cNvPr>
          <p:cNvSpPr txBox="1">
            <a:spLocks/>
          </p:cNvSpPr>
          <p:nvPr/>
        </p:nvSpPr>
        <p:spPr>
          <a:xfrm>
            <a:off x="8910638" y="1077950"/>
            <a:ext cx="914400" cy="914400"/>
          </a:xfrm>
          <a:prstGeom prst="ellipse">
            <a:avLst/>
          </a:prstGeom>
          <a:solidFill>
            <a:schemeClr val="accent6"/>
          </a:solidFill>
        </p:spPr>
        <p:txBody>
          <a:bodyPr vert="horz"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1800" b="1"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Q4</a:t>
            </a:r>
          </a:p>
        </p:txBody>
      </p:sp>
      <p:sp>
        <p:nvSpPr>
          <p:cNvPr id="65" name="Tijdelijke aanduiding voor tekst 16">
            <a:extLst>
              <a:ext uri="{FF2B5EF4-FFF2-40B4-BE49-F238E27FC236}">
                <a16:creationId xmlns:a16="http://schemas.microsoft.com/office/drawing/2014/main" id="{3B4950A2-9609-72F6-666E-6248835E7BF2}"/>
              </a:ext>
            </a:extLst>
          </p:cNvPr>
          <p:cNvSpPr txBox="1">
            <a:spLocks/>
          </p:cNvSpPr>
          <p:nvPr/>
        </p:nvSpPr>
        <p:spPr>
          <a:xfrm>
            <a:off x="10537031" y="1077950"/>
            <a:ext cx="914400" cy="914400"/>
          </a:xfrm>
          <a:prstGeom prst="ellipse">
            <a:avLst/>
          </a:prstGeom>
          <a:solidFill>
            <a:schemeClr val="accent6"/>
          </a:solidFill>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nl-NL"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2026</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nl-NL" sz="1700" b="1" i="0" u="none" strike="noStrike" kern="1200" cap="none" spc="0" normalizeH="0" baseline="0" noProof="0">
                <a:ln>
                  <a:noFill/>
                </a:ln>
                <a:solidFill>
                  <a:sysClr val="windowText" lastClr="000000"/>
                </a:solidFill>
                <a:effectLst/>
                <a:uLnTx/>
                <a:uFillTx/>
                <a:latin typeface="Calibri" panose="020F0502020204030204"/>
                <a:ea typeface="+mn-ea"/>
                <a:cs typeface="+mn-cs"/>
              </a:rPr>
              <a:t>Q1</a:t>
            </a:r>
          </a:p>
        </p:txBody>
      </p:sp>
      <p:sp>
        <p:nvSpPr>
          <p:cNvPr id="50" name="Rechthoek: afgeronde hoeken 49">
            <a:extLst>
              <a:ext uri="{FF2B5EF4-FFF2-40B4-BE49-F238E27FC236}">
                <a16:creationId xmlns:a16="http://schemas.microsoft.com/office/drawing/2014/main" id="{085C9249-012E-9BB6-D336-0D5728E72A0E}"/>
              </a:ext>
            </a:extLst>
          </p:cNvPr>
          <p:cNvSpPr/>
          <p:nvPr/>
        </p:nvSpPr>
        <p:spPr>
          <a:xfrm rot="20103230">
            <a:off x="3882023" y="3193815"/>
            <a:ext cx="4054379" cy="1637997"/>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3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Concept</a:t>
            </a:r>
            <a:endParaRPr kumimoji="0" lang="nl-NL" sz="2800" b="1" i="1" u="none" strike="noStrike" kern="1200" cap="none" spc="0" normalizeH="0" baseline="0" noProof="0">
              <a:ln>
                <a:noFill/>
              </a:ln>
              <a:solidFill>
                <a:srgbClr val="BCC1E2"/>
              </a:solidFill>
              <a:effectLst/>
              <a:uLnTx/>
              <a:uFillTx/>
              <a:latin typeface="Verdana" panose="020B0604030504040204" pitchFamily="34" charset="0"/>
              <a:ea typeface="Verdan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nl-NL" sz="2000" b="1" i="1">
                <a:solidFill>
                  <a:srgbClr val="BCC1E2"/>
                </a:solidFill>
                <a:latin typeface="Verdana" panose="020B0604030504040204" pitchFamily="34" charset="0"/>
                <a:ea typeface="Verdana" panose="020B0604030504040204" pitchFamily="34" charset="0"/>
              </a:rPr>
              <a:t>Nog valideren, </a:t>
            </a:r>
          </a:p>
          <a:p>
            <a:pPr marL="0" marR="0" lvl="0" indent="0" algn="ctr" defTabSz="914400" rtl="0" eaLnBrk="1" fontAlgn="auto" latinLnBrk="0" hangingPunct="1">
              <a:lnSpc>
                <a:spcPct val="100000"/>
              </a:lnSpc>
              <a:spcBef>
                <a:spcPts val="0"/>
              </a:spcBef>
              <a:spcAft>
                <a:spcPts val="0"/>
              </a:spcAft>
              <a:buClrTx/>
              <a:buSzTx/>
              <a:buFontTx/>
              <a:buNone/>
              <a:tabLst/>
              <a:defRPr/>
            </a:pPr>
            <a:r>
              <a:rPr lang="nl-NL" sz="2000" b="1" i="1">
                <a:solidFill>
                  <a:srgbClr val="BCC1E2"/>
                </a:solidFill>
                <a:latin typeface="Verdana" panose="020B0604030504040204" pitchFamily="34" charset="0"/>
                <a:ea typeface="Verdana" panose="020B0604030504040204" pitchFamily="34" charset="0"/>
              </a:rPr>
              <a:t>zonodig aanpassen</a:t>
            </a:r>
            <a:endParaRPr kumimoji="0" lang="en-NL" sz="1000" b="1" i="1" u="none" strike="noStrike" kern="1200" cap="none" spc="0" normalizeH="0" baseline="0" noProof="0">
              <a:ln>
                <a:noFill/>
              </a:ln>
              <a:solidFill>
                <a:srgbClr val="BCC1E2"/>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509566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DC282D-E096-77B4-4C23-6AF1609AA61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6E2EA93-AF6F-930A-86E4-89A7F4859873}"/>
              </a:ext>
            </a:extLst>
          </p:cNvPr>
          <p:cNvSpPr>
            <a:spLocks noGrp="1"/>
          </p:cNvSpPr>
          <p:nvPr>
            <p:ph type="title"/>
          </p:nvPr>
        </p:nvSpPr>
        <p:spPr/>
        <p:txBody>
          <a:bodyPr>
            <a:normAutofit fontScale="90000"/>
          </a:bodyPr>
          <a:lstStyle/>
          <a:p>
            <a:r>
              <a:rPr lang="nl-NL"/>
              <a:t>…</a:t>
            </a:r>
          </a:p>
        </p:txBody>
      </p:sp>
      <p:sp>
        <p:nvSpPr>
          <p:cNvPr id="3" name="Tijdelijke aanduiding voor inhoud 2">
            <a:extLst>
              <a:ext uri="{FF2B5EF4-FFF2-40B4-BE49-F238E27FC236}">
                <a16:creationId xmlns:a16="http://schemas.microsoft.com/office/drawing/2014/main" id="{0EA77B13-5275-3C0D-FD32-101DC132DE54}"/>
              </a:ext>
            </a:extLst>
          </p:cNvPr>
          <p:cNvSpPr>
            <a:spLocks noGrp="1"/>
          </p:cNvSpPr>
          <p:nvPr>
            <p:ph idx="1"/>
          </p:nvPr>
        </p:nvSpPr>
        <p:spPr/>
        <p:txBody>
          <a:bodyPr vert="horz" lIns="91440" tIns="45720" rIns="91440" bIns="45720" rtlCol="0" anchor="t">
            <a:noAutofit/>
          </a:bodyPr>
          <a:lstStyle/>
          <a:p>
            <a:pPr lvl="1"/>
            <a:r>
              <a:rPr lang="nl-NL"/>
              <a:t>[</a:t>
            </a:r>
            <a:r>
              <a:rPr lang="nl-NL" err="1"/>
              <a:t>Placeholder</a:t>
            </a:r>
            <a:r>
              <a:rPr lang="nl-NL"/>
              <a:t>]</a:t>
            </a:r>
          </a:p>
          <a:p>
            <a:pPr lvl="1"/>
            <a:endParaRPr lang="nl-NL"/>
          </a:p>
        </p:txBody>
      </p:sp>
      <p:sp>
        <p:nvSpPr>
          <p:cNvPr id="6" name="Text Placeholder 5">
            <a:extLst>
              <a:ext uri="{FF2B5EF4-FFF2-40B4-BE49-F238E27FC236}">
                <a16:creationId xmlns:a16="http://schemas.microsoft.com/office/drawing/2014/main" id="{641EBFAF-12E2-3A02-2C6E-5D2A0799B9F4}"/>
              </a:ext>
            </a:extLst>
          </p:cNvPr>
          <p:cNvSpPr>
            <a:spLocks noGrp="1"/>
          </p:cNvSpPr>
          <p:nvPr>
            <p:ph type="body" sz="quarter" idx="10"/>
          </p:nvPr>
        </p:nvSpPr>
        <p:spPr/>
        <p:txBody>
          <a:bodyPr/>
          <a:lstStyle/>
          <a:p>
            <a:endParaRPr lang="en-GB"/>
          </a:p>
        </p:txBody>
      </p:sp>
      <p:sp>
        <p:nvSpPr>
          <p:cNvPr id="2" name="Rectangle: Top Corners Rounded 38">
            <a:hlinkClick r:id="rId3" action="ppaction://hlinksldjump"/>
            <a:extLst>
              <a:ext uri="{FF2B5EF4-FFF2-40B4-BE49-F238E27FC236}">
                <a16:creationId xmlns:a16="http://schemas.microsoft.com/office/drawing/2014/main" id="{810D3A3A-D477-16C6-A444-6C06CE8F2815}"/>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4" action="ppaction://hlinksldjump"/>
            <a:extLst>
              <a:ext uri="{FF2B5EF4-FFF2-40B4-BE49-F238E27FC236}">
                <a16:creationId xmlns:a16="http://schemas.microsoft.com/office/drawing/2014/main" id="{6854418E-D867-D431-9FFD-F8CA977E5D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8" name="Rectangle: Top Corners Rounded 1">
            <a:hlinkClick r:id="rId7" action="ppaction://hlinksldjump"/>
            <a:extLst>
              <a:ext uri="{FF2B5EF4-FFF2-40B4-BE49-F238E27FC236}">
                <a16:creationId xmlns:a16="http://schemas.microsoft.com/office/drawing/2014/main" id="{8152734D-6BB3-F906-8A34-0B4445D4AD62}"/>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9" name="Rectangle: Top Corners Rounded 1">
            <a:hlinkClick r:id="rId8" action="ppaction://hlinksldjump"/>
            <a:extLst>
              <a:ext uri="{FF2B5EF4-FFF2-40B4-BE49-F238E27FC236}">
                <a16:creationId xmlns:a16="http://schemas.microsoft.com/office/drawing/2014/main" id="{5ED44C1A-CFFB-CA3D-AE56-5B8466FE5863}"/>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10" name="Rectangle: Top Corners Rounded 1">
            <a:hlinkClick r:id="rId9" action="ppaction://hlinksldjump"/>
            <a:extLst>
              <a:ext uri="{FF2B5EF4-FFF2-40B4-BE49-F238E27FC236}">
                <a16:creationId xmlns:a16="http://schemas.microsoft.com/office/drawing/2014/main" id="{50256B03-8A28-EAE8-55CA-86CD40082518}"/>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1" name="Rectangle: Top Corners Rounded 1">
            <a:hlinkClick r:id="rId10" action="ppaction://hlinksldjump"/>
            <a:extLst>
              <a:ext uri="{FF2B5EF4-FFF2-40B4-BE49-F238E27FC236}">
                <a16:creationId xmlns:a16="http://schemas.microsoft.com/office/drawing/2014/main" id="{1A3BA64B-E4BF-61B5-22E0-320D3B415792}"/>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2" name="Rectangle: Top Corners Rounded 1">
            <a:hlinkClick r:id="rId11" action="ppaction://hlinksldjump"/>
            <a:extLst>
              <a:ext uri="{FF2B5EF4-FFF2-40B4-BE49-F238E27FC236}">
                <a16:creationId xmlns:a16="http://schemas.microsoft.com/office/drawing/2014/main" id="{65DE6BFB-3173-E5CE-7E1E-20D70B5897BC}"/>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3" name="Rectangle: Top Corners Rounded 1">
            <a:hlinkClick r:id="rId12" action="ppaction://hlinksldjump"/>
            <a:extLst>
              <a:ext uri="{FF2B5EF4-FFF2-40B4-BE49-F238E27FC236}">
                <a16:creationId xmlns:a16="http://schemas.microsoft.com/office/drawing/2014/main" id="{C56DBF55-231D-7A99-A9A5-BD123B199B95}"/>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4" name="Rectangle: Top Corners Rounded 1">
            <a:hlinkClick r:id="rId13" action="ppaction://hlinksldjump"/>
            <a:extLst>
              <a:ext uri="{FF2B5EF4-FFF2-40B4-BE49-F238E27FC236}">
                <a16:creationId xmlns:a16="http://schemas.microsoft.com/office/drawing/2014/main" id="{B573A4C9-DBD4-A1A8-D5F9-43AEA842E143}"/>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5" name="Rectangle: Top Corners Rounded 1">
            <a:hlinkClick r:id="rId14" action="ppaction://hlinksldjump"/>
            <a:extLst>
              <a:ext uri="{FF2B5EF4-FFF2-40B4-BE49-F238E27FC236}">
                <a16:creationId xmlns:a16="http://schemas.microsoft.com/office/drawing/2014/main" id="{8E8E561E-577B-1E89-6A56-DAB8F4692622}"/>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6" name="Rectangle: Top Corners Rounded 1">
            <a:hlinkClick r:id="rId15" action="ppaction://hlinksldjump"/>
            <a:extLst>
              <a:ext uri="{FF2B5EF4-FFF2-40B4-BE49-F238E27FC236}">
                <a16:creationId xmlns:a16="http://schemas.microsoft.com/office/drawing/2014/main" id="{3BE7BC05-92E2-077F-6CDB-6A5F0D7F0C3B}"/>
              </a:ext>
            </a:extLst>
          </p:cNvPr>
          <p:cNvSpPr/>
          <p:nvPr/>
        </p:nvSpPr>
        <p:spPr>
          <a:xfrm>
            <a:off x="854706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Implementatie planning en aanpak</a:t>
            </a:r>
          </a:p>
        </p:txBody>
      </p:sp>
      <p:sp>
        <p:nvSpPr>
          <p:cNvPr id="17" name="Rectangle: Top Corners Rounded 1">
            <a:hlinkClick r:id="rId16" action="ppaction://hlinksldjump"/>
            <a:extLst>
              <a:ext uri="{FF2B5EF4-FFF2-40B4-BE49-F238E27FC236}">
                <a16:creationId xmlns:a16="http://schemas.microsoft.com/office/drawing/2014/main" id="{048BD9DC-F001-3138-10A0-1E5AF0CED568}"/>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18" name="Rectangle: Top Corners Rounded 1">
            <a:hlinkClick r:id="rId17" action="ppaction://hlinksldjump"/>
            <a:extLst>
              <a:ext uri="{FF2B5EF4-FFF2-40B4-BE49-F238E27FC236}">
                <a16:creationId xmlns:a16="http://schemas.microsoft.com/office/drawing/2014/main" id="{F54E829F-4A5F-68DF-B236-00726637D0E3}"/>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7" name="Rechthoek: afgeronde hoeken 6">
            <a:extLst>
              <a:ext uri="{FF2B5EF4-FFF2-40B4-BE49-F238E27FC236}">
                <a16:creationId xmlns:a16="http://schemas.microsoft.com/office/drawing/2014/main" id="{C88C38A6-DF9E-D4D7-5D6F-4C5DE63D5954}"/>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7978335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p:txBody>
          <a:bodyPr>
            <a:noAutofit/>
          </a:bodyPr>
          <a:lstStyle/>
          <a:p>
            <a:pPr algn="l"/>
            <a:r>
              <a:rPr lang="nl-NL" b="1">
                <a:solidFill>
                  <a:srgbClr val="8C95CD"/>
                </a:solidFill>
              </a:rPr>
              <a:t>Plateauplanning voor realisatie </a:t>
            </a:r>
          </a:p>
        </p:txBody>
      </p:sp>
      <p:sp>
        <p:nvSpPr>
          <p:cNvPr id="50" name="Tijdelijke aanduiding voor inhoud 49">
            <a:extLst>
              <a:ext uri="{FF2B5EF4-FFF2-40B4-BE49-F238E27FC236}">
                <a16:creationId xmlns:a16="http://schemas.microsoft.com/office/drawing/2014/main" id="{B67A3423-97D3-2452-0EDD-632186DBBB66}"/>
              </a:ext>
            </a:extLst>
          </p:cNvPr>
          <p:cNvSpPr>
            <a:spLocks noGrp="1"/>
          </p:cNvSpPr>
          <p:nvPr>
            <p:ph idx="1"/>
          </p:nvPr>
        </p:nvSpPr>
        <p:spPr>
          <a:xfrm>
            <a:off x="425302" y="1473998"/>
            <a:ext cx="6831093" cy="720946"/>
          </a:xfrm>
        </p:spPr>
        <p:txBody>
          <a:bodyPr>
            <a:noAutofit/>
          </a:bodyPr>
          <a:lstStyle/>
          <a:p>
            <a:pPr marL="0" indent="0">
              <a:buNone/>
            </a:pPr>
            <a:r>
              <a:rPr lang="nl-NL" sz="1400">
                <a:effectLst/>
                <a:ea typeface="Calibri" panose="020F0502020204030204" pitchFamily="34" charset="0"/>
                <a:cs typeface="Arial" panose="020B0604020202020204" pitchFamily="34" charset="0"/>
              </a:rPr>
              <a:t>Dit biedt de mogelijkheid om te leren van de praktijk en zo nodig bij te sturen om aangesloten te blijven op de (regionale) maatschappelijke en/of technologische ontwikkelingen, alsook op het landelijk beleid.  </a:t>
            </a:r>
          </a:p>
          <a:p>
            <a:pPr marL="0" indent="0">
              <a:buNone/>
            </a:pPr>
            <a:endParaRPr lang="nl-NL" sz="1400">
              <a:effectLst/>
              <a:ea typeface="Calibri" panose="020F0502020204030204" pitchFamily="34" charset="0"/>
              <a:cs typeface="Arial" panose="020B0604020202020204" pitchFamily="34" charset="0"/>
            </a:endParaRPr>
          </a:p>
        </p:txBody>
      </p:sp>
      <p:sp>
        <p:nvSpPr>
          <p:cNvPr id="2" name="Text Placeholder 1">
            <a:extLst>
              <a:ext uri="{FF2B5EF4-FFF2-40B4-BE49-F238E27FC236}">
                <a16:creationId xmlns:a16="http://schemas.microsoft.com/office/drawing/2014/main" id="{B86B45EF-B0BF-D006-3817-BC46CCD270FE}"/>
              </a:ext>
            </a:extLst>
          </p:cNvPr>
          <p:cNvSpPr>
            <a:spLocks noGrp="1"/>
          </p:cNvSpPr>
          <p:nvPr>
            <p:ph type="body" sz="quarter" idx="10"/>
          </p:nvPr>
        </p:nvSpPr>
        <p:spPr/>
        <p:txBody>
          <a:bodyPr/>
          <a:lstStyle/>
          <a:p>
            <a:r>
              <a:rPr lang="nl-NL"/>
              <a:t>Voor de realisatie van de onderwerpen uit het fundament digitalisering en gegevensuitwisseling in het IZA regioplan Midden-Nederland, wordt in de uitvoering gewerkt met een plateauplanning. </a:t>
            </a:r>
          </a:p>
          <a:p>
            <a:endParaRPr lang="en-GB"/>
          </a:p>
        </p:txBody>
      </p:sp>
      <p:cxnSp>
        <p:nvCxnSpPr>
          <p:cNvPr id="8" name="Rechte verbindingslijn 7">
            <a:extLst>
              <a:ext uri="{FF2B5EF4-FFF2-40B4-BE49-F238E27FC236}">
                <a16:creationId xmlns:a16="http://schemas.microsoft.com/office/drawing/2014/main" id="{FFA4A4F0-74D3-7097-9680-5301ED53C0BC}"/>
              </a:ext>
            </a:extLst>
          </p:cNvPr>
          <p:cNvCxnSpPr>
            <a:cxnSpLocks/>
          </p:cNvCxnSpPr>
          <p:nvPr/>
        </p:nvCxnSpPr>
        <p:spPr>
          <a:xfrm>
            <a:off x="822958" y="6100996"/>
            <a:ext cx="10735307" cy="0"/>
          </a:xfrm>
          <a:prstGeom prst="line">
            <a:avLst/>
          </a:prstGeom>
          <a:ln>
            <a:solidFill>
              <a:srgbClr val="21BBEF"/>
            </a:solidFill>
          </a:ln>
        </p:spPr>
        <p:style>
          <a:lnRef idx="1">
            <a:schemeClr val="accent1"/>
          </a:lnRef>
          <a:fillRef idx="0">
            <a:schemeClr val="accent1"/>
          </a:fillRef>
          <a:effectRef idx="0">
            <a:schemeClr val="accent1"/>
          </a:effectRef>
          <a:fontRef idx="minor">
            <a:schemeClr val="tx1"/>
          </a:fontRef>
        </p:style>
      </p:cxnSp>
      <p:sp>
        <p:nvSpPr>
          <p:cNvPr id="9" name="Rectangle 33">
            <a:extLst>
              <a:ext uri="{FF2B5EF4-FFF2-40B4-BE49-F238E27FC236}">
                <a16:creationId xmlns:a16="http://schemas.microsoft.com/office/drawing/2014/main" id="{D43F9D14-2A3F-B3A7-443D-8FC3CA1C91A5}"/>
              </a:ext>
            </a:extLst>
          </p:cNvPr>
          <p:cNvSpPr/>
          <p:nvPr/>
        </p:nvSpPr>
        <p:spPr>
          <a:xfrm>
            <a:off x="1135016" y="6150732"/>
            <a:ext cx="938167" cy="327360"/>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2024</a:t>
            </a:r>
          </a:p>
        </p:txBody>
      </p:sp>
      <p:sp>
        <p:nvSpPr>
          <p:cNvPr id="10" name="Rectangle 33">
            <a:extLst>
              <a:ext uri="{FF2B5EF4-FFF2-40B4-BE49-F238E27FC236}">
                <a16:creationId xmlns:a16="http://schemas.microsoft.com/office/drawing/2014/main" id="{BC3BABBC-285D-36BF-005B-18EC736B599B}"/>
              </a:ext>
            </a:extLst>
          </p:cNvPr>
          <p:cNvSpPr/>
          <p:nvPr/>
        </p:nvSpPr>
        <p:spPr>
          <a:xfrm>
            <a:off x="3033484" y="6150732"/>
            <a:ext cx="938167" cy="327360"/>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2025</a:t>
            </a:r>
          </a:p>
        </p:txBody>
      </p:sp>
      <p:sp>
        <p:nvSpPr>
          <p:cNvPr id="11" name="Rectangle 33">
            <a:extLst>
              <a:ext uri="{FF2B5EF4-FFF2-40B4-BE49-F238E27FC236}">
                <a16:creationId xmlns:a16="http://schemas.microsoft.com/office/drawing/2014/main" id="{342B4851-777D-F39D-DDFA-9302B0043C42}"/>
              </a:ext>
            </a:extLst>
          </p:cNvPr>
          <p:cNvSpPr/>
          <p:nvPr/>
        </p:nvSpPr>
        <p:spPr>
          <a:xfrm>
            <a:off x="4931952" y="6150732"/>
            <a:ext cx="938167" cy="327360"/>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2026</a:t>
            </a:r>
          </a:p>
        </p:txBody>
      </p:sp>
      <p:sp>
        <p:nvSpPr>
          <p:cNvPr id="12" name="Rectangle 33">
            <a:extLst>
              <a:ext uri="{FF2B5EF4-FFF2-40B4-BE49-F238E27FC236}">
                <a16:creationId xmlns:a16="http://schemas.microsoft.com/office/drawing/2014/main" id="{763A0C4B-3C31-3248-8D12-A94336623C6A}"/>
              </a:ext>
            </a:extLst>
          </p:cNvPr>
          <p:cNvSpPr/>
          <p:nvPr/>
        </p:nvSpPr>
        <p:spPr>
          <a:xfrm>
            <a:off x="6830420" y="6150732"/>
            <a:ext cx="938167" cy="327360"/>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2027</a:t>
            </a:r>
          </a:p>
        </p:txBody>
      </p:sp>
      <p:sp>
        <p:nvSpPr>
          <p:cNvPr id="13" name="Rectangle 33">
            <a:extLst>
              <a:ext uri="{FF2B5EF4-FFF2-40B4-BE49-F238E27FC236}">
                <a16:creationId xmlns:a16="http://schemas.microsoft.com/office/drawing/2014/main" id="{0F0D61DF-2FCD-0198-2DDE-1B1DE2C7AAFD}"/>
              </a:ext>
            </a:extLst>
          </p:cNvPr>
          <p:cNvSpPr/>
          <p:nvPr/>
        </p:nvSpPr>
        <p:spPr>
          <a:xfrm>
            <a:off x="8728888" y="6150732"/>
            <a:ext cx="938167" cy="327360"/>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2029</a:t>
            </a:r>
          </a:p>
        </p:txBody>
      </p:sp>
      <p:sp>
        <p:nvSpPr>
          <p:cNvPr id="15" name="Rectangle 33">
            <a:extLst>
              <a:ext uri="{FF2B5EF4-FFF2-40B4-BE49-F238E27FC236}">
                <a16:creationId xmlns:a16="http://schemas.microsoft.com/office/drawing/2014/main" id="{89DCA21C-7D29-2E40-A986-135DDA27B3F7}"/>
              </a:ext>
            </a:extLst>
          </p:cNvPr>
          <p:cNvSpPr/>
          <p:nvPr/>
        </p:nvSpPr>
        <p:spPr>
          <a:xfrm>
            <a:off x="1135016" y="5514264"/>
            <a:ext cx="4680000" cy="540000"/>
          </a:xfrm>
          <a:prstGeom prst="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Fundament bouwen voor beschikbaar maken van gegevens (Plateau 1 NVS interoperabiliteit)</a:t>
            </a:r>
          </a:p>
        </p:txBody>
      </p:sp>
      <p:sp>
        <p:nvSpPr>
          <p:cNvPr id="16" name="Rectangle 33">
            <a:extLst>
              <a:ext uri="{FF2B5EF4-FFF2-40B4-BE49-F238E27FC236}">
                <a16:creationId xmlns:a16="http://schemas.microsoft.com/office/drawing/2014/main" id="{0AF038BB-5EC7-F12C-CCF5-33362DCC567E}"/>
              </a:ext>
            </a:extLst>
          </p:cNvPr>
          <p:cNvSpPr/>
          <p:nvPr/>
        </p:nvSpPr>
        <p:spPr>
          <a:xfrm>
            <a:off x="5906369" y="5344801"/>
            <a:ext cx="5688000" cy="540000"/>
          </a:xfrm>
          <a:prstGeom prst="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Fundament bouwen voor beschikbaar maken van gegevens (Plateau 2 NVS Betere ondersteuning van netwerkzorg )</a:t>
            </a:r>
          </a:p>
        </p:txBody>
      </p:sp>
      <p:grpSp>
        <p:nvGrpSpPr>
          <p:cNvPr id="17" name="Groep 16">
            <a:extLst>
              <a:ext uri="{FF2B5EF4-FFF2-40B4-BE49-F238E27FC236}">
                <a16:creationId xmlns:a16="http://schemas.microsoft.com/office/drawing/2014/main" id="{F6953761-559E-E2AA-B6D0-86386143F519}"/>
              </a:ext>
            </a:extLst>
          </p:cNvPr>
          <p:cNvGrpSpPr/>
          <p:nvPr/>
        </p:nvGrpSpPr>
        <p:grpSpPr>
          <a:xfrm>
            <a:off x="7285769" y="1532719"/>
            <a:ext cx="3430381" cy="3532374"/>
            <a:chOff x="6746926" y="1256951"/>
            <a:chExt cx="3430381" cy="3532374"/>
          </a:xfrm>
        </p:grpSpPr>
        <p:sp>
          <p:nvSpPr>
            <p:cNvPr id="18" name="Rectangle 26">
              <a:extLst>
                <a:ext uri="{FF2B5EF4-FFF2-40B4-BE49-F238E27FC236}">
                  <a16:creationId xmlns:a16="http://schemas.microsoft.com/office/drawing/2014/main" id="{23DF0A41-AB38-9715-52DB-0251C2418211}"/>
                </a:ext>
              </a:extLst>
            </p:cNvPr>
            <p:cNvSpPr/>
            <p:nvPr/>
          </p:nvSpPr>
          <p:spPr>
            <a:xfrm>
              <a:off x="8509889" y="3051497"/>
              <a:ext cx="1667418" cy="1734641"/>
            </a:xfrm>
            <a:prstGeom prst="rect">
              <a:avLst/>
            </a:prstGeom>
            <a:solidFill>
              <a:srgbClr val="A2C877">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b="1"/>
            </a:p>
          </p:txBody>
        </p:sp>
        <p:sp>
          <p:nvSpPr>
            <p:cNvPr id="19" name="Rectangle 24">
              <a:extLst>
                <a:ext uri="{FF2B5EF4-FFF2-40B4-BE49-F238E27FC236}">
                  <a16:creationId xmlns:a16="http://schemas.microsoft.com/office/drawing/2014/main" id="{41DBDCEF-F6F0-78DC-BBD6-7C71594ECFEA}"/>
                </a:ext>
              </a:extLst>
            </p:cNvPr>
            <p:cNvSpPr/>
            <p:nvPr/>
          </p:nvSpPr>
          <p:spPr>
            <a:xfrm>
              <a:off x="6746926" y="3054684"/>
              <a:ext cx="1647665" cy="1734641"/>
            </a:xfrm>
            <a:prstGeom prst="rect">
              <a:avLst/>
            </a:prstGeom>
            <a:solidFill>
              <a:srgbClr val="21BBEF">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b="1"/>
            </a:p>
          </p:txBody>
        </p:sp>
        <p:sp>
          <p:nvSpPr>
            <p:cNvPr id="20" name="Rectangle 22">
              <a:extLst>
                <a:ext uri="{FF2B5EF4-FFF2-40B4-BE49-F238E27FC236}">
                  <a16:creationId xmlns:a16="http://schemas.microsoft.com/office/drawing/2014/main" id="{5D09E39D-8925-64A9-2F90-080A1DE8C6D0}"/>
                </a:ext>
              </a:extLst>
            </p:cNvPr>
            <p:cNvSpPr/>
            <p:nvPr/>
          </p:nvSpPr>
          <p:spPr>
            <a:xfrm>
              <a:off x="8509889" y="1256951"/>
              <a:ext cx="1667418" cy="1734641"/>
            </a:xfrm>
            <a:prstGeom prst="rect">
              <a:avLst/>
            </a:prstGeom>
            <a:solidFill>
              <a:srgbClr val="8C95CD">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b="1"/>
            </a:p>
          </p:txBody>
        </p:sp>
        <p:sp>
          <p:nvSpPr>
            <p:cNvPr id="21" name="Rectangle 18">
              <a:extLst>
                <a:ext uri="{FF2B5EF4-FFF2-40B4-BE49-F238E27FC236}">
                  <a16:creationId xmlns:a16="http://schemas.microsoft.com/office/drawing/2014/main" id="{ED871769-9C67-80B2-1F36-2B7A837D633E}"/>
                </a:ext>
              </a:extLst>
            </p:cNvPr>
            <p:cNvSpPr/>
            <p:nvPr/>
          </p:nvSpPr>
          <p:spPr>
            <a:xfrm>
              <a:off x="6746926" y="1256952"/>
              <a:ext cx="1667418" cy="1734641"/>
            </a:xfrm>
            <a:prstGeom prst="rect">
              <a:avLst/>
            </a:prstGeom>
            <a:solidFill>
              <a:srgbClr val="0E9D9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b="1"/>
            </a:p>
          </p:txBody>
        </p:sp>
        <p:sp>
          <p:nvSpPr>
            <p:cNvPr id="22" name="Rectangle 18">
              <a:extLst>
                <a:ext uri="{FF2B5EF4-FFF2-40B4-BE49-F238E27FC236}">
                  <a16:creationId xmlns:a16="http://schemas.microsoft.com/office/drawing/2014/main" id="{093CBEC8-2894-2DED-25E0-165A89526953}"/>
                </a:ext>
              </a:extLst>
            </p:cNvPr>
            <p:cNvSpPr/>
            <p:nvPr/>
          </p:nvSpPr>
          <p:spPr>
            <a:xfrm>
              <a:off x="6922363" y="1377182"/>
              <a:ext cx="1462607" cy="1575600"/>
            </a:xfrm>
            <a:prstGeom prst="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b="1"/>
                <a:t>Netwerkzorg inwoners- perspectief</a:t>
              </a:r>
            </a:p>
          </p:txBody>
        </p:sp>
        <p:sp>
          <p:nvSpPr>
            <p:cNvPr id="23" name="Rectangle 22">
              <a:extLst>
                <a:ext uri="{FF2B5EF4-FFF2-40B4-BE49-F238E27FC236}">
                  <a16:creationId xmlns:a16="http://schemas.microsoft.com/office/drawing/2014/main" id="{4D405839-A7B3-9C7B-E5A2-AB4945A9F467}"/>
                </a:ext>
              </a:extLst>
            </p:cNvPr>
            <p:cNvSpPr/>
            <p:nvPr/>
          </p:nvSpPr>
          <p:spPr>
            <a:xfrm>
              <a:off x="8502198" y="1377182"/>
              <a:ext cx="1473200" cy="1572819"/>
            </a:xfrm>
            <a:prstGeom prst="rect">
              <a:avLst/>
            </a:prstGeom>
            <a:solidFill>
              <a:srgbClr val="8C95C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b="1"/>
                <a:t>Netwerkzorg professional perspectief</a:t>
              </a:r>
            </a:p>
          </p:txBody>
        </p:sp>
        <p:sp>
          <p:nvSpPr>
            <p:cNvPr id="24" name="Rectangle 24">
              <a:extLst>
                <a:ext uri="{FF2B5EF4-FFF2-40B4-BE49-F238E27FC236}">
                  <a16:creationId xmlns:a16="http://schemas.microsoft.com/office/drawing/2014/main" id="{643C5EDD-B654-3F6F-0DF5-8F0772C4E670}"/>
                </a:ext>
              </a:extLst>
            </p:cNvPr>
            <p:cNvSpPr/>
            <p:nvPr/>
          </p:nvSpPr>
          <p:spPr>
            <a:xfrm>
              <a:off x="6922363" y="3087526"/>
              <a:ext cx="1462607" cy="1569584"/>
            </a:xfrm>
            <a:prstGeom prst="rect">
              <a:avLst/>
            </a:prstGeom>
            <a:solidFill>
              <a:srgbClr val="21B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b="1"/>
                <a:t>Basis op orde</a:t>
              </a:r>
            </a:p>
          </p:txBody>
        </p:sp>
        <p:sp>
          <p:nvSpPr>
            <p:cNvPr id="25" name="Rectangle 26">
              <a:extLst>
                <a:ext uri="{FF2B5EF4-FFF2-40B4-BE49-F238E27FC236}">
                  <a16:creationId xmlns:a16="http://schemas.microsoft.com/office/drawing/2014/main" id="{3FF60F19-8EFC-C50E-04C5-263D2E6A8AF2}"/>
                </a:ext>
              </a:extLst>
            </p:cNvPr>
            <p:cNvSpPr/>
            <p:nvPr/>
          </p:nvSpPr>
          <p:spPr>
            <a:xfrm>
              <a:off x="8522562" y="3084746"/>
              <a:ext cx="1452835" cy="1562347"/>
            </a:xfrm>
            <a:prstGeom prst="rect">
              <a:avLst/>
            </a:prstGeom>
            <a:solidFill>
              <a:srgbClr val="A2C87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b="1"/>
                <a:t>Regionale data- en applicatie- architectuur</a:t>
              </a:r>
            </a:p>
          </p:txBody>
        </p:sp>
      </p:grpSp>
      <p:grpSp>
        <p:nvGrpSpPr>
          <p:cNvPr id="26" name="Groep 25">
            <a:extLst>
              <a:ext uri="{FF2B5EF4-FFF2-40B4-BE49-F238E27FC236}">
                <a16:creationId xmlns:a16="http://schemas.microsoft.com/office/drawing/2014/main" id="{6337DA04-AA63-C52E-E28E-C22AE14694B9}"/>
              </a:ext>
            </a:extLst>
          </p:cNvPr>
          <p:cNvGrpSpPr/>
          <p:nvPr/>
        </p:nvGrpSpPr>
        <p:grpSpPr>
          <a:xfrm>
            <a:off x="3731752" y="2225600"/>
            <a:ext cx="3075222" cy="3053438"/>
            <a:chOff x="3312509" y="1973838"/>
            <a:chExt cx="3075222" cy="3053438"/>
          </a:xfrm>
        </p:grpSpPr>
        <p:sp>
          <p:nvSpPr>
            <p:cNvPr id="27" name="Rectangle 26">
              <a:extLst>
                <a:ext uri="{FF2B5EF4-FFF2-40B4-BE49-F238E27FC236}">
                  <a16:creationId xmlns:a16="http://schemas.microsoft.com/office/drawing/2014/main" id="{9635874C-E836-8567-FDC6-24F837682823}"/>
                </a:ext>
              </a:extLst>
            </p:cNvPr>
            <p:cNvSpPr/>
            <p:nvPr/>
          </p:nvSpPr>
          <p:spPr>
            <a:xfrm>
              <a:off x="4931938" y="3476846"/>
              <a:ext cx="1455793" cy="1550429"/>
            </a:xfrm>
            <a:prstGeom prst="rect">
              <a:avLst/>
            </a:prstGeom>
            <a:solidFill>
              <a:srgbClr val="A2C877">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28" name="Rectangle 24">
              <a:extLst>
                <a:ext uri="{FF2B5EF4-FFF2-40B4-BE49-F238E27FC236}">
                  <a16:creationId xmlns:a16="http://schemas.microsoft.com/office/drawing/2014/main" id="{58766880-50DF-BD63-EEF3-EA2454DDBC7B}"/>
                </a:ext>
              </a:extLst>
            </p:cNvPr>
            <p:cNvSpPr/>
            <p:nvPr/>
          </p:nvSpPr>
          <p:spPr>
            <a:xfrm>
              <a:off x="3312509" y="3480034"/>
              <a:ext cx="1455793" cy="1547242"/>
            </a:xfrm>
            <a:prstGeom prst="rect">
              <a:avLst/>
            </a:prstGeom>
            <a:solidFill>
              <a:srgbClr val="21BBEF">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29" name="Rectangle 22">
              <a:extLst>
                <a:ext uri="{FF2B5EF4-FFF2-40B4-BE49-F238E27FC236}">
                  <a16:creationId xmlns:a16="http://schemas.microsoft.com/office/drawing/2014/main" id="{291D4D13-1E6D-55D0-448D-D7BFD1BF90A0}"/>
                </a:ext>
              </a:extLst>
            </p:cNvPr>
            <p:cNvSpPr/>
            <p:nvPr/>
          </p:nvSpPr>
          <p:spPr>
            <a:xfrm>
              <a:off x="4931939" y="1973838"/>
              <a:ext cx="1455792" cy="1455162"/>
            </a:xfrm>
            <a:prstGeom prst="rect">
              <a:avLst/>
            </a:prstGeom>
            <a:solidFill>
              <a:srgbClr val="8C95CD">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30" name="Rectangle 18">
              <a:extLst>
                <a:ext uri="{FF2B5EF4-FFF2-40B4-BE49-F238E27FC236}">
                  <a16:creationId xmlns:a16="http://schemas.microsoft.com/office/drawing/2014/main" id="{6181E1E5-980D-7C0F-9811-06634CADEEE2}"/>
                </a:ext>
              </a:extLst>
            </p:cNvPr>
            <p:cNvSpPr/>
            <p:nvPr/>
          </p:nvSpPr>
          <p:spPr>
            <a:xfrm>
              <a:off x="3332262" y="1973839"/>
              <a:ext cx="1455792" cy="1455161"/>
            </a:xfrm>
            <a:prstGeom prst="rect">
              <a:avLst/>
            </a:prstGeom>
            <a:solidFill>
              <a:srgbClr val="0E9D9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31" name="Rectangle 18">
              <a:extLst>
                <a:ext uri="{FF2B5EF4-FFF2-40B4-BE49-F238E27FC236}">
                  <a16:creationId xmlns:a16="http://schemas.microsoft.com/office/drawing/2014/main" id="{927227B5-0474-EB38-2948-A4DAB7E71AB3}"/>
                </a:ext>
              </a:extLst>
            </p:cNvPr>
            <p:cNvSpPr/>
            <p:nvPr/>
          </p:nvSpPr>
          <p:spPr>
            <a:xfrm>
              <a:off x="3626177" y="2262319"/>
              <a:ext cx="1144056" cy="1149233"/>
            </a:xfrm>
            <a:prstGeom prst="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a:t>Netwerkzorg inwoners- perspectief</a:t>
              </a:r>
            </a:p>
          </p:txBody>
        </p:sp>
        <p:sp>
          <p:nvSpPr>
            <p:cNvPr id="32" name="Rectangle 22">
              <a:extLst>
                <a:ext uri="{FF2B5EF4-FFF2-40B4-BE49-F238E27FC236}">
                  <a16:creationId xmlns:a16="http://schemas.microsoft.com/office/drawing/2014/main" id="{92FDA105-21F9-B702-16F5-3AB94D6DF588}"/>
                </a:ext>
              </a:extLst>
            </p:cNvPr>
            <p:cNvSpPr/>
            <p:nvPr/>
          </p:nvSpPr>
          <p:spPr>
            <a:xfrm>
              <a:off x="4930840" y="2262319"/>
              <a:ext cx="1179094" cy="1149233"/>
            </a:xfrm>
            <a:prstGeom prst="rect">
              <a:avLst/>
            </a:prstGeom>
            <a:solidFill>
              <a:srgbClr val="8C95C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a:t>Netwerkzorg professional perspectief</a:t>
              </a:r>
            </a:p>
          </p:txBody>
        </p:sp>
        <p:sp>
          <p:nvSpPr>
            <p:cNvPr id="33" name="Rectangle 24">
              <a:extLst>
                <a:ext uri="{FF2B5EF4-FFF2-40B4-BE49-F238E27FC236}">
                  <a16:creationId xmlns:a16="http://schemas.microsoft.com/office/drawing/2014/main" id="{CCF80372-E804-3895-D715-D6A0D7DAF1E9}"/>
                </a:ext>
              </a:extLst>
            </p:cNvPr>
            <p:cNvSpPr/>
            <p:nvPr/>
          </p:nvSpPr>
          <p:spPr>
            <a:xfrm>
              <a:off x="3626177" y="3501605"/>
              <a:ext cx="1142125" cy="1149233"/>
            </a:xfrm>
            <a:prstGeom prst="rect">
              <a:avLst/>
            </a:prstGeom>
            <a:solidFill>
              <a:srgbClr val="21B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a:t>Basis op orde</a:t>
              </a:r>
            </a:p>
          </p:txBody>
        </p:sp>
        <p:sp>
          <p:nvSpPr>
            <p:cNvPr id="34" name="Rectangle 26">
              <a:extLst>
                <a:ext uri="{FF2B5EF4-FFF2-40B4-BE49-F238E27FC236}">
                  <a16:creationId xmlns:a16="http://schemas.microsoft.com/office/drawing/2014/main" id="{CBCD6194-A2BB-9813-5A04-C5FD1814E2B4}"/>
                </a:ext>
              </a:extLst>
            </p:cNvPr>
            <p:cNvSpPr/>
            <p:nvPr/>
          </p:nvSpPr>
          <p:spPr>
            <a:xfrm>
              <a:off x="4932654" y="3501605"/>
              <a:ext cx="1179094" cy="1149233"/>
            </a:xfrm>
            <a:prstGeom prst="rect">
              <a:avLst/>
            </a:prstGeom>
            <a:solidFill>
              <a:srgbClr val="A2C87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1400"/>
                <a:t>Regionale data- en applicatie- architectuur</a:t>
              </a:r>
            </a:p>
          </p:txBody>
        </p:sp>
      </p:grpSp>
      <p:grpSp>
        <p:nvGrpSpPr>
          <p:cNvPr id="35" name="Groep 34">
            <a:extLst>
              <a:ext uri="{FF2B5EF4-FFF2-40B4-BE49-F238E27FC236}">
                <a16:creationId xmlns:a16="http://schemas.microsoft.com/office/drawing/2014/main" id="{0A7A0AE7-941C-D331-1C37-23AA5564473F}"/>
              </a:ext>
            </a:extLst>
          </p:cNvPr>
          <p:cNvGrpSpPr/>
          <p:nvPr/>
        </p:nvGrpSpPr>
        <p:grpSpPr>
          <a:xfrm>
            <a:off x="1097026" y="3245950"/>
            <a:ext cx="2346430" cy="2310914"/>
            <a:chOff x="734168" y="3050010"/>
            <a:chExt cx="2346430" cy="2310914"/>
          </a:xfrm>
        </p:grpSpPr>
        <p:sp>
          <p:nvSpPr>
            <p:cNvPr id="36" name="Rectangle 26">
              <a:extLst>
                <a:ext uri="{FF2B5EF4-FFF2-40B4-BE49-F238E27FC236}">
                  <a16:creationId xmlns:a16="http://schemas.microsoft.com/office/drawing/2014/main" id="{9602D328-88A2-159F-FFD9-FA2AEE7EE646}"/>
                </a:ext>
              </a:extLst>
            </p:cNvPr>
            <p:cNvSpPr/>
            <p:nvPr/>
          </p:nvSpPr>
          <p:spPr>
            <a:xfrm>
              <a:off x="1904817" y="4147285"/>
              <a:ext cx="1059973" cy="1039513"/>
            </a:xfrm>
            <a:prstGeom prst="rect">
              <a:avLst/>
            </a:prstGeom>
            <a:solidFill>
              <a:srgbClr val="A2C877">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37" name="Rectangle 24">
              <a:extLst>
                <a:ext uri="{FF2B5EF4-FFF2-40B4-BE49-F238E27FC236}">
                  <a16:creationId xmlns:a16="http://schemas.microsoft.com/office/drawing/2014/main" id="{02179CEE-13C1-045E-1E3C-7EC893980714}"/>
                </a:ext>
              </a:extLst>
            </p:cNvPr>
            <p:cNvSpPr/>
            <p:nvPr/>
          </p:nvSpPr>
          <p:spPr>
            <a:xfrm>
              <a:off x="788283" y="4150472"/>
              <a:ext cx="1001236" cy="1036326"/>
            </a:xfrm>
            <a:prstGeom prst="rect">
              <a:avLst/>
            </a:prstGeom>
            <a:solidFill>
              <a:srgbClr val="21BBEF">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a:p>
              <a:endParaRPr lang="nl-NL" sz="1400"/>
            </a:p>
            <a:p>
              <a:endParaRPr lang="nl-NL" sz="1400"/>
            </a:p>
          </p:txBody>
        </p:sp>
        <p:sp>
          <p:nvSpPr>
            <p:cNvPr id="38" name="Rectangle 22">
              <a:extLst>
                <a:ext uri="{FF2B5EF4-FFF2-40B4-BE49-F238E27FC236}">
                  <a16:creationId xmlns:a16="http://schemas.microsoft.com/office/drawing/2014/main" id="{62D2E874-C18F-397E-2331-D53D2CF3E585}"/>
                </a:ext>
              </a:extLst>
            </p:cNvPr>
            <p:cNvSpPr/>
            <p:nvPr/>
          </p:nvSpPr>
          <p:spPr>
            <a:xfrm>
              <a:off x="1904818" y="3062509"/>
              <a:ext cx="1049916" cy="1024870"/>
            </a:xfrm>
            <a:prstGeom prst="rect">
              <a:avLst/>
            </a:prstGeom>
            <a:solidFill>
              <a:srgbClr val="8C95CD">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a:p>
              <a:endParaRPr lang="nl-NL" sz="1400"/>
            </a:p>
            <a:p>
              <a:endParaRPr lang="nl-NL" sz="1400"/>
            </a:p>
            <a:p>
              <a:endParaRPr lang="nl-NL" sz="1400"/>
            </a:p>
            <a:p>
              <a:endParaRPr lang="nl-NL" sz="1400"/>
            </a:p>
          </p:txBody>
        </p:sp>
        <p:sp>
          <p:nvSpPr>
            <p:cNvPr id="39" name="Rectangle 18">
              <a:extLst>
                <a:ext uri="{FF2B5EF4-FFF2-40B4-BE49-F238E27FC236}">
                  <a16:creationId xmlns:a16="http://schemas.microsoft.com/office/drawing/2014/main" id="{BA9563E8-C8DF-C808-4DBA-AA91A7A91ABB}"/>
                </a:ext>
              </a:extLst>
            </p:cNvPr>
            <p:cNvSpPr/>
            <p:nvPr/>
          </p:nvSpPr>
          <p:spPr>
            <a:xfrm>
              <a:off x="788283" y="3050010"/>
              <a:ext cx="1001236" cy="1036800"/>
            </a:xfrm>
            <a:prstGeom prst="rect">
              <a:avLst/>
            </a:prstGeom>
            <a:solidFill>
              <a:srgbClr val="0E9D9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a:p>
              <a:endParaRPr lang="nl-NL" sz="1400"/>
            </a:p>
            <a:p>
              <a:endParaRPr lang="nl-NL" sz="1400"/>
            </a:p>
            <a:p>
              <a:endParaRPr lang="nl-NL" sz="1400"/>
            </a:p>
            <a:p>
              <a:endParaRPr lang="nl-NL" sz="1400"/>
            </a:p>
          </p:txBody>
        </p:sp>
        <p:sp>
          <p:nvSpPr>
            <p:cNvPr id="40" name="Rectangle 18">
              <a:extLst>
                <a:ext uri="{FF2B5EF4-FFF2-40B4-BE49-F238E27FC236}">
                  <a16:creationId xmlns:a16="http://schemas.microsoft.com/office/drawing/2014/main" id="{1DBFD065-9C83-E515-3146-19A7424CDF0F}"/>
                </a:ext>
              </a:extLst>
            </p:cNvPr>
            <p:cNvSpPr/>
            <p:nvPr/>
          </p:nvSpPr>
          <p:spPr>
            <a:xfrm>
              <a:off x="1242037" y="3480034"/>
              <a:ext cx="549412" cy="589898"/>
            </a:xfrm>
            <a:prstGeom prst="rect">
              <a:avLst/>
            </a:prstGeom>
            <a:solidFill>
              <a:srgbClr val="0E9D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41" name="Rectangle 22">
              <a:extLst>
                <a:ext uri="{FF2B5EF4-FFF2-40B4-BE49-F238E27FC236}">
                  <a16:creationId xmlns:a16="http://schemas.microsoft.com/office/drawing/2014/main" id="{909AF051-357E-C704-42D0-B64A684EEF17}"/>
                </a:ext>
              </a:extLst>
            </p:cNvPr>
            <p:cNvSpPr/>
            <p:nvPr/>
          </p:nvSpPr>
          <p:spPr>
            <a:xfrm>
              <a:off x="1906747" y="3498768"/>
              <a:ext cx="559617" cy="571163"/>
            </a:xfrm>
            <a:prstGeom prst="rect">
              <a:avLst/>
            </a:prstGeom>
            <a:solidFill>
              <a:srgbClr val="8C95C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42" name="Rectangle 24">
              <a:extLst>
                <a:ext uri="{FF2B5EF4-FFF2-40B4-BE49-F238E27FC236}">
                  <a16:creationId xmlns:a16="http://schemas.microsoft.com/office/drawing/2014/main" id="{B30B9B7E-E4A4-33D3-C90B-BBA1286D44D1}"/>
                </a:ext>
              </a:extLst>
            </p:cNvPr>
            <p:cNvSpPr/>
            <p:nvPr/>
          </p:nvSpPr>
          <p:spPr>
            <a:xfrm>
              <a:off x="1242037" y="4167920"/>
              <a:ext cx="547482" cy="637677"/>
            </a:xfrm>
            <a:prstGeom prst="rect">
              <a:avLst/>
            </a:prstGeom>
            <a:solidFill>
              <a:srgbClr val="21BB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43" name="Rectangle 26">
              <a:extLst>
                <a:ext uri="{FF2B5EF4-FFF2-40B4-BE49-F238E27FC236}">
                  <a16:creationId xmlns:a16="http://schemas.microsoft.com/office/drawing/2014/main" id="{EFFC656C-36B2-07C4-A3D1-E93E2F6D6925}"/>
                </a:ext>
              </a:extLst>
            </p:cNvPr>
            <p:cNvSpPr/>
            <p:nvPr/>
          </p:nvSpPr>
          <p:spPr>
            <a:xfrm>
              <a:off x="1906748" y="4148795"/>
              <a:ext cx="557686" cy="656802"/>
            </a:xfrm>
            <a:prstGeom prst="rect">
              <a:avLst/>
            </a:prstGeom>
            <a:solidFill>
              <a:srgbClr val="A2C87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nl-NL" sz="1400"/>
            </a:p>
          </p:txBody>
        </p:sp>
        <p:sp>
          <p:nvSpPr>
            <p:cNvPr id="44" name="Tekstvak 43">
              <a:extLst>
                <a:ext uri="{FF2B5EF4-FFF2-40B4-BE49-F238E27FC236}">
                  <a16:creationId xmlns:a16="http://schemas.microsoft.com/office/drawing/2014/main" id="{6CF5EABC-91D2-7D04-BB70-FFE815E545CB}"/>
                </a:ext>
              </a:extLst>
            </p:cNvPr>
            <p:cNvSpPr txBox="1"/>
            <p:nvPr/>
          </p:nvSpPr>
          <p:spPr>
            <a:xfrm>
              <a:off x="1877153" y="3852819"/>
              <a:ext cx="1203445" cy="1508105"/>
            </a:xfrm>
            <a:prstGeom prst="rect">
              <a:avLst/>
            </a:prstGeom>
            <a:noFill/>
          </p:spPr>
          <p:txBody>
            <a:bodyPr wrap="square" rtlCol="0">
              <a:spAutoFit/>
            </a:bodyPr>
            <a:lstStyle/>
            <a:p>
              <a:endParaRPr lang="nl-NL"/>
            </a:p>
            <a:p>
              <a:r>
                <a:rPr lang="nl-NL" sz="1400">
                  <a:solidFill>
                    <a:schemeClr val="lt1"/>
                  </a:solidFill>
                </a:rPr>
                <a:t>Regionale data- en applicatie- architectuur</a:t>
              </a:r>
            </a:p>
            <a:p>
              <a:endParaRPr lang="nl-NL"/>
            </a:p>
          </p:txBody>
        </p:sp>
        <p:sp>
          <p:nvSpPr>
            <p:cNvPr id="45" name="Tekstvak 44">
              <a:extLst>
                <a:ext uri="{FF2B5EF4-FFF2-40B4-BE49-F238E27FC236}">
                  <a16:creationId xmlns:a16="http://schemas.microsoft.com/office/drawing/2014/main" id="{1C07740D-E1C7-4E06-653A-5199901E0F2F}"/>
                </a:ext>
              </a:extLst>
            </p:cNvPr>
            <p:cNvSpPr txBox="1"/>
            <p:nvPr/>
          </p:nvSpPr>
          <p:spPr>
            <a:xfrm>
              <a:off x="734168" y="4141438"/>
              <a:ext cx="1029097" cy="523220"/>
            </a:xfrm>
            <a:prstGeom prst="rect">
              <a:avLst/>
            </a:prstGeom>
            <a:noFill/>
          </p:spPr>
          <p:txBody>
            <a:bodyPr wrap="square">
              <a:spAutoFit/>
            </a:bodyPr>
            <a:lstStyle/>
            <a:p>
              <a:r>
                <a:rPr lang="nl-NL" sz="1400">
                  <a:solidFill>
                    <a:schemeClr val="lt1"/>
                  </a:solidFill>
                </a:rPr>
                <a:t>Basis op orde</a:t>
              </a:r>
            </a:p>
          </p:txBody>
        </p:sp>
        <p:sp>
          <p:nvSpPr>
            <p:cNvPr id="46" name="Tekstvak 45">
              <a:extLst>
                <a:ext uri="{FF2B5EF4-FFF2-40B4-BE49-F238E27FC236}">
                  <a16:creationId xmlns:a16="http://schemas.microsoft.com/office/drawing/2014/main" id="{E5CB9838-9A60-1873-EBD5-992B7B5EC56F}"/>
                </a:ext>
              </a:extLst>
            </p:cNvPr>
            <p:cNvSpPr txBox="1"/>
            <p:nvPr/>
          </p:nvSpPr>
          <p:spPr>
            <a:xfrm>
              <a:off x="740153" y="3062509"/>
              <a:ext cx="1232330" cy="738664"/>
            </a:xfrm>
            <a:prstGeom prst="rect">
              <a:avLst/>
            </a:prstGeom>
            <a:noFill/>
          </p:spPr>
          <p:txBody>
            <a:bodyPr wrap="square">
              <a:spAutoFit/>
            </a:bodyPr>
            <a:lstStyle/>
            <a:p>
              <a:r>
                <a:rPr lang="nl-NL" sz="1400">
                  <a:solidFill>
                    <a:schemeClr val="lt1"/>
                  </a:solidFill>
                </a:rPr>
                <a:t>Netwerkzorg inwoners- perspectief</a:t>
              </a:r>
            </a:p>
          </p:txBody>
        </p:sp>
        <p:sp>
          <p:nvSpPr>
            <p:cNvPr id="47" name="Tekstvak 46">
              <a:extLst>
                <a:ext uri="{FF2B5EF4-FFF2-40B4-BE49-F238E27FC236}">
                  <a16:creationId xmlns:a16="http://schemas.microsoft.com/office/drawing/2014/main" id="{00F8581C-9A78-5F34-63DA-BE8C21B02F9B}"/>
                </a:ext>
              </a:extLst>
            </p:cNvPr>
            <p:cNvSpPr txBox="1"/>
            <p:nvPr/>
          </p:nvSpPr>
          <p:spPr>
            <a:xfrm>
              <a:off x="1847444" y="3059923"/>
              <a:ext cx="1232330" cy="738664"/>
            </a:xfrm>
            <a:prstGeom prst="rect">
              <a:avLst/>
            </a:prstGeom>
            <a:noFill/>
          </p:spPr>
          <p:txBody>
            <a:bodyPr wrap="square">
              <a:spAutoFit/>
            </a:bodyPr>
            <a:lstStyle/>
            <a:p>
              <a:r>
                <a:rPr lang="nl-NL" sz="1400">
                  <a:solidFill>
                    <a:schemeClr val="lt1"/>
                  </a:solidFill>
                </a:rPr>
                <a:t>Netwerkzorg Professional perspectief</a:t>
              </a:r>
            </a:p>
          </p:txBody>
        </p:sp>
      </p:grpSp>
      <p:sp>
        <p:nvSpPr>
          <p:cNvPr id="54" name="Tekstvak 53">
            <a:extLst>
              <a:ext uri="{FF2B5EF4-FFF2-40B4-BE49-F238E27FC236}">
                <a16:creationId xmlns:a16="http://schemas.microsoft.com/office/drawing/2014/main" id="{84BF3995-BB5F-500A-0CB2-46591DA22060}"/>
              </a:ext>
            </a:extLst>
          </p:cNvPr>
          <p:cNvSpPr txBox="1"/>
          <p:nvPr/>
        </p:nvSpPr>
        <p:spPr>
          <a:xfrm>
            <a:off x="425302" y="2258606"/>
            <a:ext cx="3004188" cy="867930"/>
          </a:xfrm>
          <a:prstGeom prst="rect">
            <a:avLst/>
          </a:prstGeom>
          <a:noFill/>
        </p:spPr>
        <p:txBody>
          <a:bodyPr wrap="square">
            <a:spAutoFit/>
          </a:bodyPr>
          <a:lstStyle/>
          <a:p>
            <a:pPr>
              <a:lnSpc>
                <a:spcPct val="90000"/>
              </a:lnSpc>
              <a:spcBef>
                <a:spcPts val="1000"/>
              </a:spcBef>
            </a:pPr>
            <a:r>
              <a:rPr lang="nl-NL" sz="1400">
                <a:latin typeface="Verdana" panose="020B0604030504040204" pitchFamily="34" charset="0"/>
                <a:ea typeface="Calibri" panose="020F0502020204030204" pitchFamily="34" charset="0"/>
                <a:cs typeface="Arial" panose="020B0604020202020204" pitchFamily="34" charset="0"/>
              </a:rPr>
              <a:t>De plateauplanning maakt de enorme uitdaging in de regio behapbaar. De aanvraag geldt voor de IZA looptijd t/m </a:t>
            </a:r>
            <a:r>
              <a:rPr lang="nl-NL" sz="1400">
                <a:highlight>
                  <a:srgbClr val="FFFF00"/>
                </a:highlight>
                <a:latin typeface="Verdana" panose="020B0604030504040204" pitchFamily="34" charset="0"/>
                <a:ea typeface="Calibri" panose="020F0502020204030204" pitchFamily="34" charset="0"/>
                <a:cs typeface="Arial" panose="020B0604020202020204" pitchFamily="34" charset="0"/>
              </a:rPr>
              <a:t>2026</a:t>
            </a:r>
            <a:r>
              <a:rPr lang="nl-NL" sz="1400">
                <a:latin typeface="Verdana" panose="020B0604030504040204" pitchFamily="34" charset="0"/>
                <a:ea typeface="Calibri" panose="020F0502020204030204" pitchFamily="34" charset="0"/>
                <a:cs typeface="Arial" panose="020B0604020202020204" pitchFamily="34" charset="0"/>
              </a:rPr>
              <a:t>.</a:t>
            </a:r>
          </a:p>
        </p:txBody>
      </p:sp>
      <p:sp>
        <p:nvSpPr>
          <p:cNvPr id="14" name="Rectangle 33">
            <a:extLst>
              <a:ext uri="{FF2B5EF4-FFF2-40B4-BE49-F238E27FC236}">
                <a16:creationId xmlns:a16="http://schemas.microsoft.com/office/drawing/2014/main" id="{7E1E79E9-16DE-8B16-5054-F551552C5124}"/>
              </a:ext>
            </a:extLst>
          </p:cNvPr>
          <p:cNvSpPr/>
          <p:nvPr/>
        </p:nvSpPr>
        <p:spPr>
          <a:xfrm>
            <a:off x="10627356" y="6150732"/>
            <a:ext cx="938167" cy="327360"/>
          </a:xfrm>
          <a:prstGeom prst="rect">
            <a:avLst/>
          </a:prstGeom>
          <a:solidFill>
            <a:srgbClr val="75818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t>2030</a:t>
            </a:r>
          </a:p>
        </p:txBody>
      </p:sp>
      <p:sp>
        <p:nvSpPr>
          <p:cNvPr id="7" name="Rectangle: Top Corners Rounded 38">
            <a:hlinkClick r:id="rId4" action="ppaction://hlinksldjump"/>
            <a:extLst>
              <a:ext uri="{FF2B5EF4-FFF2-40B4-BE49-F238E27FC236}">
                <a16:creationId xmlns:a16="http://schemas.microsoft.com/office/drawing/2014/main" id="{132B38B6-D2D4-3BBE-5646-8ACF4641ABA2}"/>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1" name="Graphic 50" descr="Introductiepagina silhouet">
            <a:hlinkClick r:id="rId5" action="ppaction://hlinksldjump"/>
            <a:extLst>
              <a:ext uri="{FF2B5EF4-FFF2-40B4-BE49-F238E27FC236}">
                <a16:creationId xmlns:a16="http://schemas.microsoft.com/office/drawing/2014/main" id="{64AABCB6-4354-2D75-C7AA-795777B1C5C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136" y="147223"/>
            <a:ext cx="144000" cy="144000"/>
          </a:xfrm>
          <a:prstGeom prst="rect">
            <a:avLst/>
          </a:prstGeom>
        </p:spPr>
      </p:pic>
      <p:sp>
        <p:nvSpPr>
          <p:cNvPr id="52" name="Rectangle: Top Corners Rounded 1">
            <a:hlinkClick r:id="rId8" action="ppaction://hlinksldjump"/>
            <a:extLst>
              <a:ext uri="{FF2B5EF4-FFF2-40B4-BE49-F238E27FC236}">
                <a16:creationId xmlns:a16="http://schemas.microsoft.com/office/drawing/2014/main" id="{F570624D-59B5-4FE8-31DB-49F5A52B924F}"/>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61" name="Rectangle: Top Corners Rounded 1">
            <a:hlinkClick r:id="rId9" action="ppaction://hlinksldjump"/>
            <a:extLst>
              <a:ext uri="{FF2B5EF4-FFF2-40B4-BE49-F238E27FC236}">
                <a16:creationId xmlns:a16="http://schemas.microsoft.com/office/drawing/2014/main" id="{F71A0C7E-7FA8-B916-E3CA-7A8B5A9332E0}"/>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62" name="Rectangle: Top Corners Rounded 1">
            <a:hlinkClick r:id="rId10" action="ppaction://hlinksldjump"/>
            <a:extLst>
              <a:ext uri="{FF2B5EF4-FFF2-40B4-BE49-F238E27FC236}">
                <a16:creationId xmlns:a16="http://schemas.microsoft.com/office/drawing/2014/main" id="{19B5F538-5646-DAFE-03B3-0CAB516314A6}"/>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63" name="Rectangle: Top Corners Rounded 1">
            <a:hlinkClick r:id="rId11" action="ppaction://hlinksldjump"/>
            <a:extLst>
              <a:ext uri="{FF2B5EF4-FFF2-40B4-BE49-F238E27FC236}">
                <a16:creationId xmlns:a16="http://schemas.microsoft.com/office/drawing/2014/main" id="{540D7DC5-8666-2521-AA88-5E861B67C3FB}"/>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64" name="Rectangle: Top Corners Rounded 1">
            <a:hlinkClick r:id="rId12" action="ppaction://hlinksldjump"/>
            <a:extLst>
              <a:ext uri="{FF2B5EF4-FFF2-40B4-BE49-F238E27FC236}">
                <a16:creationId xmlns:a16="http://schemas.microsoft.com/office/drawing/2014/main" id="{75C38DC7-063C-3BC0-7F60-D805668017D2}"/>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65" name="Rectangle: Top Corners Rounded 1">
            <a:hlinkClick r:id="rId13" action="ppaction://hlinksldjump"/>
            <a:extLst>
              <a:ext uri="{FF2B5EF4-FFF2-40B4-BE49-F238E27FC236}">
                <a16:creationId xmlns:a16="http://schemas.microsoft.com/office/drawing/2014/main" id="{7848F45B-E5BE-1989-C9AB-016E1246301B}"/>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66" name="Rectangle: Top Corners Rounded 1">
            <a:hlinkClick r:id="rId14" action="ppaction://hlinksldjump"/>
            <a:extLst>
              <a:ext uri="{FF2B5EF4-FFF2-40B4-BE49-F238E27FC236}">
                <a16:creationId xmlns:a16="http://schemas.microsoft.com/office/drawing/2014/main" id="{49F506FE-A246-EA0C-FC13-56BCE9097EC1}"/>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67" name="Rectangle: Top Corners Rounded 1">
            <a:hlinkClick r:id="rId15" action="ppaction://hlinksldjump"/>
            <a:extLst>
              <a:ext uri="{FF2B5EF4-FFF2-40B4-BE49-F238E27FC236}">
                <a16:creationId xmlns:a16="http://schemas.microsoft.com/office/drawing/2014/main" id="{4F37D0F0-F37C-D64F-0C48-008E67BD483B}"/>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Governance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68" name="Rectangle: Top Corners Rounded 1">
            <a:hlinkClick r:id="rId16" action="ppaction://hlinksldjump"/>
            <a:extLst>
              <a:ext uri="{FF2B5EF4-FFF2-40B4-BE49-F238E27FC236}">
                <a16:creationId xmlns:a16="http://schemas.microsoft.com/office/drawing/2014/main" id="{A8F208D8-64BA-6D94-161D-6203EF75C4E3}"/>
              </a:ext>
            </a:extLst>
          </p:cNvPr>
          <p:cNvSpPr/>
          <p:nvPr/>
        </p:nvSpPr>
        <p:spPr>
          <a:xfrm>
            <a:off x="8547068"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Implementatie planning en aanpak</a:t>
            </a:r>
          </a:p>
        </p:txBody>
      </p:sp>
      <p:sp>
        <p:nvSpPr>
          <p:cNvPr id="69" name="Rectangle: Top Corners Rounded 1">
            <a:hlinkClick r:id="rId17" action="ppaction://hlinksldjump"/>
            <a:extLst>
              <a:ext uri="{FF2B5EF4-FFF2-40B4-BE49-F238E27FC236}">
                <a16:creationId xmlns:a16="http://schemas.microsoft.com/office/drawing/2014/main" id="{04316C28-61B9-349E-7BE8-B99FAB06124A}"/>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Randvoorwaar-den</a:t>
            </a:r>
            <a:r>
              <a:rPr lang="nl-NL" sz="600">
                <a:solidFill>
                  <a:srgbClr val="8C95CD"/>
                </a:solidFill>
                <a:latin typeface="Verdana Pro" panose="020B0604030504040204" pitchFamily="34" charset="0"/>
                <a:ea typeface="Verdana" panose="020B0604030504040204" pitchFamily="34" charset="0"/>
              </a:rPr>
              <a:t> voor succes</a:t>
            </a:r>
          </a:p>
        </p:txBody>
      </p:sp>
      <p:sp>
        <p:nvSpPr>
          <p:cNvPr id="70" name="Rectangle: Top Corners Rounded 1">
            <a:hlinkClick r:id="rId18" action="ppaction://hlinksldjump"/>
            <a:extLst>
              <a:ext uri="{FF2B5EF4-FFF2-40B4-BE49-F238E27FC236}">
                <a16:creationId xmlns:a16="http://schemas.microsoft.com/office/drawing/2014/main" id="{28FB184B-7C87-3AB7-6488-3A0E456FD59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sp>
        <p:nvSpPr>
          <p:cNvPr id="71" name="Slide Number Placeholder 64">
            <a:extLst>
              <a:ext uri="{FF2B5EF4-FFF2-40B4-BE49-F238E27FC236}">
                <a16:creationId xmlns:a16="http://schemas.microsoft.com/office/drawing/2014/main" id="{0C84FDAD-099D-1744-DCAF-52A2F284CCF7}"/>
              </a:ext>
            </a:extLst>
          </p:cNvPr>
          <p:cNvSpPr txBox="1">
            <a:spLocks/>
          </p:cNvSpPr>
          <p:nvPr/>
        </p:nvSpPr>
        <p:spPr>
          <a:xfrm>
            <a:off x="5916000" y="6551983"/>
            <a:ext cx="360000" cy="287338"/>
          </a:xfrm>
          <a:prstGeom prst="rect">
            <a:avLst/>
          </a:prstGeom>
        </p:spPr>
        <p:txBody>
          <a:bodyPr/>
          <a:ls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98A4D3-8B34-4F59-BA76-BF518A49D96C}" type="slidenum">
              <a:rPr lang="nl-NL" sz="900" smtClean="0"/>
              <a:pPr/>
              <a:t>100</a:t>
            </a:fld>
            <a:endParaRPr lang="nl-NL" sz="900"/>
          </a:p>
        </p:txBody>
      </p:sp>
    </p:spTree>
    <p:extLst>
      <p:ext uri="{BB962C8B-B14F-4D97-AF65-F5344CB8AC3E}">
        <p14:creationId xmlns:p14="http://schemas.microsoft.com/office/powerpoint/2010/main" val="117444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a:xfrm>
            <a:off x="769061" y="2728540"/>
            <a:ext cx="10515600" cy="1261351"/>
          </a:xfrm>
        </p:spPr>
        <p:txBody>
          <a:bodyPr vert="horz">
            <a:normAutofit/>
          </a:bodyPr>
          <a:lstStyle/>
          <a:p>
            <a:r>
              <a:rPr lang="fr-FR" err="1"/>
              <a:t>Randvoorwaarden</a:t>
            </a:r>
            <a:r>
              <a:rPr lang="fr-FR"/>
              <a:t> </a:t>
            </a:r>
            <a:r>
              <a:rPr lang="fr-FR" err="1"/>
              <a:t>voor</a:t>
            </a:r>
            <a:r>
              <a:rPr lang="fr-FR"/>
              <a:t> </a:t>
            </a:r>
            <a:r>
              <a:rPr lang="fr-FR" err="1"/>
              <a:t>succes</a:t>
            </a:r>
            <a:endParaRPr lang="fr-FR"/>
          </a:p>
        </p:txBody>
      </p:sp>
    </p:spTree>
    <p:extLst>
      <p:ext uri="{BB962C8B-B14F-4D97-AF65-F5344CB8AC3E}">
        <p14:creationId xmlns:p14="http://schemas.microsoft.com/office/powerpoint/2010/main" val="32596998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153F750-61E0-49A9-AC1F-E4921A60D06C}"/>
              </a:ext>
            </a:extLst>
          </p:cNvPr>
          <p:cNvSpPr>
            <a:spLocks noGrp="1"/>
          </p:cNvSpPr>
          <p:nvPr>
            <p:ph type="title"/>
          </p:nvPr>
        </p:nvSpPr>
        <p:spPr>
          <a:xfrm>
            <a:off x="425302" y="465998"/>
            <a:ext cx="10166498" cy="504000"/>
          </a:xfrm>
        </p:spPr>
        <p:txBody>
          <a:bodyPr>
            <a:noAutofit/>
          </a:bodyPr>
          <a:lstStyle/>
          <a:p>
            <a:r>
              <a:rPr lang="nl-NL"/>
              <a:t>Belangrijkste risico’s &amp; mitigerende maatregelen (1/2) </a:t>
            </a:r>
          </a:p>
        </p:txBody>
      </p:sp>
      <p:sp>
        <p:nvSpPr>
          <p:cNvPr id="89" name="Text Placeholder 88">
            <a:extLst>
              <a:ext uri="{FF2B5EF4-FFF2-40B4-BE49-F238E27FC236}">
                <a16:creationId xmlns:a16="http://schemas.microsoft.com/office/drawing/2014/main" id="{25584C5D-DDEE-F939-AB39-A99BB8D129F5}"/>
              </a:ext>
            </a:extLst>
          </p:cNvPr>
          <p:cNvSpPr>
            <a:spLocks noGrp="1"/>
          </p:cNvSpPr>
          <p:nvPr>
            <p:ph type="body" sz="quarter" idx="10"/>
          </p:nvPr>
        </p:nvSpPr>
        <p:spPr/>
        <p:txBody>
          <a:bodyPr/>
          <a:lstStyle/>
          <a:p>
            <a:endParaRPr lang="en-GB"/>
          </a:p>
        </p:txBody>
      </p:sp>
      <p:sp>
        <p:nvSpPr>
          <p:cNvPr id="2" name="Rectangle: Top Corners Rounded 38">
            <a:hlinkClick r:id="rId3" action="ppaction://hlinksldjump"/>
            <a:extLst>
              <a:ext uri="{FF2B5EF4-FFF2-40B4-BE49-F238E27FC236}">
                <a16:creationId xmlns:a16="http://schemas.microsoft.com/office/drawing/2014/main" id="{3028FEA7-68EB-18F2-2BFA-9676B10A7DF5}"/>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4" action="ppaction://hlinksldjump"/>
            <a:extLst>
              <a:ext uri="{FF2B5EF4-FFF2-40B4-BE49-F238E27FC236}">
                <a16:creationId xmlns:a16="http://schemas.microsoft.com/office/drawing/2014/main" id="{9A9E1F9E-7E52-342F-2065-666C86A018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6" name="Rectangle: Top Corners Rounded 1">
            <a:hlinkClick r:id="rId7" action="ppaction://hlinksldjump"/>
            <a:extLst>
              <a:ext uri="{FF2B5EF4-FFF2-40B4-BE49-F238E27FC236}">
                <a16:creationId xmlns:a16="http://schemas.microsoft.com/office/drawing/2014/main" id="{F14910FC-85AF-F708-128A-FF9C739613A0}"/>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8" action="ppaction://hlinksldjump"/>
            <a:extLst>
              <a:ext uri="{FF2B5EF4-FFF2-40B4-BE49-F238E27FC236}">
                <a16:creationId xmlns:a16="http://schemas.microsoft.com/office/drawing/2014/main" id="{7474A6D5-5782-12C6-5553-B2DD9952BFC4}"/>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8" name="Rectangle: Top Corners Rounded 1">
            <a:hlinkClick r:id="rId9" action="ppaction://hlinksldjump"/>
            <a:extLst>
              <a:ext uri="{FF2B5EF4-FFF2-40B4-BE49-F238E27FC236}">
                <a16:creationId xmlns:a16="http://schemas.microsoft.com/office/drawing/2014/main" id="{AD79EAB5-0087-672B-F9FF-0CF129AABAA0}"/>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9" name="Rectangle: Top Corners Rounded 1">
            <a:hlinkClick r:id="rId10" action="ppaction://hlinksldjump"/>
            <a:extLst>
              <a:ext uri="{FF2B5EF4-FFF2-40B4-BE49-F238E27FC236}">
                <a16:creationId xmlns:a16="http://schemas.microsoft.com/office/drawing/2014/main" id="{EDA29765-265A-5F84-B388-A72F4D464A7A}"/>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0" name="Rectangle: Top Corners Rounded 1">
            <a:hlinkClick r:id="rId11" action="ppaction://hlinksldjump"/>
            <a:extLst>
              <a:ext uri="{FF2B5EF4-FFF2-40B4-BE49-F238E27FC236}">
                <a16:creationId xmlns:a16="http://schemas.microsoft.com/office/drawing/2014/main" id="{0677AA7E-E796-FBF3-9DFC-6A359521EC54}"/>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1" name="Rectangle: Top Corners Rounded 1">
            <a:hlinkClick r:id="rId12" action="ppaction://hlinksldjump"/>
            <a:extLst>
              <a:ext uri="{FF2B5EF4-FFF2-40B4-BE49-F238E27FC236}">
                <a16:creationId xmlns:a16="http://schemas.microsoft.com/office/drawing/2014/main" id="{F226B1A1-D75A-41F0-6952-1EAD791E8C84}"/>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2" name="Rectangle: Top Corners Rounded 1">
            <a:hlinkClick r:id="rId13" action="ppaction://hlinksldjump"/>
            <a:extLst>
              <a:ext uri="{FF2B5EF4-FFF2-40B4-BE49-F238E27FC236}">
                <a16:creationId xmlns:a16="http://schemas.microsoft.com/office/drawing/2014/main" id="{B75D191E-6CEB-7237-5699-2FC5B13AEEA5}"/>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3" name="Rectangle: Top Corners Rounded 1">
            <a:hlinkClick r:id="rId14" action="ppaction://hlinksldjump"/>
            <a:extLst>
              <a:ext uri="{FF2B5EF4-FFF2-40B4-BE49-F238E27FC236}">
                <a16:creationId xmlns:a16="http://schemas.microsoft.com/office/drawing/2014/main" id="{4574D4A6-7C77-B0E1-5F6D-F4DBC8500C47}"/>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4" name="Rectangle: Top Corners Rounded 1">
            <a:hlinkClick r:id="rId15" action="ppaction://hlinksldjump"/>
            <a:extLst>
              <a:ext uri="{FF2B5EF4-FFF2-40B4-BE49-F238E27FC236}">
                <a16:creationId xmlns:a16="http://schemas.microsoft.com/office/drawing/2014/main" id="{42FF7E4A-58F9-8AC7-305D-CB31AB80B555}"/>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5" name="Rectangle: Top Corners Rounded 1">
            <a:hlinkClick r:id="rId16" action="ppaction://hlinksldjump"/>
            <a:extLst>
              <a:ext uri="{FF2B5EF4-FFF2-40B4-BE49-F238E27FC236}">
                <a16:creationId xmlns:a16="http://schemas.microsoft.com/office/drawing/2014/main" id="{4FF0F979-49C2-D6BA-B21F-AB42EBD56EE1}"/>
              </a:ext>
            </a:extLst>
          </p:cNvPr>
          <p:cNvSpPr/>
          <p:nvPr/>
        </p:nvSpPr>
        <p:spPr>
          <a:xfrm>
            <a:off x="946455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err="1">
                <a:solidFill>
                  <a:srgbClr val="F1F2F9"/>
                </a:solidFill>
                <a:latin typeface="Verdana Pro" panose="020B0604030504040204" pitchFamily="34" charset="0"/>
                <a:ea typeface="Verdana" panose="020B0604030504040204" pitchFamily="34" charset="0"/>
              </a:rPr>
              <a:t>Randvoorwaar-den</a:t>
            </a:r>
            <a:r>
              <a:rPr lang="nl-NL" sz="600" b="1">
                <a:solidFill>
                  <a:srgbClr val="F1F2F9"/>
                </a:solidFill>
                <a:latin typeface="Verdana Pro" panose="020B0604030504040204" pitchFamily="34" charset="0"/>
                <a:ea typeface="Verdana" panose="020B0604030504040204" pitchFamily="34" charset="0"/>
              </a:rPr>
              <a:t> voor succes</a:t>
            </a:r>
          </a:p>
        </p:txBody>
      </p:sp>
      <p:sp>
        <p:nvSpPr>
          <p:cNvPr id="16" name="Rectangle: Top Corners Rounded 1">
            <a:hlinkClick r:id="rId17" action="ppaction://hlinksldjump"/>
            <a:extLst>
              <a:ext uri="{FF2B5EF4-FFF2-40B4-BE49-F238E27FC236}">
                <a16:creationId xmlns:a16="http://schemas.microsoft.com/office/drawing/2014/main" id="{50C3DA32-B7BE-3FB9-8EEC-CF91C9E2A156}"/>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graphicFrame>
        <p:nvGraphicFramePr>
          <p:cNvPr id="17" name="Table 16">
            <a:extLst>
              <a:ext uri="{FF2B5EF4-FFF2-40B4-BE49-F238E27FC236}">
                <a16:creationId xmlns:a16="http://schemas.microsoft.com/office/drawing/2014/main" id="{C3A1DEDF-507B-AA73-0FE6-08C011C03E4C}"/>
              </a:ext>
            </a:extLst>
          </p:cNvPr>
          <p:cNvGraphicFramePr>
            <a:graphicFrameLocks noGrp="1"/>
          </p:cNvGraphicFramePr>
          <p:nvPr>
            <p:extLst>
              <p:ext uri="{D42A27DB-BD31-4B8C-83A1-F6EECF244321}">
                <p14:modId xmlns:p14="http://schemas.microsoft.com/office/powerpoint/2010/main" val="3184349937"/>
              </p:ext>
            </p:extLst>
          </p:nvPr>
        </p:nvGraphicFramePr>
        <p:xfrm>
          <a:off x="425302" y="1547556"/>
          <a:ext cx="10944001" cy="4716000"/>
        </p:xfrm>
        <a:graphic>
          <a:graphicData uri="http://schemas.openxmlformats.org/drawingml/2006/table">
            <a:tbl>
              <a:tblPr firstRow="1" bandRow="1">
                <a:tableStyleId>{2D5ABB26-0587-4C30-8999-92F81FD0307C}</a:tableStyleId>
              </a:tblPr>
              <a:tblGrid>
                <a:gridCol w="1039648">
                  <a:extLst>
                    <a:ext uri="{9D8B030D-6E8A-4147-A177-3AD203B41FA5}">
                      <a16:colId xmlns:a16="http://schemas.microsoft.com/office/drawing/2014/main" val="1815000370"/>
                    </a:ext>
                  </a:extLst>
                </a:gridCol>
                <a:gridCol w="346550">
                  <a:extLst>
                    <a:ext uri="{9D8B030D-6E8A-4147-A177-3AD203B41FA5}">
                      <a16:colId xmlns:a16="http://schemas.microsoft.com/office/drawing/2014/main" val="134627084"/>
                    </a:ext>
                  </a:extLst>
                </a:gridCol>
                <a:gridCol w="3465493">
                  <a:extLst>
                    <a:ext uri="{9D8B030D-6E8A-4147-A177-3AD203B41FA5}">
                      <a16:colId xmlns:a16="http://schemas.microsoft.com/office/drawing/2014/main" val="964197791"/>
                    </a:ext>
                  </a:extLst>
                </a:gridCol>
                <a:gridCol w="778265">
                  <a:extLst>
                    <a:ext uri="{9D8B030D-6E8A-4147-A177-3AD203B41FA5}">
                      <a16:colId xmlns:a16="http://schemas.microsoft.com/office/drawing/2014/main" val="3183266326"/>
                    </a:ext>
                  </a:extLst>
                </a:gridCol>
                <a:gridCol w="843559">
                  <a:extLst>
                    <a:ext uri="{9D8B030D-6E8A-4147-A177-3AD203B41FA5}">
                      <a16:colId xmlns:a16="http://schemas.microsoft.com/office/drawing/2014/main" val="3729259534"/>
                    </a:ext>
                  </a:extLst>
                </a:gridCol>
                <a:gridCol w="4470486">
                  <a:extLst>
                    <a:ext uri="{9D8B030D-6E8A-4147-A177-3AD203B41FA5}">
                      <a16:colId xmlns:a16="http://schemas.microsoft.com/office/drawing/2014/main" val="4278054401"/>
                    </a:ext>
                  </a:extLst>
                </a:gridCol>
              </a:tblGrid>
              <a:tr h="183268">
                <a:tc>
                  <a:txBody>
                    <a:bodyPr/>
                    <a:lstStyle/>
                    <a:p>
                      <a:pPr algn="l"/>
                      <a:r>
                        <a:rPr lang="nl-NL" sz="900" b="1" kern="1200">
                          <a:solidFill>
                            <a:schemeClr val="tx1">
                              <a:lumMod val="65000"/>
                              <a:lumOff val="35000"/>
                            </a:schemeClr>
                          </a:solidFill>
                          <a:latin typeface="Verdana Pro" panose="020B0604030504040204" pitchFamily="34" charset="0"/>
                          <a:ea typeface="+mn-ea"/>
                          <a:cs typeface="+mn-cs"/>
                        </a:rPr>
                        <a:t>Onderwerp</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endParaRPr lang="nl-NL" sz="900" b="1" kern="1200">
                        <a:solidFill>
                          <a:schemeClr val="tx1">
                            <a:lumMod val="65000"/>
                            <a:lumOff val="35000"/>
                          </a:schemeClr>
                        </a:solidFill>
                        <a:latin typeface="Verdana Pro" panose="020B0604030504040204" pitchFamily="34" charset="0"/>
                        <a:ea typeface="+mn-ea"/>
                        <a:cs typeface="+mn-cs"/>
                      </a:endParaRP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ro" panose="020B0604030504040204" pitchFamily="34" charset="0"/>
                        </a:rPr>
                        <a:t>Risico</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ro" panose="020B0604030504040204" pitchFamily="34" charset="0"/>
                        </a:rPr>
                        <a:t>Kans</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ro" panose="020B0604030504040204" pitchFamily="34" charset="0"/>
                        </a:rPr>
                        <a:t>Impact</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ro" panose="020B0604030504040204" pitchFamily="34" charset="0"/>
                        </a:rPr>
                        <a:t>Mitigerende maatregel</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216751"/>
                  </a:ext>
                </a:extLst>
              </a:tr>
              <a:tr h="0">
                <a:tc>
                  <a:txBody>
                    <a:bodyPr/>
                    <a:lstStyle/>
                    <a:p>
                      <a:pPr algn="ctr"/>
                      <a:r>
                        <a:rPr lang="nl-NL" sz="900">
                          <a:solidFill>
                            <a:schemeClr val="tx1"/>
                          </a:solidFill>
                          <a:latin typeface="Verdana Pro" panose="020B0604030504040204" pitchFamily="34" charset="0"/>
                        </a:rPr>
                        <a:t>Project-management</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ro" panose="020B0604030504040204" pitchFamily="34" charset="0"/>
                        </a:rPr>
                        <a:t>1</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b="0">
                          <a:latin typeface="Verdana Pro" panose="020B0604030504040204" pitchFamily="34" charset="0"/>
                        </a:rPr>
                        <a:t>Onvoldoende beschikbaarheid van mensen t.b.v. het implementeren van het transformatieplan</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NL" sz="900" b="0" i="0" u="none" strike="noStrike" kern="1200" cap="none" spc="0" normalizeH="0" baseline="0" noProof="0">
                          <a:ln>
                            <a:noFill/>
                          </a:ln>
                          <a:solidFill>
                            <a:prstClr val="black"/>
                          </a:solidFill>
                          <a:effectLst/>
                          <a:uLnTx/>
                          <a:uFillTx/>
                          <a:latin typeface="Verdana Pro" panose="020B0604030504040204" pitchFamily="34" charset="0"/>
                          <a:ea typeface="+mn-ea"/>
                          <a:cs typeface="Calibri"/>
                        </a:rPr>
                        <a:t>Hoog</a:t>
                      </a:r>
                      <a:endParaRPr lang="en-US" sz="900">
                        <a:solidFill>
                          <a:schemeClr val="tx1"/>
                        </a:solidFill>
                        <a:latin typeface="Verdana Pro" panose="020B0604030504040204" pitchFamily="34" charset="0"/>
                        <a:cs typeface="Calibri"/>
                      </a:endParaRP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NL" sz="900" b="0" i="0" u="none" strike="noStrike" kern="1200" cap="none" spc="0" normalizeH="0" baseline="0" noProof="0">
                          <a:ln>
                            <a:noFill/>
                          </a:ln>
                          <a:solidFill>
                            <a:prstClr val="black"/>
                          </a:solidFill>
                          <a:effectLst/>
                          <a:uLnTx/>
                          <a:uFillTx/>
                          <a:latin typeface="Verdana Pro" panose="020B0604030504040204" pitchFamily="34" charset="0"/>
                          <a:ea typeface="+mn-ea"/>
                          <a:cs typeface="Calibri"/>
                        </a:rPr>
                        <a:t>Hoog</a:t>
                      </a:r>
                      <a:endParaRPr lang="en-US" sz="900">
                        <a:solidFill>
                          <a:schemeClr val="tx1"/>
                        </a:solidFill>
                        <a:latin typeface="Verdana Pro" panose="020B0604030504040204" pitchFamily="34" charset="0"/>
                        <a:cs typeface="Calibri"/>
                      </a:endParaRP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mn-cs"/>
                        </a:rPr>
                        <a:t>Escaleren naar en afstemmen met de ALV</a:t>
                      </a: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pPr>
                      <a:r>
                        <a:rPr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mn-cs"/>
                        </a:rPr>
                        <a:t>Planning vroegtijdig kenbaar maken om tijdig mensen vrij te maken om plannen uit te kunnen voeren (commitment vanuit de organisaties en contractueel vastleggen)</a:t>
                      </a:r>
                    </a:p>
                    <a:p>
                      <a:pPr marL="88900" indent="-88900" algn="l" defTabSz="914400" rtl="0" eaLnBrk="1" fontAlgn="base" latinLnBrk="0" hangingPunct="1">
                        <a:buFont typeface="Arial" panose="020B0604020202020204" pitchFamily="34" charset="0"/>
                        <a:buChar char="•"/>
                      </a:pPr>
                      <a:r>
                        <a:rPr lang="nl-NL" sz="900" b="0" i="0" u="none" strike="noStrike" kern="1200">
                          <a:solidFill>
                            <a:srgbClr val="000000"/>
                          </a:solidFill>
                          <a:effectLst/>
                          <a:latin typeface="Verdana Pro" panose="020B0604030504040204" pitchFamily="34" charset="0"/>
                          <a:ea typeface="+mn-ea"/>
                          <a:cs typeface="+mn-cs"/>
                        </a:rPr>
                        <a:t>Realisatie van dit transformatieplan prioriteren binnen de zorgorganisaties (bestuurlijke commitment en sturing hierop helpt). Evt. extra personeel aantrekken of inhuren</a:t>
                      </a:r>
                    </a:p>
                    <a:p>
                      <a:pPr marL="88900" lvl="0" indent="-88900" algn="l" defTabSz="914400" rtl="0" eaLnBrk="1" fontAlgn="base" latinLnBrk="0" hangingPunct="1">
                        <a:buFont typeface="Arial" panose="020B0604020202020204" pitchFamily="34" charset="0"/>
                        <a:buChar char="•"/>
                      </a:pPr>
                      <a:r>
                        <a:rPr lang="nl-NL" sz="900" b="0" i="0" u="none" strike="noStrike" kern="1200">
                          <a:solidFill>
                            <a:srgbClr val="000000"/>
                          </a:solidFill>
                          <a:effectLst/>
                          <a:latin typeface="Verdana Pro" panose="020B0604030504040204" pitchFamily="34" charset="0"/>
                          <a:ea typeface="+mn-ea"/>
                          <a:cs typeface="+mn-cs"/>
                        </a:rPr>
                        <a:t>Voldoende urgentie vanuit de werkvloer werkt ook als stimulans</a:t>
                      </a:r>
                      <a:endParaRPr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mn-cs"/>
                      </a:endParaRP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b="0" i="0" u="none" strike="noStrike" kern="1200">
                          <a:solidFill>
                            <a:srgbClr val="000000"/>
                          </a:solidFill>
                          <a:effectLst/>
                          <a:latin typeface="Verdana Pro" panose="020B0604030504040204" pitchFamily="34" charset="0"/>
                          <a:ea typeface="+mn-ea"/>
                          <a:cs typeface="+mn-cs"/>
                        </a:rPr>
                        <a:t>Er zijn out-of-pocket kosten opgenomen in de business case om in dit geval extern personeel te kunnen inschakelen</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673501040"/>
                  </a:ext>
                </a:extLst>
              </a:tr>
              <a:tr h="0">
                <a:tc>
                  <a:txBody>
                    <a:bodyPr/>
                    <a:lstStyle/>
                    <a:p>
                      <a:pPr algn="ctr"/>
                      <a:r>
                        <a:rPr lang="nl-NL" sz="900">
                          <a:solidFill>
                            <a:schemeClr val="tx1"/>
                          </a:solidFill>
                          <a:latin typeface="Verdana Pro" panose="020B0604030504040204" pitchFamily="34" charset="0"/>
                        </a:rPr>
                        <a:t>Project-management</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ro" panose="020B0604030504040204" pitchFamily="34" charset="0"/>
                        </a:rPr>
                        <a:t>2</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a:latin typeface="Verdana Pro" panose="020B0604030504040204" pitchFamily="34" charset="0"/>
                        </a:rPr>
                        <a:t>Gebrek aan integraliteit en samenwerking van de usecases, waardoor niet het maximale uit de usecases gehaald kan worden</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Calibri" panose="020F0502020204030204" pitchFamily="34" charset="0"/>
                        </a:rPr>
                        <a:t>Hoog</a:t>
                      </a:r>
                      <a:endParaRPr lang="en-US" sz="900">
                        <a:solidFill>
                          <a:schemeClr val="tx1"/>
                        </a:solidFill>
                        <a:latin typeface="Verdana Pro" panose="020B0604030504040204" pitchFamily="34" charset="0"/>
                        <a:cs typeface="Calibri" panose="020F0502020204030204" pitchFamily="34" charset="0"/>
                      </a:endParaRP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Calibri" panose="020F0502020204030204" pitchFamily="34" charset="0"/>
                        </a:rPr>
                        <a:t>Hoog</a:t>
                      </a:r>
                      <a:endParaRPr lang="en-US" sz="900">
                        <a:solidFill>
                          <a:schemeClr val="tx1"/>
                        </a:solidFill>
                        <a:latin typeface="Verdana Pro" panose="020B0604030504040204" pitchFamily="34" charset="0"/>
                        <a:cs typeface="Calibri" panose="020F0502020204030204" pitchFamily="34" charset="0"/>
                      </a:endParaRP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88900" marR="0" lvl="0" indent="-8890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nl-NL" sz="900" b="0" i="0" u="none" strike="noStrike" kern="1200" noProof="0">
                          <a:solidFill>
                            <a:srgbClr val="000000"/>
                          </a:solidFill>
                          <a:effectLst/>
                          <a:latin typeface="Verdana Pro" panose="020B0604030504040204" pitchFamily="34" charset="0"/>
                          <a:ea typeface="+mn-ea"/>
                          <a:cs typeface="+mn-cs"/>
                        </a:rPr>
                        <a:t>Sessies organiseren met betrokkenen bij alle usecases om dit te borgen en bespreken, met name om de tijdslijnen en technische afhankelijkheden in detail met elkaar door te nemen</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4109819647"/>
                  </a:ext>
                </a:extLst>
              </a:tr>
              <a:tr h="0">
                <a:tc>
                  <a:txBody>
                    <a:bodyPr/>
                    <a:lstStyle/>
                    <a:p>
                      <a:pPr algn="ctr"/>
                      <a:r>
                        <a:rPr lang="nl-NL" sz="900">
                          <a:solidFill>
                            <a:schemeClr val="tx1"/>
                          </a:solidFill>
                          <a:latin typeface="Verdana Pro" panose="020B0604030504040204" pitchFamily="34" charset="0"/>
                        </a:rPr>
                        <a:t>Project-management</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ro" panose="020B0604030504040204" pitchFamily="34" charset="0"/>
                        </a:rPr>
                        <a:t>3</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noProof="0">
                          <a:latin typeface="Verdana Pro" panose="020B0604030504040204" pitchFamily="34" charset="0"/>
                        </a:rPr>
                        <a:t>Gebrek aan capaciteit en focus door grote hoeveelheid verschillende projecten in de regio</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noProof="0">
                          <a:solidFill>
                            <a:schemeClr val="tx1"/>
                          </a:solidFill>
                          <a:latin typeface="Verdana Pro" panose="020B0604030504040204" pitchFamily="34" charset="0"/>
                          <a:cs typeface="Calibri" panose="020F0502020204030204" pitchFamily="34" charset="0"/>
                        </a:rPr>
                        <a:t>Hoog</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noProof="0">
                          <a:solidFill>
                            <a:schemeClr val="tx1"/>
                          </a:solidFill>
                          <a:latin typeface="Verdana Pro" panose="020B0604030504040204" pitchFamily="34" charset="0"/>
                          <a:cs typeface="Calibri" panose="020F0502020204030204" pitchFamily="34" charset="0"/>
                        </a:rPr>
                        <a:t>Hoog</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88900" marR="0" lvl="0" indent="-8890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nl-NL" sz="900" b="0" i="0" u="none" strike="noStrike" kern="1200" noProof="0">
                          <a:solidFill>
                            <a:srgbClr val="000000"/>
                          </a:solidFill>
                          <a:effectLst/>
                          <a:latin typeface="Verdana Pro" panose="020B0604030504040204" pitchFamily="34" charset="0"/>
                          <a:ea typeface="+mn-ea"/>
                          <a:cs typeface="+mn-cs"/>
                        </a:rPr>
                        <a:t>Prioriteren binnen de regio vanuit bestuurders en/of initiatieven onder de paraplu van dit project organiseren</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841311362"/>
                  </a:ext>
                </a:extLst>
              </a:tr>
              <a:tr h="0">
                <a:tc>
                  <a:txBody>
                    <a:bodyPr/>
                    <a:lstStyle/>
                    <a:p>
                      <a:pPr algn="ctr"/>
                      <a:r>
                        <a:rPr lang="nl-NL" sz="900">
                          <a:solidFill>
                            <a:schemeClr val="tx1"/>
                          </a:solidFill>
                          <a:latin typeface="Verdana Pro" panose="020B0604030504040204" pitchFamily="34" charset="0"/>
                        </a:rPr>
                        <a:t>Project-management</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ro" panose="020B0604030504040204" pitchFamily="34" charset="0"/>
                        </a:rPr>
                        <a:t>4</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a:latin typeface="Verdana Pro" panose="020B0604030504040204" pitchFamily="34" charset="0"/>
                        </a:rPr>
                        <a:t>Vertraging in de uitbetaling van IZA-transformatiegelden door het niet op tijd behalen van mijlpalen o.b.v. de KPI’s</a:t>
                      </a:r>
                    </a:p>
                  </a:txBody>
                  <a:tcPr marT="36000" marB="36000"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solidFill>
                            <a:schemeClr val="tx1"/>
                          </a:solidFill>
                          <a:latin typeface="Verdana Pro" panose="020B0604030504040204" pitchFamily="34" charset="0"/>
                          <a:cs typeface="Calibri"/>
                        </a:rPr>
                        <a:t>Hoog</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solidFill>
                            <a:schemeClr val="tx1"/>
                          </a:solidFill>
                          <a:latin typeface="Verdana Pro" panose="020B0604030504040204" pitchFamily="34" charset="0"/>
                          <a:cs typeface="Calibri"/>
                        </a:rPr>
                        <a:t>Hoog</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88900" marR="0" lvl="0" indent="-8890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nl-NL" sz="900" b="0" i="0" u="none" strike="noStrike" kern="1200" noProof="0">
                          <a:solidFill>
                            <a:srgbClr val="000000"/>
                          </a:solidFill>
                          <a:effectLst/>
                          <a:latin typeface="Verdana Pro" panose="020B0604030504040204" pitchFamily="34" charset="0"/>
                          <a:ea typeface="+mn-ea"/>
                          <a:cs typeface="+mn-cs"/>
                        </a:rPr>
                        <a:t>Regelmatig monitoren en rapporteren op de KPI’s zodat eventuele vertragingen tijdig gesignaleerd kunnen worden</a:t>
                      </a:r>
                    </a:p>
                    <a:p>
                      <a:pPr marL="88900" marR="0" lvl="0" indent="-8890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nl-NL" sz="900" b="0" i="0" u="none" strike="noStrike" kern="1200" noProof="0">
                          <a:solidFill>
                            <a:srgbClr val="000000"/>
                          </a:solidFill>
                          <a:effectLst/>
                          <a:latin typeface="Verdana Pro" panose="020B0604030504040204" pitchFamily="34" charset="0"/>
                          <a:ea typeface="+mn-ea"/>
                          <a:cs typeface="+mn-cs"/>
                        </a:rPr>
                        <a:t>Nauwe afstemming met de zorgverzekeraars over de haalbaarheid van de mijlpalen i.r.t. de realiteit van de transformatie</a:t>
                      </a:r>
                    </a:p>
                  </a:txBody>
                  <a:tcPr marT="36000" marB="36000"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85544743"/>
                  </a:ext>
                </a:extLst>
              </a:tr>
              <a:tr h="0">
                <a:tc>
                  <a:txBody>
                    <a:bodyPr/>
                    <a:lstStyle/>
                    <a:p>
                      <a:pPr algn="ctr"/>
                      <a:r>
                        <a:rPr lang="nl-NL" sz="900">
                          <a:solidFill>
                            <a:schemeClr val="tx1"/>
                          </a:solidFill>
                          <a:latin typeface="Verdana Pro" panose="020B0604030504040204" pitchFamily="34" charset="0"/>
                        </a:rPr>
                        <a:t>Governance</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ro" panose="020B0604030504040204" pitchFamily="34" charset="0"/>
                        </a:rPr>
                        <a:t>5</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a:latin typeface="Verdana Pro" panose="020B0604030504040204" pitchFamily="34" charset="0"/>
                        </a:rPr>
                        <a:t>Het betrekken van een uitgebreide groep belanghebbenden, met name in het vinden van de juiste balans tussen betrokkenheid en de beschikbare tijd van professionals voor dit programma</a:t>
                      </a:r>
                    </a:p>
                  </a:txBody>
                  <a:tcPr marT="36000" marB="36000"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900">
                          <a:solidFill>
                            <a:schemeClr val="tx1"/>
                          </a:solidFill>
                          <a:latin typeface="Verdana Pro" panose="020B0604030504040204" pitchFamily="34" charset="0"/>
                          <a:cs typeface="Calibri"/>
                        </a:rPr>
                        <a:t>Hoog</a:t>
                      </a:r>
                      <a:endParaRPr lang="en-US" sz="900">
                        <a:solidFill>
                          <a:schemeClr val="tx1"/>
                        </a:solidFill>
                        <a:latin typeface="Verdana Pro" panose="020B0604030504040204" pitchFamily="34" charset="0"/>
                        <a:cs typeface="Calibri"/>
                      </a:endParaRP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NL" sz="900">
                          <a:solidFill>
                            <a:schemeClr val="tx1"/>
                          </a:solidFill>
                          <a:latin typeface="Verdana Pro" panose="020B0604030504040204" pitchFamily="34" charset="0"/>
                          <a:cs typeface="Calibri"/>
                        </a:rPr>
                        <a:t>Hoog</a:t>
                      </a:r>
                      <a:endParaRPr lang="en-US" sz="900">
                        <a:solidFill>
                          <a:schemeClr val="tx1"/>
                        </a:solidFill>
                        <a:latin typeface="Verdana Pro" panose="020B0604030504040204" pitchFamily="34" charset="0"/>
                        <a:cs typeface="Calibri"/>
                      </a:endParaRP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88900" marR="0" lvl="0" indent="-8890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nl-NL" sz="900" b="0" i="0" u="none" strike="noStrike" kern="1200" noProof="0">
                          <a:solidFill>
                            <a:srgbClr val="000000"/>
                          </a:solidFill>
                          <a:effectLst/>
                          <a:latin typeface="Verdana Pro" panose="020B0604030504040204" pitchFamily="34" charset="0"/>
                          <a:ea typeface="+mn-ea"/>
                          <a:cs typeface="+mn-cs"/>
                        </a:rPr>
                        <a:t>Optie deelname aan werkgroepen óf klankbordgroep</a:t>
                      </a:r>
                    </a:p>
                  </a:txBody>
                  <a:tcPr marT="36000" marB="36000"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413344751"/>
                  </a:ext>
                </a:extLst>
              </a:tr>
              <a:tr h="0">
                <a:tc>
                  <a:txBody>
                    <a:bodyPr/>
                    <a:lstStyle/>
                    <a:p>
                      <a:pPr algn="ctr"/>
                      <a:r>
                        <a:rPr lang="nl-NL" sz="900" kern="1200">
                          <a:solidFill>
                            <a:schemeClr val="tx1"/>
                          </a:solidFill>
                          <a:latin typeface="Verdana Pro" panose="020B0604030504040204" pitchFamily="34" charset="0"/>
                          <a:ea typeface="+mn-ea"/>
                          <a:cs typeface="+mn-cs"/>
                        </a:rPr>
                        <a:t>Transformatie expertise</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ro" panose="020B0604030504040204" pitchFamily="34" charset="0"/>
                        </a:rPr>
                        <a:t>6</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noProof="0">
                          <a:latin typeface="Verdana Pro" panose="020B0604030504040204" pitchFamily="34" charset="0"/>
                        </a:rPr>
                        <a:t>Verandermoeheid onder betrokkenen door meerdere projecten/initiatieven tegelijkertijd of opvolgend (in de regio en/of in organisaties). </a:t>
                      </a:r>
                      <a:r>
                        <a:rPr lang="nl-NL" sz="900">
                          <a:latin typeface="Verdana Pro" panose="020B0604030504040204" pitchFamily="34" charset="0"/>
                        </a:rPr>
                        <a:t>Dit kan ontstaan door de voortdurende veranderingen. </a:t>
                      </a:r>
                      <a:endParaRPr lang="nl-NL" sz="900" noProof="0">
                        <a:latin typeface="Verdana Pro" panose="020B0604030504040204" pitchFamily="34" charset="0"/>
                      </a:endParaRP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noProof="0">
                          <a:solidFill>
                            <a:schemeClr val="tx1"/>
                          </a:solidFill>
                          <a:latin typeface="Verdana Pro" panose="020B0604030504040204" pitchFamily="34" charset="0"/>
                          <a:cs typeface="Calibri" panose="020F0502020204030204" pitchFamily="34" charset="0"/>
                        </a:rPr>
                        <a:t>Hoog</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noProof="0">
                          <a:solidFill>
                            <a:schemeClr val="tx1"/>
                          </a:solidFill>
                          <a:latin typeface="Verdana Pro" panose="020B0604030504040204" pitchFamily="34" charset="0"/>
                          <a:cs typeface="Calibri" panose="020F0502020204030204" pitchFamily="34" charset="0"/>
                        </a:rPr>
                        <a:t>Hoog</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mn-cs"/>
                        </a:rPr>
                        <a:t>Prioritering en bijsturen door bestuurders noodzakelijk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mn-cs"/>
                        </a:rPr>
                        <a:t>In het veranderverhaal nadrukkelijk stilstaan bij de ambitie en waarom het belangrijk is om deze ambitie te realiseren. Aansluiten bij de dagelijkse praktijk.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a:latin typeface="Verdana Pro" panose="020B0604030504040204" pitchFamily="34" charset="0"/>
                        </a:rPr>
                        <a:t>De transformatie borgen vanuit een ‘veranderteam’ om de verwachte impact te realiseren in de dagelijkse praktijk.</a:t>
                      </a:r>
                      <a:endParaRPr kumimoji="0" lang="nl-NL" sz="900" b="0" i="0" u="none" strike="noStrike" kern="1200" cap="none" spc="0" normalizeH="0" baseline="0" noProof="0">
                        <a:ln>
                          <a:noFill/>
                        </a:ln>
                        <a:solidFill>
                          <a:prstClr val="black"/>
                        </a:solidFill>
                        <a:effectLst/>
                        <a:uLnTx/>
                        <a:uFillTx/>
                        <a:latin typeface="Verdana Pro" panose="020B0604030504040204" pitchFamily="34" charset="0"/>
                        <a:ea typeface="+mn-ea"/>
                        <a:cs typeface="+mn-cs"/>
                      </a:endParaRP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771746725"/>
                  </a:ext>
                </a:extLst>
              </a:tr>
            </a:tbl>
          </a:graphicData>
        </a:graphic>
      </p:graphicFrame>
      <p:sp>
        <p:nvSpPr>
          <p:cNvPr id="3" name="Rechthoek: afgeronde hoeken 2">
            <a:extLst>
              <a:ext uri="{FF2B5EF4-FFF2-40B4-BE49-F238E27FC236}">
                <a16:creationId xmlns:a16="http://schemas.microsoft.com/office/drawing/2014/main" id="{D2EC5472-E598-D0F5-86CD-E25AB79D3B01}"/>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7429381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3EF2-CBB5-71B5-E36B-8DC722FFE55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4AE302CD-64C4-887F-A20D-58965BD08719}"/>
              </a:ext>
            </a:extLst>
          </p:cNvPr>
          <p:cNvSpPr>
            <a:spLocks noGrp="1"/>
          </p:cNvSpPr>
          <p:nvPr>
            <p:ph type="title"/>
          </p:nvPr>
        </p:nvSpPr>
        <p:spPr>
          <a:xfrm>
            <a:off x="425302" y="465998"/>
            <a:ext cx="10166498" cy="504000"/>
          </a:xfrm>
        </p:spPr>
        <p:txBody>
          <a:bodyPr>
            <a:noAutofit/>
          </a:bodyPr>
          <a:lstStyle/>
          <a:p>
            <a:r>
              <a:rPr lang="nl-NL"/>
              <a:t>Belangrijkste risico’s &amp; mitigerende maatregelen (2/2) </a:t>
            </a:r>
          </a:p>
        </p:txBody>
      </p:sp>
      <p:sp>
        <p:nvSpPr>
          <p:cNvPr id="89" name="Text Placeholder 88">
            <a:extLst>
              <a:ext uri="{FF2B5EF4-FFF2-40B4-BE49-F238E27FC236}">
                <a16:creationId xmlns:a16="http://schemas.microsoft.com/office/drawing/2014/main" id="{E67F15B0-9880-09FB-8EF4-83C3DC79F51F}"/>
              </a:ext>
            </a:extLst>
          </p:cNvPr>
          <p:cNvSpPr>
            <a:spLocks noGrp="1"/>
          </p:cNvSpPr>
          <p:nvPr>
            <p:ph type="body" sz="quarter" idx="10"/>
          </p:nvPr>
        </p:nvSpPr>
        <p:spPr/>
        <p:txBody>
          <a:bodyPr/>
          <a:lstStyle/>
          <a:p>
            <a:endParaRPr lang="en-GB"/>
          </a:p>
        </p:txBody>
      </p:sp>
      <p:sp>
        <p:nvSpPr>
          <p:cNvPr id="2" name="Rectangle: Top Corners Rounded 38">
            <a:hlinkClick r:id="rId3" action="ppaction://hlinksldjump"/>
            <a:extLst>
              <a:ext uri="{FF2B5EF4-FFF2-40B4-BE49-F238E27FC236}">
                <a16:creationId xmlns:a16="http://schemas.microsoft.com/office/drawing/2014/main" id="{5310BD37-0905-1CFC-64D8-79C5798B721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5" name="Graphic 4" descr="Introductiepagina silhouet">
            <a:hlinkClick r:id="rId4" action="ppaction://hlinksldjump"/>
            <a:extLst>
              <a:ext uri="{FF2B5EF4-FFF2-40B4-BE49-F238E27FC236}">
                <a16:creationId xmlns:a16="http://schemas.microsoft.com/office/drawing/2014/main" id="{B15B5516-13AC-46F4-FDC4-0724654175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36" y="147223"/>
            <a:ext cx="144000" cy="144000"/>
          </a:xfrm>
          <a:prstGeom prst="rect">
            <a:avLst/>
          </a:prstGeom>
        </p:spPr>
      </p:pic>
      <p:sp>
        <p:nvSpPr>
          <p:cNvPr id="6" name="Rectangle: Top Corners Rounded 1">
            <a:hlinkClick r:id="rId7" action="ppaction://hlinksldjump"/>
            <a:extLst>
              <a:ext uri="{FF2B5EF4-FFF2-40B4-BE49-F238E27FC236}">
                <a16:creationId xmlns:a16="http://schemas.microsoft.com/office/drawing/2014/main" id="{39266185-E96C-0BD4-5578-EAB7F8FC7B99}"/>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7" name="Rectangle: Top Corners Rounded 1">
            <a:hlinkClick r:id="rId8" action="ppaction://hlinksldjump"/>
            <a:extLst>
              <a:ext uri="{FF2B5EF4-FFF2-40B4-BE49-F238E27FC236}">
                <a16:creationId xmlns:a16="http://schemas.microsoft.com/office/drawing/2014/main" id="{C9FEBD93-68F1-D098-0963-DFC5C5517C3E}"/>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8" name="Rectangle: Top Corners Rounded 1">
            <a:hlinkClick r:id="rId9" action="ppaction://hlinksldjump"/>
            <a:extLst>
              <a:ext uri="{FF2B5EF4-FFF2-40B4-BE49-F238E27FC236}">
                <a16:creationId xmlns:a16="http://schemas.microsoft.com/office/drawing/2014/main" id="{7595F39E-C883-1B80-052A-19D1D99A8E65}"/>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9" name="Rectangle: Top Corners Rounded 1">
            <a:hlinkClick r:id="rId10" action="ppaction://hlinksldjump"/>
            <a:extLst>
              <a:ext uri="{FF2B5EF4-FFF2-40B4-BE49-F238E27FC236}">
                <a16:creationId xmlns:a16="http://schemas.microsoft.com/office/drawing/2014/main" id="{FBDF9A94-2FEA-8DAE-EB6C-57FD39289BDF}"/>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0" name="Rectangle: Top Corners Rounded 1">
            <a:hlinkClick r:id="rId11" action="ppaction://hlinksldjump"/>
            <a:extLst>
              <a:ext uri="{FF2B5EF4-FFF2-40B4-BE49-F238E27FC236}">
                <a16:creationId xmlns:a16="http://schemas.microsoft.com/office/drawing/2014/main" id="{918F0814-4E15-DE58-1B2D-B95981F47C40}"/>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1" name="Rectangle: Top Corners Rounded 1">
            <a:hlinkClick r:id="rId12" action="ppaction://hlinksldjump"/>
            <a:extLst>
              <a:ext uri="{FF2B5EF4-FFF2-40B4-BE49-F238E27FC236}">
                <a16:creationId xmlns:a16="http://schemas.microsoft.com/office/drawing/2014/main" id="{3002FBD1-8EF1-06EC-92F6-34DDFE173C3A}"/>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2" name="Rectangle: Top Corners Rounded 1">
            <a:hlinkClick r:id="rId13" action="ppaction://hlinksldjump"/>
            <a:extLst>
              <a:ext uri="{FF2B5EF4-FFF2-40B4-BE49-F238E27FC236}">
                <a16:creationId xmlns:a16="http://schemas.microsoft.com/office/drawing/2014/main" id="{22705C6F-B2F3-B574-30A6-D14DD826BB01}"/>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3" name="Rectangle: Top Corners Rounded 1">
            <a:hlinkClick r:id="rId14" action="ppaction://hlinksldjump"/>
            <a:extLst>
              <a:ext uri="{FF2B5EF4-FFF2-40B4-BE49-F238E27FC236}">
                <a16:creationId xmlns:a16="http://schemas.microsoft.com/office/drawing/2014/main" id="{51EABD0D-442A-193E-A437-1C89E0BD999F}"/>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4" name="Rectangle: Top Corners Rounded 1">
            <a:hlinkClick r:id="rId15" action="ppaction://hlinksldjump"/>
            <a:extLst>
              <a:ext uri="{FF2B5EF4-FFF2-40B4-BE49-F238E27FC236}">
                <a16:creationId xmlns:a16="http://schemas.microsoft.com/office/drawing/2014/main" id="{F6B32742-4C7D-63D6-1DCC-B8D3C6C4EC61}"/>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5" name="Rectangle: Top Corners Rounded 1">
            <a:hlinkClick r:id="rId16" action="ppaction://hlinksldjump"/>
            <a:extLst>
              <a:ext uri="{FF2B5EF4-FFF2-40B4-BE49-F238E27FC236}">
                <a16:creationId xmlns:a16="http://schemas.microsoft.com/office/drawing/2014/main" id="{1C30D694-3CC9-11C9-A328-F2DE44038966}"/>
              </a:ext>
            </a:extLst>
          </p:cNvPr>
          <p:cNvSpPr/>
          <p:nvPr/>
        </p:nvSpPr>
        <p:spPr>
          <a:xfrm>
            <a:off x="9464553" y="31192"/>
            <a:ext cx="900000" cy="361248"/>
          </a:xfrm>
          <a:prstGeom prst="round2SameRect">
            <a:avLst>
              <a:gd name="adj1" fmla="val 19775"/>
              <a:gd name="adj2" fmla="val 0"/>
            </a:avLst>
          </a:prstGeom>
          <a:solidFill>
            <a:srgbClr val="8C95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err="1">
                <a:solidFill>
                  <a:srgbClr val="F1F2F9"/>
                </a:solidFill>
                <a:latin typeface="Verdana Pro" panose="020B0604030504040204" pitchFamily="34" charset="0"/>
                <a:ea typeface="Verdana" panose="020B0604030504040204" pitchFamily="34" charset="0"/>
              </a:rPr>
              <a:t>Randvoorwaar-den</a:t>
            </a:r>
            <a:r>
              <a:rPr lang="nl-NL" sz="600" b="1">
                <a:solidFill>
                  <a:srgbClr val="F1F2F9"/>
                </a:solidFill>
                <a:latin typeface="Verdana Pro" panose="020B0604030504040204" pitchFamily="34" charset="0"/>
                <a:ea typeface="Verdana" panose="020B0604030504040204" pitchFamily="34" charset="0"/>
              </a:rPr>
              <a:t> voor succes</a:t>
            </a:r>
          </a:p>
        </p:txBody>
      </p:sp>
      <p:sp>
        <p:nvSpPr>
          <p:cNvPr id="16" name="Rectangle: Top Corners Rounded 1">
            <a:hlinkClick r:id="rId17" action="ppaction://hlinksldjump"/>
            <a:extLst>
              <a:ext uri="{FF2B5EF4-FFF2-40B4-BE49-F238E27FC236}">
                <a16:creationId xmlns:a16="http://schemas.microsoft.com/office/drawing/2014/main" id="{94C3DCBE-381A-C965-6A4C-E4D698218227}"/>
              </a:ext>
            </a:extLst>
          </p:cNvPr>
          <p:cNvSpPr/>
          <p:nvPr/>
        </p:nvSpPr>
        <p:spPr>
          <a:xfrm>
            <a:off x="10382040"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Bijlagen</a:t>
            </a:r>
          </a:p>
        </p:txBody>
      </p:sp>
      <p:graphicFrame>
        <p:nvGraphicFramePr>
          <p:cNvPr id="17" name="Table 16">
            <a:extLst>
              <a:ext uri="{FF2B5EF4-FFF2-40B4-BE49-F238E27FC236}">
                <a16:creationId xmlns:a16="http://schemas.microsoft.com/office/drawing/2014/main" id="{1319C6D1-B079-FC63-41C3-77354731EA95}"/>
              </a:ext>
            </a:extLst>
          </p:cNvPr>
          <p:cNvGraphicFramePr>
            <a:graphicFrameLocks noGrp="1"/>
          </p:cNvGraphicFramePr>
          <p:nvPr>
            <p:extLst>
              <p:ext uri="{D42A27DB-BD31-4B8C-83A1-F6EECF244321}">
                <p14:modId xmlns:p14="http://schemas.microsoft.com/office/powerpoint/2010/main" val="2753750425"/>
              </p:ext>
            </p:extLst>
          </p:nvPr>
        </p:nvGraphicFramePr>
        <p:xfrm>
          <a:off x="425302" y="1547556"/>
          <a:ext cx="10944001" cy="4206240"/>
        </p:xfrm>
        <a:graphic>
          <a:graphicData uri="http://schemas.openxmlformats.org/drawingml/2006/table">
            <a:tbl>
              <a:tblPr firstRow="1" bandRow="1">
                <a:tableStyleId>{2D5ABB26-0587-4C30-8999-92F81FD0307C}</a:tableStyleId>
              </a:tblPr>
              <a:tblGrid>
                <a:gridCol w="1039648">
                  <a:extLst>
                    <a:ext uri="{9D8B030D-6E8A-4147-A177-3AD203B41FA5}">
                      <a16:colId xmlns:a16="http://schemas.microsoft.com/office/drawing/2014/main" val="1815000370"/>
                    </a:ext>
                  </a:extLst>
                </a:gridCol>
                <a:gridCol w="346550">
                  <a:extLst>
                    <a:ext uri="{9D8B030D-6E8A-4147-A177-3AD203B41FA5}">
                      <a16:colId xmlns:a16="http://schemas.microsoft.com/office/drawing/2014/main" val="134627084"/>
                    </a:ext>
                  </a:extLst>
                </a:gridCol>
                <a:gridCol w="3465493">
                  <a:extLst>
                    <a:ext uri="{9D8B030D-6E8A-4147-A177-3AD203B41FA5}">
                      <a16:colId xmlns:a16="http://schemas.microsoft.com/office/drawing/2014/main" val="964197791"/>
                    </a:ext>
                  </a:extLst>
                </a:gridCol>
                <a:gridCol w="778265">
                  <a:extLst>
                    <a:ext uri="{9D8B030D-6E8A-4147-A177-3AD203B41FA5}">
                      <a16:colId xmlns:a16="http://schemas.microsoft.com/office/drawing/2014/main" val="3183266326"/>
                    </a:ext>
                  </a:extLst>
                </a:gridCol>
                <a:gridCol w="843559">
                  <a:extLst>
                    <a:ext uri="{9D8B030D-6E8A-4147-A177-3AD203B41FA5}">
                      <a16:colId xmlns:a16="http://schemas.microsoft.com/office/drawing/2014/main" val="3729259534"/>
                    </a:ext>
                  </a:extLst>
                </a:gridCol>
                <a:gridCol w="4470486">
                  <a:extLst>
                    <a:ext uri="{9D8B030D-6E8A-4147-A177-3AD203B41FA5}">
                      <a16:colId xmlns:a16="http://schemas.microsoft.com/office/drawing/2014/main" val="4278054401"/>
                    </a:ext>
                  </a:extLst>
                </a:gridCol>
              </a:tblGrid>
              <a:tr h="183268">
                <a:tc>
                  <a:txBody>
                    <a:bodyPr/>
                    <a:lstStyle/>
                    <a:p>
                      <a:pPr algn="l"/>
                      <a:r>
                        <a:rPr lang="nl-NL" sz="900" b="1" kern="1200">
                          <a:solidFill>
                            <a:schemeClr val="tx1">
                              <a:lumMod val="65000"/>
                              <a:lumOff val="35000"/>
                            </a:schemeClr>
                          </a:solidFill>
                          <a:latin typeface="Verdana" panose="020B0604030504040204" pitchFamily="34" charset="0"/>
                          <a:ea typeface="Verdana" panose="020B0604030504040204" pitchFamily="34" charset="0"/>
                          <a:cs typeface="+mn-cs"/>
                        </a:rPr>
                        <a:t>Onderwerp</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endParaRPr lang="nl-NL" sz="900" b="1" kern="1200">
                        <a:solidFill>
                          <a:schemeClr val="tx1">
                            <a:lumMod val="65000"/>
                            <a:lumOff val="35000"/>
                          </a:schemeClr>
                        </a:solidFill>
                        <a:latin typeface="Verdana" panose="020B0604030504040204" pitchFamily="34" charset="0"/>
                        <a:ea typeface="Verdana" panose="020B0604030504040204" pitchFamily="34" charset="0"/>
                        <a:cs typeface="+mn-cs"/>
                      </a:endParaRP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anose="020B0604030504040204" pitchFamily="34" charset="0"/>
                          <a:ea typeface="Verdana" panose="020B0604030504040204" pitchFamily="34" charset="0"/>
                        </a:rPr>
                        <a:t>Risico</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anose="020B0604030504040204" pitchFamily="34" charset="0"/>
                          <a:ea typeface="Verdana" panose="020B0604030504040204" pitchFamily="34" charset="0"/>
                        </a:rPr>
                        <a:t>Kans</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anose="020B0604030504040204" pitchFamily="34" charset="0"/>
                          <a:ea typeface="Verdana" panose="020B0604030504040204" pitchFamily="34" charset="0"/>
                        </a:rPr>
                        <a:t>Impact</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l"/>
                      <a:r>
                        <a:rPr lang="nl-NL" sz="900" b="1">
                          <a:solidFill>
                            <a:schemeClr val="tx1">
                              <a:lumMod val="65000"/>
                              <a:lumOff val="35000"/>
                            </a:schemeClr>
                          </a:solidFill>
                          <a:latin typeface="Verdana" panose="020B0604030504040204" pitchFamily="34" charset="0"/>
                          <a:ea typeface="Verdana" panose="020B0604030504040204" pitchFamily="34" charset="0"/>
                        </a:rPr>
                        <a:t>Mitigerende maatregel</a:t>
                      </a:r>
                    </a:p>
                  </a:txBody>
                  <a:tcPr anchor="ctr">
                    <a:lnB w="1270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21675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900" kern="1200">
                          <a:solidFill>
                            <a:schemeClr val="tx1"/>
                          </a:solidFill>
                          <a:latin typeface="Verdana" panose="020B0604030504040204" pitchFamily="34" charset="0"/>
                          <a:ea typeface="Verdana" panose="020B0604030504040204" pitchFamily="34" charset="0"/>
                          <a:cs typeface="+mn-cs"/>
                        </a:rPr>
                        <a:t>Transformatie expertise</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anose="020B0604030504040204" pitchFamily="34" charset="0"/>
                          <a:ea typeface="Verdana" panose="020B0604030504040204" pitchFamily="34" charset="0"/>
                        </a:rPr>
                        <a:t>7</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noProof="0">
                          <a:latin typeface="Verdana" panose="020B0604030504040204" pitchFamily="34" charset="0"/>
                          <a:ea typeface="Verdana" panose="020B0604030504040204" pitchFamily="34" charset="0"/>
                        </a:rPr>
                        <a:t>Geen goede borging in de regio door hoge mate van externe inzet </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noProof="0">
                          <a:solidFill>
                            <a:schemeClr val="tx1"/>
                          </a:solidFill>
                          <a:latin typeface="Verdana" panose="020B0604030504040204" pitchFamily="34" charset="0"/>
                          <a:ea typeface="Verdana" panose="020B0604030504040204" pitchFamily="34" charset="0"/>
                          <a:cs typeface="Calibri" panose="020F0502020204030204" pitchFamily="34" charset="0"/>
                        </a:rPr>
                        <a:t>Hoog</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noProof="0">
                          <a:solidFill>
                            <a:schemeClr val="tx1"/>
                          </a:solidFill>
                          <a:latin typeface="Verdana" panose="020B0604030504040204" pitchFamily="34" charset="0"/>
                          <a:ea typeface="Verdana" panose="020B0604030504040204" pitchFamily="34" charset="0"/>
                          <a:cs typeface="Calibri" panose="020F0502020204030204" pitchFamily="34" charset="0"/>
                        </a:rPr>
                        <a:t>Hoog</a:t>
                      </a: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Mensen  vanuit de regio inzetten in werkgroepen. Externen (gefaseerd) laten uitstromen zodra mogelijk</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rPr>
                        <a:t>Aanhaken van transformatie-expertise om individuele organisaties te helpen en vinden diverse bijeenkomsten plaats in kader van bewustwording en zorgtransformatie. Hierbij oog houdend voor overdracht en borging van kennis</a:t>
                      </a:r>
                      <a:endPar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txBody>
                  <a:tcPr anchor="ctr">
                    <a:lnT w="1270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673501040"/>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900" kern="1200">
                          <a:solidFill>
                            <a:schemeClr val="tx1"/>
                          </a:solidFill>
                          <a:latin typeface="Verdana" panose="020B0604030504040204" pitchFamily="34" charset="0"/>
                          <a:ea typeface="Verdana" panose="020B0604030504040204" pitchFamily="34" charset="0"/>
                          <a:cs typeface="+mn-cs"/>
                        </a:rPr>
                        <a:t>Transformatie expertise</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anose="020B0604030504040204" pitchFamily="34" charset="0"/>
                          <a:ea typeface="Verdana" panose="020B0604030504040204" pitchFamily="34" charset="0"/>
                        </a:rPr>
                        <a:t>8</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a:latin typeface="Verdana" panose="020B0604030504040204" pitchFamily="34" charset="0"/>
                          <a:ea typeface="Verdana" panose="020B0604030504040204" pitchFamily="34" charset="0"/>
                        </a:rPr>
                        <a:t>Weerstand tegen (technologische) verandering bij zorgprofessionals en inwoners</a:t>
                      </a:r>
                    </a:p>
                  </a:txBody>
                  <a:tcPr marL="100584" marR="100584">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solidFill>
                            <a:schemeClr val="tx1"/>
                          </a:solidFill>
                          <a:latin typeface="Verdana" panose="020B0604030504040204" pitchFamily="34" charset="0"/>
                          <a:ea typeface="Verdana" panose="020B0604030504040204" pitchFamily="34" charset="0"/>
                          <a:cs typeface="Calibri"/>
                        </a:rPr>
                        <a:t>Hoog</a:t>
                      </a:r>
                    </a:p>
                  </a:txBody>
                  <a:tcPr marL="100584" marR="100584">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solidFill>
                            <a:schemeClr val="tx1"/>
                          </a:solidFill>
                          <a:latin typeface="Verdana" panose="020B0604030504040204" pitchFamily="34" charset="0"/>
                          <a:ea typeface="Verdana" panose="020B0604030504040204" pitchFamily="34" charset="0"/>
                          <a:cs typeface="Calibri"/>
                        </a:rPr>
                        <a:t>Hoog</a:t>
                      </a:r>
                    </a:p>
                  </a:txBody>
                  <a:tcPr marL="100584" marR="100584">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9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rPr>
                        <a:t>Bewustwording creëren over de noodzaak en kansen om zorg anders te organiseren en te coördineren. Het waarom van de verandering continu blijven communiceren en hierover met de betrokkenen/ betroffene in gesprek gaan</a:t>
                      </a:r>
                      <a:endParaRPr kumimoji="0" lang="en-NL" sz="9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endParaRPr>
                    </a:p>
                  </a:txBody>
                  <a:tcPr marL="100584" marR="100584">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4109819647"/>
                  </a:ext>
                </a:extLst>
              </a:tr>
              <a:tr h="0">
                <a:tc>
                  <a:txBody>
                    <a:bodyPr/>
                    <a:lstStyle/>
                    <a:p>
                      <a:pPr algn="ctr"/>
                      <a:r>
                        <a:rPr lang="nl-NL" sz="900">
                          <a:solidFill>
                            <a:schemeClr val="tx1"/>
                          </a:solidFill>
                          <a:latin typeface="Verdana" panose="020B0604030504040204" pitchFamily="34" charset="0"/>
                          <a:ea typeface="Verdana" panose="020B0604030504040204" pitchFamily="34" charset="0"/>
                        </a:rPr>
                        <a:t>Implementatie fundament</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anose="020B0604030504040204" pitchFamily="34" charset="0"/>
                          <a:ea typeface="Verdana" panose="020B0604030504040204" pitchFamily="34" charset="0"/>
                        </a:rPr>
                        <a:t>9</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a:latin typeface="Verdana" panose="020B0604030504040204" pitchFamily="34" charset="0"/>
                          <a:ea typeface="Verdana" panose="020B0604030504040204" pitchFamily="34" charset="0"/>
                        </a:rPr>
                        <a:t>Generieke functie Toestemming (MITZ) niet tijdig beschikbaar</a:t>
                      </a: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a:solidFill>
                            <a:schemeClr val="tx1"/>
                          </a:solidFill>
                          <a:latin typeface="Verdana" panose="020B0604030504040204" pitchFamily="34" charset="0"/>
                          <a:ea typeface="Verdana" panose="020B0604030504040204" pitchFamily="34" charset="0"/>
                          <a:cs typeface="Calibri" panose="020F0502020204030204" pitchFamily="34" charset="0"/>
                        </a:rPr>
                        <a:t>Hoog</a:t>
                      </a:r>
                      <a:endParaRPr lang="en-US" sz="900">
                        <a:solidFill>
                          <a:schemeClr val="tx1"/>
                        </a:solidFill>
                        <a:latin typeface="Verdana" panose="020B0604030504040204" pitchFamily="34" charset="0"/>
                        <a:ea typeface="Verdana" panose="020B0604030504040204" pitchFamily="34" charset="0"/>
                        <a:cs typeface="Calibri" panose="020F0502020204030204" pitchFamily="34" charset="0"/>
                      </a:endParaRP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Hoog</a:t>
                      </a:r>
                      <a:endParaRPr lang="en-US" sz="900">
                        <a:solidFill>
                          <a:schemeClr val="tx1"/>
                        </a:solidFill>
                        <a:latin typeface="Verdana" panose="020B0604030504040204" pitchFamily="34" charset="0"/>
                        <a:ea typeface="Verdana" panose="020B0604030504040204" pitchFamily="34" charset="0"/>
                        <a:cs typeface="Calibri" panose="020F0502020204030204" pitchFamily="34" charset="0"/>
                      </a:endParaRP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93663" indent="-93663">
                        <a:buFont typeface="Arial" panose="020B0604020202020204" pitchFamily="34" charset="0"/>
                        <a:buChar char="•"/>
                      </a:pPr>
                      <a:r>
                        <a:rPr lang="nl-NL" sz="900">
                          <a:latin typeface="Verdana" panose="020B0604030504040204" pitchFamily="34" charset="0"/>
                          <a:ea typeface="Verdana" panose="020B0604030504040204" pitchFamily="34" charset="0"/>
                        </a:rPr>
                        <a:t>(Werk-)afspraken maken m.b.t. het vastleggen van toestemming in bronsystemen van zorgaanbieders</a:t>
                      </a: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84131136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Implementatie fundament</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anose="020B0604030504040204" pitchFamily="34" charset="0"/>
                          <a:ea typeface="Verdana" panose="020B0604030504040204" pitchFamily="34" charset="0"/>
                        </a:rPr>
                        <a:t>10</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a:latin typeface="Verdana" panose="020B0604030504040204" pitchFamily="34" charset="0"/>
                          <a:ea typeface="Verdana" panose="020B0604030504040204" pitchFamily="34" charset="0"/>
                        </a:rPr>
                        <a:t>Generieke functie Identificatie &amp; Autorisatie voor zorgprofessionals niet tijdig beschikbaar</a:t>
                      </a: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Hoog</a:t>
                      </a:r>
                      <a:endParaRPr lang="en-US" sz="900">
                        <a:solidFill>
                          <a:schemeClr val="tx1"/>
                        </a:solidFill>
                        <a:latin typeface="Verdana" panose="020B0604030504040204" pitchFamily="34" charset="0"/>
                        <a:ea typeface="Verdana" panose="020B0604030504040204" pitchFamily="34" charset="0"/>
                        <a:cs typeface="Calibri" panose="020F0502020204030204" pitchFamily="34" charset="0"/>
                      </a:endParaRP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Hoog</a:t>
                      </a:r>
                      <a:endParaRPr lang="en-US" sz="900">
                        <a:solidFill>
                          <a:schemeClr val="tx1"/>
                        </a:solidFill>
                        <a:latin typeface="Verdana" panose="020B0604030504040204" pitchFamily="34" charset="0"/>
                        <a:ea typeface="Verdana" panose="020B0604030504040204" pitchFamily="34" charset="0"/>
                        <a:cs typeface="Calibri" panose="020F0502020204030204" pitchFamily="34" charset="0"/>
                      </a:endParaRP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kern="1200" noProof="0">
                          <a:solidFill>
                            <a:schemeClr val="tx1"/>
                          </a:solidFill>
                          <a:latin typeface="Verdana" panose="020B0604030504040204" pitchFamily="34" charset="0"/>
                          <a:ea typeface="Verdana" panose="020B0604030504040204" pitchFamily="34" charset="0"/>
                          <a:cs typeface="+mn-cs"/>
                        </a:rPr>
                        <a:t>Tijdelijke workaround ontwikkelen en implementeren (bijv. SSO)</a:t>
                      </a: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85544743"/>
                  </a:ext>
                </a:extLst>
              </a:tr>
              <a:tr h="0">
                <a:tc>
                  <a:txBody>
                    <a:bodyPr/>
                    <a:lstStyle/>
                    <a:p>
                      <a:pPr algn="ctr"/>
                      <a:r>
                        <a:rPr lang="nl-NL" sz="900" kern="1200">
                          <a:solidFill>
                            <a:schemeClr val="tx1"/>
                          </a:solidFill>
                          <a:latin typeface="Verdana" panose="020B0604030504040204" pitchFamily="34" charset="0"/>
                          <a:ea typeface="Verdana" panose="020B0604030504040204" pitchFamily="34" charset="0"/>
                          <a:cs typeface="+mn-cs"/>
                        </a:rPr>
                        <a:t>Implementatie </a:t>
                      </a:r>
                      <a:r>
                        <a:rPr lang="nl-NL" sz="900">
                          <a:solidFill>
                            <a:schemeClr val="tx1"/>
                          </a:solidFill>
                          <a:latin typeface="Verdana" panose="020B0604030504040204" pitchFamily="34" charset="0"/>
                          <a:ea typeface="Verdana" panose="020B0604030504040204" pitchFamily="34" charset="0"/>
                        </a:rPr>
                        <a:t>fundament</a:t>
                      </a:r>
                      <a:endParaRPr lang="nl-NL" sz="900" kern="1200">
                        <a:solidFill>
                          <a:schemeClr val="tx1"/>
                        </a:solidFill>
                        <a:latin typeface="Verdana" panose="020B0604030504040204" pitchFamily="34" charset="0"/>
                        <a:ea typeface="Verdana" panose="020B0604030504040204" pitchFamily="34" charset="0"/>
                        <a:cs typeface="+mn-cs"/>
                      </a:endParaRP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anose="020B0604030504040204" pitchFamily="34" charset="0"/>
                          <a:ea typeface="Verdana" panose="020B0604030504040204" pitchFamily="34" charset="0"/>
                        </a:rPr>
                        <a:t>11</a:t>
                      </a:r>
                    </a:p>
                  </a:txBody>
                  <a:tcPr anchor="ct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r>
                        <a:rPr lang="nl-NL" sz="900">
                          <a:latin typeface="Verdana" panose="020B0604030504040204" pitchFamily="34" charset="0"/>
                          <a:ea typeface="Verdana" panose="020B0604030504040204" pitchFamily="34" charset="0"/>
                        </a:rPr>
                        <a:t>Kwaliteit van (gestructureerde) data is te laag door interpretatieverschillen van standaarden bij het inbouwen/ doorontwikkelen van informatiestandaarden/ zorginformatiebouwstenen (ZIBs) door leveranciers terwijl deze wel gekwalificeerd zijn door Nictiz</a:t>
                      </a: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Hoog</a:t>
                      </a:r>
                      <a:endParaRPr lang="en-US" sz="900">
                        <a:solidFill>
                          <a:schemeClr val="tx1"/>
                        </a:solidFill>
                        <a:latin typeface="Verdana" panose="020B0604030504040204" pitchFamily="34" charset="0"/>
                        <a:ea typeface="Verdana" panose="020B0604030504040204" pitchFamily="34" charset="0"/>
                        <a:cs typeface="Calibri" panose="020F0502020204030204" pitchFamily="34" charset="0"/>
                      </a:endParaRP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l-NL"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Hoog</a:t>
                      </a:r>
                      <a:endParaRPr lang="en-US" sz="900">
                        <a:solidFill>
                          <a:schemeClr val="tx1"/>
                        </a:solidFill>
                        <a:latin typeface="Verdana" panose="020B0604030504040204" pitchFamily="34" charset="0"/>
                        <a:ea typeface="Verdana" panose="020B0604030504040204" pitchFamily="34" charset="0"/>
                        <a:cs typeface="Calibri" panose="020F0502020204030204" pitchFamily="34" charset="0"/>
                      </a:endParaRP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kern="1200" noProof="0">
                          <a:solidFill>
                            <a:schemeClr val="tx1"/>
                          </a:solidFill>
                          <a:latin typeface="Verdana" panose="020B0604030504040204" pitchFamily="34" charset="0"/>
                          <a:ea typeface="Verdana" panose="020B0604030504040204" pitchFamily="34" charset="0"/>
                          <a:cs typeface="+mn-cs"/>
                        </a:rPr>
                        <a:t>Agenderen bij VWS, Nictiz, e.a. mbv voorbeelden uit de praktijk</a:t>
                      </a: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kern="1200" noProof="0">
                          <a:solidFill>
                            <a:schemeClr val="tx1"/>
                          </a:solidFill>
                          <a:latin typeface="Verdana" panose="020B0604030504040204" pitchFamily="34" charset="0"/>
                          <a:ea typeface="Verdana" panose="020B0604030504040204" pitchFamily="34" charset="0"/>
                          <a:cs typeface="+mn-cs"/>
                        </a:rPr>
                        <a:t>Afspraken maken m.b.t. wijze van aggregeren data</a:t>
                      </a:r>
                    </a:p>
                    <a:p>
                      <a:pPr marL="93663" marR="0" lvl="0" indent="-93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900" kern="1200" noProof="0">
                          <a:solidFill>
                            <a:schemeClr val="tx1"/>
                          </a:solidFill>
                          <a:latin typeface="Verdana" panose="020B0604030504040204" pitchFamily="34" charset="0"/>
                          <a:ea typeface="Verdana" panose="020B0604030504040204" pitchFamily="34" charset="0"/>
                          <a:cs typeface="+mn-cs"/>
                        </a:rPr>
                        <a:t>Gezamenlijke teststrategie Nictiz, leveranciers en zorgaanbieders formuleren en uitvoeren</a:t>
                      </a:r>
                    </a:p>
                  </a:txBody>
                  <a:tcP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771746725"/>
                  </a:ext>
                </a:extLst>
              </a:tr>
              <a:tr h="0">
                <a:tc>
                  <a:txBody>
                    <a:bodyPr/>
                    <a:lstStyle/>
                    <a:p>
                      <a:pPr algn="ctr"/>
                      <a:r>
                        <a:rPr lang="nl-NL" sz="900">
                          <a:solidFill>
                            <a:schemeClr val="tx1"/>
                          </a:solidFill>
                          <a:latin typeface="Verdana" panose="020B0604030504040204" pitchFamily="34" charset="0"/>
                          <a:ea typeface="Verdana" panose="020B0604030504040204" pitchFamily="34" charset="0"/>
                        </a:rPr>
                        <a:t>Implementatie fundament</a:t>
                      </a:r>
                    </a:p>
                  </a:txBody>
                  <a:tcPr anchor="ctr">
                    <a:lnT w="63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lang="nl-NL" sz="900">
                          <a:solidFill>
                            <a:schemeClr val="tx1"/>
                          </a:solidFill>
                          <a:latin typeface="Verdana" panose="020B0604030504040204" pitchFamily="34" charset="0"/>
                          <a:ea typeface="Verdana" panose="020B0604030504040204" pitchFamily="34" charset="0"/>
                        </a:rPr>
                        <a:t>12</a:t>
                      </a:r>
                    </a:p>
                  </a:txBody>
                  <a:tcPr anchor="ctr">
                    <a:lnT w="63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r>
                        <a:rPr lang="nl-NL" sz="900" b="0">
                          <a:latin typeface="Verdana" panose="020B0604030504040204" pitchFamily="34" charset="0"/>
                          <a:ea typeface="Verdana" panose="020B0604030504040204" pitchFamily="34" charset="0"/>
                        </a:rPr>
                        <a:t>Onvoldoende (personele) capaciteit bij functioneel beheer en (M)ICT voor technische inrichting/koppeling tussen EPD/ECD en dashboards</a:t>
                      </a:r>
                    </a:p>
                  </a:txBody>
                  <a:tcPr>
                    <a:lnT w="63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b="0">
                          <a:solidFill>
                            <a:schemeClr val="tx1"/>
                          </a:solidFill>
                          <a:latin typeface="Verdana" panose="020B0604030504040204" pitchFamily="34" charset="0"/>
                          <a:ea typeface="Verdana" panose="020B0604030504040204" pitchFamily="34" charset="0"/>
                          <a:cs typeface="Calibri"/>
                        </a:rPr>
                        <a:t>Hoog</a:t>
                      </a:r>
                    </a:p>
                  </a:txBody>
                  <a:tcPr>
                    <a:lnT w="63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900" b="0">
                          <a:solidFill>
                            <a:schemeClr val="tx1"/>
                          </a:solidFill>
                          <a:latin typeface="Verdana" panose="020B0604030504040204" pitchFamily="34" charset="0"/>
                          <a:ea typeface="Verdana" panose="020B0604030504040204" pitchFamily="34" charset="0"/>
                          <a:cs typeface="Calibri"/>
                        </a:rPr>
                        <a:t>Hoog</a:t>
                      </a:r>
                    </a:p>
                  </a:txBody>
                  <a:tcPr>
                    <a:lnT w="63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88900" indent="-88900" algn="l" defTabSz="914400" rtl="0" eaLnBrk="1" fontAlgn="base" latinLnBrk="0" hangingPunct="1">
                        <a:buFont typeface="Arial" panose="020B0604020202020204" pitchFamily="34" charset="0"/>
                        <a:buChar char="•"/>
                      </a:pPr>
                      <a:r>
                        <a:rPr lang="nl-NL" sz="900" b="0" i="0" u="none" strike="noStrike" kern="1200">
                          <a:solidFill>
                            <a:srgbClr val="000000"/>
                          </a:solidFill>
                          <a:effectLst/>
                          <a:latin typeface="Verdana" panose="020B0604030504040204" pitchFamily="34" charset="0"/>
                          <a:ea typeface="Verdana" panose="020B0604030504040204" pitchFamily="34" charset="0"/>
                          <a:cs typeface="+mn-cs"/>
                        </a:rPr>
                        <a:t>Prioritering van het Trijn IZA-transformatieplan binnen de zorgorganisaties (met commitment op niveau van RvB/ directie en vanuit CIO’s). En tijdelijk extra personeel aantrekken of extern inhuren</a:t>
                      </a:r>
                    </a:p>
                    <a:p>
                      <a:pPr marL="88900" lvl="0" indent="-88900" algn="l" defTabSz="914400" rtl="0" eaLnBrk="1" fontAlgn="base" latinLnBrk="0" hangingPunct="1">
                        <a:buFont typeface="Arial" panose="020B0604020202020204" pitchFamily="34" charset="0"/>
                        <a:buChar char="•"/>
                      </a:pPr>
                      <a:r>
                        <a:rPr lang="nl-NL" sz="900" b="0" i="0" u="none" strike="noStrike" kern="1200">
                          <a:solidFill>
                            <a:srgbClr val="000000"/>
                          </a:solidFill>
                          <a:effectLst/>
                          <a:latin typeface="Verdana" panose="020B0604030504040204" pitchFamily="34" charset="0"/>
                          <a:ea typeface="Verdana" panose="020B0604030504040204" pitchFamily="34" charset="0"/>
                          <a:cs typeface="+mn-cs"/>
                        </a:rPr>
                        <a:t>Op basis van de opgestelde planning op tijd inventariseren en evalueren of de voorhanden capaciteit voldoende is voor de komende periode – en hierbij de werkvloer betrekken</a:t>
                      </a:r>
                    </a:p>
                  </a:txBody>
                  <a:tcPr>
                    <a:lnT w="63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2773529"/>
                  </a:ext>
                </a:extLst>
              </a:tr>
            </a:tbl>
          </a:graphicData>
        </a:graphic>
      </p:graphicFrame>
      <p:sp>
        <p:nvSpPr>
          <p:cNvPr id="3" name="Rectangle 2">
            <a:extLst>
              <a:ext uri="{FF2B5EF4-FFF2-40B4-BE49-F238E27FC236}">
                <a16:creationId xmlns:a16="http://schemas.microsoft.com/office/drawing/2014/main" id="{0F910FC4-3F05-7F42-5009-C786274064D9}"/>
              </a:ext>
            </a:extLst>
          </p:cNvPr>
          <p:cNvSpPr/>
          <p:nvPr/>
        </p:nvSpPr>
        <p:spPr>
          <a:xfrm>
            <a:off x="8230826" y="941117"/>
            <a:ext cx="3646849" cy="5617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err="1"/>
              <a:t>Nog</a:t>
            </a:r>
            <a:r>
              <a:rPr lang="en-GB"/>
              <a:t> </a:t>
            </a:r>
            <a:r>
              <a:rPr lang="en-GB" err="1"/>
              <a:t>verder</a:t>
            </a:r>
            <a:r>
              <a:rPr lang="en-GB"/>
              <a:t> </a:t>
            </a:r>
            <a:r>
              <a:rPr lang="en-GB" err="1"/>
              <a:t>aan</a:t>
            </a:r>
            <a:r>
              <a:rPr lang="en-GB"/>
              <a:t> </a:t>
            </a:r>
            <a:r>
              <a:rPr lang="en-GB" err="1"/>
              <a:t>te</a:t>
            </a:r>
            <a:r>
              <a:rPr lang="en-GB"/>
              <a:t> </a:t>
            </a:r>
            <a:r>
              <a:rPr lang="en-GB" err="1"/>
              <a:t>vullen</a:t>
            </a:r>
            <a:endParaRPr lang="en-GB"/>
          </a:p>
        </p:txBody>
      </p:sp>
      <p:sp>
        <p:nvSpPr>
          <p:cNvPr id="18" name="Rechthoek: afgeronde hoeken 17">
            <a:extLst>
              <a:ext uri="{FF2B5EF4-FFF2-40B4-BE49-F238E27FC236}">
                <a16:creationId xmlns:a16="http://schemas.microsoft.com/office/drawing/2014/main" id="{AB6D1E71-93F7-1A7C-263B-E4526F2EDEAC}"/>
              </a:ext>
            </a:extLst>
          </p:cNvPr>
          <p:cNvSpPr/>
          <p:nvPr/>
        </p:nvSpPr>
        <p:spPr>
          <a:xfrm>
            <a:off x="-1" y="6609748"/>
            <a:ext cx="11160000" cy="245729"/>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200" b="1" i="0" u="none" strike="noStrike" kern="1200" cap="none" spc="0" normalizeH="0" baseline="0" noProof="0">
                <a:ln>
                  <a:noFill/>
                </a:ln>
                <a:solidFill>
                  <a:prstClr val="white"/>
                </a:solidFill>
                <a:effectLst/>
                <a:uLnTx/>
                <a:uFillTx/>
                <a:latin typeface="Calibri"/>
                <a:ea typeface="+mn-ea"/>
                <a:cs typeface="+mn-cs"/>
              </a:rPr>
              <a:t>Concept</a:t>
            </a:r>
            <a:endParaRPr kumimoji="0" lang="en-NL" sz="12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98399262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964BC6-51AA-931A-DC81-19A3ABA6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0B964BC6-51AA-931A-DC81-19A3ABA6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13DA1502-A8AE-EE05-1B6B-B7844E9D436D}"/>
              </a:ext>
            </a:extLst>
          </p:cNvPr>
          <p:cNvSpPr>
            <a:spLocks noGrp="1"/>
          </p:cNvSpPr>
          <p:nvPr>
            <p:ph type="title"/>
          </p:nvPr>
        </p:nvSpPr>
        <p:spPr/>
        <p:txBody>
          <a:bodyPr vert="horz">
            <a:normAutofit/>
          </a:bodyPr>
          <a:lstStyle/>
          <a:p>
            <a:pPr algn="ctr"/>
            <a:r>
              <a:rPr lang="nl-NL">
                <a:latin typeface="Verdana Pro"/>
                <a:cs typeface="Helvetica"/>
              </a:rPr>
              <a:t>B</a:t>
            </a:r>
            <a:r>
              <a:rPr lang="nl-NL" sz="3600">
                <a:latin typeface="Verdana Pro"/>
                <a:cs typeface="Helvetica"/>
              </a:rPr>
              <a:t>IJLAGEN</a:t>
            </a:r>
            <a:endParaRPr lang="nl-NL"/>
          </a:p>
        </p:txBody>
      </p:sp>
    </p:spTree>
    <p:extLst>
      <p:ext uri="{BB962C8B-B14F-4D97-AF65-F5344CB8AC3E}">
        <p14:creationId xmlns:p14="http://schemas.microsoft.com/office/powerpoint/2010/main" val="5427488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382394C-9F0C-D76A-B45D-5E997083E9E6}"/>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9FAF920-2B96-5AC1-8E03-5E73AB4E9724}"/>
              </a:ext>
            </a:extLst>
          </p:cNvPr>
          <p:cNvSpPr>
            <a:spLocks noGrp="1"/>
          </p:cNvSpPr>
          <p:nvPr>
            <p:ph idx="1"/>
          </p:nvPr>
        </p:nvSpPr>
        <p:spPr>
          <a:xfrm>
            <a:off x="425302" y="1473998"/>
            <a:ext cx="11233171" cy="4693530"/>
          </a:xfrm>
        </p:spPr>
        <p:txBody>
          <a:bodyPr/>
          <a:lstStyle/>
          <a:p>
            <a:pPr lvl="1"/>
            <a:r>
              <a:rPr lang="nl-NL"/>
              <a:t>[</a:t>
            </a:r>
            <a:r>
              <a:rPr lang="nl-NL" err="1"/>
              <a:t>Placeholder</a:t>
            </a:r>
            <a:r>
              <a:rPr lang="nl-NL"/>
              <a:t>]</a:t>
            </a:r>
          </a:p>
        </p:txBody>
      </p:sp>
      <p:sp>
        <p:nvSpPr>
          <p:cNvPr id="9" name="Text Placeholder 8">
            <a:extLst>
              <a:ext uri="{FF2B5EF4-FFF2-40B4-BE49-F238E27FC236}">
                <a16:creationId xmlns:a16="http://schemas.microsoft.com/office/drawing/2014/main" id="{6584A2CD-808E-3370-6D29-B0B0217BE3E2}"/>
              </a:ext>
            </a:extLst>
          </p:cNvPr>
          <p:cNvSpPr>
            <a:spLocks noGrp="1"/>
          </p:cNvSpPr>
          <p:nvPr>
            <p:ph type="body" sz="quarter" idx="10"/>
          </p:nvPr>
        </p:nvSpPr>
        <p:spPr/>
        <p:txBody>
          <a:bodyPr/>
          <a:lstStyle/>
          <a:p>
            <a:endParaRPr lang="en-GB"/>
          </a:p>
        </p:txBody>
      </p:sp>
      <p:sp>
        <p:nvSpPr>
          <p:cNvPr id="2" name="Rectangle: Top Corners Rounded 38">
            <a:hlinkClick r:id="rId2" action="ppaction://hlinksldjump"/>
            <a:extLst>
              <a:ext uri="{FF2B5EF4-FFF2-40B4-BE49-F238E27FC236}">
                <a16:creationId xmlns:a16="http://schemas.microsoft.com/office/drawing/2014/main" id="{3F5B44AF-FDE9-64E0-7AD3-B86ADD98927D}"/>
              </a:ext>
            </a:extLst>
          </p:cNvPr>
          <p:cNvSpPr/>
          <p:nvPr/>
        </p:nvSpPr>
        <p:spPr>
          <a:xfrm>
            <a:off x="28970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F1F2F9"/>
                </a:solidFill>
                <a:latin typeface="Verdana Pro" panose="020B0604030504040204" pitchFamily="34" charset="0"/>
                <a:ea typeface="Verdana" panose="020B0604030504040204" pitchFamily="34" charset="0"/>
              </a:rPr>
              <a:t>Management </a:t>
            </a:r>
            <a:r>
              <a:rPr lang="nl-NL" sz="600">
                <a:solidFill>
                  <a:srgbClr val="8C95CD"/>
                </a:solidFill>
                <a:latin typeface="Verdana Pro" panose="020B0604030504040204" pitchFamily="34" charset="0"/>
                <a:ea typeface="Verdana" panose="020B0604030504040204" pitchFamily="34" charset="0"/>
              </a:rPr>
              <a:t>Samenvatting</a:t>
            </a:r>
          </a:p>
        </p:txBody>
      </p:sp>
      <p:pic>
        <p:nvPicPr>
          <p:cNvPr id="4" name="Graphic 3" descr="Introductiepagina silhouet">
            <a:hlinkClick r:id="rId3" action="ppaction://hlinksldjump"/>
            <a:extLst>
              <a:ext uri="{FF2B5EF4-FFF2-40B4-BE49-F238E27FC236}">
                <a16:creationId xmlns:a16="http://schemas.microsoft.com/office/drawing/2014/main" id="{8AE42E34-D1F0-5B7D-1C42-5BD1D4F9AE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136" y="147223"/>
            <a:ext cx="144000" cy="144000"/>
          </a:xfrm>
          <a:prstGeom prst="rect">
            <a:avLst/>
          </a:prstGeom>
        </p:spPr>
      </p:pic>
      <p:sp>
        <p:nvSpPr>
          <p:cNvPr id="5" name="Rectangle: Top Corners Rounded 1">
            <a:hlinkClick r:id="rId6" action="ppaction://hlinksldjump"/>
            <a:extLst>
              <a:ext uri="{FF2B5EF4-FFF2-40B4-BE49-F238E27FC236}">
                <a16:creationId xmlns:a16="http://schemas.microsoft.com/office/drawing/2014/main" id="{28028858-2652-8A36-DEA6-0734D13B0C23}"/>
              </a:ext>
            </a:extLst>
          </p:cNvPr>
          <p:cNvSpPr/>
          <p:nvPr/>
        </p:nvSpPr>
        <p:spPr>
          <a:xfrm>
            <a:off x="120718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Achtergrond en aanleiding</a:t>
            </a:r>
          </a:p>
        </p:txBody>
      </p:sp>
      <p:sp>
        <p:nvSpPr>
          <p:cNvPr id="6" name="Rectangle: Top Corners Rounded 1">
            <a:hlinkClick r:id="rId7" action="ppaction://hlinksldjump"/>
            <a:extLst>
              <a:ext uri="{FF2B5EF4-FFF2-40B4-BE49-F238E27FC236}">
                <a16:creationId xmlns:a16="http://schemas.microsoft.com/office/drawing/2014/main" id="{77320B5F-1279-A5FF-3FC4-E1D3F30784EE}"/>
              </a:ext>
            </a:extLst>
          </p:cNvPr>
          <p:cNvSpPr/>
          <p:nvPr/>
        </p:nvSpPr>
        <p:spPr>
          <a:xfrm>
            <a:off x="212467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Visie en ambitie</a:t>
            </a:r>
          </a:p>
        </p:txBody>
      </p:sp>
      <p:sp>
        <p:nvSpPr>
          <p:cNvPr id="7" name="Rectangle: Top Corners Rounded 1">
            <a:hlinkClick r:id="rId8" action="ppaction://hlinksldjump"/>
            <a:extLst>
              <a:ext uri="{FF2B5EF4-FFF2-40B4-BE49-F238E27FC236}">
                <a16:creationId xmlns:a16="http://schemas.microsoft.com/office/drawing/2014/main" id="{69C9396A-A415-91CC-A2D2-B675276AE0A6}"/>
              </a:ext>
            </a:extLst>
          </p:cNvPr>
          <p:cNvSpPr/>
          <p:nvPr/>
        </p:nvSpPr>
        <p:spPr>
          <a:xfrm>
            <a:off x="304215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Veranderopgaven en verwachte impact</a:t>
            </a:r>
          </a:p>
        </p:txBody>
      </p:sp>
      <p:sp>
        <p:nvSpPr>
          <p:cNvPr id="10" name="Rectangle: Top Corners Rounded 1">
            <a:hlinkClick r:id="rId9" action="ppaction://hlinksldjump"/>
            <a:extLst>
              <a:ext uri="{FF2B5EF4-FFF2-40B4-BE49-F238E27FC236}">
                <a16:creationId xmlns:a16="http://schemas.microsoft.com/office/drawing/2014/main" id="{E421126E-65F3-A252-E9E5-ACF53959714B}"/>
              </a:ext>
            </a:extLst>
          </p:cNvPr>
          <p:cNvSpPr/>
          <p:nvPr/>
        </p:nvSpPr>
        <p:spPr>
          <a:xfrm>
            <a:off x="395964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Fundament digitalisering</a:t>
            </a:r>
          </a:p>
        </p:txBody>
      </p:sp>
      <p:sp>
        <p:nvSpPr>
          <p:cNvPr id="11" name="Rectangle: Top Corners Rounded 1">
            <a:hlinkClick r:id="rId10" action="ppaction://hlinksldjump"/>
            <a:extLst>
              <a:ext uri="{FF2B5EF4-FFF2-40B4-BE49-F238E27FC236}">
                <a16:creationId xmlns:a16="http://schemas.microsoft.com/office/drawing/2014/main" id="{DC6EF06F-DDF2-D128-7E0B-BC81F0331835}"/>
              </a:ext>
            </a:extLst>
          </p:cNvPr>
          <p:cNvSpPr/>
          <p:nvPr/>
        </p:nvSpPr>
        <p:spPr>
          <a:xfrm>
            <a:off x="487712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1: </a:t>
            </a:r>
          </a:p>
          <a:p>
            <a:pPr algn="ctr">
              <a:lnSpc>
                <a:spcPts val="600"/>
              </a:lnSpc>
            </a:pPr>
            <a:r>
              <a:rPr lang="nl-NL" sz="600">
                <a:solidFill>
                  <a:srgbClr val="8C95CD"/>
                </a:solidFill>
                <a:latin typeface="Verdana Pro" panose="020B0604030504040204" pitchFamily="34" charset="0"/>
                <a:ea typeface="Verdana" panose="020B0604030504040204" pitchFamily="34" charset="0"/>
              </a:rPr>
              <a:t>Digitale (zorg) communicatie</a:t>
            </a:r>
          </a:p>
        </p:txBody>
      </p:sp>
      <p:sp>
        <p:nvSpPr>
          <p:cNvPr id="12" name="Rectangle: Top Corners Rounded 1">
            <a:hlinkClick r:id="rId11" action="ppaction://hlinksldjump"/>
            <a:extLst>
              <a:ext uri="{FF2B5EF4-FFF2-40B4-BE49-F238E27FC236}">
                <a16:creationId xmlns:a16="http://schemas.microsoft.com/office/drawing/2014/main" id="{11DFF4CC-2965-288F-599D-47884272EC5A}"/>
              </a:ext>
            </a:extLst>
          </p:cNvPr>
          <p:cNvSpPr/>
          <p:nvPr/>
        </p:nvSpPr>
        <p:spPr>
          <a:xfrm>
            <a:off x="579461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Thema 2: Dossier-inzage en digitale overdracht</a:t>
            </a:r>
          </a:p>
        </p:txBody>
      </p:sp>
      <p:sp>
        <p:nvSpPr>
          <p:cNvPr id="13" name="Rectangle: Top Corners Rounded 1">
            <a:hlinkClick r:id="rId12" action="ppaction://hlinksldjump"/>
            <a:extLst>
              <a:ext uri="{FF2B5EF4-FFF2-40B4-BE49-F238E27FC236}">
                <a16:creationId xmlns:a16="http://schemas.microsoft.com/office/drawing/2014/main" id="{9826D085-881D-7E65-BC2B-3E2479811A48}"/>
              </a:ext>
            </a:extLst>
          </p:cNvPr>
          <p:cNvSpPr/>
          <p:nvPr/>
        </p:nvSpPr>
        <p:spPr>
          <a:xfrm>
            <a:off x="671209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Overkoepelende businesscase</a:t>
            </a:r>
          </a:p>
        </p:txBody>
      </p:sp>
      <p:sp>
        <p:nvSpPr>
          <p:cNvPr id="14" name="Rectangle: Top Corners Rounded 1">
            <a:hlinkClick r:id="rId13" action="ppaction://hlinksldjump"/>
            <a:extLst>
              <a:ext uri="{FF2B5EF4-FFF2-40B4-BE49-F238E27FC236}">
                <a16:creationId xmlns:a16="http://schemas.microsoft.com/office/drawing/2014/main" id="{872767DB-DDE0-E13C-35D9-1B67E3C49248}"/>
              </a:ext>
            </a:extLst>
          </p:cNvPr>
          <p:cNvSpPr/>
          <p:nvPr/>
        </p:nvSpPr>
        <p:spPr>
          <a:xfrm>
            <a:off x="762958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err="1">
                <a:solidFill>
                  <a:srgbClr val="8C95CD"/>
                </a:solidFill>
                <a:latin typeface="Verdana Pro" panose="020B0604030504040204" pitchFamily="34" charset="0"/>
                <a:ea typeface="Verdana" panose="020B0604030504040204" pitchFamily="34" charset="0"/>
              </a:rPr>
              <a:t>Governance</a:t>
            </a:r>
            <a:r>
              <a:rPr lang="nl-NL" sz="600">
                <a:solidFill>
                  <a:srgbClr val="8C95CD"/>
                </a:solidFill>
                <a:latin typeface="Verdana Pro" panose="020B0604030504040204" pitchFamily="34" charset="0"/>
                <a:ea typeface="Verdana" panose="020B0604030504040204" pitchFamily="34" charset="0"/>
              </a:rPr>
              <a:t> en </a:t>
            </a:r>
            <a:r>
              <a:rPr lang="nl-NL" sz="600" err="1">
                <a:solidFill>
                  <a:srgbClr val="8C95CD"/>
                </a:solidFill>
                <a:latin typeface="Verdana Pro" panose="020B0604030504040204" pitchFamily="34" charset="0"/>
                <a:ea typeface="Verdana" panose="020B0604030504040204" pitchFamily="34" charset="0"/>
              </a:rPr>
              <a:t>programma-structuur</a:t>
            </a:r>
            <a:endParaRPr lang="nl-NL" sz="600">
              <a:solidFill>
                <a:srgbClr val="8C95CD"/>
              </a:solidFill>
              <a:latin typeface="Verdana Pro" panose="020B0604030504040204" pitchFamily="34" charset="0"/>
              <a:ea typeface="Verdana" panose="020B0604030504040204" pitchFamily="34" charset="0"/>
            </a:endParaRPr>
          </a:p>
        </p:txBody>
      </p:sp>
      <p:sp>
        <p:nvSpPr>
          <p:cNvPr id="15" name="Rectangle: Top Corners Rounded 1">
            <a:hlinkClick r:id="rId14" action="ppaction://hlinksldjump"/>
            <a:extLst>
              <a:ext uri="{FF2B5EF4-FFF2-40B4-BE49-F238E27FC236}">
                <a16:creationId xmlns:a16="http://schemas.microsoft.com/office/drawing/2014/main" id="{0A992C8F-E562-8F0D-245D-A6CD3B7EA5C9}"/>
              </a:ext>
            </a:extLst>
          </p:cNvPr>
          <p:cNvSpPr/>
          <p:nvPr/>
        </p:nvSpPr>
        <p:spPr>
          <a:xfrm>
            <a:off x="8547068"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Implementatie planning en aanpak</a:t>
            </a:r>
          </a:p>
        </p:txBody>
      </p:sp>
      <p:sp>
        <p:nvSpPr>
          <p:cNvPr id="16" name="Rectangle: Top Corners Rounded 1">
            <a:hlinkClick r:id="rId15" action="ppaction://hlinksldjump"/>
            <a:extLst>
              <a:ext uri="{FF2B5EF4-FFF2-40B4-BE49-F238E27FC236}">
                <a16:creationId xmlns:a16="http://schemas.microsoft.com/office/drawing/2014/main" id="{8BEA1B45-B17D-CF04-5C96-B04165EBDD0C}"/>
              </a:ext>
            </a:extLst>
          </p:cNvPr>
          <p:cNvSpPr/>
          <p:nvPr/>
        </p:nvSpPr>
        <p:spPr>
          <a:xfrm>
            <a:off x="9464553" y="31192"/>
            <a:ext cx="900000" cy="361248"/>
          </a:xfrm>
          <a:prstGeom prst="round2SameRect">
            <a:avLst>
              <a:gd name="adj1" fmla="val 19775"/>
              <a:gd name="adj2" fmla="val 0"/>
            </a:avLst>
          </a:prstGeom>
          <a:solidFill>
            <a:srgbClr val="F1F2F9"/>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a:solidFill>
                  <a:srgbClr val="8C95CD"/>
                </a:solidFill>
                <a:latin typeface="Verdana Pro" panose="020B0604030504040204" pitchFamily="34" charset="0"/>
                <a:ea typeface="Verdana" panose="020B0604030504040204" pitchFamily="34" charset="0"/>
              </a:rPr>
              <a:t>Randvoorwaarden voor succes</a:t>
            </a:r>
          </a:p>
        </p:txBody>
      </p:sp>
      <p:sp>
        <p:nvSpPr>
          <p:cNvPr id="17" name="Rectangle: Top Corners Rounded 1">
            <a:hlinkClick r:id="rId16" action="ppaction://hlinksldjump"/>
            <a:extLst>
              <a:ext uri="{FF2B5EF4-FFF2-40B4-BE49-F238E27FC236}">
                <a16:creationId xmlns:a16="http://schemas.microsoft.com/office/drawing/2014/main" id="{382F00AD-9EFA-5B18-ED84-FE69B1CD540D}"/>
              </a:ext>
            </a:extLst>
          </p:cNvPr>
          <p:cNvSpPr/>
          <p:nvPr/>
        </p:nvSpPr>
        <p:spPr>
          <a:xfrm>
            <a:off x="10382040" y="31192"/>
            <a:ext cx="900000" cy="361248"/>
          </a:xfrm>
          <a:prstGeom prst="round2SameRect">
            <a:avLst>
              <a:gd name="adj1" fmla="val 19775"/>
              <a:gd name="adj2" fmla="val 0"/>
            </a:avLst>
          </a:prstGeom>
          <a:solidFill>
            <a:schemeClr val="accent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ts val="600"/>
              </a:lnSpc>
            </a:pPr>
            <a:r>
              <a:rPr lang="nl-NL" sz="600" b="1">
                <a:solidFill>
                  <a:srgbClr val="F1F2F9"/>
                </a:solidFill>
                <a:latin typeface="Verdana Pro" panose="020B0604030504040204" pitchFamily="34" charset="0"/>
                <a:ea typeface="Verdana" panose="020B0604030504040204" pitchFamily="34" charset="0"/>
              </a:rPr>
              <a:t>Bijlagen</a:t>
            </a:r>
          </a:p>
        </p:txBody>
      </p:sp>
    </p:spTree>
    <p:extLst>
      <p:ext uri="{BB962C8B-B14F-4D97-AF65-F5344CB8AC3E}">
        <p14:creationId xmlns:p14="http://schemas.microsoft.com/office/powerpoint/2010/main" val="179620223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Afgeronde rechthoek 39">
            <a:extLst>
              <a:ext uri="{FF2B5EF4-FFF2-40B4-BE49-F238E27FC236}">
                <a16:creationId xmlns:a16="http://schemas.microsoft.com/office/drawing/2014/main" id="{83F883F5-3E64-4503-EB4A-906AD3F97694}"/>
              </a:ext>
            </a:extLst>
          </p:cNvPr>
          <p:cNvSpPr/>
          <p:nvPr/>
        </p:nvSpPr>
        <p:spPr>
          <a:xfrm>
            <a:off x="1283041" y="2271989"/>
            <a:ext cx="2322061" cy="3120496"/>
          </a:xfrm>
          <a:prstGeom prst="round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rtlCol="0" anchor="t"/>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nl-NL" sz="1350" b="1" i="0" u="none" strike="noStrike" kern="1200" cap="none" spc="0" normalizeH="0" baseline="0" noProof="0">
                <a:ln>
                  <a:noFill/>
                </a:ln>
                <a:solidFill>
                  <a:prstClr val="black"/>
                </a:solidFill>
                <a:effectLst/>
                <a:uLnTx/>
                <a:uFillTx/>
                <a:latin typeface="Calibri" panose="020F0502020204030204"/>
                <a:ea typeface="+mn-ea"/>
                <a:cs typeface="+mn-cs"/>
              </a:rPr>
              <a:t>Organisatorische eenheid</a:t>
            </a:r>
          </a:p>
        </p:txBody>
      </p:sp>
      <p:sp>
        <p:nvSpPr>
          <p:cNvPr id="5" name="Afgeronde rechthoek 40">
            <a:extLst>
              <a:ext uri="{FF2B5EF4-FFF2-40B4-BE49-F238E27FC236}">
                <a16:creationId xmlns:a16="http://schemas.microsoft.com/office/drawing/2014/main" id="{409C1F0A-87CD-E35D-8614-872C8D70CB97}"/>
              </a:ext>
            </a:extLst>
          </p:cNvPr>
          <p:cNvSpPr/>
          <p:nvPr/>
        </p:nvSpPr>
        <p:spPr>
          <a:xfrm>
            <a:off x="1430129" y="2749081"/>
            <a:ext cx="2037694" cy="431095"/>
          </a:xfrm>
          <a:prstGeom prst="roundRect">
            <a:avLst/>
          </a:prstGeom>
          <a:solidFill>
            <a:srgbClr val="F4B18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nl-NL" sz="1350" b="0" i="0" u="none" strike="noStrike" kern="1200" cap="none" spc="0" normalizeH="0" baseline="0" noProof="0">
                <a:ln>
                  <a:noFill/>
                </a:ln>
                <a:solidFill>
                  <a:schemeClr val="tx1"/>
                </a:solidFill>
                <a:effectLst/>
                <a:uLnTx/>
                <a:uFillTx/>
                <a:latin typeface="Calibri" panose="020F0502020204030204"/>
                <a:ea typeface="+mn-ea"/>
                <a:cs typeface="+mn-cs"/>
              </a:rPr>
              <a:t>ORGANISATIEBELEID</a:t>
            </a:r>
          </a:p>
        </p:txBody>
      </p:sp>
      <p:sp>
        <p:nvSpPr>
          <p:cNvPr id="6" name="Afgeronde rechthoek 41">
            <a:extLst>
              <a:ext uri="{FF2B5EF4-FFF2-40B4-BE49-F238E27FC236}">
                <a16:creationId xmlns:a16="http://schemas.microsoft.com/office/drawing/2014/main" id="{D88AA995-6C1F-69BE-4CF5-8956927B3EB9}"/>
              </a:ext>
            </a:extLst>
          </p:cNvPr>
          <p:cNvSpPr/>
          <p:nvPr/>
        </p:nvSpPr>
        <p:spPr>
          <a:xfrm>
            <a:off x="1430128" y="3267734"/>
            <a:ext cx="2037694" cy="431095"/>
          </a:xfrm>
          <a:prstGeom prst="roundRect">
            <a:avLst/>
          </a:prstGeom>
          <a:solidFill>
            <a:srgbClr val="F8CBAD"/>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nl-NL" sz="1350">
                <a:solidFill>
                  <a:schemeClr val="tx1"/>
                </a:solidFill>
                <a:latin typeface="Calibri" panose="020F0502020204030204"/>
              </a:rPr>
              <a:t>ZORGPROCES</a:t>
            </a:r>
          </a:p>
        </p:txBody>
      </p:sp>
      <p:sp>
        <p:nvSpPr>
          <p:cNvPr id="7" name="Afgeronde rechthoek 42">
            <a:extLst>
              <a:ext uri="{FF2B5EF4-FFF2-40B4-BE49-F238E27FC236}">
                <a16:creationId xmlns:a16="http://schemas.microsoft.com/office/drawing/2014/main" id="{A19B45AF-45F9-9F41-2736-1A2B608F9D58}"/>
              </a:ext>
            </a:extLst>
          </p:cNvPr>
          <p:cNvSpPr/>
          <p:nvPr/>
        </p:nvSpPr>
        <p:spPr>
          <a:xfrm>
            <a:off x="1425224" y="3786388"/>
            <a:ext cx="2037694" cy="431095"/>
          </a:xfrm>
          <a:prstGeom prst="roundRect">
            <a:avLst/>
          </a:prstGeom>
          <a:solidFill>
            <a:srgbClr val="FFFF00"/>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nl-NL" sz="1350" b="0" i="0" u="none" strike="noStrike" kern="1200" cap="none" spc="0" normalizeH="0" baseline="0" noProof="0">
                <a:ln>
                  <a:noFill/>
                </a:ln>
                <a:solidFill>
                  <a:schemeClr val="tx1"/>
                </a:solidFill>
                <a:effectLst/>
                <a:uLnTx/>
                <a:uFillTx/>
                <a:latin typeface="Calibri" panose="020F0502020204030204"/>
                <a:ea typeface="+mn-ea"/>
                <a:cs typeface="+mn-cs"/>
              </a:rPr>
              <a:t>INFORMATIE</a:t>
            </a:r>
          </a:p>
        </p:txBody>
      </p:sp>
      <p:sp>
        <p:nvSpPr>
          <p:cNvPr id="8" name="Afgeronde rechthoek 43">
            <a:extLst>
              <a:ext uri="{FF2B5EF4-FFF2-40B4-BE49-F238E27FC236}">
                <a16:creationId xmlns:a16="http://schemas.microsoft.com/office/drawing/2014/main" id="{B79EECB7-DBA2-3B2D-DD6A-C51896E26F79}"/>
              </a:ext>
            </a:extLst>
          </p:cNvPr>
          <p:cNvSpPr/>
          <p:nvPr/>
        </p:nvSpPr>
        <p:spPr>
          <a:xfrm>
            <a:off x="1417624" y="4305041"/>
            <a:ext cx="2037694" cy="431095"/>
          </a:xfrm>
          <a:prstGeom prst="roundRect">
            <a:avLst/>
          </a:prstGeom>
          <a:solidFill>
            <a:srgbClr val="92D050"/>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nl-NL" sz="1350" b="0" i="0" u="none" strike="noStrike" kern="1200" cap="none" spc="0" normalizeH="0" baseline="0" noProof="0">
                <a:ln>
                  <a:noFill/>
                </a:ln>
                <a:solidFill>
                  <a:schemeClr val="tx1"/>
                </a:solidFill>
                <a:effectLst/>
                <a:uLnTx/>
                <a:uFillTx/>
                <a:latin typeface="Calibri" panose="020F0502020204030204"/>
                <a:ea typeface="+mn-ea"/>
                <a:cs typeface="+mn-cs"/>
              </a:rPr>
              <a:t>APPLICATIE</a:t>
            </a:r>
          </a:p>
        </p:txBody>
      </p:sp>
      <p:sp>
        <p:nvSpPr>
          <p:cNvPr id="9" name="Afgeronde rechthoek 44">
            <a:extLst>
              <a:ext uri="{FF2B5EF4-FFF2-40B4-BE49-F238E27FC236}">
                <a16:creationId xmlns:a16="http://schemas.microsoft.com/office/drawing/2014/main" id="{F2FDF969-F942-630E-0E1A-8B7DC88D01F4}"/>
              </a:ext>
            </a:extLst>
          </p:cNvPr>
          <p:cNvSpPr/>
          <p:nvPr/>
        </p:nvSpPr>
        <p:spPr>
          <a:xfrm>
            <a:off x="1417624" y="4823695"/>
            <a:ext cx="2037694" cy="431095"/>
          </a:xfrm>
          <a:prstGeom prst="roundRect">
            <a:avLst/>
          </a:prstGeom>
          <a:solidFill>
            <a:srgbClr val="00B050"/>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nl-NL" sz="1350" b="0" i="0" u="none" strike="noStrike" kern="1200" cap="none" spc="0" normalizeH="0" baseline="0" noProof="0">
                <a:ln>
                  <a:noFill/>
                </a:ln>
                <a:solidFill>
                  <a:schemeClr val="tx1"/>
                </a:solidFill>
                <a:effectLst/>
                <a:uLnTx/>
                <a:uFillTx/>
                <a:latin typeface="Calibri" panose="020F0502020204030204"/>
                <a:ea typeface="+mn-ea"/>
                <a:cs typeface="+mn-cs"/>
              </a:rPr>
              <a:t>IT-INFRASTRUCTUUR</a:t>
            </a:r>
          </a:p>
        </p:txBody>
      </p:sp>
      <p:sp>
        <p:nvSpPr>
          <p:cNvPr id="24" name="Rechthoek: afgeronde hoeken 23">
            <a:extLst>
              <a:ext uri="{FF2B5EF4-FFF2-40B4-BE49-F238E27FC236}">
                <a16:creationId xmlns:a16="http://schemas.microsoft.com/office/drawing/2014/main" id="{2B42583B-1C67-3D20-123E-12186DC4E851}"/>
              </a:ext>
            </a:extLst>
          </p:cNvPr>
          <p:cNvSpPr/>
          <p:nvPr/>
        </p:nvSpPr>
        <p:spPr>
          <a:xfrm>
            <a:off x="3605102" y="3314279"/>
            <a:ext cx="4858414" cy="432000"/>
          </a:xfrm>
          <a:prstGeom prst="roundRect">
            <a:avLst/>
          </a:prstGeom>
          <a:solidFill>
            <a:schemeClr val="bg1"/>
          </a:solidFill>
          <a:ln w="63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85725" lvl="0">
              <a:lnSpc>
                <a:spcPts val="1000"/>
              </a:lnSpc>
              <a:defRPr/>
            </a:pPr>
            <a:r>
              <a:rPr lang="nl-NL" sz="1100" b="1" u="sng" err="1">
                <a:solidFill>
                  <a:schemeClr val="tx1"/>
                </a:solidFill>
                <a:latin typeface="Montserrat"/>
              </a:rPr>
              <a:t>Usecases</a:t>
            </a:r>
            <a:r>
              <a:rPr lang="nl-NL" sz="1100">
                <a:solidFill>
                  <a:schemeClr val="tx1"/>
                </a:solidFill>
                <a:latin typeface="Montserrat"/>
              </a:rPr>
              <a:t>: Regionale werkafspraken transmurale zorgprocessen (</a:t>
            </a:r>
            <a:r>
              <a:rPr lang="nl-NL" sz="1100" err="1">
                <a:solidFill>
                  <a:schemeClr val="tx1"/>
                </a:solidFill>
                <a:latin typeface="Montserrat"/>
              </a:rPr>
              <a:t>RTA’s</a:t>
            </a:r>
            <a:r>
              <a:rPr lang="nl-NL" sz="1100">
                <a:solidFill>
                  <a:schemeClr val="tx1"/>
                </a:solidFill>
                <a:latin typeface="Montserrat"/>
              </a:rPr>
              <a:t>), digitale-) Zorgpaden, procesveranderingen, </a:t>
            </a:r>
            <a:r>
              <a:rPr lang="nl-NL" sz="1100" err="1">
                <a:solidFill>
                  <a:schemeClr val="tx1"/>
                </a:solidFill>
                <a:latin typeface="Montserrat"/>
              </a:rPr>
              <a:t>KPIs</a:t>
            </a:r>
            <a:endParaRPr lang="nl-NL" sz="1100">
              <a:solidFill>
                <a:schemeClr val="tx1"/>
              </a:solidFill>
              <a:latin typeface="Montserrat"/>
            </a:endParaRPr>
          </a:p>
        </p:txBody>
      </p:sp>
      <p:sp>
        <p:nvSpPr>
          <p:cNvPr id="25" name="Rechthoek: afgeronde hoeken 24">
            <a:extLst>
              <a:ext uri="{FF2B5EF4-FFF2-40B4-BE49-F238E27FC236}">
                <a16:creationId xmlns:a16="http://schemas.microsoft.com/office/drawing/2014/main" id="{E977082C-D2D8-4826-8CE7-95D64C9CDB23}"/>
              </a:ext>
            </a:extLst>
          </p:cNvPr>
          <p:cNvSpPr/>
          <p:nvPr/>
        </p:nvSpPr>
        <p:spPr>
          <a:xfrm>
            <a:off x="3605102" y="3831990"/>
            <a:ext cx="4858414" cy="432000"/>
          </a:xfrm>
          <a:prstGeom prst="roundRect">
            <a:avLst/>
          </a:prstGeom>
          <a:solidFill>
            <a:schemeClr val="bg1"/>
          </a:solidFill>
          <a:ln w="63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85725">
              <a:lnSpc>
                <a:spcPts val="1000"/>
              </a:lnSpc>
              <a:defRPr/>
            </a:pPr>
            <a:r>
              <a:rPr lang="nl-NL" sz="1100" b="1" u="sng">
                <a:solidFill>
                  <a:schemeClr val="tx1"/>
                </a:solidFill>
                <a:latin typeface="Montserrat"/>
              </a:rPr>
              <a:t>Fundament</a:t>
            </a:r>
            <a:r>
              <a:rPr lang="nl-NL" sz="1100">
                <a:solidFill>
                  <a:schemeClr val="tx1"/>
                </a:solidFill>
                <a:latin typeface="Montserrat"/>
              </a:rPr>
              <a:t>: Eenheid van taal &amp;  landelijke standaarden, </a:t>
            </a:r>
            <a:r>
              <a:rPr lang="nl-NL" sz="1100" err="1">
                <a:solidFill>
                  <a:schemeClr val="tx1"/>
                </a:solidFill>
                <a:latin typeface="Montserrat"/>
              </a:rPr>
              <a:t>KPIs</a:t>
            </a:r>
            <a:endParaRPr lang="nl-NL" sz="1100">
              <a:solidFill>
                <a:schemeClr val="tx1"/>
              </a:solidFill>
              <a:latin typeface="Montserrat"/>
            </a:endParaRPr>
          </a:p>
        </p:txBody>
      </p:sp>
      <p:sp>
        <p:nvSpPr>
          <p:cNvPr id="26" name="Rechthoek: afgeronde hoeken 25">
            <a:extLst>
              <a:ext uri="{FF2B5EF4-FFF2-40B4-BE49-F238E27FC236}">
                <a16:creationId xmlns:a16="http://schemas.microsoft.com/office/drawing/2014/main" id="{A6191B44-4EAE-A76B-7D90-2AB2AB8CFC53}"/>
              </a:ext>
            </a:extLst>
          </p:cNvPr>
          <p:cNvSpPr/>
          <p:nvPr/>
        </p:nvSpPr>
        <p:spPr>
          <a:xfrm>
            <a:off x="3605102" y="4351079"/>
            <a:ext cx="4858414" cy="432000"/>
          </a:xfrm>
          <a:prstGeom prst="roundRect">
            <a:avLst/>
          </a:prstGeom>
          <a:solidFill>
            <a:schemeClr val="bg1"/>
          </a:solidFill>
          <a:ln w="63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85725" lvl="0">
              <a:lnSpc>
                <a:spcPts val="1000"/>
              </a:lnSpc>
              <a:defRPr/>
            </a:pPr>
            <a:r>
              <a:rPr lang="nl-NL" sz="1100" b="1" u="sng" err="1">
                <a:solidFill>
                  <a:schemeClr val="tx1"/>
                </a:solidFill>
                <a:latin typeface="Montserrat"/>
              </a:rPr>
              <a:t>Usecases</a:t>
            </a:r>
            <a:r>
              <a:rPr lang="nl-NL" sz="1100" b="1" u="sng">
                <a:solidFill>
                  <a:schemeClr val="tx1"/>
                </a:solidFill>
                <a:latin typeface="Montserrat"/>
              </a:rPr>
              <a:t>:</a:t>
            </a:r>
            <a:r>
              <a:rPr lang="nl-NL" sz="1100" b="1">
                <a:solidFill>
                  <a:schemeClr val="tx1"/>
                </a:solidFill>
                <a:latin typeface="Montserrat"/>
              </a:rPr>
              <a:t> </a:t>
            </a:r>
            <a:r>
              <a:rPr lang="nl-NL" sz="1100">
                <a:solidFill>
                  <a:schemeClr val="tx1"/>
                </a:solidFill>
                <a:latin typeface="Montserrat"/>
              </a:rPr>
              <a:t>Keuze van applicaties, koppelingen van applicaties met aanbieder systemen </a:t>
            </a:r>
          </a:p>
        </p:txBody>
      </p:sp>
      <p:sp>
        <p:nvSpPr>
          <p:cNvPr id="27" name="Rechthoek: afgeronde hoeken 26">
            <a:extLst>
              <a:ext uri="{FF2B5EF4-FFF2-40B4-BE49-F238E27FC236}">
                <a16:creationId xmlns:a16="http://schemas.microsoft.com/office/drawing/2014/main" id="{E3BE8024-542D-3683-8273-D1BCEDB08A3B}"/>
              </a:ext>
            </a:extLst>
          </p:cNvPr>
          <p:cNvSpPr/>
          <p:nvPr/>
        </p:nvSpPr>
        <p:spPr>
          <a:xfrm>
            <a:off x="3605102" y="4873079"/>
            <a:ext cx="4858414" cy="432000"/>
          </a:xfrm>
          <a:prstGeom prst="roundRect">
            <a:avLst/>
          </a:prstGeom>
          <a:solidFill>
            <a:schemeClr val="bg1"/>
          </a:solidFill>
          <a:ln w="63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85725" lvl="0">
              <a:lnSpc>
                <a:spcPts val="1500"/>
              </a:lnSpc>
              <a:defRPr/>
            </a:pPr>
            <a:r>
              <a:rPr lang="nl-NL" sz="1100" b="1" u="sng">
                <a:solidFill>
                  <a:schemeClr val="tx1"/>
                </a:solidFill>
                <a:latin typeface="Montserrat"/>
              </a:rPr>
              <a:t>Fundament:</a:t>
            </a:r>
            <a:r>
              <a:rPr lang="nl-NL" sz="1100">
                <a:solidFill>
                  <a:schemeClr val="tx1"/>
                </a:solidFill>
                <a:latin typeface="Montserrat"/>
              </a:rPr>
              <a:t> Gemeenschappelijke voorzieningen &amp; generieke functies (</a:t>
            </a:r>
            <a:r>
              <a:rPr lang="nl-NL" sz="1100" err="1">
                <a:solidFill>
                  <a:schemeClr val="tx1"/>
                </a:solidFill>
                <a:latin typeface="Montserrat"/>
              </a:rPr>
              <a:t>Mitz</a:t>
            </a:r>
            <a:r>
              <a:rPr lang="nl-NL" sz="1100">
                <a:solidFill>
                  <a:schemeClr val="tx1"/>
                </a:solidFill>
                <a:latin typeface="Montserrat"/>
              </a:rPr>
              <a:t>, Zorg-AB Zorg ID), </a:t>
            </a:r>
            <a:r>
              <a:rPr lang="nl-NL" sz="1100" err="1">
                <a:solidFill>
                  <a:schemeClr val="tx1"/>
                </a:solidFill>
                <a:latin typeface="Montserrat"/>
              </a:rPr>
              <a:t>KPIs</a:t>
            </a:r>
            <a:endParaRPr lang="nl-NL" sz="1100">
              <a:solidFill>
                <a:schemeClr val="tx1"/>
              </a:solidFill>
              <a:latin typeface="Montserrat"/>
            </a:endParaRPr>
          </a:p>
        </p:txBody>
      </p:sp>
      <p:sp>
        <p:nvSpPr>
          <p:cNvPr id="28" name="Rechthoek: afgeronde hoeken 27">
            <a:extLst>
              <a:ext uri="{FF2B5EF4-FFF2-40B4-BE49-F238E27FC236}">
                <a16:creationId xmlns:a16="http://schemas.microsoft.com/office/drawing/2014/main" id="{EBC38594-E0FD-0D6D-855B-2F335AED5181}"/>
              </a:ext>
            </a:extLst>
          </p:cNvPr>
          <p:cNvSpPr/>
          <p:nvPr/>
        </p:nvSpPr>
        <p:spPr>
          <a:xfrm>
            <a:off x="3605102" y="2795879"/>
            <a:ext cx="4858414" cy="432000"/>
          </a:xfrm>
          <a:prstGeom prst="roundRect">
            <a:avLst/>
          </a:prstGeom>
          <a:solidFill>
            <a:schemeClr val="bg1"/>
          </a:solidFill>
          <a:ln w="63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85725">
              <a:lnSpc>
                <a:spcPts val="1000"/>
              </a:lnSpc>
              <a:defRPr/>
            </a:pPr>
            <a:r>
              <a:rPr lang="nl-NL" sz="1100" b="1" u="sng">
                <a:solidFill>
                  <a:schemeClr val="tx1"/>
                </a:solidFill>
                <a:latin typeface="Montserrat"/>
              </a:rPr>
              <a:t>Totaal:</a:t>
            </a:r>
            <a:r>
              <a:rPr lang="nl-NL" sz="1100">
                <a:solidFill>
                  <a:schemeClr val="tx1"/>
                </a:solidFill>
                <a:latin typeface="Montserrat"/>
              </a:rPr>
              <a:t> Visie en plan vorming, </a:t>
            </a:r>
            <a:r>
              <a:rPr lang="nl-NL" sz="1100" err="1">
                <a:solidFill>
                  <a:schemeClr val="tx1"/>
                </a:solidFill>
                <a:latin typeface="Montserrat"/>
              </a:rPr>
              <a:t>governance</a:t>
            </a:r>
            <a:r>
              <a:rPr lang="nl-NL" sz="1100">
                <a:solidFill>
                  <a:schemeClr val="tx1"/>
                </a:solidFill>
                <a:latin typeface="Montserrat"/>
              </a:rPr>
              <a:t> vraagstukken, aansluiting regioplan, impact op IZA doelstellingen, business case</a:t>
            </a:r>
          </a:p>
        </p:txBody>
      </p:sp>
      <p:sp>
        <p:nvSpPr>
          <p:cNvPr id="48" name="Rechthoek: afgeronde hoeken 47">
            <a:extLst>
              <a:ext uri="{FF2B5EF4-FFF2-40B4-BE49-F238E27FC236}">
                <a16:creationId xmlns:a16="http://schemas.microsoft.com/office/drawing/2014/main" id="{8CBAC524-E067-24A6-55B6-A987BEE66463}"/>
              </a:ext>
            </a:extLst>
          </p:cNvPr>
          <p:cNvSpPr/>
          <p:nvPr/>
        </p:nvSpPr>
        <p:spPr>
          <a:xfrm>
            <a:off x="3605102" y="2296076"/>
            <a:ext cx="4858414" cy="432000"/>
          </a:xfrm>
          <a:prstGeom prst="roundRect">
            <a:avLst/>
          </a:prstGeom>
          <a:solidFill>
            <a:schemeClr val="bg1"/>
          </a:solidFill>
          <a:ln w="63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85725" marR="0" lvl="0" defTabSz="914400" rtl="0" eaLnBrk="1" fontAlgn="auto" latinLnBrk="0" hangingPunct="1">
              <a:lnSpc>
                <a:spcPts val="1000"/>
              </a:lnSpc>
              <a:spcBef>
                <a:spcPts val="0"/>
              </a:spcBef>
              <a:spcAft>
                <a:spcPts val="0"/>
              </a:spcAft>
              <a:buClrTx/>
              <a:buSzTx/>
              <a:buFontTx/>
              <a:buNone/>
              <a:tabLst/>
              <a:defRPr/>
            </a:pPr>
            <a:r>
              <a:rPr kumimoji="0" lang="nl-NL" sz="1100" b="1" i="0" u="none" strike="noStrike" kern="1200" cap="none" spc="0" normalizeH="0" baseline="0" noProof="0">
                <a:ln>
                  <a:noFill/>
                </a:ln>
                <a:solidFill>
                  <a:schemeClr val="tx1"/>
                </a:solidFill>
                <a:effectLst/>
                <a:uLnTx/>
                <a:uFillTx/>
                <a:latin typeface="Montserrat"/>
                <a:ea typeface="+mn-ea"/>
                <a:cs typeface="+mn-cs"/>
              </a:rPr>
              <a:t>Afspraken over:</a:t>
            </a:r>
          </a:p>
        </p:txBody>
      </p:sp>
      <p:pic>
        <p:nvPicPr>
          <p:cNvPr id="18" name="Graphic 17" descr="Selectievakje met vinkje met effen opvulling">
            <a:extLst>
              <a:ext uri="{FF2B5EF4-FFF2-40B4-BE49-F238E27FC236}">
                <a16:creationId xmlns:a16="http://schemas.microsoft.com/office/drawing/2014/main" id="{5FB32AFF-2A24-CE92-65C7-9FCEC38FAC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98710" y="3734033"/>
            <a:ext cx="626723" cy="626723"/>
          </a:xfrm>
          <a:prstGeom prst="rect">
            <a:avLst/>
          </a:prstGeom>
        </p:spPr>
      </p:pic>
      <p:pic>
        <p:nvPicPr>
          <p:cNvPr id="21" name="Graphic 20" descr="Selectievakje met vinkje met effen opvulling">
            <a:extLst>
              <a:ext uri="{FF2B5EF4-FFF2-40B4-BE49-F238E27FC236}">
                <a16:creationId xmlns:a16="http://schemas.microsoft.com/office/drawing/2014/main" id="{34C9C001-C6C5-A5F4-4225-CD9EC82D98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98710" y="4783079"/>
            <a:ext cx="626723" cy="626723"/>
          </a:xfrm>
          <a:prstGeom prst="rect">
            <a:avLst/>
          </a:prstGeom>
        </p:spPr>
      </p:pic>
      <p:pic>
        <p:nvPicPr>
          <p:cNvPr id="31" name="Afbeelding 30">
            <a:extLst>
              <a:ext uri="{FF2B5EF4-FFF2-40B4-BE49-F238E27FC236}">
                <a16:creationId xmlns:a16="http://schemas.microsoft.com/office/drawing/2014/main" id="{FFD08D1B-EDDF-1DE1-CB7B-616470E27E25}"/>
              </a:ext>
            </a:extLst>
          </p:cNvPr>
          <p:cNvPicPr>
            <a:picLocks noChangeAspect="1"/>
          </p:cNvPicPr>
          <p:nvPr/>
        </p:nvPicPr>
        <p:blipFill>
          <a:blip r:embed="rId5"/>
          <a:stretch>
            <a:fillRect/>
          </a:stretch>
        </p:blipFill>
        <p:spPr>
          <a:xfrm>
            <a:off x="8498710" y="2683769"/>
            <a:ext cx="621846" cy="627942"/>
          </a:xfrm>
          <a:prstGeom prst="rect">
            <a:avLst/>
          </a:prstGeom>
        </p:spPr>
      </p:pic>
      <p:pic>
        <p:nvPicPr>
          <p:cNvPr id="32" name="Afbeelding 31">
            <a:extLst>
              <a:ext uri="{FF2B5EF4-FFF2-40B4-BE49-F238E27FC236}">
                <a16:creationId xmlns:a16="http://schemas.microsoft.com/office/drawing/2014/main" id="{D027192E-443F-314C-260C-7F342171807D}"/>
              </a:ext>
            </a:extLst>
          </p:cNvPr>
          <p:cNvPicPr>
            <a:picLocks noChangeAspect="1"/>
          </p:cNvPicPr>
          <p:nvPr/>
        </p:nvPicPr>
        <p:blipFill>
          <a:blip r:embed="rId5"/>
          <a:stretch>
            <a:fillRect/>
          </a:stretch>
        </p:blipFill>
        <p:spPr>
          <a:xfrm>
            <a:off x="8498710" y="3208901"/>
            <a:ext cx="621846" cy="627942"/>
          </a:xfrm>
          <a:prstGeom prst="rect">
            <a:avLst/>
          </a:prstGeom>
        </p:spPr>
      </p:pic>
      <p:pic>
        <p:nvPicPr>
          <p:cNvPr id="33" name="Afbeelding 32">
            <a:extLst>
              <a:ext uri="{FF2B5EF4-FFF2-40B4-BE49-F238E27FC236}">
                <a16:creationId xmlns:a16="http://schemas.microsoft.com/office/drawing/2014/main" id="{2DFA3E7C-C15F-6BC8-6544-24A0D01084D9}"/>
              </a:ext>
            </a:extLst>
          </p:cNvPr>
          <p:cNvPicPr>
            <a:picLocks noChangeAspect="1"/>
          </p:cNvPicPr>
          <p:nvPr/>
        </p:nvPicPr>
        <p:blipFill>
          <a:blip r:embed="rId5"/>
          <a:stretch>
            <a:fillRect/>
          </a:stretch>
        </p:blipFill>
        <p:spPr>
          <a:xfrm>
            <a:off x="8498710" y="4257946"/>
            <a:ext cx="621846" cy="627942"/>
          </a:xfrm>
          <a:prstGeom prst="rect">
            <a:avLst/>
          </a:prstGeom>
        </p:spPr>
      </p:pic>
      <p:pic>
        <p:nvPicPr>
          <p:cNvPr id="14" name="Graphic 13" descr="Selectievakje met vinkje met effen opvulling">
            <a:extLst>
              <a:ext uri="{FF2B5EF4-FFF2-40B4-BE49-F238E27FC236}">
                <a16:creationId xmlns:a16="http://schemas.microsoft.com/office/drawing/2014/main" id="{45E19DD2-6AB1-4827-2D9F-F16F6D0F0E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87352" y="3187181"/>
            <a:ext cx="626723" cy="626723"/>
          </a:xfrm>
          <a:prstGeom prst="rect">
            <a:avLst/>
          </a:prstGeom>
        </p:spPr>
      </p:pic>
      <p:pic>
        <p:nvPicPr>
          <p:cNvPr id="15" name="Graphic 14" descr="Selectievakje met vinkje met effen opvulling">
            <a:extLst>
              <a:ext uri="{FF2B5EF4-FFF2-40B4-BE49-F238E27FC236}">
                <a16:creationId xmlns:a16="http://schemas.microsoft.com/office/drawing/2014/main" id="{D128E2F2-0DA2-C6B1-8ADD-70D12A326B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87352" y="2660988"/>
            <a:ext cx="626723" cy="626723"/>
          </a:xfrm>
          <a:prstGeom prst="rect">
            <a:avLst/>
          </a:prstGeom>
        </p:spPr>
      </p:pic>
      <p:pic>
        <p:nvPicPr>
          <p:cNvPr id="19" name="Graphic 18" descr="Selectievakje met vinkje met effen opvulling">
            <a:extLst>
              <a:ext uri="{FF2B5EF4-FFF2-40B4-BE49-F238E27FC236}">
                <a16:creationId xmlns:a16="http://schemas.microsoft.com/office/drawing/2014/main" id="{A9DB6A44-E062-361E-DAEC-7EF7B056B2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87352" y="3713374"/>
            <a:ext cx="626723" cy="626723"/>
          </a:xfrm>
          <a:prstGeom prst="rect">
            <a:avLst/>
          </a:prstGeom>
        </p:spPr>
      </p:pic>
      <p:pic>
        <p:nvPicPr>
          <p:cNvPr id="20" name="Graphic 19" descr="Selectievakje met vinkje met effen opvulling">
            <a:extLst>
              <a:ext uri="{FF2B5EF4-FFF2-40B4-BE49-F238E27FC236}">
                <a16:creationId xmlns:a16="http://schemas.microsoft.com/office/drawing/2014/main" id="{3A39F0DA-9C53-2A17-D1EF-773F16C0AC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87352" y="4239567"/>
            <a:ext cx="626723" cy="626723"/>
          </a:xfrm>
          <a:prstGeom prst="rect">
            <a:avLst/>
          </a:prstGeom>
        </p:spPr>
      </p:pic>
      <p:pic>
        <p:nvPicPr>
          <p:cNvPr id="22" name="Graphic 21" descr="Selectievakje met vinkje met effen opvulling">
            <a:extLst>
              <a:ext uri="{FF2B5EF4-FFF2-40B4-BE49-F238E27FC236}">
                <a16:creationId xmlns:a16="http://schemas.microsoft.com/office/drawing/2014/main" id="{3A1D16E0-957F-0378-E087-6416CC123D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87352" y="4765762"/>
            <a:ext cx="626723" cy="626723"/>
          </a:xfrm>
          <a:prstGeom prst="rect">
            <a:avLst/>
          </a:prstGeom>
        </p:spPr>
      </p:pic>
    </p:spTree>
    <p:extLst>
      <p:ext uri="{BB962C8B-B14F-4D97-AF65-F5344CB8AC3E}">
        <p14:creationId xmlns:p14="http://schemas.microsoft.com/office/powerpoint/2010/main" val="8905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4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A0131-2629-A002-AF9D-F917C012D82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976D0F7-320D-0DC5-C958-691FDB359A9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think-cell data - do not delete" hidden="1">
                        <a:extLst>
                          <a:ext uri="{FF2B5EF4-FFF2-40B4-BE49-F238E27FC236}">
                            <a16:creationId xmlns:a16="http://schemas.microsoft.com/office/drawing/2014/main" id="{1976D0F7-320D-0DC5-C958-691FDB359A9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7DB7AEA9-E233-07D8-4F77-E8766617F62D}"/>
              </a:ext>
            </a:extLst>
          </p:cNvPr>
          <p:cNvSpPr>
            <a:spLocks noGrp="1"/>
          </p:cNvSpPr>
          <p:nvPr>
            <p:ph type="title"/>
          </p:nvPr>
        </p:nvSpPr>
        <p:spPr/>
        <p:txBody>
          <a:bodyPr vert="horz">
            <a:normAutofit/>
          </a:bodyPr>
          <a:lstStyle/>
          <a:p>
            <a:pPr algn="ctr"/>
            <a:r>
              <a:rPr lang="nl-NL">
                <a:latin typeface="Verdana Pro"/>
                <a:cs typeface="Helvetica"/>
              </a:rPr>
              <a:t>B</a:t>
            </a:r>
            <a:r>
              <a:rPr lang="nl-NL" sz="3600">
                <a:latin typeface="Verdana Pro"/>
                <a:cs typeface="Helvetica"/>
              </a:rPr>
              <a:t>IJLAGE A</a:t>
            </a:r>
            <a:br>
              <a:rPr lang="nl-NL" sz="3600">
                <a:latin typeface="Verdana Pro"/>
                <a:cs typeface="Helvetica"/>
              </a:rPr>
            </a:br>
            <a:r>
              <a:rPr lang="nl-NL" sz="3600">
                <a:latin typeface="Verdana Pro"/>
                <a:cs typeface="Helvetica"/>
              </a:rPr>
              <a:t>Detail uitwerking van de </a:t>
            </a:r>
            <a:r>
              <a:rPr lang="nl-NL" sz="3600" err="1">
                <a:latin typeface="Verdana Pro"/>
                <a:cs typeface="Helvetica"/>
              </a:rPr>
              <a:t>usecases</a:t>
            </a:r>
            <a:endParaRPr lang="nl-NL"/>
          </a:p>
        </p:txBody>
      </p:sp>
    </p:spTree>
    <p:extLst>
      <p:ext uri="{BB962C8B-B14F-4D97-AF65-F5344CB8AC3E}">
        <p14:creationId xmlns:p14="http://schemas.microsoft.com/office/powerpoint/2010/main" val="31459851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SLIDEHUB_TYPE" val="ICON"/>
</p:tagLst>
</file>

<file path=ppt/tags/tag40.xml><?xml version="1.0" encoding="utf-8"?>
<p:tagLst xmlns:a="http://schemas.openxmlformats.org/drawingml/2006/main" xmlns:r="http://schemas.openxmlformats.org/officeDocument/2006/relationships" xmlns:p="http://schemas.openxmlformats.org/presentationml/2006/main">
  <p:tag name="SLIDEHUB_TYPE" val="ICON"/>
</p:tagLst>
</file>

<file path=ppt/tags/tag41.xml><?xml version="1.0" encoding="utf-8"?>
<p:tagLst xmlns:a="http://schemas.openxmlformats.org/drawingml/2006/main" xmlns:r="http://schemas.openxmlformats.org/officeDocument/2006/relationships" xmlns:p="http://schemas.openxmlformats.org/presentationml/2006/main">
  <p:tag name="SLIDEHUB_TYPE" val="ICON"/>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SLIDEHUB_TYPE" val="ICON"/>
</p:tagLst>
</file>

<file path=ppt/tags/tag47.xml><?xml version="1.0" encoding="utf-8"?>
<p:tagLst xmlns:a="http://schemas.openxmlformats.org/drawingml/2006/main" xmlns:r="http://schemas.openxmlformats.org/officeDocument/2006/relationships" xmlns:p="http://schemas.openxmlformats.org/presentationml/2006/main">
  <p:tag name="SLIDEHUB_TYPE" val="ICON"/>
</p:tagLst>
</file>

<file path=ppt/tags/tag48.xml><?xml version="1.0" encoding="utf-8"?>
<p:tagLst xmlns:a="http://schemas.openxmlformats.org/drawingml/2006/main" xmlns:r="http://schemas.openxmlformats.org/officeDocument/2006/relationships" xmlns:p="http://schemas.openxmlformats.org/presentationml/2006/main">
  <p:tag name="SLIDEHUB_TYPE" val="ICON"/>
</p:tagLst>
</file>

<file path=ppt/tags/tag49.xml><?xml version="1.0" encoding="utf-8"?>
<p:tagLst xmlns:a="http://schemas.openxmlformats.org/drawingml/2006/main" xmlns:r="http://schemas.openxmlformats.org/officeDocument/2006/relationships" xmlns:p="http://schemas.openxmlformats.org/presentationml/2006/main">
  <p:tag name="SLIDEHUB_TYPE" val="ICON"/>
</p:tagLst>
</file>

<file path=ppt/tags/tag50.xml><?xml version="1.0" encoding="utf-8"?>
<p:tagLst xmlns:a="http://schemas.openxmlformats.org/drawingml/2006/main" xmlns:r="http://schemas.openxmlformats.org/officeDocument/2006/relationships" xmlns:p="http://schemas.openxmlformats.org/presentationml/2006/main">
  <p:tag name="SLIDEHUB_TYPE" val="ICON"/>
</p:tagLst>
</file>

<file path=ppt/tags/tag51.xml><?xml version="1.0" encoding="utf-8"?>
<p:tagLst xmlns:a="http://schemas.openxmlformats.org/drawingml/2006/main" xmlns:r="http://schemas.openxmlformats.org/officeDocument/2006/relationships" xmlns:p="http://schemas.openxmlformats.org/presentationml/2006/main">
  <p:tag name="SLIDEHUB_TYPE" val="ICON"/>
</p:tagLst>
</file>

<file path=ppt/tags/tag52.xml><?xml version="1.0" encoding="utf-8"?>
<p:tagLst xmlns:a="http://schemas.openxmlformats.org/drawingml/2006/main" xmlns:r="http://schemas.openxmlformats.org/officeDocument/2006/relationships" xmlns:p="http://schemas.openxmlformats.org/presentationml/2006/main">
  <p:tag name="SLIDEHUB_TYPE" val="ICON"/>
</p:tagLst>
</file>

<file path=ppt/tags/tag53.xml><?xml version="1.0" encoding="utf-8"?>
<p:tagLst xmlns:a="http://schemas.openxmlformats.org/drawingml/2006/main" xmlns:r="http://schemas.openxmlformats.org/officeDocument/2006/relationships" xmlns:p="http://schemas.openxmlformats.org/presentationml/2006/main">
  <p:tag name="SLIDEHUB_TYPE" val="ICON"/>
</p:tagLst>
</file>

<file path=ppt/tags/tag54.xml><?xml version="1.0" encoding="utf-8"?>
<p:tagLst xmlns:a="http://schemas.openxmlformats.org/drawingml/2006/main" xmlns:r="http://schemas.openxmlformats.org/officeDocument/2006/relationships" xmlns:p="http://schemas.openxmlformats.org/presentationml/2006/main">
  <p:tag name="SLIDEHUB_TYPE" val="ICON"/>
</p:tagLst>
</file>

<file path=ppt/tags/tag55.xml><?xml version="1.0" encoding="utf-8"?>
<p:tagLst xmlns:a="http://schemas.openxmlformats.org/drawingml/2006/main" xmlns:r="http://schemas.openxmlformats.org/officeDocument/2006/relationships" xmlns:p="http://schemas.openxmlformats.org/presentationml/2006/main">
  <p:tag name="SLIDEHUB_TYPE" val="ICON"/>
</p:tagLst>
</file>

<file path=ppt/tags/tag56.xml><?xml version="1.0" encoding="utf-8"?>
<p:tagLst xmlns:a="http://schemas.openxmlformats.org/drawingml/2006/main" xmlns:r="http://schemas.openxmlformats.org/officeDocument/2006/relationships" xmlns:p="http://schemas.openxmlformats.org/presentationml/2006/main">
  <p:tag name="SLIDEHUB_TYPE" val="ICON"/>
</p:tagLst>
</file>

<file path=ppt/tags/tag57.xml><?xml version="1.0" encoding="utf-8"?>
<p:tagLst xmlns:a="http://schemas.openxmlformats.org/drawingml/2006/main" xmlns:r="http://schemas.openxmlformats.org/officeDocument/2006/relationships" xmlns:p="http://schemas.openxmlformats.org/presentationml/2006/main">
  <p:tag name="SLIDEHUB_TYPE" val="ICON"/>
</p:tagLst>
</file>

<file path=ppt/tags/tag58.xml><?xml version="1.0" encoding="utf-8"?>
<p:tagLst xmlns:a="http://schemas.openxmlformats.org/drawingml/2006/main" xmlns:r="http://schemas.openxmlformats.org/officeDocument/2006/relationships" xmlns:p="http://schemas.openxmlformats.org/presentationml/2006/main">
  <p:tag name="SLIDEHUB_TYPE" val="ICON"/>
</p:tagLst>
</file>

<file path=ppt/tags/tag59.xml><?xml version="1.0" encoding="utf-8"?>
<p:tagLst xmlns:a="http://schemas.openxmlformats.org/drawingml/2006/main" xmlns:r="http://schemas.openxmlformats.org/officeDocument/2006/relationships" xmlns:p="http://schemas.openxmlformats.org/presentationml/2006/main">
  <p:tag name="SLIDEHUB_TYPE" val="ICON"/>
</p:tagLst>
</file>

<file path=ppt/tags/tag60.xml><?xml version="1.0" encoding="utf-8"?>
<p:tagLst xmlns:a="http://schemas.openxmlformats.org/drawingml/2006/main" xmlns:r="http://schemas.openxmlformats.org/officeDocument/2006/relationships" xmlns:p="http://schemas.openxmlformats.org/presentationml/2006/main">
  <p:tag name="SLIDEHUB_TYPE" val="ICON"/>
</p:tagLst>
</file>

<file path=ppt/tags/tag61.xml><?xml version="1.0" encoding="utf-8"?>
<p:tagLst xmlns:a="http://schemas.openxmlformats.org/drawingml/2006/main" xmlns:r="http://schemas.openxmlformats.org/officeDocument/2006/relationships" xmlns:p="http://schemas.openxmlformats.org/presentationml/2006/main">
  <p:tag name="SLIDEHUB_TYPE" val="ICON"/>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SLIDEHUB_TYPE" val="ICON"/>
</p:tagLst>
</file>

<file path=ppt/tags/tag65.xml><?xml version="1.0" encoding="utf-8"?>
<p:tagLst xmlns:a="http://schemas.openxmlformats.org/drawingml/2006/main" xmlns:r="http://schemas.openxmlformats.org/officeDocument/2006/relationships" xmlns:p="http://schemas.openxmlformats.org/presentationml/2006/main">
  <p:tag name="SLIDEHUB_TYPE" val="ICON"/>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SLIDEHUB_TYPE" val="ICON"/>
</p:tagLst>
</file>

<file path=ppt/tags/tag68.xml><?xml version="1.0" encoding="utf-8"?>
<p:tagLst xmlns:a="http://schemas.openxmlformats.org/drawingml/2006/main" xmlns:r="http://schemas.openxmlformats.org/officeDocument/2006/relationships" xmlns:p="http://schemas.openxmlformats.org/presentationml/2006/main">
  <p:tag name="SLIDEHUB_TYPE" val="ICON"/>
</p:tagLst>
</file>

<file path=ppt/tags/tag69.xml><?xml version="1.0" encoding="utf-8"?>
<p:tagLst xmlns:a="http://schemas.openxmlformats.org/drawingml/2006/main" xmlns:r="http://schemas.openxmlformats.org/officeDocument/2006/relationships" xmlns:p="http://schemas.openxmlformats.org/presentationml/2006/main">
  <p:tag name="SLIDEHUB_TYPE" val="ICON"/>
</p:tagLst>
</file>

<file path=ppt/tags/tag70.xml><?xml version="1.0" encoding="utf-8"?>
<p:tagLst xmlns:a="http://schemas.openxmlformats.org/drawingml/2006/main" xmlns:r="http://schemas.openxmlformats.org/officeDocument/2006/relationships" xmlns:p="http://schemas.openxmlformats.org/presentationml/2006/main">
  <p:tag name="SLIDEHUB_TYPE" val="ICON"/>
</p:tagLst>
</file>

<file path=ppt/tags/tag71.xml><?xml version="1.0" encoding="utf-8"?>
<p:tagLst xmlns:a="http://schemas.openxmlformats.org/drawingml/2006/main" xmlns:r="http://schemas.openxmlformats.org/officeDocument/2006/relationships" xmlns:p="http://schemas.openxmlformats.org/presentationml/2006/main">
  <p:tag name="SLIDEHUB_TYPE" val="ICON"/>
</p:tagLst>
</file>

<file path=ppt/tags/tag72.xml><?xml version="1.0" encoding="utf-8"?>
<p:tagLst xmlns:a="http://schemas.openxmlformats.org/drawingml/2006/main" xmlns:r="http://schemas.openxmlformats.org/officeDocument/2006/relationships" xmlns:p="http://schemas.openxmlformats.org/presentationml/2006/main">
  <p:tag name="SLIDEHUB_TYPE" val="ICON"/>
</p:tagLst>
</file>

<file path=ppt/tags/tag73.xml><?xml version="1.0" encoding="utf-8"?>
<p:tagLst xmlns:a="http://schemas.openxmlformats.org/drawingml/2006/main" xmlns:r="http://schemas.openxmlformats.org/officeDocument/2006/relationships" xmlns:p="http://schemas.openxmlformats.org/presentationml/2006/main">
  <p:tag name="SLIDEHUB_TYPE" val="ICON"/>
</p:tagLst>
</file>

<file path=ppt/tags/tag74.xml><?xml version="1.0" encoding="utf-8"?>
<p:tagLst xmlns:a="http://schemas.openxmlformats.org/drawingml/2006/main" xmlns:r="http://schemas.openxmlformats.org/officeDocument/2006/relationships" xmlns:p="http://schemas.openxmlformats.org/presentationml/2006/main">
  <p:tag name="SLIDEHUB_TYPE" val="ICON"/>
</p:tagLst>
</file>

<file path=ppt/tags/tag75.xml><?xml version="1.0" encoding="utf-8"?>
<p:tagLst xmlns:a="http://schemas.openxmlformats.org/drawingml/2006/main" xmlns:r="http://schemas.openxmlformats.org/officeDocument/2006/relationships" xmlns:p="http://schemas.openxmlformats.org/presentationml/2006/main">
  <p:tag name="SLIDEHUB_TYPE" val="ICON"/>
</p:tagLst>
</file>

<file path=ppt/tags/tag76.xml><?xml version="1.0" encoding="utf-8"?>
<p:tagLst xmlns:a="http://schemas.openxmlformats.org/drawingml/2006/main" xmlns:r="http://schemas.openxmlformats.org/officeDocument/2006/relationships" xmlns:p="http://schemas.openxmlformats.org/presentationml/2006/main">
  <p:tag name="SLIDEHUB_TYPE" val="ICON"/>
</p:tagLst>
</file>

<file path=ppt/tags/tag77.xml><?xml version="1.0" encoding="utf-8"?>
<p:tagLst xmlns:a="http://schemas.openxmlformats.org/drawingml/2006/main" xmlns:r="http://schemas.openxmlformats.org/officeDocument/2006/relationships" xmlns:p="http://schemas.openxmlformats.org/presentationml/2006/main">
  <p:tag name="SLIDEHUB_TYPE" val="ICON"/>
</p:tagLst>
</file>

<file path=ppt/tags/tag78.xml><?xml version="1.0" encoding="utf-8"?>
<p:tagLst xmlns:a="http://schemas.openxmlformats.org/drawingml/2006/main" xmlns:r="http://schemas.openxmlformats.org/officeDocument/2006/relationships" xmlns:p="http://schemas.openxmlformats.org/presentationml/2006/main">
  <p:tag name="SLIDEHUB_TYPE" val="ICON"/>
</p:tagLst>
</file>

<file path=ppt/tags/tag79.xml><?xml version="1.0" encoding="utf-8"?>
<p:tagLst xmlns:a="http://schemas.openxmlformats.org/drawingml/2006/main" xmlns:r="http://schemas.openxmlformats.org/officeDocument/2006/relationships" xmlns:p="http://schemas.openxmlformats.org/presentationml/2006/main">
  <p:tag name="SLIDEHUB_TYPE" val="ICON"/>
</p:tagLst>
</file>

<file path=ppt/tags/tag80.xml><?xml version="1.0" encoding="utf-8"?>
<p:tagLst xmlns:a="http://schemas.openxmlformats.org/drawingml/2006/main" xmlns:r="http://schemas.openxmlformats.org/officeDocument/2006/relationships" xmlns:p="http://schemas.openxmlformats.org/presentationml/2006/main">
  <p:tag name="SLIDEHUB_TYPE" val="ICON"/>
</p:tagLst>
</file>

<file path=ppt/tags/tag81.xml><?xml version="1.0" encoding="utf-8"?>
<p:tagLst xmlns:a="http://schemas.openxmlformats.org/drawingml/2006/main" xmlns:r="http://schemas.openxmlformats.org/officeDocument/2006/relationships" xmlns:p="http://schemas.openxmlformats.org/presentationml/2006/main">
  <p:tag name="SLIDEHUB_TYPE" val="ICON"/>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SLIDEHUB_TYPE" val="ICON"/>
</p:tagLst>
</file>

<file path=ppt/tags/tag84.xml><?xml version="1.0" encoding="utf-8"?>
<p:tagLst xmlns:a="http://schemas.openxmlformats.org/drawingml/2006/main" xmlns:r="http://schemas.openxmlformats.org/officeDocument/2006/relationships" xmlns:p="http://schemas.openxmlformats.org/presentationml/2006/main">
  <p:tag name="SLIDEHUB_TYPE" val="ICON"/>
</p:tagLst>
</file>

<file path=ppt/tags/tag85.xml><?xml version="1.0" encoding="utf-8"?>
<p:tagLst xmlns:a="http://schemas.openxmlformats.org/drawingml/2006/main" xmlns:r="http://schemas.openxmlformats.org/officeDocument/2006/relationships" xmlns:p="http://schemas.openxmlformats.org/presentationml/2006/main">
  <p:tag name="SLIDEHUB_TYPE" val="ICON"/>
</p:tagLst>
</file>

<file path=ppt/tags/tag86.xml><?xml version="1.0" encoding="utf-8"?>
<p:tagLst xmlns:a="http://schemas.openxmlformats.org/drawingml/2006/main" xmlns:r="http://schemas.openxmlformats.org/officeDocument/2006/relationships" xmlns:p="http://schemas.openxmlformats.org/presentationml/2006/main">
  <p:tag name="SLIDEHUB_TYPE" val="ICON"/>
</p:tagLst>
</file>

<file path=ppt/tags/tag87.xml><?xml version="1.0" encoding="utf-8"?>
<p:tagLst xmlns:a="http://schemas.openxmlformats.org/drawingml/2006/main" xmlns:r="http://schemas.openxmlformats.org/officeDocument/2006/relationships" xmlns:p="http://schemas.openxmlformats.org/presentationml/2006/main">
  <p:tag name="SLIDEHUB_TYPE" val="ICON"/>
</p:tagLst>
</file>

<file path=ppt/tags/tag88.xml><?xml version="1.0" encoding="utf-8"?>
<p:tagLst xmlns:a="http://schemas.openxmlformats.org/drawingml/2006/main" xmlns:r="http://schemas.openxmlformats.org/officeDocument/2006/relationships" xmlns:p="http://schemas.openxmlformats.org/presentationml/2006/main">
  <p:tag name="SLIDEHUB_TYPE" val="ICON"/>
</p:tagLst>
</file>

<file path=ppt/tags/tag89.xml><?xml version="1.0" encoding="utf-8"?>
<p:tagLst xmlns:a="http://schemas.openxmlformats.org/drawingml/2006/main" xmlns:r="http://schemas.openxmlformats.org/officeDocument/2006/relationships" xmlns:p="http://schemas.openxmlformats.org/presentationml/2006/main">
  <p:tag name="SLIDEHUB_TYPE" val="ICON"/>
</p:tagLst>
</file>

<file path=ppt/tags/tag90.xml><?xml version="1.0" encoding="utf-8"?>
<p:tagLst xmlns:a="http://schemas.openxmlformats.org/drawingml/2006/main" xmlns:r="http://schemas.openxmlformats.org/officeDocument/2006/relationships" xmlns:p="http://schemas.openxmlformats.org/presentationml/2006/main">
  <p:tag name="SLIDEHUB_TYPE" val="ICON"/>
</p:tagLst>
</file>

<file path=ppt/tags/tag91.xml><?xml version="1.0" encoding="utf-8"?>
<p:tagLst xmlns:a="http://schemas.openxmlformats.org/drawingml/2006/main" xmlns:r="http://schemas.openxmlformats.org/officeDocument/2006/relationships" xmlns:p="http://schemas.openxmlformats.org/presentationml/2006/main">
  <p:tag name="SLIDEHUB_TYPE" val="ICON"/>
</p:tagLst>
</file>

<file path=ppt/tags/tag92.xml><?xml version="1.0" encoding="utf-8"?>
<p:tagLst xmlns:a="http://schemas.openxmlformats.org/drawingml/2006/main" xmlns:r="http://schemas.openxmlformats.org/officeDocument/2006/relationships" xmlns:p="http://schemas.openxmlformats.org/presentationml/2006/main">
  <p:tag name="SLIDEHUB_TYPE" val="ICON"/>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SLIDEHUB_TYPE" val="ICON"/>
</p:tagLst>
</file>

<file path=ppt/tags/tag95.xml><?xml version="1.0" encoding="utf-8"?>
<p:tagLst xmlns:a="http://schemas.openxmlformats.org/drawingml/2006/main" xmlns:r="http://schemas.openxmlformats.org/officeDocument/2006/relationships" xmlns:p="http://schemas.openxmlformats.org/presentationml/2006/main">
  <p:tag name="SLIDEHUB_TYPE" val="ICON"/>
</p:tagLst>
</file>

<file path=ppt/tags/tag96.xml><?xml version="1.0" encoding="utf-8"?>
<p:tagLst xmlns:a="http://schemas.openxmlformats.org/drawingml/2006/main" xmlns:r="http://schemas.openxmlformats.org/officeDocument/2006/relationships" xmlns:p="http://schemas.openxmlformats.org/presentationml/2006/main">
  <p:tag name="SLIDEHUB_TYPE" val="ICON"/>
</p:tagLst>
</file>

<file path=ppt/tags/tag97.xml><?xml version="1.0" encoding="utf-8"?>
<p:tagLst xmlns:a="http://schemas.openxmlformats.org/drawingml/2006/main" xmlns:r="http://schemas.openxmlformats.org/officeDocument/2006/relationships" xmlns:p="http://schemas.openxmlformats.org/presentationml/2006/main">
  <p:tag name="SLIDEHUB_TYPE" val="ICON"/>
</p:tagLst>
</file>

<file path=ppt/tags/tag98.xml><?xml version="1.0" encoding="utf-8"?>
<p:tagLst xmlns:a="http://schemas.openxmlformats.org/drawingml/2006/main" xmlns:r="http://schemas.openxmlformats.org/officeDocument/2006/relationships" xmlns:p="http://schemas.openxmlformats.org/presentationml/2006/main">
  <p:tag name="SLIDEHUB_TYPE" val="ICON"/>
</p:tagLst>
</file>

<file path=ppt/tags/tag99.xml><?xml version="1.0" encoding="utf-8"?>
<p:tagLst xmlns:a="http://schemas.openxmlformats.org/drawingml/2006/main" xmlns:r="http://schemas.openxmlformats.org/officeDocument/2006/relationships" xmlns:p="http://schemas.openxmlformats.org/presentationml/2006/main">
  <p:tag name="SLIDEHUB_TYPE" val="ICON"/>
</p:tagLst>
</file>

<file path=ppt/tags/tag100.xml><?xml version="1.0" encoding="utf-8"?>
<p:tagLst xmlns:a="http://schemas.openxmlformats.org/drawingml/2006/main" xmlns:r="http://schemas.openxmlformats.org/officeDocument/2006/relationships" xmlns:p="http://schemas.openxmlformats.org/presentationml/2006/main">
  <p:tag name="SLIDEHUB_TYPE" val="ICON"/>
</p:tagLst>
</file>

<file path=ppt/tags/tag101.xml><?xml version="1.0" encoding="utf-8"?>
<p:tagLst xmlns:a="http://schemas.openxmlformats.org/drawingml/2006/main" xmlns:r="http://schemas.openxmlformats.org/officeDocument/2006/relationships" xmlns:p="http://schemas.openxmlformats.org/presentationml/2006/main">
  <p:tag name="SLIDEHUB_TYPE" val="ICON"/>
</p:tagLst>
</file>

<file path=ppt/tags/tag102.xml><?xml version="1.0" encoding="utf-8"?>
<p:tagLst xmlns:a="http://schemas.openxmlformats.org/drawingml/2006/main" xmlns:r="http://schemas.openxmlformats.org/officeDocument/2006/relationships" xmlns:p="http://schemas.openxmlformats.org/presentationml/2006/main">
  <p:tag name="SLIDEHUB_TYPE" val="ICON"/>
</p:tagLst>
</file>

<file path=ppt/tags/tag103.xml><?xml version="1.0" encoding="utf-8"?>
<p:tagLst xmlns:a="http://schemas.openxmlformats.org/drawingml/2006/main" xmlns:r="http://schemas.openxmlformats.org/officeDocument/2006/relationships" xmlns:p="http://schemas.openxmlformats.org/presentationml/2006/main">
  <p:tag name="SLIDEHUB_TYPE" val="ICON"/>
</p:tagLst>
</file>

<file path=ppt/tags/tag104.xml><?xml version="1.0" encoding="utf-8"?>
<p:tagLst xmlns:a="http://schemas.openxmlformats.org/drawingml/2006/main" xmlns:r="http://schemas.openxmlformats.org/officeDocument/2006/relationships" xmlns:p="http://schemas.openxmlformats.org/presentationml/2006/main">
  <p:tag name="SLIDEHUB_TYPE" val="ICON"/>
</p:tagLst>
</file>

<file path=ppt/tags/tag105.xml><?xml version="1.0" encoding="utf-8"?>
<p:tagLst xmlns:a="http://schemas.openxmlformats.org/drawingml/2006/main" xmlns:r="http://schemas.openxmlformats.org/officeDocument/2006/relationships" xmlns:p="http://schemas.openxmlformats.org/presentationml/2006/main">
  <p:tag name="SLIDEHUB_TYPE" val="ICON"/>
</p:tagLst>
</file>

<file path=ppt/tags/tag106.xml><?xml version="1.0" encoding="utf-8"?>
<p:tagLst xmlns:a="http://schemas.openxmlformats.org/drawingml/2006/main" xmlns:r="http://schemas.openxmlformats.org/officeDocument/2006/relationships" xmlns:p="http://schemas.openxmlformats.org/presentationml/2006/main">
  <p:tag name="SLIDEHUB_TYPE" val="ICON"/>
</p:tagLst>
</file>

<file path=ppt/tags/tag107.xml><?xml version="1.0" encoding="utf-8"?>
<p:tagLst xmlns:a="http://schemas.openxmlformats.org/drawingml/2006/main" xmlns:r="http://schemas.openxmlformats.org/officeDocument/2006/relationships" xmlns:p="http://schemas.openxmlformats.org/presentationml/2006/main">
  <p:tag name="SLIDEHUB_TYPE" val="ICON"/>
</p:tagLst>
</file>

<file path=ppt/tags/tag108.xml><?xml version="1.0" encoding="utf-8"?>
<p:tagLst xmlns:a="http://schemas.openxmlformats.org/drawingml/2006/main" xmlns:r="http://schemas.openxmlformats.org/officeDocument/2006/relationships" xmlns:p="http://schemas.openxmlformats.org/presentationml/2006/main">
  <p:tag name="SLIDEHUB_TYPE" val="ICON"/>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SLIDEHUB_TYPE" val="ICON"/>
</p:tagLst>
</file>

<file path=ppt/tags/tag111.xml><?xml version="1.0" encoding="utf-8"?>
<p:tagLst xmlns:a="http://schemas.openxmlformats.org/drawingml/2006/main" xmlns:r="http://schemas.openxmlformats.org/officeDocument/2006/relationships" xmlns:p="http://schemas.openxmlformats.org/presentationml/2006/main">
  <p:tag name="SLIDEHUB_TYPE" val="ICON"/>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119.xml><?xml version="1.0" encoding="utf-8"?>
<p:tagLst xmlns:a="http://schemas.openxmlformats.org/drawingml/2006/main" xmlns:r="http://schemas.openxmlformats.org/officeDocument/2006/relationships" xmlns:p="http://schemas.openxmlformats.org/presentationml/2006/main">
  <p:tag name="SLIDEHUB_TYPE" val="ICON"/>
</p:tagLst>
</file>

<file path=ppt/tags/tag120.xml><?xml version="1.0" encoding="utf-8"?>
<p:tagLst xmlns:a="http://schemas.openxmlformats.org/drawingml/2006/main" xmlns:r="http://schemas.openxmlformats.org/officeDocument/2006/relationships" xmlns:p="http://schemas.openxmlformats.org/presentationml/2006/main">
  <p:tag name="SLIDEHUB_TYPE" val="ICON"/>
</p:tagLst>
</file>

<file path=ppt/tags/tag121.xml><?xml version="1.0" encoding="utf-8"?>
<p:tagLst xmlns:a="http://schemas.openxmlformats.org/drawingml/2006/main" xmlns:r="http://schemas.openxmlformats.org/officeDocument/2006/relationships" xmlns:p="http://schemas.openxmlformats.org/presentationml/2006/main">
  <p:tag name="SLIDEHUB_TYPE" val="ICON"/>
</p:tagLst>
</file>

<file path=ppt/tags/tag122.xml><?xml version="1.0" encoding="utf-8"?>
<p:tagLst xmlns:a="http://schemas.openxmlformats.org/drawingml/2006/main" xmlns:r="http://schemas.openxmlformats.org/officeDocument/2006/relationships" xmlns:p="http://schemas.openxmlformats.org/presentationml/2006/main">
  <p:tag name="SLIDEHUB_TYPE" val="ICON"/>
</p:tagLst>
</file>

<file path=ppt/tags/tag123.xml><?xml version="1.0" encoding="utf-8"?>
<p:tagLst xmlns:a="http://schemas.openxmlformats.org/drawingml/2006/main" xmlns:r="http://schemas.openxmlformats.org/officeDocument/2006/relationships" xmlns:p="http://schemas.openxmlformats.org/presentationml/2006/main">
  <p:tag name="SLIDEHUB_TYPE" val="ICON"/>
</p:tagLst>
</file>

<file path=ppt/tags/tag124.xml><?xml version="1.0" encoding="utf-8"?>
<p:tagLst xmlns:a="http://schemas.openxmlformats.org/drawingml/2006/main" xmlns:r="http://schemas.openxmlformats.org/officeDocument/2006/relationships" xmlns:p="http://schemas.openxmlformats.org/presentationml/2006/main">
  <p:tag name="SLIDEHUB_TYPE" val="ICON"/>
</p:tagLst>
</file>

<file path=ppt/tags/tag125.xml><?xml version="1.0" encoding="utf-8"?>
<p:tagLst xmlns:a="http://schemas.openxmlformats.org/drawingml/2006/main" xmlns:r="http://schemas.openxmlformats.org/officeDocument/2006/relationships" xmlns:p="http://schemas.openxmlformats.org/presentationml/2006/main">
  <p:tag name="SLIDEHUB_TYPE" val="ICON"/>
</p:tagLst>
</file>

<file path=ppt/tags/tag126.xml><?xml version="1.0" encoding="utf-8"?>
<p:tagLst xmlns:a="http://schemas.openxmlformats.org/drawingml/2006/main" xmlns:r="http://schemas.openxmlformats.org/officeDocument/2006/relationships" xmlns:p="http://schemas.openxmlformats.org/presentationml/2006/main">
  <p:tag name="SLIDEHUB_TYPE" val="ICON"/>
</p:tagLst>
</file>

<file path=ppt/tags/tag127.xml><?xml version="1.0" encoding="utf-8"?>
<p:tagLst xmlns:a="http://schemas.openxmlformats.org/drawingml/2006/main" xmlns:r="http://schemas.openxmlformats.org/officeDocument/2006/relationships" xmlns:p="http://schemas.openxmlformats.org/presentationml/2006/main">
  <p:tag name="SLIDEHUB_TYPE" val="ICON"/>
</p:tagLst>
</file>

<file path=ppt/tags/tag128.xml><?xml version="1.0" encoding="utf-8"?>
<p:tagLst xmlns:a="http://schemas.openxmlformats.org/drawingml/2006/main" xmlns:r="http://schemas.openxmlformats.org/officeDocument/2006/relationships" xmlns:p="http://schemas.openxmlformats.org/presentationml/2006/main">
  <p:tag name="SLIDEHUB_TYPE" val="ICON"/>
</p:tagLst>
</file>

<file path=ppt/tags/tag129.xml><?xml version="1.0" encoding="utf-8"?>
<p:tagLst xmlns:a="http://schemas.openxmlformats.org/drawingml/2006/main" xmlns:r="http://schemas.openxmlformats.org/officeDocument/2006/relationships" xmlns:p="http://schemas.openxmlformats.org/presentationml/2006/main">
  <p:tag name="SLIDEHUB_TYPE" val="ICON"/>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SLIDEHUB_TYPE" val="ICON"/>
</p:tagLst>
</file>

<file path=ppt/tags/tag132.xml><?xml version="1.0" encoding="utf-8"?>
<p:tagLst xmlns:a="http://schemas.openxmlformats.org/drawingml/2006/main" xmlns:r="http://schemas.openxmlformats.org/officeDocument/2006/relationships" xmlns:p="http://schemas.openxmlformats.org/presentationml/2006/main">
  <p:tag name="SLIDEHUB_TYPE" val="ICON"/>
</p:tagLst>
</file>

<file path=ppt/tags/tag133.xml><?xml version="1.0" encoding="utf-8"?>
<p:tagLst xmlns:a="http://schemas.openxmlformats.org/drawingml/2006/main" xmlns:r="http://schemas.openxmlformats.org/officeDocument/2006/relationships" xmlns:p="http://schemas.openxmlformats.org/presentationml/2006/main">
  <p:tag name="SLIDEHUB_TYPE" val="ICON"/>
</p:tagLst>
</file>

<file path=ppt/tags/tag134.xml><?xml version="1.0" encoding="utf-8"?>
<p:tagLst xmlns:a="http://schemas.openxmlformats.org/drawingml/2006/main" xmlns:r="http://schemas.openxmlformats.org/officeDocument/2006/relationships" xmlns:p="http://schemas.openxmlformats.org/presentationml/2006/main">
  <p:tag name="SLIDEHUB_TYPE" val="ICON"/>
</p:tagLst>
</file>

<file path=ppt/tags/tag135.xml><?xml version="1.0" encoding="utf-8"?>
<p:tagLst xmlns:a="http://schemas.openxmlformats.org/drawingml/2006/main" xmlns:r="http://schemas.openxmlformats.org/officeDocument/2006/relationships" xmlns:p="http://schemas.openxmlformats.org/presentationml/2006/main">
  <p:tag name="SLIDEHUB_TYPE" val="ICON"/>
</p:tagLst>
</file>

<file path=ppt/tags/tag136.xml><?xml version="1.0" encoding="utf-8"?>
<p:tagLst xmlns:a="http://schemas.openxmlformats.org/drawingml/2006/main" xmlns:r="http://schemas.openxmlformats.org/officeDocument/2006/relationships" xmlns:p="http://schemas.openxmlformats.org/presentationml/2006/main">
  <p:tag name="SLIDEHUB_TYPE" val="ICON"/>
</p:tagLst>
</file>

<file path=ppt/tags/tag137.xml><?xml version="1.0" encoding="utf-8"?>
<p:tagLst xmlns:a="http://schemas.openxmlformats.org/drawingml/2006/main" xmlns:r="http://schemas.openxmlformats.org/officeDocument/2006/relationships" xmlns:p="http://schemas.openxmlformats.org/presentationml/2006/main">
  <p:tag name="SLIDEHUB_TYPE" val="ICON"/>
</p:tagLst>
</file>

<file path=ppt/tags/tag138.xml><?xml version="1.0" encoding="utf-8"?>
<p:tagLst xmlns:a="http://schemas.openxmlformats.org/drawingml/2006/main" xmlns:r="http://schemas.openxmlformats.org/officeDocument/2006/relationships" xmlns:p="http://schemas.openxmlformats.org/presentationml/2006/main">
  <p:tag name="SLIDEHUB_TYPE" val="ICON"/>
</p:tagLst>
</file>

<file path=ppt/tags/tag139.xml><?xml version="1.0" encoding="utf-8"?>
<p:tagLst xmlns:a="http://schemas.openxmlformats.org/drawingml/2006/main" xmlns:r="http://schemas.openxmlformats.org/officeDocument/2006/relationships" xmlns:p="http://schemas.openxmlformats.org/presentationml/2006/main">
  <p:tag name="SLIDEHUB_TYPE" val="ICON"/>
</p:tagLst>
</file>

<file path=ppt/tags/tag140.xml><?xml version="1.0" encoding="utf-8"?>
<p:tagLst xmlns:a="http://schemas.openxmlformats.org/drawingml/2006/main" xmlns:r="http://schemas.openxmlformats.org/officeDocument/2006/relationships" xmlns:p="http://schemas.openxmlformats.org/presentationml/2006/main">
  <p:tag name="SLIDEHUB_TYPE" val="ICON"/>
</p:tagLst>
</file>

<file path=ppt/tags/tag141.xml><?xml version="1.0" encoding="utf-8"?>
<p:tagLst xmlns:a="http://schemas.openxmlformats.org/drawingml/2006/main" xmlns:r="http://schemas.openxmlformats.org/officeDocument/2006/relationships" xmlns:p="http://schemas.openxmlformats.org/presentationml/2006/main">
  <p:tag name="SLIDEHUB_TYPE" val="ICON"/>
</p:tagLst>
</file>

<file path=ppt/tags/tag142.xml><?xml version="1.0" encoding="utf-8"?>
<p:tagLst xmlns:a="http://schemas.openxmlformats.org/drawingml/2006/main" xmlns:r="http://schemas.openxmlformats.org/officeDocument/2006/relationships" xmlns:p="http://schemas.openxmlformats.org/presentationml/2006/main">
  <p:tag name="SLIDEHUB_TYPE" val="ICON"/>
</p:tagLst>
</file>

<file path=ppt/tags/tag143.xml><?xml version="1.0" encoding="utf-8"?>
<p:tagLst xmlns:a="http://schemas.openxmlformats.org/drawingml/2006/main" xmlns:r="http://schemas.openxmlformats.org/officeDocument/2006/relationships" xmlns:p="http://schemas.openxmlformats.org/presentationml/2006/main">
  <p:tag name="SLIDEHUB_TYPE" val="ICON"/>
</p:tagLst>
</file>

<file path=ppt/tags/tag144.xml><?xml version="1.0" encoding="utf-8"?>
<p:tagLst xmlns:a="http://schemas.openxmlformats.org/drawingml/2006/main" xmlns:r="http://schemas.openxmlformats.org/officeDocument/2006/relationships" xmlns:p="http://schemas.openxmlformats.org/presentationml/2006/main">
  <p:tag name="SLIDEHUB_TYPE" val="ICON"/>
</p:tagLst>
</file>

<file path=ppt/tags/tag145.xml><?xml version="1.0" encoding="utf-8"?>
<p:tagLst xmlns:a="http://schemas.openxmlformats.org/drawingml/2006/main" xmlns:r="http://schemas.openxmlformats.org/officeDocument/2006/relationships" xmlns:p="http://schemas.openxmlformats.org/presentationml/2006/main">
  <p:tag name="SLIDEHUB_TYPE" val="ICON"/>
</p:tagLst>
</file>

<file path=ppt/tags/tag146.xml><?xml version="1.0" encoding="utf-8"?>
<p:tagLst xmlns:a="http://schemas.openxmlformats.org/drawingml/2006/main" xmlns:r="http://schemas.openxmlformats.org/officeDocument/2006/relationships" xmlns:p="http://schemas.openxmlformats.org/presentationml/2006/main">
  <p:tag name="SLIDEHUB_TYPE" val="ICON"/>
</p:tagLst>
</file>

<file path=ppt/tags/tag147.xml><?xml version="1.0" encoding="utf-8"?>
<p:tagLst xmlns:a="http://schemas.openxmlformats.org/drawingml/2006/main" xmlns:r="http://schemas.openxmlformats.org/officeDocument/2006/relationships" xmlns:p="http://schemas.openxmlformats.org/presentationml/2006/main">
  <p:tag name="SLIDEHUB_TYPE" val="ICON"/>
</p:tagLst>
</file>

<file path=ppt/tags/tag148.xml><?xml version="1.0" encoding="utf-8"?>
<p:tagLst xmlns:a="http://schemas.openxmlformats.org/drawingml/2006/main" xmlns:r="http://schemas.openxmlformats.org/officeDocument/2006/relationships" xmlns:p="http://schemas.openxmlformats.org/presentationml/2006/main">
  <p:tag name="SLIDEHUB_TYPE" val="ICON"/>
</p:tagLst>
</file>

<file path=ppt/tags/tag149.xml><?xml version="1.0" encoding="utf-8"?>
<p:tagLst xmlns:a="http://schemas.openxmlformats.org/drawingml/2006/main" xmlns:r="http://schemas.openxmlformats.org/officeDocument/2006/relationships" xmlns:p="http://schemas.openxmlformats.org/presentationml/2006/main">
  <p:tag name="SLIDEHUB_TYPE" val="ICON"/>
</p:tagLst>
</file>

<file path=ppt/tags/tag150.xml><?xml version="1.0" encoding="utf-8"?>
<p:tagLst xmlns:a="http://schemas.openxmlformats.org/drawingml/2006/main" xmlns:r="http://schemas.openxmlformats.org/officeDocument/2006/relationships" xmlns:p="http://schemas.openxmlformats.org/presentationml/2006/main">
  <p:tag name="SLIDEHUB_TYPE" val="ICON"/>
</p:tagLst>
</file>

<file path=ppt/tags/tag151.xml><?xml version="1.0" encoding="utf-8"?>
<p:tagLst xmlns:a="http://schemas.openxmlformats.org/drawingml/2006/main" xmlns:r="http://schemas.openxmlformats.org/officeDocument/2006/relationships" xmlns:p="http://schemas.openxmlformats.org/presentationml/2006/main">
  <p:tag name="SLIDEHUB_TYPE" val="ICON"/>
</p:tagLst>
</file>

<file path=ppt/tags/tag152.xml><?xml version="1.0" encoding="utf-8"?>
<p:tagLst xmlns:a="http://schemas.openxmlformats.org/drawingml/2006/main" xmlns:r="http://schemas.openxmlformats.org/officeDocument/2006/relationships" xmlns:p="http://schemas.openxmlformats.org/presentationml/2006/main">
  <p:tag name="SLIDEHUB_TYPE" val="ICON"/>
</p:tagLst>
</file>

<file path=ppt/tags/tag153.xml><?xml version="1.0" encoding="utf-8"?>
<p:tagLst xmlns:a="http://schemas.openxmlformats.org/drawingml/2006/main" xmlns:r="http://schemas.openxmlformats.org/officeDocument/2006/relationships" xmlns:p="http://schemas.openxmlformats.org/presentationml/2006/main">
  <p:tag name="SLIDEHUB_TYPE" val="ICON"/>
</p:tagLst>
</file>

<file path=ppt/tags/tag154.xml><?xml version="1.0" encoding="utf-8"?>
<p:tagLst xmlns:a="http://schemas.openxmlformats.org/drawingml/2006/main" xmlns:r="http://schemas.openxmlformats.org/officeDocument/2006/relationships" xmlns:p="http://schemas.openxmlformats.org/presentationml/2006/main">
  <p:tag name="SLIDEHUB_TYPE" val="ICON"/>
</p:tagLst>
</file>

<file path=ppt/tags/tag155.xml><?xml version="1.0" encoding="utf-8"?>
<p:tagLst xmlns:a="http://schemas.openxmlformats.org/drawingml/2006/main" xmlns:r="http://schemas.openxmlformats.org/officeDocument/2006/relationships" xmlns:p="http://schemas.openxmlformats.org/presentationml/2006/main">
  <p:tag name="SLIDEHUB_TYPE" val="ICON"/>
</p:tagLst>
</file>

<file path=ppt/tags/tag156.xml><?xml version="1.0" encoding="utf-8"?>
<p:tagLst xmlns:a="http://schemas.openxmlformats.org/drawingml/2006/main" xmlns:r="http://schemas.openxmlformats.org/officeDocument/2006/relationships" xmlns:p="http://schemas.openxmlformats.org/presentationml/2006/main">
  <p:tag name="SLIDEHUB_TYPE" val="ICON"/>
</p:tagLst>
</file>

<file path=ppt/tags/tag157.xml><?xml version="1.0" encoding="utf-8"?>
<p:tagLst xmlns:a="http://schemas.openxmlformats.org/drawingml/2006/main" xmlns:r="http://schemas.openxmlformats.org/officeDocument/2006/relationships" xmlns:p="http://schemas.openxmlformats.org/presentationml/2006/main">
  <p:tag name="SLIDEHUB_TYPE" val="ICON"/>
</p:tagLst>
</file>

<file path=ppt/tags/tag158.xml><?xml version="1.0" encoding="utf-8"?>
<p:tagLst xmlns:a="http://schemas.openxmlformats.org/drawingml/2006/main" xmlns:r="http://schemas.openxmlformats.org/officeDocument/2006/relationships" xmlns:p="http://schemas.openxmlformats.org/presentationml/2006/main">
  <p:tag name="SLIDEHUB_TYPE" val="ICON"/>
</p:tagLst>
</file>

<file path=ppt/tags/tag159.xml><?xml version="1.0" encoding="utf-8"?>
<p:tagLst xmlns:a="http://schemas.openxmlformats.org/drawingml/2006/main" xmlns:r="http://schemas.openxmlformats.org/officeDocument/2006/relationships" xmlns:p="http://schemas.openxmlformats.org/presentationml/2006/main">
  <p:tag name="SLIDEHUB_TYPE" val="ICON"/>
</p:tagLst>
</file>

<file path=ppt/tags/tag160.xml><?xml version="1.0" encoding="utf-8"?>
<p:tagLst xmlns:a="http://schemas.openxmlformats.org/drawingml/2006/main" xmlns:r="http://schemas.openxmlformats.org/officeDocument/2006/relationships" xmlns:p="http://schemas.openxmlformats.org/presentationml/2006/main">
  <p:tag name="SLIDEHUB_TYPE" val="ICON"/>
</p:tagLst>
</file>

<file path=ppt/tags/tag161.xml><?xml version="1.0" encoding="utf-8"?>
<p:tagLst xmlns:a="http://schemas.openxmlformats.org/drawingml/2006/main" xmlns:r="http://schemas.openxmlformats.org/officeDocument/2006/relationships" xmlns:p="http://schemas.openxmlformats.org/presentationml/2006/main">
  <p:tag name="SLIDEHUB_TYPE" val="ICON"/>
</p:tagLst>
</file>

<file path=ppt/tags/tag162.xml><?xml version="1.0" encoding="utf-8"?>
<p:tagLst xmlns:a="http://schemas.openxmlformats.org/drawingml/2006/main" xmlns:r="http://schemas.openxmlformats.org/officeDocument/2006/relationships" xmlns:p="http://schemas.openxmlformats.org/presentationml/2006/main">
  <p:tag name="SLIDEHUB_TYPE" val="ICON"/>
</p:tagLst>
</file>

<file path=ppt/tags/tag163.xml><?xml version="1.0" encoding="utf-8"?>
<p:tagLst xmlns:a="http://schemas.openxmlformats.org/drawingml/2006/main" xmlns:r="http://schemas.openxmlformats.org/officeDocument/2006/relationships" xmlns:p="http://schemas.openxmlformats.org/presentationml/2006/main">
  <p:tag name="SLIDEHUB_TYPE" val="ICON"/>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SLIDEHUB_TYPE" val="ICON"/>
</p:tagLst>
</file>

<file path=ppt/tags/tag166.xml><?xml version="1.0" encoding="utf-8"?>
<p:tagLst xmlns:a="http://schemas.openxmlformats.org/drawingml/2006/main" xmlns:r="http://schemas.openxmlformats.org/officeDocument/2006/relationships" xmlns:p="http://schemas.openxmlformats.org/presentationml/2006/main">
  <p:tag name="SLIDEHUB_TYPE" val="ICON"/>
</p:tagLst>
</file>

<file path=ppt/tags/tag167.xml><?xml version="1.0" encoding="utf-8"?>
<p:tagLst xmlns:a="http://schemas.openxmlformats.org/drawingml/2006/main" xmlns:r="http://schemas.openxmlformats.org/officeDocument/2006/relationships" xmlns:p="http://schemas.openxmlformats.org/presentationml/2006/main">
  <p:tag name="SLIDEHUB_TYPE" val="ICON"/>
</p:tagLst>
</file>

<file path=ppt/tags/tag168.xml><?xml version="1.0" encoding="utf-8"?>
<p:tagLst xmlns:a="http://schemas.openxmlformats.org/drawingml/2006/main" xmlns:r="http://schemas.openxmlformats.org/officeDocument/2006/relationships" xmlns:p="http://schemas.openxmlformats.org/presentationml/2006/main">
  <p:tag name="SLIDEHUB_TYPE" val="ICON"/>
</p:tagLst>
</file>

<file path=ppt/tags/tag169.xml><?xml version="1.0" encoding="utf-8"?>
<p:tagLst xmlns:a="http://schemas.openxmlformats.org/drawingml/2006/main" xmlns:r="http://schemas.openxmlformats.org/officeDocument/2006/relationships" xmlns:p="http://schemas.openxmlformats.org/presentationml/2006/main">
  <p:tag name="SLIDEHUB_TYPE" val="ICON"/>
</p:tagLst>
</file>

<file path=ppt/tags/tag170.xml><?xml version="1.0" encoding="utf-8"?>
<p:tagLst xmlns:a="http://schemas.openxmlformats.org/drawingml/2006/main" xmlns:r="http://schemas.openxmlformats.org/officeDocument/2006/relationships" xmlns:p="http://schemas.openxmlformats.org/presentationml/2006/main">
  <p:tag name="SLIDEHUB_TYPE" val="ICON"/>
</p:tagLst>
</file>

<file path=ppt/tags/tag171.xml><?xml version="1.0" encoding="utf-8"?>
<p:tagLst xmlns:a="http://schemas.openxmlformats.org/drawingml/2006/main" xmlns:r="http://schemas.openxmlformats.org/officeDocument/2006/relationships" xmlns:p="http://schemas.openxmlformats.org/presentationml/2006/main">
  <p:tag name="SLIDEHUB_TYPE" val="ICON"/>
</p:tagLst>
</file>

<file path=ppt/tags/tag172.xml><?xml version="1.0" encoding="utf-8"?>
<p:tagLst xmlns:a="http://schemas.openxmlformats.org/drawingml/2006/main" xmlns:r="http://schemas.openxmlformats.org/officeDocument/2006/relationships" xmlns:p="http://schemas.openxmlformats.org/presentationml/2006/main">
  <p:tag name="SLIDEHUB_TYPE" val="ICON"/>
</p:tagLst>
</file>

<file path=ppt/tags/tag173.xml><?xml version="1.0" encoding="utf-8"?>
<p:tagLst xmlns:a="http://schemas.openxmlformats.org/drawingml/2006/main" xmlns:r="http://schemas.openxmlformats.org/officeDocument/2006/relationships" xmlns:p="http://schemas.openxmlformats.org/presentationml/2006/main">
  <p:tag name="SLIDEHUB_TYPE" val="ICON"/>
</p:tagLst>
</file>

<file path=ppt/tags/tag174.xml><?xml version="1.0" encoding="utf-8"?>
<p:tagLst xmlns:a="http://schemas.openxmlformats.org/drawingml/2006/main" xmlns:r="http://schemas.openxmlformats.org/officeDocument/2006/relationships" xmlns:p="http://schemas.openxmlformats.org/presentationml/2006/main">
  <p:tag name="SLIDEHUB_TYPE" val="ICON"/>
</p:tagLst>
</file>

<file path=ppt/tags/tag175.xml><?xml version="1.0" encoding="utf-8"?>
<p:tagLst xmlns:a="http://schemas.openxmlformats.org/drawingml/2006/main" xmlns:r="http://schemas.openxmlformats.org/officeDocument/2006/relationships" xmlns:p="http://schemas.openxmlformats.org/presentationml/2006/main">
  <p:tag name="SLIDEHUB_TYPE" val="ICON"/>
</p:tagLst>
</file>

<file path=ppt/tags/tag176.xml><?xml version="1.0" encoding="utf-8"?>
<p:tagLst xmlns:a="http://schemas.openxmlformats.org/drawingml/2006/main" xmlns:r="http://schemas.openxmlformats.org/officeDocument/2006/relationships" xmlns:p="http://schemas.openxmlformats.org/presentationml/2006/main">
  <p:tag name="SLIDEHUB_TYPE" val="ICON"/>
</p:tagLst>
</file>

<file path=ppt/tags/tag177.xml><?xml version="1.0" encoding="utf-8"?>
<p:tagLst xmlns:a="http://schemas.openxmlformats.org/drawingml/2006/main" xmlns:r="http://schemas.openxmlformats.org/officeDocument/2006/relationships" xmlns:p="http://schemas.openxmlformats.org/presentationml/2006/main">
  <p:tag name="SLIDEHUB_TYPE" val="ICON"/>
</p:tagLst>
</file>

<file path=ppt/tags/tag178.xml><?xml version="1.0" encoding="utf-8"?>
<p:tagLst xmlns:a="http://schemas.openxmlformats.org/drawingml/2006/main" xmlns:r="http://schemas.openxmlformats.org/officeDocument/2006/relationships" xmlns:p="http://schemas.openxmlformats.org/presentationml/2006/main">
  <p:tag name="SLIDEHUB_TYPE" val="ICON"/>
</p:tagLst>
</file>

<file path=ppt/tags/tag179.xml><?xml version="1.0" encoding="utf-8"?>
<p:tagLst xmlns:a="http://schemas.openxmlformats.org/drawingml/2006/main" xmlns:r="http://schemas.openxmlformats.org/officeDocument/2006/relationships" xmlns:p="http://schemas.openxmlformats.org/presentationml/2006/main">
  <p:tag name="SLIDEHUB_TYPE" val="ICON"/>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XqBLTJNZ9y4XSzj8ohysY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aryDv6CBoVsyDlPJcH8KRQ"/>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DyGlmVULnEWIj1TMJwZFUA"/>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vnonOmTKenXfmEVzKLu7Tw"/>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oWddyC1Fzy5N19.553tJPA"/>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OxEWo2hustBBolwi2ldDT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bYVYjpJV3I667.ZITl9_H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ZA-Transformatieplan">
  <a:themeElements>
    <a:clrScheme name="Trijn">
      <a:dk1>
        <a:sysClr val="windowText" lastClr="000000"/>
      </a:dk1>
      <a:lt1>
        <a:sysClr val="window" lastClr="FFFFFF"/>
      </a:lt1>
      <a:dk2>
        <a:srgbClr val="44546A"/>
      </a:dk2>
      <a:lt2>
        <a:srgbClr val="E7E6E6"/>
      </a:lt2>
      <a:accent1>
        <a:srgbClr val="0BBBEF"/>
      </a:accent1>
      <a:accent2>
        <a:srgbClr val="8F96CB"/>
      </a:accent2>
      <a:accent3>
        <a:srgbClr val="5A6B7A"/>
      </a:accent3>
      <a:accent4>
        <a:srgbClr val="0F9D8F"/>
      </a:accent4>
      <a:accent5>
        <a:srgbClr val="9FCA79"/>
      </a:accent5>
      <a:accent6>
        <a:srgbClr val="D7E1CB"/>
      </a:accent6>
      <a:hlink>
        <a:srgbClr val="0563C1"/>
      </a:hlink>
      <a:folHlink>
        <a:srgbClr val="954F72"/>
      </a:folHlink>
    </a:clrScheme>
    <a:fontScheme name="Custom 1">
      <a:majorFont>
        <a:latin typeface="Helvetic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Helvetic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Helvetic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Helvetic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Helvetic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Helvetic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IZA-Transformatieplan">
  <a:themeElements>
    <a:clrScheme name="Trijn">
      <a:dk1>
        <a:sysClr val="windowText" lastClr="000000"/>
      </a:dk1>
      <a:lt1>
        <a:sysClr val="window" lastClr="FFFFFF"/>
      </a:lt1>
      <a:dk2>
        <a:srgbClr val="44546A"/>
      </a:dk2>
      <a:lt2>
        <a:srgbClr val="E7E6E6"/>
      </a:lt2>
      <a:accent1>
        <a:srgbClr val="0BBBEF"/>
      </a:accent1>
      <a:accent2>
        <a:srgbClr val="8F96CB"/>
      </a:accent2>
      <a:accent3>
        <a:srgbClr val="5A6B7A"/>
      </a:accent3>
      <a:accent4>
        <a:srgbClr val="0F9D8F"/>
      </a:accent4>
      <a:accent5>
        <a:srgbClr val="9FCA79"/>
      </a:accent5>
      <a:accent6>
        <a:srgbClr val="D7E1CB"/>
      </a:accent6>
      <a:hlink>
        <a:srgbClr val="0563C1"/>
      </a:hlink>
      <a:folHlink>
        <a:srgbClr val="954F72"/>
      </a:folHlink>
    </a:clrScheme>
    <a:fontScheme name="Custom 1">
      <a:majorFont>
        <a:latin typeface="Helvetic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2FA9EBE-DFE7-400B-A2DD-A6B62E61F2DB}">
  <we:reference id="a761e866-31f6-4676-9a6c-095a3a900831" version="1.0.0.7" store="EXCatalog" storeType="EXCatalog"/>
  <we:alternateReferences>
    <we:reference id="WA200001625" version="1.0.0.7" store="en-US"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26297CAF4B02846A28DDEC4284848DA" ma:contentTypeVersion="12" ma:contentTypeDescription="Een nieuw document maken." ma:contentTypeScope="" ma:versionID="e24ae182138eda5d5411d4c1eb27c033">
  <xsd:schema xmlns:xsd="http://www.w3.org/2001/XMLSchema" xmlns:xs="http://www.w3.org/2001/XMLSchema" xmlns:p="http://schemas.microsoft.com/office/2006/metadata/properties" xmlns:ns2="f428d0ec-9561-405f-8ebf-9b60fd651c63" xmlns:ns3="e4ba101f-eb44-461d-96df-a85a0d378044" targetNamespace="http://schemas.microsoft.com/office/2006/metadata/properties" ma:root="true" ma:fieldsID="40001016ebf84f264ac39eae07243739" ns2:_="" ns3:_="">
    <xsd:import namespace="f428d0ec-9561-405f-8ebf-9b60fd651c63"/>
    <xsd:import namespace="e4ba101f-eb44-461d-96df-a85a0d3780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28d0ec-9561-405f-8ebf-9b60fd651c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854e001b-42a7-4b68-a528-40e5c47223b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ba101f-eb44-461d-96df-a85a0d37804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b710cfe-ecd8-4e84-bc40-34ece35a2a6c}" ma:internalName="TaxCatchAll" ma:showField="CatchAllData" ma:web="e4ba101f-eb44-461d-96df-a85a0d3780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4ba101f-eb44-461d-96df-a85a0d378044" xsi:nil="true"/>
    <lcf76f155ced4ddcb4097134ff3c332f xmlns="f428d0ec-9561-405f-8ebf-9b60fd651c6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66D7774-74FD-4394-A9AB-0D8355724A8E}">
  <ds:schemaRefs>
    <ds:schemaRef ds:uri="e4ba101f-eb44-461d-96df-a85a0d378044"/>
    <ds:schemaRef ds:uri="f428d0ec-9561-405f-8ebf-9b60fd651c6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A38110A-CF27-427F-AC74-8A1BE978E2A6}">
  <ds:schemaRefs>
    <ds:schemaRef ds:uri="http://schemas.microsoft.com/sharepoint/v3/contenttype/forms"/>
  </ds:schemaRefs>
</ds:datastoreItem>
</file>

<file path=customXml/itemProps3.xml><?xml version="1.0" encoding="utf-8"?>
<ds:datastoreItem xmlns:ds="http://schemas.openxmlformats.org/officeDocument/2006/customXml" ds:itemID="{0397C952-A05B-4E60-ADD6-0DD9F9A6BF32}">
  <ds:schemaRefs>
    <ds:schemaRef ds:uri="http://purl.org/dc/terms/"/>
    <ds:schemaRef ds:uri="f428d0ec-9561-405f-8ebf-9b60fd651c63"/>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purl.org/dc/dcmitype/"/>
    <ds:schemaRef ds:uri="http://schemas.openxmlformats.org/package/2006/metadata/core-properties"/>
    <ds:schemaRef ds:uri="e4ba101f-eb44-461d-96df-a85a0d378044"/>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140</TotalTime>
  <Words>32854</Words>
  <Application>Microsoft Office PowerPoint</Application>
  <PresentationFormat>Breedbeeld</PresentationFormat>
  <Paragraphs>4288</Paragraphs>
  <Slides>107</Slides>
  <Notes>83</Notes>
  <HiddenSlides>11</HiddenSlides>
  <MMClips>0</MMClips>
  <ScaleCrop>false</ScaleCrop>
  <HeadingPairs>
    <vt:vector size="4" baseType="variant">
      <vt:variant>
        <vt:lpstr>Thema</vt:lpstr>
      </vt:variant>
      <vt:variant>
        <vt:i4>8</vt:i4>
      </vt:variant>
      <vt:variant>
        <vt:lpstr>Diatitels</vt:lpstr>
      </vt:variant>
      <vt:variant>
        <vt:i4>107</vt:i4>
      </vt:variant>
    </vt:vector>
  </HeadingPairs>
  <TitlesOfParts>
    <vt:vector size="115" baseType="lpstr">
      <vt:lpstr>IZA-Transformatieplan</vt:lpstr>
      <vt:lpstr>5_Kantoorthema</vt:lpstr>
      <vt:lpstr>2_Kantoorthema</vt:lpstr>
      <vt:lpstr>3_Kantoorthema</vt:lpstr>
      <vt:lpstr>4_Kantoorthema</vt:lpstr>
      <vt:lpstr>6_Kantoorthema</vt:lpstr>
      <vt:lpstr>1_IZA-Transformatieplan</vt:lpstr>
      <vt:lpstr>Kantoorthema</vt:lpstr>
      <vt:lpstr>‘Digitalisering en Databeschikbaarheid als drijvende kracht voor Netwerkzorg in Midden-Nederland’    </vt:lpstr>
      <vt:lpstr>Inhoudsopgave</vt:lpstr>
      <vt:lpstr>Management samenvatting</vt:lpstr>
      <vt:lpstr>Leeswijzer</vt:lpstr>
      <vt:lpstr>Achtergrond &amp; aanleiding</vt:lpstr>
      <vt:lpstr>Impact van demografische ontwikkelingen op zorg en welzijn in de regio Midden-Nederland</vt:lpstr>
      <vt:lpstr>De uitdagingen vragen om beschikbaarheid van data in de regio</vt:lpstr>
      <vt:lpstr>De digitaliseringsopgave in de regio is omvangrijk en grijpt terug op landelijke thema’s</vt:lpstr>
      <vt:lpstr>…</vt:lpstr>
      <vt:lpstr>Visie &amp; ambitie voor de transformatie opgaven in de regio Midden-Nederland</vt:lpstr>
      <vt:lpstr>Vergezicht</vt:lpstr>
      <vt:lpstr>Digitalisering en databeschikbaarheid als basis voor de transformatie in het netwerk van zorg</vt:lpstr>
      <vt:lpstr>Scope aanvraag fundament digitalisering en gegevensuitwisseling Midden-Nederland</vt:lpstr>
      <vt:lpstr>Het Nictiz model laat zien wat in scope van dit transformatieplan valt, voor welke usecases </vt:lpstr>
      <vt:lpstr>Samenhang activiteiten en IZA-opgaven</vt:lpstr>
      <vt:lpstr>Concretisering samenhang met andere transformatieplannen in de regio</vt:lpstr>
      <vt:lpstr>Concretisering samenhang met andere programma’s en projecten in de regio</vt:lpstr>
      <vt:lpstr>Landelijke afspraken over interoperabiliteit als leidraad ter ondersteuning van netwerkzorg</vt:lpstr>
      <vt:lpstr>Netwerkzorg vraagt om domeinoverstijgende samenwerking en data beschikbaarheid</vt:lpstr>
      <vt:lpstr>Veranderopgave &amp; verwachte impact</vt:lpstr>
      <vt:lpstr>Overzicht aanvraag fundament digitalisering en gegevensuitwisseling Midden-Nederland</vt:lpstr>
      <vt:lpstr>Scope Transformatieplan – Regionaal en wettelijk bepaalde prioritering van thema’s en use cases</vt:lpstr>
      <vt:lpstr>Zorgtransformatie en impact op inwoners en professionals in de regio Midden-Nederland</vt:lpstr>
      <vt:lpstr>Verwachte domeinoverstijgende impact op zorg- en welzijns aanbieders</vt:lpstr>
      <vt:lpstr>Veranderstrategie om de verwachte resultaten van de zorgtransformatie te realiseren</vt:lpstr>
      <vt:lpstr>Stakeholderbetrokkenheid en communicatieplan tijdens de implementatie en (zorg-)transformatie</vt:lpstr>
      <vt:lpstr>Stakeholderbetrokkenheid en communicatie</vt:lpstr>
      <vt:lpstr>Uitwerking van de transformatie-opgaven en usecases</vt:lpstr>
      <vt:lpstr>Verdieping Thema 1:  Digitale (zorg)communicatie met inwoners en patiënten, en professionals onderling ter ondersteuning van netwerkzorg</vt:lpstr>
      <vt:lpstr>Digitale (zorg)communicatie voor een impactvolle transformatie van keten, naar netwerkzorg</vt:lpstr>
      <vt:lpstr>Introductie Thema 1: Digitale (Zorg)Communicatie tussen netwerkpartners</vt:lpstr>
      <vt:lpstr>Usecase 1.1 – Meedenkconsult en Kort overleg Usecase 1.2 – Digitale verwijzing Usecase 1.3 – Tweewegcommunicatie in zorgnetwerk</vt:lpstr>
      <vt:lpstr>Meedenkconsult, kort overleg en digitale verwijzing – Ambitie</vt:lpstr>
      <vt:lpstr>Digitale verwijzing – Ambitie</vt:lpstr>
      <vt:lpstr>Tweewegcommunicatie in zorgnetwerk – Ambitie</vt:lpstr>
      <vt:lpstr>Thema 1 Digitale (Zorg)communicatie – Projectfasering </vt:lpstr>
      <vt:lpstr>Thema 1 Digitale (Zorg)communicatie - Impact</vt:lpstr>
      <vt:lpstr>Verdieping Thema 2:  Dossier Inzage en Digitale Overdracht van (Acute) Zorg, ter ondersteuning van de basis op orde</vt:lpstr>
      <vt:lpstr>Elektronische gegevensuitwisseling voor Dossier Inzage en Digitale Overdracht van (Acute) Zorg </vt:lpstr>
      <vt:lpstr>Introductie Thema 2: Dossier inzage en digitale overdracht van (Acute) Zorg binnen het netwerk</vt:lpstr>
      <vt:lpstr>Usecase 2.1 – Medische Overdracht (Basisgegevensset Zorg Medisch Specialistische Zorg)</vt:lpstr>
      <vt:lpstr>Medische Overdracht – Ambitie</vt:lpstr>
      <vt:lpstr>Medische Overdracht – Projectfasering </vt:lpstr>
      <vt:lpstr>Medische Overdracht – Impact</vt:lpstr>
      <vt:lpstr>Usecase 2.2 – Medicatie Overdracht </vt:lpstr>
      <vt:lpstr>Medicatieoverdracht – Ambitie</vt:lpstr>
      <vt:lpstr>Medicatie Overdracht – Projectfasering </vt:lpstr>
      <vt:lpstr>Medicatieoverdracht – Impact  </vt:lpstr>
      <vt:lpstr>Usecase 2.3 – Verpleegkundige Overdracht (eOverdracht)</vt:lpstr>
      <vt:lpstr>Verpleegkundige Overdracht – Ambitie</vt:lpstr>
      <vt:lpstr>Verpleegkundige Overdracht – Projectfasering  </vt:lpstr>
      <vt:lpstr>Verpleegkundige Overdracht – Impact </vt:lpstr>
      <vt:lpstr>Usecase 2.4 – Databeschikbaarheid in acute zorg</vt:lpstr>
      <vt:lpstr>PowerPoint-presentatie</vt:lpstr>
      <vt:lpstr>Databeschikbaarheid in de acute zorg – Projectfasering </vt:lpstr>
      <vt:lpstr>Acute Zorg – Impact  </vt:lpstr>
      <vt:lpstr>Usecase 2.5 – Netwerkzorg viewer</vt:lpstr>
      <vt:lpstr>Netwerkzorg viewer voor Dossier Inzage – Ambitie </vt:lpstr>
      <vt:lpstr>Netwerkzorg viewer voor Dossier Inzage</vt:lpstr>
      <vt:lpstr>Netwerkzorg viewer voor Dossier Inzage – Proces </vt:lpstr>
      <vt:lpstr>PowerPoint-presentatie</vt:lpstr>
      <vt:lpstr>PowerPoint-presentatie</vt:lpstr>
      <vt:lpstr>PowerPoint-presentatie</vt:lpstr>
      <vt:lpstr>PowerPoint-presentatie</vt:lpstr>
      <vt:lpstr>PowerPoint-presentatie</vt:lpstr>
      <vt:lpstr>0.0 Fundament Digitalisering &amp; Gegevensuitwisseling</vt:lpstr>
      <vt:lpstr>PowerPoint-presentatie</vt:lpstr>
      <vt:lpstr>Opstartstructuur fundament</vt:lpstr>
      <vt:lpstr>PowerPoint-presentatie</vt:lpstr>
      <vt:lpstr>PowerPoint-presentatie</vt:lpstr>
      <vt:lpstr>PowerPoint-presentatie</vt:lpstr>
      <vt:lpstr>PowerPoint-presentatie</vt:lpstr>
      <vt:lpstr>PowerPoint-presentatie</vt:lpstr>
      <vt:lpstr>PowerPoint-presentatie</vt:lpstr>
      <vt:lpstr>Governance voor realisatie en sturing fundament</vt:lpstr>
      <vt:lpstr>Taken en verantwoordelijkheden rond het fundament</vt:lpstr>
      <vt:lpstr>Kosten realiseren en beheren fundament</vt:lpstr>
      <vt:lpstr>Overkoepelende business case en investeringsaanvraag</vt:lpstr>
      <vt:lpstr>Toelichting op het tot standkomen van de  businesscase</vt:lpstr>
      <vt:lpstr>Uitgangspunten businesscase</vt:lpstr>
      <vt:lpstr>Bepalen van de impact</vt:lpstr>
      <vt:lpstr>Verwachte impact op zorgkosten</vt:lpstr>
      <vt:lpstr>Verwachte impact op zorgpersoneel</vt:lpstr>
      <vt:lpstr>Overzicht kwantitatieve impactanalyse</vt:lpstr>
      <vt:lpstr>Overzicht kosten t/m 2029</vt:lpstr>
      <vt:lpstr>Impact transformatieplan in relatie tot benodigde investering</vt:lpstr>
      <vt:lpstr>Mogelijke indicatoren (KPI’s) voor effectmeting en impactanalyse</vt:lpstr>
      <vt:lpstr>Mogelijke indicatoren voor effectmeting en impactanalyse van beoogde transformaties</vt:lpstr>
      <vt:lpstr>…</vt:lpstr>
      <vt:lpstr>Governance en programmastructuur </vt:lpstr>
      <vt:lpstr>Governance Trijn bij aanvraag transformatie</vt:lpstr>
      <vt:lpstr>Het programma voor de transformatieopgaven in relatie tot de Governance van Trijn</vt:lpstr>
      <vt:lpstr>Programmastructuur voor de uitvoering van de IZA Transformatieopgaven</vt:lpstr>
      <vt:lpstr>Aansluiting bemensing deelnemende organisaties</vt:lpstr>
      <vt:lpstr>Programmastructuur IZA transformatieplan</vt:lpstr>
      <vt:lpstr>Implementatieplanning en aanpak</vt:lpstr>
      <vt:lpstr>Tijdslijnen &amp; afspraken Generieke functies en gemeenschappelijke voorzieningen</vt:lpstr>
      <vt:lpstr>Tijdslijnen &amp; afspraken inzake Wegiz agenda</vt:lpstr>
      <vt:lpstr>…</vt:lpstr>
      <vt:lpstr>Plateauplanning voor realisatie </vt:lpstr>
      <vt:lpstr>Randvoorwaarden voor succes</vt:lpstr>
      <vt:lpstr>Belangrijkste risico’s &amp; mitigerende maatregelen (1/2) </vt:lpstr>
      <vt:lpstr>Belangrijkste risico’s &amp; mitigerende maatregelen (2/2) </vt:lpstr>
      <vt:lpstr>BIJLAGEN</vt:lpstr>
      <vt:lpstr>PowerPoint-presentatie</vt:lpstr>
      <vt:lpstr>PowerPoint-presentatie</vt:lpstr>
      <vt:lpstr>BIJLAGE A Detail uitwerking van de usecases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RSO Trijn</dc:creator>
  <cp:keywords>RSO Trijn IZA</cp:keywords>
  <cp:lastModifiedBy>Danielle van der Meer</cp:lastModifiedBy>
  <cp:revision>2</cp:revision>
  <cp:lastPrinted>2024-06-19T13:12:49Z</cp:lastPrinted>
  <dcterms:created xsi:type="dcterms:W3CDTF">2022-02-01T15:04:00Z</dcterms:created>
  <dcterms:modified xsi:type="dcterms:W3CDTF">2024-12-01T12:56:16Z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Order">
    <vt:r8>200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SIP_Label_e87bc33a-7d08-4d3c-9468-650ebbe62c3c_Enabled">
    <vt:lpwstr>true</vt:lpwstr>
  </property>
  <property fmtid="{D5CDD505-2E9C-101B-9397-08002B2CF9AE}" pid="11" name="MSIP_Label_e87bc33a-7d08-4d3c-9468-650ebbe62c3c_SetDate">
    <vt:lpwstr>2024-03-07T08:00:49Z</vt:lpwstr>
  </property>
  <property fmtid="{D5CDD505-2E9C-101B-9397-08002B2CF9AE}" pid="12" name="MSIP_Label_e87bc33a-7d08-4d3c-9468-650ebbe62c3c_Method">
    <vt:lpwstr>Standard</vt:lpwstr>
  </property>
  <property fmtid="{D5CDD505-2E9C-101B-9397-08002B2CF9AE}" pid="13" name="MSIP_Label_e87bc33a-7d08-4d3c-9468-650ebbe62c3c_Name">
    <vt:lpwstr>defa4170-0d19-0005-0003-bc88714345d2</vt:lpwstr>
  </property>
  <property fmtid="{D5CDD505-2E9C-101B-9397-08002B2CF9AE}" pid="14" name="MSIP_Label_e87bc33a-7d08-4d3c-9468-650ebbe62c3c_SiteId">
    <vt:lpwstr>86cdcea4-cf3c-4d3b-bc55-16b574e0e3d0</vt:lpwstr>
  </property>
  <property fmtid="{D5CDD505-2E9C-101B-9397-08002B2CF9AE}" pid="15" name="MSIP_Label_e87bc33a-7d08-4d3c-9468-650ebbe62c3c_ActionId">
    <vt:lpwstr>d1e35e85-ea5d-42a3-bf57-c4d498204fe6</vt:lpwstr>
  </property>
  <property fmtid="{D5CDD505-2E9C-101B-9397-08002B2CF9AE}" pid="16" name="MSIP_Label_e87bc33a-7d08-4d3c-9468-650ebbe62c3c_ContentBits">
    <vt:lpwstr>0</vt:lpwstr>
  </property>
  <property fmtid="{D5CDD505-2E9C-101B-9397-08002B2CF9AE}" pid="17" name="ContentTypeId">
    <vt:lpwstr>0x010100E26297CAF4B02846A28DDEC4284848DA</vt:lpwstr>
  </property>
</Properties>
</file>